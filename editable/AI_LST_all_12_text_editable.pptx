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76bd4a925624c59" /><Relationship Type="http://schemas.openxmlformats.org/officeDocument/2006/relationships/extended-properties" Target="/docProps/app.xml" Id="Rad1f5ab57df8447e" /><Relationship Type="http://schemas.openxmlformats.org/officeDocument/2006/relationships/officeDocument" Target="/ppt/presentation.xml" Id="R2e94760075374a00" /></Relationships>
</file>

<file path=ppt/presentation.xml><?xml version="1.0" encoding="utf-8"?>
<p:presentation xmlns:p="http://schemas.openxmlformats.org/presentationml/2006/main">
  <p:sldMasterIdLst>
    <p:sldMasterId xmlns:r="http://schemas.openxmlformats.org/officeDocument/2006/relationships" id="2147483648" r:id="R8a3203b7ec98461d"/>
  </p:sldMasterIdLst>
  <p:notesMasterIdLst>
    <p:notesMasterId xmlns:r="http://schemas.openxmlformats.org/officeDocument/2006/relationships" r:id="R063869473d4d4e7d"/>
  </p:notesMasterIdLst>
  <p:sldIdLst>
    <p:sldId xmlns:r="http://schemas.openxmlformats.org/officeDocument/2006/relationships" id="256" r:id="R700c8e6c78f843d7"/>
    <p:sldId xmlns:r="http://schemas.openxmlformats.org/officeDocument/2006/relationships" id="257" r:id="R2fbc1548490a4099"/>
    <p:sldId xmlns:r="http://schemas.openxmlformats.org/officeDocument/2006/relationships" id="258" r:id="Rcf4014e99075417c"/>
    <p:sldId xmlns:r="http://schemas.openxmlformats.org/officeDocument/2006/relationships" id="259" r:id="Rbdf592e2cede4618"/>
    <p:sldId xmlns:r="http://schemas.openxmlformats.org/officeDocument/2006/relationships" id="260" r:id="R076a26784f774532"/>
    <p:sldId xmlns:r="http://schemas.openxmlformats.org/officeDocument/2006/relationships" id="261" r:id="Ra5370c931b3749c6"/>
    <p:sldId xmlns:r="http://schemas.openxmlformats.org/officeDocument/2006/relationships" id="262" r:id="R1377b9f4e0b54cce"/>
    <p:sldId xmlns:r="http://schemas.openxmlformats.org/officeDocument/2006/relationships" id="263" r:id="R1aa1bd32c90c410f"/>
    <p:sldId xmlns:r="http://schemas.openxmlformats.org/officeDocument/2006/relationships" id="264" r:id="Reed51b85b6a24b6f"/>
    <p:sldId xmlns:r="http://schemas.openxmlformats.org/officeDocument/2006/relationships" id="265" r:id="R935706bff9f3404a"/>
    <p:sldId xmlns:r="http://schemas.openxmlformats.org/officeDocument/2006/relationships" id="266" r:id="Rfc81e363722f4aad"/>
    <p:sldId xmlns:r="http://schemas.openxmlformats.org/officeDocument/2006/relationships" id="267" r:id="R066f59c7433c4241"/>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95fa684d6e4b42" /><Relationship Type="http://schemas.openxmlformats.org/officeDocument/2006/relationships/slideMaster" Target="/ppt/slideMasters/slideMaster1.xml" Id="R8a3203b7ec98461d" /><Relationship Type="http://schemas.openxmlformats.org/officeDocument/2006/relationships/notesMaster" Target="/ppt/notesMasters/notesMaster1.xml" Id="R063869473d4d4e7d" /><Relationship Type="http://schemas.openxmlformats.org/officeDocument/2006/relationships/presProps" Target="/ppt/presProps.xml" Id="R30f6fed510bd45f3" /><Relationship Type="http://schemas.openxmlformats.org/officeDocument/2006/relationships/tableStyles" Target="/ppt/tableStyles.xml" Id="Rc1a0a7ed18e04fb2" /><Relationship Type="http://schemas.openxmlformats.org/officeDocument/2006/relationships/slide" Target="/ppt/slides/slide1.xml" Id="R700c8e6c78f843d7" /><Relationship Type="http://schemas.openxmlformats.org/officeDocument/2006/relationships/slide" Target="/ppt/slides/slide2.xml" Id="R2fbc1548490a4099" /><Relationship Type="http://schemas.openxmlformats.org/officeDocument/2006/relationships/slide" Target="/ppt/slides/slide3.xml" Id="Rcf4014e99075417c" /><Relationship Type="http://schemas.openxmlformats.org/officeDocument/2006/relationships/slide" Target="/ppt/slides/slide4.xml" Id="Rbdf592e2cede4618" /><Relationship Type="http://schemas.openxmlformats.org/officeDocument/2006/relationships/slide" Target="/ppt/slides/slide5.xml" Id="R076a26784f774532" /><Relationship Type="http://schemas.openxmlformats.org/officeDocument/2006/relationships/slide" Target="/ppt/slides/slide6.xml" Id="Ra5370c931b3749c6" /><Relationship Type="http://schemas.openxmlformats.org/officeDocument/2006/relationships/slide" Target="/ppt/slides/slide7.xml" Id="R1377b9f4e0b54cce" /><Relationship Type="http://schemas.openxmlformats.org/officeDocument/2006/relationships/slide" Target="/ppt/slides/slide8.xml" Id="R1aa1bd32c90c410f" /><Relationship Type="http://schemas.openxmlformats.org/officeDocument/2006/relationships/slide" Target="/ppt/slides/slide9.xml" Id="Reed51b85b6a24b6f" /><Relationship Type="http://schemas.openxmlformats.org/officeDocument/2006/relationships/slide" Target="/ppt/slides/slide10.xml" Id="R935706bff9f3404a" /><Relationship Type="http://schemas.openxmlformats.org/officeDocument/2006/relationships/slide" Target="/ppt/slides/slide11.xml" Id="Rfc81e363722f4aad" /><Relationship Type="http://schemas.openxmlformats.org/officeDocument/2006/relationships/slide" Target="/ppt/slides/slide12.xml" Id="R066f59c7433c42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01b11002b74c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300934662b4d04" /><Relationship Type="http://schemas.openxmlformats.org/officeDocument/2006/relationships/notesMaster" Target="/ppt/notesMasters/notesMaster1.xml" Id="R4caf103e6bde44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5ca4ef0e67400e" /><Relationship Type="http://schemas.openxmlformats.org/officeDocument/2006/relationships/notesMaster" Target="/ppt/notesMasters/notesMaster1.xml" Id="Rdea195f69ac341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8f018305c3470f" /><Relationship Type="http://schemas.openxmlformats.org/officeDocument/2006/relationships/notesMaster" Target="/ppt/notesMasters/notesMaster1.xml" Id="R4c5a5ff20f404d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ffe4c5ee0a42e2" /><Relationship Type="http://schemas.openxmlformats.org/officeDocument/2006/relationships/notesMaster" Target="/ppt/notesMasters/notesMaster1.xml" Id="Rc6eaf886287e42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9d428da3c54c1c" /><Relationship Type="http://schemas.openxmlformats.org/officeDocument/2006/relationships/notesMaster" Target="/ppt/notesMasters/notesMaster1.xml" Id="R5d2cb00e6a1a42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a7ae2b89cc40cc" /><Relationship Type="http://schemas.openxmlformats.org/officeDocument/2006/relationships/notesMaster" Target="/ppt/notesMasters/notesMaster1.xml" Id="R8c4c39cb8b1e4f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f46166fe194ede" /><Relationship Type="http://schemas.openxmlformats.org/officeDocument/2006/relationships/notesMaster" Target="/ppt/notesMasters/notesMaster1.xml" Id="R3eb0f7b3950a4e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58017c3f204456" /><Relationship Type="http://schemas.openxmlformats.org/officeDocument/2006/relationships/notesMaster" Target="/ppt/notesMasters/notesMaster1.xml" Id="Rb48bbe1d1b15470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9792faabe264dab" /><Relationship Type="http://schemas.openxmlformats.org/officeDocument/2006/relationships/notesMaster" Target="/ppt/notesMasters/notesMaster1.xml" Id="R57e68d5b729540a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10b1a7d3984edd" /><Relationship Type="http://schemas.openxmlformats.org/officeDocument/2006/relationships/notesMaster" Target="/ppt/notesMasters/notesMaster1.xml" Id="R6a6745747a2c4a5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6ff42048bc44772" /><Relationship Type="http://schemas.openxmlformats.org/officeDocument/2006/relationships/notesMaster" Target="/ppt/notesMasters/notesMaster1.xml" Id="Re192f0334f51432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e1d3fc8c2a4bff" /><Relationship Type="http://schemas.openxmlformats.org/officeDocument/2006/relationships/notesMaster" Target="/ppt/notesMasters/notesMaster1.xml" Id="R2a6e4e8682404c1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 The life science tools framework</a:t>
            </a:r>
          </a:p>
          <a:p xmlns:a="http://schemas.openxmlformats.org/drawingml/2006/main">
            <a:r>
              <a:t>Evidence status: Framework</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2: China and global LST markets</a:t>
            </a:r>
          </a:p>
          <a:p xmlns:a="http://schemas.openxmlformats.org/drawingml/2006/main">
            <a:r>
              <a:t>Evidence status: Historical estimate</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3: How downstream demand differs</a:t>
            </a:r>
          </a:p>
          <a:p xmlns:a="http://schemas.openxmlformats.org/drawingml/2006/main">
            <a:r>
              <a:t>Evidence status: Illustrative scenario</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4: AI discovery and its LST touchpoints</a:t>
            </a:r>
          </a:p>
          <a:p xmlns:a="http://schemas.openxmlformats.org/drawingml/2006/main">
            <a:r>
              <a:t>Evidence status: Research hypothesis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5: Which tools have more demand elasticity?</a:t>
            </a:r>
          </a:p>
          <a:p xmlns:a="http://schemas.openxmlformats.org/drawingml/2006/main">
            <a:r>
              <a:t>Evidence status: Research hypothesis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6: More experiments, less material per experiment</a:t>
            </a:r>
          </a:p>
          <a:p xmlns:a="http://schemas.openxmlformats.org/drawingml/2006/main">
            <a:r>
              <a:t>Evidence status: Illustrative scenario</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7: Illustrative AI-driven investment scenarios</a:t>
            </a:r>
          </a:p>
          <a:p xmlns:a="http://schemas.openxmlformats.org/drawingml/2006/main">
            <a:r>
              <a:t>Evidence status: Illustrative scenario</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8: Potential supply constraints over 12–24 months</a:t>
            </a:r>
          </a:p>
          <a:p xmlns:a="http://schemas.openxmlformats.org/drawingml/2006/main">
            <a:r>
              <a:t>Evidence status: Research hypothesis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9: Mapping Chinese listed LST suppliers</a:t>
            </a:r>
          </a:p>
          <a:p xmlns:a="http://schemas.openxmlformats.org/drawingml/2006/main">
            <a:r>
              <a:t>Evidence status: Research hypothesis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10: From AI funding to LST shareholder returns</a:t>
            </a:r>
          </a:p>
          <a:p xmlns:a="http://schemas.openxmlformats.org/drawingml/2006/main">
            <a:r>
              <a:t>Evidence status: Research hypothesis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11: Editable stage comparison</a:t>
            </a:r>
          </a:p>
          <a:p xmlns:a="http://schemas.openxmlformats.org/drawingml/2006/main">
            <a:r>
              <a:t>Evidence status: Illustrative scenario</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12: AI discovery funnel and enlarged LST ecosystem</a:t>
            </a:r>
          </a:p>
          <a:p xmlns:a="http://schemas.openxmlformats.org/drawingml/2006/main">
            <a:r>
              <a:t>Evidence status: Illustrative scenario</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7257db05e24ca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4c625c2c69342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c1cad86a7ba4c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f939ee96cb940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3b860938394e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726c6616f542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3DFD91-3D4B-44AD-A821-12E9AC68F286}"/>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F2355C7-194A-4B20-89F3-B9A73F7418FA}"/>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04BA772-4770-459F-B0AD-3DDE5E2C7908}"/>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7DEF85-57C3-4E48-B1A0-F3E7CF825F06}"/>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9B3E080-09EA-4321-BE26-0A750E3753CC}"/>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C16AC27-5A4F-49A9-B234-FD10F70B188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7042E2-55D4-4A2F-A02B-9ACCFA3EDA61}"/>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A52F96-DBC9-43E0-80ED-B73B5CC03302}"/>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6A3068-0AE3-4C65-BB8A-799CAD94D874}"/>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9544FD-A0EC-4FE5-A600-9519D232E27A}"/>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651cb16a6f47eb" /><Relationship Type="http://schemas.openxmlformats.org/officeDocument/2006/relationships/slideLayout" Target="/ppt/slideLayouts/slideLayout1.xml" Id="Rf21f9bb8ff7f4f7a" /><Relationship Type="http://schemas.openxmlformats.org/officeDocument/2006/relationships/slideLayout" Target="/ppt/slideLayouts/slideLayout2.xml" Id="R84e990b6cb22447c" /><Relationship Type="http://schemas.openxmlformats.org/officeDocument/2006/relationships/slideLayout" Target="/ppt/slideLayouts/slideLayout3.xml" Id="R6c13409fffd048db" /><Relationship Type="http://schemas.openxmlformats.org/officeDocument/2006/relationships/slideLayout" Target="/ppt/slideLayouts/slideLayout4.xml" Id="Ra3d48a6d2a60464d" /><Relationship Type="http://schemas.openxmlformats.org/officeDocument/2006/relationships/slideLayout" Target="/ppt/slideLayouts/slideLayout5.xml" Id="Ra122142bc65c4a2e" /><Relationship Type="http://schemas.openxmlformats.org/officeDocument/2006/relationships/slideLayout" Target="/ppt/slideLayouts/slideLayout6.xml" Id="Rdbd1f6dac85a4f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1f9bb8ff7f4f7a"/>
    <p:sldLayoutId xmlns:r="http://schemas.openxmlformats.org/officeDocument/2006/relationships" id="2147483650" r:id="R84e990b6cb22447c"/>
    <p:sldLayoutId xmlns:r="http://schemas.openxmlformats.org/officeDocument/2006/relationships" id="2147483651" r:id="R6c13409fffd048db"/>
    <p:sldLayoutId xmlns:r="http://schemas.openxmlformats.org/officeDocument/2006/relationships" id="2147483652" r:id="Ra3d48a6d2a60464d"/>
    <p:sldLayoutId xmlns:r="http://schemas.openxmlformats.org/officeDocument/2006/relationships" id="2147483653" r:id="Ra122142bc65c4a2e"/>
    <p:sldLayoutId xmlns:r="http://schemas.openxmlformats.org/officeDocument/2006/relationships" id="2147483654" r:id="Rdbd1f6dac85a4f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4dc051bbea44a8" /><Relationship Type="http://schemas.openxmlformats.org/officeDocument/2006/relationships/image" Target="/ppt/media/image.png" Id="R332bb7bce2224974" /><Relationship Type="http://schemas.openxmlformats.org/officeDocument/2006/relationships/notesSlide" Target="/ppt/notesSlides/notesSlide1.xml" Id="Rad79a24c37c14b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6a368ebf7484848" /><Relationship Type="http://schemas.openxmlformats.org/officeDocument/2006/relationships/image" Target="/ppt/media/image2.png" Id="R1f1a46fa69dc4f89" /><Relationship Type="http://schemas.openxmlformats.org/officeDocument/2006/relationships/notesSlide" Target="/ppt/notesSlides/notesSlide2.xml" Id="R60cdfbf46adb41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cef0e877cfc4d6b" /><Relationship Type="http://schemas.openxmlformats.org/officeDocument/2006/relationships/image" Target="/ppt/media/image3.png" Id="R0eef3f68d40d4e0e" /><Relationship Type="http://schemas.openxmlformats.org/officeDocument/2006/relationships/notesSlide" Target="/ppt/notesSlides/notesSlide3.xml" Id="Ra2a8395066774b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d3ce0a2d38b4df7" /><Relationship Type="http://schemas.openxmlformats.org/officeDocument/2006/relationships/image" Target="/ppt/media/image4.png" Id="R84fc009f5dec46c5" /><Relationship Type="http://schemas.openxmlformats.org/officeDocument/2006/relationships/notesSlide" Target="/ppt/notesSlides/notesSlide4.xml" Id="R5cec3c934ac442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d0f0e8cb1fe4d14" /><Relationship Type="http://schemas.openxmlformats.org/officeDocument/2006/relationships/image" Target="/ppt/media/image5.png" Id="Reb4c424f8f9144a8" /><Relationship Type="http://schemas.openxmlformats.org/officeDocument/2006/relationships/notesSlide" Target="/ppt/notesSlides/notesSlide5.xml" Id="R48120fb3e60545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03a5ebc7cab4563" /><Relationship Type="http://schemas.openxmlformats.org/officeDocument/2006/relationships/image" Target="/ppt/media/image6.png" Id="R23c2a353f69841b9" /><Relationship Type="http://schemas.openxmlformats.org/officeDocument/2006/relationships/notesSlide" Target="/ppt/notesSlides/notesSlide6.xml" Id="Re843a6230f5341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8903575ba8846e2" /><Relationship Type="http://schemas.openxmlformats.org/officeDocument/2006/relationships/image" Target="/ppt/media/image7.png" Id="Rd4b988cb61a04aee" /><Relationship Type="http://schemas.openxmlformats.org/officeDocument/2006/relationships/notesSlide" Target="/ppt/notesSlides/notesSlide7.xml" Id="Rf8a3264dbf2c4a9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7d43fffb92a4fe3" /><Relationship Type="http://schemas.openxmlformats.org/officeDocument/2006/relationships/image" Target="/ppt/media/image8.png" Id="R23176c45ea8643b8" /><Relationship Type="http://schemas.openxmlformats.org/officeDocument/2006/relationships/notesSlide" Target="/ppt/notesSlides/notesSlide8.xml" Id="R20a8559a982b4c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12a0927cf6449af" /><Relationship Type="http://schemas.openxmlformats.org/officeDocument/2006/relationships/image" Target="/ppt/media/image9.png" Id="Rdf1740685b724140" /><Relationship Type="http://schemas.openxmlformats.org/officeDocument/2006/relationships/notesSlide" Target="/ppt/notesSlides/notesSlide9.xml" Id="Rcd55adc620ba4d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8e1df75dd9d403a" /><Relationship Type="http://schemas.openxmlformats.org/officeDocument/2006/relationships/image" Target="/ppt/media/image10.png" Id="R4c964dadee0f4164" /><Relationship Type="http://schemas.openxmlformats.org/officeDocument/2006/relationships/notesSlide" Target="/ppt/notesSlides/notesSlide10.xml" Id="R9cf8635d08c54cb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e0e841f71004c48" /><Relationship Type="http://schemas.openxmlformats.org/officeDocument/2006/relationships/image" Target="/ppt/media/image11.png" Id="R270f11b5c7724efa" /><Relationship Type="http://schemas.openxmlformats.org/officeDocument/2006/relationships/notesSlide" Target="/ppt/notesSlides/notesSlide11.xml" Id="R915160bacd1a4e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9809b111a04a30" /><Relationship Type="http://schemas.openxmlformats.org/officeDocument/2006/relationships/image" Target="/ppt/media/image12.png" Id="R70c946a692b34d8b" /><Relationship Type="http://schemas.openxmlformats.org/officeDocument/2006/relationships/notesSlide" Target="/ppt/notesSlides/notesSlide12.xml" Id="R6c1d3b2f6a7f4fd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5" name="">
            <a:extLst xmlns:a="http://schemas.openxmlformats.org/drawingml/2006/main">
              <a:ext uri="{FF2B5EF4-FFF2-40B4-BE49-F238E27FC236}">
                <a16:creationId xmlns:a16="http://schemas.microsoft.com/office/drawing/2014/main" id="{FACE719E-61E4-4014-8E01-21EF87C92777}"/>
              </a:ext>
            </a:extLst>
          </p:cNvPr>
          <p:cNvPicPr>
            <a:picLocks xmlns:a="http://schemas.openxmlformats.org/drawingml/2006/main" noChangeAspect="1"/>
          </p:cNvPicPr>
          <p:nvPr/>
        </p:nvPicPr>
        <p:blipFill>
          <a:blip xmlns:r="http://schemas.openxmlformats.org/officeDocument/2006/relationships" xmlns:a="http://schemas.openxmlformats.org/drawingml/2006/main" r:embed="R332bb7bce2224974"/>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 label 1">
            <a:extLst xmlns:a="http://schemas.openxmlformats.org/drawingml/2006/main">
              <a:ext uri="{FF2B5EF4-FFF2-40B4-BE49-F238E27FC236}">
                <a16:creationId xmlns:a16="http://schemas.microsoft.com/office/drawing/2014/main" id="{1060EDD3-E984-48EF-B09E-A88B7AF1D77A}"/>
              </a:ext>
            </a:extLst>
          </p:cNvPr>
          <p:cNvSpPr>
            <a:spLocks xmlns:a="http://schemas.openxmlformats.org/drawingml/2006/main" noGrp="1"/>
          </p:cNvSpPr>
          <p:nvPr/>
        </p:nvSpPr>
        <p:spPr>
          <a:xfrm xmlns:a="http://schemas.openxmlformats.org/drawingml/2006/main" rot="0">
            <a:off x="991870" y="421675"/>
            <a:ext cx="570001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01  The life science tools framework</a:t>
            </a:r>
          </a:p>
        </p:txBody>
      </p:sp>
      <p:sp>
        <p:nvSpPr>
          <p:cNvPr id="3" name="Figure 1 label 2">
            <a:extLst xmlns:a="http://schemas.openxmlformats.org/drawingml/2006/main">
              <a:ext uri="{FF2B5EF4-FFF2-40B4-BE49-F238E27FC236}">
                <a16:creationId xmlns:a16="http://schemas.microsoft.com/office/drawing/2014/main" id="{273C493F-3B7E-45A9-8238-BA100EBA20B3}"/>
              </a:ext>
            </a:extLst>
          </p:cNvPr>
          <p:cNvSpPr>
            <a:spLocks xmlns:a="http://schemas.openxmlformats.org/drawingml/2006/main" noGrp="1"/>
          </p:cNvSpPr>
          <p:nvPr/>
        </p:nvSpPr>
        <p:spPr>
          <a:xfrm xmlns:a="http://schemas.openxmlformats.org/drawingml/2006/main" rot="0">
            <a:off x="15683161" y="661601"/>
            <a:ext cx="109487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FRAMEWORK</a:t>
            </a:r>
          </a:p>
        </p:txBody>
      </p:sp>
      <p:sp>
        <p:nvSpPr>
          <p:cNvPr id="4" name="Figure 1 label 3">
            <a:extLst xmlns:a="http://schemas.openxmlformats.org/drawingml/2006/main">
              <a:ext uri="{FF2B5EF4-FFF2-40B4-BE49-F238E27FC236}">
                <a16:creationId xmlns:a16="http://schemas.microsoft.com/office/drawing/2014/main" id="{26E29685-3B4F-442B-9CDB-74B05ED9EAE3}"/>
              </a:ext>
            </a:extLst>
          </p:cNvPr>
          <p:cNvSpPr>
            <a:spLocks xmlns:a="http://schemas.openxmlformats.org/drawingml/2006/main" noGrp="1"/>
          </p:cNvSpPr>
          <p:nvPr/>
        </p:nvSpPr>
        <p:spPr>
          <a:xfrm xmlns:a="http://schemas.openxmlformats.org/drawingml/2006/main" rot="0">
            <a:off x="998220" y="1249487"/>
            <a:ext cx="844629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A product framework spanning academic research, biotech, pharma, CRDMOs and manufacturing.</a:t>
            </a:r>
          </a:p>
        </p:txBody>
      </p:sp>
      <p:sp>
        <p:nvSpPr>
          <p:cNvPr id="5" name="Figure 1 label 4">
            <a:extLst xmlns:a="http://schemas.openxmlformats.org/drawingml/2006/main">
              <a:ext uri="{FF2B5EF4-FFF2-40B4-BE49-F238E27FC236}">
                <a16:creationId xmlns:a16="http://schemas.microsoft.com/office/drawing/2014/main" id="{8727B3A0-C392-4B12-89D3-5727FCE043C9}"/>
              </a:ext>
            </a:extLst>
          </p:cNvPr>
          <p:cNvSpPr>
            <a:spLocks xmlns:a="http://schemas.openxmlformats.org/drawingml/2006/main" noGrp="1"/>
          </p:cNvSpPr>
          <p:nvPr/>
        </p:nvSpPr>
        <p:spPr>
          <a:xfrm xmlns:a="http://schemas.openxmlformats.org/drawingml/2006/main" rot="0">
            <a:off x="999173" y="9256035"/>
            <a:ext cx="671408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Classify products separately from their use cases. Chromatography resins can be reused.</a:t>
            </a:r>
          </a:p>
        </p:txBody>
      </p:sp>
      <p:sp>
        <p:nvSpPr>
          <p:cNvPr id="6" name="Figure 1 label 5">
            <a:extLst xmlns:a="http://schemas.openxmlformats.org/drawingml/2006/main">
              <a:ext uri="{FF2B5EF4-FFF2-40B4-BE49-F238E27FC236}">
                <a16:creationId xmlns:a16="http://schemas.microsoft.com/office/drawing/2014/main" id="{8C020A12-E81E-43EF-AD81-786A2FE5239B}"/>
              </a:ext>
            </a:extLst>
          </p:cNvPr>
          <p:cNvSpPr>
            <a:spLocks xmlns:a="http://schemas.openxmlformats.org/drawingml/2006/main" noGrp="1"/>
          </p:cNvSpPr>
          <p:nvPr/>
        </p:nvSpPr>
        <p:spPr>
          <a:xfrm xmlns:a="http://schemas.openxmlformats.org/drawingml/2006/main" rot="0">
            <a:off x="1000316" y="9675546"/>
            <a:ext cx="6311087"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framework and prior product research. Existing TAMs do not automatically reconcile.</a:t>
            </a:r>
          </a:p>
        </p:txBody>
      </p:sp>
      <p:sp>
        <p:nvSpPr>
          <p:cNvPr id="7" name="Figure 1 label 6">
            <a:extLst xmlns:a="http://schemas.openxmlformats.org/drawingml/2006/main">
              <a:ext uri="{FF2B5EF4-FFF2-40B4-BE49-F238E27FC236}">
                <a16:creationId xmlns:a16="http://schemas.microsoft.com/office/drawing/2014/main" id="{81C52BF7-81E1-47D6-8BE7-CCCFCE68FA41}"/>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8" name="Figure 1 label 7">
            <a:extLst xmlns:a="http://schemas.openxmlformats.org/drawingml/2006/main">
              <a:ext uri="{FF2B5EF4-FFF2-40B4-BE49-F238E27FC236}">
                <a16:creationId xmlns:a16="http://schemas.microsoft.com/office/drawing/2014/main" id="{4FF73043-4F29-4712-952B-15E532133F53}"/>
              </a:ext>
            </a:extLst>
          </p:cNvPr>
          <p:cNvSpPr>
            <a:spLocks xmlns:a="http://schemas.openxmlformats.org/drawingml/2006/main" noGrp="1"/>
          </p:cNvSpPr>
          <p:nvPr/>
        </p:nvSpPr>
        <p:spPr>
          <a:xfrm xmlns:a="http://schemas.openxmlformats.org/drawingml/2006/main" rot="0">
            <a:off x="1394206" y="2415470"/>
            <a:ext cx="1721842"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FFFFFF"/>
                </a:solidFill>
                <a:latin typeface="Arial Unicode MS"/>
                <a:ea typeface="Arial Unicode MS"/>
                <a:cs typeface="Arial Unicode MS"/>
              </a:defRPr>
            </a:defPPr>
          </a:lstStyle>
          <a:p xmlns:a="http://schemas.openxmlformats.org/drawingml/2006/main">
            <a:pPr algn="l">
              <a:lnSpc>
                <a:spcPct val="125000"/>
              </a:lnSpc>
              <a:buNone/>
              <a:defRPr sz="2750" b="1">
                <a:solidFill>
                  <a:srgbClr val="FFFFFF"/>
                </a:solidFill>
                <a:latin typeface="Arial Unicode MS"/>
                <a:ea typeface="Arial Unicode MS"/>
                <a:cs typeface="Arial Unicode MS"/>
              </a:defRPr>
            </a:pPr>
            <a:r>
              <a:rPr sz="2750" b="1">
                <a:solidFill>
                  <a:srgbClr val="FFFFFF"/>
                </a:solidFill>
                <a:latin typeface="Arial Unicode MS"/>
                <a:ea typeface="Arial Unicode MS"/>
                <a:cs typeface="Arial Unicode MS"/>
              </a:rPr>
              <a:t>Reagents</a:t>
            </a:r>
          </a:p>
        </p:txBody>
      </p:sp>
      <p:sp>
        <p:nvSpPr>
          <p:cNvPr id="9" name="Figure 1 label 8">
            <a:extLst xmlns:a="http://schemas.openxmlformats.org/drawingml/2006/main">
              <a:ext uri="{FF2B5EF4-FFF2-40B4-BE49-F238E27FC236}">
                <a16:creationId xmlns:a16="http://schemas.microsoft.com/office/drawing/2014/main" id="{45FB0E99-CB3A-463D-9DC6-E5861F81611E}"/>
              </a:ext>
            </a:extLst>
          </p:cNvPr>
          <p:cNvSpPr>
            <a:spLocks xmlns:a="http://schemas.openxmlformats.org/drawingml/2006/main" noGrp="1"/>
          </p:cNvSpPr>
          <p:nvPr/>
        </p:nvSpPr>
        <p:spPr>
          <a:xfrm xmlns:a="http://schemas.openxmlformats.org/drawingml/2006/main" rot="0">
            <a:off x="1401509"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85E7D"/>
                </a:solidFill>
                <a:latin typeface="Arial Unicode MS"/>
                <a:ea typeface="Arial Unicode MS"/>
                <a:cs typeface="Arial Unicode MS"/>
              </a:defRPr>
            </a:defPPr>
          </a:lstStyle>
          <a:p xmlns:a="http://schemas.openxmlformats.org/drawingml/2006/main">
            <a:pPr algn="l">
              <a:lnSpc>
                <a:spcPct val="125000"/>
              </a:lnSpc>
              <a:buNone/>
              <a:defRPr sz="1313" b="0">
                <a:solidFill>
                  <a:srgbClr val="285E7D"/>
                </a:solidFill>
                <a:latin typeface="Arial Unicode MS"/>
                <a:ea typeface="Arial Unicode MS"/>
                <a:cs typeface="Arial Unicode MS"/>
              </a:defRPr>
            </a:pPr>
            <a:r>
              <a:rPr sz="1313" b="0">
                <a:solidFill>
                  <a:srgbClr val="285E7D"/>
                </a:solidFill>
                <a:latin typeface="Arial Unicode MS"/>
                <a:ea typeface="Arial Unicode MS"/>
                <a:cs typeface="Arial Unicode MS"/>
              </a:rPr>
              <a:t>01</a:t>
            </a:r>
          </a:p>
        </p:txBody>
      </p:sp>
      <p:sp>
        <p:nvSpPr>
          <p:cNvPr id="10" name="Figure 1 label 9">
            <a:extLst xmlns:a="http://schemas.openxmlformats.org/drawingml/2006/main">
              <a:ext uri="{FF2B5EF4-FFF2-40B4-BE49-F238E27FC236}">
                <a16:creationId xmlns:a16="http://schemas.microsoft.com/office/drawing/2014/main" id="{491D9B84-549C-4CA2-9C5A-CEB13C86E5F9}"/>
              </a:ext>
            </a:extLst>
          </p:cNvPr>
          <p:cNvSpPr>
            <a:spLocks xmlns:a="http://schemas.openxmlformats.org/drawingml/2006/main" noGrp="1"/>
          </p:cNvSpPr>
          <p:nvPr/>
        </p:nvSpPr>
        <p:spPr>
          <a:xfrm xmlns:a="http://schemas.openxmlformats.org/drawingml/2006/main" rot="0">
            <a:off x="2022348" y="3625649"/>
            <a:ext cx="300424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Recombinant proteins / antibodies</a:t>
            </a:r>
          </a:p>
        </p:txBody>
      </p:sp>
      <p:sp>
        <p:nvSpPr>
          <p:cNvPr id="11" name="Figure 1 label 10">
            <a:extLst xmlns:a="http://schemas.openxmlformats.org/drawingml/2006/main">
              <a:ext uri="{FF2B5EF4-FFF2-40B4-BE49-F238E27FC236}">
                <a16:creationId xmlns:a16="http://schemas.microsoft.com/office/drawing/2014/main" id="{A66CF6D4-8313-4794-9247-01304049ABCD}"/>
              </a:ext>
            </a:extLst>
          </p:cNvPr>
          <p:cNvSpPr>
            <a:spLocks xmlns:a="http://schemas.openxmlformats.org/drawingml/2006/main" noGrp="1"/>
          </p:cNvSpPr>
          <p:nvPr/>
        </p:nvSpPr>
        <p:spPr>
          <a:xfrm xmlns:a="http://schemas.openxmlformats.org/drawingml/2006/main" rot="0">
            <a:off x="1401509"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85E7D"/>
                </a:solidFill>
                <a:latin typeface="Arial Unicode MS"/>
                <a:ea typeface="Arial Unicode MS"/>
                <a:cs typeface="Arial Unicode MS"/>
              </a:defRPr>
            </a:defPPr>
          </a:lstStyle>
          <a:p xmlns:a="http://schemas.openxmlformats.org/drawingml/2006/main">
            <a:pPr algn="l">
              <a:lnSpc>
                <a:spcPct val="125000"/>
              </a:lnSpc>
              <a:buNone/>
              <a:defRPr sz="1313" b="0">
                <a:solidFill>
                  <a:srgbClr val="285E7D"/>
                </a:solidFill>
                <a:latin typeface="Arial Unicode MS"/>
                <a:ea typeface="Arial Unicode MS"/>
                <a:cs typeface="Arial Unicode MS"/>
              </a:defRPr>
            </a:pPr>
            <a:r>
              <a:rPr sz="1313" b="0">
                <a:solidFill>
                  <a:srgbClr val="285E7D"/>
                </a:solidFill>
                <a:latin typeface="Arial Unicode MS"/>
                <a:ea typeface="Arial Unicode MS"/>
                <a:cs typeface="Arial Unicode MS"/>
              </a:rPr>
              <a:t>02</a:t>
            </a:r>
          </a:p>
        </p:txBody>
      </p:sp>
      <p:sp>
        <p:nvSpPr>
          <p:cNvPr id="12" name="Figure 1 label 11">
            <a:extLst xmlns:a="http://schemas.openxmlformats.org/drawingml/2006/main">
              <a:ext uri="{FF2B5EF4-FFF2-40B4-BE49-F238E27FC236}">
                <a16:creationId xmlns:a16="http://schemas.microsoft.com/office/drawing/2014/main" id="{F9463F15-501B-46DD-942A-BA83374BB037}"/>
              </a:ext>
            </a:extLst>
          </p:cNvPr>
          <p:cNvSpPr>
            <a:spLocks xmlns:a="http://schemas.openxmlformats.org/drawingml/2006/main" noGrp="1"/>
          </p:cNvSpPr>
          <p:nvPr/>
        </p:nvSpPr>
        <p:spPr>
          <a:xfrm xmlns:a="http://schemas.openxmlformats.org/drawingml/2006/main" rot="0">
            <a:off x="2022348" y="4345874"/>
            <a:ext cx="30990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Enzymes / PCR and NGS reagents</a:t>
            </a:r>
          </a:p>
        </p:txBody>
      </p:sp>
      <p:sp>
        <p:nvSpPr>
          <p:cNvPr id="13" name="Figure 1 label 12">
            <a:extLst xmlns:a="http://schemas.openxmlformats.org/drawingml/2006/main">
              <a:ext uri="{FF2B5EF4-FFF2-40B4-BE49-F238E27FC236}">
                <a16:creationId xmlns:a16="http://schemas.microsoft.com/office/drawing/2014/main" id="{1D7F6B1D-BDD0-44CB-A1EE-53339CFF3C2D}"/>
              </a:ext>
            </a:extLst>
          </p:cNvPr>
          <p:cNvSpPr>
            <a:spLocks xmlns:a="http://schemas.openxmlformats.org/drawingml/2006/main" noGrp="1"/>
          </p:cNvSpPr>
          <p:nvPr/>
        </p:nvSpPr>
        <p:spPr>
          <a:xfrm xmlns:a="http://schemas.openxmlformats.org/drawingml/2006/main" rot="0">
            <a:off x="1401509"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85E7D"/>
                </a:solidFill>
                <a:latin typeface="Arial Unicode MS"/>
                <a:ea typeface="Arial Unicode MS"/>
                <a:cs typeface="Arial Unicode MS"/>
              </a:defRPr>
            </a:defPPr>
          </a:lstStyle>
          <a:p xmlns:a="http://schemas.openxmlformats.org/drawingml/2006/main">
            <a:pPr algn="l">
              <a:lnSpc>
                <a:spcPct val="125000"/>
              </a:lnSpc>
              <a:buNone/>
              <a:defRPr sz="1313" b="0">
                <a:solidFill>
                  <a:srgbClr val="285E7D"/>
                </a:solidFill>
                <a:latin typeface="Arial Unicode MS"/>
                <a:ea typeface="Arial Unicode MS"/>
                <a:cs typeface="Arial Unicode MS"/>
              </a:defRPr>
            </a:pPr>
            <a:r>
              <a:rPr sz="1313" b="0">
                <a:solidFill>
                  <a:srgbClr val="285E7D"/>
                </a:solidFill>
                <a:latin typeface="Arial Unicode MS"/>
                <a:ea typeface="Arial Unicode MS"/>
                <a:cs typeface="Arial Unicode MS"/>
              </a:rPr>
              <a:t>03</a:t>
            </a:r>
          </a:p>
        </p:txBody>
      </p:sp>
      <p:sp>
        <p:nvSpPr>
          <p:cNvPr id="14" name="Figure 1 label 13">
            <a:extLst xmlns:a="http://schemas.openxmlformats.org/drawingml/2006/main">
              <a:ext uri="{FF2B5EF4-FFF2-40B4-BE49-F238E27FC236}">
                <a16:creationId xmlns:a16="http://schemas.microsoft.com/office/drawing/2014/main" id="{66D1BCE1-550F-4F97-923B-0BF5484BDF12}"/>
              </a:ext>
            </a:extLst>
          </p:cNvPr>
          <p:cNvSpPr>
            <a:spLocks xmlns:a="http://schemas.openxmlformats.org/drawingml/2006/main" noGrp="1"/>
          </p:cNvSpPr>
          <p:nvPr/>
        </p:nvSpPr>
        <p:spPr>
          <a:xfrm xmlns:a="http://schemas.openxmlformats.org/drawingml/2006/main" rot="0">
            <a:off x="2022348" y="5064803"/>
            <a:ext cx="33001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DNA / RNA / chemical building blocks</a:t>
            </a:r>
          </a:p>
        </p:txBody>
      </p:sp>
      <p:sp>
        <p:nvSpPr>
          <p:cNvPr id="15" name="Figure 1 label 14">
            <a:extLst xmlns:a="http://schemas.openxmlformats.org/drawingml/2006/main">
              <a:ext uri="{FF2B5EF4-FFF2-40B4-BE49-F238E27FC236}">
                <a16:creationId xmlns:a16="http://schemas.microsoft.com/office/drawing/2014/main" id="{6548F9E6-7997-43B1-BDC4-82A5126618C0}"/>
              </a:ext>
            </a:extLst>
          </p:cNvPr>
          <p:cNvSpPr>
            <a:spLocks xmlns:a="http://schemas.openxmlformats.org/drawingml/2006/main" noGrp="1"/>
          </p:cNvSpPr>
          <p:nvPr/>
        </p:nvSpPr>
        <p:spPr>
          <a:xfrm xmlns:a="http://schemas.openxmlformats.org/drawingml/2006/main" rot="0">
            <a:off x="1401509"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85E7D"/>
                </a:solidFill>
                <a:latin typeface="Arial Unicode MS"/>
                <a:ea typeface="Arial Unicode MS"/>
                <a:cs typeface="Arial Unicode MS"/>
              </a:defRPr>
            </a:defPPr>
          </a:lstStyle>
          <a:p xmlns:a="http://schemas.openxmlformats.org/drawingml/2006/main">
            <a:pPr algn="l">
              <a:lnSpc>
                <a:spcPct val="125000"/>
              </a:lnSpc>
              <a:buNone/>
              <a:defRPr sz="1313" b="0">
                <a:solidFill>
                  <a:srgbClr val="285E7D"/>
                </a:solidFill>
                <a:latin typeface="Arial Unicode MS"/>
                <a:ea typeface="Arial Unicode MS"/>
                <a:cs typeface="Arial Unicode MS"/>
              </a:defRPr>
            </a:pPr>
            <a:r>
              <a:rPr sz="1313" b="0">
                <a:solidFill>
                  <a:srgbClr val="285E7D"/>
                </a:solidFill>
                <a:latin typeface="Arial Unicode MS"/>
                <a:ea typeface="Arial Unicode MS"/>
                <a:cs typeface="Arial Unicode MS"/>
              </a:rPr>
              <a:t>04</a:t>
            </a:r>
          </a:p>
        </p:txBody>
      </p:sp>
      <p:sp>
        <p:nvSpPr>
          <p:cNvPr id="16" name="Figure 1 label 15">
            <a:extLst xmlns:a="http://schemas.openxmlformats.org/drawingml/2006/main">
              <a:ext uri="{FF2B5EF4-FFF2-40B4-BE49-F238E27FC236}">
                <a16:creationId xmlns:a16="http://schemas.microsoft.com/office/drawing/2014/main" id="{73FAE30C-D28E-4BA4-9EAF-0FC5DCC91554}"/>
              </a:ext>
            </a:extLst>
          </p:cNvPr>
          <p:cNvSpPr>
            <a:spLocks xmlns:a="http://schemas.openxmlformats.org/drawingml/2006/main" noGrp="1"/>
          </p:cNvSpPr>
          <p:nvPr/>
        </p:nvSpPr>
        <p:spPr>
          <a:xfrm xmlns:a="http://schemas.openxmlformats.org/drawingml/2006/main" rot="0">
            <a:off x="2022348" y="5785920"/>
            <a:ext cx="21990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Cell lines / culture media</a:t>
            </a:r>
          </a:p>
        </p:txBody>
      </p:sp>
      <p:sp>
        <p:nvSpPr>
          <p:cNvPr id="17" name="Figure 1 label 16">
            <a:extLst xmlns:a="http://schemas.openxmlformats.org/drawingml/2006/main">
              <a:ext uri="{FF2B5EF4-FFF2-40B4-BE49-F238E27FC236}">
                <a16:creationId xmlns:a16="http://schemas.microsoft.com/office/drawing/2014/main" id="{5942E481-BB2C-4475-83C0-50DDDD0B7E33}"/>
              </a:ext>
            </a:extLst>
          </p:cNvPr>
          <p:cNvSpPr>
            <a:spLocks xmlns:a="http://schemas.openxmlformats.org/drawingml/2006/main" noGrp="1"/>
          </p:cNvSpPr>
          <p:nvPr/>
        </p:nvSpPr>
        <p:spPr>
          <a:xfrm xmlns:a="http://schemas.openxmlformats.org/drawingml/2006/main" rot="0">
            <a:off x="1401509"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85E7D"/>
                </a:solidFill>
                <a:latin typeface="Arial Unicode MS"/>
                <a:ea typeface="Arial Unicode MS"/>
                <a:cs typeface="Arial Unicode MS"/>
              </a:defRPr>
            </a:defPPr>
          </a:lstStyle>
          <a:p xmlns:a="http://schemas.openxmlformats.org/drawingml/2006/main">
            <a:pPr algn="l">
              <a:lnSpc>
                <a:spcPct val="125000"/>
              </a:lnSpc>
              <a:buNone/>
              <a:defRPr sz="1313" b="0">
                <a:solidFill>
                  <a:srgbClr val="285E7D"/>
                </a:solidFill>
                <a:latin typeface="Arial Unicode MS"/>
                <a:ea typeface="Arial Unicode MS"/>
                <a:cs typeface="Arial Unicode MS"/>
              </a:defRPr>
            </a:pPr>
            <a:r>
              <a:rPr sz="1313" b="0">
                <a:solidFill>
                  <a:srgbClr val="285E7D"/>
                </a:solidFill>
                <a:latin typeface="Arial Unicode MS"/>
                <a:ea typeface="Arial Unicode MS"/>
                <a:cs typeface="Arial Unicode MS"/>
              </a:rPr>
              <a:t>05</a:t>
            </a:r>
          </a:p>
        </p:txBody>
      </p:sp>
      <p:sp>
        <p:nvSpPr>
          <p:cNvPr id="18" name="Figure 1 label 17">
            <a:extLst xmlns:a="http://schemas.openxmlformats.org/drawingml/2006/main">
              <a:ext uri="{FF2B5EF4-FFF2-40B4-BE49-F238E27FC236}">
                <a16:creationId xmlns:a16="http://schemas.microsoft.com/office/drawing/2014/main" id="{E895A6CC-8812-4135-8641-79DAD61E110B}"/>
              </a:ext>
            </a:extLst>
          </p:cNvPr>
          <p:cNvSpPr>
            <a:spLocks xmlns:a="http://schemas.openxmlformats.org/drawingml/2006/main" noGrp="1"/>
          </p:cNvSpPr>
          <p:nvPr/>
        </p:nvSpPr>
        <p:spPr>
          <a:xfrm xmlns:a="http://schemas.openxmlformats.org/drawingml/2006/main" rot="0">
            <a:off x="2022348" y="6506143"/>
            <a:ext cx="287669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Assay reagents for R&amp;D and QC</a:t>
            </a:r>
          </a:p>
        </p:txBody>
      </p:sp>
      <p:sp>
        <p:nvSpPr>
          <p:cNvPr id="19" name="Figure 1 label 18">
            <a:extLst xmlns:a="http://schemas.openxmlformats.org/drawingml/2006/main">
              <a:ext uri="{FF2B5EF4-FFF2-40B4-BE49-F238E27FC236}">
                <a16:creationId xmlns:a16="http://schemas.microsoft.com/office/drawing/2014/main" id="{EFA7CDF1-78A3-4223-8A9D-36E18F2A5382}"/>
              </a:ext>
            </a:extLst>
          </p:cNvPr>
          <p:cNvSpPr>
            <a:spLocks xmlns:a="http://schemas.openxmlformats.org/drawingml/2006/main" noGrp="1"/>
          </p:cNvSpPr>
          <p:nvPr/>
        </p:nvSpPr>
        <p:spPr>
          <a:xfrm xmlns:a="http://schemas.openxmlformats.org/drawingml/2006/main" rot="0">
            <a:off x="1401318" y="7440635"/>
            <a:ext cx="22843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Tests × dose per test × price</a:t>
            </a:r>
          </a:p>
        </p:txBody>
      </p:sp>
      <p:sp>
        <p:nvSpPr>
          <p:cNvPr id="20" name="Figure 1 label 19">
            <a:extLst xmlns:a="http://schemas.openxmlformats.org/drawingml/2006/main">
              <a:ext uri="{FF2B5EF4-FFF2-40B4-BE49-F238E27FC236}">
                <a16:creationId xmlns:a16="http://schemas.microsoft.com/office/drawing/2014/main" id="{94EEAD81-57A7-4B6D-A027-B06F250C5DF7}"/>
              </a:ext>
            </a:extLst>
          </p:cNvPr>
          <p:cNvSpPr>
            <a:spLocks xmlns:a="http://schemas.openxmlformats.org/drawingml/2006/main" noGrp="1"/>
          </p:cNvSpPr>
          <p:nvPr/>
        </p:nvSpPr>
        <p:spPr>
          <a:xfrm xmlns:a="http://schemas.openxmlformats.org/drawingml/2006/main" rot="0">
            <a:off x="6953758" y="2417353"/>
            <a:ext cx="236210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FFFFFF"/>
                </a:solidFill>
                <a:latin typeface="Arial Unicode MS"/>
                <a:ea typeface="Arial Unicode MS"/>
                <a:cs typeface="Arial Unicode MS"/>
              </a:defRPr>
            </a:defPPr>
          </a:lstStyle>
          <a:p xmlns:a="http://schemas.openxmlformats.org/drawingml/2006/main">
            <a:pPr algn="l">
              <a:lnSpc>
                <a:spcPct val="125000"/>
              </a:lnSpc>
              <a:buNone/>
              <a:defRPr sz="2750" b="1">
                <a:solidFill>
                  <a:srgbClr val="FFFFFF"/>
                </a:solidFill>
                <a:latin typeface="Arial Unicode MS"/>
                <a:ea typeface="Arial Unicode MS"/>
                <a:cs typeface="Arial Unicode MS"/>
              </a:defRPr>
            </a:pPr>
            <a:r>
              <a:rPr sz="2750" b="1">
                <a:solidFill>
                  <a:srgbClr val="FFFFFF"/>
                </a:solidFill>
                <a:latin typeface="Arial Unicode MS"/>
                <a:ea typeface="Arial Unicode MS"/>
                <a:cs typeface="Arial Unicode MS"/>
              </a:rPr>
              <a:t>Consumables</a:t>
            </a:r>
          </a:p>
        </p:txBody>
      </p:sp>
      <p:sp>
        <p:nvSpPr>
          <p:cNvPr id="21" name="Figure 1 label 20">
            <a:extLst xmlns:a="http://schemas.openxmlformats.org/drawingml/2006/main">
              <a:ext uri="{FF2B5EF4-FFF2-40B4-BE49-F238E27FC236}">
                <a16:creationId xmlns:a16="http://schemas.microsoft.com/office/drawing/2014/main" id="{48863A6D-22EF-4AC6-A36C-C1098A64CC81}"/>
              </a:ext>
            </a:extLst>
          </p:cNvPr>
          <p:cNvSpPr>
            <a:spLocks xmlns:a="http://schemas.openxmlformats.org/drawingml/2006/main" noGrp="1"/>
          </p:cNvSpPr>
          <p:nvPr/>
        </p:nvSpPr>
        <p:spPr>
          <a:xfrm xmlns:a="http://schemas.openxmlformats.org/drawingml/2006/main" rot="0">
            <a:off x="6961060"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49837F"/>
                </a:solidFill>
                <a:latin typeface="Arial Unicode MS"/>
                <a:ea typeface="Arial Unicode MS"/>
                <a:cs typeface="Arial Unicode MS"/>
              </a:defRPr>
            </a:defPPr>
          </a:lstStyle>
          <a:p xmlns:a="http://schemas.openxmlformats.org/drawingml/2006/main">
            <a:pPr algn="l">
              <a:lnSpc>
                <a:spcPct val="125000"/>
              </a:lnSpc>
              <a:buNone/>
              <a:defRPr sz="1313" b="0">
                <a:solidFill>
                  <a:srgbClr val="49837F"/>
                </a:solidFill>
                <a:latin typeface="Arial Unicode MS"/>
                <a:ea typeface="Arial Unicode MS"/>
                <a:cs typeface="Arial Unicode MS"/>
              </a:defRPr>
            </a:pPr>
            <a:r>
              <a:rPr sz="1313" b="0">
                <a:solidFill>
                  <a:srgbClr val="49837F"/>
                </a:solidFill>
                <a:latin typeface="Arial Unicode MS"/>
                <a:ea typeface="Arial Unicode MS"/>
                <a:cs typeface="Arial Unicode MS"/>
              </a:rPr>
              <a:t>01</a:t>
            </a:r>
          </a:p>
        </p:txBody>
      </p:sp>
      <p:sp>
        <p:nvSpPr>
          <p:cNvPr id="22" name="Figure 1 label 21">
            <a:extLst xmlns:a="http://schemas.openxmlformats.org/drawingml/2006/main">
              <a:ext uri="{FF2B5EF4-FFF2-40B4-BE49-F238E27FC236}">
                <a16:creationId xmlns:a16="http://schemas.microsoft.com/office/drawing/2014/main" id="{B0A52FCC-159C-45A6-BFBB-086B161AC7F5}"/>
              </a:ext>
            </a:extLst>
          </p:cNvPr>
          <p:cNvSpPr>
            <a:spLocks xmlns:a="http://schemas.openxmlformats.org/drawingml/2006/main" noGrp="1"/>
          </p:cNvSpPr>
          <p:nvPr/>
        </p:nvSpPr>
        <p:spPr>
          <a:xfrm xmlns:a="http://schemas.openxmlformats.org/drawingml/2006/main" rot="0">
            <a:off x="7581900" y="3625649"/>
            <a:ext cx="161657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Tips / microplates</a:t>
            </a:r>
          </a:p>
        </p:txBody>
      </p:sp>
      <p:sp>
        <p:nvSpPr>
          <p:cNvPr id="23" name="Figure 1 label 22">
            <a:extLst xmlns:a="http://schemas.openxmlformats.org/drawingml/2006/main">
              <a:ext uri="{FF2B5EF4-FFF2-40B4-BE49-F238E27FC236}">
                <a16:creationId xmlns:a16="http://schemas.microsoft.com/office/drawing/2014/main" id="{07CB5E10-A740-4FBC-A4CE-D0FADFF01A54}"/>
              </a:ext>
            </a:extLst>
          </p:cNvPr>
          <p:cNvSpPr>
            <a:spLocks xmlns:a="http://schemas.openxmlformats.org/drawingml/2006/main" noGrp="1"/>
          </p:cNvSpPr>
          <p:nvPr/>
        </p:nvSpPr>
        <p:spPr>
          <a:xfrm xmlns:a="http://schemas.openxmlformats.org/drawingml/2006/main" rot="0">
            <a:off x="6961060"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49837F"/>
                </a:solidFill>
                <a:latin typeface="Arial Unicode MS"/>
                <a:ea typeface="Arial Unicode MS"/>
                <a:cs typeface="Arial Unicode MS"/>
              </a:defRPr>
            </a:defPPr>
          </a:lstStyle>
          <a:p xmlns:a="http://schemas.openxmlformats.org/drawingml/2006/main">
            <a:pPr algn="l">
              <a:lnSpc>
                <a:spcPct val="125000"/>
              </a:lnSpc>
              <a:buNone/>
              <a:defRPr sz="1313" b="0">
                <a:solidFill>
                  <a:srgbClr val="49837F"/>
                </a:solidFill>
                <a:latin typeface="Arial Unicode MS"/>
                <a:ea typeface="Arial Unicode MS"/>
                <a:cs typeface="Arial Unicode MS"/>
              </a:defRPr>
            </a:pPr>
            <a:r>
              <a:rPr sz="1313" b="0">
                <a:solidFill>
                  <a:srgbClr val="49837F"/>
                </a:solidFill>
                <a:latin typeface="Arial Unicode MS"/>
                <a:ea typeface="Arial Unicode MS"/>
                <a:cs typeface="Arial Unicode MS"/>
              </a:rPr>
              <a:t>02</a:t>
            </a:r>
          </a:p>
        </p:txBody>
      </p:sp>
      <p:sp>
        <p:nvSpPr>
          <p:cNvPr id="24" name="Figure 1 label 23">
            <a:extLst xmlns:a="http://schemas.openxmlformats.org/drawingml/2006/main">
              <a:ext uri="{FF2B5EF4-FFF2-40B4-BE49-F238E27FC236}">
                <a16:creationId xmlns:a16="http://schemas.microsoft.com/office/drawing/2014/main" id="{C4156A54-239B-4282-8848-69538DE68BAA}"/>
              </a:ext>
            </a:extLst>
          </p:cNvPr>
          <p:cNvSpPr>
            <a:spLocks xmlns:a="http://schemas.openxmlformats.org/drawingml/2006/main" noGrp="1"/>
          </p:cNvSpPr>
          <p:nvPr/>
        </p:nvSpPr>
        <p:spPr>
          <a:xfrm xmlns:a="http://schemas.openxmlformats.org/drawingml/2006/main" rot="0">
            <a:off x="7581900" y="4345874"/>
            <a:ext cx="279216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Culture flasks / centrifuge tubes</a:t>
            </a:r>
          </a:p>
        </p:txBody>
      </p:sp>
      <p:sp>
        <p:nvSpPr>
          <p:cNvPr id="25" name="Figure 1 label 24">
            <a:extLst xmlns:a="http://schemas.openxmlformats.org/drawingml/2006/main">
              <a:ext uri="{FF2B5EF4-FFF2-40B4-BE49-F238E27FC236}">
                <a16:creationId xmlns:a16="http://schemas.microsoft.com/office/drawing/2014/main" id="{CB3F8E2A-817B-4BE8-B00E-850BE6299E59}"/>
              </a:ext>
            </a:extLst>
          </p:cNvPr>
          <p:cNvSpPr>
            <a:spLocks xmlns:a="http://schemas.openxmlformats.org/drawingml/2006/main" noGrp="1"/>
          </p:cNvSpPr>
          <p:nvPr/>
        </p:nvSpPr>
        <p:spPr>
          <a:xfrm xmlns:a="http://schemas.openxmlformats.org/drawingml/2006/main" rot="0">
            <a:off x="6961060"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49837F"/>
                </a:solidFill>
                <a:latin typeface="Arial Unicode MS"/>
                <a:ea typeface="Arial Unicode MS"/>
                <a:cs typeface="Arial Unicode MS"/>
              </a:defRPr>
            </a:defPPr>
          </a:lstStyle>
          <a:p xmlns:a="http://schemas.openxmlformats.org/drawingml/2006/main">
            <a:pPr algn="l">
              <a:lnSpc>
                <a:spcPct val="125000"/>
              </a:lnSpc>
              <a:buNone/>
              <a:defRPr sz="1313" b="0">
                <a:solidFill>
                  <a:srgbClr val="49837F"/>
                </a:solidFill>
                <a:latin typeface="Arial Unicode MS"/>
                <a:ea typeface="Arial Unicode MS"/>
                <a:cs typeface="Arial Unicode MS"/>
              </a:defRPr>
            </a:pPr>
            <a:r>
              <a:rPr sz="1313" b="0">
                <a:solidFill>
                  <a:srgbClr val="49837F"/>
                </a:solidFill>
                <a:latin typeface="Arial Unicode MS"/>
                <a:ea typeface="Arial Unicode MS"/>
                <a:cs typeface="Arial Unicode MS"/>
              </a:rPr>
              <a:t>03</a:t>
            </a:r>
          </a:p>
        </p:txBody>
      </p:sp>
      <p:sp>
        <p:nvSpPr>
          <p:cNvPr id="26" name="Figure 1 label 25">
            <a:extLst xmlns:a="http://schemas.openxmlformats.org/drawingml/2006/main">
              <a:ext uri="{FF2B5EF4-FFF2-40B4-BE49-F238E27FC236}">
                <a16:creationId xmlns:a16="http://schemas.microsoft.com/office/drawing/2014/main" id="{4C65D3D6-B0C9-43E2-9A35-1B6655A34DAD}"/>
              </a:ext>
            </a:extLst>
          </p:cNvPr>
          <p:cNvSpPr>
            <a:spLocks xmlns:a="http://schemas.openxmlformats.org/drawingml/2006/main" noGrp="1"/>
          </p:cNvSpPr>
          <p:nvPr/>
        </p:nvSpPr>
        <p:spPr>
          <a:xfrm xmlns:a="http://schemas.openxmlformats.org/drawingml/2006/main" rot="0">
            <a:off x="7581900" y="5065830"/>
            <a:ext cx="267593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Membranes / functional beads</a:t>
            </a:r>
          </a:p>
        </p:txBody>
      </p:sp>
      <p:sp>
        <p:nvSpPr>
          <p:cNvPr id="27" name="Figure 1 label 26">
            <a:extLst xmlns:a="http://schemas.openxmlformats.org/drawingml/2006/main">
              <a:ext uri="{FF2B5EF4-FFF2-40B4-BE49-F238E27FC236}">
                <a16:creationId xmlns:a16="http://schemas.microsoft.com/office/drawing/2014/main" id="{5CB11247-420B-4BFA-926D-3C8C289E10FA}"/>
              </a:ext>
            </a:extLst>
          </p:cNvPr>
          <p:cNvSpPr>
            <a:spLocks xmlns:a="http://schemas.openxmlformats.org/drawingml/2006/main" noGrp="1"/>
          </p:cNvSpPr>
          <p:nvPr/>
        </p:nvSpPr>
        <p:spPr>
          <a:xfrm xmlns:a="http://schemas.openxmlformats.org/drawingml/2006/main" rot="0">
            <a:off x="6961060"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49837F"/>
                </a:solidFill>
                <a:latin typeface="Arial Unicode MS"/>
                <a:ea typeface="Arial Unicode MS"/>
                <a:cs typeface="Arial Unicode MS"/>
              </a:defRPr>
            </a:defPPr>
          </a:lstStyle>
          <a:p xmlns:a="http://schemas.openxmlformats.org/drawingml/2006/main">
            <a:pPr algn="l">
              <a:lnSpc>
                <a:spcPct val="125000"/>
              </a:lnSpc>
              <a:buNone/>
              <a:defRPr sz="1313" b="0">
                <a:solidFill>
                  <a:srgbClr val="49837F"/>
                </a:solidFill>
                <a:latin typeface="Arial Unicode MS"/>
                <a:ea typeface="Arial Unicode MS"/>
                <a:cs typeface="Arial Unicode MS"/>
              </a:defRPr>
            </a:pPr>
            <a:r>
              <a:rPr sz="1313" b="0">
                <a:solidFill>
                  <a:srgbClr val="49837F"/>
                </a:solidFill>
                <a:latin typeface="Arial Unicode MS"/>
                <a:ea typeface="Arial Unicode MS"/>
                <a:cs typeface="Arial Unicode MS"/>
              </a:rPr>
              <a:t>04</a:t>
            </a:r>
          </a:p>
        </p:txBody>
      </p:sp>
      <p:sp>
        <p:nvSpPr>
          <p:cNvPr id="28" name="Figure 1 label 27">
            <a:extLst xmlns:a="http://schemas.openxmlformats.org/drawingml/2006/main">
              <a:ext uri="{FF2B5EF4-FFF2-40B4-BE49-F238E27FC236}">
                <a16:creationId xmlns:a16="http://schemas.microsoft.com/office/drawing/2014/main" id="{416110B8-4E04-4C52-BD41-B5A51821DDD7}"/>
              </a:ext>
            </a:extLst>
          </p:cNvPr>
          <p:cNvSpPr>
            <a:spLocks xmlns:a="http://schemas.openxmlformats.org/drawingml/2006/main" noGrp="1"/>
          </p:cNvSpPr>
          <p:nvPr/>
        </p:nvSpPr>
        <p:spPr>
          <a:xfrm xmlns:a="http://schemas.openxmlformats.org/drawingml/2006/main" rot="0">
            <a:off x="7581900" y="5786054"/>
            <a:ext cx="29719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Columns / chromatography resins</a:t>
            </a:r>
          </a:p>
        </p:txBody>
      </p:sp>
      <p:sp>
        <p:nvSpPr>
          <p:cNvPr id="29" name="Figure 1 label 28">
            <a:extLst xmlns:a="http://schemas.openxmlformats.org/drawingml/2006/main">
              <a:ext uri="{FF2B5EF4-FFF2-40B4-BE49-F238E27FC236}">
                <a16:creationId xmlns:a16="http://schemas.microsoft.com/office/drawing/2014/main" id="{3EE3DF4E-8526-4014-9393-A73AFC236A1D}"/>
              </a:ext>
            </a:extLst>
          </p:cNvPr>
          <p:cNvSpPr>
            <a:spLocks xmlns:a="http://schemas.openxmlformats.org/drawingml/2006/main" noGrp="1"/>
          </p:cNvSpPr>
          <p:nvPr/>
        </p:nvSpPr>
        <p:spPr>
          <a:xfrm xmlns:a="http://schemas.openxmlformats.org/drawingml/2006/main" rot="0">
            <a:off x="6961060"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49837F"/>
                </a:solidFill>
                <a:latin typeface="Arial Unicode MS"/>
                <a:ea typeface="Arial Unicode MS"/>
                <a:cs typeface="Arial Unicode MS"/>
              </a:defRPr>
            </a:defPPr>
          </a:lstStyle>
          <a:p xmlns:a="http://schemas.openxmlformats.org/drawingml/2006/main">
            <a:pPr algn="l">
              <a:lnSpc>
                <a:spcPct val="125000"/>
              </a:lnSpc>
              <a:buNone/>
              <a:defRPr sz="1313" b="0">
                <a:solidFill>
                  <a:srgbClr val="49837F"/>
                </a:solidFill>
                <a:latin typeface="Arial Unicode MS"/>
                <a:ea typeface="Arial Unicode MS"/>
                <a:cs typeface="Arial Unicode MS"/>
              </a:defRPr>
            </a:pPr>
            <a:r>
              <a:rPr sz="1313" b="0">
                <a:solidFill>
                  <a:srgbClr val="49837F"/>
                </a:solidFill>
                <a:latin typeface="Arial Unicode MS"/>
                <a:ea typeface="Arial Unicode MS"/>
                <a:cs typeface="Arial Unicode MS"/>
              </a:rPr>
              <a:t>05</a:t>
            </a:r>
          </a:p>
        </p:txBody>
      </p:sp>
      <p:sp>
        <p:nvSpPr>
          <p:cNvPr id="30" name="Figure 1 label 29">
            <a:extLst xmlns:a="http://schemas.openxmlformats.org/drawingml/2006/main">
              <a:ext uri="{FF2B5EF4-FFF2-40B4-BE49-F238E27FC236}">
                <a16:creationId xmlns:a16="http://schemas.microsoft.com/office/drawing/2014/main" id="{01CAA95F-2E10-40B4-BB8A-1D816408623E}"/>
              </a:ext>
            </a:extLst>
          </p:cNvPr>
          <p:cNvSpPr>
            <a:spLocks xmlns:a="http://schemas.openxmlformats.org/drawingml/2006/main" noGrp="1"/>
          </p:cNvSpPr>
          <p:nvPr/>
        </p:nvSpPr>
        <p:spPr>
          <a:xfrm xmlns:a="http://schemas.openxmlformats.org/drawingml/2006/main" rot="0">
            <a:off x="7581900" y="6507171"/>
            <a:ext cx="24321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Gels / process components</a:t>
            </a:r>
          </a:p>
        </p:txBody>
      </p:sp>
      <p:sp>
        <p:nvSpPr>
          <p:cNvPr id="31" name="Figure 1 label 30">
            <a:extLst xmlns:a="http://schemas.openxmlformats.org/drawingml/2006/main">
              <a:ext uri="{FF2B5EF4-FFF2-40B4-BE49-F238E27FC236}">
                <a16:creationId xmlns:a16="http://schemas.microsoft.com/office/drawing/2014/main" id="{1A3D0E05-2E0D-49CB-BF8B-C1A62FC8A4C1}"/>
              </a:ext>
            </a:extLst>
          </p:cNvPr>
          <p:cNvSpPr>
            <a:spLocks xmlns:a="http://schemas.openxmlformats.org/drawingml/2006/main" noGrp="1"/>
          </p:cNvSpPr>
          <p:nvPr/>
        </p:nvSpPr>
        <p:spPr>
          <a:xfrm xmlns:a="http://schemas.openxmlformats.org/drawingml/2006/main" rot="0">
            <a:off x="6960870" y="7439711"/>
            <a:ext cx="277025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Tests or batches × intensity × price</a:t>
            </a:r>
          </a:p>
        </p:txBody>
      </p:sp>
      <p:sp>
        <p:nvSpPr>
          <p:cNvPr id="32" name="Figure 1 label 31">
            <a:extLst xmlns:a="http://schemas.openxmlformats.org/drawingml/2006/main">
              <a:ext uri="{FF2B5EF4-FFF2-40B4-BE49-F238E27FC236}">
                <a16:creationId xmlns:a16="http://schemas.microsoft.com/office/drawing/2014/main" id="{88E2E7D3-6F95-4394-940D-089E4962E08A}"/>
              </a:ext>
            </a:extLst>
          </p:cNvPr>
          <p:cNvSpPr>
            <a:spLocks xmlns:a="http://schemas.openxmlformats.org/drawingml/2006/main" noGrp="1"/>
          </p:cNvSpPr>
          <p:nvPr/>
        </p:nvSpPr>
        <p:spPr>
          <a:xfrm xmlns:a="http://schemas.openxmlformats.org/drawingml/2006/main" rot="0">
            <a:off x="12513310" y="2417353"/>
            <a:ext cx="205134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FFFFFF"/>
                </a:solidFill>
                <a:latin typeface="Arial Unicode MS"/>
                <a:ea typeface="Arial Unicode MS"/>
                <a:cs typeface="Arial Unicode MS"/>
              </a:defRPr>
            </a:defPPr>
          </a:lstStyle>
          <a:p xmlns:a="http://schemas.openxmlformats.org/drawingml/2006/main">
            <a:pPr algn="l">
              <a:lnSpc>
                <a:spcPct val="125000"/>
              </a:lnSpc>
              <a:buNone/>
              <a:defRPr sz="2750" b="1">
                <a:solidFill>
                  <a:srgbClr val="FFFFFF"/>
                </a:solidFill>
                <a:latin typeface="Arial Unicode MS"/>
                <a:ea typeface="Arial Unicode MS"/>
                <a:cs typeface="Arial Unicode MS"/>
              </a:defRPr>
            </a:pPr>
            <a:r>
              <a:rPr sz="2750" b="1">
                <a:solidFill>
                  <a:srgbClr val="FFFFFF"/>
                </a:solidFill>
                <a:latin typeface="Arial Unicode MS"/>
                <a:ea typeface="Arial Unicode MS"/>
                <a:cs typeface="Arial Unicode MS"/>
              </a:rPr>
              <a:t>Instruments</a:t>
            </a:r>
          </a:p>
        </p:txBody>
      </p:sp>
      <p:sp>
        <p:nvSpPr>
          <p:cNvPr id="33" name="Figure 1 label 32">
            <a:extLst xmlns:a="http://schemas.openxmlformats.org/drawingml/2006/main">
              <a:ext uri="{FF2B5EF4-FFF2-40B4-BE49-F238E27FC236}">
                <a16:creationId xmlns:a16="http://schemas.microsoft.com/office/drawing/2014/main" id="{DE198088-B7EF-4D1C-87AA-133494244FA8}"/>
              </a:ext>
            </a:extLst>
          </p:cNvPr>
          <p:cNvSpPr>
            <a:spLocks xmlns:a="http://schemas.openxmlformats.org/drawingml/2006/main" noGrp="1"/>
          </p:cNvSpPr>
          <p:nvPr/>
        </p:nvSpPr>
        <p:spPr>
          <a:xfrm xmlns:a="http://schemas.openxmlformats.org/drawingml/2006/main" rot="0">
            <a:off x="12520612"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A18150"/>
                </a:solidFill>
                <a:latin typeface="Arial Unicode MS"/>
                <a:ea typeface="Arial Unicode MS"/>
                <a:cs typeface="Arial Unicode MS"/>
              </a:defRPr>
            </a:defPPr>
          </a:lstStyle>
          <a:p xmlns:a="http://schemas.openxmlformats.org/drawingml/2006/main">
            <a:pPr algn="l">
              <a:lnSpc>
                <a:spcPct val="125000"/>
              </a:lnSpc>
              <a:buNone/>
              <a:defRPr sz="1313" b="0">
                <a:solidFill>
                  <a:srgbClr val="A18150"/>
                </a:solidFill>
                <a:latin typeface="Arial Unicode MS"/>
                <a:ea typeface="Arial Unicode MS"/>
                <a:cs typeface="Arial Unicode MS"/>
              </a:defRPr>
            </a:pPr>
            <a:r>
              <a:rPr sz="1313" b="0">
                <a:solidFill>
                  <a:srgbClr val="A18150"/>
                </a:solidFill>
                <a:latin typeface="Arial Unicode MS"/>
                <a:ea typeface="Arial Unicode MS"/>
                <a:cs typeface="Arial Unicode MS"/>
              </a:rPr>
              <a:t>01</a:t>
            </a:r>
          </a:p>
        </p:txBody>
      </p:sp>
      <p:sp>
        <p:nvSpPr>
          <p:cNvPr id="34" name="Figure 1 label 33">
            <a:extLst xmlns:a="http://schemas.openxmlformats.org/drawingml/2006/main">
              <a:ext uri="{FF2B5EF4-FFF2-40B4-BE49-F238E27FC236}">
                <a16:creationId xmlns:a16="http://schemas.microsoft.com/office/drawing/2014/main" id="{F95545F2-642C-41AD-A024-A5FEAC37989A}"/>
              </a:ext>
            </a:extLst>
          </p:cNvPr>
          <p:cNvSpPr>
            <a:spLocks xmlns:a="http://schemas.openxmlformats.org/drawingml/2006/main" noGrp="1"/>
          </p:cNvSpPr>
          <p:nvPr/>
        </p:nvSpPr>
        <p:spPr>
          <a:xfrm xmlns:a="http://schemas.openxmlformats.org/drawingml/2006/main" rot="0">
            <a:off x="13141452" y="3626811"/>
            <a:ext cx="25278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Sequencers / liquid handlers</a:t>
            </a:r>
          </a:p>
        </p:txBody>
      </p:sp>
      <p:sp>
        <p:nvSpPr>
          <p:cNvPr id="35" name="Figure 1 label 34">
            <a:extLst xmlns:a="http://schemas.openxmlformats.org/drawingml/2006/main">
              <a:ext uri="{FF2B5EF4-FFF2-40B4-BE49-F238E27FC236}">
                <a16:creationId xmlns:a16="http://schemas.microsoft.com/office/drawing/2014/main" id="{BE26EC43-3ED7-41E5-82BA-55074F490F06}"/>
              </a:ext>
            </a:extLst>
          </p:cNvPr>
          <p:cNvSpPr>
            <a:spLocks xmlns:a="http://schemas.openxmlformats.org/drawingml/2006/main" noGrp="1"/>
          </p:cNvSpPr>
          <p:nvPr/>
        </p:nvSpPr>
        <p:spPr>
          <a:xfrm xmlns:a="http://schemas.openxmlformats.org/drawingml/2006/main" rot="0">
            <a:off x="12520612"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A18150"/>
                </a:solidFill>
                <a:latin typeface="Arial Unicode MS"/>
                <a:ea typeface="Arial Unicode MS"/>
                <a:cs typeface="Arial Unicode MS"/>
              </a:defRPr>
            </a:defPPr>
          </a:lstStyle>
          <a:p xmlns:a="http://schemas.openxmlformats.org/drawingml/2006/main">
            <a:pPr algn="l">
              <a:lnSpc>
                <a:spcPct val="125000"/>
              </a:lnSpc>
              <a:buNone/>
              <a:defRPr sz="1313" b="0">
                <a:solidFill>
                  <a:srgbClr val="A18150"/>
                </a:solidFill>
                <a:latin typeface="Arial Unicode MS"/>
                <a:ea typeface="Arial Unicode MS"/>
                <a:cs typeface="Arial Unicode MS"/>
              </a:defRPr>
            </a:pPr>
            <a:r>
              <a:rPr sz="1313" b="0">
                <a:solidFill>
                  <a:srgbClr val="A18150"/>
                </a:solidFill>
                <a:latin typeface="Arial Unicode MS"/>
                <a:ea typeface="Arial Unicode MS"/>
                <a:cs typeface="Arial Unicode MS"/>
              </a:rPr>
              <a:t>02</a:t>
            </a:r>
          </a:p>
        </p:txBody>
      </p:sp>
      <p:sp>
        <p:nvSpPr>
          <p:cNvPr id="36" name="Figure 1 label 35">
            <a:extLst xmlns:a="http://schemas.openxmlformats.org/drawingml/2006/main">
              <a:ext uri="{FF2B5EF4-FFF2-40B4-BE49-F238E27FC236}">
                <a16:creationId xmlns:a16="http://schemas.microsoft.com/office/drawing/2014/main" id="{17B70510-8585-4267-ABC7-0E1678EE9AFE}"/>
              </a:ext>
            </a:extLst>
          </p:cNvPr>
          <p:cNvSpPr>
            <a:spLocks xmlns:a="http://schemas.openxmlformats.org/drawingml/2006/main" noGrp="1"/>
          </p:cNvSpPr>
          <p:nvPr/>
        </p:nvSpPr>
        <p:spPr>
          <a:xfrm xmlns:a="http://schemas.openxmlformats.org/drawingml/2006/main" rot="0">
            <a:off x="13141452" y="4346900"/>
            <a:ext cx="29926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LC / LC-MS / mass spectrometers</a:t>
            </a:r>
          </a:p>
        </p:txBody>
      </p:sp>
      <p:sp>
        <p:nvSpPr>
          <p:cNvPr id="37" name="Figure 1 label 36">
            <a:extLst xmlns:a="http://schemas.openxmlformats.org/drawingml/2006/main">
              <a:ext uri="{FF2B5EF4-FFF2-40B4-BE49-F238E27FC236}">
                <a16:creationId xmlns:a16="http://schemas.microsoft.com/office/drawing/2014/main" id="{B60A106D-7948-4E8F-AE73-CFC94649DCDC}"/>
              </a:ext>
            </a:extLst>
          </p:cNvPr>
          <p:cNvSpPr>
            <a:spLocks xmlns:a="http://schemas.openxmlformats.org/drawingml/2006/main" noGrp="1"/>
          </p:cNvSpPr>
          <p:nvPr/>
        </p:nvSpPr>
        <p:spPr>
          <a:xfrm xmlns:a="http://schemas.openxmlformats.org/drawingml/2006/main" rot="0">
            <a:off x="12520612"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A18150"/>
                </a:solidFill>
                <a:latin typeface="Arial Unicode MS"/>
                <a:ea typeface="Arial Unicode MS"/>
                <a:cs typeface="Arial Unicode MS"/>
              </a:defRPr>
            </a:defPPr>
          </a:lstStyle>
          <a:p xmlns:a="http://schemas.openxmlformats.org/drawingml/2006/main">
            <a:pPr algn="l">
              <a:lnSpc>
                <a:spcPct val="125000"/>
              </a:lnSpc>
              <a:buNone/>
              <a:defRPr sz="1313" b="0">
                <a:solidFill>
                  <a:srgbClr val="A18150"/>
                </a:solidFill>
                <a:latin typeface="Arial Unicode MS"/>
                <a:ea typeface="Arial Unicode MS"/>
                <a:cs typeface="Arial Unicode MS"/>
              </a:defRPr>
            </a:pPr>
            <a:r>
              <a:rPr sz="1313" b="0">
                <a:solidFill>
                  <a:srgbClr val="A18150"/>
                </a:solidFill>
                <a:latin typeface="Arial Unicode MS"/>
                <a:ea typeface="Arial Unicode MS"/>
                <a:cs typeface="Arial Unicode MS"/>
              </a:rPr>
              <a:t>03</a:t>
            </a:r>
          </a:p>
        </p:txBody>
      </p:sp>
      <p:sp>
        <p:nvSpPr>
          <p:cNvPr id="38" name="Figure 1 label 37">
            <a:extLst xmlns:a="http://schemas.openxmlformats.org/drawingml/2006/main">
              <a:ext uri="{FF2B5EF4-FFF2-40B4-BE49-F238E27FC236}">
                <a16:creationId xmlns:a16="http://schemas.microsoft.com/office/drawing/2014/main" id="{2D7E412A-6CF5-4B9D-B874-89314D6C1C95}"/>
              </a:ext>
            </a:extLst>
          </p:cNvPr>
          <p:cNvSpPr>
            <a:spLocks xmlns:a="http://schemas.openxmlformats.org/drawingml/2006/main" noGrp="1"/>
          </p:cNvSpPr>
          <p:nvPr/>
        </p:nvSpPr>
        <p:spPr>
          <a:xfrm xmlns:a="http://schemas.openxmlformats.org/drawingml/2006/main" rot="0">
            <a:off x="13141452" y="5064803"/>
            <a:ext cx="151060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Flow cytometers</a:t>
            </a:r>
          </a:p>
        </p:txBody>
      </p:sp>
      <p:sp>
        <p:nvSpPr>
          <p:cNvPr id="39" name="Figure 1 label 38">
            <a:extLst xmlns:a="http://schemas.openxmlformats.org/drawingml/2006/main">
              <a:ext uri="{FF2B5EF4-FFF2-40B4-BE49-F238E27FC236}">
                <a16:creationId xmlns:a16="http://schemas.microsoft.com/office/drawing/2014/main" id="{6677833F-007C-4BE7-9CFC-9D86BC553D64}"/>
              </a:ext>
            </a:extLst>
          </p:cNvPr>
          <p:cNvSpPr>
            <a:spLocks xmlns:a="http://schemas.openxmlformats.org/drawingml/2006/main" noGrp="1"/>
          </p:cNvSpPr>
          <p:nvPr/>
        </p:nvSpPr>
        <p:spPr>
          <a:xfrm xmlns:a="http://schemas.openxmlformats.org/drawingml/2006/main" rot="0">
            <a:off x="12520612"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A18150"/>
                </a:solidFill>
                <a:latin typeface="Arial Unicode MS"/>
                <a:ea typeface="Arial Unicode MS"/>
                <a:cs typeface="Arial Unicode MS"/>
              </a:defRPr>
            </a:defPPr>
          </a:lstStyle>
          <a:p xmlns:a="http://schemas.openxmlformats.org/drawingml/2006/main">
            <a:pPr algn="l">
              <a:lnSpc>
                <a:spcPct val="125000"/>
              </a:lnSpc>
              <a:buNone/>
              <a:defRPr sz="1313" b="0">
                <a:solidFill>
                  <a:srgbClr val="A18150"/>
                </a:solidFill>
                <a:latin typeface="Arial Unicode MS"/>
                <a:ea typeface="Arial Unicode MS"/>
                <a:cs typeface="Arial Unicode MS"/>
              </a:defRPr>
            </a:pPr>
            <a:r>
              <a:rPr sz="1313" b="0">
                <a:solidFill>
                  <a:srgbClr val="A18150"/>
                </a:solidFill>
                <a:latin typeface="Arial Unicode MS"/>
                <a:ea typeface="Arial Unicode MS"/>
                <a:cs typeface="Arial Unicode MS"/>
              </a:rPr>
              <a:t>04</a:t>
            </a:r>
          </a:p>
        </p:txBody>
      </p:sp>
      <p:sp>
        <p:nvSpPr>
          <p:cNvPr id="40" name="Figure 1 label 39">
            <a:extLst xmlns:a="http://schemas.openxmlformats.org/drawingml/2006/main">
              <a:ext uri="{FF2B5EF4-FFF2-40B4-BE49-F238E27FC236}">
                <a16:creationId xmlns:a16="http://schemas.microsoft.com/office/drawing/2014/main" id="{EF19C6A4-2A46-42E6-846E-9FEEC455CE53}"/>
              </a:ext>
            </a:extLst>
          </p:cNvPr>
          <p:cNvSpPr>
            <a:spLocks xmlns:a="http://schemas.openxmlformats.org/drawingml/2006/main" noGrp="1"/>
          </p:cNvSpPr>
          <p:nvPr/>
        </p:nvSpPr>
        <p:spPr>
          <a:xfrm xmlns:a="http://schemas.openxmlformats.org/drawingml/2006/main" rot="0">
            <a:off x="13141452" y="5784892"/>
            <a:ext cx="267548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High-content imaging systems</a:t>
            </a:r>
          </a:p>
        </p:txBody>
      </p:sp>
      <p:sp>
        <p:nvSpPr>
          <p:cNvPr id="41" name="Figure 1 label 40">
            <a:extLst xmlns:a="http://schemas.openxmlformats.org/drawingml/2006/main">
              <a:ext uri="{FF2B5EF4-FFF2-40B4-BE49-F238E27FC236}">
                <a16:creationId xmlns:a16="http://schemas.microsoft.com/office/drawing/2014/main" id="{5CE519A6-4802-45D5-BC53-ABD42B4C8389}"/>
              </a:ext>
            </a:extLst>
          </p:cNvPr>
          <p:cNvSpPr>
            <a:spLocks xmlns:a="http://schemas.openxmlformats.org/drawingml/2006/main" noGrp="1"/>
          </p:cNvSpPr>
          <p:nvPr/>
        </p:nvSpPr>
        <p:spPr>
          <a:xfrm xmlns:a="http://schemas.openxmlformats.org/drawingml/2006/main" rot="0">
            <a:off x="12520612"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A18150"/>
                </a:solidFill>
                <a:latin typeface="Arial Unicode MS"/>
                <a:ea typeface="Arial Unicode MS"/>
                <a:cs typeface="Arial Unicode MS"/>
              </a:defRPr>
            </a:defPPr>
          </a:lstStyle>
          <a:p xmlns:a="http://schemas.openxmlformats.org/drawingml/2006/main">
            <a:pPr algn="l">
              <a:lnSpc>
                <a:spcPct val="125000"/>
              </a:lnSpc>
              <a:buNone/>
              <a:defRPr sz="1313" b="0">
                <a:solidFill>
                  <a:srgbClr val="A18150"/>
                </a:solidFill>
                <a:latin typeface="Arial Unicode MS"/>
                <a:ea typeface="Arial Unicode MS"/>
                <a:cs typeface="Arial Unicode MS"/>
              </a:defRPr>
            </a:pPr>
            <a:r>
              <a:rPr sz="1313" b="0">
                <a:solidFill>
                  <a:srgbClr val="A18150"/>
                </a:solidFill>
                <a:latin typeface="Arial Unicode MS"/>
                <a:ea typeface="Arial Unicode MS"/>
                <a:cs typeface="Arial Unicode MS"/>
              </a:rPr>
              <a:t>05</a:t>
            </a:r>
          </a:p>
        </p:txBody>
      </p:sp>
      <p:sp>
        <p:nvSpPr>
          <p:cNvPr id="42" name="Figure 1 label 41">
            <a:extLst xmlns:a="http://schemas.openxmlformats.org/drawingml/2006/main">
              <a:ext uri="{FF2B5EF4-FFF2-40B4-BE49-F238E27FC236}">
                <a16:creationId xmlns:a16="http://schemas.microsoft.com/office/drawing/2014/main" id="{EEEEE4B0-49B8-4C0B-B319-4DB22675F889}"/>
              </a:ext>
            </a:extLst>
          </p:cNvPr>
          <p:cNvSpPr>
            <a:spLocks xmlns:a="http://schemas.openxmlformats.org/drawingml/2006/main" noGrp="1"/>
          </p:cNvSpPr>
          <p:nvPr/>
        </p:nvSpPr>
        <p:spPr>
          <a:xfrm xmlns:a="http://schemas.openxmlformats.org/drawingml/2006/main" rot="0">
            <a:off x="13141452" y="6506010"/>
            <a:ext cx="21989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0">
                <a:solidFill>
                  <a:srgbClr val="263B49"/>
                </a:solidFill>
                <a:latin typeface="Arial Unicode MS"/>
                <a:ea typeface="Arial Unicode MS"/>
                <a:cs typeface="Arial Unicode MS"/>
              </a:defRPr>
            </a:pPr>
            <a:r>
              <a:rPr sz="1500" b="0">
                <a:solidFill>
                  <a:srgbClr val="263B49"/>
                </a:solidFill>
                <a:latin typeface="Arial Unicode MS"/>
                <a:ea typeface="Arial Unicode MS"/>
                <a:cs typeface="Arial Unicode MS"/>
              </a:rPr>
              <a:t>Cell-culture workstations</a:t>
            </a:r>
          </a:p>
        </p:txBody>
      </p:sp>
      <p:sp>
        <p:nvSpPr>
          <p:cNvPr id="43" name="Figure 1 label 42">
            <a:extLst xmlns:a="http://schemas.openxmlformats.org/drawingml/2006/main">
              <a:ext uri="{FF2B5EF4-FFF2-40B4-BE49-F238E27FC236}">
                <a16:creationId xmlns:a16="http://schemas.microsoft.com/office/drawing/2014/main" id="{ECE265AA-0245-40C2-B958-71518828C773}"/>
              </a:ext>
            </a:extLst>
          </p:cNvPr>
          <p:cNvSpPr>
            <a:spLocks xmlns:a="http://schemas.openxmlformats.org/drawingml/2006/main" noGrp="1"/>
          </p:cNvSpPr>
          <p:nvPr/>
        </p:nvSpPr>
        <p:spPr>
          <a:xfrm xmlns:a="http://schemas.openxmlformats.org/drawingml/2006/main" rot="0">
            <a:off x="12520422" y="7440635"/>
            <a:ext cx="327523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New installations + replacement + service</a:t>
            </a:r>
          </a:p>
        </p:txBody>
      </p:sp>
      <p:sp>
        <p:nvSpPr>
          <p:cNvPr id="44" name="Figure 1 label 43">
            <a:extLst xmlns:a="http://schemas.openxmlformats.org/drawingml/2006/main">
              <a:ext uri="{FF2B5EF4-FFF2-40B4-BE49-F238E27FC236}">
                <a16:creationId xmlns:a16="http://schemas.microsoft.com/office/drawing/2014/main" id="{DBAC5985-4BC7-40EB-A960-37493EF2293C}"/>
              </a:ext>
            </a:extLst>
          </p:cNvPr>
          <p:cNvSpPr>
            <a:spLocks xmlns:a="http://schemas.openxmlformats.org/drawingml/2006/main" noGrp="1"/>
          </p:cNvSpPr>
          <p:nvPr/>
        </p:nvSpPr>
        <p:spPr>
          <a:xfrm xmlns:a="http://schemas.openxmlformats.org/drawingml/2006/main" rot="0">
            <a:off x="5393531" y="8413000"/>
            <a:ext cx="750093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1">
                <a:solidFill>
                  <a:srgbClr val="263B49"/>
                </a:solidFill>
                <a:latin typeface="Arial Unicode MS"/>
                <a:ea typeface="Arial Unicode MS"/>
                <a:cs typeface="Arial Unicode MS"/>
              </a:defRPr>
            </a:pPr>
            <a:r>
              <a:rPr sz="1875" b="1">
                <a:solidFill>
                  <a:srgbClr val="263B49"/>
                </a:solidFill>
                <a:latin typeface="Arial Unicode MS"/>
                <a:ea typeface="Arial Unicode MS"/>
                <a:cs typeface="Arial Unicode MS"/>
              </a:rPr>
              <a:t>Use one product taxonomy; retain the scope of each market estimate.</a:t>
            </a:r>
          </a:p>
        </p:txBody>
      </p:sp>
    </p:spTree>
    <p:extLst>
      <p:ext uri="{BB962C8B-B14F-4D97-AF65-F5344CB8AC3E}">
        <p14:creationId xmlns:p14="http://schemas.microsoft.com/office/powerpoint/2010/main" val="17329914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1" name="">
            <a:extLst xmlns:a="http://schemas.openxmlformats.org/drawingml/2006/main">
              <a:ext uri="{FF2B5EF4-FFF2-40B4-BE49-F238E27FC236}">
                <a16:creationId xmlns:a16="http://schemas.microsoft.com/office/drawing/2014/main" id="{26BAC772-2DB5-4BBE-8912-1E2D29A53DEC}"/>
              </a:ext>
            </a:extLst>
          </p:cNvPr>
          <p:cNvPicPr>
            <a:picLocks xmlns:a="http://schemas.openxmlformats.org/drawingml/2006/main" noChangeAspect="1"/>
          </p:cNvPicPr>
          <p:nvPr/>
        </p:nvPicPr>
        <p:blipFill>
          <a:blip xmlns:r="http://schemas.openxmlformats.org/officeDocument/2006/relationships" xmlns:a="http://schemas.openxmlformats.org/drawingml/2006/main" r:embed="R1f1a46fa69dc4f89"/>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2 label 1">
            <a:extLst xmlns:a="http://schemas.openxmlformats.org/drawingml/2006/main">
              <a:ext uri="{FF2B5EF4-FFF2-40B4-BE49-F238E27FC236}">
                <a16:creationId xmlns:a16="http://schemas.microsoft.com/office/drawing/2014/main" id="{180BDE31-1215-4932-8FFA-2677F176B13A}"/>
              </a:ext>
            </a:extLst>
          </p:cNvPr>
          <p:cNvSpPr>
            <a:spLocks xmlns:a="http://schemas.openxmlformats.org/drawingml/2006/main" noGrp="1"/>
          </p:cNvSpPr>
          <p:nvPr/>
        </p:nvSpPr>
        <p:spPr>
          <a:xfrm xmlns:a="http://schemas.openxmlformats.org/drawingml/2006/main" rot="0">
            <a:off x="3894019" y="7907353"/>
            <a:ext cx="1256209"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750" b="0">
                <a:solidFill>
                  <a:srgbClr val="6A7F8B"/>
                </a:solidFill>
                <a:latin typeface="Arial Unicode MS"/>
                <a:ea typeface="Arial Unicode MS"/>
                <a:cs typeface="Arial Unicode MS"/>
              </a:defRPr>
            </a:pPr>
            <a:r>
              <a:rPr sz="1750" b="0">
                <a:solidFill>
                  <a:srgbClr val="6A7F8B"/>
                </a:solidFill>
                <a:latin typeface="Arial Unicode MS"/>
                <a:ea typeface="Arial Unicode MS"/>
                <a:cs typeface="Arial Unicode MS"/>
              </a:rPr>
              <a:t>Global LST</a:t>
            </a:r>
          </a:p>
        </p:txBody>
      </p:sp>
      <p:sp>
        <p:nvSpPr>
          <p:cNvPr id="3" name="Figure 2 label 2">
            <a:extLst xmlns:a="http://schemas.openxmlformats.org/drawingml/2006/main">
              <a:ext uri="{FF2B5EF4-FFF2-40B4-BE49-F238E27FC236}">
                <a16:creationId xmlns:a16="http://schemas.microsoft.com/office/drawing/2014/main" id="{7E05F96D-1B13-4C54-956E-6014D16D9C02}"/>
              </a:ext>
            </a:extLst>
          </p:cNvPr>
          <p:cNvSpPr>
            <a:spLocks xmlns:a="http://schemas.openxmlformats.org/drawingml/2006/main" noGrp="1"/>
          </p:cNvSpPr>
          <p:nvPr/>
        </p:nvSpPr>
        <p:spPr>
          <a:xfrm xmlns:a="http://schemas.openxmlformats.org/drawingml/2006/main" rot="0">
            <a:off x="8413774" y="7907353"/>
            <a:ext cx="1194445"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750" b="0">
                <a:solidFill>
                  <a:srgbClr val="6A7F8B"/>
                </a:solidFill>
                <a:latin typeface="Arial Unicode MS"/>
                <a:ea typeface="Arial Unicode MS"/>
                <a:cs typeface="Arial Unicode MS"/>
              </a:defRPr>
            </a:pPr>
            <a:r>
              <a:rPr sz="1750" b="0">
                <a:solidFill>
                  <a:srgbClr val="6A7F8B"/>
                </a:solidFill>
                <a:latin typeface="Arial Unicode MS"/>
                <a:ea typeface="Arial Unicode MS"/>
                <a:cs typeface="Arial Unicode MS"/>
              </a:rPr>
              <a:t>China LST</a:t>
            </a:r>
          </a:p>
        </p:txBody>
      </p:sp>
      <p:sp>
        <p:nvSpPr>
          <p:cNvPr id="4" name="Figure 2 label 3">
            <a:extLst xmlns:a="http://schemas.openxmlformats.org/drawingml/2006/main">
              <a:ext uri="{FF2B5EF4-FFF2-40B4-BE49-F238E27FC236}">
                <a16:creationId xmlns:a16="http://schemas.microsoft.com/office/drawing/2014/main" id="{C2F63DA7-CA1E-4024-A341-BF382DF1726D}"/>
              </a:ext>
            </a:extLst>
          </p:cNvPr>
          <p:cNvSpPr>
            <a:spLocks xmlns:a="http://schemas.openxmlformats.org/drawingml/2006/main" noGrp="1"/>
          </p:cNvSpPr>
          <p:nvPr/>
        </p:nvSpPr>
        <p:spPr>
          <a:xfrm xmlns:a="http://schemas.openxmlformats.org/drawingml/2006/main" rot="0">
            <a:off x="1440259" y="7697703"/>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0</a:t>
            </a:r>
          </a:p>
        </p:txBody>
      </p:sp>
      <p:sp>
        <p:nvSpPr>
          <p:cNvPr id="5" name="Figure 2 label 4">
            <a:extLst xmlns:a="http://schemas.openxmlformats.org/drawingml/2006/main">
              <a:ext uri="{FF2B5EF4-FFF2-40B4-BE49-F238E27FC236}">
                <a16:creationId xmlns:a16="http://schemas.microsoft.com/office/drawing/2014/main" id="{CB64EC23-80E3-4100-A4AB-7234561FA8A8}"/>
              </a:ext>
            </a:extLst>
          </p:cNvPr>
          <p:cNvSpPr>
            <a:spLocks xmlns:a="http://schemas.openxmlformats.org/drawingml/2006/main" noGrp="1"/>
          </p:cNvSpPr>
          <p:nvPr/>
        </p:nvSpPr>
        <p:spPr>
          <a:xfrm xmlns:a="http://schemas.openxmlformats.org/drawingml/2006/main" rot="0">
            <a:off x="1334294" y="652364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10</a:t>
            </a:r>
          </a:p>
        </p:txBody>
      </p:sp>
      <p:sp>
        <p:nvSpPr>
          <p:cNvPr id="6" name="Figure 2 label 5">
            <a:extLst xmlns:a="http://schemas.openxmlformats.org/drawingml/2006/main">
              <a:ext uri="{FF2B5EF4-FFF2-40B4-BE49-F238E27FC236}">
                <a16:creationId xmlns:a16="http://schemas.microsoft.com/office/drawing/2014/main" id="{459C2478-DED0-43A7-B4A6-8342798E6B37}"/>
              </a:ext>
            </a:extLst>
          </p:cNvPr>
          <p:cNvSpPr>
            <a:spLocks xmlns:a="http://schemas.openxmlformats.org/drawingml/2006/main" noGrp="1"/>
          </p:cNvSpPr>
          <p:nvPr/>
        </p:nvSpPr>
        <p:spPr>
          <a:xfrm xmlns:a="http://schemas.openxmlformats.org/drawingml/2006/main" rot="0">
            <a:off x="1334294" y="534958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20</a:t>
            </a:r>
          </a:p>
        </p:txBody>
      </p:sp>
      <p:sp>
        <p:nvSpPr>
          <p:cNvPr id="7" name="Figure 2 label 6">
            <a:extLst xmlns:a="http://schemas.openxmlformats.org/drawingml/2006/main">
              <a:ext uri="{FF2B5EF4-FFF2-40B4-BE49-F238E27FC236}">
                <a16:creationId xmlns:a16="http://schemas.microsoft.com/office/drawing/2014/main" id="{D68BDDD0-F0E0-4921-A2FD-41AD1C3245DC}"/>
              </a:ext>
            </a:extLst>
          </p:cNvPr>
          <p:cNvSpPr>
            <a:spLocks xmlns:a="http://schemas.openxmlformats.org/drawingml/2006/main" noGrp="1"/>
          </p:cNvSpPr>
          <p:nvPr/>
        </p:nvSpPr>
        <p:spPr>
          <a:xfrm xmlns:a="http://schemas.openxmlformats.org/drawingml/2006/main" rot="0">
            <a:off x="1334294" y="417552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30</a:t>
            </a:r>
          </a:p>
        </p:txBody>
      </p:sp>
      <p:sp>
        <p:nvSpPr>
          <p:cNvPr id="8" name="Figure 2 label 7">
            <a:extLst xmlns:a="http://schemas.openxmlformats.org/drawingml/2006/main">
              <a:ext uri="{FF2B5EF4-FFF2-40B4-BE49-F238E27FC236}">
                <a16:creationId xmlns:a16="http://schemas.microsoft.com/office/drawing/2014/main" id="{7A5100DB-7E36-4F8E-8F7B-269903C3B61E}"/>
              </a:ext>
            </a:extLst>
          </p:cNvPr>
          <p:cNvSpPr>
            <a:spLocks xmlns:a="http://schemas.openxmlformats.org/drawingml/2006/main" noGrp="1"/>
          </p:cNvSpPr>
          <p:nvPr/>
        </p:nvSpPr>
        <p:spPr>
          <a:xfrm xmlns:a="http://schemas.openxmlformats.org/drawingml/2006/main" rot="0">
            <a:off x="1334294" y="300146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40</a:t>
            </a:r>
          </a:p>
        </p:txBody>
      </p:sp>
      <p:sp>
        <p:nvSpPr>
          <p:cNvPr id="9" name="Figure 2 label 8">
            <a:extLst xmlns:a="http://schemas.openxmlformats.org/drawingml/2006/main">
              <a:ext uri="{FF2B5EF4-FFF2-40B4-BE49-F238E27FC236}">
                <a16:creationId xmlns:a16="http://schemas.microsoft.com/office/drawing/2014/main" id="{0592D509-F2C1-437D-8372-D094CA576370}"/>
              </a:ext>
            </a:extLst>
          </p:cNvPr>
          <p:cNvSpPr>
            <a:spLocks xmlns:a="http://schemas.openxmlformats.org/drawingml/2006/main" noGrp="1"/>
          </p:cNvSpPr>
          <p:nvPr/>
        </p:nvSpPr>
        <p:spPr>
          <a:xfrm xmlns:a="http://schemas.openxmlformats.org/drawingml/2006/main" rot="16200000">
            <a:off x="962600" y="4970145"/>
            <a:ext cx="70633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US$bn</a:t>
            </a:r>
          </a:p>
        </p:txBody>
      </p:sp>
      <p:sp>
        <p:nvSpPr>
          <p:cNvPr id="10" name="Figure 2 label 9">
            <a:extLst xmlns:a="http://schemas.openxmlformats.org/drawingml/2006/main">
              <a:ext uri="{FF2B5EF4-FFF2-40B4-BE49-F238E27FC236}">
                <a16:creationId xmlns:a16="http://schemas.microsoft.com/office/drawing/2014/main" id="{5EB153A2-D433-4590-AA80-682790E710C2}"/>
              </a:ext>
            </a:extLst>
          </p:cNvPr>
          <p:cNvSpPr>
            <a:spLocks xmlns:a="http://schemas.openxmlformats.org/drawingml/2006/main" noGrp="1"/>
          </p:cNvSpPr>
          <p:nvPr/>
        </p:nvSpPr>
        <p:spPr>
          <a:xfrm xmlns:a="http://schemas.openxmlformats.org/drawingml/2006/main" rot="0">
            <a:off x="4171807" y="6049458"/>
            <a:ext cx="70063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FFFFFF"/>
                </a:solidFill>
                <a:latin typeface="Arial Unicode MS"/>
                <a:ea typeface="Arial Unicode MS"/>
                <a:cs typeface="Arial Unicode MS"/>
              </a:defRPr>
            </a:defPPr>
          </a:lstStyle>
          <a:p xmlns:a="http://schemas.openxmlformats.org/drawingml/2006/main">
            <a:pPr algn="ctr">
              <a:lnSpc>
                <a:spcPct val="125000"/>
              </a:lnSpc>
              <a:buNone/>
              <a:defRPr sz="2125" b="1">
                <a:solidFill>
                  <a:srgbClr val="FFFFFF"/>
                </a:solidFill>
                <a:latin typeface="Arial Unicode MS"/>
                <a:ea typeface="Arial Unicode MS"/>
                <a:cs typeface="Arial Unicode MS"/>
              </a:defRPr>
            </a:pPr>
            <a:r>
              <a:rPr sz="2125" b="1">
                <a:solidFill>
                  <a:srgbClr val="FFFFFF"/>
                </a:solidFill>
                <a:latin typeface="Arial Unicode MS"/>
                <a:ea typeface="Arial Unicode MS"/>
                <a:cs typeface="Arial Unicode MS"/>
              </a:rPr>
              <a:t>26.4</a:t>
            </a:r>
          </a:p>
        </p:txBody>
      </p:sp>
      <p:sp>
        <p:nvSpPr>
          <p:cNvPr id="11" name="Figure 2 label 10">
            <a:extLst xmlns:a="http://schemas.openxmlformats.org/drawingml/2006/main">
              <a:ext uri="{FF2B5EF4-FFF2-40B4-BE49-F238E27FC236}">
                <a16:creationId xmlns:a16="http://schemas.microsoft.com/office/drawing/2014/main" id="{75E46CE3-7213-4F66-AEE2-76A18B05BCA0}"/>
              </a:ext>
            </a:extLst>
          </p:cNvPr>
          <p:cNvSpPr>
            <a:spLocks xmlns:a="http://schemas.openxmlformats.org/drawingml/2006/main" noGrp="1"/>
          </p:cNvSpPr>
          <p:nvPr/>
        </p:nvSpPr>
        <p:spPr>
          <a:xfrm xmlns:a="http://schemas.openxmlformats.org/drawingml/2006/main" rot="0">
            <a:off x="4212933" y="3645088"/>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0">
                <a:solidFill>
                  <a:srgbClr val="263B49"/>
                </a:solidFill>
                <a:latin typeface="Arial Unicode MS"/>
                <a:ea typeface="Arial Unicode MS"/>
                <a:cs typeface="Arial Unicode MS"/>
              </a:defRPr>
            </a:pPr>
            <a:r>
              <a:rPr sz="1875" b="0">
                <a:solidFill>
                  <a:srgbClr val="263B49"/>
                </a:solidFill>
                <a:latin typeface="Arial Unicode MS"/>
                <a:ea typeface="Arial Unicode MS"/>
                <a:cs typeface="Arial Unicode MS"/>
              </a:rPr>
              <a:t>15.1</a:t>
            </a:r>
          </a:p>
        </p:txBody>
      </p:sp>
      <p:sp>
        <p:nvSpPr>
          <p:cNvPr id="12" name="Figure 2 label 11">
            <a:extLst xmlns:a="http://schemas.openxmlformats.org/drawingml/2006/main">
              <a:ext uri="{FF2B5EF4-FFF2-40B4-BE49-F238E27FC236}">
                <a16:creationId xmlns:a16="http://schemas.microsoft.com/office/drawing/2014/main" id="{9FB73431-3484-41B4-9659-1231E6E2BC61}"/>
              </a:ext>
            </a:extLst>
          </p:cNvPr>
          <p:cNvSpPr>
            <a:spLocks xmlns:a="http://schemas.openxmlformats.org/drawingml/2006/main" noGrp="1"/>
          </p:cNvSpPr>
          <p:nvPr/>
        </p:nvSpPr>
        <p:spPr>
          <a:xfrm xmlns:a="http://schemas.openxmlformats.org/drawingml/2006/main" rot="0">
            <a:off x="4109969" y="2416499"/>
            <a:ext cx="824309" cy="39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0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500" b="1">
                <a:solidFill>
                  <a:srgbClr val="263B49"/>
                </a:solidFill>
                <a:latin typeface="Arial Unicode MS"/>
                <a:ea typeface="Arial Unicode MS"/>
                <a:cs typeface="Arial Unicode MS"/>
              </a:defRPr>
            </a:pPr>
            <a:r>
              <a:rPr sz="2500" b="1">
                <a:solidFill>
                  <a:srgbClr val="263B49"/>
                </a:solidFill>
                <a:latin typeface="Arial Unicode MS"/>
                <a:ea typeface="Arial Unicode MS"/>
                <a:cs typeface="Arial Unicode MS"/>
              </a:rPr>
              <a:t>41.5</a:t>
            </a:r>
          </a:p>
        </p:txBody>
      </p:sp>
      <p:sp>
        <p:nvSpPr>
          <p:cNvPr id="13" name="Figure 2 label 12">
            <a:extLst xmlns:a="http://schemas.openxmlformats.org/drawingml/2006/main">
              <a:ext uri="{FF2B5EF4-FFF2-40B4-BE49-F238E27FC236}">
                <a16:creationId xmlns:a16="http://schemas.microsoft.com/office/drawing/2014/main" id="{EE186A1E-D025-49C9-BF4F-A2C73D4C5029}"/>
              </a:ext>
            </a:extLst>
          </p:cNvPr>
          <p:cNvSpPr>
            <a:spLocks xmlns:a="http://schemas.openxmlformats.org/drawingml/2006/main" noGrp="1"/>
          </p:cNvSpPr>
          <p:nvPr/>
        </p:nvSpPr>
        <p:spPr>
          <a:xfrm xmlns:a="http://schemas.openxmlformats.org/drawingml/2006/main" rot="0">
            <a:off x="8735690" y="7329182"/>
            <a:ext cx="550614"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FFFFFF"/>
                </a:solidFill>
                <a:latin typeface="Arial Unicode MS"/>
                <a:ea typeface="Arial Unicode MS"/>
                <a:cs typeface="Arial Unicode MS"/>
              </a:defRPr>
            </a:defPPr>
          </a:lstStyle>
          <a:p xmlns:a="http://schemas.openxmlformats.org/drawingml/2006/main">
            <a:pPr algn="ctr">
              <a:lnSpc>
                <a:spcPct val="125000"/>
              </a:lnSpc>
              <a:buNone/>
              <a:defRPr sz="2125" b="1">
                <a:solidFill>
                  <a:srgbClr val="FFFFFF"/>
                </a:solidFill>
                <a:latin typeface="Arial Unicode MS"/>
                <a:ea typeface="Arial Unicode MS"/>
                <a:cs typeface="Arial Unicode MS"/>
              </a:defRPr>
            </a:pPr>
            <a:r>
              <a:rPr sz="2125" b="1">
                <a:solidFill>
                  <a:srgbClr val="FFFFFF"/>
                </a:solidFill>
                <a:latin typeface="Arial Unicode MS"/>
                <a:ea typeface="Arial Unicode MS"/>
                <a:cs typeface="Arial Unicode MS"/>
              </a:rPr>
              <a:t>4.6</a:t>
            </a:r>
          </a:p>
        </p:txBody>
      </p:sp>
      <p:sp>
        <p:nvSpPr>
          <p:cNvPr id="14" name="Figure 2 label 13">
            <a:extLst xmlns:a="http://schemas.openxmlformats.org/drawingml/2006/main">
              <a:ext uri="{FF2B5EF4-FFF2-40B4-BE49-F238E27FC236}">
                <a16:creationId xmlns:a16="http://schemas.microsoft.com/office/drawing/2014/main" id="{9991CB63-9A54-4C62-BA50-88692DAEBC17}"/>
              </a:ext>
            </a:extLst>
          </p:cNvPr>
          <p:cNvSpPr>
            <a:spLocks xmlns:a="http://schemas.openxmlformats.org/drawingml/2006/main" noGrp="1"/>
          </p:cNvSpPr>
          <p:nvPr/>
        </p:nvSpPr>
        <p:spPr>
          <a:xfrm xmlns:a="http://schemas.openxmlformats.org/drawingml/2006/main" rot="0">
            <a:off x="8768035" y="6908974"/>
            <a:ext cx="485924"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0">
                <a:solidFill>
                  <a:srgbClr val="263B49"/>
                </a:solidFill>
                <a:latin typeface="Arial Unicode MS"/>
                <a:ea typeface="Arial Unicode MS"/>
                <a:cs typeface="Arial Unicode MS"/>
              </a:defRPr>
            </a:pPr>
            <a:r>
              <a:rPr sz="1875" b="0">
                <a:solidFill>
                  <a:srgbClr val="263B49"/>
                </a:solidFill>
                <a:latin typeface="Arial Unicode MS"/>
                <a:ea typeface="Arial Unicode MS"/>
                <a:cs typeface="Arial Unicode MS"/>
              </a:rPr>
              <a:t>3.1</a:t>
            </a:r>
          </a:p>
        </p:txBody>
      </p:sp>
      <p:sp>
        <p:nvSpPr>
          <p:cNvPr id="15" name="Figure 2 label 14">
            <a:extLst xmlns:a="http://schemas.openxmlformats.org/drawingml/2006/main">
              <a:ext uri="{FF2B5EF4-FFF2-40B4-BE49-F238E27FC236}">
                <a16:creationId xmlns:a16="http://schemas.microsoft.com/office/drawing/2014/main" id="{D64B68BA-A3BF-461F-8850-8F496BF98DAD}"/>
              </a:ext>
            </a:extLst>
          </p:cNvPr>
          <p:cNvSpPr>
            <a:spLocks xmlns:a="http://schemas.openxmlformats.org/drawingml/2006/main" noGrp="1"/>
          </p:cNvSpPr>
          <p:nvPr/>
        </p:nvSpPr>
        <p:spPr>
          <a:xfrm xmlns:a="http://schemas.openxmlformats.org/drawingml/2006/main" rot="0">
            <a:off x="8687098" y="6384822"/>
            <a:ext cx="647799" cy="39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0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500" b="1">
                <a:solidFill>
                  <a:srgbClr val="263B49"/>
                </a:solidFill>
                <a:latin typeface="Arial Unicode MS"/>
                <a:ea typeface="Arial Unicode MS"/>
                <a:cs typeface="Arial Unicode MS"/>
              </a:defRPr>
            </a:pPr>
            <a:r>
              <a:rPr sz="2500" b="1">
                <a:solidFill>
                  <a:srgbClr val="263B49"/>
                </a:solidFill>
                <a:latin typeface="Arial Unicode MS"/>
                <a:ea typeface="Arial Unicode MS"/>
                <a:cs typeface="Arial Unicode MS"/>
              </a:rPr>
              <a:t>7.7</a:t>
            </a:r>
          </a:p>
        </p:txBody>
      </p:sp>
      <p:sp>
        <p:nvSpPr>
          <p:cNvPr id="16" name="Figure 2 label 15">
            <a:extLst xmlns:a="http://schemas.openxmlformats.org/drawingml/2006/main">
              <a:ext uri="{FF2B5EF4-FFF2-40B4-BE49-F238E27FC236}">
                <a16:creationId xmlns:a16="http://schemas.microsoft.com/office/drawing/2014/main" id="{BA9A5339-1B89-4374-97C3-AA5D16916823}"/>
              </a:ext>
            </a:extLst>
          </p:cNvPr>
          <p:cNvSpPr>
            <a:spLocks xmlns:a="http://schemas.openxmlformats.org/drawingml/2006/main" noGrp="1"/>
          </p:cNvSpPr>
          <p:nvPr/>
        </p:nvSpPr>
        <p:spPr>
          <a:xfrm xmlns:a="http://schemas.openxmlformats.org/drawingml/2006/main" rot="0">
            <a:off x="2438876" y="2096130"/>
            <a:ext cx="225816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Research biological reagents</a:t>
            </a:r>
          </a:p>
        </p:txBody>
      </p:sp>
      <p:sp>
        <p:nvSpPr>
          <p:cNvPr id="17" name="Figure 2 label 16">
            <a:extLst xmlns:a="http://schemas.openxmlformats.org/drawingml/2006/main">
              <a:ext uri="{FF2B5EF4-FFF2-40B4-BE49-F238E27FC236}">
                <a16:creationId xmlns:a16="http://schemas.microsoft.com/office/drawing/2014/main" id="{FF576988-362A-43E0-8DEE-E415D741E28F}"/>
              </a:ext>
            </a:extLst>
          </p:cNvPr>
          <p:cNvSpPr>
            <a:spLocks xmlns:a="http://schemas.openxmlformats.org/drawingml/2006/main" noGrp="1"/>
          </p:cNvSpPr>
          <p:nvPr/>
        </p:nvSpPr>
        <p:spPr>
          <a:xfrm xmlns:a="http://schemas.openxmlformats.org/drawingml/2006/main" rot="0">
            <a:off x="5388516" y="2096130"/>
            <a:ext cx="304993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Other tools: instruments + consumables</a:t>
            </a:r>
          </a:p>
        </p:txBody>
      </p:sp>
      <p:sp>
        <p:nvSpPr>
          <p:cNvPr id="18" name="Figure 2 label 17">
            <a:extLst xmlns:a="http://schemas.openxmlformats.org/drawingml/2006/main">
              <a:ext uri="{FF2B5EF4-FFF2-40B4-BE49-F238E27FC236}">
                <a16:creationId xmlns:a16="http://schemas.microsoft.com/office/drawing/2014/main" id="{3A83CC62-1DC1-486B-ADE0-ED14A191C694}"/>
              </a:ext>
            </a:extLst>
          </p:cNvPr>
          <p:cNvSpPr>
            <a:spLocks xmlns:a="http://schemas.openxmlformats.org/drawingml/2006/main" noGrp="1"/>
          </p:cNvSpPr>
          <p:nvPr/>
        </p:nvSpPr>
        <p:spPr>
          <a:xfrm xmlns:a="http://schemas.openxmlformats.org/drawingml/2006/main" rot="0">
            <a:off x="991870" y="421920"/>
            <a:ext cx="5409654"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02  China and global LST markets</a:t>
            </a:r>
          </a:p>
        </p:txBody>
      </p:sp>
      <p:sp>
        <p:nvSpPr>
          <p:cNvPr id="19" name="Figure 2 label 18">
            <a:extLst xmlns:a="http://schemas.openxmlformats.org/drawingml/2006/main">
              <a:ext uri="{FF2B5EF4-FFF2-40B4-BE49-F238E27FC236}">
                <a16:creationId xmlns:a16="http://schemas.microsoft.com/office/drawing/2014/main" id="{FF7AE94F-3A1E-4A46-8B5D-7EC9E1FB8CBB}"/>
              </a:ext>
            </a:extLst>
          </p:cNvPr>
          <p:cNvSpPr>
            <a:spLocks xmlns:a="http://schemas.openxmlformats.org/drawingml/2006/main" noGrp="1"/>
          </p:cNvSpPr>
          <p:nvPr/>
        </p:nvSpPr>
        <p:spPr>
          <a:xfrm xmlns:a="http://schemas.openxmlformats.org/drawingml/2006/main" rot="0">
            <a:off x="15729149" y="661601"/>
            <a:ext cx="100290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HISTORICAL</a:t>
            </a:r>
          </a:p>
        </p:txBody>
      </p:sp>
      <p:sp>
        <p:nvSpPr>
          <p:cNvPr id="20" name="Figure 2 label 19">
            <a:extLst xmlns:a="http://schemas.openxmlformats.org/drawingml/2006/main">
              <a:ext uri="{FF2B5EF4-FFF2-40B4-BE49-F238E27FC236}">
                <a16:creationId xmlns:a16="http://schemas.microsoft.com/office/drawing/2014/main" id="{CE5ADBF1-BC6C-422A-80CA-D30859E5BA46}"/>
              </a:ext>
            </a:extLst>
          </p:cNvPr>
          <p:cNvSpPr>
            <a:spLocks xmlns:a="http://schemas.openxmlformats.org/drawingml/2006/main" noGrp="1"/>
          </p:cNvSpPr>
          <p:nvPr/>
        </p:nvSpPr>
        <p:spPr>
          <a:xfrm xmlns:a="http://schemas.openxmlformats.org/drawingml/2006/main" rot="0">
            <a:off x="998220" y="1249487"/>
            <a:ext cx="883786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2025 historical estimates from one F&amp;S study; this is a defined market scope, not a universal LST TAM.</a:t>
            </a:r>
          </a:p>
        </p:txBody>
      </p:sp>
      <p:sp>
        <p:nvSpPr>
          <p:cNvPr id="21" name="Figure 2 label 20">
            <a:extLst xmlns:a="http://schemas.openxmlformats.org/drawingml/2006/main">
              <a:ext uri="{FF2B5EF4-FFF2-40B4-BE49-F238E27FC236}">
                <a16:creationId xmlns:a16="http://schemas.microsoft.com/office/drawing/2014/main" id="{D0162B03-290E-41C2-A065-F4D91E56B2CC}"/>
              </a:ext>
            </a:extLst>
          </p:cNvPr>
          <p:cNvSpPr>
            <a:spLocks xmlns:a="http://schemas.openxmlformats.org/drawingml/2006/main" noGrp="1"/>
          </p:cNvSpPr>
          <p:nvPr/>
        </p:nvSpPr>
        <p:spPr>
          <a:xfrm xmlns:a="http://schemas.openxmlformats.org/drawingml/2006/main" rot="0">
            <a:off x="999173" y="9256035"/>
            <a:ext cx="789131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Other tools are the residual. Comparable instrument and consumable splits were not separately available.</a:t>
            </a:r>
          </a:p>
        </p:txBody>
      </p:sp>
      <p:sp>
        <p:nvSpPr>
          <p:cNvPr id="22" name="Figure 2 label 21">
            <a:extLst xmlns:a="http://schemas.openxmlformats.org/drawingml/2006/main">
              <a:ext uri="{FF2B5EF4-FFF2-40B4-BE49-F238E27FC236}">
                <a16:creationId xmlns:a16="http://schemas.microsoft.com/office/drawing/2014/main" id="{672006E1-64A3-4D6B-9658-76CD79EC3519}"/>
              </a:ext>
            </a:extLst>
          </p:cNvPr>
          <p:cNvSpPr>
            <a:spLocks xmlns:a="http://schemas.openxmlformats.org/drawingml/2006/main" noGrp="1"/>
          </p:cNvSpPr>
          <p:nvPr/>
        </p:nvSpPr>
        <p:spPr>
          <a:xfrm xmlns:a="http://schemas.openxmlformats.org/drawingml/2006/main" rot="0">
            <a:off x="1000316" y="9675546"/>
            <a:ext cx="6549212"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ACROBiosystems HKEX application, 30 Sep 2026, printed pp. 65 and 67; links in SOURCES.md.</a:t>
            </a:r>
          </a:p>
        </p:txBody>
      </p:sp>
      <p:sp>
        <p:nvSpPr>
          <p:cNvPr id="23" name="Figure 2 label 22">
            <a:extLst xmlns:a="http://schemas.openxmlformats.org/drawingml/2006/main">
              <a:ext uri="{FF2B5EF4-FFF2-40B4-BE49-F238E27FC236}">
                <a16:creationId xmlns:a16="http://schemas.microsoft.com/office/drawing/2014/main" id="{2367760D-C012-4037-AEA1-A80FD37E9C23}"/>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24" name="Figure 2 label 23">
            <a:extLst xmlns:a="http://schemas.openxmlformats.org/drawingml/2006/main">
              <a:ext uri="{FF2B5EF4-FFF2-40B4-BE49-F238E27FC236}">
                <a16:creationId xmlns:a16="http://schemas.microsoft.com/office/drawing/2014/main" id="{2742F3AB-41B0-4CFD-9FA7-6A519799B4FA}"/>
              </a:ext>
            </a:extLst>
          </p:cNvPr>
          <p:cNvSpPr>
            <a:spLocks xmlns:a="http://schemas.openxmlformats.org/drawingml/2006/main" noGrp="1"/>
          </p:cNvSpPr>
          <p:nvPr/>
        </p:nvSpPr>
        <p:spPr>
          <a:xfrm xmlns:a="http://schemas.openxmlformats.org/drawingml/2006/main" rot="0">
            <a:off x="13159106" y="3177838"/>
            <a:ext cx="2083643"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0">
                <a:solidFill>
                  <a:srgbClr val="657B88"/>
                </a:solidFill>
                <a:latin typeface="Arial Unicode MS"/>
                <a:ea typeface="Arial Unicode MS"/>
                <a:cs typeface="Arial Unicode MS"/>
              </a:defRPr>
            </a:defPPr>
          </a:lstStyle>
          <a:p xmlns:a="http://schemas.openxmlformats.org/drawingml/2006/main">
            <a:pPr algn="l">
              <a:lnSpc>
                <a:spcPct val="125000"/>
              </a:lnSpc>
              <a:buNone/>
              <a:defRPr sz="1625" b="0">
                <a:solidFill>
                  <a:srgbClr val="657B88"/>
                </a:solidFill>
                <a:latin typeface="Arial Unicode MS"/>
                <a:ea typeface="Arial Unicode MS"/>
                <a:cs typeface="Arial Unicode MS"/>
              </a:defRPr>
            </a:pPr>
            <a:r>
              <a:rPr sz="1625" b="0">
                <a:solidFill>
                  <a:srgbClr val="657B88"/>
                </a:solidFill>
                <a:latin typeface="Arial Unicode MS"/>
                <a:ea typeface="Arial Unicode MS"/>
                <a:cs typeface="Arial Unicode MS"/>
              </a:rPr>
              <a:t>China / global market</a:t>
            </a:r>
          </a:p>
        </p:txBody>
      </p:sp>
      <p:sp>
        <p:nvSpPr>
          <p:cNvPr id="25" name="Figure 2 label 24">
            <a:extLst xmlns:a="http://schemas.openxmlformats.org/drawingml/2006/main">
              <a:ext uri="{FF2B5EF4-FFF2-40B4-BE49-F238E27FC236}">
                <a16:creationId xmlns:a16="http://schemas.microsoft.com/office/drawing/2014/main" id="{DBE9D306-B87E-4117-BB7F-F2F90548F76C}"/>
              </a:ext>
            </a:extLst>
          </p:cNvPr>
          <p:cNvSpPr>
            <a:spLocks xmlns:a="http://schemas.openxmlformats.org/drawingml/2006/main" noGrp="1"/>
          </p:cNvSpPr>
          <p:nvPr/>
        </p:nvSpPr>
        <p:spPr>
          <a:xfrm xmlns:a="http://schemas.openxmlformats.org/drawingml/2006/main" rot="0">
            <a:off x="13143866" y="3660147"/>
            <a:ext cx="2047180" cy="734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4625" b="1">
                <a:solidFill>
                  <a:srgbClr val="285E7D"/>
                </a:solidFill>
                <a:latin typeface="Arial Unicode MS"/>
                <a:ea typeface="Arial Unicode MS"/>
                <a:cs typeface="Arial Unicode MS"/>
              </a:defRPr>
            </a:defPPr>
          </a:lstStyle>
          <a:p xmlns:a="http://schemas.openxmlformats.org/drawingml/2006/main">
            <a:pPr algn="l">
              <a:lnSpc>
                <a:spcPct val="125000"/>
              </a:lnSpc>
              <a:buNone/>
              <a:defRPr sz="4625" b="1">
                <a:solidFill>
                  <a:srgbClr val="285E7D"/>
                </a:solidFill>
                <a:latin typeface="Arial Unicode MS"/>
                <a:ea typeface="Arial Unicode MS"/>
                <a:cs typeface="Arial Unicode MS"/>
              </a:defRPr>
            </a:pPr>
            <a:r>
              <a:rPr sz="4625" b="1">
                <a:solidFill>
                  <a:srgbClr val="285E7D"/>
                </a:solidFill>
                <a:latin typeface="Arial Unicode MS"/>
                <a:ea typeface="Arial Unicode MS"/>
                <a:cs typeface="Arial Unicode MS"/>
              </a:rPr>
              <a:t>18.6%</a:t>
            </a:r>
          </a:p>
        </p:txBody>
      </p:sp>
      <p:sp>
        <p:nvSpPr>
          <p:cNvPr id="26" name="Figure 2 label 25">
            <a:extLst xmlns:a="http://schemas.openxmlformats.org/drawingml/2006/main">
              <a:ext uri="{FF2B5EF4-FFF2-40B4-BE49-F238E27FC236}">
                <a16:creationId xmlns:a16="http://schemas.microsoft.com/office/drawing/2014/main" id="{A4C3246C-5E06-426C-97C6-84DA11991A01}"/>
              </a:ext>
            </a:extLst>
          </p:cNvPr>
          <p:cNvSpPr>
            <a:spLocks xmlns:a="http://schemas.openxmlformats.org/drawingml/2006/main" noGrp="1"/>
          </p:cNvSpPr>
          <p:nvPr/>
        </p:nvSpPr>
        <p:spPr>
          <a:xfrm xmlns:a="http://schemas.openxmlformats.org/drawingml/2006/main" rot="0">
            <a:off x="13159740" y="4881351"/>
            <a:ext cx="91827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7.7 / 41.5</a:t>
            </a:r>
          </a:p>
        </p:txBody>
      </p:sp>
      <p:sp>
        <p:nvSpPr>
          <p:cNvPr id="27" name="Figure 2 label 26">
            <a:extLst xmlns:a="http://schemas.openxmlformats.org/drawingml/2006/main">
              <a:ext uri="{FF2B5EF4-FFF2-40B4-BE49-F238E27FC236}">
                <a16:creationId xmlns:a16="http://schemas.microsoft.com/office/drawing/2014/main" id="{425C7558-FE9E-4306-BF4E-CADA59418841}"/>
              </a:ext>
            </a:extLst>
          </p:cNvPr>
          <p:cNvSpPr>
            <a:spLocks xmlns:a="http://schemas.openxmlformats.org/drawingml/2006/main" noGrp="1"/>
          </p:cNvSpPr>
          <p:nvPr/>
        </p:nvSpPr>
        <p:spPr>
          <a:xfrm xmlns:a="http://schemas.openxmlformats.org/drawingml/2006/main" rot="0">
            <a:off x="13159740" y="5085716"/>
            <a:ext cx="277073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Same-scope historical estimate</a:t>
            </a:r>
          </a:p>
        </p:txBody>
      </p:sp>
      <p:sp>
        <p:nvSpPr>
          <p:cNvPr id="28" name="Figure 2 label 27">
            <a:extLst xmlns:a="http://schemas.openxmlformats.org/drawingml/2006/main">
              <a:ext uri="{FF2B5EF4-FFF2-40B4-BE49-F238E27FC236}">
                <a16:creationId xmlns:a16="http://schemas.microsoft.com/office/drawing/2014/main" id="{2B6B15AC-80AB-4E8E-A143-25E034F39E9A}"/>
              </a:ext>
            </a:extLst>
          </p:cNvPr>
          <p:cNvSpPr>
            <a:spLocks xmlns:a="http://schemas.openxmlformats.org/drawingml/2006/main" noGrp="1"/>
          </p:cNvSpPr>
          <p:nvPr/>
        </p:nvSpPr>
        <p:spPr>
          <a:xfrm xmlns:a="http://schemas.openxmlformats.org/drawingml/2006/main" rot="0">
            <a:off x="12885420" y="6438162"/>
            <a:ext cx="196646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Broader research and</a:t>
            </a:r>
          </a:p>
        </p:txBody>
      </p:sp>
      <p:sp>
        <p:nvSpPr>
          <p:cNvPr id="29" name="Figure 2 label 28">
            <a:extLst xmlns:a="http://schemas.openxmlformats.org/drawingml/2006/main">
              <a:ext uri="{FF2B5EF4-FFF2-40B4-BE49-F238E27FC236}">
                <a16:creationId xmlns:a16="http://schemas.microsoft.com/office/drawing/2014/main" id="{5E2CC8B6-51B8-4E26-B61A-A70D246ADF27}"/>
              </a:ext>
            </a:extLst>
          </p:cNvPr>
          <p:cNvSpPr>
            <a:spLocks xmlns:a="http://schemas.openxmlformats.org/drawingml/2006/main" noGrp="1"/>
          </p:cNvSpPr>
          <p:nvPr/>
        </p:nvSpPr>
        <p:spPr>
          <a:xfrm xmlns:a="http://schemas.openxmlformats.org/drawingml/2006/main" rot="0">
            <a:off x="12885420" y="6639740"/>
            <a:ext cx="238973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production markets require</a:t>
            </a:r>
          </a:p>
        </p:txBody>
      </p:sp>
      <p:sp>
        <p:nvSpPr>
          <p:cNvPr id="30" name="Figure 2 label 29">
            <a:extLst xmlns:a="http://schemas.openxmlformats.org/drawingml/2006/main">
              <a:ext uri="{FF2B5EF4-FFF2-40B4-BE49-F238E27FC236}">
                <a16:creationId xmlns:a16="http://schemas.microsoft.com/office/drawing/2014/main" id="{8FBD8AC8-0305-421B-BB49-31F3DA69AAC8}"/>
              </a:ext>
            </a:extLst>
          </p:cNvPr>
          <p:cNvSpPr>
            <a:spLocks xmlns:a="http://schemas.openxmlformats.org/drawingml/2006/main" noGrp="1"/>
          </p:cNvSpPr>
          <p:nvPr/>
        </p:nvSpPr>
        <p:spPr>
          <a:xfrm xmlns:a="http://schemas.openxmlformats.org/drawingml/2006/main" rot="0">
            <a:off x="12885420" y="6841319"/>
            <a:ext cx="280302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a separate scope reconciliation.</a:t>
            </a:r>
          </a:p>
        </p:txBody>
      </p:sp>
    </p:spTree>
    <p:extLst>
      <p:ext uri="{BB962C8B-B14F-4D97-AF65-F5344CB8AC3E}">
        <p14:creationId xmlns:p14="http://schemas.microsoft.com/office/powerpoint/2010/main" val="3516103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9" name="">
            <a:extLst xmlns:a="http://schemas.openxmlformats.org/drawingml/2006/main">
              <a:ext uri="{FF2B5EF4-FFF2-40B4-BE49-F238E27FC236}">
                <a16:creationId xmlns:a16="http://schemas.microsoft.com/office/drawing/2014/main" id="{36759D40-5F25-4D19-8CBB-A4ED2FCF378B}"/>
              </a:ext>
            </a:extLst>
          </p:cNvPr>
          <p:cNvPicPr>
            <a:picLocks xmlns:a="http://schemas.openxmlformats.org/drawingml/2006/main" noChangeAspect="1"/>
          </p:cNvPicPr>
          <p:nvPr/>
        </p:nvPicPr>
        <p:blipFill>
          <a:blip xmlns:r="http://schemas.openxmlformats.org/officeDocument/2006/relationships" xmlns:a="http://schemas.openxmlformats.org/drawingml/2006/main" r:embed="R0eef3f68d40d4e0e"/>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3 label 1">
            <a:extLst xmlns:a="http://schemas.openxmlformats.org/drawingml/2006/main">
              <a:ext uri="{FF2B5EF4-FFF2-40B4-BE49-F238E27FC236}">
                <a16:creationId xmlns:a16="http://schemas.microsoft.com/office/drawing/2014/main" id="{A5A41545-E7C8-4784-B40F-E8ECE3A56304}"/>
              </a:ext>
            </a:extLst>
          </p:cNvPr>
          <p:cNvSpPr>
            <a:spLocks xmlns:a="http://schemas.openxmlformats.org/drawingml/2006/main" noGrp="1"/>
          </p:cNvSpPr>
          <p:nvPr/>
        </p:nvSpPr>
        <p:spPr>
          <a:xfrm xmlns:a="http://schemas.openxmlformats.org/drawingml/2006/main" rot="0">
            <a:off x="1994982" y="7255976"/>
            <a:ext cx="39915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0%</a:t>
            </a:r>
          </a:p>
        </p:txBody>
      </p:sp>
      <p:sp>
        <p:nvSpPr>
          <p:cNvPr id="3" name="Figure 3 label 2">
            <a:extLst xmlns:a="http://schemas.openxmlformats.org/drawingml/2006/main">
              <a:ext uri="{FF2B5EF4-FFF2-40B4-BE49-F238E27FC236}">
                <a16:creationId xmlns:a16="http://schemas.microsoft.com/office/drawing/2014/main" id="{0E9AE76B-C80D-49BE-8051-E4B09C519EDF}"/>
              </a:ext>
            </a:extLst>
          </p:cNvPr>
          <p:cNvSpPr>
            <a:spLocks xmlns:a="http://schemas.openxmlformats.org/drawingml/2006/main" noGrp="1"/>
          </p:cNvSpPr>
          <p:nvPr/>
        </p:nvSpPr>
        <p:spPr>
          <a:xfrm xmlns:a="http://schemas.openxmlformats.org/drawingml/2006/main" rot="0">
            <a:off x="5599599" y="7255976"/>
            <a:ext cx="50512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25%</a:t>
            </a:r>
          </a:p>
        </p:txBody>
      </p:sp>
      <p:sp>
        <p:nvSpPr>
          <p:cNvPr id="4" name="Figure 3 label 3">
            <a:extLst xmlns:a="http://schemas.openxmlformats.org/drawingml/2006/main">
              <a:ext uri="{FF2B5EF4-FFF2-40B4-BE49-F238E27FC236}">
                <a16:creationId xmlns:a16="http://schemas.microsoft.com/office/drawing/2014/main" id="{E1C68810-1ABC-456E-93A1-D2EF999035F2}"/>
              </a:ext>
            </a:extLst>
          </p:cNvPr>
          <p:cNvSpPr>
            <a:spLocks xmlns:a="http://schemas.openxmlformats.org/drawingml/2006/main" noGrp="1"/>
          </p:cNvSpPr>
          <p:nvPr/>
        </p:nvSpPr>
        <p:spPr>
          <a:xfrm xmlns:a="http://schemas.openxmlformats.org/drawingml/2006/main" rot="0">
            <a:off x="9257199" y="7255976"/>
            <a:ext cx="50512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50%</a:t>
            </a:r>
          </a:p>
        </p:txBody>
      </p:sp>
      <p:sp>
        <p:nvSpPr>
          <p:cNvPr id="5" name="Figure 3 label 4">
            <a:extLst xmlns:a="http://schemas.openxmlformats.org/drawingml/2006/main">
              <a:ext uri="{FF2B5EF4-FFF2-40B4-BE49-F238E27FC236}">
                <a16:creationId xmlns:a16="http://schemas.microsoft.com/office/drawing/2014/main" id="{6161A287-E453-4D6B-8203-FBA96B0F5EED}"/>
              </a:ext>
            </a:extLst>
          </p:cNvPr>
          <p:cNvSpPr>
            <a:spLocks xmlns:a="http://schemas.openxmlformats.org/drawingml/2006/main" noGrp="1"/>
          </p:cNvSpPr>
          <p:nvPr/>
        </p:nvSpPr>
        <p:spPr>
          <a:xfrm xmlns:a="http://schemas.openxmlformats.org/drawingml/2006/main" rot="0">
            <a:off x="12914799" y="7255976"/>
            <a:ext cx="50512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75%</a:t>
            </a:r>
          </a:p>
        </p:txBody>
      </p:sp>
      <p:sp>
        <p:nvSpPr>
          <p:cNvPr id="6" name="Figure 3 label 5">
            <a:extLst xmlns:a="http://schemas.openxmlformats.org/drawingml/2006/main">
              <a:ext uri="{FF2B5EF4-FFF2-40B4-BE49-F238E27FC236}">
                <a16:creationId xmlns:a16="http://schemas.microsoft.com/office/drawing/2014/main" id="{E0333BB8-CDEC-4AC8-923E-07C3CB8AF406}"/>
              </a:ext>
            </a:extLst>
          </p:cNvPr>
          <p:cNvSpPr>
            <a:spLocks xmlns:a="http://schemas.openxmlformats.org/drawingml/2006/main" noGrp="1"/>
          </p:cNvSpPr>
          <p:nvPr/>
        </p:nvSpPr>
        <p:spPr>
          <a:xfrm xmlns:a="http://schemas.openxmlformats.org/drawingml/2006/main" rot="0">
            <a:off x="16519416" y="7255976"/>
            <a:ext cx="61108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100%</a:t>
            </a:r>
          </a:p>
        </p:txBody>
      </p:sp>
      <p:sp>
        <p:nvSpPr>
          <p:cNvPr id="7" name="Figure 3 label 6">
            <a:extLst xmlns:a="http://schemas.openxmlformats.org/drawingml/2006/main">
              <a:ext uri="{FF2B5EF4-FFF2-40B4-BE49-F238E27FC236}">
                <a16:creationId xmlns:a16="http://schemas.microsoft.com/office/drawing/2014/main" id="{3AB94DE0-6AEE-42AA-91E6-5ACAC75B2BCF}"/>
              </a:ext>
            </a:extLst>
          </p:cNvPr>
          <p:cNvSpPr>
            <a:spLocks xmlns:a="http://schemas.openxmlformats.org/drawingml/2006/main" noGrp="1"/>
          </p:cNvSpPr>
          <p:nvPr/>
        </p:nvSpPr>
        <p:spPr>
          <a:xfrm xmlns:a="http://schemas.openxmlformats.org/drawingml/2006/main" rot="0">
            <a:off x="7901747" y="7623105"/>
            <a:ext cx="32160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Assumed share of purchasing spend</a:t>
            </a:r>
          </a:p>
        </p:txBody>
      </p:sp>
      <p:sp>
        <p:nvSpPr>
          <p:cNvPr id="8" name="Figure 3 label 7">
            <a:extLst xmlns:a="http://schemas.openxmlformats.org/drawingml/2006/main">
              <a:ext uri="{FF2B5EF4-FFF2-40B4-BE49-F238E27FC236}">
                <a16:creationId xmlns:a16="http://schemas.microsoft.com/office/drawing/2014/main" id="{820E9930-ADBD-4CA7-A692-EB5C462629EE}"/>
              </a:ext>
            </a:extLst>
          </p:cNvPr>
          <p:cNvSpPr>
            <a:spLocks xmlns:a="http://schemas.openxmlformats.org/drawingml/2006/main" noGrp="1"/>
          </p:cNvSpPr>
          <p:nvPr/>
        </p:nvSpPr>
        <p:spPr>
          <a:xfrm xmlns:a="http://schemas.openxmlformats.org/drawingml/2006/main" rot="0">
            <a:off x="705187" y="3900957"/>
            <a:ext cx="133062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2125" b="0">
                <a:solidFill>
                  <a:srgbClr val="6A7F8B"/>
                </a:solidFill>
                <a:latin typeface="Arial Unicode MS"/>
                <a:ea typeface="Arial Unicode MS"/>
                <a:cs typeface="Arial Unicode MS"/>
              </a:defRPr>
            </a:defPPr>
          </a:lstStyle>
          <a:p xmlns:a="http://schemas.openxmlformats.org/drawingml/2006/main">
            <a:pPr algn="r">
              <a:lnSpc>
                <a:spcPct val="125000"/>
              </a:lnSpc>
              <a:buNone/>
              <a:defRPr sz="2125" b="0">
                <a:solidFill>
                  <a:srgbClr val="6A7F8B"/>
                </a:solidFill>
                <a:latin typeface="Arial Unicode MS"/>
                <a:ea typeface="Arial Unicode MS"/>
                <a:cs typeface="Arial Unicode MS"/>
              </a:defRPr>
            </a:pPr>
            <a:r>
              <a:rPr sz="2125" b="0">
                <a:solidFill>
                  <a:srgbClr val="6A7F8B"/>
                </a:solidFill>
                <a:latin typeface="Arial Unicode MS"/>
                <a:ea typeface="Arial Unicode MS"/>
                <a:cs typeface="Arial Unicode MS"/>
              </a:rPr>
              <a:t>Reagents</a:t>
            </a:r>
          </a:p>
        </p:txBody>
      </p:sp>
      <p:sp>
        <p:nvSpPr>
          <p:cNvPr id="9" name="Figure 3 label 8">
            <a:extLst xmlns:a="http://schemas.openxmlformats.org/drawingml/2006/main">
              <a:ext uri="{FF2B5EF4-FFF2-40B4-BE49-F238E27FC236}">
                <a16:creationId xmlns:a16="http://schemas.microsoft.com/office/drawing/2014/main" id="{202ACD3B-E4AC-460E-90B5-79E47DB05365}"/>
              </a:ext>
            </a:extLst>
          </p:cNvPr>
          <p:cNvSpPr>
            <a:spLocks xmlns:a="http://schemas.openxmlformats.org/drawingml/2006/main" noGrp="1"/>
          </p:cNvSpPr>
          <p:nvPr/>
        </p:nvSpPr>
        <p:spPr>
          <a:xfrm xmlns:a="http://schemas.openxmlformats.org/drawingml/2006/main" rot="0">
            <a:off x="210483" y="5054348"/>
            <a:ext cx="1825327"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2125" b="0">
                <a:solidFill>
                  <a:srgbClr val="6A7F8B"/>
                </a:solidFill>
                <a:latin typeface="Arial Unicode MS"/>
                <a:ea typeface="Arial Unicode MS"/>
                <a:cs typeface="Arial Unicode MS"/>
              </a:defRPr>
            </a:defPPr>
          </a:lstStyle>
          <a:p xmlns:a="http://schemas.openxmlformats.org/drawingml/2006/main">
            <a:pPr algn="r">
              <a:lnSpc>
                <a:spcPct val="125000"/>
              </a:lnSpc>
              <a:buNone/>
              <a:defRPr sz="2125" b="0">
                <a:solidFill>
                  <a:srgbClr val="6A7F8B"/>
                </a:solidFill>
                <a:latin typeface="Arial Unicode MS"/>
                <a:ea typeface="Arial Unicode MS"/>
                <a:cs typeface="Arial Unicode MS"/>
              </a:defRPr>
            </a:pPr>
            <a:r>
              <a:rPr sz="2125" b="0">
                <a:solidFill>
                  <a:srgbClr val="6A7F8B"/>
                </a:solidFill>
                <a:latin typeface="Arial Unicode MS"/>
                <a:ea typeface="Arial Unicode MS"/>
                <a:cs typeface="Arial Unicode MS"/>
              </a:rPr>
              <a:t>Consumables</a:t>
            </a:r>
          </a:p>
        </p:txBody>
      </p:sp>
      <p:sp>
        <p:nvSpPr>
          <p:cNvPr id="10" name="Figure 3 label 9">
            <a:extLst xmlns:a="http://schemas.openxmlformats.org/drawingml/2006/main">
              <a:ext uri="{FF2B5EF4-FFF2-40B4-BE49-F238E27FC236}">
                <a16:creationId xmlns:a16="http://schemas.microsoft.com/office/drawing/2014/main" id="{524F40EC-D0E2-4876-A462-C34B429D40C9}"/>
              </a:ext>
            </a:extLst>
          </p:cNvPr>
          <p:cNvSpPr>
            <a:spLocks xmlns:a="http://schemas.openxmlformats.org/drawingml/2006/main" noGrp="1"/>
          </p:cNvSpPr>
          <p:nvPr/>
        </p:nvSpPr>
        <p:spPr>
          <a:xfrm xmlns:a="http://schemas.openxmlformats.org/drawingml/2006/main" rot="0">
            <a:off x="450691" y="6207739"/>
            <a:ext cx="1585119"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2125" b="0">
                <a:solidFill>
                  <a:srgbClr val="6A7F8B"/>
                </a:solidFill>
                <a:latin typeface="Arial Unicode MS"/>
                <a:ea typeface="Arial Unicode MS"/>
                <a:cs typeface="Arial Unicode MS"/>
              </a:defRPr>
            </a:defPPr>
          </a:lstStyle>
          <a:p xmlns:a="http://schemas.openxmlformats.org/drawingml/2006/main">
            <a:pPr algn="r">
              <a:lnSpc>
                <a:spcPct val="125000"/>
              </a:lnSpc>
              <a:buNone/>
              <a:defRPr sz="2125" b="0">
                <a:solidFill>
                  <a:srgbClr val="6A7F8B"/>
                </a:solidFill>
                <a:latin typeface="Arial Unicode MS"/>
                <a:ea typeface="Arial Unicode MS"/>
                <a:cs typeface="Arial Unicode MS"/>
              </a:defRPr>
            </a:pPr>
            <a:r>
              <a:rPr sz="2125" b="0">
                <a:solidFill>
                  <a:srgbClr val="6A7F8B"/>
                </a:solidFill>
                <a:latin typeface="Arial Unicode MS"/>
                <a:ea typeface="Arial Unicode MS"/>
                <a:cs typeface="Arial Unicode MS"/>
              </a:rPr>
              <a:t>Instruments</a:t>
            </a:r>
          </a:p>
        </p:txBody>
      </p:sp>
      <p:sp>
        <p:nvSpPr>
          <p:cNvPr id="11" name="Figure 3 label 10">
            <a:extLst xmlns:a="http://schemas.openxmlformats.org/drawingml/2006/main">
              <a:ext uri="{FF2B5EF4-FFF2-40B4-BE49-F238E27FC236}">
                <a16:creationId xmlns:a16="http://schemas.microsoft.com/office/drawing/2014/main" id="{22CF2E17-D5F0-4AF6-800E-83B497CA1A5F}"/>
              </a:ext>
            </a:extLst>
          </p:cNvPr>
          <p:cNvSpPr>
            <a:spLocks xmlns:a="http://schemas.openxmlformats.org/drawingml/2006/main" noGrp="1"/>
          </p:cNvSpPr>
          <p:nvPr/>
        </p:nvSpPr>
        <p:spPr>
          <a:xfrm xmlns:a="http://schemas.openxmlformats.org/drawingml/2006/main" rot="0">
            <a:off x="4073382" y="3905880"/>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30%</a:t>
            </a:r>
          </a:p>
        </p:txBody>
      </p:sp>
      <p:sp>
        <p:nvSpPr>
          <p:cNvPr id="12" name="Figure 3 label 11">
            <a:extLst xmlns:a="http://schemas.openxmlformats.org/drawingml/2006/main">
              <a:ext uri="{FF2B5EF4-FFF2-40B4-BE49-F238E27FC236}">
                <a16:creationId xmlns:a16="http://schemas.microsoft.com/office/drawing/2014/main" id="{60E2A3C9-03A7-49ED-8245-32AE197CF040}"/>
              </a:ext>
            </a:extLst>
          </p:cNvPr>
          <p:cNvSpPr>
            <a:spLocks xmlns:a="http://schemas.openxmlformats.org/drawingml/2006/main" noGrp="1"/>
          </p:cNvSpPr>
          <p:nvPr/>
        </p:nvSpPr>
        <p:spPr>
          <a:xfrm xmlns:a="http://schemas.openxmlformats.org/drawingml/2006/main" rot="0">
            <a:off x="3341861" y="5059271"/>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20%</a:t>
            </a:r>
          </a:p>
        </p:txBody>
      </p:sp>
      <p:sp>
        <p:nvSpPr>
          <p:cNvPr id="13" name="Figure 3 label 12">
            <a:extLst xmlns:a="http://schemas.openxmlformats.org/drawingml/2006/main">
              <a:ext uri="{FF2B5EF4-FFF2-40B4-BE49-F238E27FC236}">
                <a16:creationId xmlns:a16="http://schemas.microsoft.com/office/drawing/2014/main" id="{71CF4E2E-E0BB-4D71-9344-F4C9B81E6BC0}"/>
              </a:ext>
            </a:extLst>
          </p:cNvPr>
          <p:cNvSpPr>
            <a:spLocks xmlns:a="http://schemas.openxmlformats.org/drawingml/2006/main" noGrp="1"/>
          </p:cNvSpPr>
          <p:nvPr/>
        </p:nvSpPr>
        <p:spPr>
          <a:xfrm xmlns:a="http://schemas.openxmlformats.org/drawingml/2006/main" rot="0">
            <a:off x="3707621" y="6212662"/>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25%</a:t>
            </a:r>
          </a:p>
        </p:txBody>
      </p:sp>
      <p:sp>
        <p:nvSpPr>
          <p:cNvPr id="14" name="Figure 3 label 13">
            <a:extLst xmlns:a="http://schemas.openxmlformats.org/drawingml/2006/main">
              <a:ext uri="{FF2B5EF4-FFF2-40B4-BE49-F238E27FC236}">
                <a16:creationId xmlns:a16="http://schemas.microsoft.com/office/drawing/2014/main" id="{232B745E-D280-4760-A351-9A84EF4FF00A}"/>
              </a:ext>
            </a:extLst>
          </p:cNvPr>
          <p:cNvSpPr>
            <a:spLocks xmlns:a="http://schemas.openxmlformats.org/drawingml/2006/main" noGrp="1"/>
          </p:cNvSpPr>
          <p:nvPr/>
        </p:nvSpPr>
        <p:spPr>
          <a:xfrm xmlns:a="http://schemas.openxmlformats.org/drawingml/2006/main" rot="0">
            <a:off x="8096741" y="3905880"/>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25%</a:t>
            </a:r>
          </a:p>
        </p:txBody>
      </p:sp>
      <p:sp>
        <p:nvSpPr>
          <p:cNvPr id="15" name="Figure 3 label 14">
            <a:extLst xmlns:a="http://schemas.openxmlformats.org/drawingml/2006/main">
              <a:ext uri="{FF2B5EF4-FFF2-40B4-BE49-F238E27FC236}">
                <a16:creationId xmlns:a16="http://schemas.microsoft.com/office/drawing/2014/main" id="{E1B23224-8405-45F5-9837-71EA101E09FB}"/>
              </a:ext>
            </a:extLst>
          </p:cNvPr>
          <p:cNvSpPr>
            <a:spLocks xmlns:a="http://schemas.openxmlformats.org/drawingml/2006/main" noGrp="1"/>
          </p:cNvSpPr>
          <p:nvPr/>
        </p:nvSpPr>
        <p:spPr>
          <a:xfrm xmlns:a="http://schemas.openxmlformats.org/drawingml/2006/main" rot="0">
            <a:off x="6267942" y="5059271"/>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20%</a:t>
            </a:r>
          </a:p>
        </p:txBody>
      </p:sp>
      <p:sp>
        <p:nvSpPr>
          <p:cNvPr id="16" name="Figure 3 label 15">
            <a:extLst xmlns:a="http://schemas.openxmlformats.org/drawingml/2006/main">
              <a:ext uri="{FF2B5EF4-FFF2-40B4-BE49-F238E27FC236}">
                <a16:creationId xmlns:a16="http://schemas.microsoft.com/office/drawing/2014/main" id="{E59909D8-A7B5-41DD-A0C5-D1F89CDC4331}"/>
              </a:ext>
            </a:extLst>
          </p:cNvPr>
          <p:cNvSpPr>
            <a:spLocks xmlns:a="http://schemas.openxmlformats.org/drawingml/2006/main" noGrp="1"/>
          </p:cNvSpPr>
          <p:nvPr/>
        </p:nvSpPr>
        <p:spPr>
          <a:xfrm xmlns:a="http://schemas.openxmlformats.org/drawingml/2006/main" rot="0">
            <a:off x="6999461" y="6212662"/>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20%</a:t>
            </a:r>
          </a:p>
        </p:txBody>
      </p:sp>
      <p:sp>
        <p:nvSpPr>
          <p:cNvPr id="17" name="Figure 3 label 16">
            <a:extLst xmlns:a="http://schemas.openxmlformats.org/drawingml/2006/main">
              <a:ext uri="{FF2B5EF4-FFF2-40B4-BE49-F238E27FC236}">
                <a16:creationId xmlns:a16="http://schemas.microsoft.com/office/drawing/2014/main" id="{C28F791C-6B38-417A-8788-27F1A019D4E4}"/>
              </a:ext>
            </a:extLst>
          </p:cNvPr>
          <p:cNvSpPr>
            <a:spLocks xmlns:a="http://schemas.openxmlformats.org/drawingml/2006/main" noGrp="1"/>
          </p:cNvSpPr>
          <p:nvPr/>
        </p:nvSpPr>
        <p:spPr>
          <a:xfrm xmlns:a="http://schemas.openxmlformats.org/drawingml/2006/main" rot="0">
            <a:off x="11022820" y="3905880"/>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15%</a:t>
            </a:r>
          </a:p>
        </p:txBody>
      </p:sp>
      <p:sp>
        <p:nvSpPr>
          <p:cNvPr id="18" name="Figure 3 label 17">
            <a:extLst xmlns:a="http://schemas.openxmlformats.org/drawingml/2006/main">
              <a:ext uri="{FF2B5EF4-FFF2-40B4-BE49-F238E27FC236}">
                <a16:creationId xmlns:a16="http://schemas.microsoft.com/office/drawing/2014/main" id="{BFF7F763-8BBE-44C6-ADFD-B6B094B73705}"/>
              </a:ext>
            </a:extLst>
          </p:cNvPr>
          <p:cNvSpPr>
            <a:spLocks xmlns:a="http://schemas.openxmlformats.org/drawingml/2006/main" noGrp="1"/>
          </p:cNvSpPr>
          <p:nvPr/>
        </p:nvSpPr>
        <p:spPr>
          <a:xfrm xmlns:a="http://schemas.openxmlformats.org/drawingml/2006/main" rot="0">
            <a:off x="8828262" y="5059271"/>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15%</a:t>
            </a:r>
          </a:p>
        </p:txBody>
      </p:sp>
      <p:sp>
        <p:nvSpPr>
          <p:cNvPr id="19" name="Figure 3 label 18">
            <a:extLst xmlns:a="http://schemas.openxmlformats.org/drawingml/2006/main">
              <a:ext uri="{FF2B5EF4-FFF2-40B4-BE49-F238E27FC236}">
                <a16:creationId xmlns:a16="http://schemas.microsoft.com/office/drawing/2014/main" id="{64FA1CCF-A782-4EB4-82C6-240B275ACE4C}"/>
              </a:ext>
            </a:extLst>
          </p:cNvPr>
          <p:cNvSpPr>
            <a:spLocks xmlns:a="http://schemas.openxmlformats.org/drawingml/2006/main" noGrp="1"/>
          </p:cNvSpPr>
          <p:nvPr/>
        </p:nvSpPr>
        <p:spPr>
          <a:xfrm xmlns:a="http://schemas.openxmlformats.org/drawingml/2006/main" rot="0">
            <a:off x="9194022" y="6212662"/>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10%</a:t>
            </a:r>
          </a:p>
        </p:txBody>
      </p:sp>
      <p:sp>
        <p:nvSpPr>
          <p:cNvPr id="20" name="Figure 3 label 19">
            <a:extLst xmlns:a="http://schemas.openxmlformats.org/drawingml/2006/main">
              <a:ext uri="{FF2B5EF4-FFF2-40B4-BE49-F238E27FC236}">
                <a16:creationId xmlns:a16="http://schemas.microsoft.com/office/drawing/2014/main" id="{D2EA5F25-CC31-44B7-AFD2-225E58208E9E}"/>
              </a:ext>
            </a:extLst>
          </p:cNvPr>
          <p:cNvSpPr>
            <a:spLocks xmlns:a="http://schemas.openxmlformats.org/drawingml/2006/main" noGrp="1"/>
          </p:cNvSpPr>
          <p:nvPr/>
        </p:nvSpPr>
        <p:spPr>
          <a:xfrm xmlns:a="http://schemas.openxmlformats.org/drawingml/2006/main" rot="0">
            <a:off x="12851622" y="3905880"/>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10%</a:t>
            </a:r>
          </a:p>
        </p:txBody>
      </p:sp>
      <p:sp>
        <p:nvSpPr>
          <p:cNvPr id="21" name="Figure 3 label 20">
            <a:extLst xmlns:a="http://schemas.openxmlformats.org/drawingml/2006/main">
              <a:ext uri="{FF2B5EF4-FFF2-40B4-BE49-F238E27FC236}">
                <a16:creationId xmlns:a16="http://schemas.microsoft.com/office/drawing/2014/main" id="{8220278D-36F9-479B-B2FC-6D4DA8898755}"/>
              </a:ext>
            </a:extLst>
          </p:cNvPr>
          <p:cNvSpPr>
            <a:spLocks xmlns:a="http://schemas.openxmlformats.org/drawingml/2006/main" noGrp="1"/>
          </p:cNvSpPr>
          <p:nvPr/>
        </p:nvSpPr>
        <p:spPr>
          <a:xfrm xmlns:a="http://schemas.openxmlformats.org/drawingml/2006/main" rot="0">
            <a:off x="12120101" y="5059271"/>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30%</a:t>
            </a:r>
          </a:p>
        </p:txBody>
      </p:sp>
      <p:sp>
        <p:nvSpPr>
          <p:cNvPr id="22" name="Figure 3 label 21">
            <a:extLst xmlns:a="http://schemas.openxmlformats.org/drawingml/2006/main">
              <a:ext uri="{FF2B5EF4-FFF2-40B4-BE49-F238E27FC236}">
                <a16:creationId xmlns:a16="http://schemas.microsoft.com/office/drawing/2014/main" id="{0BFF4DDE-BB58-48B1-BE9D-1B3C082B233D}"/>
              </a:ext>
            </a:extLst>
          </p:cNvPr>
          <p:cNvSpPr>
            <a:spLocks xmlns:a="http://schemas.openxmlformats.org/drawingml/2006/main" noGrp="1"/>
          </p:cNvSpPr>
          <p:nvPr/>
        </p:nvSpPr>
        <p:spPr>
          <a:xfrm xmlns:a="http://schemas.openxmlformats.org/drawingml/2006/main" rot="0">
            <a:off x="11022820" y="6212662"/>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875" b="0">
                <a:solidFill>
                  <a:srgbClr val="FFFFFF"/>
                </a:solidFill>
                <a:latin typeface="Arial Unicode MS"/>
                <a:ea typeface="Arial Unicode MS"/>
                <a:cs typeface="Arial Unicode MS"/>
              </a:defRPr>
            </a:pPr>
            <a:r>
              <a:rPr sz="1875" b="0">
                <a:solidFill>
                  <a:srgbClr val="FFFFFF"/>
                </a:solidFill>
                <a:latin typeface="Arial Unicode MS"/>
                <a:ea typeface="Arial Unicode MS"/>
                <a:cs typeface="Arial Unicode MS"/>
              </a:rPr>
              <a:t>15%</a:t>
            </a:r>
          </a:p>
        </p:txBody>
      </p:sp>
      <p:sp>
        <p:nvSpPr>
          <p:cNvPr id="23" name="Figure 3 label 22">
            <a:extLst xmlns:a="http://schemas.openxmlformats.org/drawingml/2006/main">
              <a:ext uri="{FF2B5EF4-FFF2-40B4-BE49-F238E27FC236}">
                <a16:creationId xmlns:a16="http://schemas.microsoft.com/office/drawing/2014/main" id="{ABA6283E-6FA6-49D3-8419-4F3C589CB1AB}"/>
              </a:ext>
            </a:extLst>
          </p:cNvPr>
          <p:cNvSpPr>
            <a:spLocks xmlns:a="http://schemas.openxmlformats.org/drawingml/2006/main" noGrp="1"/>
          </p:cNvSpPr>
          <p:nvPr/>
        </p:nvSpPr>
        <p:spPr>
          <a:xfrm xmlns:a="http://schemas.openxmlformats.org/drawingml/2006/main" rot="0">
            <a:off x="15046181" y="3905880"/>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0">
                <a:solidFill>
                  <a:srgbClr val="263B49"/>
                </a:solidFill>
                <a:latin typeface="Arial Unicode MS"/>
                <a:ea typeface="Arial Unicode MS"/>
                <a:cs typeface="Arial Unicode MS"/>
              </a:defRPr>
            </a:pPr>
            <a:r>
              <a:rPr sz="1875" b="0">
                <a:solidFill>
                  <a:srgbClr val="263B49"/>
                </a:solidFill>
                <a:latin typeface="Arial Unicode MS"/>
                <a:ea typeface="Arial Unicode MS"/>
                <a:cs typeface="Arial Unicode MS"/>
              </a:rPr>
              <a:t>20%</a:t>
            </a:r>
          </a:p>
        </p:txBody>
      </p:sp>
      <p:sp>
        <p:nvSpPr>
          <p:cNvPr id="24" name="Figure 3 label 23">
            <a:extLst xmlns:a="http://schemas.openxmlformats.org/drawingml/2006/main">
              <a:ext uri="{FF2B5EF4-FFF2-40B4-BE49-F238E27FC236}">
                <a16:creationId xmlns:a16="http://schemas.microsoft.com/office/drawing/2014/main" id="{78DB4F5E-2867-4155-9CF2-6EAF9EBC6DDC}"/>
              </a:ext>
            </a:extLst>
          </p:cNvPr>
          <p:cNvSpPr>
            <a:spLocks xmlns:a="http://schemas.openxmlformats.org/drawingml/2006/main" noGrp="1"/>
          </p:cNvSpPr>
          <p:nvPr/>
        </p:nvSpPr>
        <p:spPr>
          <a:xfrm xmlns:a="http://schemas.openxmlformats.org/drawingml/2006/main" rot="0">
            <a:off x="15411941" y="5059271"/>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0">
                <a:solidFill>
                  <a:srgbClr val="263B49"/>
                </a:solidFill>
                <a:latin typeface="Arial Unicode MS"/>
                <a:ea typeface="Arial Unicode MS"/>
                <a:cs typeface="Arial Unicode MS"/>
              </a:defRPr>
            </a:pPr>
            <a:r>
              <a:rPr sz="1875" b="0">
                <a:solidFill>
                  <a:srgbClr val="263B49"/>
                </a:solidFill>
                <a:latin typeface="Arial Unicode MS"/>
                <a:ea typeface="Arial Unicode MS"/>
                <a:cs typeface="Arial Unicode MS"/>
              </a:rPr>
              <a:t>15%</a:t>
            </a:r>
          </a:p>
        </p:txBody>
      </p:sp>
      <p:sp>
        <p:nvSpPr>
          <p:cNvPr id="25" name="Figure 3 label 24">
            <a:extLst xmlns:a="http://schemas.openxmlformats.org/drawingml/2006/main">
              <a:ext uri="{FF2B5EF4-FFF2-40B4-BE49-F238E27FC236}">
                <a16:creationId xmlns:a16="http://schemas.microsoft.com/office/drawing/2014/main" id="{F446A605-BBAF-4CC5-B842-80519E99BF95}"/>
              </a:ext>
            </a:extLst>
          </p:cNvPr>
          <p:cNvSpPr>
            <a:spLocks xmlns:a="http://schemas.openxmlformats.org/drawingml/2006/main" noGrp="1"/>
          </p:cNvSpPr>
          <p:nvPr/>
        </p:nvSpPr>
        <p:spPr>
          <a:xfrm xmlns:a="http://schemas.openxmlformats.org/drawingml/2006/main" rot="0">
            <a:off x="14314660" y="6212662"/>
            <a:ext cx="63147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0">
                <a:solidFill>
                  <a:srgbClr val="263B49"/>
                </a:solidFill>
                <a:latin typeface="Arial Unicode MS"/>
                <a:ea typeface="Arial Unicode MS"/>
                <a:cs typeface="Arial Unicode MS"/>
              </a:defRPr>
            </a:pPr>
            <a:r>
              <a:rPr sz="1875" b="0">
                <a:solidFill>
                  <a:srgbClr val="263B49"/>
                </a:solidFill>
                <a:latin typeface="Arial Unicode MS"/>
                <a:ea typeface="Arial Unicode MS"/>
                <a:cs typeface="Arial Unicode MS"/>
              </a:rPr>
              <a:t>30%</a:t>
            </a:r>
          </a:p>
        </p:txBody>
      </p:sp>
      <p:sp>
        <p:nvSpPr>
          <p:cNvPr id="26" name="Figure 3 label 25">
            <a:extLst xmlns:a="http://schemas.openxmlformats.org/drawingml/2006/main">
              <a:ext uri="{FF2B5EF4-FFF2-40B4-BE49-F238E27FC236}">
                <a16:creationId xmlns:a16="http://schemas.microsoft.com/office/drawing/2014/main" id="{531C076B-2723-47B5-B225-E7292B9D5958}"/>
              </a:ext>
            </a:extLst>
          </p:cNvPr>
          <p:cNvSpPr>
            <a:spLocks xmlns:a="http://schemas.openxmlformats.org/drawingml/2006/main" noGrp="1"/>
          </p:cNvSpPr>
          <p:nvPr/>
        </p:nvSpPr>
        <p:spPr>
          <a:xfrm xmlns:a="http://schemas.openxmlformats.org/drawingml/2006/main" rot="0">
            <a:off x="991870" y="421675"/>
            <a:ext cx="581684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03  How downstream demand differs</a:t>
            </a:r>
          </a:p>
        </p:txBody>
      </p:sp>
      <p:sp>
        <p:nvSpPr>
          <p:cNvPr id="27" name="Figure 3 label 26">
            <a:extLst xmlns:a="http://schemas.openxmlformats.org/drawingml/2006/main">
              <a:ext uri="{FF2B5EF4-FFF2-40B4-BE49-F238E27FC236}">
                <a16:creationId xmlns:a16="http://schemas.microsoft.com/office/drawing/2014/main" id="{1F4604A6-DA1E-41ED-B335-AE7BF0289ACB}"/>
              </a:ext>
            </a:extLst>
          </p:cNvPr>
          <p:cNvSpPr>
            <a:spLocks xmlns:a="http://schemas.openxmlformats.org/drawingml/2006/main" noGrp="1"/>
          </p:cNvSpPr>
          <p:nvPr/>
        </p:nvSpPr>
        <p:spPr>
          <a:xfrm xmlns:a="http://schemas.openxmlformats.org/drawingml/2006/main" rot="0">
            <a:off x="15653693" y="661601"/>
            <a:ext cx="115381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ILLUSTRATIVE</a:t>
            </a:r>
          </a:p>
        </p:txBody>
      </p:sp>
      <p:sp>
        <p:nvSpPr>
          <p:cNvPr id="28" name="Figure 3 label 27">
            <a:extLst xmlns:a="http://schemas.openxmlformats.org/drawingml/2006/main">
              <a:ext uri="{FF2B5EF4-FFF2-40B4-BE49-F238E27FC236}">
                <a16:creationId xmlns:a16="http://schemas.microsoft.com/office/drawing/2014/main" id="{A0F100E6-12B5-423B-917C-AAAAB043F52F}"/>
              </a:ext>
            </a:extLst>
          </p:cNvPr>
          <p:cNvSpPr>
            <a:spLocks xmlns:a="http://schemas.openxmlformats.org/drawingml/2006/main" noGrp="1"/>
          </p:cNvSpPr>
          <p:nvPr/>
        </p:nvSpPr>
        <p:spPr>
          <a:xfrm xmlns:a="http://schemas.openxmlformats.org/drawingml/2006/main" rot="0">
            <a:off x="998220" y="1249487"/>
            <a:ext cx="857354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Direct purchasing differs by product basket. These supplied assumptions sum to 100% for each row.</a:t>
            </a:r>
          </a:p>
        </p:txBody>
      </p:sp>
      <p:sp>
        <p:nvSpPr>
          <p:cNvPr id="29" name="Figure 3 label 28">
            <a:extLst xmlns:a="http://schemas.openxmlformats.org/drawingml/2006/main">
              <a:ext uri="{FF2B5EF4-FFF2-40B4-BE49-F238E27FC236}">
                <a16:creationId xmlns:a16="http://schemas.microsoft.com/office/drawing/2014/main" id="{492846D4-6B66-48EA-9574-AB1D28C0D03C}"/>
              </a:ext>
            </a:extLst>
          </p:cNvPr>
          <p:cNvSpPr>
            <a:spLocks xmlns:a="http://schemas.openxmlformats.org/drawingml/2006/main" noGrp="1"/>
          </p:cNvSpPr>
          <p:nvPr/>
        </p:nvSpPr>
        <p:spPr>
          <a:xfrm xmlns:a="http://schemas.openxmlformats.org/drawingml/2006/main" rot="0">
            <a:off x="999173" y="9256035"/>
            <a:ext cx="808538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CRO/CDMO purchases are separate from pharma-owned production. Hospitals are not separately modeled.</a:t>
            </a:r>
          </a:p>
        </p:txBody>
      </p:sp>
      <p:sp>
        <p:nvSpPr>
          <p:cNvPr id="30" name="Figure 3 label 29">
            <a:extLst xmlns:a="http://schemas.openxmlformats.org/drawingml/2006/main">
              <a:ext uri="{FF2B5EF4-FFF2-40B4-BE49-F238E27FC236}">
                <a16:creationId xmlns:a16="http://schemas.microsoft.com/office/drawing/2014/main" id="{25189389-9A92-408C-AF6E-CB0218466A23}"/>
              </a:ext>
            </a:extLst>
          </p:cNvPr>
          <p:cNvSpPr>
            <a:spLocks xmlns:a="http://schemas.openxmlformats.org/drawingml/2006/main" noGrp="1"/>
          </p:cNvSpPr>
          <p:nvPr/>
        </p:nvSpPr>
        <p:spPr>
          <a:xfrm xmlns:a="http://schemas.openxmlformats.org/drawingml/2006/main" rot="0">
            <a:off x="1000316" y="9676290"/>
            <a:ext cx="5943035"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illustrative shares in the supplied manuscript; these are not measured customer shares.</a:t>
            </a:r>
          </a:p>
        </p:txBody>
      </p:sp>
      <p:sp>
        <p:nvSpPr>
          <p:cNvPr id="31" name="Figure 3 label 30">
            <a:extLst xmlns:a="http://schemas.openxmlformats.org/drawingml/2006/main">
              <a:ext uri="{FF2B5EF4-FFF2-40B4-BE49-F238E27FC236}">
                <a16:creationId xmlns:a16="http://schemas.microsoft.com/office/drawing/2014/main" id="{53C27C54-9FD8-428D-BC52-C31054787F59}"/>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32" name="Figure 3 label 31">
            <a:extLst xmlns:a="http://schemas.openxmlformats.org/drawingml/2006/main">
              <a:ext uri="{FF2B5EF4-FFF2-40B4-BE49-F238E27FC236}">
                <a16:creationId xmlns:a16="http://schemas.microsoft.com/office/drawing/2014/main" id="{03312602-09D5-413D-828D-49ECCDD2CF20}"/>
              </a:ext>
            </a:extLst>
          </p:cNvPr>
          <p:cNvSpPr>
            <a:spLocks xmlns:a="http://schemas.openxmlformats.org/drawingml/2006/main" noGrp="1"/>
          </p:cNvSpPr>
          <p:nvPr/>
        </p:nvSpPr>
        <p:spPr>
          <a:xfrm xmlns:a="http://schemas.openxmlformats.org/drawingml/2006/main" rot="0">
            <a:off x="2552700" y="8161190"/>
            <a:ext cx="443344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285E7D"/>
                </a:solidFill>
                <a:latin typeface="Arial Unicode MS"/>
                <a:ea typeface="Arial Unicode MS"/>
                <a:cs typeface="Arial Unicode MS"/>
              </a:defRPr>
            </a:defPPr>
          </a:lstStyle>
          <a:p xmlns:a="http://schemas.openxmlformats.org/drawingml/2006/main">
            <a:pPr algn="l">
              <a:lnSpc>
                <a:spcPct val="125000"/>
              </a:lnSpc>
              <a:buNone/>
              <a:defRPr sz="1500" b="0">
                <a:solidFill>
                  <a:srgbClr val="285E7D"/>
                </a:solidFill>
                <a:latin typeface="Arial Unicode MS"/>
                <a:ea typeface="Arial Unicode MS"/>
                <a:cs typeface="Arial Unicode MS"/>
              </a:defRPr>
            </a:pPr>
            <a:r>
              <a:rPr sz="1500" b="0">
                <a:solidFill>
                  <a:srgbClr val="285E7D"/>
                </a:solidFill>
                <a:latin typeface="Arial Unicode MS"/>
                <a:ea typeface="Arial Unicode MS"/>
                <a:cs typeface="Arial Unicode MS"/>
              </a:rPr>
              <a:t>Reagents: more research exposure in this scenario</a:t>
            </a:r>
          </a:p>
        </p:txBody>
      </p:sp>
      <p:sp>
        <p:nvSpPr>
          <p:cNvPr id="33" name="Figure 3 label 32">
            <a:extLst xmlns:a="http://schemas.openxmlformats.org/drawingml/2006/main">
              <a:ext uri="{FF2B5EF4-FFF2-40B4-BE49-F238E27FC236}">
                <a16:creationId xmlns:a16="http://schemas.microsoft.com/office/drawing/2014/main" id="{ED729C85-CE2E-4D95-8ABC-A41A1425C7CB}"/>
              </a:ext>
            </a:extLst>
          </p:cNvPr>
          <p:cNvSpPr>
            <a:spLocks xmlns:a="http://schemas.openxmlformats.org/drawingml/2006/main" noGrp="1"/>
          </p:cNvSpPr>
          <p:nvPr/>
        </p:nvSpPr>
        <p:spPr>
          <a:xfrm xmlns:a="http://schemas.openxmlformats.org/drawingml/2006/main" rot="0">
            <a:off x="10599421" y="8163378"/>
            <a:ext cx="360774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49837F"/>
                </a:solidFill>
                <a:latin typeface="Arial Unicode MS"/>
                <a:ea typeface="Arial Unicode MS"/>
                <a:cs typeface="Arial Unicode MS"/>
              </a:defRPr>
            </a:defPPr>
          </a:lstStyle>
          <a:p xmlns:a="http://schemas.openxmlformats.org/drawingml/2006/main">
            <a:pPr algn="l">
              <a:lnSpc>
                <a:spcPct val="125000"/>
              </a:lnSpc>
              <a:buNone/>
              <a:defRPr sz="1500" b="0">
                <a:solidFill>
                  <a:srgbClr val="49837F"/>
                </a:solidFill>
                <a:latin typeface="Arial Unicode MS"/>
                <a:ea typeface="Arial Unicode MS"/>
                <a:cs typeface="Arial Unicode MS"/>
              </a:defRPr>
            </a:pPr>
            <a:r>
              <a:rPr sz="1500" b="0">
                <a:solidFill>
                  <a:srgbClr val="49837F"/>
                </a:solidFill>
                <a:latin typeface="Arial Unicode MS"/>
                <a:ea typeface="Arial Unicode MS"/>
                <a:cs typeface="Arial Unicode MS"/>
              </a:rPr>
              <a:t>Consumables: more production exposure</a:t>
            </a:r>
          </a:p>
        </p:txBody>
      </p:sp>
      <p:sp>
        <p:nvSpPr>
          <p:cNvPr id="34" name="Figure 3 label 33">
            <a:extLst xmlns:a="http://schemas.openxmlformats.org/drawingml/2006/main">
              <a:ext uri="{FF2B5EF4-FFF2-40B4-BE49-F238E27FC236}">
                <a16:creationId xmlns:a16="http://schemas.microsoft.com/office/drawing/2014/main" id="{4D8326B0-10C7-42A8-BC45-E1943141EA7C}"/>
              </a:ext>
            </a:extLst>
          </p:cNvPr>
          <p:cNvSpPr>
            <a:spLocks xmlns:a="http://schemas.openxmlformats.org/drawingml/2006/main" noGrp="1"/>
          </p:cNvSpPr>
          <p:nvPr/>
        </p:nvSpPr>
        <p:spPr>
          <a:xfrm xmlns:a="http://schemas.openxmlformats.org/drawingml/2006/main" rot="0">
            <a:off x="5075317" y="2353584"/>
            <a:ext cx="825431"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0000"/>
                </a:solidFill>
                <a:latin typeface="Arial Unicode MS"/>
                <a:ea typeface="Arial Unicode MS"/>
                <a:cs typeface="Arial Unicode MS"/>
              </a:defRPr>
            </a:defPPr>
          </a:lstStyle>
          <a:p xmlns:a="http://schemas.openxmlformats.org/drawingml/2006/main">
            <a:pPr algn="l">
              <a:lnSpc>
                <a:spcPct val="125000"/>
              </a:lnSpc>
              <a:buNone/>
              <a:defRPr sz="1275" b="0">
                <a:solidFill>
                  <a:srgbClr val="000000"/>
                </a:solidFill>
                <a:latin typeface="Arial Unicode MS"/>
                <a:ea typeface="Arial Unicode MS"/>
                <a:cs typeface="Arial Unicode MS"/>
              </a:defRPr>
            </a:pPr>
            <a:r>
              <a:rPr sz="1275" b="0">
                <a:solidFill>
                  <a:srgbClr val="000000"/>
                </a:solidFill>
                <a:latin typeface="Arial Unicode MS"/>
                <a:ea typeface="Arial Unicode MS"/>
                <a:cs typeface="Arial Unicode MS"/>
              </a:rPr>
              <a:t>Academia</a:t>
            </a:r>
          </a:p>
        </p:txBody>
      </p:sp>
      <p:sp>
        <p:nvSpPr>
          <p:cNvPr id="35" name="Figure 3 label 34">
            <a:extLst xmlns:a="http://schemas.openxmlformats.org/drawingml/2006/main">
              <a:ext uri="{FF2B5EF4-FFF2-40B4-BE49-F238E27FC236}">
                <a16:creationId xmlns:a16="http://schemas.microsoft.com/office/drawing/2014/main" id="{6F7CAE63-5015-4376-B18A-DD85814095A9}"/>
              </a:ext>
            </a:extLst>
          </p:cNvPr>
          <p:cNvSpPr>
            <a:spLocks xmlns:a="http://schemas.openxmlformats.org/drawingml/2006/main" noGrp="1"/>
          </p:cNvSpPr>
          <p:nvPr/>
        </p:nvSpPr>
        <p:spPr>
          <a:xfrm xmlns:a="http://schemas.openxmlformats.org/drawingml/2006/main" rot="0">
            <a:off x="6572567" y="2353584"/>
            <a:ext cx="1716316"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0000"/>
                </a:solidFill>
                <a:latin typeface="Arial Unicode MS"/>
                <a:ea typeface="Arial Unicode MS"/>
                <a:cs typeface="Arial Unicode MS"/>
              </a:defRPr>
            </a:defPPr>
          </a:lstStyle>
          <a:p xmlns:a="http://schemas.openxmlformats.org/drawingml/2006/main">
            <a:pPr algn="l">
              <a:lnSpc>
                <a:spcPct val="125000"/>
              </a:lnSpc>
              <a:buNone/>
              <a:defRPr sz="1275" b="0">
                <a:solidFill>
                  <a:srgbClr val="000000"/>
                </a:solidFill>
                <a:latin typeface="Arial Unicode MS"/>
                <a:ea typeface="Arial Unicode MS"/>
                <a:cs typeface="Arial Unicode MS"/>
              </a:defRPr>
            </a:pPr>
            <a:r>
              <a:rPr sz="1275" b="0">
                <a:solidFill>
                  <a:srgbClr val="000000"/>
                </a:solidFill>
                <a:latin typeface="Arial Unicode MS"/>
                <a:ea typeface="Arial Unicode MS"/>
                <a:cs typeface="Arial Unicode MS"/>
              </a:rPr>
              <a:t>Biotech / pharma R&amp;D</a:t>
            </a:r>
          </a:p>
        </p:txBody>
      </p:sp>
      <p:sp>
        <p:nvSpPr>
          <p:cNvPr id="36" name="Figure 3 label 35">
            <a:extLst xmlns:a="http://schemas.openxmlformats.org/drawingml/2006/main">
              <a:ext uri="{FF2B5EF4-FFF2-40B4-BE49-F238E27FC236}">
                <a16:creationId xmlns:a16="http://schemas.microsoft.com/office/drawing/2014/main" id="{3DFDAB80-2DE4-413D-B412-11782E75B83F}"/>
              </a:ext>
            </a:extLst>
          </p:cNvPr>
          <p:cNvSpPr>
            <a:spLocks xmlns:a="http://schemas.openxmlformats.org/drawingml/2006/main" noGrp="1"/>
          </p:cNvSpPr>
          <p:nvPr/>
        </p:nvSpPr>
        <p:spPr>
          <a:xfrm xmlns:a="http://schemas.openxmlformats.org/drawingml/2006/main" rot="0">
            <a:off x="8960682" y="2353584"/>
            <a:ext cx="1094809"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0000"/>
                </a:solidFill>
                <a:latin typeface="Arial Unicode MS"/>
                <a:ea typeface="Arial Unicode MS"/>
                <a:cs typeface="Arial Unicode MS"/>
              </a:defRPr>
            </a:defPPr>
          </a:lstStyle>
          <a:p xmlns:a="http://schemas.openxmlformats.org/drawingml/2006/main">
            <a:pPr algn="l">
              <a:lnSpc>
                <a:spcPct val="125000"/>
              </a:lnSpc>
              <a:buNone/>
              <a:defRPr sz="1275" b="0">
                <a:solidFill>
                  <a:srgbClr val="000000"/>
                </a:solidFill>
                <a:latin typeface="Arial Unicode MS"/>
                <a:ea typeface="Arial Unicode MS"/>
                <a:cs typeface="Arial Unicode MS"/>
              </a:defRPr>
            </a:pPr>
            <a:r>
              <a:rPr sz="1275" b="0">
                <a:solidFill>
                  <a:srgbClr val="000000"/>
                </a:solidFill>
                <a:latin typeface="Arial Unicode MS"/>
                <a:ea typeface="Arial Unicode MS"/>
                <a:cs typeface="Arial Unicode MS"/>
              </a:rPr>
              <a:t>CRO / CDMO</a:t>
            </a:r>
          </a:p>
        </p:txBody>
      </p:sp>
      <p:sp>
        <p:nvSpPr>
          <p:cNvPr id="37" name="Figure 3 label 36">
            <a:extLst xmlns:a="http://schemas.openxmlformats.org/drawingml/2006/main">
              <a:ext uri="{FF2B5EF4-FFF2-40B4-BE49-F238E27FC236}">
                <a16:creationId xmlns:a16="http://schemas.microsoft.com/office/drawing/2014/main" id="{CD6C91A1-990D-428E-BDEA-51690E690F2C}"/>
              </a:ext>
            </a:extLst>
          </p:cNvPr>
          <p:cNvSpPr>
            <a:spLocks xmlns:a="http://schemas.openxmlformats.org/drawingml/2006/main" noGrp="1"/>
          </p:cNvSpPr>
          <p:nvPr/>
        </p:nvSpPr>
        <p:spPr>
          <a:xfrm xmlns:a="http://schemas.openxmlformats.org/drawingml/2006/main" rot="0">
            <a:off x="10727410" y="2353584"/>
            <a:ext cx="1743402"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0000"/>
                </a:solidFill>
                <a:latin typeface="Arial Unicode MS"/>
                <a:ea typeface="Arial Unicode MS"/>
                <a:cs typeface="Arial Unicode MS"/>
              </a:defRPr>
            </a:defPPr>
          </a:lstStyle>
          <a:p xmlns:a="http://schemas.openxmlformats.org/drawingml/2006/main">
            <a:pPr algn="l">
              <a:lnSpc>
                <a:spcPct val="125000"/>
              </a:lnSpc>
              <a:buNone/>
              <a:defRPr sz="1275" b="0">
                <a:solidFill>
                  <a:srgbClr val="000000"/>
                </a:solidFill>
                <a:latin typeface="Arial Unicode MS"/>
                <a:ea typeface="Arial Unicode MS"/>
                <a:cs typeface="Arial Unicode MS"/>
              </a:defRPr>
            </a:pPr>
            <a:r>
              <a:rPr sz="1275" b="0">
                <a:solidFill>
                  <a:srgbClr val="000000"/>
                </a:solidFill>
                <a:latin typeface="Arial Unicode MS"/>
                <a:ea typeface="Arial Unicode MS"/>
                <a:cs typeface="Arial Unicode MS"/>
              </a:rPr>
              <a:t>Pharma manufacturing</a:t>
            </a:r>
          </a:p>
        </p:txBody>
      </p:sp>
      <p:sp>
        <p:nvSpPr>
          <p:cNvPr id="38" name="Figure 3 label 37">
            <a:extLst xmlns:a="http://schemas.openxmlformats.org/drawingml/2006/main">
              <a:ext uri="{FF2B5EF4-FFF2-40B4-BE49-F238E27FC236}">
                <a16:creationId xmlns:a16="http://schemas.microsoft.com/office/drawing/2014/main" id="{4C22F452-5030-4A6C-BA17-70C26FDA57BE}"/>
              </a:ext>
            </a:extLst>
          </p:cNvPr>
          <p:cNvSpPr>
            <a:spLocks xmlns:a="http://schemas.openxmlformats.org/drawingml/2006/main" noGrp="1"/>
          </p:cNvSpPr>
          <p:nvPr/>
        </p:nvSpPr>
        <p:spPr>
          <a:xfrm xmlns:a="http://schemas.openxmlformats.org/drawingml/2006/main" rot="0">
            <a:off x="13142599" y="2353584"/>
            <a:ext cx="1347371"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0000"/>
                </a:solidFill>
                <a:latin typeface="Arial Unicode MS"/>
                <a:ea typeface="Arial Unicode MS"/>
                <a:cs typeface="Arial Unicode MS"/>
              </a:defRPr>
            </a:defPPr>
          </a:lstStyle>
          <a:p xmlns:a="http://schemas.openxmlformats.org/drawingml/2006/main">
            <a:pPr algn="l">
              <a:lnSpc>
                <a:spcPct val="125000"/>
              </a:lnSpc>
              <a:buNone/>
              <a:defRPr sz="1275" b="0">
                <a:solidFill>
                  <a:srgbClr val="000000"/>
                </a:solidFill>
                <a:latin typeface="Arial Unicode MS"/>
                <a:ea typeface="Arial Unicode MS"/>
                <a:cs typeface="Arial Unicode MS"/>
              </a:defRPr>
            </a:pPr>
            <a:r>
              <a:rPr sz="1275" b="0">
                <a:solidFill>
                  <a:srgbClr val="000000"/>
                </a:solidFill>
                <a:latin typeface="Arial Unicode MS"/>
                <a:ea typeface="Arial Unicode MS"/>
                <a:cs typeface="Arial Unicode MS"/>
              </a:rPr>
              <a:t>IVD development</a:t>
            </a:r>
          </a:p>
        </p:txBody>
      </p:sp>
    </p:spTree>
    <p:extLst>
      <p:ext uri="{BB962C8B-B14F-4D97-AF65-F5344CB8AC3E}">
        <p14:creationId xmlns:p14="http://schemas.microsoft.com/office/powerpoint/2010/main" val="20425154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7" name="">
            <a:extLst xmlns:a="http://schemas.openxmlformats.org/drawingml/2006/main">
              <a:ext uri="{FF2B5EF4-FFF2-40B4-BE49-F238E27FC236}">
                <a16:creationId xmlns:a16="http://schemas.microsoft.com/office/drawing/2014/main" id="{03B5AF05-4A7A-4D7F-BF08-221563D24697}"/>
              </a:ext>
            </a:extLst>
          </p:cNvPr>
          <p:cNvPicPr>
            <a:picLocks xmlns:a="http://schemas.openxmlformats.org/drawingml/2006/main" noChangeAspect="1"/>
          </p:cNvPicPr>
          <p:nvPr/>
        </p:nvPicPr>
        <p:blipFill>
          <a:blip xmlns:r="http://schemas.openxmlformats.org/officeDocument/2006/relationships" xmlns:a="http://schemas.openxmlformats.org/drawingml/2006/main" r:embed="R84fc009f5dec46c5"/>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4 label 1">
            <a:extLst xmlns:a="http://schemas.openxmlformats.org/drawingml/2006/main">
              <a:ext uri="{FF2B5EF4-FFF2-40B4-BE49-F238E27FC236}">
                <a16:creationId xmlns:a16="http://schemas.microsoft.com/office/drawing/2014/main" id="{13C5C741-829B-4743-8EDC-5A89B634752F}"/>
              </a:ext>
            </a:extLst>
          </p:cNvPr>
          <p:cNvSpPr>
            <a:spLocks xmlns:a="http://schemas.openxmlformats.org/drawingml/2006/main" noGrp="1"/>
          </p:cNvSpPr>
          <p:nvPr/>
        </p:nvSpPr>
        <p:spPr>
          <a:xfrm xmlns:a="http://schemas.openxmlformats.org/drawingml/2006/main" rot="0">
            <a:off x="991870" y="421920"/>
            <a:ext cx="6360517"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04  AI discovery and its LST touchpoints</a:t>
            </a:r>
          </a:p>
        </p:txBody>
      </p:sp>
      <p:sp>
        <p:nvSpPr>
          <p:cNvPr id="3" name="Figure 4 label 2">
            <a:extLst xmlns:a="http://schemas.openxmlformats.org/drawingml/2006/main">
              <a:ext uri="{FF2B5EF4-FFF2-40B4-BE49-F238E27FC236}">
                <a16:creationId xmlns:a16="http://schemas.microsoft.com/office/drawing/2014/main" id="{DC87C689-5BD9-472B-8957-A32535ECBCF2}"/>
              </a:ext>
            </a:extLst>
          </p:cNvPr>
          <p:cNvSpPr>
            <a:spLocks xmlns:a="http://schemas.openxmlformats.org/drawingml/2006/main" noGrp="1"/>
          </p:cNvSpPr>
          <p:nvPr/>
        </p:nvSpPr>
        <p:spPr>
          <a:xfrm xmlns:a="http://schemas.openxmlformats.org/drawingml/2006/main" rot="0">
            <a:off x="15720815" y="661601"/>
            <a:ext cx="1019572"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MECHANISM</a:t>
            </a:r>
          </a:p>
        </p:txBody>
      </p:sp>
      <p:sp>
        <p:nvSpPr>
          <p:cNvPr id="4" name="Figure 4 label 3">
            <a:extLst xmlns:a="http://schemas.openxmlformats.org/drawingml/2006/main">
              <a:ext uri="{FF2B5EF4-FFF2-40B4-BE49-F238E27FC236}">
                <a16:creationId xmlns:a16="http://schemas.microsoft.com/office/drawing/2014/main" id="{29ACF38D-D73D-4AA3-8CFF-0D4AA9B01397}"/>
              </a:ext>
            </a:extLst>
          </p:cNvPr>
          <p:cNvSpPr>
            <a:spLocks xmlns:a="http://schemas.openxmlformats.org/drawingml/2006/main" noGrp="1"/>
          </p:cNvSpPr>
          <p:nvPr/>
        </p:nvSpPr>
        <p:spPr>
          <a:xfrm xmlns:a="http://schemas.openxmlformats.org/drawingml/2006/main" rot="0">
            <a:off x="998220" y="1249487"/>
            <a:ext cx="89664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AI candidates need physical construction and experimental feedback. Orders depend on funded projects.</a:t>
            </a:r>
          </a:p>
        </p:txBody>
      </p:sp>
      <p:sp>
        <p:nvSpPr>
          <p:cNvPr id="5" name="Figure 4 label 4">
            <a:extLst xmlns:a="http://schemas.openxmlformats.org/drawingml/2006/main">
              <a:ext uri="{FF2B5EF4-FFF2-40B4-BE49-F238E27FC236}">
                <a16:creationId xmlns:a16="http://schemas.microsoft.com/office/drawing/2014/main" id="{A8957DA4-3647-4A07-B344-0133F5E3EF45}"/>
              </a:ext>
            </a:extLst>
          </p:cNvPr>
          <p:cNvSpPr>
            <a:spLocks xmlns:a="http://schemas.openxmlformats.org/drawingml/2006/main" noGrp="1"/>
          </p:cNvSpPr>
          <p:nvPr/>
        </p:nvSpPr>
        <p:spPr>
          <a:xfrm xmlns:a="http://schemas.openxmlformats.org/drawingml/2006/main" rot="0">
            <a:off x="999173" y="9256035"/>
            <a:ext cx="770617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Stages 2–3 have more direct exposure. Clinical and manufacturing demand face attrition and time lags.</a:t>
            </a:r>
          </a:p>
        </p:txBody>
      </p:sp>
      <p:sp>
        <p:nvSpPr>
          <p:cNvPr id="6" name="Figure 4 label 5">
            <a:extLst xmlns:a="http://schemas.openxmlformats.org/drawingml/2006/main">
              <a:ext uri="{FF2B5EF4-FFF2-40B4-BE49-F238E27FC236}">
                <a16:creationId xmlns:a16="http://schemas.microsoft.com/office/drawing/2014/main" id="{FF38A064-4944-45E8-BA35-61F0C09A1507}"/>
              </a:ext>
            </a:extLst>
          </p:cNvPr>
          <p:cNvSpPr>
            <a:spLocks xmlns:a="http://schemas.openxmlformats.org/drawingml/2006/main" noGrp="1"/>
          </p:cNvSpPr>
          <p:nvPr/>
        </p:nvSpPr>
        <p:spPr>
          <a:xfrm xmlns:a="http://schemas.openxmlformats.org/drawingml/2006/main" rot="0">
            <a:off x="1000316" y="9676290"/>
            <a:ext cx="6595050"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framework and product-use research. Arrows describe a mechanism, not realized orders.</a:t>
            </a:r>
          </a:p>
        </p:txBody>
      </p:sp>
      <p:sp>
        <p:nvSpPr>
          <p:cNvPr id="7" name="Figure 4 label 6">
            <a:extLst xmlns:a="http://schemas.openxmlformats.org/drawingml/2006/main">
              <a:ext uri="{FF2B5EF4-FFF2-40B4-BE49-F238E27FC236}">
                <a16:creationId xmlns:a16="http://schemas.microsoft.com/office/drawing/2014/main" id="{AFFD1204-E7E4-44E6-A0B7-FA6321223C43}"/>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8" name="Figure 4 label 7">
            <a:extLst xmlns:a="http://schemas.openxmlformats.org/drawingml/2006/main">
              <a:ext uri="{FF2B5EF4-FFF2-40B4-BE49-F238E27FC236}">
                <a16:creationId xmlns:a16="http://schemas.microsoft.com/office/drawing/2014/main" id="{1FE948D9-425C-4422-84FA-0EFF138CB313}"/>
              </a:ext>
            </a:extLst>
          </p:cNvPr>
          <p:cNvSpPr>
            <a:spLocks xmlns:a="http://schemas.openxmlformats.org/drawingml/2006/main" noGrp="1"/>
          </p:cNvSpPr>
          <p:nvPr/>
        </p:nvSpPr>
        <p:spPr>
          <a:xfrm xmlns:a="http://schemas.openxmlformats.org/drawingml/2006/main" rot="0">
            <a:off x="1054227"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275" b="0">
                <a:solidFill>
                  <a:srgbClr val="657B88"/>
                </a:solidFill>
                <a:latin typeface="Arial Unicode MS"/>
                <a:ea typeface="Arial Unicode MS"/>
                <a:cs typeface="Arial Unicode MS"/>
              </a:defRPr>
            </a:pPr>
            <a:r>
              <a:rPr sz="1275" b="0">
                <a:solidFill>
                  <a:srgbClr val="657B88"/>
                </a:solidFill>
                <a:latin typeface="Arial Unicode MS"/>
                <a:ea typeface="Arial Unicode MS"/>
                <a:cs typeface="Arial Unicode MS"/>
              </a:rPr>
              <a:t>STAGE 0</a:t>
            </a:r>
          </a:p>
        </p:txBody>
      </p:sp>
      <p:sp>
        <p:nvSpPr>
          <p:cNvPr id="9" name="Figure 4 label 8">
            <a:extLst xmlns:a="http://schemas.openxmlformats.org/drawingml/2006/main">
              <a:ext uri="{FF2B5EF4-FFF2-40B4-BE49-F238E27FC236}">
                <a16:creationId xmlns:a16="http://schemas.microsoft.com/office/drawing/2014/main" id="{2FA0C112-9F09-4E02-B972-BE6471CE7A91}"/>
              </a:ext>
            </a:extLst>
          </p:cNvPr>
          <p:cNvSpPr>
            <a:spLocks xmlns:a="http://schemas.openxmlformats.org/drawingml/2006/main" noGrp="1"/>
          </p:cNvSpPr>
          <p:nvPr/>
        </p:nvSpPr>
        <p:spPr>
          <a:xfrm xmlns:a="http://schemas.openxmlformats.org/drawingml/2006/main" rot="0">
            <a:off x="1372985" y="3438342"/>
            <a:ext cx="1478558"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750" b="1">
                <a:solidFill>
                  <a:srgbClr val="263B49"/>
                </a:solidFill>
                <a:latin typeface="Arial Unicode MS"/>
                <a:ea typeface="Arial Unicode MS"/>
                <a:cs typeface="Arial Unicode MS"/>
              </a:defRPr>
            </a:pPr>
            <a:r>
              <a:rPr sz="1750" b="1">
                <a:solidFill>
                  <a:srgbClr val="263B49"/>
                </a:solidFill>
                <a:latin typeface="Arial Unicode MS"/>
                <a:ea typeface="Arial Unicode MS"/>
                <a:cs typeface="Arial Unicode MS"/>
              </a:rPr>
              <a:t>Data / targets</a:t>
            </a:r>
          </a:p>
        </p:txBody>
      </p:sp>
      <p:sp>
        <p:nvSpPr>
          <p:cNvPr id="10" name="Figure 4 label 9">
            <a:extLst xmlns:a="http://schemas.openxmlformats.org/drawingml/2006/main">
              <a:ext uri="{FF2B5EF4-FFF2-40B4-BE49-F238E27FC236}">
                <a16:creationId xmlns:a16="http://schemas.microsoft.com/office/drawing/2014/main" id="{A967C240-CBF8-4DA9-9173-AF8210160BA3}"/>
              </a:ext>
            </a:extLst>
          </p:cNvPr>
          <p:cNvSpPr>
            <a:spLocks xmlns:a="http://schemas.openxmlformats.org/drawingml/2006/main" noGrp="1"/>
          </p:cNvSpPr>
          <p:nvPr/>
        </p:nvSpPr>
        <p:spPr>
          <a:xfrm xmlns:a="http://schemas.openxmlformats.org/drawingml/2006/main" rot="0">
            <a:off x="998982" y="5252960"/>
            <a:ext cx="199858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Sequencing / proteomics</a:t>
            </a:r>
          </a:p>
        </p:txBody>
      </p:sp>
      <p:sp>
        <p:nvSpPr>
          <p:cNvPr id="11" name="Figure 4 label 10">
            <a:extLst xmlns:a="http://schemas.openxmlformats.org/drawingml/2006/main">
              <a:ext uri="{FF2B5EF4-FFF2-40B4-BE49-F238E27FC236}">
                <a16:creationId xmlns:a16="http://schemas.microsoft.com/office/drawing/2014/main" id="{AF882E2C-81DE-45FF-9A92-1FA320EEA954}"/>
              </a:ext>
            </a:extLst>
          </p:cNvPr>
          <p:cNvSpPr>
            <a:spLocks xmlns:a="http://schemas.openxmlformats.org/drawingml/2006/main" noGrp="1"/>
          </p:cNvSpPr>
          <p:nvPr/>
        </p:nvSpPr>
        <p:spPr>
          <a:xfrm xmlns:a="http://schemas.openxmlformats.org/drawingml/2006/main" rot="0">
            <a:off x="998982" y="5551066"/>
            <a:ext cx="155031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CRISPR screening</a:t>
            </a:r>
          </a:p>
        </p:txBody>
      </p:sp>
      <p:sp>
        <p:nvSpPr>
          <p:cNvPr id="12" name="Figure 4 label 11">
            <a:extLst xmlns:a="http://schemas.openxmlformats.org/drawingml/2006/main">
              <a:ext uri="{FF2B5EF4-FFF2-40B4-BE49-F238E27FC236}">
                <a16:creationId xmlns:a16="http://schemas.microsoft.com/office/drawing/2014/main" id="{302215B9-40F9-483F-82C4-A42E5C09F282}"/>
              </a:ext>
            </a:extLst>
          </p:cNvPr>
          <p:cNvSpPr>
            <a:spLocks xmlns:a="http://schemas.openxmlformats.org/drawingml/2006/main" noGrp="1"/>
          </p:cNvSpPr>
          <p:nvPr/>
        </p:nvSpPr>
        <p:spPr>
          <a:xfrm xmlns:a="http://schemas.openxmlformats.org/drawingml/2006/main" rot="0">
            <a:off x="998982" y="5844784"/>
            <a:ext cx="202700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Research data resources</a:t>
            </a:r>
          </a:p>
        </p:txBody>
      </p:sp>
      <p:sp>
        <p:nvSpPr>
          <p:cNvPr id="13" name="Figure 4 label 12">
            <a:extLst xmlns:a="http://schemas.openxmlformats.org/drawingml/2006/main">
              <a:ext uri="{FF2B5EF4-FFF2-40B4-BE49-F238E27FC236}">
                <a16:creationId xmlns:a16="http://schemas.microsoft.com/office/drawing/2014/main" id="{B327F7B9-2408-4698-A47A-550EAE48A7C8}"/>
              </a:ext>
            </a:extLst>
          </p:cNvPr>
          <p:cNvSpPr>
            <a:spLocks xmlns:a="http://schemas.openxmlformats.org/drawingml/2006/main" noGrp="1"/>
          </p:cNvSpPr>
          <p:nvPr/>
        </p:nvSpPr>
        <p:spPr>
          <a:xfrm xmlns:a="http://schemas.openxmlformats.org/drawingml/2006/main" rot="0">
            <a:off x="1581196" y="6998393"/>
            <a:ext cx="1062137"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Generate data</a:t>
            </a:r>
          </a:p>
        </p:txBody>
      </p:sp>
      <p:sp>
        <p:nvSpPr>
          <p:cNvPr id="14" name="Figure 4 label 13">
            <a:extLst xmlns:a="http://schemas.openxmlformats.org/drawingml/2006/main">
              <a:ext uri="{FF2B5EF4-FFF2-40B4-BE49-F238E27FC236}">
                <a16:creationId xmlns:a16="http://schemas.microsoft.com/office/drawing/2014/main" id="{33B01A5D-C77B-46EC-B85F-554CA8EDBD3A}"/>
              </a:ext>
            </a:extLst>
          </p:cNvPr>
          <p:cNvSpPr>
            <a:spLocks xmlns:a="http://schemas.openxmlformats.org/drawingml/2006/main" noGrp="1"/>
          </p:cNvSpPr>
          <p:nvPr/>
        </p:nvSpPr>
        <p:spPr>
          <a:xfrm xmlns:a="http://schemas.openxmlformats.org/drawingml/2006/main" rot="0">
            <a:off x="3870579"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275" b="0">
                <a:solidFill>
                  <a:srgbClr val="657B88"/>
                </a:solidFill>
                <a:latin typeface="Arial Unicode MS"/>
                <a:ea typeface="Arial Unicode MS"/>
                <a:cs typeface="Arial Unicode MS"/>
              </a:defRPr>
            </a:pPr>
            <a:r>
              <a:rPr sz="1275" b="0">
                <a:solidFill>
                  <a:srgbClr val="657B88"/>
                </a:solidFill>
                <a:latin typeface="Arial Unicode MS"/>
                <a:ea typeface="Arial Unicode MS"/>
                <a:cs typeface="Arial Unicode MS"/>
              </a:rPr>
              <a:t>STAGE 1</a:t>
            </a:r>
          </a:p>
        </p:txBody>
      </p:sp>
      <p:sp>
        <p:nvSpPr>
          <p:cNvPr id="15" name="Figure 4 label 14">
            <a:extLst xmlns:a="http://schemas.openxmlformats.org/drawingml/2006/main">
              <a:ext uri="{FF2B5EF4-FFF2-40B4-BE49-F238E27FC236}">
                <a16:creationId xmlns:a16="http://schemas.microsoft.com/office/drawing/2014/main" id="{5A6929F5-79D0-45E0-943A-AF07A6C1DE40}"/>
              </a:ext>
            </a:extLst>
          </p:cNvPr>
          <p:cNvSpPr>
            <a:spLocks xmlns:a="http://schemas.openxmlformats.org/drawingml/2006/main" noGrp="1"/>
          </p:cNvSpPr>
          <p:nvPr/>
        </p:nvSpPr>
        <p:spPr>
          <a:xfrm xmlns:a="http://schemas.openxmlformats.org/drawingml/2006/main" rot="0">
            <a:off x="4183160" y="3438342"/>
            <a:ext cx="1490911"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750" b="1">
                <a:solidFill>
                  <a:srgbClr val="263B49"/>
                </a:solidFill>
                <a:latin typeface="Arial Unicode MS"/>
                <a:ea typeface="Arial Unicode MS"/>
                <a:cs typeface="Arial Unicode MS"/>
              </a:defRPr>
            </a:pPr>
            <a:r>
              <a:rPr sz="1750" b="1">
                <a:solidFill>
                  <a:srgbClr val="263B49"/>
                </a:solidFill>
                <a:latin typeface="Arial Unicode MS"/>
                <a:ea typeface="Arial Unicode MS"/>
                <a:cs typeface="Arial Unicode MS"/>
              </a:rPr>
              <a:t>Virtual design</a:t>
            </a:r>
          </a:p>
        </p:txBody>
      </p:sp>
      <p:sp>
        <p:nvSpPr>
          <p:cNvPr id="16" name="Figure 4 label 15">
            <a:extLst xmlns:a="http://schemas.openxmlformats.org/drawingml/2006/main">
              <a:ext uri="{FF2B5EF4-FFF2-40B4-BE49-F238E27FC236}">
                <a16:creationId xmlns:a16="http://schemas.microsoft.com/office/drawing/2014/main" id="{D3A17631-9AC2-4337-8C90-D42EEEFD1524}"/>
              </a:ext>
            </a:extLst>
          </p:cNvPr>
          <p:cNvSpPr>
            <a:spLocks xmlns:a="http://schemas.openxmlformats.org/drawingml/2006/main" noGrp="1"/>
          </p:cNvSpPr>
          <p:nvPr/>
        </p:nvSpPr>
        <p:spPr>
          <a:xfrm xmlns:a="http://schemas.openxmlformats.org/drawingml/2006/main" rot="0">
            <a:off x="3815334" y="5251915"/>
            <a:ext cx="216988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Models / compute / ranking</a:t>
            </a:r>
          </a:p>
        </p:txBody>
      </p:sp>
      <p:sp>
        <p:nvSpPr>
          <p:cNvPr id="17" name="Figure 4 label 16">
            <a:extLst xmlns:a="http://schemas.openxmlformats.org/drawingml/2006/main">
              <a:ext uri="{FF2B5EF4-FFF2-40B4-BE49-F238E27FC236}">
                <a16:creationId xmlns:a16="http://schemas.microsoft.com/office/drawing/2014/main" id="{2117C661-3505-4734-A878-7578A92789BA}"/>
              </a:ext>
            </a:extLst>
          </p:cNvPr>
          <p:cNvSpPr>
            <a:spLocks xmlns:a="http://schemas.openxmlformats.org/drawingml/2006/main" noGrp="1"/>
          </p:cNvSpPr>
          <p:nvPr/>
        </p:nvSpPr>
        <p:spPr>
          <a:xfrm xmlns:a="http://schemas.openxmlformats.org/drawingml/2006/main" rot="0">
            <a:off x="3815334" y="5545633"/>
            <a:ext cx="196985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Less direct LST demand</a:t>
            </a:r>
          </a:p>
        </p:txBody>
      </p:sp>
      <p:sp>
        <p:nvSpPr>
          <p:cNvPr id="18" name="Figure 4 label 17">
            <a:extLst xmlns:a="http://schemas.openxmlformats.org/drawingml/2006/main">
              <a:ext uri="{FF2B5EF4-FFF2-40B4-BE49-F238E27FC236}">
                <a16:creationId xmlns:a16="http://schemas.microsoft.com/office/drawing/2014/main" id="{B92186E8-2C22-46D1-BA56-31D144F17D9E}"/>
              </a:ext>
            </a:extLst>
          </p:cNvPr>
          <p:cNvSpPr>
            <a:spLocks xmlns:a="http://schemas.openxmlformats.org/drawingml/2006/main" noGrp="1"/>
          </p:cNvSpPr>
          <p:nvPr/>
        </p:nvSpPr>
        <p:spPr>
          <a:xfrm xmlns:a="http://schemas.openxmlformats.org/drawingml/2006/main" rot="0">
            <a:off x="3815334" y="5841891"/>
            <a:ext cx="136963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Candidate triage</a:t>
            </a:r>
          </a:p>
        </p:txBody>
      </p:sp>
      <p:sp>
        <p:nvSpPr>
          <p:cNvPr id="19" name="Figure 4 label 18">
            <a:extLst xmlns:a="http://schemas.openxmlformats.org/drawingml/2006/main">
              <a:ext uri="{FF2B5EF4-FFF2-40B4-BE49-F238E27FC236}">
                <a16:creationId xmlns:a16="http://schemas.microsoft.com/office/drawing/2014/main" id="{9D255C4D-4F87-44A7-9E58-8566A1A6A2E6}"/>
              </a:ext>
            </a:extLst>
          </p:cNvPr>
          <p:cNvSpPr>
            <a:spLocks xmlns:a="http://schemas.openxmlformats.org/drawingml/2006/main" noGrp="1"/>
          </p:cNvSpPr>
          <p:nvPr/>
        </p:nvSpPr>
        <p:spPr>
          <a:xfrm xmlns:a="http://schemas.openxmlformats.org/drawingml/2006/main" rot="0">
            <a:off x="4259286" y="6997580"/>
            <a:ext cx="133865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Design candidates</a:t>
            </a:r>
          </a:p>
        </p:txBody>
      </p:sp>
      <p:sp>
        <p:nvSpPr>
          <p:cNvPr id="20" name="Figure 4 label 19">
            <a:extLst xmlns:a="http://schemas.openxmlformats.org/drawingml/2006/main">
              <a:ext uri="{FF2B5EF4-FFF2-40B4-BE49-F238E27FC236}">
                <a16:creationId xmlns:a16="http://schemas.microsoft.com/office/drawing/2014/main" id="{A1C74F0A-B7DE-47DD-A7AE-904BBCFE4713}"/>
              </a:ext>
            </a:extLst>
          </p:cNvPr>
          <p:cNvSpPr>
            <a:spLocks xmlns:a="http://schemas.openxmlformats.org/drawingml/2006/main" noGrp="1"/>
          </p:cNvSpPr>
          <p:nvPr/>
        </p:nvSpPr>
        <p:spPr>
          <a:xfrm xmlns:a="http://schemas.openxmlformats.org/drawingml/2006/main" rot="0">
            <a:off x="6686931"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FFFFFF"/>
                </a:solidFill>
                <a:latin typeface="Arial Unicode MS"/>
                <a:ea typeface="Arial Unicode MS"/>
                <a:cs typeface="Arial Unicode MS"/>
              </a:defRPr>
            </a:defPPr>
          </a:lstStyle>
          <a:p xmlns:a="http://schemas.openxmlformats.org/drawingml/2006/main">
            <a:pPr algn="l">
              <a:lnSpc>
                <a:spcPct val="125000"/>
              </a:lnSpc>
              <a:buNone/>
              <a:defRPr sz="1275" b="0">
                <a:solidFill>
                  <a:srgbClr val="FFFFFF"/>
                </a:solidFill>
                <a:latin typeface="Arial Unicode MS"/>
                <a:ea typeface="Arial Unicode MS"/>
                <a:cs typeface="Arial Unicode MS"/>
              </a:defRPr>
            </a:pPr>
            <a:r>
              <a:rPr sz="1275" b="0">
                <a:solidFill>
                  <a:srgbClr val="FFFFFF"/>
                </a:solidFill>
                <a:latin typeface="Arial Unicode MS"/>
                <a:ea typeface="Arial Unicode MS"/>
                <a:cs typeface="Arial Unicode MS"/>
              </a:rPr>
              <a:t>STAGE 2</a:t>
            </a:r>
          </a:p>
        </p:txBody>
      </p:sp>
      <p:sp>
        <p:nvSpPr>
          <p:cNvPr id="21" name="Figure 4 label 20">
            <a:extLst xmlns:a="http://schemas.openxmlformats.org/drawingml/2006/main">
              <a:ext uri="{FF2B5EF4-FFF2-40B4-BE49-F238E27FC236}">
                <a16:creationId xmlns:a16="http://schemas.microsoft.com/office/drawing/2014/main" id="{E6779317-50E4-4D61-82DE-3D34EE3FA41A}"/>
              </a:ext>
            </a:extLst>
          </p:cNvPr>
          <p:cNvSpPr>
            <a:spLocks xmlns:a="http://schemas.openxmlformats.org/drawingml/2006/main" noGrp="1"/>
          </p:cNvSpPr>
          <p:nvPr/>
        </p:nvSpPr>
        <p:spPr>
          <a:xfrm xmlns:a="http://schemas.openxmlformats.org/drawingml/2006/main" rot="0">
            <a:off x="6993337" y="3438342"/>
            <a:ext cx="1503263"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FFFFFF"/>
                </a:solidFill>
                <a:latin typeface="Arial Unicode MS"/>
                <a:ea typeface="Arial Unicode MS"/>
                <a:cs typeface="Arial Unicode MS"/>
              </a:defRPr>
            </a:defPPr>
          </a:lstStyle>
          <a:p xmlns:a="http://schemas.openxmlformats.org/drawingml/2006/main">
            <a:pPr algn="ctr">
              <a:lnSpc>
                <a:spcPct val="125000"/>
              </a:lnSpc>
              <a:buNone/>
              <a:defRPr sz="1750" b="1">
                <a:solidFill>
                  <a:srgbClr val="FFFFFF"/>
                </a:solidFill>
                <a:latin typeface="Arial Unicode MS"/>
                <a:ea typeface="Arial Unicode MS"/>
                <a:cs typeface="Arial Unicode MS"/>
              </a:defRPr>
            </a:pPr>
            <a:r>
              <a:rPr sz="1750" b="1">
                <a:solidFill>
                  <a:srgbClr val="FFFFFF"/>
                </a:solidFill>
                <a:latin typeface="Arial Unicode MS"/>
                <a:ea typeface="Arial Unicode MS"/>
                <a:cs typeface="Arial Unicode MS"/>
              </a:rPr>
              <a:t>Physical build</a:t>
            </a:r>
          </a:p>
        </p:txBody>
      </p:sp>
      <p:sp>
        <p:nvSpPr>
          <p:cNvPr id="22" name="Figure 4 label 21">
            <a:extLst xmlns:a="http://schemas.openxmlformats.org/drawingml/2006/main">
              <a:ext uri="{FF2B5EF4-FFF2-40B4-BE49-F238E27FC236}">
                <a16:creationId xmlns:a16="http://schemas.microsoft.com/office/drawing/2014/main" id="{E78B7629-B333-417E-9996-0C82A04B932F}"/>
              </a:ext>
            </a:extLst>
          </p:cNvPr>
          <p:cNvSpPr>
            <a:spLocks xmlns:a="http://schemas.openxmlformats.org/drawingml/2006/main" noGrp="1"/>
          </p:cNvSpPr>
          <p:nvPr/>
        </p:nvSpPr>
        <p:spPr>
          <a:xfrm xmlns:a="http://schemas.openxmlformats.org/drawingml/2006/main" rot="0">
            <a:off x="6631686" y="5253185"/>
            <a:ext cx="17600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Building blocks / DNA</a:t>
            </a:r>
          </a:p>
        </p:txBody>
      </p:sp>
      <p:sp>
        <p:nvSpPr>
          <p:cNvPr id="23" name="Figure 4 label 22">
            <a:extLst xmlns:a="http://schemas.openxmlformats.org/drawingml/2006/main">
              <a:ext uri="{FF2B5EF4-FFF2-40B4-BE49-F238E27FC236}">
                <a16:creationId xmlns:a16="http://schemas.microsoft.com/office/drawing/2014/main" id="{58349E20-DCFB-4C13-B94B-750D87CE79C1}"/>
              </a:ext>
            </a:extLst>
          </p:cNvPr>
          <p:cNvSpPr>
            <a:spLocks xmlns:a="http://schemas.openxmlformats.org/drawingml/2006/main" noGrp="1"/>
          </p:cNvSpPr>
          <p:nvPr/>
        </p:nvSpPr>
        <p:spPr>
          <a:xfrm xmlns:a="http://schemas.openxmlformats.org/drawingml/2006/main" rot="0">
            <a:off x="6631686" y="5546903"/>
            <a:ext cx="156936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Enzymes / proteins</a:t>
            </a:r>
          </a:p>
        </p:txBody>
      </p:sp>
      <p:sp>
        <p:nvSpPr>
          <p:cNvPr id="24" name="Figure 4 label 23">
            <a:extLst xmlns:a="http://schemas.openxmlformats.org/drawingml/2006/main">
              <a:ext uri="{FF2B5EF4-FFF2-40B4-BE49-F238E27FC236}">
                <a16:creationId xmlns:a16="http://schemas.microsoft.com/office/drawing/2014/main" id="{F25C3228-FDFF-4D12-A98B-C18780F294D6}"/>
              </a:ext>
            </a:extLst>
          </p:cNvPr>
          <p:cNvSpPr>
            <a:spLocks xmlns:a="http://schemas.openxmlformats.org/drawingml/2006/main" noGrp="1"/>
          </p:cNvSpPr>
          <p:nvPr/>
        </p:nvSpPr>
        <p:spPr>
          <a:xfrm xmlns:a="http://schemas.openxmlformats.org/drawingml/2006/main" rot="0">
            <a:off x="6631686" y="5840621"/>
            <a:ext cx="213178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Analytical chromatography</a:t>
            </a:r>
          </a:p>
        </p:txBody>
      </p:sp>
      <p:sp>
        <p:nvSpPr>
          <p:cNvPr id="25" name="Figure 4 label 24">
            <a:extLst xmlns:a="http://schemas.openxmlformats.org/drawingml/2006/main">
              <a:ext uri="{FF2B5EF4-FFF2-40B4-BE49-F238E27FC236}">
                <a16:creationId xmlns:a16="http://schemas.microsoft.com/office/drawing/2014/main" id="{DDBE387C-1E36-4D34-8591-A17149CE9458}"/>
              </a:ext>
            </a:extLst>
          </p:cNvPr>
          <p:cNvSpPr>
            <a:spLocks xmlns:a="http://schemas.openxmlformats.org/drawingml/2006/main" noGrp="1"/>
          </p:cNvSpPr>
          <p:nvPr/>
        </p:nvSpPr>
        <p:spPr>
          <a:xfrm xmlns:a="http://schemas.openxmlformats.org/drawingml/2006/main" rot="0">
            <a:off x="7142686" y="6998393"/>
            <a:ext cx="120456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Build candidates</a:t>
            </a:r>
          </a:p>
        </p:txBody>
      </p:sp>
      <p:sp>
        <p:nvSpPr>
          <p:cNvPr id="26" name="Figure 4 label 25">
            <a:extLst xmlns:a="http://schemas.openxmlformats.org/drawingml/2006/main">
              <a:ext uri="{FF2B5EF4-FFF2-40B4-BE49-F238E27FC236}">
                <a16:creationId xmlns:a16="http://schemas.microsoft.com/office/drawing/2014/main" id="{5A5A5E8E-EF29-4A61-ACC8-4AB09E7734FD}"/>
              </a:ext>
            </a:extLst>
          </p:cNvPr>
          <p:cNvSpPr>
            <a:spLocks xmlns:a="http://schemas.openxmlformats.org/drawingml/2006/main" noGrp="1"/>
          </p:cNvSpPr>
          <p:nvPr/>
        </p:nvSpPr>
        <p:spPr>
          <a:xfrm xmlns:a="http://schemas.openxmlformats.org/drawingml/2006/main" rot="0">
            <a:off x="9503283"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FFFFFF"/>
                </a:solidFill>
                <a:latin typeface="Arial Unicode MS"/>
                <a:ea typeface="Arial Unicode MS"/>
                <a:cs typeface="Arial Unicode MS"/>
              </a:defRPr>
            </a:defPPr>
          </a:lstStyle>
          <a:p xmlns:a="http://schemas.openxmlformats.org/drawingml/2006/main">
            <a:pPr algn="l">
              <a:lnSpc>
                <a:spcPct val="125000"/>
              </a:lnSpc>
              <a:buNone/>
              <a:defRPr sz="1275" b="0">
                <a:solidFill>
                  <a:srgbClr val="FFFFFF"/>
                </a:solidFill>
                <a:latin typeface="Arial Unicode MS"/>
                <a:ea typeface="Arial Unicode MS"/>
                <a:cs typeface="Arial Unicode MS"/>
              </a:defRPr>
            </a:pPr>
            <a:r>
              <a:rPr sz="1275" b="0">
                <a:solidFill>
                  <a:srgbClr val="FFFFFF"/>
                </a:solidFill>
                <a:latin typeface="Arial Unicode MS"/>
                <a:ea typeface="Arial Unicode MS"/>
                <a:cs typeface="Arial Unicode MS"/>
              </a:rPr>
              <a:t>STAGE 3</a:t>
            </a:r>
          </a:p>
        </p:txBody>
      </p:sp>
      <p:sp>
        <p:nvSpPr>
          <p:cNvPr id="27" name="Figure 4 label 26">
            <a:extLst xmlns:a="http://schemas.openxmlformats.org/drawingml/2006/main">
              <a:ext uri="{FF2B5EF4-FFF2-40B4-BE49-F238E27FC236}">
                <a16:creationId xmlns:a16="http://schemas.microsoft.com/office/drawing/2014/main" id="{6B6B3C40-4EA5-420C-941E-127287BF72FB}"/>
              </a:ext>
            </a:extLst>
          </p:cNvPr>
          <p:cNvSpPr>
            <a:spLocks xmlns:a="http://schemas.openxmlformats.org/drawingml/2006/main" noGrp="1"/>
          </p:cNvSpPr>
          <p:nvPr/>
        </p:nvSpPr>
        <p:spPr>
          <a:xfrm xmlns:a="http://schemas.openxmlformats.org/drawingml/2006/main" rot="0">
            <a:off x="9840720" y="3439540"/>
            <a:ext cx="1441202"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FFFFFF"/>
                </a:solidFill>
                <a:latin typeface="Arial Unicode MS"/>
                <a:ea typeface="Arial Unicode MS"/>
                <a:cs typeface="Arial Unicode MS"/>
              </a:defRPr>
            </a:defPPr>
          </a:lstStyle>
          <a:p xmlns:a="http://schemas.openxmlformats.org/drawingml/2006/main">
            <a:pPr algn="ctr">
              <a:lnSpc>
                <a:spcPct val="125000"/>
              </a:lnSpc>
              <a:buNone/>
              <a:defRPr sz="1750" b="1">
                <a:solidFill>
                  <a:srgbClr val="FFFFFF"/>
                </a:solidFill>
                <a:latin typeface="Arial Unicode MS"/>
                <a:ea typeface="Arial Unicode MS"/>
                <a:cs typeface="Arial Unicode MS"/>
              </a:defRPr>
            </a:pPr>
            <a:r>
              <a:rPr sz="1750" b="1">
                <a:solidFill>
                  <a:srgbClr val="FFFFFF"/>
                </a:solidFill>
                <a:latin typeface="Arial Unicode MS"/>
                <a:ea typeface="Arial Unicode MS"/>
                <a:cs typeface="Arial Unicode MS"/>
              </a:rPr>
              <a:t>Wet-lab tests</a:t>
            </a:r>
          </a:p>
        </p:txBody>
      </p:sp>
      <p:sp>
        <p:nvSpPr>
          <p:cNvPr id="28" name="Figure 4 label 27">
            <a:extLst xmlns:a="http://schemas.openxmlformats.org/drawingml/2006/main">
              <a:ext uri="{FF2B5EF4-FFF2-40B4-BE49-F238E27FC236}">
                <a16:creationId xmlns:a16="http://schemas.microsoft.com/office/drawing/2014/main" id="{653FE350-DA84-4756-BA50-8E36A89E40A9}"/>
              </a:ext>
            </a:extLst>
          </p:cNvPr>
          <p:cNvSpPr>
            <a:spLocks xmlns:a="http://schemas.openxmlformats.org/drawingml/2006/main" noGrp="1"/>
          </p:cNvSpPr>
          <p:nvPr/>
        </p:nvSpPr>
        <p:spPr>
          <a:xfrm xmlns:a="http://schemas.openxmlformats.org/drawingml/2006/main" rot="0">
            <a:off x="9448038" y="5254230"/>
            <a:ext cx="177891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Cells / media / assays</a:t>
            </a:r>
          </a:p>
        </p:txBody>
      </p:sp>
      <p:sp>
        <p:nvSpPr>
          <p:cNvPr id="29" name="Figure 4 label 28">
            <a:extLst xmlns:a="http://schemas.openxmlformats.org/drawingml/2006/main">
              <a:ext uri="{FF2B5EF4-FFF2-40B4-BE49-F238E27FC236}">
                <a16:creationId xmlns:a16="http://schemas.microsoft.com/office/drawing/2014/main" id="{B32FC4CE-6332-4B53-B217-E0B8C436F71D}"/>
              </a:ext>
            </a:extLst>
          </p:cNvPr>
          <p:cNvSpPr>
            <a:spLocks xmlns:a="http://schemas.openxmlformats.org/drawingml/2006/main" noGrp="1"/>
          </p:cNvSpPr>
          <p:nvPr/>
        </p:nvSpPr>
        <p:spPr>
          <a:xfrm xmlns:a="http://schemas.openxmlformats.org/drawingml/2006/main" rot="0">
            <a:off x="9448038" y="5547948"/>
            <a:ext cx="18271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Plates / liquid handling</a:t>
            </a:r>
          </a:p>
        </p:txBody>
      </p:sp>
      <p:sp>
        <p:nvSpPr>
          <p:cNvPr id="30" name="Figure 4 label 29">
            <a:extLst xmlns:a="http://schemas.openxmlformats.org/drawingml/2006/main">
              <a:ext uri="{FF2B5EF4-FFF2-40B4-BE49-F238E27FC236}">
                <a16:creationId xmlns:a16="http://schemas.microsoft.com/office/drawing/2014/main" id="{AD1A0DDD-0EB2-436E-9DA8-CC141273CF0F}"/>
              </a:ext>
            </a:extLst>
          </p:cNvPr>
          <p:cNvSpPr>
            <a:spLocks xmlns:a="http://schemas.openxmlformats.org/drawingml/2006/main" noGrp="1"/>
          </p:cNvSpPr>
          <p:nvPr/>
        </p:nvSpPr>
        <p:spPr>
          <a:xfrm xmlns:a="http://schemas.openxmlformats.org/drawingml/2006/main" rot="0">
            <a:off x="9448038" y="5841666"/>
            <a:ext cx="198905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High-throughput imaging</a:t>
            </a:r>
          </a:p>
        </p:txBody>
      </p:sp>
      <p:sp>
        <p:nvSpPr>
          <p:cNvPr id="31" name="Figure 4 label 30">
            <a:extLst xmlns:a="http://schemas.openxmlformats.org/drawingml/2006/main">
              <a:ext uri="{FF2B5EF4-FFF2-40B4-BE49-F238E27FC236}">
                <a16:creationId xmlns:a16="http://schemas.microsoft.com/office/drawing/2014/main" id="{A9DBABE3-64E1-4A38-89F2-EB0ECBACA429}"/>
              </a:ext>
            </a:extLst>
          </p:cNvPr>
          <p:cNvSpPr>
            <a:spLocks xmlns:a="http://schemas.openxmlformats.org/drawingml/2006/main" noGrp="1"/>
          </p:cNvSpPr>
          <p:nvPr/>
        </p:nvSpPr>
        <p:spPr>
          <a:xfrm xmlns:a="http://schemas.openxmlformats.org/drawingml/2006/main" rot="0">
            <a:off x="9959038" y="6998393"/>
            <a:ext cx="120456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Create feedback</a:t>
            </a:r>
          </a:p>
        </p:txBody>
      </p:sp>
      <p:sp>
        <p:nvSpPr>
          <p:cNvPr id="32" name="Figure 4 label 31">
            <a:extLst xmlns:a="http://schemas.openxmlformats.org/drawingml/2006/main">
              <a:ext uri="{FF2B5EF4-FFF2-40B4-BE49-F238E27FC236}">
                <a16:creationId xmlns:a16="http://schemas.microsoft.com/office/drawing/2014/main" id="{AC666BBD-30EC-4DDE-894C-B17CC273F8BD}"/>
              </a:ext>
            </a:extLst>
          </p:cNvPr>
          <p:cNvSpPr>
            <a:spLocks xmlns:a="http://schemas.openxmlformats.org/drawingml/2006/main" noGrp="1"/>
          </p:cNvSpPr>
          <p:nvPr/>
        </p:nvSpPr>
        <p:spPr>
          <a:xfrm xmlns:a="http://schemas.openxmlformats.org/drawingml/2006/main" rot="0">
            <a:off x="12319635"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275" b="0">
                <a:solidFill>
                  <a:srgbClr val="657B88"/>
                </a:solidFill>
                <a:latin typeface="Arial Unicode MS"/>
                <a:ea typeface="Arial Unicode MS"/>
                <a:cs typeface="Arial Unicode MS"/>
              </a:defRPr>
            </a:pPr>
            <a:r>
              <a:rPr sz="1275" b="0">
                <a:solidFill>
                  <a:srgbClr val="657B88"/>
                </a:solidFill>
                <a:latin typeface="Arial Unicode MS"/>
                <a:ea typeface="Arial Unicode MS"/>
                <a:cs typeface="Arial Unicode MS"/>
              </a:rPr>
              <a:t>STAGE 4</a:t>
            </a:r>
          </a:p>
        </p:txBody>
      </p:sp>
      <p:sp>
        <p:nvSpPr>
          <p:cNvPr id="33" name="Figure 4 label 32">
            <a:extLst xmlns:a="http://schemas.openxmlformats.org/drawingml/2006/main">
              <a:ext uri="{FF2B5EF4-FFF2-40B4-BE49-F238E27FC236}">
                <a16:creationId xmlns:a16="http://schemas.microsoft.com/office/drawing/2014/main" id="{205C6F7F-5F04-4D86-BC88-8F2A5464A2CF}"/>
              </a:ext>
            </a:extLst>
          </p:cNvPr>
          <p:cNvSpPr>
            <a:spLocks xmlns:a="http://schemas.openxmlformats.org/drawingml/2006/main" noGrp="1"/>
          </p:cNvSpPr>
          <p:nvPr/>
        </p:nvSpPr>
        <p:spPr>
          <a:xfrm xmlns:a="http://schemas.openxmlformats.org/drawingml/2006/main" rot="0">
            <a:off x="12447001" y="3439540"/>
            <a:ext cx="186134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750" b="1">
                <a:solidFill>
                  <a:srgbClr val="263B49"/>
                </a:solidFill>
                <a:latin typeface="Arial Unicode MS"/>
                <a:ea typeface="Arial Unicode MS"/>
                <a:cs typeface="Arial Unicode MS"/>
              </a:defRPr>
            </a:pPr>
            <a:r>
              <a:rPr sz="1750" b="1">
                <a:solidFill>
                  <a:srgbClr val="263B49"/>
                </a:solidFill>
                <a:latin typeface="Arial Unicode MS"/>
                <a:ea typeface="Arial Unicode MS"/>
                <a:cs typeface="Arial Unicode MS"/>
              </a:rPr>
              <a:t>Clinical validation</a:t>
            </a:r>
          </a:p>
        </p:txBody>
      </p:sp>
      <p:sp>
        <p:nvSpPr>
          <p:cNvPr id="34" name="Figure 4 label 33">
            <a:extLst xmlns:a="http://schemas.openxmlformats.org/drawingml/2006/main">
              <a:ext uri="{FF2B5EF4-FFF2-40B4-BE49-F238E27FC236}">
                <a16:creationId xmlns:a16="http://schemas.microsoft.com/office/drawing/2014/main" id="{9B090630-2A86-47C5-B178-E0AEB016B3E0}"/>
              </a:ext>
            </a:extLst>
          </p:cNvPr>
          <p:cNvSpPr>
            <a:spLocks xmlns:a="http://schemas.openxmlformats.org/drawingml/2006/main" noGrp="1"/>
          </p:cNvSpPr>
          <p:nvPr/>
        </p:nvSpPr>
        <p:spPr>
          <a:xfrm xmlns:a="http://schemas.openxmlformats.org/drawingml/2006/main" rot="0">
            <a:off x="12264390" y="5252036"/>
            <a:ext cx="185541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Sequencing / IVD R&amp;D</a:t>
            </a:r>
          </a:p>
        </p:txBody>
      </p:sp>
      <p:sp>
        <p:nvSpPr>
          <p:cNvPr id="35" name="Figure 4 label 34">
            <a:extLst xmlns:a="http://schemas.openxmlformats.org/drawingml/2006/main">
              <a:ext uri="{FF2B5EF4-FFF2-40B4-BE49-F238E27FC236}">
                <a16:creationId xmlns:a16="http://schemas.microsoft.com/office/drawing/2014/main" id="{1B749329-E05B-4A52-9779-6F5865334C52}"/>
              </a:ext>
            </a:extLst>
          </p:cNvPr>
          <p:cNvSpPr>
            <a:spLocks xmlns:a="http://schemas.openxmlformats.org/drawingml/2006/main" noGrp="1"/>
          </p:cNvSpPr>
          <p:nvPr/>
        </p:nvSpPr>
        <p:spPr>
          <a:xfrm xmlns:a="http://schemas.openxmlformats.org/drawingml/2006/main" rot="0">
            <a:off x="12264390" y="5550142"/>
            <a:ext cx="196033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Clinical sample handling</a:t>
            </a:r>
          </a:p>
        </p:txBody>
      </p:sp>
      <p:sp>
        <p:nvSpPr>
          <p:cNvPr id="36" name="Figure 4 label 35">
            <a:extLst xmlns:a="http://schemas.openxmlformats.org/drawingml/2006/main">
              <a:ext uri="{FF2B5EF4-FFF2-40B4-BE49-F238E27FC236}">
                <a16:creationId xmlns:a16="http://schemas.microsoft.com/office/drawing/2014/main" id="{0680F6D7-F1C9-4CBD-850A-52BE5E50E01E}"/>
              </a:ext>
            </a:extLst>
          </p:cNvPr>
          <p:cNvSpPr>
            <a:spLocks xmlns:a="http://schemas.openxmlformats.org/drawingml/2006/main" noGrp="1"/>
          </p:cNvSpPr>
          <p:nvPr/>
        </p:nvSpPr>
        <p:spPr>
          <a:xfrm xmlns:a="http://schemas.openxmlformats.org/drawingml/2006/main" rot="0">
            <a:off x="12264390" y="5843860"/>
            <a:ext cx="149346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Automated testing</a:t>
            </a:r>
          </a:p>
        </p:txBody>
      </p:sp>
      <p:sp>
        <p:nvSpPr>
          <p:cNvPr id="37" name="Figure 4 label 36">
            <a:extLst xmlns:a="http://schemas.openxmlformats.org/drawingml/2006/main">
              <a:ext uri="{FF2B5EF4-FFF2-40B4-BE49-F238E27FC236}">
                <a16:creationId xmlns:a16="http://schemas.microsoft.com/office/drawing/2014/main" id="{B7A389B9-3F41-42D0-86D7-254105D6241E}"/>
              </a:ext>
            </a:extLst>
          </p:cNvPr>
          <p:cNvSpPr>
            <a:spLocks xmlns:a="http://schemas.openxmlformats.org/drawingml/2006/main" noGrp="1"/>
          </p:cNvSpPr>
          <p:nvPr/>
        </p:nvSpPr>
        <p:spPr>
          <a:xfrm xmlns:a="http://schemas.openxmlformats.org/drawingml/2006/main" rot="0">
            <a:off x="12863496" y="6997580"/>
            <a:ext cx="102835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Validate utility</a:t>
            </a:r>
          </a:p>
        </p:txBody>
      </p:sp>
      <p:sp>
        <p:nvSpPr>
          <p:cNvPr id="38" name="Figure 4 label 37">
            <a:extLst xmlns:a="http://schemas.openxmlformats.org/drawingml/2006/main">
              <a:ext uri="{FF2B5EF4-FFF2-40B4-BE49-F238E27FC236}">
                <a16:creationId xmlns:a16="http://schemas.microsoft.com/office/drawing/2014/main" id="{0457A87B-0D21-4301-A134-DEC8181BD873}"/>
              </a:ext>
            </a:extLst>
          </p:cNvPr>
          <p:cNvSpPr>
            <a:spLocks xmlns:a="http://schemas.openxmlformats.org/drawingml/2006/main" noGrp="1"/>
          </p:cNvSpPr>
          <p:nvPr/>
        </p:nvSpPr>
        <p:spPr>
          <a:xfrm xmlns:a="http://schemas.openxmlformats.org/drawingml/2006/main" rot="0">
            <a:off x="15135987"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275" b="0">
                <a:solidFill>
                  <a:srgbClr val="657B88"/>
                </a:solidFill>
                <a:latin typeface="Arial Unicode MS"/>
                <a:ea typeface="Arial Unicode MS"/>
                <a:cs typeface="Arial Unicode MS"/>
              </a:defRPr>
            </a:pPr>
            <a:r>
              <a:rPr sz="1275" b="0">
                <a:solidFill>
                  <a:srgbClr val="657B88"/>
                </a:solidFill>
                <a:latin typeface="Arial Unicode MS"/>
                <a:ea typeface="Arial Unicode MS"/>
                <a:cs typeface="Arial Unicode MS"/>
              </a:rPr>
              <a:t>STAGE 5</a:t>
            </a:r>
          </a:p>
        </p:txBody>
      </p:sp>
      <p:sp>
        <p:nvSpPr>
          <p:cNvPr id="39" name="Figure 4 label 38">
            <a:extLst xmlns:a="http://schemas.openxmlformats.org/drawingml/2006/main">
              <a:ext uri="{FF2B5EF4-FFF2-40B4-BE49-F238E27FC236}">
                <a16:creationId xmlns:a16="http://schemas.microsoft.com/office/drawing/2014/main" id="{BB3A81CA-EACB-4F82-BF63-54ECE1624596}"/>
              </a:ext>
            </a:extLst>
          </p:cNvPr>
          <p:cNvSpPr>
            <a:spLocks xmlns:a="http://schemas.openxmlformats.org/drawingml/2006/main" noGrp="1"/>
          </p:cNvSpPr>
          <p:nvPr/>
        </p:nvSpPr>
        <p:spPr>
          <a:xfrm xmlns:a="http://schemas.openxmlformats.org/drawingml/2006/main" rot="0">
            <a:off x="15481001" y="3319286"/>
            <a:ext cx="155267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1750" b="1">
                <a:solidFill>
                  <a:srgbClr val="263B49"/>
                </a:solidFill>
                <a:latin typeface="Arial Unicode MS"/>
                <a:ea typeface="Arial Unicode MS"/>
                <a:cs typeface="Arial Unicode MS"/>
              </a:defRPr>
            </a:pPr>
            <a:r>
              <a:rPr sz="1750" b="1">
                <a:solidFill>
                  <a:srgbClr val="263B49"/>
                </a:solidFill>
                <a:latin typeface="Arial Unicode MS"/>
                <a:ea typeface="Arial Unicode MS"/>
                <a:cs typeface="Arial Unicode MS"/>
              </a:rPr>
              <a:t>Manufacturing</a:t>
            </a:r>
          </a:p>
        </p:txBody>
      </p:sp>
      <p:sp>
        <p:nvSpPr>
          <p:cNvPr id="40" name="Figure 4 label 39">
            <a:extLst xmlns:a="http://schemas.openxmlformats.org/drawingml/2006/main">
              <a:ext uri="{FF2B5EF4-FFF2-40B4-BE49-F238E27FC236}">
                <a16:creationId xmlns:a16="http://schemas.microsoft.com/office/drawing/2014/main" id="{643BAB61-7F8E-4E7E-86D5-B6E7BD255600}"/>
              </a:ext>
            </a:extLst>
          </p:cNvPr>
          <p:cNvSpPr>
            <a:spLocks xmlns:a="http://schemas.openxmlformats.org/drawingml/2006/main" noGrp="1"/>
          </p:cNvSpPr>
          <p:nvPr/>
        </p:nvSpPr>
        <p:spPr>
          <a:xfrm xmlns:a="http://schemas.openxmlformats.org/drawingml/2006/main" rot="0">
            <a:off x="15505934" y="3560107"/>
            <a:ext cx="1502817"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1750" b="1">
                <a:solidFill>
                  <a:srgbClr val="263B49"/>
                </a:solidFill>
                <a:latin typeface="Arial Unicode MS"/>
                <a:ea typeface="Arial Unicode MS"/>
                <a:cs typeface="Arial Unicode MS"/>
              </a:defRPr>
            </a:pPr>
            <a:r>
              <a:rPr sz="1750" b="1">
                <a:solidFill>
                  <a:srgbClr val="263B49"/>
                </a:solidFill>
                <a:latin typeface="Arial Unicode MS"/>
                <a:ea typeface="Arial Unicode MS"/>
                <a:cs typeface="Arial Unicode MS"/>
              </a:rPr>
              <a:t>(if successful)</a:t>
            </a:r>
          </a:p>
        </p:txBody>
      </p:sp>
      <p:sp>
        <p:nvSpPr>
          <p:cNvPr id="41" name="Figure 4 label 40">
            <a:extLst xmlns:a="http://schemas.openxmlformats.org/drawingml/2006/main">
              <a:ext uri="{FF2B5EF4-FFF2-40B4-BE49-F238E27FC236}">
                <a16:creationId xmlns:a16="http://schemas.microsoft.com/office/drawing/2014/main" id="{418ADA10-CFB6-4A55-88A2-82C1108A7A71}"/>
              </a:ext>
            </a:extLst>
          </p:cNvPr>
          <p:cNvSpPr>
            <a:spLocks xmlns:a="http://schemas.openxmlformats.org/drawingml/2006/main" noGrp="1"/>
          </p:cNvSpPr>
          <p:nvPr/>
        </p:nvSpPr>
        <p:spPr>
          <a:xfrm xmlns:a="http://schemas.openxmlformats.org/drawingml/2006/main" rot="0">
            <a:off x="15080742" y="5252840"/>
            <a:ext cx="117868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Media / resins</a:t>
            </a:r>
          </a:p>
        </p:txBody>
      </p:sp>
      <p:sp>
        <p:nvSpPr>
          <p:cNvPr id="42" name="Figure 4 label 41">
            <a:extLst xmlns:a="http://schemas.openxmlformats.org/drawingml/2006/main">
              <a:ext uri="{FF2B5EF4-FFF2-40B4-BE49-F238E27FC236}">
                <a16:creationId xmlns:a16="http://schemas.microsoft.com/office/drawing/2014/main" id="{AB75577A-14E4-4FD9-9725-399B60BA6BB2}"/>
              </a:ext>
            </a:extLst>
          </p:cNvPr>
          <p:cNvSpPr>
            <a:spLocks xmlns:a="http://schemas.openxmlformats.org/drawingml/2006/main" noGrp="1"/>
          </p:cNvSpPr>
          <p:nvPr/>
        </p:nvSpPr>
        <p:spPr>
          <a:xfrm xmlns:a="http://schemas.openxmlformats.org/drawingml/2006/main" rot="0">
            <a:off x="15080742" y="5544709"/>
            <a:ext cx="216021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Filtration / process labware</a:t>
            </a:r>
          </a:p>
        </p:txBody>
      </p:sp>
      <p:sp>
        <p:nvSpPr>
          <p:cNvPr id="43" name="Figure 4 label 42">
            <a:extLst xmlns:a="http://schemas.openxmlformats.org/drawingml/2006/main">
              <a:ext uri="{FF2B5EF4-FFF2-40B4-BE49-F238E27FC236}">
                <a16:creationId xmlns:a16="http://schemas.microsoft.com/office/drawing/2014/main" id="{44B550AE-147F-4F9A-8A76-6F21C398AC8F}"/>
              </a:ext>
            </a:extLst>
          </p:cNvPr>
          <p:cNvSpPr>
            <a:spLocks xmlns:a="http://schemas.openxmlformats.org/drawingml/2006/main" noGrp="1"/>
          </p:cNvSpPr>
          <p:nvPr/>
        </p:nvSpPr>
        <p:spPr>
          <a:xfrm xmlns:a="http://schemas.openxmlformats.org/drawingml/2006/main" rot="0">
            <a:off x="15080742" y="5840967"/>
            <a:ext cx="22081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263B49"/>
                </a:solidFill>
                <a:latin typeface="Arial Unicode MS"/>
                <a:ea typeface="Arial Unicode MS"/>
                <a:cs typeface="Arial Unicode MS"/>
              </a:defRPr>
            </a:defPPr>
          </a:lstStyle>
          <a:p xmlns:a="http://schemas.openxmlformats.org/drawingml/2006/main">
            <a:pPr algn="l">
              <a:lnSpc>
                <a:spcPct val="125000"/>
              </a:lnSpc>
              <a:buNone/>
              <a:defRPr sz="1350" b="0">
                <a:solidFill>
                  <a:srgbClr val="263B49"/>
                </a:solidFill>
                <a:latin typeface="Arial Unicode MS"/>
                <a:ea typeface="Arial Unicode MS"/>
                <a:cs typeface="Arial Unicode MS"/>
              </a:defRPr>
            </a:pPr>
            <a:r>
              <a:rPr sz="1350" b="0">
                <a:solidFill>
                  <a:srgbClr val="263B49"/>
                </a:solidFill>
                <a:latin typeface="Arial Unicode MS"/>
                <a:ea typeface="Arial Unicode MS"/>
                <a:cs typeface="Arial Unicode MS"/>
              </a:rPr>
              <a:t>Single-use bioprocess tools</a:t>
            </a:r>
          </a:p>
        </p:txBody>
      </p:sp>
      <p:sp>
        <p:nvSpPr>
          <p:cNvPr id="44" name="Figure 4 label 43">
            <a:extLst xmlns:a="http://schemas.openxmlformats.org/drawingml/2006/main">
              <a:ext uri="{FF2B5EF4-FFF2-40B4-BE49-F238E27FC236}">
                <a16:creationId xmlns:a16="http://schemas.microsoft.com/office/drawing/2014/main" id="{4C7A68A2-25CC-4B94-8FBB-16C9022AD838}"/>
              </a:ext>
            </a:extLst>
          </p:cNvPr>
          <p:cNvSpPr>
            <a:spLocks xmlns:a="http://schemas.openxmlformats.org/drawingml/2006/main" noGrp="1"/>
          </p:cNvSpPr>
          <p:nvPr/>
        </p:nvSpPr>
        <p:spPr>
          <a:xfrm xmlns:a="http://schemas.openxmlformats.org/drawingml/2006/main" rot="0">
            <a:off x="15654622" y="6997580"/>
            <a:ext cx="107880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Produce drugs</a:t>
            </a:r>
          </a:p>
        </p:txBody>
      </p:sp>
      <p:sp>
        <p:nvSpPr>
          <p:cNvPr id="45" name="Figure 4 label 44">
            <a:extLst xmlns:a="http://schemas.openxmlformats.org/drawingml/2006/main">
              <a:ext uri="{FF2B5EF4-FFF2-40B4-BE49-F238E27FC236}">
                <a16:creationId xmlns:a16="http://schemas.microsoft.com/office/drawing/2014/main" id="{EEB40EB7-0179-499E-B163-5A18FD61C004}"/>
              </a:ext>
            </a:extLst>
          </p:cNvPr>
          <p:cNvSpPr>
            <a:spLocks xmlns:a="http://schemas.openxmlformats.org/drawingml/2006/main" noGrp="1"/>
          </p:cNvSpPr>
          <p:nvPr/>
        </p:nvSpPr>
        <p:spPr>
          <a:xfrm xmlns:a="http://schemas.openxmlformats.org/drawingml/2006/main" rot="0">
            <a:off x="5851000" y="2044848"/>
            <a:ext cx="329416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13" b="0">
                <a:solidFill>
                  <a:srgbClr val="49837F"/>
                </a:solidFill>
                <a:latin typeface="Arial Unicode MS"/>
                <a:ea typeface="Arial Unicode MS"/>
                <a:cs typeface="Arial Unicode MS"/>
              </a:defRPr>
            </a:defPPr>
          </a:lstStyle>
          <a:p xmlns:a="http://schemas.openxmlformats.org/drawingml/2006/main">
            <a:pPr algn="ctr">
              <a:lnSpc>
                <a:spcPct val="125000"/>
              </a:lnSpc>
              <a:buNone/>
              <a:defRPr sz="1313" b="0">
                <a:solidFill>
                  <a:srgbClr val="49837F"/>
                </a:solidFill>
                <a:latin typeface="Arial Unicode MS"/>
                <a:ea typeface="Arial Unicode MS"/>
                <a:cs typeface="Arial Unicode MS"/>
              </a:defRPr>
            </a:pPr>
            <a:r>
              <a:rPr sz="1313" b="0">
                <a:solidFill>
                  <a:srgbClr val="49837F"/>
                </a:solidFill>
                <a:latin typeface="Arial Unicode MS"/>
                <a:ea typeface="Arial Unicode MS"/>
                <a:cs typeface="Arial Unicode MS"/>
              </a:rPr>
              <a:t>Experimental feedback → next design cycle</a:t>
            </a:r>
          </a:p>
        </p:txBody>
      </p:sp>
      <p:sp>
        <p:nvSpPr>
          <p:cNvPr id="46" name="Figure 4 label 45">
            <a:extLst xmlns:a="http://schemas.openxmlformats.org/drawingml/2006/main">
              <a:ext uri="{FF2B5EF4-FFF2-40B4-BE49-F238E27FC236}">
                <a16:creationId xmlns:a16="http://schemas.microsoft.com/office/drawing/2014/main" id="{508DD364-2D49-4F1C-91D1-5DBA09AE96BC}"/>
              </a:ext>
            </a:extLst>
          </p:cNvPr>
          <p:cNvSpPr>
            <a:spLocks xmlns:a="http://schemas.openxmlformats.org/drawingml/2006/main" noGrp="1"/>
          </p:cNvSpPr>
          <p:nvPr/>
        </p:nvSpPr>
        <p:spPr>
          <a:xfrm xmlns:a="http://schemas.openxmlformats.org/drawingml/2006/main" rot="0">
            <a:off x="5122143" y="8227834"/>
            <a:ext cx="8043714"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1">
                <a:solidFill>
                  <a:srgbClr val="263B49"/>
                </a:solidFill>
                <a:latin typeface="Arial Unicode MS"/>
                <a:ea typeface="Arial Unicode MS"/>
                <a:cs typeface="Arial Unicode MS"/>
              </a:defRPr>
            </a:pPr>
            <a:r>
              <a:rPr sz="1875" b="1">
                <a:solidFill>
                  <a:srgbClr val="263B49"/>
                </a:solidFill>
                <a:latin typeface="Arial Unicode MS"/>
                <a:ea typeface="Arial Unicode MS"/>
                <a:cs typeface="Arial Unicode MS"/>
              </a:rPr>
              <a:t>The most direct potential uplift comes from building and testing candidates.</a:t>
            </a:r>
          </a:p>
        </p:txBody>
      </p:sp>
    </p:spTree>
    <p:extLst>
      <p:ext uri="{BB962C8B-B14F-4D97-AF65-F5344CB8AC3E}">
        <p14:creationId xmlns:p14="http://schemas.microsoft.com/office/powerpoint/2010/main" val="10415942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4" name="">
            <a:extLst xmlns:a="http://schemas.openxmlformats.org/drawingml/2006/main">
              <a:ext uri="{FF2B5EF4-FFF2-40B4-BE49-F238E27FC236}">
                <a16:creationId xmlns:a16="http://schemas.microsoft.com/office/drawing/2014/main" id="{EFC24C8E-8055-4648-BAFE-F5227B4F9643}"/>
              </a:ext>
            </a:extLst>
          </p:cNvPr>
          <p:cNvPicPr>
            <a:picLocks xmlns:a="http://schemas.openxmlformats.org/drawingml/2006/main" noChangeAspect="1"/>
          </p:cNvPicPr>
          <p:nvPr/>
        </p:nvPicPr>
        <p:blipFill>
          <a:blip xmlns:r="http://schemas.openxmlformats.org/officeDocument/2006/relationships" xmlns:a="http://schemas.openxmlformats.org/drawingml/2006/main" r:embed="Reb4c424f8f9144a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5 label 1">
            <a:extLst xmlns:a="http://schemas.openxmlformats.org/drawingml/2006/main">
              <a:ext uri="{FF2B5EF4-FFF2-40B4-BE49-F238E27FC236}">
                <a16:creationId xmlns:a16="http://schemas.microsoft.com/office/drawing/2014/main" id="{93B0F664-D3B0-4917-A3FC-ACD8072797D2}"/>
              </a:ext>
            </a:extLst>
          </p:cNvPr>
          <p:cNvSpPr>
            <a:spLocks xmlns:a="http://schemas.openxmlformats.org/drawingml/2006/main" noGrp="1"/>
          </p:cNvSpPr>
          <p:nvPr/>
        </p:nvSpPr>
        <p:spPr>
          <a:xfrm xmlns:a="http://schemas.openxmlformats.org/drawingml/2006/main" rot="0">
            <a:off x="26162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Low</a:t>
            </a:r>
          </a:p>
        </p:txBody>
      </p:sp>
      <p:sp>
        <p:nvSpPr>
          <p:cNvPr id="3" name="Figure 5 label 2">
            <a:extLst xmlns:a="http://schemas.openxmlformats.org/drawingml/2006/main">
              <a:ext uri="{FF2B5EF4-FFF2-40B4-BE49-F238E27FC236}">
                <a16:creationId xmlns:a16="http://schemas.microsoft.com/office/drawing/2014/main" id="{46BAB7C0-CEE2-4E0F-94A2-D2BBFB5C41C1}"/>
              </a:ext>
            </a:extLst>
          </p:cNvPr>
          <p:cNvSpPr>
            <a:spLocks xmlns:a="http://schemas.openxmlformats.org/drawingml/2006/main" noGrp="1"/>
          </p:cNvSpPr>
          <p:nvPr/>
        </p:nvSpPr>
        <p:spPr>
          <a:xfrm xmlns:a="http://schemas.openxmlformats.org/drawingml/2006/main" rot="0">
            <a:off x="801176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Medium</a:t>
            </a:r>
          </a:p>
        </p:txBody>
      </p:sp>
      <p:sp>
        <p:nvSpPr>
          <p:cNvPr id="4" name="Figure 5 label 3">
            <a:extLst xmlns:a="http://schemas.openxmlformats.org/drawingml/2006/main">
              <a:ext uri="{FF2B5EF4-FFF2-40B4-BE49-F238E27FC236}">
                <a16:creationId xmlns:a16="http://schemas.microsoft.com/office/drawing/2014/main" id="{7795FA92-966E-4F5E-8D78-0FAFB19B0F0E}"/>
              </a:ext>
            </a:extLst>
          </p:cNvPr>
          <p:cNvSpPr>
            <a:spLocks xmlns:a="http://schemas.openxmlformats.org/drawingml/2006/main" noGrp="1"/>
          </p:cNvSpPr>
          <p:nvPr/>
        </p:nvSpPr>
        <p:spPr>
          <a:xfrm xmlns:a="http://schemas.openxmlformats.org/drawingml/2006/main" rot="0">
            <a:off x="1371418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High</a:t>
            </a:r>
          </a:p>
        </p:txBody>
      </p:sp>
      <p:sp>
        <p:nvSpPr>
          <p:cNvPr id="5" name="Figure 5 label 4">
            <a:extLst xmlns:a="http://schemas.openxmlformats.org/drawingml/2006/main">
              <a:ext uri="{FF2B5EF4-FFF2-40B4-BE49-F238E27FC236}">
                <a16:creationId xmlns:a16="http://schemas.microsoft.com/office/drawing/2014/main" id="{019F0013-C70E-4091-A2FF-A85AA69E85EB}"/>
              </a:ext>
            </a:extLst>
          </p:cNvPr>
          <p:cNvSpPr>
            <a:spLocks xmlns:a="http://schemas.openxmlformats.org/drawingml/2006/main" noGrp="1"/>
          </p:cNvSpPr>
          <p:nvPr/>
        </p:nvSpPr>
        <p:spPr>
          <a:xfrm xmlns:a="http://schemas.openxmlformats.org/drawingml/2006/main" rot="0">
            <a:off x="7276772" y="8291493"/>
            <a:ext cx="22714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Experimental necessity →</a:t>
            </a:r>
          </a:p>
        </p:txBody>
      </p:sp>
      <p:sp>
        <p:nvSpPr>
          <p:cNvPr id="6" name="Figure 5 label 5">
            <a:extLst xmlns:a="http://schemas.openxmlformats.org/drawingml/2006/main">
              <a:ext uri="{FF2B5EF4-FFF2-40B4-BE49-F238E27FC236}">
                <a16:creationId xmlns:a16="http://schemas.microsoft.com/office/drawing/2014/main" id="{7C1E8EEE-A80F-44C4-B115-3D6E8DC30002}"/>
              </a:ext>
            </a:extLst>
          </p:cNvPr>
          <p:cNvSpPr>
            <a:spLocks xmlns:a="http://schemas.openxmlformats.org/drawingml/2006/main" noGrp="1"/>
          </p:cNvSpPr>
          <p:nvPr/>
        </p:nvSpPr>
        <p:spPr>
          <a:xfrm xmlns:a="http://schemas.openxmlformats.org/drawingml/2006/main" rot="0">
            <a:off x="83086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Low</a:t>
            </a:r>
          </a:p>
        </p:txBody>
      </p:sp>
      <p:sp>
        <p:nvSpPr>
          <p:cNvPr id="7" name="Figure 5 label 6">
            <a:extLst xmlns:a="http://schemas.openxmlformats.org/drawingml/2006/main">
              <a:ext uri="{FF2B5EF4-FFF2-40B4-BE49-F238E27FC236}">
                <a16:creationId xmlns:a16="http://schemas.microsoft.com/office/drawing/2014/main" id="{3654B2B9-3FA0-4515-9069-B7DF3634CF8B}"/>
              </a:ext>
            </a:extLst>
          </p:cNvPr>
          <p:cNvSpPr>
            <a:spLocks xmlns:a="http://schemas.openxmlformats.org/drawingml/2006/main" noGrp="1"/>
          </p:cNvSpPr>
          <p:nvPr/>
        </p:nvSpPr>
        <p:spPr>
          <a:xfrm xmlns:a="http://schemas.openxmlformats.org/drawingml/2006/main" rot="0">
            <a:off x="50285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Medium</a:t>
            </a:r>
          </a:p>
        </p:txBody>
      </p:sp>
      <p:sp>
        <p:nvSpPr>
          <p:cNvPr id="8" name="Figure 5 label 7">
            <a:extLst xmlns:a="http://schemas.openxmlformats.org/drawingml/2006/main">
              <a:ext uri="{FF2B5EF4-FFF2-40B4-BE49-F238E27FC236}">
                <a16:creationId xmlns:a16="http://schemas.microsoft.com/office/drawing/2014/main" id="{3E4555CA-DA86-49FF-BDE6-2836A78D7340}"/>
              </a:ext>
            </a:extLst>
          </p:cNvPr>
          <p:cNvSpPr>
            <a:spLocks xmlns:a="http://schemas.openxmlformats.org/drawingml/2006/main" noGrp="1"/>
          </p:cNvSpPr>
          <p:nvPr/>
        </p:nvSpPr>
        <p:spPr>
          <a:xfrm xmlns:a="http://schemas.openxmlformats.org/drawingml/2006/main" rot="0">
            <a:off x="78860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High</a:t>
            </a:r>
          </a:p>
        </p:txBody>
      </p:sp>
      <p:sp>
        <p:nvSpPr>
          <p:cNvPr id="9" name="Figure 5 label 8">
            <a:extLst xmlns:a="http://schemas.openxmlformats.org/drawingml/2006/main">
              <a:ext uri="{FF2B5EF4-FFF2-40B4-BE49-F238E27FC236}">
                <a16:creationId xmlns:a16="http://schemas.microsoft.com/office/drawing/2014/main" id="{2F72FF35-720A-4A4A-9D6C-83BFF970D388}"/>
              </a:ext>
            </a:extLst>
          </p:cNvPr>
          <p:cNvSpPr>
            <a:spLocks xmlns:a="http://schemas.openxmlformats.org/drawingml/2006/main" noGrp="1"/>
          </p:cNvSpPr>
          <p:nvPr/>
        </p:nvSpPr>
        <p:spPr>
          <a:xfrm xmlns:a="http://schemas.openxmlformats.org/drawingml/2006/main" rot="16200000">
            <a:off x="-1479297" y="4918710"/>
            <a:ext cx="373275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Revenue elasticity to experiment volume →</a:t>
            </a:r>
          </a:p>
        </p:txBody>
      </p:sp>
      <p:sp>
        <p:nvSpPr>
          <p:cNvPr id="10" name="Figure 5 label 9">
            <a:extLst xmlns:a="http://schemas.openxmlformats.org/drawingml/2006/main">
              <a:ext uri="{FF2B5EF4-FFF2-40B4-BE49-F238E27FC236}">
                <a16:creationId xmlns:a16="http://schemas.microsoft.com/office/drawing/2014/main" id="{5C445793-4DA8-456D-A179-D749941A3804}"/>
              </a:ext>
            </a:extLst>
          </p:cNvPr>
          <p:cNvSpPr>
            <a:spLocks xmlns:a="http://schemas.openxmlformats.org/drawingml/2006/main" noGrp="1"/>
          </p:cNvSpPr>
          <p:nvPr/>
        </p:nvSpPr>
        <p:spPr>
          <a:xfrm xmlns:a="http://schemas.openxmlformats.org/drawingml/2006/main" rot="0">
            <a:off x="2012455" y="2407644"/>
            <a:ext cx="3468162"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288" b="0">
                <a:solidFill>
                  <a:srgbClr val="657B88"/>
                </a:solidFill>
                <a:latin typeface="Arial Unicode MS"/>
                <a:ea typeface="Arial Unicode MS"/>
                <a:cs typeface="Arial Unicode MS"/>
              </a:defRPr>
            </a:pPr>
            <a:r>
              <a:rPr sz="1288" b="0">
                <a:solidFill>
                  <a:srgbClr val="657B88"/>
                </a:solidFill>
                <a:latin typeface="Arial Unicode MS"/>
                <a:ea typeface="Arial Unicode MS"/>
                <a:cs typeface="Arial Unicode MS"/>
              </a:rPr>
              <a:t>Project expansion and substitution both matter</a:t>
            </a:r>
          </a:p>
        </p:txBody>
      </p:sp>
      <p:sp>
        <p:nvSpPr>
          <p:cNvPr id="11" name="Figure 5 label 10">
            <a:extLst xmlns:a="http://schemas.openxmlformats.org/drawingml/2006/main">
              <a:ext uri="{FF2B5EF4-FFF2-40B4-BE49-F238E27FC236}">
                <a16:creationId xmlns:a16="http://schemas.microsoft.com/office/drawing/2014/main" id="{BC2F645D-8D62-4144-8B2C-380F4FE2D33B}"/>
              </a:ext>
            </a:extLst>
          </p:cNvPr>
          <p:cNvSpPr>
            <a:spLocks xmlns:a="http://schemas.openxmlformats.org/drawingml/2006/main" noGrp="1"/>
          </p:cNvSpPr>
          <p:nvPr/>
        </p:nvSpPr>
        <p:spPr>
          <a:xfrm xmlns:a="http://schemas.openxmlformats.org/drawingml/2006/main" rot="0">
            <a:off x="11880532" y="2274154"/>
            <a:ext cx="130373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High-throughput</a:t>
            </a:r>
          </a:p>
        </p:txBody>
      </p:sp>
      <p:sp>
        <p:nvSpPr>
          <p:cNvPr id="12" name="Figure 5 label 11">
            <a:extLst xmlns:a="http://schemas.openxmlformats.org/drawingml/2006/main">
              <a:ext uri="{FF2B5EF4-FFF2-40B4-BE49-F238E27FC236}">
                <a16:creationId xmlns:a16="http://schemas.microsoft.com/office/drawing/2014/main" id="{2C600FB4-6000-4A88-BDC2-F03DC5B7B987}"/>
              </a:ext>
            </a:extLst>
          </p:cNvPr>
          <p:cNvSpPr>
            <a:spLocks xmlns:a="http://schemas.openxmlformats.org/drawingml/2006/main" noGrp="1"/>
          </p:cNvSpPr>
          <p:nvPr/>
        </p:nvSpPr>
        <p:spPr>
          <a:xfrm xmlns:a="http://schemas.openxmlformats.org/drawingml/2006/main" rot="0">
            <a:off x="11880532" y="2452333"/>
            <a:ext cx="62716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assays</a:t>
            </a:r>
          </a:p>
        </p:txBody>
      </p:sp>
      <p:sp>
        <p:nvSpPr>
          <p:cNvPr id="13" name="Figure 5 label 12">
            <a:extLst xmlns:a="http://schemas.openxmlformats.org/drawingml/2006/main">
              <a:ext uri="{FF2B5EF4-FFF2-40B4-BE49-F238E27FC236}">
                <a16:creationId xmlns:a16="http://schemas.microsoft.com/office/drawing/2014/main" id="{25B9D470-5A6B-4501-9D93-741BBA377C02}"/>
              </a:ext>
            </a:extLst>
          </p:cNvPr>
          <p:cNvSpPr>
            <a:spLocks xmlns:a="http://schemas.openxmlformats.org/drawingml/2006/main" noGrp="1"/>
          </p:cNvSpPr>
          <p:nvPr/>
        </p:nvSpPr>
        <p:spPr>
          <a:xfrm xmlns:a="http://schemas.openxmlformats.org/drawingml/2006/main" rot="0">
            <a:off x="13752695" y="4146375"/>
            <a:ext cx="129406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Enzymes / NGS</a:t>
            </a:r>
          </a:p>
        </p:txBody>
      </p:sp>
      <p:sp>
        <p:nvSpPr>
          <p:cNvPr id="14" name="Figure 5 label 13">
            <a:extLst xmlns:a="http://schemas.openxmlformats.org/drawingml/2006/main">
              <a:ext uri="{FF2B5EF4-FFF2-40B4-BE49-F238E27FC236}">
                <a16:creationId xmlns:a16="http://schemas.microsoft.com/office/drawing/2014/main" id="{65373C56-585B-4839-8D98-F78F45D611EF}"/>
              </a:ext>
            </a:extLst>
          </p:cNvPr>
          <p:cNvSpPr>
            <a:spLocks xmlns:a="http://schemas.openxmlformats.org/drawingml/2006/main" noGrp="1"/>
          </p:cNvSpPr>
          <p:nvPr/>
        </p:nvSpPr>
        <p:spPr>
          <a:xfrm xmlns:a="http://schemas.openxmlformats.org/drawingml/2006/main" rot="0">
            <a:off x="14104588" y="4324554"/>
            <a:ext cx="94223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library prep</a:t>
            </a:r>
          </a:p>
        </p:txBody>
      </p:sp>
      <p:sp>
        <p:nvSpPr>
          <p:cNvPr id="15" name="Figure 5 label 14">
            <a:extLst xmlns:a="http://schemas.openxmlformats.org/drawingml/2006/main">
              <a:ext uri="{FF2B5EF4-FFF2-40B4-BE49-F238E27FC236}">
                <a16:creationId xmlns:a16="http://schemas.microsoft.com/office/drawing/2014/main" id="{E565B598-6910-48BB-8110-D8B2CD101EDE}"/>
              </a:ext>
            </a:extLst>
          </p:cNvPr>
          <p:cNvSpPr>
            <a:spLocks xmlns:a="http://schemas.openxmlformats.org/drawingml/2006/main" noGrp="1"/>
          </p:cNvSpPr>
          <p:nvPr/>
        </p:nvSpPr>
        <p:spPr>
          <a:xfrm xmlns:a="http://schemas.openxmlformats.org/drawingml/2006/main" rot="0">
            <a:off x="10351656" y="3156519"/>
            <a:ext cx="109061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Recombinant</a:t>
            </a:r>
          </a:p>
        </p:txBody>
      </p:sp>
      <p:sp>
        <p:nvSpPr>
          <p:cNvPr id="16" name="Figure 5 label 15">
            <a:extLst xmlns:a="http://schemas.openxmlformats.org/drawingml/2006/main">
              <a:ext uri="{FF2B5EF4-FFF2-40B4-BE49-F238E27FC236}">
                <a16:creationId xmlns:a16="http://schemas.microsoft.com/office/drawing/2014/main" id="{F498B6D0-DEC8-4A8A-BD95-9BAEBD68D795}"/>
              </a:ext>
            </a:extLst>
          </p:cNvPr>
          <p:cNvSpPr>
            <a:spLocks xmlns:a="http://schemas.openxmlformats.org/drawingml/2006/main" noGrp="1"/>
          </p:cNvSpPr>
          <p:nvPr/>
        </p:nvSpPr>
        <p:spPr>
          <a:xfrm xmlns:a="http://schemas.openxmlformats.org/drawingml/2006/main" rot="0">
            <a:off x="10351656" y="3332900"/>
            <a:ext cx="70142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proteins</a:t>
            </a:r>
          </a:p>
        </p:txBody>
      </p:sp>
      <p:sp>
        <p:nvSpPr>
          <p:cNvPr id="17" name="Figure 5 label 16">
            <a:extLst xmlns:a="http://schemas.openxmlformats.org/drawingml/2006/main">
              <a:ext uri="{FF2B5EF4-FFF2-40B4-BE49-F238E27FC236}">
                <a16:creationId xmlns:a16="http://schemas.microsoft.com/office/drawing/2014/main" id="{8F7E4E1B-480F-432E-9A07-CB59283EB677}"/>
              </a:ext>
            </a:extLst>
          </p:cNvPr>
          <p:cNvSpPr>
            <a:spLocks xmlns:a="http://schemas.openxmlformats.org/drawingml/2006/main" noGrp="1"/>
          </p:cNvSpPr>
          <p:nvPr/>
        </p:nvSpPr>
        <p:spPr>
          <a:xfrm xmlns:a="http://schemas.openxmlformats.org/drawingml/2006/main" rot="0">
            <a:off x="8822779" y="2577748"/>
            <a:ext cx="80322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Chemical</a:t>
            </a:r>
          </a:p>
        </p:txBody>
      </p:sp>
      <p:sp>
        <p:nvSpPr>
          <p:cNvPr id="18" name="Figure 5 label 17">
            <a:extLst xmlns:a="http://schemas.openxmlformats.org/drawingml/2006/main">
              <a:ext uri="{FF2B5EF4-FFF2-40B4-BE49-F238E27FC236}">
                <a16:creationId xmlns:a16="http://schemas.microsoft.com/office/drawing/2014/main" id="{F412BDA4-68A0-4EE2-B1E5-DACA15C17066}"/>
              </a:ext>
            </a:extLst>
          </p:cNvPr>
          <p:cNvSpPr>
            <a:spLocks xmlns:a="http://schemas.openxmlformats.org/drawingml/2006/main" noGrp="1"/>
          </p:cNvSpPr>
          <p:nvPr/>
        </p:nvSpPr>
        <p:spPr>
          <a:xfrm xmlns:a="http://schemas.openxmlformats.org/drawingml/2006/main" rot="0">
            <a:off x="8822779" y="2754130"/>
            <a:ext cx="1201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building blocks</a:t>
            </a:r>
          </a:p>
        </p:txBody>
      </p:sp>
      <p:sp>
        <p:nvSpPr>
          <p:cNvPr id="19" name="Figure 5 label 18">
            <a:extLst xmlns:a="http://schemas.openxmlformats.org/drawingml/2006/main">
              <a:ext uri="{FF2B5EF4-FFF2-40B4-BE49-F238E27FC236}">
                <a16:creationId xmlns:a16="http://schemas.microsoft.com/office/drawing/2014/main" id="{71B1A1E7-86D3-4993-BE2A-101745301DBF}"/>
              </a:ext>
            </a:extLst>
          </p:cNvPr>
          <p:cNvSpPr>
            <a:spLocks xmlns:a="http://schemas.openxmlformats.org/drawingml/2006/main" noGrp="1"/>
          </p:cNvSpPr>
          <p:nvPr/>
        </p:nvSpPr>
        <p:spPr>
          <a:xfrm xmlns:a="http://schemas.openxmlformats.org/drawingml/2006/main" rot="0">
            <a:off x="12366993" y="3431696"/>
            <a:ext cx="95160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Automation</a:t>
            </a:r>
          </a:p>
        </p:txBody>
      </p:sp>
      <p:sp>
        <p:nvSpPr>
          <p:cNvPr id="20" name="Figure 5 label 19">
            <a:extLst xmlns:a="http://schemas.openxmlformats.org/drawingml/2006/main">
              <a:ext uri="{FF2B5EF4-FFF2-40B4-BE49-F238E27FC236}">
                <a16:creationId xmlns:a16="http://schemas.microsoft.com/office/drawing/2014/main" id="{23CC4FFA-95D4-45A7-8A63-C6F6439702F5}"/>
              </a:ext>
            </a:extLst>
          </p:cNvPr>
          <p:cNvSpPr>
            <a:spLocks xmlns:a="http://schemas.openxmlformats.org/drawingml/2006/main" noGrp="1"/>
          </p:cNvSpPr>
          <p:nvPr/>
        </p:nvSpPr>
        <p:spPr>
          <a:xfrm xmlns:a="http://schemas.openxmlformats.org/drawingml/2006/main" rot="0">
            <a:off x="12366993" y="3608077"/>
            <a:ext cx="95160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plates / tips</a:t>
            </a:r>
          </a:p>
        </p:txBody>
      </p:sp>
      <p:sp>
        <p:nvSpPr>
          <p:cNvPr id="21" name="Figure 5 label 20">
            <a:extLst xmlns:a="http://schemas.openxmlformats.org/drawingml/2006/main">
              <a:ext uri="{FF2B5EF4-FFF2-40B4-BE49-F238E27FC236}">
                <a16:creationId xmlns:a16="http://schemas.microsoft.com/office/drawing/2014/main" id="{D48CE583-A386-4235-B9AE-F9D140778408}"/>
              </a:ext>
            </a:extLst>
          </p:cNvPr>
          <p:cNvSpPr>
            <a:spLocks xmlns:a="http://schemas.openxmlformats.org/drawingml/2006/main" noGrp="1"/>
          </p:cNvSpPr>
          <p:nvPr/>
        </p:nvSpPr>
        <p:spPr>
          <a:xfrm xmlns:a="http://schemas.openxmlformats.org/drawingml/2006/main" rot="0">
            <a:off x="6043003" y="6073398"/>
            <a:ext cx="69205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Generic</a:t>
            </a:r>
          </a:p>
        </p:txBody>
      </p:sp>
      <p:sp>
        <p:nvSpPr>
          <p:cNvPr id="22" name="Figure 5 label 21">
            <a:extLst xmlns:a="http://schemas.openxmlformats.org/drawingml/2006/main">
              <a:ext uri="{FF2B5EF4-FFF2-40B4-BE49-F238E27FC236}">
                <a16:creationId xmlns:a16="http://schemas.microsoft.com/office/drawing/2014/main" id="{C8BDE99B-3C3D-4CE6-957F-227AC8406389}"/>
              </a:ext>
            </a:extLst>
          </p:cNvPr>
          <p:cNvSpPr>
            <a:spLocks xmlns:a="http://schemas.openxmlformats.org/drawingml/2006/main" noGrp="1"/>
          </p:cNvSpPr>
          <p:nvPr/>
        </p:nvSpPr>
        <p:spPr>
          <a:xfrm xmlns:a="http://schemas.openxmlformats.org/drawingml/2006/main" rot="0">
            <a:off x="6043003" y="6249779"/>
            <a:ext cx="121086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plastic labware</a:t>
            </a:r>
          </a:p>
        </p:txBody>
      </p:sp>
      <p:sp>
        <p:nvSpPr>
          <p:cNvPr id="23" name="Figure 5 label 22">
            <a:extLst xmlns:a="http://schemas.openxmlformats.org/drawingml/2006/main">
              <a:ext uri="{FF2B5EF4-FFF2-40B4-BE49-F238E27FC236}">
                <a16:creationId xmlns:a16="http://schemas.microsoft.com/office/drawing/2014/main" id="{692C4DF2-7F37-471B-8D0B-E11782763FF9}"/>
              </a:ext>
            </a:extLst>
          </p:cNvPr>
          <p:cNvSpPr>
            <a:spLocks xmlns:a="http://schemas.openxmlformats.org/drawingml/2006/main" noGrp="1"/>
          </p:cNvSpPr>
          <p:nvPr/>
        </p:nvSpPr>
        <p:spPr>
          <a:xfrm xmlns:a="http://schemas.openxmlformats.org/drawingml/2006/main" rot="0">
            <a:off x="9517723" y="4724130"/>
            <a:ext cx="82182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Analytical</a:t>
            </a:r>
          </a:p>
        </p:txBody>
      </p:sp>
      <p:sp>
        <p:nvSpPr>
          <p:cNvPr id="24" name="Figure 5 label 23">
            <a:extLst xmlns:a="http://schemas.openxmlformats.org/drawingml/2006/main">
              <a:ext uri="{FF2B5EF4-FFF2-40B4-BE49-F238E27FC236}">
                <a16:creationId xmlns:a16="http://schemas.microsoft.com/office/drawing/2014/main" id="{20825258-4A5F-4B8D-ABB0-724F249186B4}"/>
              </a:ext>
            </a:extLst>
          </p:cNvPr>
          <p:cNvSpPr>
            <a:spLocks xmlns:a="http://schemas.openxmlformats.org/drawingml/2006/main" noGrp="1"/>
          </p:cNvSpPr>
          <p:nvPr/>
        </p:nvSpPr>
        <p:spPr>
          <a:xfrm xmlns:a="http://schemas.openxmlformats.org/drawingml/2006/main" rot="0">
            <a:off x="9517723" y="4902309"/>
            <a:ext cx="72910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columns</a:t>
            </a:r>
          </a:p>
        </p:txBody>
      </p:sp>
      <p:sp>
        <p:nvSpPr>
          <p:cNvPr id="25" name="Figure 5 label 24">
            <a:extLst xmlns:a="http://schemas.openxmlformats.org/drawingml/2006/main">
              <a:ext uri="{FF2B5EF4-FFF2-40B4-BE49-F238E27FC236}">
                <a16:creationId xmlns:a16="http://schemas.microsoft.com/office/drawing/2014/main" id="{6C49D99A-7940-4C7E-AACB-09FF0FDBF545}"/>
              </a:ext>
            </a:extLst>
          </p:cNvPr>
          <p:cNvSpPr>
            <a:spLocks xmlns:a="http://schemas.openxmlformats.org/drawingml/2006/main" noGrp="1"/>
          </p:cNvSpPr>
          <p:nvPr/>
        </p:nvSpPr>
        <p:spPr>
          <a:xfrm xmlns:a="http://schemas.openxmlformats.org/drawingml/2006/main" rot="0">
            <a:off x="11741544" y="5963444"/>
            <a:ext cx="116472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Manufacturing</a:t>
            </a:r>
          </a:p>
        </p:txBody>
      </p:sp>
      <p:sp>
        <p:nvSpPr>
          <p:cNvPr id="26" name="Figure 5 label 25">
            <a:extLst xmlns:a="http://schemas.openxmlformats.org/drawingml/2006/main">
              <a:ext uri="{FF2B5EF4-FFF2-40B4-BE49-F238E27FC236}">
                <a16:creationId xmlns:a16="http://schemas.microsoft.com/office/drawing/2014/main" id="{E98AB1DE-A2E1-4648-AA7C-8C4FC4CB6BD4}"/>
              </a:ext>
            </a:extLst>
          </p:cNvPr>
          <p:cNvSpPr>
            <a:spLocks xmlns:a="http://schemas.openxmlformats.org/drawingml/2006/main" noGrp="1"/>
          </p:cNvSpPr>
          <p:nvPr/>
        </p:nvSpPr>
        <p:spPr>
          <a:xfrm xmlns:a="http://schemas.openxmlformats.org/drawingml/2006/main" rot="0">
            <a:off x="11741544" y="6141622"/>
            <a:ext cx="55304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resins</a:t>
            </a:r>
          </a:p>
        </p:txBody>
      </p:sp>
      <p:sp>
        <p:nvSpPr>
          <p:cNvPr id="27" name="Figure 5 label 26">
            <a:extLst xmlns:a="http://schemas.openxmlformats.org/drawingml/2006/main">
              <a:ext uri="{FF2B5EF4-FFF2-40B4-BE49-F238E27FC236}">
                <a16:creationId xmlns:a16="http://schemas.microsoft.com/office/drawing/2014/main" id="{88EEA055-6361-460D-9BF8-819C884A8B55}"/>
              </a:ext>
            </a:extLst>
          </p:cNvPr>
          <p:cNvSpPr>
            <a:spLocks xmlns:a="http://schemas.openxmlformats.org/drawingml/2006/main" noGrp="1"/>
          </p:cNvSpPr>
          <p:nvPr/>
        </p:nvSpPr>
        <p:spPr>
          <a:xfrm xmlns:a="http://schemas.openxmlformats.org/drawingml/2006/main" rot="0">
            <a:off x="6529464" y="3982168"/>
            <a:ext cx="98896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Sequencing</a:t>
            </a:r>
          </a:p>
        </p:txBody>
      </p:sp>
      <p:sp>
        <p:nvSpPr>
          <p:cNvPr id="28" name="Figure 5 label 27">
            <a:extLst xmlns:a="http://schemas.openxmlformats.org/drawingml/2006/main">
              <a:ext uri="{FF2B5EF4-FFF2-40B4-BE49-F238E27FC236}">
                <a16:creationId xmlns:a16="http://schemas.microsoft.com/office/drawing/2014/main" id="{47F1FB3A-5DE7-4CBA-B748-0288467C72FB}"/>
              </a:ext>
            </a:extLst>
          </p:cNvPr>
          <p:cNvSpPr>
            <a:spLocks xmlns:a="http://schemas.openxmlformats.org/drawingml/2006/main" noGrp="1"/>
          </p:cNvSpPr>
          <p:nvPr/>
        </p:nvSpPr>
        <p:spPr>
          <a:xfrm xmlns:a="http://schemas.openxmlformats.org/drawingml/2006/main" rot="0">
            <a:off x="6529464" y="4160347"/>
            <a:ext cx="46047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tools</a:t>
            </a:r>
          </a:p>
        </p:txBody>
      </p:sp>
      <p:sp>
        <p:nvSpPr>
          <p:cNvPr id="29" name="Figure 5 label 28">
            <a:extLst xmlns:a="http://schemas.openxmlformats.org/drawingml/2006/main">
              <a:ext uri="{FF2B5EF4-FFF2-40B4-BE49-F238E27FC236}">
                <a16:creationId xmlns:a16="http://schemas.microsoft.com/office/drawing/2014/main" id="{DC1B3659-BD4D-4F18-BD9E-A4222DDF2200}"/>
              </a:ext>
            </a:extLst>
          </p:cNvPr>
          <p:cNvSpPr>
            <a:spLocks xmlns:a="http://schemas.openxmlformats.org/drawingml/2006/main" noGrp="1"/>
          </p:cNvSpPr>
          <p:nvPr/>
        </p:nvSpPr>
        <p:spPr>
          <a:xfrm xmlns:a="http://schemas.openxmlformats.org/drawingml/2006/main" rot="0">
            <a:off x="5973509" y="3376661"/>
            <a:ext cx="55334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Liquid</a:t>
            </a:r>
          </a:p>
        </p:txBody>
      </p:sp>
      <p:sp>
        <p:nvSpPr>
          <p:cNvPr id="30" name="Figure 5 label 29">
            <a:extLst xmlns:a="http://schemas.openxmlformats.org/drawingml/2006/main">
              <a:ext uri="{FF2B5EF4-FFF2-40B4-BE49-F238E27FC236}">
                <a16:creationId xmlns:a16="http://schemas.microsoft.com/office/drawing/2014/main" id="{555CCD77-9C00-443D-828A-D29BB1EF23B8}"/>
              </a:ext>
            </a:extLst>
          </p:cNvPr>
          <p:cNvSpPr>
            <a:spLocks xmlns:a="http://schemas.openxmlformats.org/drawingml/2006/main" noGrp="1"/>
          </p:cNvSpPr>
          <p:nvPr/>
        </p:nvSpPr>
        <p:spPr>
          <a:xfrm xmlns:a="http://schemas.openxmlformats.org/drawingml/2006/main" rot="0">
            <a:off x="5973509" y="3553042"/>
            <a:ext cx="74786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handlers</a:t>
            </a:r>
          </a:p>
        </p:txBody>
      </p:sp>
      <p:sp>
        <p:nvSpPr>
          <p:cNvPr id="31" name="Figure 5 label 30">
            <a:extLst xmlns:a="http://schemas.openxmlformats.org/drawingml/2006/main">
              <a:ext uri="{FF2B5EF4-FFF2-40B4-BE49-F238E27FC236}">
                <a16:creationId xmlns:a16="http://schemas.microsoft.com/office/drawing/2014/main" id="{BE37BF4F-2CC3-4BD5-99D7-211EAE1C6007}"/>
              </a:ext>
            </a:extLst>
          </p:cNvPr>
          <p:cNvSpPr>
            <a:spLocks xmlns:a="http://schemas.openxmlformats.org/drawingml/2006/main" noGrp="1"/>
          </p:cNvSpPr>
          <p:nvPr/>
        </p:nvSpPr>
        <p:spPr>
          <a:xfrm xmlns:a="http://schemas.openxmlformats.org/drawingml/2006/main" rot="0">
            <a:off x="991870" y="421920"/>
            <a:ext cx="7253040"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05  Which tools have more demand elasticity?</a:t>
            </a:r>
          </a:p>
        </p:txBody>
      </p:sp>
      <p:sp>
        <p:nvSpPr>
          <p:cNvPr id="32" name="Figure 5 label 31">
            <a:extLst xmlns:a="http://schemas.openxmlformats.org/drawingml/2006/main">
              <a:ext uri="{FF2B5EF4-FFF2-40B4-BE49-F238E27FC236}">
                <a16:creationId xmlns:a16="http://schemas.microsoft.com/office/drawing/2014/main" id="{0694BC3C-F010-47C4-8ED8-C01BF149A0D3}"/>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HYPOTHESIS</a:t>
            </a:r>
          </a:p>
        </p:txBody>
      </p:sp>
      <p:sp>
        <p:nvSpPr>
          <p:cNvPr id="33" name="Figure 5 label 32">
            <a:extLst xmlns:a="http://schemas.openxmlformats.org/drawingml/2006/main">
              <a:ext uri="{FF2B5EF4-FFF2-40B4-BE49-F238E27FC236}">
                <a16:creationId xmlns:a16="http://schemas.microsoft.com/office/drawing/2014/main" id="{39B6105D-0E32-4237-8516-0A6B1295D5CC}"/>
              </a:ext>
            </a:extLst>
          </p:cNvPr>
          <p:cNvSpPr>
            <a:spLocks xmlns:a="http://schemas.openxmlformats.org/drawingml/2006/main" noGrp="1"/>
          </p:cNvSpPr>
          <p:nvPr/>
        </p:nvSpPr>
        <p:spPr>
          <a:xfrm xmlns:a="http://schemas.openxmlformats.org/drawingml/2006/main" rot="0">
            <a:off x="998220" y="1248326"/>
            <a:ext cx="880675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Positions and bubble areas are qualitative research judgments, not measured scores or additive TAMs.</a:t>
            </a:r>
          </a:p>
        </p:txBody>
      </p:sp>
      <p:sp>
        <p:nvSpPr>
          <p:cNvPr id="34" name="Figure 5 label 33">
            <a:extLst xmlns:a="http://schemas.openxmlformats.org/drawingml/2006/main">
              <a:ext uri="{FF2B5EF4-FFF2-40B4-BE49-F238E27FC236}">
                <a16:creationId xmlns:a16="http://schemas.microsoft.com/office/drawing/2014/main" id="{5D1A6C0A-D50F-46FA-9138-CC4337E2EC5E}"/>
              </a:ext>
            </a:extLst>
          </p:cNvPr>
          <p:cNvSpPr>
            <a:spLocks xmlns:a="http://schemas.openxmlformats.org/drawingml/2006/main" noGrp="1"/>
          </p:cNvSpPr>
          <p:nvPr/>
        </p:nvSpPr>
        <p:spPr>
          <a:xfrm xmlns:a="http://schemas.openxmlformats.org/drawingml/2006/main" rot="0">
            <a:off x="999173" y="9255019"/>
            <a:ext cx="762297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Net demand also depends on consumption intensity, prices, project attrition and technical substitution.</a:t>
            </a:r>
          </a:p>
        </p:txBody>
      </p:sp>
      <p:sp>
        <p:nvSpPr>
          <p:cNvPr id="35" name="Figure 5 label 34">
            <a:extLst xmlns:a="http://schemas.openxmlformats.org/drawingml/2006/main">
              <a:ext uri="{FF2B5EF4-FFF2-40B4-BE49-F238E27FC236}">
                <a16:creationId xmlns:a16="http://schemas.microsoft.com/office/drawing/2014/main" id="{F779587E-9EF2-4D13-9246-CA6D0972B7BA}"/>
              </a:ext>
            </a:extLst>
          </p:cNvPr>
          <p:cNvSpPr>
            <a:spLocks xmlns:a="http://schemas.openxmlformats.org/drawingml/2006/main" noGrp="1"/>
          </p:cNvSpPr>
          <p:nvPr/>
        </p:nvSpPr>
        <p:spPr>
          <a:xfrm xmlns:a="http://schemas.openxmlformats.org/drawingml/2006/main" rot="0">
            <a:off x="1000316" y="9675546"/>
            <a:ext cx="6173569"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framework and analyst assumptions. Edit positions and relative areas in data.json.</a:t>
            </a:r>
          </a:p>
        </p:txBody>
      </p:sp>
      <p:sp>
        <p:nvSpPr>
          <p:cNvPr id="36" name="Figure 5 label 35">
            <a:extLst xmlns:a="http://schemas.openxmlformats.org/drawingml/2006/main">
              <a:ext uri="{FF2B5EF4-FFF2-40B4-BE49-F238E27FC236}">
                <a16:creationId xmlns:a16="http://schemas.microsoft.com/office/drawing/2014/main" id="{E562473C-64C8-4AA2-A6BB-2998ADB353E3}"/>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37" name="Figure 5 label 36">
            <a:extLst xmlns:a="http://schemas.openxmlformats.org/drawingml/2006/main">
              <a:ext uri="{FF2B5EF4-FFF2-40B4-BE49-F238E27FC236}">
                <a16:creationId xmlns:a16="http://schemas.microsoft.com/office/drawing/2014/main" id="{286F6427-BD1E-41EE-9E5D-FAE4B253FB30}"/>
              </a:ext>
            </a:extLst>
          </p:cNvPr>
          <p:cNvSpPr>
            <a:spLocks xmlns:a="http://schemas.openxmlformats.org/drawingml/2006/main" noGrp="1"/>
          </p:cNvSpPr>
          <p:nvPr/>
        </p:nvSpPr>
        <p:spPr>
          <a:xfrm xmlns:a="http://schemas.openxmlformats.org/drawingml/2006/main" rot="0">
            <a:off x="15812135" y="3271220"/>
            <a:ext cx="1055142"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375" b="0">
                <a:solidFill>
                  <a:srgbClr val="657B88"/>
                </a:solidFill>
                <a:latin typeface="Arial Unicode MS"/>
                <a:ea typeface="Arial Unicode MS"/>
                <a:cs typeface="Arial Unicode MS"/>
              </a:defRPr>
            </a:pPr>
            <a:r>
              <a:rPr sz="1375" b="0">
                <a:solidFill>
                  <a:srgbClr val="657B88"/>
                </a:solidFill>
                <a:latin typeface="Arial Unicode MS"/>
                <a:ea typeface="Arial Unicode MS"/>
                <a:cs typeface="Arial Unicode MS"/>
              </a:rPr>
              <a:t>Bubble area</a:t>
            </a:r>
          </a:p>
        </p:txBody>
      </p:sp>
      <p:sp>
        <p:nvSpPr>
          <p:cNvPr id="38" name="Figure 5 label 37">
            <a:extLst xmlns:a="http://schemas.openxmlformats.org/drawingml/2006/main">
              <a:ext uri="{FF2B5EF4-FFF2-40B4-BE49-F238E27FC236}">
                <a16:creationId xmlns:a16="http://schemas.microsoft.com/office/drawing/2014/main" id="{330C4919-43F1-48B2-8801-636495DF08C3}"/>
              </a:ext>
            </a:extLst>
          </p:cNvPr>
          <p:cNvSpPr>
            <a:spLocks xmlns:a="http://schemas.openxmlformats.org/drawingml/2006/main" noGrp="1"/>
          </p:cNvSpPr>
          <p:nvPr/>
        </p:nvSpPr>
        <p:spPr>
          <a:xfrm xmlns:a="http://schemas.openxmlformats.org/drawingml/2006/main" rot="0">
            <a:off x="15812325" y="3764919"/>
            <a:ext cx="1611491"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657B88"/>
                </a:solidFill>
                <a:latin typeface="Arial Unicode MS"/>
                <a:ea typeface="Arial Unicode MS"/>
                <a:cs typeface="Arial Unicode MS"/>
              </a:defRPr>
            </a:defPPr>
          </a:lstStyle>
          <a:p xmlns:a="http://schemas.openxmlformats.org/drawingml/2006/main">
            <a:pPr algn="l">
              <a:lnSpc>
                <a:spcPct val="125000"/>
              </a:lnSpc>
              <a:buNone/>
              <a:defRPr sz="1338" b="0">
                <a:solidFill>
                  <a:srgbClr val="657B88"/>
                </a:solidFill>
                <a:latin typeface="Arial Unicode MS"/>
                <a:ea typeface="Arial Unicode MS"/>
                <a:cs typeface="Arial Unicode MS"/>
              </a:defRPr>
            </a:pPr>
            <a:r>
              <a:rPr sz="1338" b="0">
                <a:solidFill>
                  <a:srgbClr val="657B88"/>
                </a:solidFill>
                <a:latin typeface="Arial Unicode MS"/>
                <a:ea typeface="Arial Unicode MS"/>
                <a:cs typeface="Arial Unicode MS"/>
              </a:rPr>
              <a:t>Relative opportunity</a:t>
            </a:r>
          </a:p>
        </p:txBody>
      </p:sp>
      <p:sp>
        <p:nvSpPr>
          <p:cNvPr id="39" name="Figure 5 label 38">
            <a:extLst xmlns:a="http://schemas.openxmlformats.org/drawingml/2006/main">
              <a:ext uri="{FF2B5EF4-FFF2-40B4-BE49-F238E27FC236}">
                <a16:creationId xmlns:a16="http://schemas.microsoft.com/office/drawing/2014/main" id="{9F074162-C29E-456C-A0C9-E1355EDFBBC7}"/>
              </a:ext>
            </a:extLst>
          </p:cNvPr>
          <p:cNvSpPr>
            <a:spLocks xmlns:a="http://schemas.openxmlformats.org/drawingml/2006/main" noGrp="1"/>
          </p:cNvSpPr>
          <p:nvPr/>
        </p:nvSpPr>
        <p:spPr>
          <a:xfrm xmlns:a="http://schemas.openxmlformats.org/drawingml/2006/main" rot="0">
            <a:off x="15812325" y="4007283"/>
            <a:ext cx="1205488"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657B88"/>
                </a:solidFill>
                <a:latin typeface="Arial Unicode MS"/>
                <a:ea typeface="Arial Unicode MS"/>
                <a:cs typeface="Arial Unicode MS"/>
              </a:defRPr>
            </a:defPPr>
          </a:lstStyle>
          <a:p xmlns:a="http://schemas.openxmlformats.org/drawingml/2006/main">
            <a:pPr algn="l">
              <a:lnSpc>
                <a:spcPct val="125000"/>
              </a:lnSpc>
              <a:buNone/>
              <a:defRPr sz="1338" b="0">
                <a:solidFill>
                  <a:srgbClr val="657B88"/>
                </a:solidFill>
                <a:latin typeface="Arial Unicode MS"/>
                <a:ea typeface="Arial Unicode MS"/>
                <a:cs typeface="Arial Unicode MS"/>
              </a:defRPr>
            </a:pPr>
            <a:r>
              <a:rPr sz="1338" b="0">
                <a:solidFill>
                  <a:srgbClr val="657B88"/>
                </a:solidFill>
                <a:latin typeface="Arial Unicode MS"/>
                <a:ea typeface="Arial Unicode MS"/>
                <a:cs typeface="Arial Unicode MS"/>
              </a:rPr>
              <a:t>illustration; not</a:t>
            </a:r>
          </a:p>
        </p:txBody>
      </p:sp>
      <p:sp>
        <p:nvSpPr>
          <p:cNvPr id="40" name="Figure 5 label 39">
            <a:extLst xmlns:a="http://schemas.openxmlformats.org/drawingml/2006/main">
              <a:ext uri="{FF2B5EF4-FFF2-40B4-BE49-F238E27FC236}">
                <a16:creationId xmlns:a16="http://schemas.microsoft.com/office/drawing/2014/main" id="{028D0260-90D7-4441-8653-2235413B4E1D}"/>
              </a:ext>
            </a:extLst>
          </p:cNvPr>
          <p:cNvSpPr>
            <a:spLocks xmlns:a="http://schemas.openxmlformats.org/drawingml/2006/main" noGrp="1"/>
          </p:cNvSpPr>
          <p:nvPr/>
        </p:nvSpPr>
        <p:spPr>
          <a:xfrm xmlns:a="http://schemas.openxmlformats.org/drawingml/2006/main" rot="0">
            <a:off x="15812325" y="4247817"/>
            <a:ext cx="1271419"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657B88"/>
                </a:solidFill>
                <a:latin typeface="Arial Unicode MS"/>
                <a:ea typeface="Arial Unicode MS"/>
                <a:cs typeface="Arial Unicode MS"/>
              </a:defRPr>
            </a:defPPr>
          </a:lstStyle>
          <a:p xmlns:a="http://schemas.openxmlformats.org/drawingml/2006/main">
            <a:pPr algn="l">
              <a:lnSpc>
                <a:spcPct val="125000"/>
              </a:lnSpc>
              <a:buNone/>
              <a:defRPr sz="1338" b="0">
                <a:solidFill>
                  <a:srgbClr val="657B88"/>
                </a:solidFill>
                <a:latin typeface="Arial Unicode MS"/>
                <a:ea typeface="Arial Unicode MS"/>
                <a:cs typeface="Arial Unicode MS"/>
              </a:defRPr>
            </a:pPr>
            <a:r>
              <a:rPr sz="1338" b="0">
                <a:solidFill>
                  <a:srgbClr val="657B88"/>
                </a:solidFill>
                <a:latin typeface="Arial Unicode MS"/>
                <a:ea typeface="Arial Unicode MS"/>
                <a:cs typeface="Arial Unicode MS"/>
              </a:rPr>
              <a:t>measured TAM</a:t>
            </a:r>
          </a:p>
        </p:txBody>
      </p:sp>
      <p:sp>
        <p:nvSpPr>
          <p:cNvPr id="41" name="Figure 5 label 40">
            <a:extLst xmlns:a="http://schemas.openxmlformats.org/drawingml/2006/main">
              <a:ext uri="{FF2B5EF4-FFF2-40B4-BE49-F238E27FC236}">
                <a16:creationId xmlns:a16="http://schemas.microsoft.com/office/drawing/2014/main" id="{277D37F5-CA08-4DAD-8A96-C3396325F3D1}"/>
              </a:ext>
            </a:extLst>
          </p:cNvPr>
          <p:cNvSpPr>
            <a:spLocks xmlns:a="http://schemas.openxmlformats.org/drawingml/2006/main" noGrp="1"/>
          </p:cNvSpPr>
          <p:nvPr/>
        </p:nvSpPr>
        <p:spPr>
          <a:xfrm xmlns:a="http://schemas.openxmlformats.org/drawingml/2006/main" rot="0">
            <a:off x="15812325" y="6254373"/>
            <a:ext cx="1469807"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49837F"/>
                </a:solidFill>
                <a:latin typeface="Arial Unicode MS"/>
                <a:ea typeface="Arial Unicode MS"/>
                <a:cs typeface="Arial Unicode MS"/>
              </a:defRPr>
            </a:defPPr>
          </a:lstStyle>
          <a:p xmlns:a="http://schemas.openxmlformats.org/drawingml/2006/main">
            <a:pPr algn="l">
              <a:lnSpc>
                <a:spcPct val="125000"/>
              </a:lnSpc>
              <a:buNone/>
              <a:defRPr sz="1338" b="0">
                <a:solidFill>
                  <a:srgbClr val="49837F"/>
                </a:solidFill>
                <a:latin typeface="Arial Unicode MS"/>
                <a:ea typeface="Arial Unicode MS"/>
                <a:cs typeface="Arial Unicode MS"/>
              </a:defRPr>
            </a:pPr>
            <a:r>
              <a:rPr sz="1338" b="0">
                <a:solidFill>
                  <a:srgbClr val="49837F"/>
                </a:solidFill>
                <a:latin typeface="Arial Unicode MS"/>
                <a:ea typeface="Arial Unicode MS"/>
                <a:cs typeface="Arial Unicode MS"/>
              </a:rPr>
              <a:t>Potential elasticity</a:t>
            </a:r>
          </a:p>
        </p:txBody>
      </p:sp>
      <p:sp>
        <p:nvSpPr>
          <p:cNvPr id="42" name="Figure 5 label 41">
            <a:extLst xmlns:a="http://schemas.openxmlformats.org/drawingml/2006/main">
              <a:ext uri="{FF2B5EF4-FFF2-40B4-BE49-F238E27FC236}">
                <a16:creationId xmlns:a16="http://schemas.microsoft.com/office/drawing/2014/main" id="{F1183FCE-7E25-4E77-AACC-0868DBAC784A}"/>
              </a:ext>
            </a:extLst>
          </p:cNvPr>
          <p:cNvSpPr>
            <a:spLocks xmlns:a="http://schemas.openxmlformats.org/drawingml/2006/main" noGrp="1"/>
          </p:cNvSpPr>
          <p:nvPr/>
        </p:nvSpPr>
        <p:spPr>
          <a:xfrm xmlns:a="http://schemas.openxmlformats.org/drawingml/2006/main" rot="0">
            <a:off x="15812325" y="6496737"/>
            <a:ext cx="1602413"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49837F"/>
                </a:solidFill>
                <a:latin typeface="Arial Unicode MS"/>
                <a:ea typeface="Arial Unicode MS"/>
                <a:cs typeface="Arial Unicode MS"/>
              </a:defRPr>
            </a:defPPr>
          </a:lstStyle>
          <a:p xmlns:a="http://schemas.openxmlformats.org/drawingml/2006/main">
            <a:pPr algn="l">
              <a:lnSpc>
                <a:spcPct val="125000"/>
              </a:lnSpc>
              <a:buNone/>
              <a:defRPr sz="1338" b="0">
                <a:solidFill>
                  <a:srgbClr val="49837F"/>
                </a:solidFill>
                <a:latin typeface="Arial Unicode MS"/>
                <a:ea typeface="Arial Unicode MS"/>
                <a:cs typeface="Arial Unicode MS"/>
              </a:defRPr>
            </a:pPr>
            <a:r>
              <a:rPr sz="1338" b="0">
                <a:solidFill>
                  <a:srgbClr val="49837F"/>
                </a:solidFill>
                <a:latin typeface="Arial Unicode MS"/>
                <a:ea typeface="Arial Unicode MS"/>
                <a:cs typeface="Arial Unicode MS"/>
              </a:rPr>
              <a:t>needs paid demand</a:t>
            </a:r>
          </a:p>
        </p:txBody>
      </p:sp>
      <p:sp>
        <p:nvSpPr>
          <p:cNvPr id="43" name="Figure 5 label 42">
            <a:extLst xmlns:a="http://schemas.openxmlformats.org/drawingml/2006/main">
              <a:ext uri="{FF2B5EF4-FFF2-40B4-BE49-F238E27FC236}">
                <a16:creationId xmlns:a16="http://schemas.microsoft.com/office/drawing/2014/main" id="{DB518D6B-F2A1-4B79-97A0-2F35EFD89F4D}"/>
              </a:ext>
            </a:extLst>
          </p:cNvPr>
          <p:cNvSpPr>
            <a:spLocks xmlns:a="http://schemas.openxmlformats.org/drawingml/2006/main" noGrp="1"/>
          </p:cNvSpPr>
          <p:nvPr/>
        </p:nvSpPr>
        <p:spPr>
          <a:xfrm xmlns:a="http://schemas.openxmlformats.org/drawingml/2006/main" rot="0">
            <a:off x="15812325" y="6737270"/>
            <a:ext cx="1451203"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49837F"/>
                </a:solidFill>
                <a:latin typeface="Arial Unicode MS"/>
                <a:ea typeface="Arial Unicode MS"/>
                <a:cs typeface="Arial Unicode MS"/>
              </a:defRPr>
            </a:defPPr>
          </a:lstStyle>
          <a:p xmlns:a="http://schemas.openxmlformats.org/drawingml/2006/main">
            <a:pPr algn="l">
              <a:lnSpc>
                <a:spcPct val="125000"/>
              </a:lnSpc>
              <a:buNone/>
              <a:defRPr sz="1338" b="0">
                <a:solidFill>
                  <a:srgbClr val="49837F"/>
                </a:solidFill>
                <a:latin typeface="Arial Unicode MS"/>
                <a:ea typeface="Arial Unicode MS"/>
                <a:cs typeface="Arial Unicode MS"/>
              </a:defRPr>
            </a:pPr>
            <a:r>
              <a:rPr sz="1338" b="0">
                <a:solidFill>
                  <a:srgbClr val="49837F"/>
                </a:solidFill>
                <a:latin typeface="Arial Unicode MS"/>
                <a:ea typeface="Arial Unicode MS"/>
                <a:cs typeface="Arial Unicode MS"/>
              </a:rPr>
              <a:t>and repeat orders</a:t>
            </a:r>
          </a:p>
        </p:txBody>
      </p:sp>
    </p:spTree>
    <p:extLst>
      <p:ext uri="{BB962C8B-B14F-4D97-AF65-F5344CB8AC3E}">
        <p14:creationId xmlns:p14="http://schemas.microsoft.com/office/powerpoint/2010/main" val="4333039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2" name="">
            <a:extLst xmlns:a="http://schemas.openxmlformats.org/drawingml/2006/main">
              <a:ext uri="{FF2B5EF4-FFF2-40B4-BE49-F238E27FC236}">
                <a16:creationId xmlns:a16="http://schemas.microsoft.com/office/drawing/2014/main" id="{4C1BAFCD-1009-4A03-A99C-89C43BB4F56F}"/>
              </a:ext>
            </a:extLst>
          </p:cNvPr>
          <p:cNvPicPr>
            <a:picLocks xmlns:a="http://schemas.openxmlformats.org/drawingml/2006/main" noChangeAspect="1"/>
          </p:cNvPicPr>
          <p:nvPr/>
        </p:nvPicPr>
        <p:blipFill>
          <a:blip xmlns:r="http://schemas.openxmlformats.org/officeDocument/2006/relationships" xmlns:a="http://schemas.openxmlformats.org/drawingml/2006/main" r:embed="R23c2a353f69841b9"/>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6 label 1">
            <a:extLst xmlns:a="http://schemas.openxmlformats.org/drawingml/2006/main">
              <a:ext uri="{FF2B5EF4-FFF2-40B4-BE49-F238E27FC236}">
                <a16:creationId xmlns:a16="http://schemas.microsoft.com/office/drawing/2014/main" id="{6148F864-CEFB-4562-AE8E-4630D1F87F69}"/>
              </a:ext>
            </a:extLst>
          </p:cNvPr>
          <p:cNvSpPr>
            <a:spLocks xmlns:a="http://schemas.openxmlformats.org/drawingml/2006/main" noGrp="1"/>
          </p:cNvSpPr>
          <p:nvPr/>
        </p:nvSpPr>
        <p:spPr>
          <a:xfrm xmlns:a="http://schemas.openxmlformats.org/drawingml/2006/main" rot="0">
            <a:off x="2047400" y="7595447"/>
            <a:ext cx="101337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Traditional</a:t>
            </a:r>
          </a:p>
        </p:txBody>
      </p:sp>
      <p:sp>
        <p:nvSpPr>
          <p:cNvPr id="3" name="Figure 6 label 2">
            <a:extLst xmlns:a="http://schemas.openxmlformats.org/drawingml/2006/main">
              <a:ext uri="{FF2B5EF4-FFF2-40B4-BE49-F238E27FC236}">
                <a16:creationId xmlns:a16="http://schemas.microsoft.com/office/drawing/2014/main" id="{ED648415-FC71-4BFF-8156-084875CBB43C}"/>
              </a:ext>
            </a:extLst>
          </p:cNvPr>
          <p:cNvSpPr>
            <a:spLocks xmlns:a="http://schemas.openxmlformats.org/drawingml/2006/main" noGrp="1"/>
          </p:cNvSpPr>
          <p:nvPr/>
        </p:nvSpPr>
        <p:spPr>
          <a:xfrm xmlns:a="http://schemas.openxmlformats.org/drawingml/2006/main" rot="0">
            <a:off x="4421385" y="7595447"/>
            <a:ext cx="104522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Automated</a:t>
            </a:r>
          </a:p>
        </p:txBody>
      </p:sp>
      <p:sp>
        <p:nvSpPr>
          <p:cNvPr id="4" name="Figure 6 label 3">
            <a:extLst xmlns:a="http://schemas.openxmlformats.org/drawingml/2006/main">
              <a:ext uri="{FF2B5EF4-FFF2-40B4-BE49-F238E27FC236}">
                <a16:creationId xmlns:a16="http://schemas.microsoft.com/office/drawing/2014/main" id="{2CB11139-BE5E-4750-BB69-980C57A07A71}"/>
              </a:ext>
            </a:extLst>
          </p:cNvPr>
          <p:cNvSpPr>
            <a:spLocks xmlns:a="http://schemas.openxmlformats.org/drawingml/2006/main" noGrp="1"/>
          </p:cNvSpPr>
          <p:nvPr/>
        </p:nvSpPr>
        <p:spPr>
          <a:xfrm xmlns:a="http://schemas.openxmlformats.org/drawingml/2006/main" rot="0">
            <a:off x="1257379" y="7368519"/>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0</a:t>
            </a:r>
          </a:p>
        </p:txBody>
      </p:sp>
      <p:sp>
        <p:nvSpPr>
          <p:cNvPr id="5" name="Figure 6 label 4">
            <a:extLst xmlns:a="http://schemas.openxmlformats.org/drawingml/2006/main">
              <a:ext uri="{FF2B5EF4-FFF2-40B4-BE49-F238E27FC236}">
                <a16:creationId xmlns:a16="http://schemas.microsoft.com/office/drawing/2014/main" id="{06E43FF0-9096-41EB-A729-507AA2DCB1C4}"/>
              </a:ext>
            </a:extLst>
          </p:cNvPr>
          <p:cNvSpPr>
            <a:spLocks xmlns:a="http://schemas.openxmlformats.org/drawingml/2006/main" noGrp="1"/>
          </p:cNvSpPr>
          <p:nvPr/>
        </p:nvSpPr>
        <p:spPr>
          <a:xfrm xmlns:a="http://schemas.openxmlformats.org/drawingml/2006/main" rot="0">
            <a:off x="1045448" y="6699864"/>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200</a:t>
            </a:r>
          </a:p>
        </p:txBody>
      </p:sp>
      <p:sp>
        <p:nvSpPr>
          <p:cNvPr id="6" name="Figure 6 label 5">
            <a:extLst xmlns:a="http://schemas.openxmlformats.org/drawingml/2006/main">
              <a:ext uri="{FF2B5EF4-FFF2-40B4-BE49-F238E27FC236}">
                <a16:creationId xmlns:a16="http://schemas.microsoft.com/office/drawing/2014/main" id="{AF982359-A600-4B7C-AA14-25B137CFCF00}"/>
              </a:ext>
            </a:extLst>
          </p:cNvPr>
          <p:cNvSpPr>
            <a:spLocks xmlns:a="http://schemas.openxmlformats.org/drawingml/2006/main" noGrp="1"/>
          </p:cNvSpPr>
          <p:nvPr/>
        </p:nvSpPr>
        <p:spPr>
          <a:xfrm xmlns:a="http://schemas.openxmlformats.org/drawingml/2006/main" rot="0">
            <a:off x="1045448" y="6031210"/>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400</a:t>
            </a:r>
          </a:p>
        </p:txBody>
      </p:sp>
      <p:sp>
        <p:nvSpPr>
          <p:cNvPr id="7" name="Figure 6 label 6">
            <a:extLst xmlns:a="http://schemas.openxmlformats.org/drawingml/2006/main">
              <a:ext uri="{FF2B5EF4-FFF2-40B4-BE49-F238E27FC236}">
                <a16:creationId xmlns:a16="http://schemas.microsoft.com/office/drawing/2014/main" id="{CF957B24-5ACB-4CD9-ABD1-407842A40276}"/>
              </a:ext>
            </a:extLst>
          </p:cNvPr>
          <p:cNvSpPr>
            <a:spLocks xmlns:a="http://schemas.openxmlformats.org/drawingml/2006/main" noGrp="1"/>
          </p:cNvSpPr>
          <p:nvPr/>
        </p:nvSpPr>
        <p:spPr>
          <a:xfrm xmlns:a="http://schemas.openxmlformats.org/drawingml/2006/main" rot="0">
            <a:off x="1045448" y="5362554"/>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600</a:t>
            </a:r>
          </a:p>
        </p:txBody>
      </p:sp>
      <p:sp>
        <p:nvSpPr>
          <p:cNvPr id="8" name="Figure 6 label 7">
            <a:extLst xmlns:a="http://schemas.openxmlformats.org/drawingml/2006/main">
              <a:ext uri="{FF2B5EF4-FFF2-40B4-BE49-F238E27FC236}">
                <a16:creationId xmlns:a16="http://schemas.microsoft.com/office/drawing/2014/main" id="{548AE225-2CAC-4108-9B08-910E620AD3BC}"/>
              </a:ext>
            </a:extLst>
          </p:cNvPr>
          <p:cNvSpPr>
            <a:spLocks xmlns:a="http://schemas.openxmlformats.org/drawingml/2006/main" noGrp="1"/>
          </p:cNvSpPr>
          <p:nvPr/>
        </p:nvSpPr>
        <p:spPr>
          <a:xfrm xmlns:a="http://schemas.openxmlformats.org/drawingml/2006/main" rot="0">
            <a:off x="1045448" y="4693899"/>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800</a:t>
            </a:r>
          </a:p>
        </p:txBody>
      </p:sp>
      <p:sp>
        <p:nvSpPr>
          <p:cNvPr id="9" name="Figure 6 label 8">
            <a:extLst xmlns:a="http://schemas.openxmlformats.org/drawingml/2006/main">
              <a:ext uri="{FF2B5EF4-FFF2-40B4-BE49-F238E27FC236}">
                <a16:creationId xmlns:a16="http://schemas.microsoft.com/office/drawing/2014/main" id="{B4553285-688F-479A-BF62-CE244884717D}"/>
              </a:ext>
            </a:extLst>
          </p:cNvPr>
          <p:cNvSpPr>
            <a:spLocks xmlns:a="http://schemas.openxmlformats.org/drawingml/2006/main" noGrp="1"/>
          </p:cNvSpPr>
          <p:nvPr/>
        </p:nvSpPr>
        <p:spPr>
          <a:xfrm xmlns:a="http://schemas.openxmlformats.org/drawingml/2006/main" rot="0">
            <a:off x="939483" y="4025244"/>
            <a:ext cx="54768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1000</a:t>
            </a:r>
          </a:p>
        </p:txBody>
      </p:sp>
      <p:sp>
        <p:nvSpPr>
          <p:cNvPr id="10" name="Figure 6 label 9">
            <a:extLst xmlns:a="http://schemas.openxmlformats.org/drawingml/2006/main">
              <a:ext uri="{FF2B5EF4-FFF2-40B4-BE49-F238E27FC236}">
                <a16:creationId xmlns:a16="http://schemas.microsoft.com/office/drawing/2014/main" id="{2288E2D6-3A7C-446E-83B6-332616DD6391}"/>
              </a:ext>
            </a:extLst>
          </p:cNvPr>
          <p:cNvSpPr>
            <a:spLocks xmlns:a="http://schemas.openxmlformats.org/drawingml/2006/main" noGrp="1"/>
          </p:cNvSpPr>
          <p:nvPr/>
        </p:nvSpPr>
        <p:spPr>
          <a:xfrm xmlns:a="http://schemas.openxmlformats.org/drawingml/2006/main" rot="0">
            <a:off x="939483" y="3356589"/>
            <a:ext cx="54768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1200</a:t>
            </a:r>
          </a:p>
        </p:txBody>
      </p:sp>
      <p:sp>
        <p:nvSpPr>
          <p:cNvPr id="11" name="Figure 6 label 10">
            <a:extLst xmlns:a="http://schemas.openxmlformats.org/drawingml/2006/main">
              <a:ext uri="{FF2B5EF4-FFF2-40B4-BE49-F238E27FC236}">
                <a16:creationId xmlns:a16="http://schemas.microsoft.com/office/drawing/2014/main" id="{705E460D-FFE0-4C8B-8012-B538A6DF4FEA}"/>
              </a:ext>
            </a:extLst>
          </p:cNvPr>
          <p:cNvSpPr>
            <a:spLocks xmlns:a="http://schemas.openxmlformats.org/drawingml/2006/main" noGrp="1"/>
          </p:cNvSpPr>
          <p:nvPr/>
        </p:nvSpPr>
        <p:spPr>
          <a:xfrm xmlns:a="http://schemas.openxmlformats.org/drawingml/2006/main" rot="16200000">
            <a:off x="-210374" y="5335333"/>
            <a:ext cx="226278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Experiment volume index</a:t>
            </a:r>
          </a:p>
        </p:txBody>
      </p:sp>
      <p:sp>
        <p:nvSpPr>
          <p:cNvPr id="12" name="Figure 6 label 11">
            <a:extLst xmlns:a="http://schemas.openxmlformats.org/drawingml/2006/main">
              <a:ext uri="{FF2B5EF4-FFF2-40B4-BE49-F238E27FC236}">
                <a16:creationId xmlns:a16="http://schemas.microsoft.com/office/drawing/2014/main" id="{E4757F43-CCE5-4FDD-B178-C46291AB8EDB}"/>
              </a:ext>
            </a:extLst>
          </p:cNvPr>
          <p:cNvSpPr>
            <a:spLocks xmlns:a="http://schemas.openxmlformats.org/drawingml/2006/main" noGrp="1"/>
          </p:cNvSpPr>
          <p:nvPr/>
        </p:nvSpPr>
        <p:spPr>
          <a:xfrm xmlns:a="http://schemas.openxmlformats.org/drawingml/2006/main" rot="0">
            <a:off x="2241199" y="6782419"/>
            <a:ext cx="62577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125" b="1">
                <a:solidFill>
                  <a:srgbClr val="263B49"/>
                </a:solidFill>
                <a:latin typeface="Arial Unicode MS"/>
                <a:ea typeface="Arial Unicode MS"/>
                <a:cs typeface="Arial Unicode MS"/>
              </a:defRPr>
            </a:pPr>
            <a:r>
              <a:rPr sz="2125" b="1">
                <a:solidFill>
                  <a:srgbClr val="263B49"/>
                </a:solidFill>
                <a:latin typeface="Arial Unicode MS"/>
                <a:ea typeface="Arial Unicode MS"/>
                <a:cs typeface="Arial Unicode MS"/>
              </a:rPr>
              <a:t>100</a:t>
            </a:r>
          </a:p>
        </p:txBody>
      </p:sp>
      <p:sp>
        <p:nvSpPr>
          <p:cNvPr id="13" name="Figure 6 label 12">
            <a:extLst xmlns:a="http://schemas.openxmlformats.org/drawingml/2006/main">
              <a:ext uri="{FF2B5EF4-FFF2-40B4-BE49-F238E27FC236}">
                <a16:creationId xmlns:a16="http://schemas.microsoft.com/office/drawing/2014/main" id="{A9857CC8-09C6-4FE7-A671-67F6A5A0C974}"/>
              </a:ext>
            </a:extLst>
          </p:cNvPr>
          <p:cNvSpPr>
            <a:spLocks xmlns:a="http://schemas.openxmlformats.org/drawingml/2006/main" noGrp="1"/>
          </p:cNvSpPr>
          <p:nvPr/>
        </p:nvSpPr>
        <p:spPr>
          <a:xfrm xmlns:a="http://schemas.openxmlformats.org/drawingml/2006/main" rot="0">
            <a:off x="4518595" y="3773471"/>
            <a:ext cx="850801"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125" b="1">
                <a:solidFill>
                  <a:srgbClr val="263B49"/>
                </a:solidFill>
                <a:latin typeface="Arial Unicode MS"/>
                <a:ea typeface="Arial Unicode MS"/>
                <a:cs typeface="Arial Unicode MS"/>
              </a:defRPr>
            </a:pPr>
            <a:r>
              <a:rPr sz="2125" b="1">
                <a:solidFill>
                  <a:srgbClr val="263B49"/>
                </a:solidFill>
                <a:latin typeface="Arial Unicode MS"/>
                <a:ea typeface="Arial Unicode MS"/>
                <a:cs typeface="Arial Unicode MS"/>
              </a:rPr>
              <a:t>1,000</a:t>
            </a:r>
          </a:p>
        </p:txBody>
      </p:sp>
      <p:sp>
        <p:nvSpPr>
          <p:cNvPr id="14" name="Figure 6 label 13">
            <a:extLst xmlns:a="http://schemas.openxmlformats.org/drawingml/2006/main">
              <a:ext uri="{FF2B5EF4-FFF2-40B4-BE49-F238E27FC236}">
                <a16:creationId xmlns:a16="http://schemas.microsoft.com/office/drawing/2014/main" id="{2B137948-34D1-44B4-A242-888A7684E868}"/>
              </a:ext>
            </a:extLst>
          </p:cNvPr>
          <p:cNvSpPr>
            <a:spLocks xmlns:a="http://schemas.openxmlformats.org/drawingml/2006/main" noGrp="1"/>
          </p:cNvSpPr>
          <p:nvPr/>
        </p:nvSpPr>
        <p:spPr>
          <a:xfrm xmlns:a="http://schemas.openxmlformats.org/drawingml/2006/main" rot="0">
            <a:off x="2293774" y="2970276"/>
            <a:ext cx="2910532"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000" b="0">
                <a:solidFill>
                  <a:srgbClr val="263B49"/>
                </a:solidFill>
                <a:latin typeface="Arial Unicode MS"/>
                <a:ea typeface="Arial Unicode MS"/>
                <a:cs typeface="Arial Unicode MS"/>
              </a:defRPr>
            </a:defPPr>
          </a:lstStyle>
          <a:p xmlns:a="http://schemas.openxmlformats.org/drawingml/2006/main">
            <a:pPr algn="ctr">
              <a:lnSpc>
                <a:spcPct val="125000"/>
              </a:lnSpc>
              <a:buNone/>
              <a:defRPr sz="2000" b="0">
                <a:solidFill>
                  <a:srgbClr val="263B49"/>
                </a:solidFill>
                <a:latin typeface="Arial Unicode MS"/>
                <a:ea typeface="Arial Unicode MS"/>
                <a:cs typeface="Arial Unicode MS"/>
              </a:defRPr>
            </a:pPr>
            <a:r>
              <a:rPr sz="2000" b="0">
                <a:solidFill>
                  <a:srgbClr val="263B49"/>
                </a:solidFill>
                <a:latin typeface="Arial Unicode MS"/>
                <a:ea typeface="Arial Unicode MS"/>
                <a:cs typeface="Arial Unicode MS"/>
              </a:rPr>
              <a:t>Experiment volume: 10×</a:t>
            </a:r>
          </a:p>
        </p:txBody>
      </p:sp>
      <p:sp>
        <p:nvSpPr>
          <p:cNvPr id="15" name="Figure 6 label 14">
            <a:extLst xmlns:a="http://schemas.openxmlformats.org/drawingml/2006/main">
              <a:ext uri="{FF2B5EF4-FFF2-40B4-BE49-F238E27FC236}">
                <a16:creationId xmlns:a16="http://schemas.microsoft.com/office/drawing/2014/main" id="{C9D51577-CC58-4D19-8BEC-D8C4D084F04A}"/>
              </a:ext>
            </a:extLst>
          </p:cNvPr>
          <p:cNvSpPr>
            <a:spLocks xmlns:a="http://schemas.openxmlformats.org/drawingml/2006/main" noGrp="1"/>
          </p:cNvSpPr>
          <p:nvPr/>
        </p:nvSpPr>
        <p:spPr>
          <a:xfrm xmlns:a="http://schemas.openxmlformats.org/drawingml/2006/main" rot="0">
            <a:off x="8480147" y="7595447"/>
            <a:ext cx="151120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Reagent volume</a:t>
            </a:r>
          </a:p>
        </p:txBody>
      </p:sp>
      <p:sp>
        <p:nvSpPr>
          <p:cNvPr id="16" name="Figure 6 label 15">
            <a:extLst xmlns:a="http://schemas.openxmlformats.org/drawingml/2006/main">
              <a:ext uri="{FF2B5EF4-FFF2-40B4-BE49-F238E27FC236}">
                <a16:creationId xmlns:a16="http://schemas.microsoft.com/office/drawing/2014/main" id="{9D0787B4-7034-4E0A-9DF7-5B40DCDAE877}"/>
              </a:ext>
            </a:extLst>
          </p:cNvPr>
          <p:cNvSpPr>
            <a:spLocks xmlns:a="http://schemas.openxmlformats.org/drawingml/2006/main" noGrp="1"/>
          </p:cNvSpPr>
          <p:nvPr/>
        </p:nvSpPr>
        <p:spPr>
          <a:xfrm xmlns:a="http://schemas.openxmlformats.org/drawingml/2006/main" rot="0">
            <a:off x="11714426" y="7595447"/>
            <a:ext cx="107706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Plate count</a:t>
            </a:r>
          </a:p>
        </p:txBody>
      </p:sp>
      <p:sp>
        <p:nvSpPr>
          <p:cNvPr id="17" name="Figure 6 label 16">
            <a:extLst xmlns:a="http://schemas.openxmlformats.org/drawingml/2006/main">
              <a:ext uri="{FF2B5EF4-FFF2-40B4-BE49-F238E27FC236}">
                <a16:creationId xmlns:a16="http://schemas.microsoft.com/office/drawing/2014/main" id="{9CFC0545-5F2A-4D81-80E5-78FB6CF326BF}"/>
              </a:ext>
            </a:extLst>
          </p:cNvPr>
          <p:cNvSpPr>
            <a:spLocks xmlns:a="http://schemas.openxmlformats.org/drawingml/2006/main" noGrp="1"/>
          </p:cNvSpPr>
          <p:nvPr/>
        </p:nvSpPr>
        <p:spPr>
          <a:xfrm xmlns:a="http://schemas.openxmlformats.org/drawingml/2006/main" rot="0">
            <a:off x="14816471" y="7595447"/>
            <a:ext cx="9074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Tip count</a:t>
            </a:r>
          </a:p>
        </p:txBody>
      </p:sp>
      <p:sp>
        <p:nvSpPr>
          <p:cNvPr id="18" name="Figure 6 label 17">
            <a:extLst xmlns:a="http://schemas.openxmlformats.org/drawingml/2006/main">
              <a:ext uri="{FF2B5EF4-FFF2-40B4-BE49-F238E27FC236}">
                <a16:creationId xmlns:a16="http://schemas.microsoft.com/office/drawing/2014/main" id="{79A2C7EB-69D0-4669-834C-5AAD5FA6C45D}"/>
              </a:ext>
            </a:extLst>
          </p:cNvPr>
          <p:cNvSpPr>
            <a:spLocks xmlns:a="http://schemas.openxmlformats.org/drawingml/2006/main" noGrp="1"/>
          </p:cNvSpPr>
          <p:nvPr/>
        </p:nvSpPr>
        <p:spPr>
          <a:xfrm xmlns:a="http://schemas.openxmlformats.org/drawingml/2006/main" rot="0">
            <a:off x="7383860" y="7368519"/>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0</a:t>
            </a:r>
          </a:p>
        </p:txBody>
      </p:sp>
      <p:sp>
        <p:nvSpPr>
          <p:cNvPr id="19" name="Figure 6 label 18">
            <a:extLst xmlns:a="http://schemas.openxmlformats.org/drawingml/2006/main">
              <a:ext uri="{FF2B5EF4-FFF2-40B4-BE49-F238E27FC236}">
                <a16:creationId xmlns:a16="http://schemas.microsoft.com/office/drawing/2014/main" id="{4B3AB033-BB92-4714-B390-C2A11D36D1CD}"/>
              </a:ext>
            </a:extLst>
          </p:cNvPr>
          <p:cNvSpPr>
            <a:spLocks xmlns:a="http://schemas.openxmlformats.org/drawingml/2006/main" noGrp="1"/>
          </p:cNvSpPr>
          <p:nvPr/>
        </p:nvSpPr>
        <p:spPr>
          <a:xfrm xmlns:a="http://schemas.openxmlformats.org/drawingml/2006/main" rot="0">
            <a:off x="7277894" y="6833595"/>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20</a:t>
            </a:r>
          </a:p>
        </p:txBody>
      </p:sp>
      <p:sp>
        <p:nvSpPr>
          <p:cNvPr id="20" name="Figure 6 label 19">
            <a:extLst xmlns:a="http://schemas.openxmlformats.org/drawingml/2006/main">
              <a:ext uri="{FF2B5EF4-FFF2-40B4-BE49-F238E27FC236}">
                <a16:creationId xmlns:a16="http://schemas.microsoft.com/office/drawing/2014/main" id="{8E33D46D-F312-4F50-8294-F14BC13E6A51}"/>
              </a:ext>
            </a:extLst>
          </p:cNvPr>
          <p:cNvSpPr>
            <a:spLocks xmlns:a="http://schemas.openxmlformats.org/drawingml/2006/main" noGrp="1"/>
          </p:cNvSpPr>
          <p:nvPr/>
        </p:nvSpPr>
        <p:spPr>
          <a:xfrm xmlns:a="http://schemas.openxmlformats.org/drawingml/2006/main" rot="0">
            <a:off x="7277894" y="6298671"/>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40</a:t>
            </a:r>
          </a:p>
        </p:txBody>
      </p:sp>
      <p:sp>
        <p:nvSpPr>
          <p:cNvPr id="21" name="Figure 6 label 20">
            <a:extLst xmlns:a="http://schemas.openxmlformats.org/drawingml/2006/main">
              <a:ext uri="{FF2B5EF4-FFF2-40B4-BE49-F238E27FC236}">
                <a16:creationId xmlns:a16="http://schemas.microsoft.com/office/drawing/2014/main" id="{07499E16-79C7-433F-AB10-1FF139D13C47}"/>
              </a:ext>
            </a:extLst>
          </p:cNvPr>
          <p:cNvSpPr>
            <a:spLocks xmlns:a="http://schemas.openxmlformats.org/drawingml/2006/main" noGrp="1"/>
          </p:cNvSpPr>
          <p:nvPr/>
        </p:nvSpPr>
        <p:spPr>
          <a:xfrm xmlns:a="http://schemas.openxmlformats.org/drawingml/2006/main" rot="0">
            <a:off x="7277894" y="5763747"/>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60</a:t>
            </a:r>
          </a:p>
        </p:txBody>
      </p:sp>
      <p:sp>
        <p:nvSpPr>
          <p:cNvPr id="22" name="Figure 6 label 21">
            <a:extLst xmlns:a="http://schemas.openxmlformats.org/drawingml/2006/main">
              <a:ext uri="{FF2B5EF4-FFF2-40B4-BE49-F238E27FC236}">
                <a16:creationId xmlns:a16="http://schemas.microsoft.com/office/drawing/2014/main" id="{B24E48A8-1497-4356-BD64-EF5005C2E0B4}"/>
              </a:ext>
            </a:extLst>
          </p:cNvPr>
          <p:cNvSpPr>
            <a:spLocks xmlns:a="http://schemas.openxmlformats.org/drawingml/2006/main" noGrp="1"/>
          </p:cNvSpPr>
          <p:nvPr/>
        </p:nvSpPr>
        <p:spPr>
          <a:xfrm xmlns:a="http://schemas.openxmlformats.org/drawingml/2006/main" rot="0">
            <a:off x="7277894" y="522882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80</a:t>
            </a:r>
          </a:p>
        </p:txBody>
      </p:sp>
      <p:sp>
        <p:nvSpPr>
          <p:cNvPr id="23" name="Figure 6 label 22">
            <a:extLst xmlns:a="http://schemas.openxmlformats.org/drawingml/2006/main">
              <a:ext uri="{FF2B5EF4-FFF2-40B4-BE49-F238E27FC236}">
                <a16:creationId xmlns:a16="http://schemas.microsoft.com/office/drawing/2014/main" id="{03222D9E-D8C2-418D-AA41-8C351CD8D169}"/>
              </a:ext>
            </a:extLst>
          </p:cNvPr>
          <p:cNvSpPr>
            <a:spLocks xmlns:a="http://schemas.openxmlformats.org/drawingml/2006/main" noGrp="1"/>
          </p:cNvSpPr>
          <p:nvPr/>
        </p:nvSpPr>
        <p:spPr>
          <a:xfrm xmlns:a="http://schemas.openxmlformats.org/drawingml/2006/main" rot="0">
            <a:off x="7171928" y="4693899"/>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100</a:t>
            </a:r>
          </a:p>
        </p:txBody>
      </p:sp>
      <p:sp>
        <p:nvSpPr>
          <p:cNvPr id="24" name="Figure 6 label 23">
            <a:extLst xmlns:a="http://schemas.openxmlformats.org/drawingml/2006/main">
              <a:ext uri="{FF2B5EF4-FFF2-40B4-BE49-F238E27FC236}">
                <a16:creationId xmlns:a16="http://schemas.microsoft.com/office/drawing/2014/main" id="{DC6D331A-CAB4-469D-8183-DD8389716B16}"/>
              </a:ext>
            </a:extLst>
          </p:cNvPr>
          <p:cNvSpPr>
            <a:spLocks xmlns:a="http://schemas.openxmlformats.org/drawingml/2006/main" noGrp="1"/>
          </p:cNvSpPr>
          <p:nvPr/>
        </p:nvSpPr>
        <p:spPr>
          <a:xfrm xmlns:a="http://schemas.openxmlformats.org/drawingml/2006/main" rot="0">
            <a:off x="7171928" y="4158975"/>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120</a:t>
            </a:r>
          </a:p>
        </p:txBody>
      </p:sp>
      <p:sp>
        <p:nvSpPr>
          <p:cNvPr id="25" name="Figure 6 label 24">
            <a:extLst xmlns:a="http://schemas.openxmlformats.org/drawingml/2006/main">
              <a:ext uri="{FF2B5EF4-FFF2-40B4-BE49-F238E27FC236}">
                <a16:creationId xmlns:a16="http://schemas.microsoft.com/office/drawing/2014/main" id="{93A62ABF-4A46-47F9-A0C8-18EBEB663896}"/>
              </a:ext>
            </a:extLst>
          </p:cNvPr>
          <p:cNvSpPr>
            <a:spLocks xmlns:a="http://schemas.openxmlformats.org/drawingml/2006/main" noGrp="1"/>
          </p:cNvSpPr>
          <p:nvPr/>
        </p:nvSpPr>
        <p:spPr>
          <a:xfrm xmlns:a="http://schemas.openxmlformats.org/drawingml/2006/main" rot="0">
            <a:off x="7171928" y="3624051"/>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140</a:t>
            </a:r>
          </a:p>
        </p:txBody>
      </p:sp>
      <p:sp>
        <p:nvSpPr>
          <p:cNvPr id="26" name="Figure 6 label 25">
            <a:extLst xmlns:a="http://schemas.openxmlformats.org/drawingml/2006/main">
              <a:ext uri="{FF2B5EF4-FFF2-40B4-BE49-F238E27FC236}">
                <a16:creationId xmlns:a16="http://schemas.microsoft.com/office/drawing/2014/main" id="{6167564C-1F91-48BA-9D78-14779965D94A}"/>
              </a:ext>
            </a:extLst>
          </p:cNvPr>
          <p:cNvSpPr>
            <a:spLocks xmlns:a="http://schemas.openxmlformats.org/drawingml/2006/main" noGrp="1"/>
          </p:cNvSpPr>
          <p:nvPr/>
        </p:nvSpPr>
        <p:spPr>
          <a:xfrm xmlns:a="http://schemas.openxmlformats.org/drawingml/2006/main" rot="16200000">
            <a:off x="6276092" y="5335333"/>
            <a:ext cx="17546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Consumption index</a:t>
            </a:r>
          </a:p>
        </p:txBody>
      </p:sp>
      <p:sp>
        <p:nvSpPr>
          <p:cNvPr id="27" name="Figure 6 label 26">
            <a:extLst xmlns:a="http://schemas.openxmlformats.org/drawingml/2006/main">
              <a:ext uri="{FF2B5EF4-FFF2-40B4-BE49-F238E27FC236}">
                <a16:creationId xmlns:a16="http://schemas.microsoft.com/office/drawing/2014/main" id="{E760ADCA-E1EF-4BC4-B8B9-6C6074D2DB6A}"/>
              </a:ext>
            </a:extLst>
          </p:cNvPr>
          <p:cNvSpPr>
            <a:spLocks xmlns:a="http://schemas.openxmlformats.org/drawingml/2006/main" noGrp="1"/>
          </p:cNvSpPr>
          <p:nvPr/>
        </p:nvSpPr>
        <p:spPr>
          <a:xfrm xmlns:a="http://schemas.openxmlformats.org/drawingml/2006/main" rot="0">
            <a:off x="9469656" y="5796039"/>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49837F"/>
                </a:solidFill>
                <a:latin typeface="Arial Unicode MS"/>
                <a:ea typeface="Arial Unicode MS"/>
                <a:cs typeface="Arial Unicode MS"/>
              </a:defRPr>
            </a:defPPr>
          </a:lstStyle>
          <a:p xmlns:a="http://schemas.openxmlformats.org/drawingml/2006/main">
            <a:pPr algn="ctr">
              <a:lnSpc>
                <a:spcPct val="125000"/>
              </a:lnSpc>
              <a:buNone/>
              <a:defRPr sz="1875" b="1">
                <a:solidFill>
                  <a:srgbClr val="49837F"/>
                </a:solidFill>
                <a:latin typeface="Arial Unicode MS"/>
                <a:ea typeface="Arial Unicode MS"/>
                <a:cs typeface="Arial Unicode MS"/>
              </a:defRPr>
            </a:pPr>
            <a:r>
              <a:rPr sz="1875" b="1">
                <a:solidFill>
                  <a:srgbClr val="49837F"/>
                </a:solidFill>
                <a:latin typeface="Arial Unicode MS"/>
                <a:ea typeface="Arial Unicode MS"/>
                <a:cs typeface="Arial Unicode MS"/>
              </a:rPr>
              <a:t>50.0</a:t>
            </a:r>
          </a:p>
        </p:txBody>
      </p:sp>
      <p:sp>
        <p:nvSpPr>
          <p:cNvPr id="28" name="Figure 6 label 27">
            <a:extLst xmlns:a="http://schemas.openxmlformats.org/drawingml/2006/main">
              <a:ext uri="{FF2B5EF4-FFF2-40B4-BE49-F238E27FC236}">
                <a16:creationId xmlns:a16="http://schemas.microsoft.com/office/drawing/2014/main" id="{D6498759-CCF7-4373-A600-A3267705BDEB}"/>
              </a:ext>
            </a:extLst>
          </p:cNvPr>
          <p:cNvSpPr>
            <a:spLocks xmlns:a="http://schemas.openxmlformats.org/drawingml/2006/main" noGrp="1"/>
          </p:cNvSpPr>
          <p:nvPr/>
        </p:nvSpPr>
        <p:spPr>
          <a:xfrm xmlns:a="http://schemas.openxmlformats.org/drawingml/2006/main" rot="0">
            <a:off x="12486868" y="5459786"/>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49837F"/>
                </a:solidFill>
                <a:latin typeface="Arial Unicode MS"/>
                <a:ea typeface="Arial Unicode MS"/>
                <a:cs typeface="Arial Unicode MS"/>
              </a:defRPr>
            </a:defPPr>
          </a:lstStyle>
          <a:p xmlns:a="http://schemas.openxmlformats.org/drawingml/2006/main">
            <a:pPr algn="ctr">
              <a:lnSpc>
                <a:spcPct val="125000"/>
              </a:lnSpc>
              <a:buNone/>
              <a:defRPr sz="1875" b="1">
                <a:solidFill>
                  <a:srgbClr val="49837F"/>
                </a:solidFill>
                <a:latin typeface="Arial Unicode MS"/>
                <a:ea typeface="Arial Unicode MS"/>
                <a:cs typeface="Arial Unicode MS"/>
              </a:defRPr>
            </a:pPr>
            <a:r>
              <a:rPr sz="1875" b="1">
                <a:solidFill>
                  <a:srgbClr val="49837F"/>
                </a:solidFill>
                <a:latin typeface="Arial Unicode MS"/>
                <a:ea typeface="Arial Unicode MS"/>
                <a:cs typeface="Arial Unicode MS"/>
              </a:rPr>
              <a:t>62.6</a:t>
            </a:r>
          </a:p>
        </p:txBody>
      </p:sp>
      <p:sp>
        <p:nvSpPr>
          <p:cNvPr id="29" name="Figure 6 label 28">
            <a:extLst xmlns:a="http://schemas.openxmlformats.org/drawingml/2006/main">
              <a:ext uri="{FF2B5EF4-FFF2-40B4-BE49-F238E27FC236}">
                <a16:creationId xmlns:a16="http://schemas.microsoft.com/office/drawing/2014/main" id="{4B057638-CA32-4BB5-A9BA-7B0892D86C33}"/>
              </a:ext>
            </a:extLst>
          </p:cNvPr>
          <p:cNvSpPr>
            <a:spLocks xmlns:a="http://schemas.openxmlformats.org/drawingml/2006/main" noGrp="1"/>
          </p:cNvSpPr>
          <p:nvPr/>
        </p:nvSpPr>
        <p:spPr>
          <a:xfrm xmlns:a="http://schemas.openxmlformats.org/drawingml/2006/main" rot="0">
            <a:off x="15437926" y="4458729"/>
            <a:ext cx="750689"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49837F"/>
                </a:solidFill>
                <a:latin typeface="Arial Unicode MS"/>
                <a:ea typeface="Arial Unicode MS"/>
                <a:cs typeface="Arial Unicode MS"/>
              </a:defRPr>
            </a:defPPr>
          </a:lstStyle>
          <a:p xmlns:a="http://schemas.openxmlformats.org/drawingml/2006/main">
            <a:pPr algn="ctr">
              <a:lnSpc>
                <a:spcPct val="125000"/>
              </a:lnSpc>
              <a:buNone/>
              <a:defRPr sz="1875" b="1">
                <a:solidFill>
                  <a:srgbClr val="49837F"/>
                </a:solidFill>
                <a:latin typeface="Arial Unicode MS"/>
                <a:ea typeface="Arial Unicode MS"/>
                <a:cs typeface="Arial Unicode MS"/>
              </a:defRPr>
            </a:pPr>
            <a:r>
              <a:rPr sz="1875" b="1">
                <a:solidFill>
                  <a:srgbClr val="49837F"/>
                </a:solidFill>
                <a:latin typeface="Arial Unicode MS"/>
                <a:ea typeface="Arial Unicode MS"/>
                <a:cs typeface="Arial Unicode MS"/>
              </a:rPr>
              <a:t>100.0</a:t>
            </a:r>
          </a:p>
        </p:txBody>
      </p:sp>
      <p:sp>
        <p:nvSpPr>
          <p:cNvPr id="30" name="Figure 6 label 29">
            <a:extLst xmlns:a="http://schemas.openxmlformats.org/drawingml/2006/main">
              <a:ext uri="{FF2B5EF4-FFF2-40B4-BE49-F238E27FC236}">
                <a16:creationId xmlns:a16="http://schemas.microsoft.com/office/drawing/2014/main" id="{2A5D9D61-A83B-43C7-A7A2-BE3490D49A31}"/>
              </a:ext>
            </a:extLst>
          </p:cNvPr>
          <p:cNvSpPr>
            <a:spLocks xmlns:a="http://schemas.openxmlformats.org/drawingml/2006/main" noGrp="1"/>
          </p:cNvSpPr>
          <p:nvPr/>
        </p:nvSpPr>
        <p:spPr>
          <a:xfrm xmlns:a="http://schemas.openxmlformats.org/drawingml/2006/main" rot="0">
            <a:off x="10208484" y="2970276"/>
            <a:ext cx="4088954"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000" b="0">
                <a:solidFill>
                  <a:srgbClr val="263B49"/>
                </a:solidFill>
                <a:latin typeface="Arial Unicode MS"/>
                <a:ea typeface="Arial Unicode MS"/>
                <a:cs typeface="Arial Unicode MS"/>
              </a:defRPr>
            </a:defPPr>
          </a:lstStyle>
          <a:p xmlns:a="http://schemas.openxmlformats.org/drawingml/2006/main">
            <a:pPr algn="ctr">
              <a:lnSpc>
                <a:spcPct val="125000"/>
              </a:lnSpc>
              <a:buNone/>
              <a:defRPr sz="2000" b="0">
                <a:solidFill>
                  <a:srgbClr val="263B49"/>
                </a:solidFill>
                <a:latin typeface="Arial Unicode MS"/>
                <a:ea typeface="Arial Unicode MS"/>
                <a:cs typeface="Arial Unicode MS"/>
              </a:defRPr>
            </a:pPr>
            <a:r>
              <a:rPr sz="2000" b="0">
                <a:solidFill>
                  <a:srgbClr val="263B49"/>
                </a:solidFill>
                <a:latin typeface="Arial Unicode MS"/>
                <a:ea typeface="Arial Unicode MS"/>
                <a:cs typeface="Arial Unicode MS"/>
              </a:rPr>
              <a:t>Consumption can fall or remain flat</a:t>
            </a:r>
          </a:p>
        </p:txBody>
      </p:sp>
      <p:sp>
        <p:nvSpPr>
          <p:cNvPr id="31" name="Figure 6 label 30">
            <a:extLst xmlns:a="http://schemas.openxmlformats.org/drawingml/2006/main">
              <a:ext uri="{FF2B5EF4-FFF2-40B4-BE49-F238E27FC236}">
                <a16:creationId xmlns:a16="http://schemas.microsoft.com/office/drawing/2014/main" id="{F27792DF-3182-40CE-B721-A07F809667BF}"/>
              </a:ext>
            </a:extLst>
          </p:cNvPr>
          <p:cNvSpPr>
            <a:spLocks xmlns:a="http://schemas.openxmlformats.org/drawingml/2006/main" noGrp="1"/>
          </p:cNvSpPr>
          <p:nvPr/>
        </p:nvSpPr>
        <p:spPr>
          <a:xfrm xmlns:a="http://schemas.openxmlformats.org/drawingml/2006/main" rot="0">
            <a:off x="13724368" y="3587745"/>
            <a:ext cx="135478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Traditional = 100</a:t>
            </a:r>
          </a:p>
        </p:txBody>
      </p:sp>
      <p:sp>
        <p:nvSpPr>
          <p:cNvPr id="32" name="Figure 6 label 31">
            <a:extLst xmlns:a="http://schemas.openxmlformats.org/drawingml/2006/main">
              <a:ext uri="{FF2B5EF4-FFF2-40B4-BE49-F238E27FC236}">
                <a16:creationId xmlns:a16="http://schemas.microsoft.com/office/drawing/2014/main" id="{F3BD2633-140C-4F5D-95AE-46A8FE3B7987}"/>
              </a:ext>
            </a:extLst>
          </p:cNvPr>
          <p:cNvSpPr>
            <a:spLocks xmlns:a="http://schemas.openxmlformats.org/drawingml/2006/main" noGrp="1"/>
          </p:cNvSpPr>
          <p:nvPr/>
        </p:nvSpPr>
        <p:spPr>
          <a:xfrm xmlns:a="http://schemas.openxmlformats.org/drawingml/2006/main" rot="0">
            <a:off x="15770717" y="3587745"/>
            <a:ext cx="91454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Automated</a:t>
            </a:r>
          </a:p>
        </p:txBody>
      </p:sp>
      <p:sp>
        <p:nvSpPr>
          <p:cNvPr id="33" name="Figure 6 label 32">
            <a:extLst xmlns:a="http://schemas.openxmlformats.org/drawingml/2006/main">
              <a:ext uri="{FF2B5EF4-FFF2-40B4-BE49-F238E27FC236}">
                <a16:creationId xmlns:a16="http://schemas.microsoft.com/office/drawing/2014/main" id="{20742507-3EFB-49AE-A4D1-BA506D862371}"/>
              </a:ext>
            </a:extLst>
          </p:cNvPr>
          <p:cNvSpPr>
            <a:spLocks xmlns:a="http://schemas.openxmlformats.org/drawingml/2006/main" noGrp="1"/>
          </p:cNvSpPr>
          <p:nvPr/>
        </p:nvSpPr>
        <p:spPr>
          <a:xfrm xmlns:a="http://schemas.openxmlformats.org/drawingml/2006/main" rot="0">
            <a:off x="991870" y="422275"/>
            <a:ext cx="8087072"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06  More experiments, less material per experiment</a:t>
            </a:r>
          </a:p>
        </p:txBody>
      </p:sp>
      <p:sp>
        <p:nvSpPr>
          <p:cNvPr id="34" name="Figure 6 label 33">
            <a:extLst xmlns:a="http://schemas.openxmlformats.org/drawingml/2006/main">
              <a:ext uri="{FF2B5EF4-FFF2-40B4-BE49-F238E27FC236}">
                <a16:creationId xmlns:a16="http://schemas.microsoft.com/office/drawing/2014/main" id="{86F8B52C-A9A3-45C4-9EFD-4F306BA92089}"/>
              </a:ext>
            </a:extLst>
          </p:cNvPr>
          <p:cNvSpPr>
            <a:spLocks xmlns:a="http://schemas.openxmlformats.org/drawingml/2006/main" noGrp="1"/>
          </p:cNvSpPr>
          <p:nvPr/>
        </p:nvSpPr>
        <p:spPr>
          <a:xfrm xmlns:a="http://schemas.openxmlformats.org/drawingml/2006/main" rot="0">
            <a:off x="15787788" y="661601"/>
            <a:ext cx="885627"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SCENARIO</a:t>
            </a:r>
          </a:p>
        </p:txBody>
      </p:sp>
      <p:sp>
        <p:nvSpPr>
          <p:cNvPr id="35" name="Figure 6 label 34">
            <a:extLst xmlns:a="http://schemas.openxmlformats.org/drawingml/2006/main">
              <a:ext uri="{FF2B5EF4-FFF2-40B4-BE49-F238E27FC236}">
                <a16:creationId xmlns:a16="http://schemas.microsoft.com/office/drawing/2014/main" id="{DD50E190-7DC5-4925-8F12-E2C00EF52D1B}"/>
              </a:ext>
            </a:extLst>
          </p:cNvPr>
          <p:cNvSpPr>
            <a:spLocks xmlns:a="http://schemas.openxmlformats.org/drawingml/2006/main" noGrp="1"/>
          </p:cNvSpPr>
          <p:nvPr/>
        </p:nvSpPr>
        <p:spPr>
          <a:xfrm xmlns:a="http://schemas.openxmlformats.org/drawingml/2006/main" rot="0">
            <a:off x="998220" y="1249680"/>
            <a:ext cx="87064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Traditional: 100k tests, 96 wells, 100 µL/test. Automated: 1m tests, 1,536 wells, 5 µL/test. Base = 100.</a:t>
            </a:r>
          </a:p>
        </p:txBody>
      </p:sp>
      <p:sp>
        <p:nvSpPr>
          <p:cNvPr id="36" name="Figure 6 label 35">
            <a:extLst xmlns:a="http://schemas.openxmlformats.org/drawingml/2006/main">
              <a:ext uri="{FF2B5EF4-FFF2-40B4-BE49-F238E27FC236}">
                <a16:creationId xmlns:a16="http://schemas.microsoft.com/office/drawing/2014/main" id="{EB6D6D76-E7C5-497C-9D5A-A7711849A374}"/>
              </a:ext>
            </a:extLst>
          </p:cNvPr>
          <p:cNvSpPr>
            <a:spLocks xmlns:a="http://schemas.openxmlformats.org/drawingml/2006/main" noGrp="1"/>
          </p:cNvSpPr>
          <p:nvPr/>
        </p:nvSpPr>
        <p:spPr>
          <a:xfrm xmlns:a="http://schemas.openxmlformats.org/drawingml/2006/main" rot="0">
            <a:off x="999173" y="9256934"/>
            <a:ext cx="817795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Y-axis scales differ. Full plates, no dead volume or control wells; tips fall from 1 to 0.1 per test. ASP excluded.</a:t>
            </a:r>
          </a:p>
        </p:txBody>
      </p:sp>
      <p:sp>
        <p:nvSpPr>
          <p:cNvPr id="37" name="Figure 6 label 36">
            <a:extLst xmlns:a="http://schemas.openxmlformats.org/drawingml/2006/main">
              <a:ext uri="{FF2B5EF4-FFF2-40B4-BE49-F238E27FC236}">
                <a16:creationId xmlns:a16="http://schemas.microsoft.com/office/drawing/2014/main" id="{19821699-6358-49A3-8A85-C675B8A24FC5}"/>
              </a:ext>
            </a:extLst>
          </p:cNvPr>
          <p:cNvSpPr>
            <a:spLocks xmlns:a="http://schemas.openxmlformats.org/drawingml/2006/main" noGrp="1"/>
          </p:cNvSpPr>
          <p:nvPr/>
        </p:nvSpPr>
        <p:spPr>
          <a:xfrm xmlns:a="http://schemas.openxmlformats.org/drawingml/2006/main" rot="0">
            <a:off x="1000316" y="9675546"/>
            <a:ext cx="6288911"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scenario and analyst calculation. Test definition and plate utilization affect the result.</a:t>
            </a:r>
          </a:p>
        </p:txBody>
      </p:sp>
      <p:sp>
        <p:nvSpPr>
          <p:cNvPr id="38" name="Figure 6 label 37">
            <a:extLst xmlns:a="http://schemas.openxmlformats.org/drawingml/2006/main">
              <a:ext uri="{FF2B5EF4-FFF2-40B4-BE49-F238E27FC236}">
                <a16:creationId xmlns:a16="http://schemas.microsoft.com/office/drawing/2014/main" id="{F79E0349-C7FA-4611-B365-A234AB390005}"/>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39" name="Figure 6 label 38">
            <a:extLst xmlns:a="http://schemas.openxmlformats.org/drawingml/2006/main">
              <a:ext uri="{FF2B5EF4-FFF2-40B4-BE49-F238E27FC236}">
                <a16:creationId xmlns:a16="http://schemas.microsoft.com/office/drawing/2014/main" id="{70D5667E-ACB6-4DC2-ADBF-F4424A45D371}"/>
              </a:ext>
            </a:extLst>
          </p:cNvPr>
          <p:cNvSpPr>
            <a:spLocks xmlns:a="http://schemas.openxmlformats.org/drawingml/2006/main" noGrp="1"/>
          </p:cNvSpPr>
          <p:nvPr/>
        </p:nvSpPr>
        <p:spPr>
          <a:xfrm xmlns:a="http://schemas.openxmlformats.org/drawingml/2006/main" rot="0">
            <a:off x="1453515" y="2395347"/>
            <a:ext cx="266729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285E7D"/>
                </a:solidFill>
                <a:latin typeface="Arial Unicode MS"/>
                <a:ea typeface="Arial Unicode MS"/>
                <a:cs typeface="Arial Unicode MS"/>
              </a:defRPr>
            </a:defPPr>
          </a:lstStyle>
          <a:p xmlns:a="http://schemas.openxmlformats.org/drawingml/2006/main">
            <a:pPr algn="l">
              <a:lnSpc>
                <a:spcPct val="125000"/>
              </a:lnSpc>
              <a:buNone/>
              <a:defRPr sz="1875" b="1">
                <a:solidFill>
                  <a:srgbClr val="285E7D"/>
                </a:solidFill>
                <a:latin typeface="Arial Unicode MS"/>
                <a:ea typeface="Arial Unicode MS"/>
                <a:cs typeface="Arial Unicode MS"/>
              </a:defRPr>
            </a:pPr>
            <a:r>
              <a:rPr sz="1875" b="1">
                <a:solidFill>
                  <a:srgbClr val="285E7D"/>
                </a:solidFill>
                <a:latin typeface="Arial Unicode MS"/>
                <a:ea typeface="Arial Unicode MS"/>
                <a:cs typeface="Arial Unicode MS"/>
              </a:rPr>
              <a:t>100k → 1m experiments</a:t>
            </a:r>
          </a:p>
        </p:txBody>
      </p:sp>
      <p:sp>
        <p:nvSpPr>
          <p:cNvPr id="40" name="Figure 6 label 39">
            <a:extLst xmlns:a="http://schemas.openxmlformats.org/drawingml/2006/main">
              <a:ext uri="{FF2B5EF4-FFF2-40B4-BE49-F238E27FC236}">
                <a16:creationId xmlns:a16="http://schemas.microsoft.com/office/drawing/2014/main" id="{FE28B6BB-FF03-45C6-ACAC-F7C5792B29B2}"/>
              </a:ext>
            </a:extLst>
          </p:cNvPr>
          <p:cNvSpPr>
            <a:spLocks xmlns:a="http://schemas.openxmlformats.org/drawingml/2006/main" noGrp="1"/>
          </p:cNvSpPr>
          <p:nvPr/>
        </p:nvSpPr>
        <p:spPr>
          <a:xfrm xmlns:a="http://schemas.openxmlformats.org/drawingml/2006/main" rot="0">
            <a:off x="7306945" y="2426887"/>
            <a:ext cx="692904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0">
                <a:solidFill>
                  <a:srgbClr val="49837F"/>
                </a:solidFill>
                <a:latin typeface="Arial Unicode MS"/>
                <a:ea typeface="Arial Unicode MS"/>
                <a:cs typeface="Arial Unicode MS"/>
              </a:defRPr>
            </a:defPPr>
          </a:lstStyle>
          <a:p xmlns:a="http://schemas.openxmlformats.org/drawingml/2006/main">
            <a:pPr algn="l">
              <a:lnSpc>
                <a:spcPct val="125000"/>
              </a:lnSpc>
              <a:buNone/>
              <a:defRPr sz="1625" b="0">
                <a:solidFill>
                  <a:srgbClr val="49837F"/>
                </a:solidFill>
                <a:latin typeface="Arial Unicode MS"/>
                <a:ea typeface="Arial Unicode MS"/>
                <a:cs typeface="Arial Unicode MS"/>
              </a:defRPr>
            </a:pPr>
            <a:r>
              <a:rPr sz="1625" b="0">
                <a:solidFill>
                  <a:srgbClr val="49837F"/>
                </a:solidFill>
                <a:latin typeface="Arial Unicode MS"/>
                <a:ea typeface="Arial Unicode MS"/>
                <a:cs typeface="Arial Unicode MS"/>
              </a:rPr>
              <a:t>Reagents: 10 L → 5 L  ·  Plates: 1,042 → 652  ·  Tips: 100k → 100k (assumed)</a:t>
            </a:r>
          </a:p>
        </p:txBody>
      </p:sp>
      <p:sp>
        <p:nvSpPr>
          <p:cNvPr id="41" name="Figure 6 label 40">
            <a:extLst xmlns:a="http://schemas.openxmlformats.org/drawingml/2006/main">
              <a:ext uri="{FF2B5EF4-FFF2-40B4-BE49-F238E27FC236}">
                <a16:creationId xmlns:a16="http://schemas.microsoft.com/office/drawing/2014/main" id="{E9B553C2-B7BF-4D37-9C72-C9291D089EB1}"/>
              </a:ext>
            </a:extLst>
          </p:cNvPr>
          <p:cNvSpPr>
            <a:spLocks xmlns:a="http://schemas.openxmlformats.org/drawingml/2006/main" noGrp="1"/>
          </p:cNvSpPr>
          <p:nvPr/>
        </p:nvSpPr>
        <p:spPr>
          <a:xfrm xmlns:a="http://schemas.openxmlformats.org/drawingml/2006/main" rot="0">
            <a:off x="4857899" y="8343012"/>
            <a:ext cx="8572202"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250" b="1">
                <a:solidFill>
                  <a:srgbClr val="263B49"/>
                </a:solidFill>
                <a:latin typeface="Arial Unicode MS"/>
                <a:ea typeface="Arial Unicode MS"/>
                <a:cs typeface="Arial Unicode MS"/>
              </a:defRPr>
            </a:pPr>
            <a:r>
              <a:rPr sz="2250" b="1">
                <a:solidFill>
                  <a:srgbClr val="263B49"/>
                </a:solidFill>
                <a:latin typeface="Arial Unicode MS"/>
                <a:ea typeface="Arial Unicode MS"/>
                <a:cs typeface="Arial Unicode MS"/>
              </a:rPr>
              <a:t>Experiment growth does not imply proportional purchasing growth.</a:t>
            </a:r>
          </a:p>
        </p:txBody>
      </p:sp>
    </p:spTree>
    <p:extLst>
      <p:ext uri="{BB962C8B-B14F-4D97-AF65-F5344CB8AC3E}">
        <p14:creationId xmlns:p14="http://schemas.microsoft.com/office/powerpoint/2010/main" val="12176749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1" name="">
            <a:extLst xmlns:a="http://schemas.openxmlformats.org/drawingml/2006/main">
              <a:ext uri="{FF2B5EF4-FFF2-40B4-BE49-F238E27FC236}">
                <a16:creationId xmlns:a16="http://schemas.microsoft.com/office/drawing/2014/main" id="{B526E989-4461-4CC9-8D8F-E6A08694F482}"/>
              </a:ext>
            </a:extLst>
          </p:cNvPr>
          <p:cNvPicPr>
            <a:picLocks xmlns:a="http://schemas.openxmlformats.org/drawingml/2006/main" noChangeAspect="1"/>
          </p:cNvPicPr>
          <p:nvPr/>
        </p:nvPicPr>
        <p:blipFill>
          <a:blip xmlns:r="http://schemas.openxmlformats.org/officeDocument/2006/relationships" xmlns:a="http://schemas.openxmlformats.org/drawingml/2006/main" r:embed="Rd4b988cb61a04aee"/>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7 label 1">
            <a:extLst xmlns:a="http://schemas.openxmlformats.org/drawingml/2006/main">
              <a:ext uri="{FF2B5EF4-FFF2-40B4-BE49-F238E27FC236}">
                <a16:creationId xmlns:a16="http://schemas.microsoft.com/office/drawing/2014/main" id="{FCB9B87E-5000-422D-B36D-7A6C07A273E4}"/>
              </a:ext>
            </a:extLst>
          </p:cNvPr>
          <p:cNvSpPr>
            <a:spLocks xmlns:a="http://schemas.openxmlformats.org/drawingml/2006/main" noGrp="1"/>
          </p:cNvSpPr>
          <p:nvPr/>
        </p:nvSpPr>
        <p:spPr>
          <a:xfrm xmlns:a="http://schemas.openxmlformats.org/drawingml/2006/main" rot="0">
            <a:off x="2746180" y="7924632"/>
            <a:ext cx="105578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A7F8B"/>
                </a:solidFill>
                <a:latin typeface="Arial Unicode MS"/>
                <a:ea typeface="Arial Unicode MS"/>
                <a:cs typeface="Arial Unicode MS"/>
              </a:defRPr>
            </a:defPPr>
          </a:lstStyle>
          <a:p xmlns:a="http://schemas.openxmlformats.org/drawingml/2006/main">
            <a:pPr algn="l">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Scenario A</a:t>
            </a:r>
          </a:p>
        </p:txBody>
      </p:sp>
      <p:sp>
        <p:nvSpPr>
          <p:cNvPr id="3" name="Figure 7 label 2">
            <a:extLst xmlns:a="http://schemas.openxmlformats.org/drawingml/2006/main">
              <a:ext uri="{FF2B5EF4-FFF2-40B4-BE49-F238E27FC236}">
                <a16:creationId xmlns:a16="http://schemas.microsoft.com/office/drawing/2014/main" id="{03B884E9-4F3D-4602-A3DB-C9E6EA26E176}"/>
              </a:ext>
            </a:extLst>
          </p:cNvPr>
          <p:cNvSpPr>
            <a:spLocks xmlns:a="http://schemas.openxmlformats.org/drawingml/2006/main" noGrp="1"/>
          </p:cNvSpPr>
          <p:nvPr/>
        </p:nvSpPr>
        <p:spPr>
          <a:xfrm xmlns:a="http://schemas.openxmlformats.org/drawingml/2006/main" rot="0">
            <a:off x="2814924" y="8126210"/>
            <a:ext cx="91827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A7F8B"/>
                </a:solidFill>
                <a:latin typeface="Arial Unicode MS"/>
                <a:ea typeface="Arial Unicode MS"/>
                <a:cs typeface="Arial Unicode MS"/>
              </a:defRPr>
            </a:defPPr>
          </a:lstStyle>
          <a:p xmlns:a="http://schemas.openxmlformats.org/drawingml/2006/main">
            <a:pPr algn="l">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US$50bn</a:t>
            </a:r>
          </a:p>
        </p:txBody>
      </p:sp>
      <p:sp>
        <p:nvSpPr>
          <p:cNvPr id="4" name="Figure 7 label 3">
            <a:extLst xmlns:a="http://schemas.openxmlformats.org/drawingml/2006/main">
              <a:ext uri="{FF2B5EF4-FFF2-40B4-BE49-F238E27FC236}">
                <a16:creationId xmlns:a16="http://schemas.microsoft.com/office/drawing/2014/main" id="{4821DA1F-74C4-4D55-BC8F-A9EA4CA18B20}"/>
              </a:ext>
            </a:extLst>
          </p:cNvPr>
          <p:cNvSpPr>
            <a:spLocks xmlns:a="http://schemas.openxmlformats.org/drawingml/2006/main" noGrp="1"/>
          </p:cNvSpPr>
          <p:nvPr/>
        </p:nvSpPr>
        <p:spPr>
          <a:xfrm xmlns:a="http://schemas.openxmlformats.org/drawingml/2006/main" rot="0">
            <a:off x="6567354" y="7924632"/>
            <a:ext cx="105578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A7F8B"/>
                </a:solidFill>
                <a:latin typeface="Arial Unicode MS"/>
                <a:ea typeface="Arial Unicode MS"/>
                <a:cs typeface="Arial Unicode MS"/>
              </a:defRPr>
            </a:defPPr>
          </a:lstStyle>
          <a:p xmlns:a="http://schemas.openxmlformats.org/drawingml/2006/main">
            <a:pPr algn="l">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Scenario B</a:t>
            </a:r>
          </a:p>
        </p:txBody>
      </p:sp>
      <p:sp>
        <p:nvSpPr>
          <p:cNvPr id="5" name="Figure 7 label 4">
            <a:extLst xmlns:a="http://schemas.openxmlformats.org/drawingml/2006/main">
              <a:ext uri="{FF2B5EF4-FFF2-40B4-BE49-F238E27FC236}">
                <a16:creationId xmlns:a16="http://schemas.microsoft.com/office/drawing/2014/main" id="{0B7D6CD6-B7E4-4B20-94E1-4540E64113EB}"/>
              </a:ext>
            </a:extLst>
          </p:cNvPr>
          <p:cNvSpPr>
            <a:spLocks xmlns:a="http://schemas.openxmlformats.org/drawingml/2006/main" noGrp="1"/>
          </p:cNvSpPr>
          <p:nvPr/>
        </p:nvSpPr>
        <p:spPr>
          <a:xfrm xmlns:a="http://schemas.openxmlformats.org/drawingml/2006/main" rot="0">
            <a:off x="6583129" y="8126210"/>
            <a:ext cx="10242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A7F8B"/>
                </a:solidFill>
                <a:latin typeface="Arial Unicode MS"/>
                <a:ea typeface="Arial Unicode MS"/>
                <a:cs typeface="Arial Unicode MS"/>
              </a:defRPr>
            </a:defPPr>
          </a:lstStyle>
          <a:p xmlns:a="http://schemas.openxmlformats.org/drawingml/2006/main">
            <a:pPr algn="l">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US$100bn</a:t>
            </a:r>
          </a:p>
        </p:txBody>
      </p:sp>
      <p:sp>
        <p:nvSpPr>
          <p:cNvPr id="6" name="Figure 7 label 5">
            <a:extLst xmlns:a="http://schemas.openxmlformats.org/drawingml/2006/main">
              <a:ext uri="{FF2B5EF4-FFF2-40B4-BE49-F238E27FC236}">
                <a16:creationId xmlns:a16="http://schemas.microsoft.com/office/drawing/2014/main" id="{89EB9FCA-07B8-43CA-B3D7-13FA692CD04C}"/>
              </a:ext>
            </a:extLst>
          </p:cNvPr>
          <p:cNvSpPr>
            <a:spLocks xmlns:a="http://schemas.openxmlformats.org/drawingml/2006/main" noGrp="1"/>
          </p:cNvSpPr>
          <p:nvPr/>
        </p:nvSpPr>
        <p:spPr>
          <a:xfrm xmlns:a="http://schemas.openxmlformats.org/drawingml/2006/main" rot="0">
            <a:off x="10383273" y="7924632"/>
            <a:ext cx="10662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A7F8B"/>
                </a:solidFill>
                <a:latin typeface="Arial Unicode MS"/>
                <a:ea typeface="Arial Unicode MS"/>
                <a:cs typeface="Arial Unicode MS"/>
              </a:defRPr>
            </a:defPPr>
          </a:lstStyle>
          <a:p xmlns:a="http://schemas.openxmlformats.org/drawingml/2006/main">
            <a:pPr algn="l">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Scenario C</a:t>
            </a:r>
          </a:p>
        </p:txBody>
      </p:sp>
      <p:sp>
        <p:nvSpPr>
          <p:cNvPr id="7" name="Figure 7 label 6">
            <a:extLst xmlns:a="http://schemas.openxmlformats.org/drawingml/2006/main">
              <a:ext uri="{FF2B5EF4-FFF2-40B4-BE49-F238E27FC236}">
                <a16:creationId xmlns:a16="http://schemas.microsoft.com/office/drawing/2014/main" id="{8D98DC80-0BBA-4299-9A40-8BA158EDB53A}"/>
              </a:ext>
            </a:extLst>
          </p:cNvPr>
          <p:cNvSpPr>
            <a:spLocks xmlns:a="http://schemas.openxmlformats.org/drawingml/2006/main" noGrp="1"/>
          </p:cNvSpPr>
          <p:nvPr/>
        </p:nvSpPr>
        <p:spPr>
          <a:xfrm xmlns:a="http://schemas.openxmlformats.org/drawingml/2006/main" rot="0">
            <a:off x="10404303" y="8126210"/>
            <a:ext cx="10242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A7F8B"/>
                </a:solidFill>
                <a:latin typeface="Arial Unicode MS"/>
                <a:ea typeface="Arial Unicode MS"/>
                <a:cs typeface="Arial Unicode MS"/>
              </a:defRPr>
            </a:defPPr>
          </a:lstStyle>
          <a:p xmlns:a="http://schemas.openxmlformats.org/drawingml/2006/main">
            <a:pPr algn="l">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US$200bn</a:t>
            </a:r>
          </a:p>
        </p:txBody>
      </p:sp>
      <p:sp>
        <p:nvSpPr>
          <p:cNvPr id="8" name="Figure 7 label 7">
            <a:extLst xmlns:a="http://schemas.openxmlformats.org/drawingml/2006/main">
              <a:ext uri="{FF2B5EF4-FFF2-40B4-BE49-F238E27FC236}">
                <a16:creationId xmlns:a16="http://schemas.microsoft.com/office/drawing/2014/main" id="{8AAE5A90-9FFC-4D51-B32F-D62662A0BF4D}"/>
              </a:ext>
            </a:extLst>
          </p:cNvPr>
          <p:cNvSpPr>
            <a:spLocks xmlns:a="http://schemas.openxmlformats.org/drawingml/2006/main" noGrp="1"/>
          </p:cNvSpPr>
          <p:nvPr/>
        </p:nvSpPr>
        <p:spPr>
          <a:xfrm xmlns:a="http://schemas.openxmlformats.org/drawingml/2006/main" rot="0">
            <a:off x="1440259" y="7697703"/>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0</a:t>
            </a:r>
          </a:p>
        </p:txBody>
      </p:sp>
      <p:sp>
        <p:nvSpPr>
          <p:cNvPr id="9" name="Figure 7 label 8">
            <a:extLst xmlns:a="http://schemas.openxmlformats.org/drawingml/2006/main">
              <a:ext uri="{FF2B5EF4-FFF2-40B4-BE49-F238E27FC236}">
                <a16:creationId xmlns:a16="http://schemas.microsoft.com/office/drawing/2014/main" id="{16C969D4-C0CF-47D2-A7EF-C3EB28123BF4}"/>
              </a:ext>
            </a:extLst>
          </p:cNvPr>
          <p:cNvSpPr>
            <a:spLocks xmlns:a="http://schemas.openxmlformats.org/drawingml/2006/main" noGrp="1"/>
          </p:cNvSpPr>
          <p:nvPr/>
        </p:nvSpPr>
        <p:spPr>
          <a:xfrm xmlns:a="http://schemas.openxmlformats.org/drawingml/2006/main" rot="0">
            <a:off x="1334294" y="711477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25</a:t>
            </a:r>
          </a:p>
        </p:txBody>
      </p:sp>
      <p:sp>
        <p:nvSpPr>
          <p:cNvPr id="10" name="Figure 7 label 9">
            <a:extLst xmlns:a="http://schemas.openxmlformats.org/drawingml/2006/main">
              <a:ext uri="{FF2B5EF4-FFF2-40B4-BE49-F238E27FC236}">
                <a16:creationId xmlns:a16="http://schemas.microsoft.com/office/drawing/2014/main" id="{C45C706A-A704-41B2-8517-2E8D66883793}"/>
              </a:ext>
            </a:extLst>
          </p:cNvPr>
          <p:cNvSpPr>
            <a:spLocks xmlns:a="http://schemas.openxmlformats.org/drawingml/2006/main" noGrp="1"/>
          </p:cNvSpPr>
          <p:nvPr/>
        </p:nvSpPr>
        <p:spPr>
          <a:xfrm xmlns:a="http://schemas.openxmlformats.org/drawingml/2006/main" rot="0">
            <a:off x="1334294" y="653184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50</a:t>
            </a:r>
          </a:p>
        </p:txBody>
      </p:sp>
      <p:sp>
        <p:nvSpPr>
          <p:cNvPr id="11" name="Figure 7 label 10">
            <a:extLst xmlns:a="http://schemas.openxmlformats.org/drawingml/2006/main">
              <a:ext uri="{FF2B5EF4-FFF2-40B4-BE49-F238E27FC236}">
                <a16:creationId xmlns:a16="http://schemas.microsoft.com/office/drawing/2014/main" id="{5686BE0E-540D-4BED-B4A5-2B6DDF45076D}"/>
              </a:ext>
            </a:extLst>
          </p:cNvPr>
          <p:cNvSpPr>
            <a:spLocks xmlns:a="http://schemas.openxmlformats.org/drawingml/2006/main" noGrp="1"/>
          </p:cNvSpPr>
          <p:nvPr/>
        </p:nvSpPr>
        <p:spPr>
          <a:xfrm xmlns:a="http://schemas.openxmlformats.org/drawingml/2006/main" rot="0">
            <a:off x="1334294" y="594891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75</a:t>
            </a:r>
          </a:p>
        </p:txBody>
      </p:sp>
      <p:sp>
        <p:nvSpPr>
          <p:cNvPr id="12" name="Figure 7 label 11">
            <a:extLst xmlns:a="http://schemas.openxmlformats.org/drawingml/2006/main">
              <a:ext uri="{FF2B5EF4-FFF2-40B4-BE49-F238E27FC236}">
                <a16:creationId xmlns:a16="http://schemas.microsoft.com/office/drawing/2014/main" id="{4D972A11-5915-41E7-845E-1443449F80FB}"/>
              </a:ext>
            </a:extLst>
          </p:cNvPr>
          <p:cNvSpPr>
            <a:spLocks xmlns:a="http://schemas.openxmlformats.org/drawingml/2006/main" noGrp="1"/>
          </p:cNvSpPr>
          <p:nvPr/>
        </p:nvSpPr>
        <p:spPr>
          <a:xfrm xmlns:a="http://schemas.openxmlformats.org/drawingml/2006/main" rot="0">
            <a:off x="1228328" y="5365983"/>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100</a:t>
            </a:r>
          </a:p>
        </p:txBody>
      </p:sp>
      <p:sp>
        <p:nvSpPr>
          <p:cNvPr id="13" name="Figure 7 label 12">
            <a:extLst xmlns:a="http://schemas.openxmlformats.org/drawingml/2006/main">
              <a:ext uri="{FF2B5EF4-FFF2-40B4-BE49-F238E27FC236}">
                <a16:creationId xmlns:a16="http://schemas.microsoft.com/office/drawing/2014/main" id="{F3A7671C-C988-4CDD-8705-B76E95FF9D22}"/>
              </a:ext>
            </a:extLst>
          </p:cNvPr>
          <p:cNvSpPr>
            <a:spLocks xmlns:a="http://schemas.openxmlformats.org/drawingml/2006/main" noGrp="1"/>
          </p:cNvSpPr>
          <p:nvPr/>
        </p:nvSpPr>
        <p:spPr>
          <a:xfrm xmlns:a="http://schemas.openxmlformats.org/drawingml/2006/main" rot="0">
            <a:off x="1228328" y="4783053"/>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125</a:t>
            </a:r>
          </a:p>
        </p:txBody>
      </p:sp>
      <p:sp>
        <p:nvSpPr>
          <p:cNvPr id="14" name="Figure 7 label 13">
            <a:extLst xmlns:a="http://schemas.openxmlformats.org/drawingml/2006/main">
              <a:ext uri="{FF2B5EF4-FFF2-40B4-BE49-F238E27FC236}">
                <a16:creationId xmlns:a16="http://schemas.microsoft.com/office/drawing/2014/main" id="{7786F426-C147-472A-BCFD-94FAA70082BE}"/>
              </a:ext>
            </a:extLst>
          </p:cNvPr>
          <p:cNvSpPr>
            <a:spLocks xmlns:a="http://schemas.openxmlformats.org/drawingml/2006/main" noGrp="1"/>
          </p:cNvSpPr>
          <p:nvPr/>
        </p:nvSpPr>
        <p:spPr>
          <a:xfrm xmlns:a="http://schemas.openxmlformats.org/drawingml/2006/main" rot="0">
            <a:off x="1228328" y="4200123"/>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150</a:t>
            </a:r>
          </a:p>
        </p:txBody>
      </p:sp>
      <p:sp>
        <p:nvSpPr>
          <p:cNvPr id="15" name="Figure 7 label 14">
            <a:extLst xmlns:a="http://schemas.openxmlformats.org/drawingml/2006/main">
              <a:ext uri="{FF2B5EF4-FFF2-40B4-BE49-F238E27FC236}">
                <a16:creationId xmlns:a16="http://schemas.microsoft.com/office/drawing/2014/main" id="{F119971B-6ACB-41B3-A8B3-569A84C7D9F1}"/>
              </a:ext>
            </a:extLst>
          </p:cNvPr>
          <p:cNvSpPr>
            <a:spLocks xmlns:a="http://schemas.openxmlformats.org/drawingml/2006/main" noGrp="1"/>
          </p:cNvSpPr>
          <p:nvPr/>
        </p:nvSpPr>
        <p:spPr>
          <a:xfrm xmlns:a="http://schemas.openxmlformats.org/drawingml/2006/main" rot="0">
            <a:off x="1228328" y="3617193"/>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175</a:t>
            </a:r>
          </a:p>
        </p:txBody>
      </p:sp>
      <p:sp>
        <p:nvSpPr>
          <p:cNvPr id="16" name="Figure 7 label 15">
            <a:extLst xmlns:a="http://schemas.openxmlformats.org/drawingml/2006/main">
              <a:ext uri="{FF2B5EF4-FFF2-40B4-BE49-F238E27FC236}">
                <a16:creationId xmlns:a16="http://schemas.microsoft.com/office/drawing/2014/main" id="{E9207632-F292-4BB2-8EB2-DC43714CBB7C}"/>
              </a:ext>
            </a:extLst>
          </p:cNvPr>
          <p:cNvSpPr>
            <a:spLocks xmlns:a="http://schemas.openxmlformats.org/drawingml/2006/main" noGrp="1"/>
          </p:cNvSpPr>
          <p:nvPr/>
        </p:nvSpPr>
        <p:spPr>
          <a:xfrm xmlns:a="http://schemas.openxmlformats.org/drawingml/2006/main" rot="0">
            <a:off x="1228328" y="3034263"/>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200</a:t>
            </a:r>
          </a:p>
        </p:txBody>
      </p:sp>
      <p:sp>
        <p:nvSpPr>
          <p:cNvPr id="17" name="Figure 7 label 16">
            <a:extLst xmlns:a="http://schemas.openxmlformats.org/drawingml/2006/main">
              <a:ext uri="{FF2B5EF4-FFF2-40B4-BE49-F238E27FC236}">
                <a16:creationId xmlns:a16="http://schemas.microsoft.com/office/drawing/2014/main" id="{22F5B43F-E327-4AD1-94B8-02AFFC3CAA58}"/>
              </a:ext>
            </a:extLst>
          </p:cNvPr>
          <p:cNvSpPr>
            <a:spLocks xmlns:a="http://schemas.openxmlformats.org/drawingml/2006/main" noGrp="1"/>
          </p:cNvSpPr>
          <p:nvPr/>
        </p:nvSpPr>
        <p:spPr>
          <a:xfrm xmlns:a="http://schemas.openxmlformats.org/drawingml/2006/main" rot="0">
            <a:off x="1228328" y="2451333"/>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225</a:t>
            </a:r>
          </a:p>
        </p:txBody>
      </p:sp>
      <p:sp>
        <p:nvSpPr>
          <p:cNvPr id="18" name="Figure 7 label 17">
            <a:extLst xmlns:a="http://schemas.openxmlformats.org/drawingml/2006/main">
              <a:ext uri="{FF2B5EF4-FFF2-40B4-BE49-F238E27FC236}">
                <a16:creationId xmlns:a16="http://schemas.microsoft.com/office/drawing/2014/main" id="{D7DD6E3E-85E3-4642-9326-F2C19CA2F53A}"/>
              </a:ext>
            </a:extLst>
          </p:cNvPr>
          <p:cNvSpPr>
            <a:spLocks xmlns:a="http://schemas.openxmlformats.org/drawingml/2006/main" noGrp="1"/>
          </p:cNvSpPr>
          <p:nvPr/>
        </p:nvSpPr>
        <p:spPr>
          <a:xfrm xmlns:a="http://schemas.openxmlformats.org/drawingml/2006/main" rot="16200000">
            <a:off x="-717610" y="5047298"/>
            <a:ext cx="385077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Cumulative incremental investment (US$bn)</a:t>
            </a:r>
          </a:p>
        </p:txBody>
      </p:sp>
      <p:sp>
        <p:nvSpPr>
          <p:cNvPr id="19" name="Figure 7 label 18">
            <a:extLst xmlns:a="http://schemas.openxmlformats.org/drawingml/2006/main">
              <a:ext uri="{FF2B5EF4-FFF2-40B4-BE49-F238E27FC236}">
                <a16:creationId xmlns:a16="http://schemas.microsoft.com/office/drawing/2014/main" id="{21137AC9-EE12-4AD9-A9DA-695C07C0B24A}"/>
              </a:ext>
            </a:extLst>
          </p:cNvPr>
          <p:cNvSpPr>
            <a:spLocks xmlns:a="http://schemas.openxmlformats.org/drawingml/2006/main" noGrp="1"/>
          </p:cNvSpPr>
          <p:nvPr/>
        </p:nvSpPr>
        <p:spPr>
          <a:xfrm xmlns:a="http://schemas.openxmlformats.org/drawingml/2006/main" rot="0">
            <a:off x="3037889" y="7487946"/>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15</a:t>
            </a:r>
          </a:p>
        </p:txBody>
      </p:sp>
      <p:sp>
        <p:nvSpPr>
          <p:cNvPr id="20" name="Figure 7 label 19">
            <a:extLst xmlns:a="http://schemas.openxmlformats.org/drawingml/2006/main">
              <a:ext uri="{FF2B5EF4-FFF2-40B4-BE49-F238E27FC236}">
                <a16:creationId xmlns:a16="http://schemas.microsoft.com/office/drawing/2014/main" id="{07B894A8-F7B6-467E-96D3-6B1EE311EC16}"/>
              </a:ext>
            </a:extLst>
          </p:cNvPr>
          <p:cNvSpPr>
            <a:spLocks xmlns:a="http://schemas.openxmlformats.org/drawingml/2006/main" noGrp="1"/>
          </p:cNvSpPr>
          <p:nvPr/>
        </p:nvSpPr>
        <p:spPr>
          <a:xfrm xmlns:a="http://schemas.openxmlformats.org/drawingml/2006/main" rot="0">
            <a:off x="6859062" y="7313067"/>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30</a:t>
            </a:r>
          </a:p>
        </p:txBody>
      </p:sp>
      <p:sp>
        <p:nvSpPr>
          <p:cNvPr id="21" name="Figure 7 label 20">
            <a:extLst xmlns:a="http://schemas.openxmlformats.org/drawingml/2006/main">
              <a:ext uri="{FF2B5EF4-FFF2-40B4-BE49-F238E27FC236}">
                <a16:creationId xmlns:a16="http://schemas.microsoft.com/office/drawing/2014/main" id="{174365EB-BA7C-44FC-B72C-A144C0556F0A}"/>
              </a:ext>
            </a:extLst>
          </p:cNvPr>
          <p:cNvSpPr>
            <a:spLocks xmlns:a="http://schemas.openxmlformats.org/drawingml/2006/main" noGrp="1"/>
          </p:cNvSpPr>
          <p:nvPr/>
        </p:nvSpPr>
        <p:spPr>
          <a:xfrm xmlns:a="http://schemas.openxmlformats.org/drawingml/2006/main" rot="0">
            <a:off x="10680235" y="6963310"/>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60</a:t>
            </a:r>
          </a:p>
        </p:txBody>
      </p:sp>
      <p:sp>
        <p:nvSpPr>
          <p:cNvPr id="22" name="Figure 7 label 21">
            <a:extLst xmlns:a="http://schemas.openxmlformats.org/drawingml/2006/main">
              <a:ext uri="{FF2B5EF4-FFF2-40B4-BE49-F238E27FC236}">
                <a16:creationId xmlns:a16="http://schemas.microsoft.com/office/drawing/2014/main" id="{72769BAE-882C-42EA-BC4F-53901D8F9BC1}"/>
              </a:ext>
            </a:extLst>
          </p:cNvPr>
          <p:cNvSpPr>
            <a:spLocks xmlns:a="http://schemas.openxmlformats.org/drawingml/2006/main" noGrp="1"/>
          </p:cNvSpPr>
          <p:nvPr/>
        </p:nvSpPr>
        <p:spPr>
          <a:xfrm xmlns:a="http://schemas.openxmlformats.org/drawingml/2006/main" rot="0">
            <a:off x="2951792" y="7167335"/>
            <a:ext cx="53583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12.5</a:t>
            </a:r>
          </a:p>
        </p:txBody>
      </p:sp>
      <p:sp>
        <p:nvSpPr>
          <p:cNvPr id="23" name="Figure 7 label 22">
            <a:extLst xmlns:a="http://schemas.openxmlformats.org/drawingml/2006/main">
              <a:ext uri="{FF2B5EF4-FFF2-40B4-BE49-F238E27FC236}">
                <a16:creationId xmlns:a16="http://schemas.microsoft.com/office/drawing/2014/main" id="{D87C08AA-15A4-4550-B69F-C0C66473574C}"/>
              </a:ext>
            </a:extLst>
          </p:cNvPr>
          <p:cNvSpPr>
            <a:spLocks xmlns:a="http://schemas.openxmlformats.org/drawingml/2006/main" noGrp="1"/>
          </p:cNvSpPr>
          <p:nvPr/>
        </p:nvSpPr>
        <p:spPr>
          <a:xfrm xmlns:a="http://schemas.openxmlformats.org/drawingml/2006/main" rot="0">
            <a:off x="6859062" y="6671845"/>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25</a:t>
            </a:r>
          </a:p>
        </p:txBody>
      </p:sp>
      <p:sp>
        <p:nvSpPr>
          <p:cNvPr id="24" name="Figure 7 label 23">
            <a:extLst xmlns:a="http://schemas.openxmlformats.org/drawingml/2006/main">
              <a:ext uri="{FF2B5EF4-FFF2-40B4-BE49-F238E27FC236}">
                <a16:creationId xmlns:a16="http://schemas.microsoft.com/office/drawing/2014/main" id="{F2950557-537B-4974-B7D8-CF2C6916742B}"/>
              </a:ext>
            </a:extLst>
          </p:cNvPr>
          <p:cNvSpPr>
            <a:spLocks xmlns:a="http://schemas.openxmlformats.org/drawingml/2006/main" noGrp="1"/>
          </p:cNvSpPr>
          <p:nvPr/>
        </p:nvSpPr>
        <p:spPr>
          <a:xfrm xmlns:a="http://schemas.openxmlformats.org/drawingml/2006/main" rot="0">
            <a:off x="10680235" y="5680863"/>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50</a:t>
            </a:r>
          </a:p>
        </p:txBody>
      </p:sp>
      <p:sp>
        <p:nvSpPr>
          <p:cNvPr id="25" name="Figure 7 label 24">
            <a:extLst xmlns:a="http://schemas.openxmlformats.org/drawingml/2006/main">
              <a:ext uri="{FF2B5EF4-FFF2-40B4-BE49-F238E27FC236}">
                <a16:creationId xmlns:a16="http://schemas.microsoft.com/office/drawing/2014/main" id="{48CA6C72-3671-408D-AFE7-0C7C0DA967A0}"/>
              </a:ext>
            </a:extLst>
          </p:cNvPr>
          <p:cNvSpPr>
            <a:spLocks xmlns:a="http://schemas.openxmlformats.org/drawingml/2006/main" noGrp="1"/>
          </p:cNvSpPr>
          <p:nvPr/>
        </p:nvSpPr>
        <p:spPr>
          <a:xfrm xmlns:a="http://schemas.openxmlformats.org/drawingml/2006/main" rot="0">
            <a:off x="3037889" y="6905017"/>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10</a:t>
            </a:r>
          </a:p>
        </p:txBody>
      </p:sp>
      <p:sp>
        <p:nvSpPr>
          <p:cNvPr id="26" name="Figure 7 label 25">
            <a:extLst xmlns:a="http://schemas.openxmlformats.org/drawingml/2006/main">
              <a:ext uri="{FF2B5EF4-FFF2-40B4-BE49-F238E27FC236}">
                <a16:creationId xmlns:a16="http://schemas.microsoft.com/office/drawing/2014/main" id="{AA386B22-2AE9-49DC-A026-E1E9F11FE964}"/>
              </a:ext>
            </a:extLst>
          </p:cNvPr>
          <p:cNvSpPr>
            <a:spLocks xmlns:a="http://schemas.openxmlformats.org/drawingml/2006/main" noGrp="1"/>
          </p:cNvSpPr>
          <p:nvPr/>
        </p:nvSpPr>
        <p:spPr>
          <a:xfrm xmlns:a="http://schemas.openxmlformats.org/drawingml/2006/main" rot="0">
            <a:off x="6859062" y="6147208"/>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20</a:t>
            </a:r>
          </a:p>
        </p:txBody>
      </p:sp>
      <p:sp>
        <p:nvSpPr>
          <p:cNvPr id="27" name="Figure 7 label 26">
            <a:extLst xmlns:a="http://schemas.openxmlformats.org/drawingml/2006/main">
              <a:ext uri="{FF2B5EF4-FFF2-40B4-BE49-F238E27FC236}">
                <a16:creationId xmlns:a16="http://schemas.microsoft.com/office/drawing/2014/main" id="{0E5E00B8-D58D-4971-901A-31290C5D1C83}"/>
              </a:ext>
            </a:extLst>
          </p:cNvPr>
          <p:cNvSpPr>
            <a:spLocks xmlns:a="http://schemas.openxmlformats.org/drawingml/2006/main" noGrp="1"/>
          </p:cNvSpPr>
          <p:nvPr/>
        </p:nvSpPr>
        <p:spPr>
          <a:xfrm xmlns:a="http://schemas.openxmlformats.org/drawingml/2006/main" rot="0">
            <a:off x="10680235" y="4631589"/>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40</a:t>
            </a:r>
          </a:p>
        </p:txBody>
      </p:sp>
      <p:sp>
        <p:nvSpPr>
          <p:cNvPr id="28" name="Figure 7 label 27">
            <a:extLst xmlns:a="http://schemas.openxmlformats.org/drawingml/2006/main">
              <a:ext uri="{FF2B5EF4-FFF2-40B4-BE49-F238E27FC236}">
                <a16:creationId xmlns:a16="http://schemas.microsoft.com/office/drawing/2014/main" id="{C803F9D4-9204-4BFD-8E18-55199BBBE4C5}"/>
              </a:ext>
            </a:extLst>
          </p:cNvPr>
          <p:cNvSpPr>
            <a:spLocks xmlns:a="http://schemas.openxmlformats.org/drawingml/2006/main" noGrp="1"/>
          </p:cNvSpPr>
          <p:nvPr/>
        </p:nvSpPr>
        <p:spPr>
          <a:xfrm xmlns:a="http://schemas.openxmlformats.org/drawingml/2006/main" rot="0">
            <a:off x="4892768" y="6788431"/>
            <a:ext cx="421084"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0">
                <a:solidFill>
                  <a:srgbClr val="263B49"/>
                </a:solidFill>
                <a:latin typeface="Arial Unicode MS"/>
                <a:ea typeface="Arial Unicode MS"/>
                <a:cs typeface="Arial Unicode MS"/>
              </a:defRPr>
            </a:defPPr>
          </a:lstStyle>
          <a:p xmlns:a="http://schemas.openxmlformats.org/drawingml/2006/main">
            <a:pPr algn="l">
              <a:lnSpc>
                <a:spcPct val="125000"/>
              </a:lnSpc>
              <a:buNone/>
              <a:defRPr sz="1625" b="0">
                <a:solidFill>
                  <a:srgbClr val="263B49"/>
                </a:solidFill>
                <a:latin typeface="Arial Unicode MS"/>
                <a:ea typeface="Arial Unicode MS"/>
                <a:cs typeface="Arial Unicode MS"/>
              </a:defRPr>
            </a:pPr>
            <a:r>
              <a:rPr sz="1625" b="0">
                <a:solidFill>
                  <a:srgbClr val="263B49"/>
                </a:solidFill>
                <a:latin typeface="Arial Unicode MS"/>
                <a:ea typeface="Arial Unicode MS"/>
                <a:cs typeface="Arial Unicode MS"/>
              </a:rPr>
              <a:t>7.5</a:t>
            </a:r>
          </a:p>
        </p:txBody>
      </p:sp>
      <p:sp>
        <p:nvSpPr>
          <p:cNvPr id="29" name="Figure 7 label 28">
            <a:extLst xmlns:a="http://schemas.openxmlformats.org/drawingml/2006/main">
              <a:ext uri="{FF2B5EF4-FFF2-40B4-BE49-F238E27FC236}">
                <a16:creationId xmlns:a16="http://schemas.microsoft.com/office/drawing/2014/main" id="{39504109-6D7F-40E3-8CA5-68B12B685172}"/>
              </a:ext>
            </a:extLst>
          </p:cNvPr>
          <p:cNvSpPr>
            <a:spLocks xmlns:a="http://schemas.openxmlformats.org/drawingml/2006/main" noGrp="1"/>
          </p:cNvSpPr>
          <p:nvPr/>
        </p:nvSpPr>
        <p:spPr>
          <a:xfrm xmlns:a="http://schemas.openxmlformats.org/drawingml/2006/main" rot="0">
            <a:off x="6859062" y="5739156"/>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15</a:t>
            </a:r>
          </a:p>
        </p:txBody>
      </p:sp>
      <p:sp>
        <p:nvSpPr>
          <p:cNvPr id="30" name="Figure 7 label 29">
            <a:extLst xmlns:a="http://schemas.openxmlformats.org/drawingml/2006/main">
              <a:ext uri="{FF2B5EF4-FFF2-40B4-BE49-F238E27FC236}">
                <a16:creationId xmlns:a16="http://schemas.microsoft.com/office/drawing/2014/main" id="{0C5092B7-D9FA-4E8A-96A2-44997481ACEA}"/>
              </a:ext>
            </a:extLst>
          </p:cNvPr>
          <p:cNvSpPr>
            <a:spLocks xmlns:a="http://schemas.openxmlformats.org/drawingml/2006/main" noGrp="1"/>
          </p:cNvSpPr>
          <p:nvPr/>
        </p:nvSpPr>
        <p:spPr>
          <a:xfrm xmlns:a="http://schemas.openxmlformats.org/drawingml/2006/main" rot="0">
            <a:off x="10680235" y="3815487"/>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625" b="0">
                <a:solidFill>
                  <a:srgbClr val="FFFFFF"/>
                </a:solidFill>
                <a:latin typeface="Arial Unicode MS"/>
                <a:ea typeface="Arial Unicode MS"/>
                <a:cs typeface="Arial Unicode MS"/>
              </a:defRPr>
            </a:pPr>
            <a:r>
              <a:rPr sz="1625" b="0">
                <a:solidFill>
                  <a:srgbClr val="FFFFFF"/>
                </a:solidFill>
                <a:latin typeface="Arial Unicode MS"/>
                <a:ea typeface="Arial Unicode MS"/>
                <a:cs typeface="Arial Unicode MS"/>
              </a:rPr>
              <a:t>30</a:t>
            </a:r>
          </a:p>
        </p:txBody>
      </p:sp>
      <p:sp>
        <p:nvSpPr>
          <p:cNvPr id="31" name="Figure 7 label 30">
            <a:extLst xmlns:a="http://schemas.openxmlformats.org/drawingml/2006/main">
              <a:ext uri="{FF2B5EF4-FFF2-40B4-BE49-F238E27FC236}">
                <a16:creationId xmlns:a16="http://schemas.microsoft.com/office/drawing/2014/main" id="{61EC71F8-C2A2-4A4C-907E-1207C340A26C}"/>
              </a:ext>
            </a:extLst>
          </p:cNvPr>
          <p:cNvSpPr>
            <a:spLocks xmlns:a="http://schemas.openxmlformats.org/drawingml/2006/main" noGrp="1"/>
          </p:cNvSpPr>
          <p:nvPr/>
        </p:nvSpPr>
        <p:spPr>
          <a:xfrm xmlns:a="http://schemas.openxmlformats.org/drawingml/2006/main" rot="0">
            <a:off x="4892768" y="6427014"/>
            <a:ext cx="248890"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0">
                <a:solidFill>
                  <a:srgbClr val="263B49"/>
                </a:solidFill>
                <a:latin typeface="Arial Unicode MS"/>
                <a:ea typeface="Arial Unicode MS"/>
                <a:cs typeface="Arial Unicode MS"/>
              </a:defRPr>
            </a:defPPr>
          </a:lstStyle>
          <a:p xmlns:a="http://schemas.openxmlformats.org/drawingml/2006/main">
            <a:pPr algn="l">
              <a:lnSpc>
                <a:spcPct val="125000"/>
              </a:lnSpc>
              <a:buNone/>
              <a:defRPr sz="1625" b="0">
                <a:solidFill>
                  <a:srgbClr val="263B49"/>
                </a:solidFill>
                <a:latin typeface="Arial Unicode MS"/>
                <a:ea typeface="Arial Unicode MS"/>
                <a:cs typeface="Arial Unicode MS"/>
              </a:defRPr>
            </a:pPr>
            <a:r>
              <a:rPr sz="1625" b="0">
                <a:solidFill>
                  <a:srgbClr val="263B49"/>
                </a:solidFill>
                <a:latin typeface="Arial Unicode MS"/>
                <a:ea typeface="Arial Unicode MS"/>
                <a:cs typeface="Arial Unicode MS"/>
              </a:rPr>
              <a:t>5</a:t>
            </a:r>
          </a:p>
        </p:txBody>
      </p:sp>
      <p:sp>
        <p:nvSpPr>
          <p:cNvPr id="32" name="Figure 7 label 31">
            <a:extLst xmlns:a="http://schemas.openxmlformats.org/drawingml/2006/main">
              <a:ext uri="{FF2B5EF4-FFF2-40B4-BE49-F238E27FC236}">
                <a16:creationId xmlns:a16="http://schemas.microsoft.com/office/drawing/2014/main" id="{A1CDAAF3-9156-4F91-87D9-76286074D44F}"/>
              </a:ext>
            </a:extLst>
          </p:cNvPr>
          <p:cNvSpPr>
            <a:spLocks xmlns:a="http://schemas.openxmlformats.org/drawingml/2006/main" noGrp="1"/>
          </p:cNvSpPr>
          <p:nvPr/>
        </p:nvSpPr>
        <p:spPr>
          <a:xfrm xmlns:a="http://schemas.openxmlformats.org/drawingml/2006/main" rot="0">
            <a:off x="6859062" y="544769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625" b="0">
                <a:solidFill>
                  <a:srgbClr val="263B49"/>
                </a:solidFill>
                <a:latin typeface="Arial Unicode MS"/>
                <a:ea typeface="Arial Unicode MS"/>
                <a:cs typeface="Arial Unicode MS"/>
              </a:defRPr>
            </a:pPr>
            <a:r>
              <a:rPr sz="1625" b="0">
                <a:solidFill>
                  <a:srgbClr val="263B49"/>
                </a:solidFill>
                <a:latin typeface="Arial Unicode MS"/>
                <a:ea typeface="Arial Unicode MS"/>
                <a:cs typeface="Arial Unicode MS"/>
              </a:rPr>
              <a:t>10</a:t>
            </a:r>
          </a:p>
        </p:txBody>
      </p:sp>
      <p:sp>
        <p:nvSpPr>
          <p:cNvPr id="33" name="Figure 7 label 32">
            <a:extLst xmlns:a="http://schemas.openxmlformats.org/drawingml/2006/main">
              <a:ext uri="{FF2B5EF4-FFF2-40B4-BE49-F238E27FC236}">
                <a16:creationId xmlns:a16="http://schemas.microsoft.com/office/drawing/2014/main" id="{6E66F899-C17F-486D-9950-4D65971946A5}"/>
              </a:ext>
            </a:extLst>
          </p:cNvPr>
          <p:cNvSpPr>
            <a:spLocks xmlns:a="http://schemas.openxmlformats.org/drawingml/2006/main" noGrp="1"/>
          </p:cNvSpPr>
          <p:nvPr/>
        </p:nvSpPr>
        <p:spPr>
          <a:xfrm xmlns:a="http://schemas.openxmlformats.org/drawingml/2006/main" rot="0">
            <a:off x="10680235" y="3232557"/>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263B49"/>
                </a:solidFill>
                <a:latin typeface="Arial Unicode MS"/>
                <a:ea typeface="Arial Unicode MS"/>
                <a:cs typeface="Arial Unicode MS"/>
              </a:defRPr>
            </a:defPPr>
          </a:lstStyle>
          <a:p xmlns:a="http://schemas.openxmlformats.org/drawingml/2006/main">
            <a:pPr algn="ctr">
              <a:lnSpc>
                <a:spcPct val="125000"/>
              </a:lnSpc>
              <a:buNone/>
              <a:defRPr sz="1625" b="0">
                <a:solidFill>
                  <a:srgbClr val="263B49"/>
                </a:solidFill>
                <a:latin typeface="Arial Unicode MS"/>
                <a:ea typeface="Arial Unicode MS"/>
                <a:cs typeface="Arial Unicode MS"/>
              </a:defRPr>
            </a:pPr>
            <a:r>
              <a:rPr sz="1625" b="0">
                <a:solidFill>
                  <a:srgbClr val="263B49"/>
                </a:solidFill>
                <a:latin typeface="Arial Unicode MS"/>
                <a:ea typeface="Arial Unicode MS"/>
                <a:cs typeface="Arial Unicode MS"/>
              </a:rPr>
              <a:t>20</a:t>
            </a:r>
          </a:p>
        </p:txBody>
      </p:sp>
      <p:sp>
        <p:nvSpPr>
          <p:cNvPr id="34" name="Figure 7 label 33">
            <a:extLst xmlns:a="http://schemas.openxmlformats.org/drawingml/2006/main">
              <a:ext uri="{FF2B5EF4-FFF2-40B4-BE49-F238E27FC236}">
                <a16:creationId xmlns:a16="http://schemas.microsoft.com/office/drawing/2014/main" id="{1041CC88-E98B-454E-8553-4A60B11771A6}"/>
              </a:ext>
            </a:extLst>
          </p:cNvPr>
          <p:cNvSpPr>
            <a:spLocks xmlns:a="http://schemas.openxmlformats.org/drawingml/2006/main" noGrp="1"/>
          </p:cNvSpPr>
          <p:nvPr/>
        </p:nvSpPr>
        <p:spPr>
          <a:xfrm xmlns:a="http://schemas.openxmlformats.org/drawingml/2006/main" rot="0">
            <a:off x="2967890" y="6250381"/>
            <a:ext cx="503634"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250" b="1">
                <a:solidFill>
                  <a:srgbClr val="263B49"/>
                </a:solidFill>
                <a:latin typeface="Arial Unicode MS"/>
                <a:ea typeface="Arial Unicode MS"/>
                <a:cs typeface="Arial Unicode MS"/>
              </a:defRPr>
            </a:pPr>
            <a:r>
              <a:rPr sz="2250" b="1">
                <a:solidFill>
                  <a:srgbClr val="263B49"/>
                </a:solidFill>
                <a:latin typeface="Arial Unicode MS"/>
                <a:ea typeface="Arial Unicode MS"/>
                <a:cs typeface="Arial Unicode MS"/>
              </a:rPr>
              <a:t>50</a:t>
            </a:r>
          </a:p>
        </p:txBody>
      </p:sp>
      <p:sp>
        <p:nvSpPr>
          <p:cNvPr id="35" name="Figure 7 label 34">
            <a:extLst xmlns:a="http://schemas.openxmlformats.org/drawingml/2006/main">
              <a:ext uri="{FF2B5EF4-FFF2-40B4-BE49-F238E27FC236}">
                <a16:creationId xmlns:a16="http://schemas.microsoft.com/office/drawing/2014/main" id="{1C944E68-B22F-4791-A8DD-861953DF085D}"/>
              </a:ext>
            </a:extLst>
          </p:cNvPr>
          <p:cNvSpPr>
            <a:spLocks xmlns:a="http://schemas.openxmlformats.org/drawingml/2006/main" noGrp="1"/>
          </p:cNvSpPr>
          <p:nvPr/>
        </p:nvSpPr>
        <p:spPr>
          <a:xfrm xmlns:a="http://schemas.openxmlformats.org/drawingml/2006/main" rot="0">
            <a:off x="6709589" y="5084522"/>
            <a:ext cx="662583"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250" b="1">
                <a:solidFill>
                  <a:srgbClr val="263B49"/>
                </a:solidFill>
                <a:latin typeface="Arial Unicode MS"/>
                <a:ea typeface="Arial Unicode MS"/>
                <a:cs typeface="Arial Unicode MS"/>
              </a:defRPr>
            </a:pPr>
            <a:r>
              <a:rPr sz="2250" b="1">
                <a:solidFill>
                  <a:srgbClr val="263B49"/>
                </a:solidFill>
                <a:latin typeface="Arial Unicode MS"/>
                <a:ea typeface="Arial Unicode MS"/>
                <a:cs typeface="Arial Unicode MS"/>
              </a:rPr>
              <a:t>100</a:t>
            </a:r>
          </a:p>
        </p:txBody>
      </p:sp>
      <p:sp>
        <p:nvSpPr>
          <p:cNvPr id="36" name="Figure 7 label 35">
            <a:extLst xmlns:a="http://schemas.openxmlformats.org/drawingml/2006/main">
              <a:ext uri="{FF2B5EF4-FFF2-40B4-BE49-F238E27FC236}">
                <a16:creationId xmlns:a16="http://schemas.microsoft.com/office/drawing/2014/main" id="{5CCE59B1-9E23-4443-92B8-59323104C39F}"/>
              </a:ext>
            </a:extLst>
          </p:cNvPr>
          <p:cNvSpPr>
            <a:spLocks xmlns:a="http://schemas.openxmlformats.org/drawingml/2006/main" noGrp="1"/>
          </p:cNvSpPr>
          <p:nvPr/>
        </p:nvSpPr>
        <p:spPr>
          <a:xfrm xmlns:a="http://schemas.openxmlformats.org/drawingml/2006/main" rot="0">
            <a:off x="10530762" y="2752801"/>
            <a:ext cx="662583"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263B49"/>
                </a:solidFill>
                <a:latin typeface="Arial Unicode MS"/>
                <a:ea typeface="Arial Unicode MS"/>
                <a:cs typeface="Arial Unicode MS"/>
              </a:defRPr>
            </a:defPPr>
          </a:lstStyle>
          <a:p xmlns:a="http://schemas.openxmlformats.org/drawingml/2006/main">
            <a:pPr algn="ctr">
              <a:lnSpc>
                <a:spcPct val="125000"/>
              </a:lnSpc>
              <a:buNone/>
              <a:defRPr sz="2250" b="1">
                <a:solidFill>
                  <a:srgbClr val="263B49"/>
                </a:solidFill>
                <a:latin typeface="Arial Unicode MS"/>
                <a:ea typeface="Arial Unicode MS"/>
                <a:cs typeface="Arial Unicode MS"/>
              </a:defRPr>
            </a:pPr>
            <a:r>
              <a:rPr sz="2250" b="1">
                <a:solidFill>
                  <a:srgbClr val="263B49"/>
                </a:solidFill>
                <a:latin typeface="Arial Unicode MS"/>
                <a:ea typeface="Arial Unicode MS"/>
                <a:cs typeface="Arial Unicode MS"/>
              </a:rPr>
              <a:t>200</a:t>
            </a:r>
          </a:p>
        </p:txBody>
      </p:sp>
      <p:sp>
        <p:nvSpPr>
          <p:cNvPr id="37" name="Figure 7 label 36">
            <a:extLst xmlns:a="http://schemas.openxmlformats.org/drawingml/2006/main">
              <a:ext uri="{FF2B5EF4-FFF2-40B4-BE49-F238E27FC236}">
                <a16:creationId xmlns:a16="http://schemas.microsoft.com/office/drawing/2014/main" id="{E61FA72C-37F0-470D-B5AE-0CD73252741D}"/>
              </a:ext>
            </a:extLst>
          </p:cNvPr>
          <p:cNvSpPr>
            <a:spLocks xmlns:a="http://schemas.openxmlformats.org/drawingml/2006/main" noGrp="1"/>
          </p:cNvSpPr>
          <p:nvPr/>
        </p:nvSpPr>
        <p:spPr>
          <a:xfrm xmlns:a="http://schemas.openxmlformats.org/drawingml/2006/main" rot="0">
            <a:off x="991870" y="421675"/>
            <a:ext cx="7155557"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07  Illustrative AI-driven investment scenarios</a:t>
            </a:r>
          </a:p>
        </p:txBody>
      </p:sp>
      <p:sp>
        <p:nvSpPr>
          <p:cNvPr id="38" name="Figure 7 label 37">
            <a:extLst xmlns:a="http://schemas.openxmlformats.org/drawingml/2006/main">
              <a:ext uri="{FF2B5EF4-FFF2-40B4-BE49-F238E27FC236}">
                <a16:creationId xmlns:a16="http://schemas.microsoft.com/office/drawing/2014/main" id="{A3BBB3A5-EDDB-4B2E-B314-6BC5F6D66AF2}"/>
              </a:ext>
            </a:extLst>
          </p:cNvPr>
          <p:cNvSpPr>
            <a:spLocks xmlns:a="http://schemas.openxmlformats.org/drawingml/2006/main" noGrp="1"/>
          </p:cNvSpPr>
          <p:nvPr/>
        </p:nvSpPr>
        <p:spPr>
          <a:xfrm xmlns:a="http://schemas.openxmlformats.org/drawingml/2006/main" rot="0">
            <a:off x="15787788" y="661601"/>
            <a:ext cx="885627"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SCENARIO</a:t>
            </a:r>
          </a:p>
        </p:txBody>
      </p:sp>
      <p:sp>
        <p:nvSpPr>
          <p:cNvPr id="39" name="Figure 7 label 38">
            <a:extLst xmlns:a="http://schemas.openxmlformats.org/drawingml/2006/main">
              <a:ext uri="{FF2B5EF4-FFF2-40B4-BE49-F238E27FC236}">
                <a16:creationId xmlns:a16="http://schemas.microsoft.com/office/drawing/2014/main" id="{C389C3FD-7A33-4469-9DEA-30B3AE41AEB8}"/>
              </a:ext>
            </a:extLst>
          </p:cNvPr>
          <p:cNvSpPr>
            <a:spLocks xmlns:a="http://schemas.openxmlformats.org/drawingml/2006/main" noGrp="1"/>
          </p:cNvSpPr>
          <p:nvPr/>
        </p:nvSpPr>
        <p:spPr>
          <a:xfrm xmlns:a="http://schemas.openxmlformats.org/drawingml/2006/main" rot="0">
            <a:off x="998220" y="1255678"/>
            <a:ext cx="842575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US$50bn / 100bn / 200bn are illustrative cumulative investment pools; no time horizon is specified.</a:t>
            </a:r>
          </a:p>
        </p:txBody>
      </p:sp>
      <p:sp>
        <p:nvSpPr>
          <p:cNvPr id="40" name="Figure 7 label 39">
            <a:extLst xmlns:a="http://schemas.openxmlformats.org/drawingml/2006/main">
              <a:ext uri="{FF2B5EF4-FFF2-40B4-BE49-F238E27FC236}">
                <a16:creationId xmlns:a16="http://schemas.microsoft.com/office/drawing/2014/main" id="{76DD216D-1836-4294-A3EA-6EDDAE758B6E}"/>
              </a:ext>
            </a:extLst>
          </p:cNvPr>
          <p:cNvSpPr>
            <a:spLocks xmlns:a="http://schemas.openxmlformats.org/drawingml/2006/main" noGrp="1"/>
          </p:cNvSpPr>
          <p:nvPr/>
        </p:nvSpPr>
        <p:spPr>
          <a:xfrm xmlns:a="http://schemas.openxmlformats.org/drawingml/2006/main" rot="0">
            <a:off x="999173" y="9256035"/>
            <a:ext cx="7817198"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Allocations: 30% / 25% / 20% / 15% / 10%. Research and manufacturing buckets are mutually exclusive.</a:t>
            </a:r>
          </a:p>
        </p:txBody>
      </p:sp>
      <p:sp>
        <p:nvSpPr>
          <p:cNvPr id="41" name="Figure 7 label 40">
            <a:extLst xmlns:a="http://schemas.openxmlformats.org/drawingml/2006/main">
              <a:ext uri="{FF2B5EF4-FFF2-40B4-BE49-F238E27FC236}">
                <a16:creationId xmlns:a16="http://schemas.microsoft.com/office/drawing/2014/main" id="{4050E33F-FC13-4DAD-A210-3FB38BFFA807}"/>
              </a:ext>
            </a:extLst>
          </p:cNvPr>
          <p:cNvSpPr>
            <a:spLocks xmlns:a="http://schemas.openxmlformats.org/drawingml/2006/main" noGrp="1"/>
          </p:cNvSpPr>
          <p:nvPr/>
        </p:nvSpPr>
        <p:spPr>
          <a:xfrm xmlns:a="http://schemas.openxmlformats.org/drawingml/2006/main" rot="0">
            <a:off x="1000316" y="9675546"/>
            <a:ext cx="6841212"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scenario and allocation assumptions. These are not realized funding, orders or annual TAMs.</a:t>
            </a:r>
          </a:p>
        </p:txBody>
      </p:sp>
      <p:sp>
        <p:nvSpPr>
          <p:cNvPr id="42" name="Figure 7 label 41">
            <a:extLst xmlns:a="http://schemas.openxmlformats.org/drawingml/2006/main">
              <a:ext uri="{FF2B5EF4-FFF2-40B4-BE49-F238E27FC236}">
                <a16:creationId xmlns:a16="http://schemas.microsoft.com/office/drawing/2014/main" id="{E143885B-1629-4E00-A859-E5772F20C7EB}"/>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43" name="Figure 7 label 42">
            <a:extLst xmlns:a="http://schemas.openxmlformats.org/drawingml/2006/main">
              <a:ext uri="{FF2B5EF4-FFF2-40B4-BE49-F238E27FC236}">
                <a16:creationId xmlns:a16="http://schemas.microsoft.com/office/drawing/2014/main" id="{779FA9C0-FCAD-45EE-B607-AA6A88643BEC}"/>
              </a:ext>
            </a:extLst>
          </p:cNvPr>
          <p:cNvSpPr>
            <a:spLocks xmlns:a="http://schemas.openxmlformats.org/drawingml/2006/main" noGrp="1"/>
          </p:cNvSpPr>
          <p:nvPr/>
        </p:nvSpPr>
        <p:spPr>
          <a:xfrm xmlns:a="http://schemas.openxmlformats.org/drawingml/2006/main" rot="0">
            <a:off x="13597382" y="5630671"/>
            <a:ext cx="3502620"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285E7D"/>
                </a:solidFill>
                <a:latin typeface="Arial Unicode MS"/>
                <a:ea typeface="Arial Unicode MS"/>
                <a:cs typeface="Arial Unicode MS"/>
              </a:defRPr>
            </a:defPPr>
          </a:lstStyle>
          <a:p xmlns:a="http://schemas.openxmlformats.org/drawingml/2006/main">
            <a:pPr algn="l">
              <a:lnSpc>
                <a:spcPct val="125000"/>
              </a:lnSpc>
              <a:buNone/>
              <a:defRPr sz="1750" b="1">
                <a:solidFill>
                  <a:srgbClr val="285E7D"/>
                </a:solidFill>
                <a:latin typeface="Arial Unicode MS"/>
                <a:ea typeface="Arial Unicode MS"/>
                <a:cs typeface="Arial Unicode MS"/>
              </a:defRPr>
            </a:pPr>
            <a:r>
              <a:rPr sz="1750" b="1">
                <a:solidFill>
                  <a:srgbClr val="285E7D"/>
                </a:solidFill>
                <a:latin typeface="Arial Unicode MS"/>
                <a:ea typeface="Arial Unicode MS"/>
                <a:cs typeface="Arial Unicode MS"/>
              </a:rPr>
              <a:t>Build phase → installed equipment</a:t>
            </a:r>
          </a:p>
        </p:txBody>
      </p:sp>
      <p:sp>
        <p:nvSpPr>
          <p:cNvPr id="44" name="Figure 7 label 43">
            <a:extLst xmlns:a="http://schemas.openxmlformats.org/drawingml/2006/main">
              <a:ext uri="{FF2B5EF4-FFF2-40B4-BE49-F238E27FC236}">
                <a16:creationId xmlns:a16="http://schemas.microsoft.com/office/drawing/2014/main" id="{E0541B2E-5014-46B3-BE2A-1F5B15FEA644}"/>
              </a:ext>
            </a:extLst>
          </p:cNvPr>
          <p:cNvSpPr>
            <a:spLocks xmlns:a="http://schemas.openxmlformats.org/drawingml/2006/main" noGrp="1"/>
          </p:cNvSpPr>
          <p:nvPr/>
        </p:nvSpPr>
        <p:spPr>
          <a:xfrm xmlns:a="http://schemas.openxmlformats.org/drawingml/2006/main" rot="0">
            <a:off x="13598017" y="6356521"/>
            <a:ext cx="2964706"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49837F"/>
                </a:solidFill>
                <a:latin typeface="Arial Unicode MS"/>
                <a:ea typeface="Arial Unicode MS"/>
                <a:cs typeface="Arial Unicode MS"/>
              </a:defRPr>
            </a:defPPr>
          </a:lstStyle>
          <a:p xmlns:a="http://schemas.openxmlformats.org/drawingml/2006/main">
            <a:pPr algn="l">
              <a:lnSpc>
                <a:spcPct val="125000"/>
              </a:lnSpc>
              <a:buNone/>
              <a:defRPr sz="1625" b="1">
                <a:solidFill>
                  <a:srgbClr val="49837F"/>
                </a:solidFill>
                <a:latin typeface="Arial Unicode MS"/>
                <a:ea typeface="Arial Unicode MS"/>
                <a:cs typeface="Arial Unicode MS"/>
              </a:defRPr>
            </a:pPr>
            <a:r>
              <a:rPr sz="1625" b="1">
                <a:solidFill>
                  <a:srgbClr val="49837F"/>
                </a:solidFill>
                <a:latin typeface="Arial Unicode MS"/>
                <a:ea typeface="Arial Unicode MS"/>
                <a:cs typeface="Arial Unicode MS"/>
              </a:rPr>
              <a:t>Operate → recurring purchases</a:t>
            </a:r>
          </a:p>
        </p:txBody>
      </p:sp>
      <p:sp>
        <p:nvSpPr>
          <p:cNvPr id="45" name="Figure 7 label 44">
            <a:extLst xmlns:a="http://schemas.openxmlformats.org/drawingml/2006/main">
              <a:ext uri="{FF2B5EF4-FFF2-40B4-BE49-F238E27FC236}">
                <a16:creationId xmlns:a16="http://schemas.microsoft.com/office/drawing/2014/main" id="{A98B9C71-B8AE-47B4-86CB-20E67B967CD2}"/>
              </a:ext>
            </a:extLst>
          </p:cNvPr>
          <p:cNvSpPr>
            <a:spLocks xmlns:a="http://schemas.openxmlformats.org/drawingml/2006/main" noGrp="1"/>
          </p:cNvSpPr>
          <p:nvPr/>
        </p:nvSpPr>
        <p:spPr>
          <a:xfrm xmlns:a="http://schemas.openxmlformats.org/drawingml/2006/main" rot="0">
            <a:off x="13599414" y="7029276"/>
            <a:ext cx="267545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Manufacturing needs drug output.</a:t>
            </a:r>
          </a:p>
        </p:txBody>
      </p:sp>
      <p:sp>
        <p:nvSpPr>
          <p:cNvPr id="46" name="Figure 7 label 45">
            <a:extLst xmlns:a="http://schemas.openxmlformats.org/drawingml/2006/main">
              <a:ext uri="{FF2B5EF4-FFF2-40B4-BE49-F238E27FC236}">
                <a16:creationId xmlns:a16="http://schemas.microsoft.com/office/drawing/2014/main" id="{A65A541D-D465-469E-A8BC-013BF810C7AA}"/>
              </a:ext>
            </a:extLst>
          </p:cNvPr>
          <p:cNvSpPr>
            <a:spLocks xmlns:a="http://schemas.openxmlformats.org/drawingml/2006/main" noGrp="1"/>
          </p:cNvSpPr>
          <p:nvPr/>
        </p:nvSpPr>
        <p:spPr>
          <a:xfrm xmlns:a="http://schemas.openxmlformats.org/drawingml/2006/main" rot="0">
            <a:off x="13631132" y="2528184"/>
            <a:ext cx="2610148"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Research equipment / automation</a:t>
            </a:r>
          </a:p>
        </p:txBody>
      </p:sp>
      <p:sp>
        <p:nvSpPr>
          <p:cNvPr id="47" name="Figure 7 label 46">
            <a:extLst xmlns:a="http://schemas.openxmlformats.org/drawingml/2006/main">
              <a:ext uri="{FF2B5EF4-FFF2-40B4-BE49-F238E27FC236}">
                <a16:creationId xmlns:a16="http://schemas.microsoft.com/office/drawing/2014/main" id="{2F87C76B-A0EF-48D7-9D5B-DAF71700F158}"/>
              </a:ext>
            </a:extLst>
          </p:cNvPr>
          <p:cNvSpPr>
            <a:spLocks xmlns:a="http://schemas.openxmlformats.org/drawingml/2006/main" noGrp="1"/>
          </p:cNvSpPr>
          <p:nvPr/>
        </p:nvSpPr>
        <p:spPr>
          <a:xfrm xmlns:a="http://schemas.openxmlformats.org/drawingml/2006/main" rot="0">
            <a:off x="13631132" y="2864060"/>
            <a:ext cx="151685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Research reagents</a:t>
            </a:r>
          </a:p>
        </p:txBody>
      </p:sp>
      <p:sp>
        <p:nvSpPr>
          <p:cNvPr id="48" name="Figure 7 label 47">
            <a:extLst xmlns:a="http://schemas.openxmlformats.org/drawingml/2006/main">
              <a:ext uri="{FF2B5EF4-FFF2-40B4-BE49-F238E27FC236}">
                <a16:creationId xmlns:a16="http://schemas.microsoft.com/office/drawing/2014/main" id="{F3435D98-F117-4ED5-AC82-3231F514AA90}"/>
              </a:ext>
            </a:extLst>
          </p:cNvPr>
          <p:cNvSpPr>
            <a:spLocks xmlns:a="http://schemas.openxmlformats.org/drawingml/2006/main" noGrp="1"/>
          </p:cNvSpPr>
          <p:nvPr/>
        </p:nvSpPr>
        <p:spPr>
          <a:xfrm xmlns:a="http://schemas.openxmlformats.org/drawingml/2006/main" rot="0">
            <a:off x="13631132" y="3201732"/>
            <a:ext cx="185023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Research consumables</a:t>
            </a:r>
          </a:p>
        </p:txBody>
      </p:sp>
      <p:sp>
        <p:nvSpPr>
          <p:cNvPr id="49" name="Figure 7 label 48">
            <a:extLst xmlns:a="http://schemas.openxmlformats.org/drawingml/2006/main">
              <a:ext uri="{FF2B5EF4-FFF2-40B4-BE49-F238E27FC236}">
                <a16:creationId xmlns:a16="http://schemas.microsoft.com/office/drawing/2014/main" id="{CFE0A139-ABEE-42B1-B39F-4BD70415731C}"/>
              </a:ext>
            </a:extLst>
          </p:cNvPr>
          <p:cNvSpPr>
            <a:spLocks xmlns:a="http://schemas.openxmlformats.org/drawingml/2006/main" noGrp="1"/>
          </p:cNvSpPr>
          <p:nvPr/>
        </p:nvSpPr>
        <p:spPr>
          <a:xfrm xmlns:a="http://schemas.openxmlformats.org/drawingml/2006/main" rot="0">
            <a:off x="13631132" y="3539639"/>
            <a:ext cx="241548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Manufacturing bioprocess tools</a:t>
            </a:r>
          </a:p>
        </p:txBody>
      </p:sp>
      <p:sp>
        <p:nvSpPr>
          <p:cNvPr id="50" name="Figure 7 label 49">
            <a:extLst xmlns:a="http://schemas.openxmlformats.org/drawingml/2006/main">
              <a:ext uri="{FF2B5EF4-FFF2-40B4-BE49-F238E27FC236}">
                <a16:creationId xmlns:a16="http://schemas.microsoft.com/office/drawing/2014/main" id="{5838F04A-D2FB-452A-AFE5-4278A22684C8}"/>
              </a:ext>
            </a:extLst>
          </p:cNvPr>
          <p:cNvSpPr>
            <a:spLocks xmlns:a="http://schemas.openxmlformats.org/drawingml/2006/main" noGrp="1"/>
          </p:cNvSpPr>
          <p:nvPr/>
        </p:nvSpPr>
        <p:spPr>
          <a:xfrm xmlns:a="http://schemas.openxmlformats.org/drawingml/2006/main" rot="0">
            <a:off x="13631132" y="3877311"/>
            <a:ext cx="126637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0000"/>
                </a:solidFill>
                <a:latin typeface="Arial Unicode MS"/>
                <a:ea typeface="Arial Unicode MS"/>
                <a:cs typeface="Arial Unicode MS"/>
              </a:defRPr>
            </a:defPPr>
          </a:lstStyle>
          <a:p xmlns:a="http://schemas.openxmlformats.org/drawingml/2006/main">
            <a:pPr algn="l">
              <a:lnSpc>
                <a:spcPct val="125000"/>
              </a:lnSpc>
              <a:buNone/>
              <a:defRPr sz="1313" b="0">
                <a:solidFill>
                  <a:srgbClr val="000000"/>
                </a:solidFill>
                <a:latin typeface="Arial Unicode MS"/>
                <a:ea typeface="Arial Unicode MS"/>
                <a:cs typeface="Arial Unicode MS"/>
              </a:defRPr>
            </a:pPr>
            <a:r>
              <a:rPr sz="1313" b="0">
                <a:solidFill>
                  <a:srgbClr val="000000"/>
                </a:solidFill>
                <a:latin typeface="Arial Unicode MS"/>
                <a:ea typeface="Arial Unicode MS"/>
                <a:cs typeface="Arial Unicode MS"/>
              </a:rPr>
              <a:t>Services / other</a:t>
            </a:r>
          </a:p>
        </p:txBody>
      </p:sp>
    </p:spTree>
    <p:extLst>
      <p:ext uri="{BB962C8B-B14F-4D97-AF65-F5344CB8AC3E}">
        <p14:creationId xmlns:p14="http://schemas.microsoft.com/office/powerpoint/2010/main" val="15420564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4" name="">
            <a:extLst xmlns:a="http://schemas.openxmlformats.org/drawingml/2006/main">
              <a:ext uri="{FF2B5EF4-FFF2-40B4-BE49-F238E27FC236}">
                <a16:creationId xmlns:a16="http://schemas.microsoft.com/office/drawing/2014/main" id="{6E1289DB-C9F1-4E5A-9492-63E78F7A8FAF}"/>
              </a:ext>
            </a:extLst>
          </p:cNvPr>
          <p:cNvPicPr>
            <a:picLocks xmlns:a="http://schemas.openxmlformats.org/drawingml/2006/main" noChangeAspect="1"/>
          </p:cNvPicPr>
          <p:nvPr/>
        </p:nvPicPr>
        <p:blipFill>
          <a:blip xmlns:r="http://schemas.openxmlformats.org/officeDocument/2006/relationships" xmlns:a="http://schemas.openxmlformats.org/drawingml/2006/main" r:embed="R23176c45ea8643b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8 label 1">
            <a:extLst xmlns:a="http://schemas.openxmlformats.org/drawingml/2006/main">
              <a:ext uri="{FF2B5EF4-FFF2-40B4-BE49-F238E27FC236}">
                <a16:creationId xmlns:a16="http://schemas.microsoft.com/office/drawing/2014/main" id="{B929CEE5-4EEB-468B-89FD-24DD5A4B1661}"/>
              </a:ext>
            </a:extLst>
          </p:cNvPr>
          <p:cNvSpPr>
            <a:spLocks xmlns:a="http://schemas.openxmlformats.org/drawingml/2006/main" noGrp="1"/>
          </p:cNvSpPr>
          <p:nvPr/>
        </p:nvSpPr>
        <p:spPr>
          <a:xfrm xmlns:a="http://schemas.openxmlformats.org/drawingml/2006/main" rot="0">
            <a:off x="26162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Low</a:t>
            </a:r>
          </a:p>
        </p:txBody>
      </p:sp>
      <p:sp>
        <p:nvSpPr>
          <p:cNvPr id="3" name="Figure 8 label 2">
            <a:extLst xmlns:a="http://schemas.openxmlformats.org/drawingml/2006/main">
              <a:ext uri="{FF2B5EF4-FFF2-40B4-BE49-F238E27FC236}">
                <a16:creationId xmlns:a16="http://schemas.microsoft.com/office/drawing/2014/main" id="{1948A598-E5E6-4AE6-BDBE-613060EC6025}"/>
              </a:ext>
            </a:extLst>
          </p:cNvPr>
          <p:cNvSpPr>
            <a:spLocks xmlns:a="http://schemas.openxmlformats.org/drawingml/2006/main" noGrp="1"/>
          </p:cNvSpPr>
          <p:nvPr/>
        </p:nvSpPr>
        <p:spPr>
          <a:xfrm xmlns:a="http://schemas.openxmlformats.org/drawingml/2006/main" rot="0">
            <a:off x="801176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Medium</a:t>
            </a:r>
          </a:p>
        </p:txBody>
      </p:sp>
      <p:sp>
        <p:nvSpPr>
          <p:cNvPr id="4" name="Figure 8 label 3">
            <a:extLst xmlns:a="http://schemas.openxmlformats.org/drawingml/2006/main">
              <a:ext uri="{FF2B5EF4-FFF2-40B4-BE49-F238E27FC236}">
                <a16:creationId xmlns:a16="http://schemas.microsoft.com/office/drawing/2014/main" id="{59D25DA1-4522-4FE2-BC92-5994937BB5AD}"/>
              </a:ext>
            </a:extLst>
          </p:cNvPr>
          <p:cNvSpPr>
            <a:spLocks xmlns:a="http://schemas.openxmlformats.org/drawingml/2006/main" noGrp="1"/>
          </p:cNvSpPr>
          <p:nvPr/>
        </p:nvSpPr>
        <p:spPr>
          <a:xfrm xmlns:a="http://schemas.openxmlformats.org/drawingml/2006/main" rot="0">
            <a:off x="1371418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High</a:t>
            </a:r>
          </a:p>
        </p:txBody>
      </p:sp>
      <p:sp>
        <p:nvSpPr>
          <p:cNvPr id="5" name="Figure 8 label 4">
            <a:extLst xmlns:a="http://schemas.openxmlformats.org/drawingml/2006/main">
              <a:ext uri="{FF2B5EF4-FFF2-40B4-BE49-F238E27FC236}">
                <a16:creationId xmlns:a16="http://schemas.microsoft.com/office/drawing/2014/main" id="{CF4D016D-D5C2-410C-A781-BD525C909793}"/>
              </a:ext>
            </a:extLst>
          </p:cNvPr>
          <p:cNvSpPr>
            <a:spLocks xmlns:a="http://schemas.openxmlformats.org/drawingml/2006/main" noGrp="1"/>
          </p:cNvSpPr>
          <p:nvPr/>
        </p:nvSpPr>
        <p:spPr>
          <a:xfrm xmlns:a="http://schemas.openxmlformats.org/drawingml/2006/main" rot="0">
            <a:off x="6651992" y="8293814"/>
            <a:ext cx="352097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Expansion difficulty / qualification time →</a:t>
            </a:r>
          </a:p>
        </p:txBody>
      </p:sp>
      <p:sp>
        <p:nvSpPr>
          <p:cNvPr id="6" name="Figure 8 label 5">
            <a:extLst xmlns:a="http://schemas.openxmlformats.org/drawingml/2006/main">
              <a:ext uri="{FF2B5EF4-FFF2-40B4-BE49-F238E27FC236}">
                <a16:creationId xmlns:a16="http://schemas.microsoft.com/office/drawing/2014/main" id="{798BB5E4-EC35-4C02-B44E-3827C2129A43}"/>
              </a:ext>
            </a:extLst>
          </p:cNvPr>
          <p:cNvSpPr>
            <a:spLocks xmlns:a="http://schemas.openxmlformats.org/drawingml/2006/main" noGrp="1"/>
          </p:cNvSpPr>
          <p:nvPr/>
        </p:nvSpPr>
        <p:spPr>
          <a:xfrm xmlns:a="http://schemas.openxmlformats.org/drawingml/2006/main" rot="0">
            <a:off x="83086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Low</a:t>
            </a:r>
          </a:p>
        </p:txBody>
      </p:sp>
      <p:sp>
        <p:nvSpPr>
          <p:cNvPr id="7" name="Figure 8 label 6">
            <a:extLst xmlns:a="http://schemas.openxmlformats.org/drawingml/2006/main">
              <a:ext uri="{FF2B5EF4-FFF2-40B4-BE49-F238E27FC236}">
                <a16:creationId xmlns:a16="http://schemas.microsoft.com/office/drawing/2014/main" id="{D84708EF-185C-4281-BA88-A76360967F69}"/>
              </a:ext>
            </a:extLst>
          </p:cNvPr>
          <p:cNvSpPr>
            <a:spLocks xmlns:a="http://schemas.openxmlformats.org/drawingml/2006/main" noGrp="1"/>
          </p:cNvSpPr>
          <p:nvPr/>
        </p:nvSpPr>
        <p:spPr>
          <a:xfrm xmlns:a="http://schemas.openxmlformats.org/drawingml/2006/main" rot="0">
            <a:off x="50285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Medium</a:t>
            </a:r>
          </a:p>
        </p:txBody>
      </p:sp>
      <p:sp>
        <p:nvSpPr>
          <p:cNvPr id="8" name="Figure 8 label 7">
            <a:extLst xmlns:a="http://schemas.openxmlformats.org/drawingml/2006/main">
              <a:ext uri="{FF2B5EF4-FFF2-40B4-BE49-F238E27FC236}">
                <a16:creationId xmlns:a16="http://schemas.microsoft.com/office/drawing/2014/main" id="{6D9E0B99-E8B2-486B-B149-8454452D8013}"/>
              </a:ext>
            </a:extLst>
          </p:cNvPr>
          <p:cNvSpPr>
            <a:spLocks xmlns:a="http://schemas.openxmlformats.org/drawingml/2006/main" noGrp="1"/>
          </p:cNvSpPr>
          <p:nvPr/>
        </p:nvSpPr>
        <p:spPr>
          <a:xfrm xmlns:a="http://schemas.openxmlformats.org/drawingml/2006/main" rot="0">
            <a:off x="78860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High</a:t>
            </a:r>
          </a:p>
        </p:txBody>
      </p:sp>
      <p:sp>
        <p:nvSpPr>
          <p:cNvPr id="9" name="Figure 8 label 8">
            <a:extLst xmlns:a="http://schemas.openxmlformats.org/drawingml/2006/main">
              <a:ext uri="{FF2B5EF4-FFF2-40B4-BE49-F238E27FC236}">
                <a16:creationId xmlns:a16="http://schemas.microsoft.com/office/drawing/2014/main" id="{36DFC741-27EB-4630-9AF8-856DF428EA86}"/>
              </a:ext>
            </a:extLst>
          </p:cNvPr>
          <p:cNvSpPr>
            <a:spLocks xmlns:a="http://schemas.openxmlformats.org/drawingml/2006/main" noGrp="1"/>
          </p:cNvSpPr>
          <p:nvPr/>
        </p:nvSpPr>
        <p:spPr>
          <a:xfrm xmlns:a="http://schemas.openxmlformats.org/drawingml/2006/main" rot="16200000">
            <a:off x="-1498674" y="4918710"/>
            <a:ext cx="3775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Potential benefit from demand expansion →</a:t>
            </a:r>
          </a:p>
        </p:txBody>
      </p:sp>
      <p:sp>
        <p:nvSpPr>
          <p:cNvPr id="10" name="Figure 8 label 9">
            <a:extLst xmlns:a="http://schemas.openxmlformats.org/drawingml/2006/main">
              <a:ext uri="{FF2B5EF4-FFF2-40B4-BE49-F238E27FC236}">
                <a16:creationId xmlns:a16="http://schemas.microsoft.com/office/drawing/2014/main" id="{8ADC9833-80B4-4AF1-987B-CE69CE7E0BCB}"/>
              </a:ext>
            </a:extLst>
          </p:cNvPr>
          <p:cNvSpPr>
            <a:spLocks xmlns:a="http://schemas.openxmlformats.org/drawingml/2006/main" noGrp="1"/>
          </p:cNvSpPr>
          <p:nvPr/>
        </p:nvSpPr>
        <p:spPr>
          <a:xfrm xmlns:a="http://schemas.openxmlformats.org/drawingml/2006/main" rot="0">
            <a:off x="2012455" y="2407644"/>
            <a:ext cx="3477240"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288" b="0">
                <a:solidFill>
                  <a:srgbClr val="657B88"/>
                </a:solidFill>
                <a:latin typeface="Arial Unicode MS"/>
                <a:ea typeface="Arial Unicode MS"/>
                <a:cs typeface="Arial Unicode MS"/>
              </a:defRPr>
            </a:pPr>
            <a:r>
              <a:rPr sz="1288" b="0">
                <a:solidFill>
                  <a:srgbClr val="657B88"/>
                </a:solidFill>
                <a:latin typeface="Arial Unicode MS"/>
                <a:ea typeface="Arial Unicode MS"/>
                <a:cs typeface="Arial Unicode MS"/>
              </a:rPr>
              <a:t>Verify demand and supply constraints together</a:t>
            </a:r>
          </a:p>
        </p:txBody>
      </p:sp>
      <p:sp>
        <p:nvSpPr>
          <p:cNvPr id="11" name="Figure 8 label 10">
            <a:extLst xmlns:a="http://schemas.openxmlformats.org/drawingml/2006/main">
              <a:ext uri="{FF2B5EF4-FFF2-40B4-BE49-F238E27FC236}">
                <a16:creationId xmlns:a16="http://schemas.microsoft.com/office/drawing/2014/main" id="{E00F6D7C-DAE4-4066-9E2C-C46252198B96}"/>
              </a:ext>
            </a:extLst>
          </p:cNvPr>
          <p:cNvSpPr>
            <a:spLocks xmlns:a="http://schemas.openxmlformats.org/drawingml/2006/main" noGrp="1"/>
          </p:cNvSpPr>
          <p:nvPr/>
        </p:nvSpPr>
        <p:spPr>
          <a:xfrm xmlns:a="http://schemas.openxmlformats.org/drawingml/2006/main" rot="0">
            <a:off x="11185779" y="2671608"/>
            <a:ext cx="1221462"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Automation tips</a:t>
            </a:r>
          </a:p>
        </p:txBody>
      </p:sp>
      <p:sp>
        <p:nvSpPr>
          <p:cNvPr id="12" name="Figure 8 label 11">
            <a:extLst xmlns:a="http://schemas.openxmlformats.org/drawingml/2006/main">
              <a:ext uri="{FF2B5EF4-FFF2-40B4-BE49-F238E27FC236}">
                <a16:creationId xmlns:a16="http://schemas.microsoft.com/office/drawing/2014/main" id="{3EFAD9F2-C053-4DF7-9F4B-C8B9A66B6BD8}"/>
              </a:ext>
            </a:extLst>
          </p:cNvPr>
          <p:cNvSpPr>
            <a:spLocks xmlns:a="http://schemas.openxmlformats.org/drawingml/2006/main" noGrp="1"/>
          </p:cNvSpPr>
          <p:nvPr/>
        </p:nvSpPr>
        <p:spPr>
          <a:xfrm xmlns:a="http://schemas.openxmlformats.org/drawingml/2006/main" rot="0">
            <a:off x="8128026" y="3359665"/>
            <a:ext cx="123947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Specialty plates</a:t>
            </a:r>
          </a:p>
        </p:txBody>
      </p:sp>
      <p:sp>
        <p:nvSpPr>
          <p:cNvPr id="13" name="Figure 8 label 12">
            <a:extLst xmlns:a="http://schemas.openxmlformats.org/drawingml/2006/main">
              <a:ext uri="{FF2B5EF4-FFF2-40B4-BE49-F238E27FC236}">
                <a16:creationId xmlns:a16="http://schemas.microsoft.com/office/drawing/2014/main" id="{9BB5F121-6E81-456D-B766-814D90118963}"/>
              </a:ext>
            </a:extLst>
          </p:cNvPr>
          <p:cNvSpPr>
            <a:spLocks xmlns:a="http://schemas.openxmlformats.org/drawingml/2006/main" noGrp="1"/>
          </p:cNvSpPr>
          <p:nvPr/>
        </p:nvSpPr>
        <p:spPr>
          <a:xfrm xmlns:a="http://schemas.openxmlformats.org/drawingml/2006/main" rot="0">
            <a:off x="11741734" y="3965928"/>
            <a:ext cx="159025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Custom components</a:t>
            </a:r>
          </a:p>
        </p:txBody>
      </p:sp>
      <p:sp>
        <p:nvSpPr>
          <p:cNvPr id="14" name="Figure 8 label 13">
            <a:extLst xmlns:a="http://schemas.openxmlformats.org/drawingml/2006/main">
              <a:ext uri="{FF2B5EF4-FFF2-40B4-BE49-F238E27FC236}">
                <a16:creationId xmlns:a16="http://schemas.microsoft.com/office/drawing/2014/main" id="{22A6DF57-77DE-46E2-9189-6C9699DE9F48}"/>
              </a:ext>
            </a:extLst>
          </p:cNvPr>
          <p:cNvSpPr>
            <a:spLocks xmlns:a="http://schemas.openxmlformats.org/drawingml/2006/main" noGrp="1"/>
          </p:cNvSpPr>
          <p:nvPr/>
        </p:nvSpPr>
        <p:spPr>
          <a:xfrm xmlns:a="http://schemas.openxmlformats.org/drawingml/2006/main" rot="0">
            <a:off x="9517914" y="4515295"/>
            <a:ext cx="133859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Functional beads</a:t>
            </a:r>
          </a:p>
        </p:txBody>
      </p:sp>
      <p:sp>
        <p:nvSpPr>
          <p:cNvPr id="15" name="Figure 8 label 14">
            <a:extLst xmlns:a="http://schemas.openxmlformats.org/drawingml/2006/main">
              <a:ext uri="{FF2B5EF4-FFF2-40B4-BE49-F238E27FC236}">
                <a16:creationId xmlns:a16="http://schemas.microsoft.com/office/drawing/2014/main" id="{20A5697E-609F-4BFD-9337-300C583998B1}"/>
              </a:ext>
            </a:extLst>
          </p:cNvPr>
          <p:cNvSpPr>
            <a:spLocks xmlns:a="http://schemas.openxmlformats.org/drawingml/2006/main" noGrp="1"/>
          </p:cNvSpPr>
          <p:nvPr/>
        </p:nvSpPr>
        <p:spPr>
          <a:xfrm xmlns:a="http://schemas.openxmlformats.org/drawingml/2006/main" rot="0">
            <a:off x="7850048" y="2670735"/>
            <a:ext cx="181543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High-throughput assays</a:t>
            </a:r>
          </a:p>
        </p:txBody>
      </p:sp>
      <p:sp>
        <p:nvSpPr>
          <p:cNvPr id="16" name="Figure 8 label 15">
            <a:extLst xmlns:a="http://schemas.openxmlformats.org/drawingml/2006/main">
              <a:ext uri="{FF2B5EF4-FFF2-40B4-BE49-F238E27FC236}">
                <a16:creationId xmlns:a16="http://schemas.microsoft.com/office/drawing/2014/main" id="{5B85F0DB-B914-40A2-AFC0-B04DC7AFF0DE}"/>
              </a:ext>
            </a:extLst>
          </p:cNvPr>
          <p:cNvSpPr>
            <a:spLocks xmlns:a="http://schemas.openxmlformats.org/drawingml/2006/main" noGrp="1"/>
          </p:cNvSpPr>
          <p:nvPr/>
        </p:nvSpPr>
        <p:spPr>
          <a:xfrm xmlns:a="http://schemas.openxmlformats.org/drawingml/2006/main" rot="0">
            <a:off x="6251677" y="4157679"/>
            <a:ext cx="186946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Specialty building blocks</a:t>
            </a:r>
          </a:p>
        </p:txBody>
      </p:sp>
      <p:sp>
        <p:nvSpPr>
          <p:cNvPr id="17" name="Figure 8 label 16">
            <a:extLst xmlns:a="http://schemas.openxmlformats.org/drawingml/2006/main">
              <a:ext uri="{FF2B5EF4-FFF2-40B4-BE49-F238E27FC236}">
                <a16:creationId xmlns:a16="http://schemas.microsoft.com/office/drawing/2014/main" id="{64DBC804-5261-40B9-BE80-D445079AE877}"/>
              </a:ext>
            </a:extLst>
          </p:cNvPr>
          <p:cNvSpPr>
            <a:spLocks xmlns:a="http://schemas.openxmlformats.org/drawingml/2006/main" noGrp="1"/>
          </p:cNvSpPr>
          <p:nvPr/>
        </p:nvSpPr>
        <p:spPr>
          <a:xfrm xmlns:a="http://schemas.openxmlformats.org/drawingml/2006/main" rot="0">
            <a:off x="3124429" y="6193877"/>
            <a:ext cx="128426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Generic labware</a:t>
            </a:r>
          </a:p>
        </p:txBody>
      </p:sp>
      <p:sp>
        <p:nvSpPr>
          <p:cNvPr id="18" name="Figure 8 label 17">
            <a:extLst xmlns:a="http://schemas.openxmlformats.org/drawingml/2006/main">
              <a:ext uri="{FF2B5EF4-FFF2-40B4-BE49-F238E27FC236}">
                <a16:creationId xmlns:a16="http://schemas.microsoft.com/office/drawing/2014/main" id="{443A7401-8E4A-406C-B892-DF25179F916D}"/>
              </a:ext>
            </a:extLst>
          </p:cNvPr>
          <p:cNvSpPr>
            <a:spLocks xmlns:a="http://schemas.openxmlformats.org/drawingml/2006/main" noGrp="1"/>
          </p:cNvSpPr>
          <p:nvPr/>
        </p:nvSpPr>
        <p:spPr>
          <a:xfrm xmlns:a="http://schemas.openxmlformats.org/drawingml/2006/main" rot="0">
            <a:off x="12575667" y="5203353"/>
            <a:ext cx="163580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Sequencing reagents</a:t>
            </a:r>
          </a:p>
        </p:txBody>
      </p:sp>
      <p:sp>
        <p:nvSpPr>
          <p:cNvPr id="19" name="Figure 8 label 18">
            <a:extLst xmlns:a="http://schemas.openxmlformats.org/drawingml/2006/main">
              <a:ext uri="{FF2B5EF4-FFF2-40B4-BE49-F238E27FC236}">
                <a16:creationId xmlns:a16="http://schemas.microsoft.com/office/drawing/2014/main" id="{694F3290-FD62-4AE3-8AEE-4A641FD98274}"/>
              </a:ext>
            </a:extLst>
          </p:cNvPr>
          <p:cNvSpPr>
            <a:spLocks xmlns:a="http://schemas.openxmlformats.org/drawingml/2006/main" noGrp="1"/>
          </p:cNvSpPr>
          <p:nvPr/>
        </p:nvSpPr>
        <p:spPr>
          <a:xfrm xmlns:a="http://schemas.openxmlformats.org/drawingml/2006/main" rot="0">
            <a:off x="12089206" y="6056402"/>
            <a:ext cx="160841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263B49"/>
                </a:solidFill>
                <a:latin typeface="Arial Unicode MS"/>
                <a:ea typeface="Arial Unicode MS"/>
                <a:cs typeface="Arial Unicode MS"/>
              </a:defRPr>
            </a:defPPr>
          </a:lstStyle>
          <a:p xmlns:a="http://schemas.openxmlformats.org/drawingml/2006/main">
            <a:pPr algn="l">
              <a:lnSpc>
                <a:spcPct val="125000"/>
              </a:lnSpc>
              <a:buNone/>
              <a:defRPr sz="1275" b="0">
                <a:solidFill>
                  <a:srgbClr val="263B49"/>
                </a:solidFill>
                <a:latin typeface="Arial Unicode MS"/>
                <a:ea typeface="Arial Unicode MS"/>
                <a:cs typeface="Arial Unicode MS"/>
              </a:defRPr>
            </a:pPr>
            <a:r>
              <a:rPr sz="1275" b="0">
                <a:solidFill>
                  <a:srgbClr val="263B49"/>
                </a:solidFill>
                <a:latin typeface="Arial Unicode MS"/>
                <a:ea typeface="Arial Unicode MS"/>
                <a:cs typeface="Arial Unicode MS"/>
              </a:rPr>
              <a:t>Manufacturing resins</a:t>
            </a:r>
          </a:p>
        </p:txBody>
      </p:sp>
      <p:sp>
        <p:nvSpPr>
          <p:cNvPr id="20" name="Figure 8 label 19">
            <a:extLst xmlns:a="http://schemas.openxmlformats.org/drawingml/2006/main">
              <a:ext uri="{FF2B5EF4-FFF2-40B4-BE49-F238E27FC236}">
                <a16:creationId xmlns:a16="http://schemas.microsoft.com/office/drawing/2014/main" id="{137ADBDA-A971-45B2-BB9F-3E512DED99D4}"/>
              </a:ext>
            </a:extLst>
          </p:cNvPr>
          <p:cNvSpPr>
            <a:spLocks xmlns:a="http://schemas.openxmlformats.org/drawingml/2006/main" noGrp="1"/>
          </p:cNvSpPr>
          <p:nvPr/>
        </p:nvSpPr>
        <p:spPr>
          <a:xfrm xmlns:a="http://schemas.openxmlformats.org/drawingml/2006/main" rot="0">
            <a:off x="991870" y="420392"/>
            <a:ext cx="803007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08  Potential supply constraints over 12–24 months</a:t>
            </a:r>
          </a:p>
        </p:txBody>
      </p:sp>
      <p:sp>
        <p:nvSpPr>
          <p:cNvPr id="21" name="Figure 8 label 20">
            <a:extLst xmlns:a="http://schemas.openxmlformats.org/drawingml/2006/main">
              <a:ext uri="{FF2B5EF4-FFF2-40B4-BE49-F238E27FC236}">
                <a16:creationId xmlns:a16="http://schemas.microsoft.com/office/drawing/2014/main" id="{0CD82844-4322-4AAE-A0FA-CF8E8554A3D0}"/>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HYPOTHESIS</a:t>
            </a:r>
          </a:p>
        </p:txBody>
      </p:sp>
      <p:sp>
        <p:nvSpPr>
          <p:cNvPr id="22" name="Figure 8 label 21">
            <a:extLst xmlns:a="http://schemas.openxmlformats.org/drawingml/2006/main">
              <a:ext uri="{FF2B5EF4-FFF2-40B4-BE49-F238E27FC236}">
                <a16:creationId xmlns:a16="http://schemas.microsoft.com/office/drawing/2014/main" id="{277D8E56-7696-4A93-B42D-40205CE00DC9}"/>
              </a:ext>
            </a:extLst>
          </p:cNvPr>
          <p:cNvSpPr>
            <a:spLocks xmlns:a="http://schemas.openxmlformats.org/drawingml/2006/main" noGrp="1"/>
          </p:cNvSpPr>
          <p:nvPr/>
        </p:nvSpPr>
        <p:spPr>
          <a:xfrm xmlns:a="http://schemas.openxmlformats.org/drawingml/2006/main" rot="0">
            <a:off x="998220" y="1249487"/>
            <a:ext cx="91143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Relative expansion and qualification constraints over 12–24 months; current shortages are not established.</a:t>
            </a:r>
          </a:p>
        </p:txBody>
      </p:sp>
      <p:sp>
        <p:nvSpPr>
          <p:cNvPr id="23" name="Figure 8 label 22">
            <a:extLst xmlns:a="http://schemas.openxmlformats.org/drawingml/2006/main">
              <a:ext uri="{FF2B5EF4-FFF2-40B4-BE49-F238E27FC236}">
                <a16:creationId xmlns:a16="http://schemas.microsoft.com/office/drawing/2014/main" id="{6F9968AD-5724-4061-B470-2A280456D807}"/>
              </a:ext>
            </a:extLst>
          </p:cNvPr>
          <p:cNvSpPr>
            <a:spLocks xmlns:a="http://schemas.openxmlformats.org/drawingml/2006/main" noGrp="1"/>
          </p:cNvSpPr>
          <p:nvPr/>
        </p:nvSpPr>
        <p:spPr>
          <a:xfrm xmlns:a="http://schemas.openxmlformats.org/drawingml/2006/main" rot="0">
            <a:off x="999173" y="9256035"/>
            <a:ext cx="809505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Track lead times, stockouts, qualification, yields and prices. Manufacturing resins have a longer demand lag.</a:t>
            </a:r>
          </a:p>
        </p:txBody>
      </p:sp>
      <p:sp>
        <p:nvSpPr>
          <p:cNvPr id="24" name="Figure 8 label 23">
            <a:extLst xmlns:a="http://schemas.openxmlformats.org/drawingml/2006/main">
              <a:ext uri="{FF2B5EF4-FFF2-40B4-BE49-F238E27FC236}">
                <a16:creationId xmlns:a16="http://schemas.microsoft.com/office/drawing/2014/main" id="{6D5AD61C-E20D-424B-B328-AFECD65629FB}"/>
              </a:ext>
            </a:extLst>
          </p:cNvPr>
          <p:cNvSpPr>
            <a:spLocks xmlns:a="http://schemas.openxmlformats.org/drawingml/2006/main" noGrp="1"/>
          </p:cNvSpPr>
          <p:nvPr/>
        </p:nvSpPr>
        <p:spPr>
          <a:xfrm xmlns:a="http://schemas.openxmlformats.org/drawingml/2006/main" rot="0">
            <a:off x="1000316" y="9675546"/>
            <a:ext cx="6633895"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framework and analyst hypotheses. Technical barriers do not prove a capacity bottleneck.</a:t>
            </a:r>
          </a:p>
        </p:txBody>
      </p:sp>
      <p:sp>
        <p:nvSpPr>
          <p:cNvPr id="25" name="Figure 8 label 24">
            <a:extLst xmlns:a="http://schemas.openxmlformats.org/drawingml/2006/main">
              <a:ext uri="{FF2B5EF4-FFF2-40B4-BE49-F238E27FC236}">
                <a16:creationId xmlns:a16="http://schemas.microsoft.com/office/drawing/2014/main" id="{759577F0-0035-4B99-83A4-094D85A5D340}"/>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26" name="Figure 8 label 25">
            <a:extLst xmlns:a="http://schemas.openxmlformats.org/drawingml/2006/main">
              <a:ext uri="{FF2B5EF4-FFF2-40B4-BE49-F238E27FC236}">
                <a16:creationId xmlns:a16="http://schemas.microsoft.com/office/drawing/2014/main" id="{66439922-E0BB-4BFF-8548-8EB018E334EE}"/>
              </a:ext>
            </a:extLst>
          </p:cNvPr>
          <p:cNvSpPr>
            <a:spLocks xmlns:a="http://schemas.openxmlformats.org/drawingml/2006/main" noGrp="1"/>
          </p:cNvSpPr>
          <p:nvPr/>
        </p:nvSpPr>
        <p:spPr>
          <a:xfrm xmlns:a="http://schemas.openxmlformats.org/drawingml/2006/main" rot="0">
            <a:off x="15811500" y="3274865"/>
            <a:ext cx="18606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49837F"/>
                </a:solidFill>
                <a:latin typeface="Arial Unicode MS"/>
                <a:ea typeface="Arial Unicode MS"/>
                <a:cs typeface="Arial Unicode MS"/>
              </a:defRPr>
            </a:defPPr>
          </a:lstStyle>
          <a:p xmlns:a="http://schemas.openxmlformats.org/drawingml/2006/main">
            <a:pPr algn="l">
              <a:lnSpc>
                <a:spcPct val="125000"/>
              </a:lnSpc>
              <a:buNone/>
              <a:defRPr sz="1500" b="1">
                <a:solidFill>
                  <a:srgbClr val="49837F"/>
                </a:solidFill>
                <a:latin typeface="Arial Unicode MS"/>
                <a:ea typeface="Arial Unicode MS"/>
                <a:cs typeface="Arial Unicode MS"/>
              </a:defRPr>
            </a:pPr>
            <a:r>
              <a:rPr sz="1500" b="1">
                <a:solidFill>
                  <a:srgbClr val="49837F"/>
                </a:solidFill>
                <a:latin typeface="Arial Unicode MS"/>
                <a:ea typeface="Arial Unicode MS"/>
                <a:cs typeface="Arial Unicode MS"/>
              </a:rPr>
              <a:t>Potential opportunity</a:t>
            </a:r>
          </a:p>
        </p:txBody>
      </p:sp>
      <p:sp>
        <p:nvSpPr>
          <p:cNvPr id="27" name="Figure 8 label 26">
            <a:extLst xmlns:a="http://schemas.openxmlformats.org/drawingml/2006/main">
              <a:ext uri="{FF2B5EF4-FFF2-40B4-BE49-F238E27FC236}">
                <a16:creationId xmlns:a16="http://schemas.microsoft.com/office/drawing/2014/main" id="{7AD9C33C-D853-42B1-897B-EB611E63BF08}"/>
              </a:ext>
            </a:extLst>
          </p:cNvPr>
          <p:cNvSpPr>
            <a:spLocks xmlns:a="http://schemas.openxmlformats.org/drawingml/2006/main" noGrp="1"/>
          </p:cNvSpPr>
          <p:nvPr/>
        </p:nvSpPr>
        <p:spPr>
          <a:xfrm xmlns:a="http://schemas.openxmlformats.org/drawingml/2006/main" rot="0">
            <a:off x="15812135" y="4388424"/>
            <a:ext cx="130740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375" b="0">
                <a:solidFill>
                  <a:srgbClr val="657B88"/>
                </a:solidFill>
                <a:latin typeface="Arial Unicode MS"/>
                <a:ea typeface="Arial Unicode MS"/>
                <a:cs typeface="Arial Unicode MS"/>
              </a:defRPr>
            </a:pPr>
            <a:r>
              <a:rPr sz="1375" b="0">
                <a:solidFill>
                  <a:srgbClr val="657B88"/>
                </a:solidFill>
                <a:latin typeface="Arial Unicode MS"/>
                <a:ea typeface="Arial Unicode MS"/>
                <a:cs typeface="Arial Unicode MS"/>
              </a:rPr>
              <a:t>Strong demand</a:t>
            </a:r>
          </a:p>
        </p:txBody>
      </p:sp>
      <p:sp>
        <p:nvSpPr>
          <p:cNvPr id="28" name="Figure 8 label 27">
            <a:extLst xmlns:a="http://schemas.openxmlformats.org/drawingml/2006/main">
              <a:ext uri="{FF2B5EF4-FFF2-40B4-BE49-F238E27FC236}">
                <a16:creationId xmlns:a16="http://schemas.microsoft.com/office/drawing/2014/main" id="{2A605D2E-3276-4594-9FCE-F3346045D862}"/>
              </a:ext>
            </a:extLst>
          </p:cNvPr>
          <p:cNvSpPr>
            <a:spLocks xmlns:a="http://schemas.openxmlformats.org/drawingml/2006/main" noGrp="1"/>
          </p:cNvSpPr>
          <p:nvPr/>
        </p:nvSpPr>
        <p:spPr>
          <a:xfrm xmlns:a="http://schemas.openxmlformats.org/drawingml/2006/main" rot="0">
            <a:off x="15812135" y="4641202"/>
            <a:ext cx="1336427"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375" b="0">
                <a:solidFill>
                  <a:srgbClr val="657B88"/>
                </a:solidFill>
                <a:latin typeface="Arial Unicode MS"/>
                <a:ea typeface="Arial Unicode MS"/>
                <a:cs typeface="Arial Unicode MS"/>
              </a:defRPr>
            </a:pPr>
            <a:r>
              <a:rPr sz="1375" b="0">
                <a:solidFill>
                  <a:srgbClr val="657B88"/>
                </a:solidFill>
                <a:latin typeface="Arial Unicode MS"/>
                <a:ea typeface="Arial Unicode MS"/>
                <a:cs typeface="Arial Unicode MS"/>
              </a:rPr>
              <a:t>Slow expansion</a:t>
            </a:r>
          </a:p>
        </p:txBody>
      </p:sp>
      <p:sp>
        <p:nvSpPr>
          <p:cNvPr id="29" name="Figure 8 label 28">
            <a:extLst xmlns:a="http://schemas.openxmlformats.org/drawingml/2006/main">
              <a:ext uri="{FF2B5EF4-FFF2-40B4-BE49-F238E27FC236}">
                <a16:creationId xmlns:a16="http://schemas.microsoft.com/office/drawing/2014/main" id="{EFFE47F2-D911-4BB1-B094-89FD808E2BC1}"/>
              </a:ext>
            </a:extLst>
          </p:cNvPr>
          <p:cNvSpPr>
            <a:spLocks xmlns:a="http://schemas.openxmlformats.org/drawingml/2006/main" noGrp="1"/>
          </p:cNvSpPr>
          <p:nvPr/>
        </p:nvSpPr>
        <p:spPr>
          <a:xfrm xmlns:a="http://schemas.openxmlformats.org/drawingml/2006/main" rot="0">
            <a:off x="15812135" y="4892097"/>
            <a:ext cx="1462633"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375" b="0">
                <a:solidFill>
                  <a:srgbClr val="657B88"/>
                </a:solidFill>
                <a:latin typeface="Arial Unicode MS"/>
                <a:ea typeface="Arial Unicode MS"/>
                <a:cs typeface="Arial Unicode MS"/>
              </a:defRPr>
            </a:pPr>
            <a:r>
              <a:rPr sz="1375" b="0">
                <a:solidFill>
                  <a:srgbClr val="657B88"/>
                </a:solidFill>
                <a:latin typeface="Arial Unicode MS"/>
                <a:ea typeface="Arial Unicode MS"/>
                <a:cs typeface="Arial Unicode MS"/>
              </a:rPr>
              <a:t>Slow qualification</a:t>
            </a:r>
          </a:p>
        </p:txBody>
      </p:sp>
      <p:sp>
        <p:nvSpPr>
          <p:cNvPr id="30" name="Figure 8 label 29">
            <a:extLst xmlns:a="http://schemas.openxmlformats.org/drawingml/2006/main">
              <a:ext uri="{FF2B5EF4-FFF2-40B4-BE49-F238E27FC236}">
                <a16:creationId xmlns:a16="http://schemas.microsoft.com/office/drawing/2014/main" id="{F11A11E2-7243-401C-88F2-C20444FCF4A8}"/>
              </a:ext>
            </a:extLst>
          </p:cNvPr>
          <p:cNvSpPr>
            <a:spLocks xmlns:a="http://schemas.openxmlformats.org/drawingml/2006/main" noGrp="1"/>
          </p:cNvSpPr>
          <p:nvPr/>
        </p:nvSpPr>
        <p:spPr>
          <a:xfrm xmlns:a="http://schemas.openxmlformats.org/drawingml/2006/main" rot="0">
            <a:off x="15812135" y="5139374"/>
            <a:ext cx="1491952"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657B88"/>
                </a:solidFill>
                <a:latin typeface="Arial Unicode MS"/>
                <a:ea typeface="Arial Unicode MS"/>
                <a:cs typeface="Arial Unicode MS"/>
              </a:defRPr>
            </a:defPPr>
          </a:lstStyle>
          <a:p xmlns:a="http://schemas.openxmlformats.org/drawingml/2006/main">
            <a:pPr algn="l">
              <a:lnSpc>
                <a:spcPct val="125000"/>
              </a:lnSpc>
              <a:buNone/>
              <a:defRPr sz="1375" b="0">
                <a:solidFill>
                  <a:srgbClr val="657B88"/>
                </a:solidFill>
                <a:latin typeface="Arial Unicode MS"/>
                <a:ea typeface="Arial Unicode MS"/>
                <a:cs typeface="Arial Unicode MS"/>
              </a:defRPr>
            </a:pPr>
            <a:r>
              <a:rPr sz="1375" b="0">
                <a:solidFill>
                  <a:srgbClr val="657B88"/>
                </a:solidFill>
                <a:latin typeface="Arial Unicode MS"/>
                <a:ea typeface="Arial Unicode MS"/>
                <a:cs typeface="Arial Unicode MS"/>
              </a:rPr>
              <a:t>All need evidence</a:t>
            </a:r>
          </a:p>
        </p:txBody>
      </p:sp>
      <p:sp>
        <p:nvSpPr>
          <p:cNvPr id="31" name="Figure 8 label 30">
            <a:extLst xmlns:a="http://schemas.openxmlformats.org/drawingml/2006/main">
              <a:ext uri="{FF2B5EF4-FFF2-40B4-BE49-F238E27FC236}">
                <a16:creationId xmlns:a16="http://schemas.microsoft.com/office/drawing/2014/main" id="{3B72CF1F-C8C3-49A9-9611-5E8AFF4F91B5}"/>
              </a:ext>
            </a:extLst>
          </p:cNvPr>
          <p:cNvSpPr>
            <a:spLocks xmlns:a="http://schemas.openxmlformats.org/drawingml/2006/main" noGrp="1"/>
          </p:cNvSpPr>
          <p:nvPr/>
        </p:nvSpPr>
        <p:spPr>
          <a:xfrm xmlns:a="http://schemas.openxmlformats.org/drawingml/2006/main" rot="0">
            <a:off x="15812262" y="6652643"/>
            <a:ext cx="15218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Check inventories,</a:t>
            </a:r>
          </a:p>
        </p:txBody>
      </p:sp>
      <p:sp>
        <p:nvSpPr>
          <p:cNvPr id="32" name="Figure 8 label 31">
            <a:extLst xmlns:a="http://schemas.openxmlformats.org/drawingml/2006/main">
              <a:ext uri="{FF2B5EF4-FFF2-40B4-BE49-F238E27FC236}">
                <a16:creationId xmlns:a16="http://schemas.microsoft.com/office/drawing/2014/main" id="{C67E4D32-9213-4C38-A1AD-FDE65BA7A64F}"/>
              </a:ext>
            </a:extLst>
          </p:cNvPr>
          <p:cNvSpPr>
            <a:spLocks xmlns:a="http://schemas.openxmlformats.org/drawingml/2006/main" noGrp="1"/>
          </p:cNvSpPr>
          <p:nvPr/>
        </p:nvSpPr>
        <p:spPr>
          <a:xfrm xmlns:a="http://schemas.openxmlformats.org/drawingml/2006/main" rot="0">
            <a:off x="15812262" y="6895424"/>
            <a:ext cx="93118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orders and</a:t>
            </a:r>
          </a:p>
        </p:txBody>
      </p:sp>
      <p:sp>
        <p:nvSpPr>
          <p:cNvPr id="33" name="Figure 8 label 32">
            <a:extLst xmlns:a="http://schemas.openxmlformats.org/drawingml/2006/main">
              <a:ext uri="{FF2B5EF4-FFF2-40B4-BE49-F238E27FC236}">
                <a16:creationId xmlns:a16="http://schemas.microsoft.com/office/drawing/2014/main" id="{FF1A6998-D2A7-47C7-B26D-6EBF7FF582DD}"/>
              </a:ext>
            </a:extLst>
          </p:cNvPr>
          <p:cNvSpPr>
            <a:spLocks xmlns:a="http://schemas.openxmlformats.org/drawingml/2006/main" noGrp="1"/>
          </p:cNvSpPr>
          <p:nvPr/>
        </p:nvSpPr>
        <p:spPr>
          <a:xfrm xmlns:a="http://schemas.openxmlformats.org/drawingml/2006/main" rot="0">
            <a:off x="15812262" y="7138206"/>
            <a:ext cx="8929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lead times</a:t>
            </a:r>
          </a:p>
        </p:txBody>
      </p:sp>
    </p:spTree>
    <p:extLst>
      <p:ext uri="{BB962C8B-B14F-4D97-AF65-F5344CB8AC3E}">
        <p14:creationId xmlns:p14="http://schemas.microsoft.com/office/powerpoint/2010/main" val="23344697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7" name="">
            <a:extLst xmlns:a="http://schemas.openxmlformats.org/drawingml/2006/main">
              <a:ext uri="{FF2B5EF4-FFF2-40B4-BE49-F238E27FC236}">
                <a16:creationId xmlns:a16="http://schemas.microsoft.com/office/drawing/2014/main" id="{F1C0A201-8D9F-429F-B0CC-D7E3C00045B9}"/>
              </a:ext>
            </a:extLst>
          </p:cNvPr>
          <p:cNvPicPr>
            <a:picLocks xmlns:a="http://schemas.openxmlformats.org/drawingml/2006/main" noChangeAspect="1"/>
          </p:cNvPicPr>
          <p:nvPr/>
        </p:nvPicPr>
        <p:blipFill>
          <a:blip xmlns:r="http://schemas.openxmlformats.org/officeDocument/2006/relationships" xmlns:a="http://schemas.openxmlformats.org/drawingml/2006/main" r:embed="Rdf1740685b72414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9 label 1">
            <a:extLst xmlns:a="http://schemas.openxmlformats.org/drawingml/2006/main">
              <a:ext uri="{FF2B5EF4-FFF2-40B4-BE49-F238E27FC236}">
                <a16:creationId xmlns:a16="http://schemas.microsoft.com/office/drawing/2014/main" id="{10A1A031-6C66-4E75-9494-5A7AC430C054}"/>
              </a:ext>
            </a:extLst>
          </p:cNvPr>
          <p:cNvSpPr>
            <a:spLocks xmlns:a="http://schemas.openxmlformats.org/drawingml/2006/main" noGrp="1"/>
          </p:cNvSpPr>
          <p:nvPr/>
        </p:nvSpPr>
        <p:spPr>
          <a:xfrm xmlns:a="http://schemas.openxmlformats.org/drawingml/2006/main" rot="0">
            <a:off x="23876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Low</a:t>
            </a:r>
          </a:p>
        </p:txBody>
      </p:sp>
      <p:sp>
        <p:nvSpPr>
          <p:cNvPr id="3" name="Figure 9 label 2">
            <a:extLst xmlns:a="http://schemas.openxmlformats.org/drawingml/2006/main">
              <a:ext uri="{FF2B5EF4-FFF2-40B4-BE49-F238E27FC236}">
                <a16:creationId xmlns:a16="http://schemas.microsoft.com/office/drawing/2014/main" id="{C03B5C8F-EEDA-4E24-ABCC-3666F330194A}"/>
              </a:ext>
            </a:extLst>
          </p:cNvPr>
          <p:cNvSpPr>
            <a:spLocks xmlns:a="http://schemas.openxmlformats.org/drawingml/2006/main" noGrp="1"/>
          </p:cNvSpPr>
          <p:nvPr/>
        </p:nvSpPr>
        <p:spPr>
          <a:xfrm xmlns:a="http://schemas.openxmlformats.org/drawingml/2006/main" rot="0">
            <a:off x="650300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Medium</a:t>
            </a:r>
          </a:p>
        </p:txBody>
      </p:sp>
      <p:sp>
        <p:nvSpPr>
          <p:cNvPr id="4" name="Figure 9 label 3">
            <a:extLst xmlns:a="http://schemas.openxmlformats.org/drawingml/2006/main">
              <a:ext uri="{FF2B5EF4-FFF2-40B4-BE49-F238E27FC236}">
                <a16:creationId xmlns:a16="http://schemas.microsoft.com/office/drawing/2014/main" id="{32FF567F-C2EB-42BF-9455-5D90D9E98E74}"/>
              </a:ext>
            </a:extLst>
          </p:cNvPr>
          <p:cNvSpPr>
            <a:spLocks xmlns:a="http://schemas.openxmlformats.org/drawingml/2006/main" noGrp="1"/>
          </p:cNvSpPr>
          <p:nvPr/>
        </p:nvSpPr>
        <p:spPr>
          <a:xfrm xmlns:a="http://schemas.openxmlformats.org/drawingml/2006/main" rot="0">
            <a:off x="1092526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6A7F8B"/>
                </a:solidFill>
                <a:latin typeface="Arial Unicode MS"/>
                <a:ea typeface="Arial Unicode MS"/>
                <a:cs typeface="Arial Unicode MS"/>
              </a:defRPr>
            </a:defPPr>
          </a:lstStyle>
          <a:p xmlns:a="http://schemas.openxmlformats.org/drawingml/2006/main">
            <a:pPr algn="ct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High</a:t>
            </a:r>
          </a:p>
        </p:txBody>
      </p:sp>
      <p:sp>
        <p:nvSpPr>
          <p:cNvPr id="5" name="Figure 9 label 4">
            <a:extLst xmlns:a="http://schemas.openxmlformats.org/drawingml/2006/main">
              <a:ext uri="{FF2B5EF4-FFF2-40B4-BE49-F238E27FC236}">
                <a16:creationId xmlns:a16="http://schemas.microsoft.com/office/drawing/2014/main" id="{1553F72B-7F9D-47CA-82DA-C2C9BC531A2A}"/>
              </a:ext>
            </a:extLst>
          </p:cNvPr>
          <p:cNvSpPr>
            <a:spLocks xmlns:a="http://schemas.openxmlformats.org/drawingml/2006/main" noGrp="1"/>
          </p:cNvSpPr>
          <p:nvPr/>
        </p:nvSpPr>
        <p:spPr>
          <a:xfrm xmlns:a="http://schemas.openxmlformats.org/drawingml/2006/main" rot="0">
            <a:off x="4883750" y="8291493"/>
            <a:ext cx="403994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Direct exposure to AI build-and-test demand →</a:t>
            </a:r>
          </a:p>
        </p:txBody>
      </p:sp>
      <p:sp>
        <p:nvSpPr>
          <p:cNvPr id="6" name="Figure 9 label 5">
            <a:extLst xmlns:a="http://schemas.openxmlformats.org/drawingml/2006/main">
              <a:ext uri="{FF2B5EF4-FFF2-40B4-BE49-F238E27FC236}">
                <a16:creationId xmlns:a16="http://schemas.microsoft.com/office/drawing/2014/main" id="{4B373754-020C-4A48-9C8E-28E65D6FEF81}"/>
              </a:ext>
            </a:extLst>
          </p:cNvPr>
          <p:cNvSpPr>
            <a:spLocks xmlns:a="http://schemas.openxmlformats.org/drawingml/2006/main" noGrp="1"/>
          </p:cNvSpPr>
          <p:nvPr/>
        </p:nvSpPr>
        <p:spPr>
          <a:xfrm xmlns:a="http://schemas.openxmlformats.org/drawingml/2006/main" rot="0">
            <a:off x="92230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Low</a:t>
            </a:r>
          </a:p>
        </p:txBody>
      </p:sp>
      <p:sp>
        <p:nvSpPr>
          <p:cNvPr id="7" name="Figure 9 label 6">
            <a:extLst xmlns:a="http://schemas.openxmlformats.org/drawingml/2006/main">
              <a:ext uri="{FF2B5EF4-FFF2-40B4-BE49-F238E27FC236}">
                <a16:creationId xmlns:a16="http://schemas.microsoft.com/office/drawing/2014/main" id="{B09041A7-E985-433E-97AD-A1B20390F96D}"/>
              </a:ext>
            </a:extLst>
          </p:cNvPr>
          <p:cNvSpPr>
            <a:spLocks xmlns:a="http://schemas.openxmlformats.org/drawingml/2006/main" noGrp="1"/>
          </p:cNvSpPr>
          <p:nvPr/>
        </p:nvSpPr>
        <p:spPr>
          <a:xfrm xmlns:a="http://schemas.openxmlformats.org/drawingml/2006/main" rot="0">
            <a:off x="59429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Medium</a:t>
            </a:r>
          </a:p>
        </p:txBody>
      </p:sp>
      <p:sp>
        <p:nvSpPr>
          <p:cNvPr id="8" name="Figure 9 label 7">
            <a:extLst xmlns:a="http://schemas.openxmlformats.org/drawingml/2006/main">
              <a:ext uri="{FF2B5EF4-FFF2-40B4-BE49-F238E27FC236}">
                <a16:creationId xmlns:a16="http://schemas.microsoft.com/office/drawing/2014/main" id="{58652370-4E90-4C02-8628-D4531027874F}"/>
              </a:ext>
            </a:extLst>
          </p:cNvPr>
          <p:cNvSpPr>
            <a:spLocks xmlns:a="http://schemas.openxmlformats.org/drawingml/2006/main" noGrp="1"/>
          </p:cNvSpPr>
          <p:nvPr/>
        </p:nvSpPr>
        <p:spPr>
          <a:xfrm xmlns:a="http://schemas.openxmlformats.org/drawingml/2006/main" rot="0">
            <a:off x="88004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6A7F8B"/>
                </a:solidFill>
                <a:latin typeface="Arial Unicode MS"/>
                <a:ea typeface="Arial Unicode MS"/>
                <a:cs typeface="Arial Unicode MS"/>
              </a:defRPr>
            </a:defPPr>
          </a:lstStyle>
          <a:p xmlns:a="http://schemas.openxmlformats.org/drawingml/2006/main">
            <a:pPr algn="r">
              <a:lnSpc>
                <a:spcPct val="125000"/>
              </a:lnSpc>
              <a:buNone/>
              <a:defRPr sz="1500" b="0">
                <a:solidFill>
                  <a:srgbClr val="6A7F8B"/>
                </a:solidFill>
                <a:latin typeface="Arial Unicode MS"/>
                <a:ea typeface="Arial Unicode MS"/>
                <a:cs typeface="Arial Unicode MS"/>
              </a:defRPr>
            </a:pPr>
            <a:r>
              <a:rPr sz="1500" b="0">
                <a:solidFill>
                  <a:srgbClr val="6A7F8B"/>
                </a:solidFill>
                <a:latin typeface="Arial Unicode MS"/>
                <a:ea typeface="Arial Unicode MS"/>
                <a:cs typeface="Arial Unicode MS"/>
              </a:rPr>
              <a:t>High</a:t>
            </a:r>
          </a:p>
        </p:txBody>
      </p:sp>
      <p:sp>
        <p:nvSpPr>
          <p:cNvPr id="9" name="Figure 9 label 8">
            <a:extLst xmlns:a="http://schemas.openxmlformats.org/drawingml/2006/main">
              <a:ext uri="{FF2B5EF4-FFF2-40B4-BE49-F238E27FC236}">
                <a16:creationId xmlns:a16="http://schemas.microsoft.com/office/drawing/2014/main" id="{A0D8EF0D-7C2F-4A0F-AC9C-D7CB8B7D7767}"/>
              </a:ext>
            </a:extLst>
          </p:cNvPr>
          <p:cNvSpPr>
            <a:spLocks xmlns:a="http://schemas.openxmlformats.org/drawingml/2006/main" noGrp="1"/>
          </p:cNvSpPr>
          <p:nvPr/>
        </p:nvSpPr>
        <p:spPr>
          <a:xfrm xmlns:a="http://schemas.openxmlformats.org/drawingml/2006/main" rot="16200000">
            <a:off x="-1393066" y="4918710"/>
            <a:ext cx="374317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526977"/>
                </a:solidFill>
                <a:latin typeface="Arial Unicode MS"/>
                <a:ea typeface="Arial Unicode MS"/>
                <a:cs typeface="Arial Unicode MS"/>
              </a:defRPr>
            </a:defPPr>
          </a:lstStyle>
          <a:p xmlns:a="http://schemas.openxmlformats.org/drawingml/2006/main">
            <a:pPr algn="ctr">
              <a:lnSpc>
                <a:spcPct val="125000"/>
              </a:lnSpc>
              <a:buNone/>
              <a:defRPr sz="1500" b="0">
                <a:solidFill>
                  <a:srgbClr val="526977"/>
                </a:solidFill>
                <a:latin typeface="Arial Unicode MS"/>
                <a:ea typeface="Arial Unicode MS"/>
                <a:cs typeface="Arial Unicode MS"/>
              </a:defRPr>
            </a:pPr>
            <a:r>
              <a:rPr sz="1500" b="0">
                <a:solidFill>
                  <a:srgbClr val="526977"/>
                </a:solidFill>
                <a:latin typeface="Arial Unicode MS"/>
                <a:ea typeface="Arial Unicode MS"/>
                <a:cs typeface="Arial Unicode MS"/>
              </a:rPr>
              <a:t>Supply barriers / global customer access →</a:t>
            </a:r>
          </a:p>
        </p:txBody>
      </p:sp>
      <p:sp>
        <p:nvSpPr>
          <p:cNvPr id="10" name="Figure 9 label 9">
            <a:extLst xmlns:a="http://schemas.openxmlformats.org/drawingml/2006/main">
              <a:ext uri="{FF2B5EF4-FFF2-40B4-BE49-F238E27FC236}">
                <a16:creationId xmlns:a16="http://schemas.microsoft.com/office/drawing/2014/main" id="{329A1721-1E4E-4966-BA73-CE21E16D5C86}"/>
              </a:ext>
            </a:extLst>
          </p:cNvPr>
          <p:cNvSpPr>
            <a:spLocks xmlns:a="http://schemas.openxmlformats.org/drawingml/2006/main" noGrp="1"/>
          </p:cNvSpPr>
          <p:nvPr/>
        </p:nvSpPr>
        <p:spPr>
          <a:xfrm xmlns:a="http://schemas.openxmlformats.org/drawingml/2006/main" rot="0">
            <a:off x="9366521" y="2832061"/>
            <a:ext cx="144214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263B49"/>
                </a:solidFill>
                <a:latin typeface="Arial Unicode MS"/>
                <a:ea typeface="Arial Unicode MS"/>
                <a:cs typeface="Arial Unicode MS"/>
              </a:defRPr>
            </a:defPPr>
          </a:lstStyle>
          <a:p xmlns:a="http://schemas.openxmlformats.org/drawingml/2006/main">
            <a:pPr algn="r">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ACROBiosystems</a:t>
            </a:r>
          </a:p>
        </p:txBody>
      </p:sp>
      <p:sp>
        <p:nvSpPr>
          <p:cNvPr id="11" name="Figure 9 label 10">
            <a:extLst xmlns:a="http://schemas.openxmlformats.org/drawingml/2006/main">
              <a:ext uri="{FF2B5EF4-FFF2-40B4-BE49-F238E27FC236}">
                <a16:creationId xmlns:a16="http://schemas.microsoft.com/office/drawing/2014/main" id="{12D68757-7A9F-4999-8809-81578040391C}"/>
              </a:ext>
            </a:extLst>
          </p:cNvPr>
          <p:cNvSpPr>
            <a:spLocks xmlns:a="http://schemas.openxmlformats.org/drawingml/2006/main" noGrp="1"/>
          </p:cNvSpPr>
          <p:nvPr/>
        </p:nvSpPr>
        <p:spPr>
          <a:xfrm xmlns:a="http://schemas.openxmlformats.org/drawingml/2006/main" rot="0">
            <a:off x="11007531" y="3656577"/>
            <a:ext cx="71050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263B49"/>
                </a:solidFill>
                <a:latin typeface="Arial Unicode MS"/>
                <a:ea typeface="Arial Unicode MS"/>
                <a:cs typeface="Arial Unicode MS"/>
              </a:defRPr>
            </a:defPPr>
          </a:lstStyle>
          <a:p xmlns:a="http://schemas.openxmlformats.org/drawingml/2006/main">
            <a:pPr algn="r">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Vazyme</a:t>
            </a:r>
          </a:p>
        </p:txBody>
      </p:sp>
      <p:sp>
        <p:nvSpPr>
          <p:cNvPr id="12" name="Figure 9 label 11">
            <a:extLst xmlns:a="http://schemas.openxmlformats.org/drawingml/2006/main">
              <a:ext uri="{FF2B5EF4-FFF2-40B4-BE49-F238E27FC236}">
                <a16:creationId xmlns:a16="http://schemas.microsoft.com/office/drawing/2014/main" id="{4D7B5B55-C84D-42CA-A9E0-238E648357A2}"/>
              </a:ext>
            </a:extLst>
          </p:cNvPr>
          <p:cNvSpPr>
            <a:spLocks xmlns:a="http://schemas.openxmlformats.org/drawingml/2006/main" noGrp="1"/>
          </p:cNvSpPr>
          <p:nvPr/>
        </p:nvSpPr>
        <p:spPr>
          <a:xfrm xmlns:a="http://schemas.openxmlformats.org/drawingml/2006/main" rot="0">
            <a:off x="8394840" y="3492487"/>
            <a:ext cx="1201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Sino Biological</a:t>
            </a:r>
          </a:p>
        </p:txBody>
      </p:sp>
      <p:sp>
        <p:nvSpPr>
          <p:cNvPr id="13" name="Figure 9 label 12">
            <a:extLst xmlns:a="http://schemas.openxmlformats.org/drawingml/2006/main">
              <a:ext uri="{FF2B5EF4-FFF2-40B4-BE49-F238E27FC236}">
                <a16:creationId xmlns:a16="http://schemas.microsoft.com/office/drawing/2014/main" id="{74383FBA-339B-4277-8B56-4A5FAECA5B4E}"/>
              </a:ext>
            </a:extLst>
          </p:cNvPr>
          <p:cNvSpPr>
            <a:spLocks xmlns:a="http://schemas.openxmlformats.org/drawingml/2006/main" noGrp="1"/>
          </p:cNvSpPr>
          <p:nvPr/>
        </p:nvSpPr>
        <p:spPr>
          <a:xfrm xmlns:a="http://schemas.openxmlformats.org/drawingml/2006/main" rot="0">
            <a:off x="8180871" y="4400454"/>
            <a:ext cx="100726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Novoprotein</a:t>
            </a:r>
          </a:p>
        </p:txBody>
      </p:sp>
      <p:sp>
        <p:nvSpPr>
          <p:cNvPr id="14" name="Figure 9 label 13">
            <a:extLst xmlns:a="http://schemas.openxmlformats.org/drawingml/2006/main">
              <a:ext uri="{FF2B5EF4-FFF2-40B4-BE49-F238E27FC236}">
                <a16:creationId xmlns:a16="http://schemas.microsoft.com/office/drawing/2014/main" id="{0DD0FEBA-45B8-44DD-AC98-4D01D79B1D3B}"/>
              </a:ext>
            </a:extLst>
          </p:cNvPr>
          <p:cNvSpPr>
            <a:spLocks xmlns:a="http://schemas.openxmlformats.org/drawingml/2006/main" noGrp="1"/>
          </p:cNvSpPr>
          <p:nvPr/>
        </p:nvSpPr>
        <p:spPr>
          <a:xfrm xmlns:a="http://schemas.openxmlformats.org/drawingml/2006/main" rot="0">
            <a:off x="5238788" y="3409816"/>
            <a:ext cx="914400"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NanoMicro</a:t>
            </a:r>
          </a:p>
        </p:txBody>
      </p:sp>
      <p:sp>
        <p:nvSpPr>
          <p:cNvPr id="15" name="Figure 9 label 14">
            <a:extLst xmlns:a="http://schemas.openxmlformats.org/drawingml/2006/main">
              <a:ext uri="{FF2B5EF4-FFF2-40B4-BE49-F238E27FC236}">
                <a16:creationId xmlns:a16="http://schemas.microsoft.com/office/drawing/2014/main" id="{9AA3E1BA-1271-4C9D-B0A1-E59A072B6E79}"/>
              </a:ext>
            </a:extLst>
          </p:cNvPr>
          <p:cNvSpPr>
            <a:spLocks xmlns:a="http://schemas.openxmlformats.org/drawingml/2006/main" noGrp="1"/>
          </p:cNvSpPr>
          <p:nvPr/>
        </p:nvSpPr>
        <p:spPr>
          <a:xfrm xmlns:a="http://schemas.openxmlformats.org/drawingml/2006/main" rot="0">
            <a:off x="5773712" y="4153810"/>
            <a:ext cx="58102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Sepax</a:t>
            </a:r>
          </a:p>
        </p:txBody>
      </p:sp>
      <p:sp>
        <p:nvSpPr>
          <p:cNvPr id="16" name="Figure 9 label 15">
            <a:extLst xmlns:a="http://schemas.openxmlformats.org/drawingml/2006/main">
              <a:ext uri="{FF2B5EF4-FFF2-40B4-BE49-F238E27FC236}">
                <a16:creationId xmlns:a16="http://schemas.microsoft.com/office/drawing/2014/main" id="{C26EFC32-1119-44AD-82F1-B2460809D933}"/>
              </a:ext>
            </a:extLst>
          </p:cNvPr>
          <p:cNvSpPr>
            <a:spLocks xmlns:a="http://schemas.openxmlformats.org/drawingml/2006/main" noGrp="1"/>
          </p:cNvSpPr>
          <p:nvPr/>
        </p:nvSpPr>
        <p:spPr>
          <a:xfrm xmlns:a="http://schemas.openxmlformats.org/drawingml/2006/main" rot="0">
            <a:off x="8662301" y="5336057"/>
            <a:ext cx="81230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JET Biofil</a:t>
            </a:r>
          </a:p>
        </p:txBody>
      </p:sp>
      <p:sp>
        <p:nvSpPr>
          <p:cNvPr id="17" name="Figure 9 label 16">
            <a:extLst xmlns:a="http://schemas.openxmlformats.org/drawingml/2006/main">
              <a:ext uri="{FF2B5EF4-FFF2-40B4-BE49-F238E27FC236}">
                <a16:creationId xmlns:a16="http://schemas.microsoft.com/office/drawing/2014/main" id="{67775BA8-0EFB-48A8-B1CE-1B88DDA81FD9}"/>
              </a:ext>
            </a:extLst>
          </p:cNvPr>
          <p:cNvSpPr>
            <a:spLocks xmlns:a="http://schemas.openxmlformats.org/drawingml/2006/main" noGrp="1"/>
          </p:cNvSpPr>
          <p:nvPr/>
        </p:nvSpPr>
        <p:spPr>
          <a:xfrm xmlns:a="http://schemas.openxmlformats.org/drawingml/2006/main" rot="0">
            <a:off x="7271500" y="3795182"/>
            <a:ext cx="97035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Changhong</a:t>
            </a:r>
          </a:p>
        </p:txBody>
      </p:sp>
      <p:sp>
        <p:nvSpPr>
          <p:cNvPr id="18" name="Figure 9 label 17">
            <a:extLst xmlns:a="http://schemas.openxmlformats.org/drawingml/2006/main">
              <a:ext uri="{FF2B5EF4-FFF2-40B4-BE49-F238E27FC236}">
                <a16:creationId xmlns:a16="http://schemas.microsoft.com/office/drawing/2014/main" id="{F59F393C-5515-4B9F-BE8C-04463C595FB9}"/>
              </a:ext>
            </a:extLst>
          </p:cNvPr>
          <p:cNvSpPr>
            <a:spLocks xmlns:a="http://schemas.openxmlformats.org/drawingml/2006/main" noGrp="1"/>
          </p:cNvSpPr>
          <p:nvPr/>
        </p:nvSpPr>
        <p:spPr>
          <a:xfrm xmlns:a="http://schemas.openxmlformats.org/drawingml/2006/main" rot="0">
            <a:off x="9732150" y="4593078"/>
            <a:ext cx="1387078"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Bide Pharmatech</a:t>
            </a:r>
          </a:p>
        </p:txBody>
      </p:sp>
      <p:sp>
        <p:nvSpPr>
          <p:cNvPr id="19" name="Figure 9 label 18">
            <a:extLst xmlns:a="http://schemas.openxmlformats.org/drawingml/2006/main">
              <a:ext uri="{FF2B5EF4-FFF2-40B4-BE49-F238E27FC236}">
                <a16:creationId xmlns:a16="http://schemas.microsoft.com/office/drawing/2014/main" id="{8D95B7C7-1080-4794-B9AF-144A4DE48502}"/>
              </a:ext>
            </a:extLst>
          </p:cNvPr>
          <p:cNvSpPr>
            <a:spLocks xmlns:a="http://schemas.openxmlformats.org/drawingml/2006/main" noGrp="1"/>
          </p:cNvSpPr>
          <p:nvPr/>
        </p:nvSpPr>
        <p:spPr>
          <a:xfrm xmlns:a="http://schemas.openxmlformats.org/drawingml/2006/main" rot="0">
            <a:off x="10669817" y="5337072"/>
            <a:ext cx="115520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263B49"/>
                </a:solidFill>
                <a:latin typeface="Arial Unicode MS"/>
                <a:ea typeface="Arial Unicode MS"/>
                <a:cs typeface="Arial Unicode MS"/>
              </a:defRPr>
            </a:defPPr>
          </a:lstStyle>
          <a:p xmlns:a="http://schemas.openxmlformats.org/drawingml/2006/main">
            <a:pPr algn="r">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ChemExpress</a:t>
            </a:r>
          </a:p>
        </p:txBody>
      </p:sp>
      <p:sp>
        <p:nvSpPr>
          <p:cNvPr id="20" name="Figure 9 label 19">
            <a:extLst xmlns:a="http://schemas.openxmlformats.org/drawingml/2006/main">
              <a:ext uri="{FF2B5EF4-FFF2-40B4-BE49-F238E27FC236}">
                <a16:creationId xmlns:a16="http://schemas.microsoft.com/office/drawing/2014/main" id="{EAA5BF6C-C395-40DC-A85C-4ACC75E8233D}"/>
              </a:ext>
            </a:extLst>
          </p:cNvPr>
          <p:cNvSpPr>
            <a:spLocks xmlns:a="http://schemas.openxmlformats.org/drawingml/2006/main" noGrp="1"/>
          </p:cNvSpPr>
          <p:nvPr/>
        </p:nvSpPr>
        <p:spPr>
          <a:xfrm xmlns:a="http://schemas.openxmlformats.org/drawingml/2006/main" rot="0">
            <a:off x="6041174" y="2721873"/>
            <a:ext cx="42326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MGI</a:t>
            </a:r>
          </a:p>
        </p:txBody>
      </p:sp>
      <p:sp>
        <p:nvSpPr>
          <p:cNvPr id="21" name="Figure 9 label 20">
            <a:extLst xmlns:a="http://schemas.openxmlformats.org/drawingml/2006/main">
              <a:ext uri="{FF2B5EF4-FFF2-40B4-BE49-F238E27FC236}">
                <a16:creationId xmlns:a16="http://schemas.microsoft.com/office/drawing/2014/main" id="{1E869754-066C-44DE-8591-21688919F276}"/>
              </a:ext>
            </a:extLst>
          </p:cNvPr>
          <p:cNvSpPr>
            <a:spLocks xmlns:a="http://schemas.openxmlformats.org/drawingml/2006/main" noGrp="1"/>
          </p:cNvSpPr>
          <p:nvPr/>
        </p:nvSpPr>
        <p:spPr>
          <a:xfrm xmlns:a="http://schemas.openxmlformats.org/drawingml/2006/main" rot="0">
            <a:off x="4757357" y="4868255"/>
            <a:ext cx="142383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263B49"/>
                </a:solidFill>
                <a:latin typeface="Arial Unicode MS"/>
                <a:ea typeface="Arial Unicode MS"/>
                <a:cs typeface="Arial Unicode MS"/>
              </a:defRPr>
            </a:defPPr>
          </a:lstStyle>
          <a:p xmlns:a="http://schemas.openxmlformats.org/drawingml/2006/main">
            <a:pPr algn="l">
              <a:lnSpc>
                <a:spcPct val="125000"/>
              </a:lnSpc>
              <a:buNone/>
              <a:defRPr sz="1313" b="0">
                <a:solidFill>
                  <a:srgbClr val="263B49"/>
                </a:solidFill>
                <a:latin typeface="Arial Unicode MS"/>
                <a:ea typeface="Arial Unicode MS"/>
                <a:cs typeface="Arial Unicode MS"/>
              </a:defRPr>
            </a:pPr>
            <a:r>
              <a:rPr sz="1313" b="0">
                <a:solidFill>
                  <a:srgbClr val="263B49"/>
                </a:solidFill>
                <a:latin typeface="Arial Unicode MS"/>
                <a:ea typeface="Arial Unicode MS"/>
                <a:cs typeface="Arial Unicode MS"/>
              </a:rPr>
              <a:t>OPM Biosciences</a:t>
            </a:r>
          </a:p>
        </p:txBody>
      </p:sp>
      <p:sp>
        <p:nvSpPr>
          <p:cNvPr id="22" name="Figure 9 label 21">
            <a:extLst xmlns:a="http://schemas.openxmlformats.org/drawingml/2006/main">
              <a:ext uri="{FF2B5EF4-FFF2-40B4-BE49-F238E27FC236}">
                <a16:creationId xmlns:a16="http://schemas.microsoft.com/office/drawing/2014/main" id="{0219B381-53DE-4EE0-B993-A0319C2D791C}"/>
              </a:ext>
            </a:extLst>
          </p:cNvPr>
          <p:cNvSpPr>
            <a:spLocks xmlns:a="http://schemas.openxmlformats.org/drawingml/2006/main" noGrp="1"/>
          </p:cNvSpPr>
          <p:nvPr/>
        </p:nvSpPr>
        <p:spPr>
          <a:xfrm xmlns:a="http://schemas.openxmlformats.org/drawingml/2006/main" rot="0">
            <a:off x="991870" y="421920"/>
            <a:ext cx="6574235"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09  Mapping Chinese listed LST suppliers</a:t>
            </a:r>
          </a:p>
        </p:txBody>
      </p:sp>
      <p:sp>
        <p:nvSpPr>
          <p:cNvPr id="23" name="Figure 9 label 22">
            <a:extLst xmlns:a="http://schemas.openxmlformats.org/drawingml/2006/main">
              <a:ext uri="{FF2B5EF4-FFF2-40B4-BE49-F238E27FC236}">
                <a16:creationId xmlns:a16="http://schemas.microsoft.com/office/drawing/2014/main" id="{1BFCC1B0-AA49-40D2-8427-990CCDECAC3D}"/>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HYPOTHESIS</a:t>
            </a:r>
          </a:p>
        </p:txBody>
      </p:sp>
      <p:sp>
        <p:nvSpPr>
          <p:cNvPr id="24" name="Figure 9 label 23">
            <a:extLst xmlns:a="http://schemas.openxmlformats.org/drawingml/2006/main">
              <a:ext uri="{FF2B5EF4-FFF2-40B4-BE49-F238E27FC236}">
                <a16:creationId xmlns:a16="http://schemas.microsoft.com/office/drawing/2014/main" id="{8D8EE50C-39C1-410F-B8E0-9A5E04C4111E}"/>
              </a:ext>
            </a:extLst>
          </p:cNvPr>
          <p:cNvSpPr>
            <a:spLocks xmlns:a="http://schemas.openxmlformats.org/drawingml/2006/main" noGrp="1"/>
          </p:cNvSpPr>
          <p:nvPr/>
        </p:nvSpPr>
        <p:spPr>
          <a:xfrm xmlns:a="http://schemas.openxmlformats.org/drawingml/2006/main" rot="0">
            <a:off x="998220" y="1248326"/>
            <a:ext cx="92940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Product exposure to AI build-and-test stages; positions do not measure AI revenue share or investment rank.</a:t>
            </a:r>
          </a:p>
        </p:txBody>
      </p:sp>
      <p:sp>
        <p:nvSpPr>
          <p:cNvPr id="25" name="Figure 9 label 24">
            <a:extLst xmlns:a="http://schemas.openxmlformats.org/drawingml/2006/main">
              <a:ext uri="{FF2B5EF4-FFF2-40B4-BE49-F238E27FC236}">
                <a16:creationId xmlns:a16="http://schemas.microsoft.com/office/drawing/2014/main" id="{F9266EEA-E4A3-4462-A9F7-B8284FAB4F5D}"/>
              </a:ext>
            </a:extLst>
          </p:cNvPr>
          <p:cNvSpPr>
            <a:spLocks xmlns:a="http://schemas.openxmlformats.org/drawingml/2006/main" noGrp="1"/>
          </p:cNvSpPr>
          <p:nvPr/>
        </p:nvSpPr>
        <p:spPr>
          <a:xfrm xmlns:a="http://schemas.openxmlformats.org/drawingml/2006/main" rot="0">
            <a:off x="999173" y="9256035"/>
            <a:ext cx="803954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Axes are qualitative judgments. Qualification, global customer access and paid orders still require evidence.</a:t>
            </a:r>
          </a:p>
        </p:txBody>
      </p:sp>
      <p:sp>
        <p:nvSpPr>
          <p:cNvPr id="26" name="Figure 9 label 25">
            <a:extLst xmlns:a="http://schemas.openxmlformats.org/drawingml/2006/main">
              <a:ext uri="{FF2B5EF4-FFF2-40B4-BE49-F238E27FC236}">
                <a16:creationId xmlns:a16="http://schemas.microsoft.com/office/drawing/2014/main" id="{47F0DABF-6E27-44F8-8429-01D512FD761E}"/>
              </a:ext>
            </a:extLst>
          </p:cNvPr>
          <p:cNvSpPr>
            <a:spLocks xmlns:a="http://schemas.openxmlformats.org/drawingml/2006/main" noGrp="1"/>
          </p:cNvSpPr>
          <p:nvPr/>
        </p:nvSpPr>
        <p:spPr>
          <a:xfrm xmlns:a="http://schemas.openxmlformats.org/drawingml/2006/main" rot="0">
            <a:off x="1000316" y="9675546"/>
            <a:ext cx="6595646"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Sources: company filings and official product catalogs. Product rationale and assumptions are in data.json.</a:t>
            </a:r>
          </a:p>
        </p:txBody>
      </p:sp>
      <p:sp>
        <p:nvSpPr>
          <p:cNvPr id="27" name="Figure 9 label 26">
            <a:extLst xmlns:a="http://schemas.openxmlformats.org/drawingml/2006/main">
              <a:ext uri="{FF2B5EF4-FFF2-40B4-BE49-F238E27FC236}">
                <a16:creationId xmlns:a16="http://schemas.microsoft.com/office/drawing/2014/main" id="{B5125CA9-5049-4360-8645-97998EB20D4E}"/>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28" name="Figure 9 label 27">
            <a:extLst xmlns:a="http://schemas.openxmlformats.org/drawingml/2006/main">
              <a:ext uri="{FF2B5EF4-FFF2-40B4-BE49-F238E27FC236}">
                <a16:creationId xmlns:a16="http://schemas.microsoft.com/office/drawing/2014/main" id="{85FB0C04-4A3E-42C9-85D4-B5BA64DCAA57}"/>
              </a:ext>
            </a:extLst>
          </p:cNvPr>
          <p:cNvSpPr>
            <a:spLocks xmlns:a="http://schemas.openxmlformats.org/drawingml/2006/main" noGrp="1"/>
          </p:cNvSpPr>
          <p:nvPr/>
        </p:nvSpPr>
        <p:spPr>
          <a:xfrm xmlns:a="http://schemas.openxmlformats.org/drawingml/2006/main" rot="0">
            <a:off x="13250545" y="2538787"/>
            <a:ext cx="1017439"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285E7D"/>
                </a:solidFill>
                <a:latin typeface="Arial Unicode MS"/>
                <a:ea typeface="Arial Unicode MS"/>
                <a:cs typeface="Arial Unicode MS"/>
              </a:defRPr>
            </a:defPPr>
          </a:lstStyle>
          <a:p xmlns:a="http://schemas.openxmlformats.org/drawingml/2006/main">
            <a:pPr algn="l">
              <a:lnSpc>
                <a:spcPct val="125000"/>
              </a:lnSpc>
              <a:buNone/>
              <a:defRPr sz="1625" b="1">
                <a:solidFill>
                  <a:srgbClr val="285E7D"/>
                </a:solidFill>
                <a:latin typeface="Arial Unicode MS"/>
                <a:ea typeface="Arial Unicode MS"/>
                <a:cs typeface="Arial Unicode MS"/>
              </a:defRPr>
            </a:pPr>
            <a:r>
              <a:rPr sz="1625" b="1">
                <a:solidFill>
                  <a:srgbClr val="285E7D"/>
                </a:solidFill>
                <a:latin typeface="Arial Unicode MS"/>
                <a:ea typeface="Arial Unicode MS"/>
                <a:cs typeface="Arial Unicode MS"/>
              </a:rPr>
              <a:t>Reagents</a:t>
            </a:r>
          </a:p>
        </p:txBody>
      </p:sp>
      <p:sp>
        <p:nvSpPr>
          <p:cNvPr id="29" name="Figure 9 label 28">
            <a:extLst xmlns:a="http://schemas.openxmlformats.org/drawingml/2006/main">
              <a:ext uri="{FF2B5EF4-FFF2-40B4-BE49-F238E27FC236}">
                <a16:creationId xmlns:a16="http://schemas.microsoft.com/office/drawing/2014/main" id="{9BEAE9F0-3AC0-4C92-9757-31B6720AF8F3}"/>
              </a:ext>
            </a:extLst>
          </p:cNvPr>
          <p:cNvSpPr>
            <a:spLocks xmlns:a="http://schemas.openxmlformats.org/drawingml/2006/main" noGrp="1"/>
          </p:cNvSpPr>
          <p:nvPr/>
        </p:nvSpPr>
        <p:spPr>
          <a:xfrm xmlns:a="http://schemas.openxmlformats.org/drawingml/2006/main" rot="0">
            <a:off x="13252133" y="3010811"/>
            <a:ext cx="259124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Proteins, enzymes, blocks, media</a:t>
            </a:r>
          </a:p>
        </p:txBody>
      </p:sp>
      <p:sp>
        <p:nvSpPr>
          <p:cNvPr id="30" name="Figure 9 label 29">
            <a:extLst xmlns:a="http://schemas.openxmlformats.org/drawingml/2006/main">
              <a:ext uri="{FF2B5EF4-FFF2-40B4-BE49-F238E27FC236}">
                <a16:creationId xmlns:a16="http://schemas.microsoft.com/office/drawing/2014/main" id="{40725E20-F32B-45EA-A6A6-2382BF1690DD}"/>
              </a:ext>
            </a:extLst>
          </p:cNvPr>
          <p:cNvSpPr>
            <a:spLocks xmlns:a="http://schemas.openxmlformats.org/drawingml/2006/main" noGrp="1"/>
          </p:cNvSpPr>
          <p:nvPr/>
        </p:nvSpPr>
        <p:spPr>
          <a:xfrm xmlns:a="http://schemas.openxmlformats.org/drawingml/2006/main" rot="0">
            <a:off x="13250545" y="3620034"/>
            <a:ext cx="139561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49837F"/>
                </a:solidFill>
                <a:latin typeface="Arial Unicode MS"/>
                <a:ea typeface="Arial Unicode MS"/>
                <a:cs typeface="Arial Unicode MS"/>
              </a:defRPr>
            </a:defPPr>
          </a:lstStyle>
          <a:p xmlns:a="http://schemas.openxmlformats.org/drawingml/2006/main">
            <a:pPr algn="l">
              <a:lnSpc>
                <a:spcPct val="125000"/>
              </a:lnSpc>
              <a:buNone/>
              <a:defRPr sz="1625" b="1">
                <a:solidFill>
                  <a:srgbClr val="49837F"/>
                </a:solidFill>
                <a:latin typeface="Arial Unicode MS"/>
                <a:ea typeface="Arial Unicode MS"/>
                <a:cs typeface="Arial Unicode MS"/>
              </a:defRPr>
            </a:pPr>
            <a:r>
              <a:rPr sz="1625" b="1">
                <a:solidFill>
                  <a:srgbClr val="49837F"/>
                </a:solidFill>
                <a:latin typeface="Arial Unicode MS"/>
                <a:ea typeface="Arial Unicode MS"/>
                <a:cs typeface="Arial Unicode MS"/>
              </a:rPr>
              <a:t>Consumables</a:t>
            </a:r>
          </a:p>
        </p:txBody>
      </p:sp>
      <p:sp>
        <p:nvSpPr>
          <p:cNvPr id="31" name="Figure 9 label 30">
            <a:extLst xmlns:a="http://schemas.openxmlformats.org/drawingml/2006/main">
              <a:ext uri="{FF2B5EF4-FFF2-40B4-BE49-F238E27FC236}">
                <a16:creationId xmlns:a16="http://schemas.microsoft.com/office/drawing/2014/main" id="{F66E228B-437D-48A3-B38B-800CCAF90D37}"/>
              </a:ext>
            </a:extLst>
          </p:cNvPr>
          <p:cNvSpPr>
            <a:spLocks xmlns:a="http://schemas.openxmlformats.org/drawingml/2006/main" noGrp="1"/>
          </p:cNvSpPr>
          <p:nvPr/>
        </p:nvSpPr>
        <p:spPr>
          <a:xfrm xmlns:a="http://schemas.openxmlformats.org/drawingml/2006/main" rot="0">
            <a:off x="13252133" y="4091844"/>
            <a:ext cx="199831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Labware, columns, resins</a:t>
            </a:r>
          </a:p>
        </p:txBody>
      </p:sp>
      <p:sp>
        <p:nvSpPr>
          <p:cNvPr id="32" name="Figure 9 label 31">
            <a:extLst xmlns:a="http://schemas.openxmlformats.org/drawingml/2006/main">
              <a:ext uri="{FF2B5EF4-FFF2-40B4-BE49-F238E27FC236}">
                <a16:creationId xmlns:a16="http://schemas.microsoft.com/office/drawing/2014/main" id="{49F0B14E-684B-4009-8976-20BA221D9189}"/>
              </a:ext>
            </a:extLst>
          </p:cNvPr>
          <p:cNvSpPr>
            <a:spLocks xmlns:a="http://schemas.openxmlformats.org/drawingml/2006/main" noGrp="1"/>
          </p:cNvSpPr>
          <p:nvPr/>
        </p:nvSpPr>
        <p:spPr>
          <a:xfrm xmlns:a="http://schemas.openxmlformats.org/drawingml/2006/main" rot="0">
            <a:off x="13250545" y="4701427"/>
            <a:ext cx="2232323"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A18150"/>
                </a:solidFill>
                <a:latin typeface="Arial Unicode MS"/>
                <a:ea typeface="Arial Unicode MS"/>
                <a:cs typeface="Arial Unicode MS"/>
              </a:defRPr>
            </a:defPPr>
          </a:lstStyle>
          <a:p xmlns:a="http://schemas.openxmlformats.org/drawingml/2006/main">
            <a:pPr algn="l">
              <a:lnSpc>
                <a:spcPct val="125000"/>
              </a:lnSpc>
              <a:buNone/>
              <a:defRPr sz="1625" b="1">
                <a:solidFill>
                  <a:srgbClr val="A18150"/>
                </a:solidFill>
                <a:latin typeface="Arial Unicode MS"/>
                <a:ea typeface="Arial Unicode MS"/>
                <a:cs typeface="Arial Unicode MS"/>
              </a:defRPr>
            </a:pPr>
            <a:r>
              <a:rPr sz="1625" b="1">
                <a:solidFill>
                  <a:srgbClr val="A18150"/>
                </a:solidFill>
                <a:latin typeface="Arial Unicode MS"/>
                <a:ea typeface="Arial Unicode MS"/>
                <a:cs typeface="Arial Unicode MS"/>
              </a:rPr>
              <a:t>Instruments / platforms</a:t>
            </a:r>
          </a:p>
        </p:txBody>
      </p:sp>
      <p:sp>
        <p:nvSpPr>
          <p:cNvPr id="33" name="Figure 9 label 32">
            <a:extLst xmlns:a="http://schemas.openxmlformats.org/drawingml/2006/main">
              <a:ext uri="{FF2B5EF4-FFF2-40B4-BE49-F238E27FC236}">
                <a16:creationId xmlns:a16="http://schemas.microsoft.com/office/drawing/2014/main" id="{D30460E8-62AC-4A22-8A2D-D525EEDFEBB3}"/>
              </a:ext>
            </a:extLst>
          </p:cNvPr>
          <p:cNvSpPr>
            <a:spLocks xmlns:a="http://schemas.openxmlformats.org/drawingml/2006/main" noGrp="1"/>
          </p:cNvSpPr>
          <p:nvPr/>
        </p:nvSpPr>
        <p:spPr>
          <a:xfrm xmlns:a="http://schemas.openxmlformats.org/drawingml/2006/main" rot="0">
            <a:off x="13252133" y="5172097"/>
            <a:ext cx="2184350"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Sequencing and automation</a:t>
            </a:r>
          </a:p>
        </p:txBody>
      </p:sp>
      <p:sp>
        <p:nvSpPr>
          <p:cNvPr id="34" name="Figure 9 label 33">
            <a:extLst xmlns:a="http://schemas.openxmlformats.org/drawingml/2006/main">
              <a:ext uri="{FF2B5EF4-FFF2-40B4-BE49-F238E27FC236}">
                <a16:creationId xmlns:a16="http://schemas.microsoft.com/office/drawing/2014/main" id="{98790CFD-5EB4-4DF9-B8E3-6374A0D79563}"/>
              </a:ext>
            </a:extLst>
          </p:cNvPr>
          <p:cNvSpPr>
            <a:spLocks xmlns:a="http://schemas.openxmlformats.org/drawingml/2006/main" noGrp="1"/>
          </p:cNvSpPr>
          <p:nvPr/>
        </p:nvSpPr>
        <p:spPr>
          <a:xfrm xmlns:a="http://schemas.openxmlformats.org/drawingml/2006/main" rot="0">
            <a:off x="13342620" y="6238682"/>
            <a:ext cx="282416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263B49"/>
                </a:solidFill>
                <a:latin typeface="Arial Unicode MS"/>
                <a:ea typeface="Arial Unicode MS"/>
                <a:cs typeface="Arial Unicode MS"/>
              </a:defRPr>
            </a:defPPr>
          </a:lstStyle>
          <a:p xmlns:a="http://schemas.openxmlformats.org/drawingml/2006/main">
            <a:pPr algn="l">
              <a:lnSpc>
                <a:spcPct val="125000"/>
              </a:lnSpc>
              <a:buNone/>
              <a:defRPr sz="1500" b="1">
                <a:solidFill>
                  <a:srgbClr val="263B49"/>
                </a:solidFill>
                <a:latin typeface="Arial Unicode MS"/>
                <a:ea typeface="Arial Unicode MS"/>
                <a:cs typeface="Arial Unicode MS"/>
              </a:defRPr>
            </a:pPr>
            <a:r>
              <a:rPr sz="1500" b="1">
                <a:solidFill>
                  <a:srgbClr val="263B49"/>
                </a:solidFill>
                <a:latin typeface="Arial Unicode MS"/>
                <a:ea typeface="Arial Unicode MS"/>
                <a:cs typeface="Arial Unicode MS"/>
              </a:rPr>
              <a:t>Two different demand pathways</a:t>
            </a:r>
          </a:p>
        </p:txBody>
      </p:sp>
      <p:sp>
        <p:nvSpPr>
          <p:cNvPr id="35" name="Figure 9 label 34">
            <a:extLst xmlns:a="http://schemas.openxmlformats.org/drawingml/2006/main">
              <a:ext uri="{FF2B5EF4-FFF2-40B4-BE49-F238E27FC236}">
                <a16:creationId xmlns:a16="http://schemas.microsoft.com/office/drawing/2014/main" id="{6AA5EEC5-70D2-4E24-B717-2F4D316C460E}"/>
              </a:ext>
            </a:extLst>
          </p:cNvPr>
          <p:cNvSpPr>
            <a:spLocks xmlns:a="http://schemas.openxmlformats.org/drawingml/2006/main" noGrp="1"/>
          </p:cNvSpPr>
          <p:nvPr/>
        </p:nvSpPr>
        <p:spPr>
          <a:xfrm xmlns:a="http://schemas.openxmlformats.org/drawingml/2006/main" rot="0">
            <a:off x="13343446" y="6645481"/>
            <a:ext cx="2961065"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657B88"/>
                </a:solidFill>
                <a:latin typeface="Arial Unicode MS"/>
                <a:ea typeface="Arial Unicode MS"/>
                <a:cs typeface="Arial Unicode MS"/>
              </a:defRPr>
            </a:defPPr>
          </a:lstStyle>
          <a:p xmlns:a="http://schemas.openxmlformats.org/drawingml/2006/main">
            <a:pPr algn="l">
              <a:lnSpc>
                <a:spcPct val="125000"/>
              </a:lnSpc>
              <a:buNone/>
              <a:defRPr sz="1338" b="0">
                <a:solidFill>
                  <a:srgbClr val="657B88"/>
                </a:solidFill>
                <a:latin typeface="Arial Unicode MS"/>
                <a:ea typeface="Arial Unicode MS"/>
                <a:cs typeface="Arial Unicode MS"/>
              </a:defRPr>
            </a:pPr>
            <a:r>
              <a:rPr sz="1338" b="0">
                <a:solidFill>
                  <a:srgbClr val="657B88"/>
                </a:solidFill>
                <a:latin typeface="Arial Unicode MS"/>
                <a:ea typeface="Arial Unicode MS"/>
                <a:cs typeface="Arial Unicode MS"/>
              </a:rPr>
              <a:t>ACRO: expression / functional assays</a:t>
            </a:r>
          </a:p>
        </p:txBody>
      </p:sp>
      <p:sp>
        <p:nvSpPr>
          <p:cNvPr id="36" name="Figure 9 label 35">
            <a:extLst xmlns:a="http://schemas.openxmlformats.org/drawingml/2006/main">
              <a:ext uri="{FF2B5EF4-FFF2-40B4-BE49-F238E27FC236}">
                <a16:creationId xmlns:a16="http://schemas.microsoft.com/office/drawing/2014/main" id="{19FAE97D-117B-4E7F-A97E-F6262456BF10}"/>
              </a:ext>
            </a:extLst>
          </p:cNvPr>
          <p:cNvSpPr>
            <a:spLocks xmlns:a="http://schemas.openxmlformats.org/drawingml/2006/main" noGrp="1"/>
          </p:cNvSpPr>
          <p:nvPr/>
        </p:nvSpPr>
        <p:spPr>
          <a:xfrm xmlns:a="http://schemas.openxmlformats.org/drawingml/2006/main" rot="0">
            <a:off x="13343446" y="6903730"/>
            <a:ext cx="2682756"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657B88"/>
                </a:solidFill>
                <a:latin typeface="Arial Unicode MS"/>
                <a:ea typeface="Arial Unicode MS"/>
                <a:cs typeface="Arial Unicode MS"/>
              </a:defRPr>
            </a:defPPr>
          </a:lstStyle>
          <a:p xmlns:a="http://schemas.openxmlformats.org/drawingml/2006/main">
            <a:pPr algn="l">
              <a:lnSpc>
                <a:spcPct val="125000"/>
              </a:lnSpc>
              <a:buNone/>
              <a:defRPr sz="1338" b="0">
                <a:solidFill>
                  <a:srgbClr val="657B88"/>
                </a:solidFill>
                <a:latin typeface="Arial Unicode MS"/>
                <a:ea typeface="Arial Unicode MS"/>
                <a:cs typeface="Arial Unicode MS"/>
              </a:defRPr>
            </a:pPr>
            <a:r>
              <a:rPr sz="1338" b="0">
                <a:solidFill>
                  <a:srgbClr val="657B88"/>
                </a:solidFill>
                <a:latin typeface="Arial Unicode MS"/>
                <a:ea typeface="Arial Unicode MS"/>
                <a:cs typeface="Arial Unicode MS"/>
              </a:rPr>
              <a:t>NanoMicro: purification + scale-up</a:t>
            </a:r>
          </a:p>
        </p:txBody>
      </p:sp>
    </p:spTree>
    <p:extLst>
      <p:ext uri="{BB962C8B-B14F-4D97-AF65-F5344CB8AC3E}">
        <p14:creationId xmlns:p14="http://schemas.microsoft.com/office/powerpoint/2010/main" val="81354567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9" name="">
            <a:extLst xmlns:a="http://schemas.openxmlformats.org/drawingml/2006/main">
              <a:ext uri="{FF2B5EF4-FFF2-40B4-BE49-F238E27FC236}">
                <a16:creationId xmlns:a16="http://schemas.microsoft.com/office/drawing/2014/main" id="{6387B127-FEA0-4B04-9FA3-910D99CC50A5}"/>
              </a:ext>
            </a:extLst>
          </p:cNvPr>
          <p:cNvPicPr>
            <a:picLocks xmlns:a="http://schemas.openxmlformats.org/drawingml/2006/main" noChangeAspect="1"/>
          </p:cNvPicPr>
          <p:nvPr/>
        </p:nvPicPr>
        <p:blipFill>
          <a:blip xmlns:r="http://schemas.openxmlformats.org/officeDocument/2006/relationships" xmlns:a="http://schemas.openxmlformats.org/drawingml/2006/main" r:embed="R4c964dadee0f4164"/>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0 label 1">
            <a:extLst xmlns:a="http://schemas.openxmlformats.org/drawingml/2006/main">
              <a:ext uri="{FF2B5EF4-FFF2-40B4-BE49-F238E27FC236}">
                <a16:creationId xmlns:a16="http://schemas.microsoft.com/office/drawing/2014/main" id="{346E35F4-DEB4-4069-8100-85EBD3E0FC5A}"/>
              </a:ext>
            </a:extLst>
          </p:cNvPr>
          <p:cNvSpPr>
            <a:spLocks xmlns:a="http://schemas.openxmlformats.org/drawingml/2006/main" noGrp="1"/>
          </p:cNvSpPr>
          <p:nvPr/>
        </p:nvSpPr>
        <p:spPr>
          <a:xfrm xmlns:a="http://schemas.openxmlformats.org/drawingml/2006/main" rot="0">
            <a:off x="991870" y="421920"/>
            <a:ext cx="7447260"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263B49"/>
                </a:solidFill>
                <a:latin typeface="Arial Unicode MS"/>
                <a:ea typeface="Arial Unicode MS"/>
                <a:cs typeface="Arial Unicode MS"/>
              </a:defRPr>
            </a:defPPr>
          </a:lstStyle>
          <a:p xmlns:a="http://schemas.openxmlformats.org/drawingml/2006/main">
            <a:pPr algn="l">
              <a:lnSpc>
                <a:spcPct val="125000"/>
              </a:lnSpc>
              <a:buNone/>
              <a:defRPr sz="2750" b="1">
                <a:solidFill>
                  <a:srgbClr val="263B49"/>
                </a:solidFill>
                <a:latin typeface="Arial Unicode MS"/>
                <a:ea typeface="Arial Unicode MS"/>
                <a:cs typeface="Arial Unicode MS"/>
              </a:defRPr>
            </a:pPr>
            <a:r>
              <a:rPr sz="2750" b="1">
                <a:solidFill>
                  <a:srgbClr val="263B49"/>
                </a:solidFill>
                <a:latin typeface="Arial Unicode MS"/>
                <a:ea typeface="Arial Unicode MS"/>
                <a:cs typeface="Arial Unicode MS"/>
              </a:rPr>
              <a:t>10  From AI funding to LST shareholder returns</a:t>
            </a:r>
          </a:p>
        </p:txBody>
      </p:sp>
      <p:sp>
        <p:nvSpPr>
          <p:cNvPr id="3" name="Figure 10 label 2">
            <a:extLst xmlns:a="http://schemas.openxmlformats.org/drawingml/2006/main">
              <a:ext uri="{FF2B5EF4-FFF2-40B4-BE49-F238E27FC236}">
                <a16:creationId xmlns:a16="http://schemas.microsoft.com/office/drawing/2014/main" id="{7A66FCB6-96F4-4A3F-884B-2C99633FD365}"/>
              </a:ext>
            </a:extLst>
          </p:cNvPr>
          <p:cNvSpPr>
            <a:spLocks xmlns:a="http://schemas.openxmlformats.org/drawingml/2006/main" noGrp="1"/>
          </p:cNvSpPr>
          <p:nvPr/>
        </p:nvSpPr>
        <p:spPr>
          <a:xfrm xmlns:a="http://schemas.openxmlformats.org/drawingml/2006/main" rot="0">
            <a:off x="15909231" y="661601"/>
            <a:ext cx="64273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188" b="0">
                <a:solidFill>
                  <a:srgbClr val="657B88"/>
                </a:solidFill>
                <a:latin typeface="Arial Unicode MS"/>
                <a:ea typeface="Arial Unicode MS"/>
                <a:cs typeface="Arial Unicode MS"/>
              </a:defRPr>
            </a:pPr>
            <a:r>
              <a:rPr sz="1188" b="0">
                <a:solidFill>
                  <a:srgbClr val="657B88"/>
                </a:solidFill>
                <a:latin typeface="Arial Unicode MS"/>
                <a:ea typeface="Arial Unicode MS"/>
                <a:cs typeface="Arial Unicode MS"/>
              </a:rPr>
              <a:t>THESIS</a:t>
            </a:r>
          </a:p>
        </p:txBody>
      </p:sp>
      <p:sp>
        <p:nvSpPr>
          <p:cNvPr id="4" name="Figure 10 label 3">
            <a:extLst xmlns:a="http://schemas.openxmlformats.org/drawingml/2006/main">
              <a:ext uri="{FF2B5EF4-FFF2-40B4-BE49-F238E27FC236}">
                <a16:creationId xmlns:a16="http://schemas.microsoft.com/office/drawing/2014/main" id="{402528A5-47B7-4B18-846D-E7827B0C7D55}"/>
              </a:ext>
            </a:extLst>
          </p:cNvPr>
          <p:cNvSpPr>
            <a:spLocks xmlns:a="http://schemas.openxmlformats.org/drawingml/2006/main" noGrp="1"/>
          </p:cNvSpPr>
          <p:nvPr/>
        </p:nvSpPr>
        <p:spPr>
          <a:xfrm xmlns:a="http://schemas.openxmlformats.org/drawingml/2006/main" rot="0">
            <a:off x="998220" y="1248326"/>
            <a:ext cx="953720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Funding starts the chain. Projects, consumption, supply, market share and cash returns determine the outcome.</a:t>
            </a:r>
          </a:p>
        </p:txBody>
      </p:sp>
      <p:sp>
        <p:nvSpPr>
          <p:cNvPr id="5" name="Figure 10 label 4">
            <a:extLst xmlns:a="http://schemas.openxmlformats.org/drawingml/2006/main">
              <a:ext uri="{FF2B5EF4-FFF2-40B4-BE49-F238E27FC236}">
                <a16:creationId xmlns:a16="http://schemas.microsoft.com/office/drawing/2014/main" id="{7D43CCFE-BE51-4058-BCEE-832A6AD67F2D}"/>
              </a:ext>
            </a:extLst>
          </p:cNvPr>
          <p:cNvSpPr>
            <a:spLocks xmlns:a="http://schemas.openxmlformats.org/drawingml/2006/main" noGrp="1"/>
          </p:cNvSpPr>
          <p:nvPr/>
        </p:nvSpPr>
        <p:spPr>
          <a:xfrm xmlns:a="http://schemas.openxmlformats.org/drawingml/2006/main" rot="0">
            <a:off x="999173" y="9256035"/>
            <a:ext cx="778058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657B88"/>
                </a:solidFill>
                <a:latin typeface="Arial Unicode MS"/>
                <a:ea typeface="Arial Unicode MS"/>
                <a:cs typeface="Arial Unicode MS"/>
              </a:defRPr>
            </a:defPPr>
          </a:lstStyle>
          <a:p xmlns:a="http://schemas.openxmlformats.org/drawingml/2006/main">
            <a:pPr algn="l">
              <a:lnSpc>
                <a:spcPct val="125000"/>
              </a:lnSpc>
              <a:buNone/>
              <a:defRPr sz="1313" b="0">
                <a:solidFill>
                  <a:srgbClr val="657B88"/>
                </a:solidFill>
                <a:latin typeface="Arial Unicode MS"/>
                <a:ea typeface="Arial Unicode MS"/>
                <a:cs typeface="Arial Unicode MS"/>
              </a:defRPr>
            </a:pPr>
            <a:r>
              <a:rPr sz="1313" b="0">
                <a:solidFill>
                  <a:srgbClr val="657B88"/>
                </a:solidFill>
                <a:latin typeface="Arial Unicode MS"/>
                <a:ea typeface="Arial Unicode MS"/>
                <a:cs typeface="Arial Unicode MS"/>
              </a:rPr>
              <a:t>Seek experimental relevance, evidenced supply constraints and global access; test the valuation hurdle.</a:t>
            </a:r>
          </a:p>
        </p:txBody>
      </p:sp>
      <p:sp>
        <p:nvSpPr>
          <p:cNvPr id="6" name="Figure 10 label 5">
            <a:extLst xmlns:a="http://schemas.openxmlformats.org/drawingml/2006/main">
              <a:ext uri="{FF2B5EF4-FFF2-40B4-BE49-F238E27FC236}">
                <a16:creationId xmlns:a16="http://schemas.microsoft.com/office/drawing/2014/main" id="{297B0075-8B8F-40AF-93D9-516897A921E4}"/>
              </a:ext>
            </a:extLst>
          </p:cNvPr>
          <p:cNvSpPr>
            <a:spLocks xmlns:a="http://schemas.openxmlformats.org/drawingml/2006/main" noGrp="1"/>
          </p:cNvSpPr>
          <p:nvPr/>
        </p:nvSpPr>
        <p:spPr>
          <a:xfrm xmlns:a="http://schemas.openxmlformats.org/drawingml/2006/main" rot="0">
            <a:off x="1000316" y="9675546"/>
            <a:ext cx="6311533"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657B88"/>
                </a:solidFill>
                <a:latin typeface="Arial Unicode MS"/>
                <a:ea typeface="Arial Unicode MS"/>
                <a:cs typeface="Arial Unicode MS"/>
              </a:defRPr>
            </a:defPPr>
          </a:lstStyle>
          <a:p xmlns:a="http://schemas.openxmlformats.org/drawingml/2006/main">
            <a:pPr algn="l">
              <a:lnSpc>
                <a:spcPct val="125000"/>
              </a:lnSpc>
              <a:buNone/>
              <a:defRPr sz="1088" b="0">
                <a:solidFill>
                  <a:srgbClr val="657B88"/>
                </a:solidFill>
                <a:latin typeface="Arial Unicode MS"/>
                <a:ea typeface="Arial Unicode MS"/>
                <a:cs typeface="Arial Unicode MS"/>
              </a:defRPr>
            </a:pPr>
            <a:r>
              <a:rPr sz="1088" b="0">
                <a:solidFill>
                  <a:srgbClr val="657B88"/>
                </a:solidFill>
                <a:latin typeface="Arial Unicode MS"/>
                <a:ea typeface="Arial Unicode MS"/>
                <a:cs typeface="Arial Unicode MS"/>
              </a:rPr>
              <a:t>Source: supplied framework and prior company research. Capital announcements are not LST orders.</a:t>
            </a:r>
          </a:p>
        </p:txBody>
      </p:sp>
      <p:sp>
        <p:nvSpPr>
          <p:cNvPr id="7" name="Figure 10 label 6">
            <a:extLst xmlns:a="http://schemas.openxmlformats.org/drawingml/2006/main">
              <a:ext uri="{FF2B5EF4-FFF2-40B4-BE49-F238E27FC236}">
                <a16:creationId xmlns:a16="http://schemas.microsoft.com/office/drawing/2014/main" id="{3067E542-70B5-4AAD-BF49-398F3400F93A}"/>
              </a:ext>
            </a:extLst>
          </p:cNvPr>
          <p:cNvSpPr>
            <a:spLocks xmlns:a="http://schemas.openxmlformats.org/drawingml/2006/main" noGrp="1"/>
          </p:cNvSpPr>
          <p:nvPr/>
        </p:nvSpPr>
        <p:spPr>
          <a:xfrm xmlns:a="http://schemas.openxmlformats.org/drawingml/2006/main" rot="0">
            <a:off x="16440260" y="9667497"/>
            <a:ext cx="841901" cy="182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657B88"/>
                </a:solidFill>
                <a:latin typeface="Arial Unicode MS"/>
                <a:ea typeface="Arial Unicode MS"/>
                <a:cs typeface="Arial Unicode MS"/>
              </a:defRPr>
            </a:defPPr>
          </a:lstStyle>
          <a:p xmlns:a="http://schemas.openxmlformats.org/drawingml/2006/main">
            <a:pPr algn="r">
              <a:lnSpc>
                <a:spcPct val="125000"/>
              </a:lnSpc>
              <a:buNone/>
              <a:defRPr sz="1150" b="0">
                <a:solidFill>
                  <a:srgbClr val="657B88"/>
                </a:solidFill>
                <a:latin typeface="Arial Unicode MS"/>
                <a:ea typeface="Arial Unicode MS"/>
                <a:cs typeface="Arial Unicode MS"/>
              </a:defRPr>
            </a:pPr>
            <a:r>
              <a:rPr sz="1150" b="0">
                <a:solidFill>
                  <a:srgbClr val="657B88"/>
                </a:solidFill>
                <a:latin typeface="Arial Unicode MS"/>
                <a:ea typeface="Arial Unicode MS"/>
                <a:cs typeface="Arial Unicode MS"/>
              </a:rPr>
              <a:t>2026-10-12</a:t>
            </a:r>
          </a:p>
        </p:txBody>
      </p:sp>
      <p:sp>
        <p:nvSpPr>
          <p:cNvPr id="8" name="Figure 10 label 7">
            <a:extLst xmlns:a="http://schemas.openxmlformats.org/drawingml/2006/main">
              <a:ext uri="{FF2B5EF4-FFF2-40B4-BE49-F238E27FC236}">
                <a16:creationId xmlns:a16="http://schemas.microsoft.com/office/drawing/2014/main" id="{28DCC84C-D5FA-4335-B2C0-6EE2F484ED9D}"/>
              </a:ext>
            </a:extLst>
          </p:cNvPr>
          <p:cNvSpPr>
            <a:spLocks xmlns:a="http://schemas.openxmlformats.org/drawingml/2006/main" noGrp="1"/>
          </p:cNvSpPr>
          <p:nvPr/>
        </p:nvSpPr>
        <p:spPr>
          <a:xfrm xmlns:a="http://schemas.openxmlformats.org/drawingml/2006/main" rot="0">
            <a:off x="1372389" y="2964153"/>
            <a:ext cx="1735782"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688" b="1">
                <a:solidFill>
                  <a:srgbClr val="263B49"/>
                </a:solidFill>
                <a:latin typeface="Arial Unicode MS"/>
                <a:ea typeface="Arial Unicode MS"/>
                <a:cs typeface="Arial Unicode MS"/>
              </a:defRPr>
            </a:pPr>
            <a:r>
              <a:rPr sz="1688" b="1">
                <a:solidFill>
                  <a:srgbClr val="263B49"/>
                </a:solidFill>
                <a:latin typeface="Arial Unicode MS"/>
                <a:ea typeface="Arial Unicode MS"/>
                <a:cs typeface="Arial Unicode MS"/>
              </a:rPr>
              <a:t>AI funding grows</a:t>
            </a:r>
          </a:p>
        </p:txBody>
      </p:sp>
      <p:sp>
        <p:nvSpPr>
          <p:cNvPr id="9" name="Figure 10 label 8">
            <a:extLst xmlns:a="http://schemas.openxmlformats.org/drawingml/2006/main">
              <a:ext uri="{FF2B5EF4-FFF2-40B4-BE49-F238E27FC236}">
                <a16:creationId xmlns:a16="http://schemas.microsoft.com/office/drawing/2014/main" id="{619A31E6-D68F-4B37-9319-C54258AA7351}"/>
              </a:ext>
            </a:extLst>
          </p:cNvPr>
          <p:cNvSpPr>
            <a:spLocks xmlns:a="http://schemas.openxmlformats.org/drawingml/2006/main" noGrp="1"/>
          </p:cNvSpPr>
          <p:nvPr/>
        </p:nvSpPr>
        <p:spPr>
          <a:xfrm xmlns:a="http://schemas.openxmlformats.org/drawingml/2006/main" rot="0">
            <a:off x="1255340" y="3750783"/>
            <a:ext cx="1969879"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325" b="0">
                <a:solidFill>
                  <a:srgbClr val="657B88"/>
                </a:solidFill>
                <a:latin typeface="Arial Unicode MS"/>
                <a:ea typeface="Arial Unicode MS"/>
                <a:cs typeface="Arial Unicode MS"/>
              </a:defRPr>
            </a:pPr>
            <a:r>
              <a:rPr sz="1325" b="0">
                <a:solidFill>
                  <a:srgbClr val="657B88"/>
                </a:solidFill>
                <a:latin typeface="Arial Unicode MS"/>
                <a:ea typeface="Arial Unicode MS"/>
                <a:cs typeface="Arial Unicode MS"/>
              </a:rPr>
              <a:t>Cash reaches customers</a:t>
            </a:r>
          </a:p>
        </p:txBody>
      </p:sp>
      <p:sp>
        <p:nvSpPr>
          <p:cNvPr id="10" name="Figure 10 label 9">
            <a:extLst xmlns:a="http://schemas.openxmlformats.org/drawingml/2006/main">
              <a:ext uri="{FF2B5EF4-FFF2-40B4-BE49-F238E27FC236}">
                <a16:creationId xmlns:a16="http://schemas.microsoft.com/office/drawing/2014/main" id="{025CAECC-3750-4A8B-803C-D10901319DB7}"/>
              </a:ext>
            </a:extLst>
          </p:cNvPr>
          <p:cNvSpPr>
            <a:spLocks xmlns:a="http://schemas.openxmlformats.org/drawingml/2006/main" noGrp="1"/>
          </p:cNvSpPr>
          <p:nvPr/>
        </p:nvSpPr>
        <p:spPr>
          <a:xfrm xmlns:a="http://schemas.openxmlformats.org/drawingml/2006/main" rot="0">
            <a:off x="4485941" y="2964002"/>
            <a:ext cx="1616869"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688" b="1">
                <a:solidFill>
                  <a:srgbClr val="263B49"/>
                </a:solidFill>
                <a:latin typeface="Arial Unicode MS"/>
                <a:ea typeface="Arial Unicode MS"/>
                <a:cs typeface="Arial Unicode MS"/>
              </a:defRPr>
            </a:pPr>
            <a:r>
              <a:rPr sz="1688" b="1">
                <a:solidFill>
                  <a:srgbClr val="263B49"/>
                </a:solidFill>
                <a:latin typeface="Arial Unicode MS"/>
                <a:ea typeface="Arial Unicode MS"/>
                <a:cs typeface="Arial Unicode MS"/>
              </a:rPr>
              <a:t>Lab automation</a:t>
            </a:r>
          </a:p>
        </p:txBody>
      </p:sp>
      <p:sp>
        <p:nvSpPr>
          <p:cNvPr id="11" name="Figure 10 label 10">
            <a:extLst xmlns:a="http://schemas.openxmlformats.org/drawingml/2006/main">
              <a:ext uri="{FF2B5EF4-FFF2-40B4-BE49-F238E27FC236}">
                <a16:creationId xmlns:a16="http://schemas.microsoft.com/office/drawing/2014/main" id="{049855BE-E1DF-42A8-A2E7-2E1CF259BB84}"/>
              </a:ext>
            </a:extLst>
          </p:cNvPr>
          <p:cNvSpPr>
            <a:spLocks xmlns:a="http://schemas.openxmlformats.org/drawingml/2006/main" noGrp="1"/>
          </p:cNvSpPr>
          <p:nvPr/>
        </p:nvSpPr>
        <p:spPr>
          <a:xfrm xmlns:a="http://schemas.openxmlformats.org/drawingml/2006/main" rot="0">
            <a:off x="4505592" y="3750783"/>
            <a:ext cx="1577568"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325" b="0">
                <a:solidFill>
                  <a:srgbClr val="657B88"/>
                </a:solidFill>
                <a:latin typeface="Arial Unicode MS"/>
                <a:ea typeface="Arial Unicode MS"/>
                <a:cs typeface="Arial Unicode MS"/>
              </a:defRPr>
            </a:pPr>
            <a:r>
              <a:rPr sz="1325" b="0">
                <a:solidFill>
                  <a:srgbClr val="657B88"/>
                </a:solidFill>
                <a:latin typeface="Arial Unicode MS"/>
                <a:ea typeface="Arial Unicode MS"/>
                <a:cs typeface="Arial Unicode MS"/>
              </a:rPr>
              <a:t>Equipment installed</a:t>
            </a:r>
          </a:p>
        </p:txBody>
      </p:sp>
      <p:sp>
        <p:nvSpPr>
          <p:cNvPr id="12" name="Figure 10 label 11">
            <a:extLst xmlns:a="http://schemas.openxmlformats.org/drawingml/2006/main">
              <a:ext uri="{FF2B5EF4-FFF2-40B4-BE49-F238E27FC236}">
                <a16:creationId xmlns:a16="http://schemas.microsoft.com/office/drawing/2014/main" id="{BE432A39-7580-447B-8C3D-3A56D664A58B}"/>
              </a:ext>
            </a:extLst>
          </p:cNvPr>
          <p:cNvSpPr>
            <a:spLocks xmlns:a="http://schemas.openxmlformats.org/drawingml/2006/main" noGrp="1"/>
          </p:cNvSpPr>
          <p:nvPr/>
        </p:nvSpPr>
        <p:spPr>
          <a:xfrm xmlns:a="http://schemas.openxmlformats.org/drawingml/2006/main" rot="0">
            <a:off x="7242456" y="2964002"/>
            <a:ext cx="2212032"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688" b="1">
                <a:solidFill>
                  <a:srgbClr val="263B49"/>
                </a:solidFill>
                <a:latin typeface="Arial Unicode MS"/>
                <a:ea typeface="Arial Unicode MS"/>
                <a:cs typeface="Arial Unicode MS"/>
              </a:defRPr>
            </a:pPr>
            <a:r>
              <a:rPr sz="1688" b="1">
                <a:solidFill>
                  <a:srgbClr val="263B49"/>
                </a:solidFill>
                <a:latin typeface="Arial Unicode MS"/>
                <a:ea typeface="Arial Unicode MS"/>
                <a:cs typeface="Arial Unicode MS"/>
              </a:rPr>
              <a:t>Build-and-test volume</a:t>
            </a:r>
          </a:p>
        </p:txBody>
      </p:sp>
      <p:sp>
        <p:nvSpPr>
          <p:cNvPr id="13" name="Figure 10 label 12">
            <a:extLst xmlns:a="http://schemas.openxmlformats.org/drawingml/2006/main">
              <a:ext uri="{FF2B5EF4-FFF2-40B4-BE49-F238E27FC236}">
                <a16:creationId xmlns:a16="http://schemas.microsoft.com/office/drawing/2014/main" id="{90365341-37E9-4ADA-B1C8-82FB79E9EBDF}"/>
              </a:ext>
            </a:extLst>
          </p:cNvPr>
          <p:cNvSpPr>
            <a:spLocks xmlns:a="http://schemas.openxmlformats.org/drawingml/2006/main" noGrp="1"/>
          </p:cNvSpPr>
          <p:nvPr/>
        </p:nvSpPr>
        <p:spPr>
          <a:xfrm xmlns:a="http://schemas.openxmlformats.org/drawingml/2006/main" rot="0">
            <a:off x="7503654" y="3750980"/>
            <a:ext cx="1689636"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657B88"/>
                </a:solidFill>
                <a:latin typeface="Arial Unicode MS"/>
                <a:ea typeface="Arial Unicode MS"/>
                <a:cs typeface="Arial Unicode MS"/>
              </a:defRPr>
            </a:defPPr>
          </a:lstStyle>
          <a:p xmlns:a="http://schemas.openxmlformats.org/drawingml/2006/main">
            <a:pPr algn="ctr">
              <a:lnSpc>
                <a:spcPct val="125000"/>
              </a:lnSpc>
              <a:buNone/>
              <a:defRPr sz="1325" b="0">
                <a:solidFill>
                  <a:srgbClr val="657B88"/>
                </a:solidFill>
                <a:latin typeface="Arial Unicode MS"/>
                <a:ea typeface="Arial Unicode MS"/>
                <a:cs typeface="Arial Unicode MS"/>
              </a:defRPr>
            </a:pPr>
            <a:r>
              <a:rPr sz="1325" b="0">
                <a:solidFill>
                  <a:srgbClr val="657B88"/>
                </a:solidFill>
                <a:latin typeface="Arial Unicode MS"/>
                <a:ea typeface="Arial Unicode MS"/>
                <a:cs typeface="Arial Unicode MS"/>
              </a:rPr>
              <a:t>More funded projects</a:t>
            </a:r>
          </a:p>
        </p:txBody>
      </p:sp>
      <p:sp>
        <p:nvSpPr>
          <p:cNvPr id="14" name="Figure 10 label 13">
            <a:extLst xmlns:a="http://schemas.openxmlformats.org/drawingml/2006/main">
              <a:ext uri="{FF2B5EF4-FFF2-40B4-BE49-F238E27FC236}">
                <a16:creationId xmlns:a16="http://schemas.microsoft.com/office/drawing/2014/main" id="{B502BD95-EB69-442D-BA14-7D5CC6751DC4}"/>
              </a:ext>
            </a:extLst>
          </p:cNvPr>
          <p:cNvSpPr>
            <a:spLocks xmlns:a="http://schemas.openxmlformats.org/drawingml/2006/main" noGrp="1"/>
          </p:cNvSpPr>
          <p:nvPr/>
        </p:nvSpPr>
        <p:spPr>
          <a:xfrm xmlns:a="http://schemas.openxmlformats.org/drawingml/2006/main" rot="0">
            <a:off x="10522844" y="2964002"/>
            <a:ext cx="1759446"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FFFFFF"/>
                </a:solidFill>
                <a:latin typeface="Arial Unicode MS"/>
                <a:ea typeface="Arial Unicode MS"/>
                <a:cs typeface="Arial Unicode MS"/>
              </a:defRPr>
            </a:defPPr>
          </a:lstStyle>
          <a:p xmlns:a="http://schemas.openxmlformats.org/drawingml/2006/main">
            <a:pPr algn="ctr">
              <a:lnSpc>
                <a:spcPct val="125000"/>
              </a:lnSpc>
              <a:buNone/>
              <a:defRPr sz="1688" b="1">
                <a:solidFill>
                  <a:srgbClr val="FFFFFF"/>
                </a:solidFill>
                <a:latin typeface="Arial Unicode MS"/>
                <a:ea typeface="Arial Unicode MS"/>
                <a:cs typeface="Arial Unicode MS"/>
              </a:defRPr>
            </a:pPr>
            <a:r>
              <a:rPr sz="1688" b="1">
                <a:solidFill>
                  <a:srgbClr val="FFFFFF"/>
                </a:solidFill>
                <a:latin typeface="Arial Unicode MS"/>
                <a:ea typeface="Arial Unicode MS"/>
                <a:cs typeface="Arial Unicode MS"/>
              </a:rPr>
              <a:t>Net LST demand</a:t>
            </a:r>
          </a:p>
        </p:txBody>
      </p:sp>
      <p:sp>
        <p:nvSpPr>
          <p:cNvPr id="15" name="Figure 10 label 14">
            <a:extLst xmlns:a="http://schemas.openxmlformats.org/drawingml/2006/main">
              <a:ext uri="{FF2B5EF4-FFF2-40B4-BE49-F238E27FC236}">
                <a16:creationId xmlns:a16="http://schemas.microsoft.com/office/drawing/2014/main" id="{AA6EBE90-B9AB-4007-924B-5D0AD645EAB6}"/>
              </a:ext>
            </a:extLst>
          </p:cNvPr>
          <p:cNvSpPr>
            <a:spLocks xmlns:a="http://schemas.openxmlformats.org/drawingml/2006/main" noGrp="1"/>
          </p:cNvSpPr>
          <p:nvPr/>
        </p:nvSpPr>
        <p:spPr>
          <a:xfrm xmlns:a="http://schemas.openxmlformats.org/drawingml/2006/main" rot="0">
            <a:off x="10429162" y="3750901"/>
            <a:ext cx="1946811"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FFFFFF"/>
                </a:solidFill>
                <a:latin typeface="Arial Unicode MS"/>
                <a:ea typeface="Arial Unicode MS"/>
                <a:cs typeface="Arial Unicode MS"/>
              </a:defRPr>
            </a:defPPr>
          </a:lstStyle>
          <a:p xmlns:a="http://schemas.openxmlformats.org/drawingml/2006/main">
            <a:pPr algn="ctr">
              <a:lnSpc>
                <a:spcPct val="125000"/>
              </a:lnSpc>
              <a:buNone/>
              <a:defRPr sz="1325" b="0">
                <a:solidFill>
                  <a:srgbClr val="FFFFFF"/>
                </a:solidFill>
                <a:latin typeface="Arial Unicode MS"/>
                <a:ea typeface="Arial Unicode MS"/>
                <a:cs typeface="Arial Unicode MS"/>
              </a:defRPr>
            </a:pPr>
            <a:r>
              <a:rPr sz="1325" b="0">
                <a:solidFill>
                  <a:srgbClr val="FFFFFF"/>
                </a:solidFill>
                <a:latin typeface="Arial Unicode MS"/>
                <a:ea typeface="Arial Unicode MS"/>
                <a:cs typeface="Arial Unicode MS"/>
              </a:rPr>
              <a:t>Intensity + ASP adjusted</a:t>
            </a:r>
          </a:p>
        </p:txBody>
      </p:sp>
      <p:sp>
        <p:nvSpPr>
          <p:cNvPr id="16" name="Figure 10 label 15">
            <a:extLst xmlns:a="http://schemas.openxmlformats.org/drawingml/2006/main">
              <a:ext uri="{FF2B5EF4-FFF2-40B4-BE49-F238E27FC236}">
                <a16:creationId xmlns:a16="http://schemas.microsoft.com/office/drawing/2014/main" id="{DC346A09-D155-46AB-B1E4-127A46B1D326}"/>
              </a:ext>
            </a:extLst>
          </p:cNvPr>
          <p:cNvSpPr>
            <a:spLocks xmlns:a="http://schemas.openxmlformats.org/drawingml/2006/main" noGrp="1"/>
          </p:cNvSpPr>
          <p:nvPr/>
        </p:nvSpPr>
        <p:spPr>
          <a:xfrm xmlns:a="http://schemas.openxmlformats.org/drawingml/2006/main" rot="0">
            <a:off x="13926566" y="2359405"/>
            <a:ext cx="158958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49837F"/>
                </a:solidFill>
                <a:latin typeface="Arial Unicode MS"/>
                <a:ea typeface="Arial Unicode MS"/>
                <a:cs typeface="Arial Unicode MS"/>
              </a:defRPr>
            </a:defPPr>
          </a:lstStyle>
          <a:p xmlns:a="http://schemas.openxmlformats.org/drawingml/2006/main">
            <a:pPr algn="l">
              <a:lnSpc>
                <a:spcPct val="125000"/>
              </a:lnSpc>
              <a:buNone/>
              <a:defRPr sz="1750" b="1">
                <a:solidFill>
                  <a:srgbClr val="49837F"/>
                </a:solidFill>
                <a:latin typeface="Arial Unicode MS"/>
                <a:ea typeface="Arial Unicode MS"/>
                <a:cs typeface="Arial Unicode MS"/>
              </a:defRPr>
            </a:pPr>
            <a:r>
              <a:rPr sz="1750" b="1">
                <a:solidFill>
                  <a:srgbClr val="49837F"/>
                </a:solidFill>
                <a:latin typeface="Arial Unicode MS"/>
                <a:ea typeface="Arial Unicode MS"/>
                <a:cs typeface="Arial Unicode MS"/>
              </a:rPr>
              <a:t>Direct demand</a:t>
            </a:r>
          </a:p>
        </p:txBody>
      </p:sp>
      <p:sp>
        <p:nvSpPr>
          <p:cNvPr id="17" name="Figure 10 label 16">
            <a:extLst xmlns:a="http://schemas.openxmlformats.org/drawingml/2006/main">
              <a:ext uri="{FF2B5EF4-FFF2-40B4-BE49-F238E27FC236}">
                <a16:creationId xmlns:a16="http://schemas.microsoft.com/office/drawing/2014/main" id="{9C5FC16B-DABF-4834-9A42-1FC8A566557A}"/>
              </a:ext>
            </a:extLst>
          </p:cNvPr>
          <p:cNvSpPr>
            <a:spLocks xmlns:a="http://schemas.openxmlformats.org/drawingml/2006/main" noGrp="1"/>
          </p:cNvSpPr>
          <p:nvPr/>
        </p:nvSpPr>
        <p:spPr>
          <a:xfrm xmlns:a="http://schemas.openxmlformats.org/drawingml/2006/main" rot="0">
            <a:off x="13928598" y="2863125"/>
            <a:ext cx="225575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Assays, automation labware</a:t>
            </a:r>
          </a:p>
        </p:txBody>
      </p:sp>
      <p:sp>
        <p:nvSpPr>
          <p:cNvPr id="18" name="Figure 10 label 17">
            <a:extLst xmlns:a="http://schemas.openxmlformats.org/drawingml/2006/main">
              <a:ext uri="{FF2B5EF4-FFF2-40B4-BE49-F238E27FC236}">
                <a16:creationId xmlns:a16="http://schemas.microsoft.com/office/drawing/2014/main" id="{6F6ACBA1-DEE6-47F1-A203-71D3F61B405C}"/>
              </a:ext>
            </a:extLst>
          </p:cNvPr>
          <p:cNvSpPr>
            <a:spLocks xmlns:a="http://schemas.openxmlformats.org/drawingml/2006/main" noGrp="1"/>
          </p:cNvSpPr>
          <p:nvPr/>
        </p:nvSpPr>
        <p:spPr>
          <a:xfrm xmlns:a="http://schemas.openxmlformats.org/drawingml/2006/main" rot="0">
            <a:off x="13928598" y="3107755"/>
            <a:ext cx="229400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and chemical building blocks</a:t>
            </a:r>
          </a:p>
        </p:txBody>
      </p:sp>
      <p:sp>
        <p:nvSpPr>
          <p:cNvPr id="19" name="Figure 10 label 18">
            <a:extLst xmlns:a="http://schemas.openxmlformats.org/drawingml/2006/main">
              <a:ext uri="{FF2B5EF4-FFF2-40B4-BE49-F238E27FC236}">
                <a16:creationId xmlns:a16="http://schemas.microsoft.com/office/drawing/2014/main" id="{4CFEEE7B-508D-4E69-9DF6-BA17D19F4199}"/>
              </a:ext>
            </a:extLst>
          </p:cNvPr>
          <p:cNvSpPr>
            <a:spLocks xmlns:a="http://schemas.openxmlformats.org/drawingml/2006/main" noGrp="1"/>
          </p:cNvSpPr>
          <p:nvPr/>
        </p:nvSpPr>
        <p:spPr>
          <a:xfrm xmlns:a="http://schemas.openxmlformats.org/drawingml/2006/main" rot="0">
            <a:off x="13926566" y="4416961"/>
            <a:ext cx="196031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285E7D"/>
                </a:solidFill>
                <a:latin typeface="Arial Unicode MS"/>
                <a:ea typeface="Arial Unicode MS"/>
                <a:cs typeface="Arial Unicode MS"/>
              </a:defRPr>
            </a:defPPr>
          </a:lstStyle>
          <a:p xmlns:a="http://schemas.openxmlformats.org/drawingml/2006/main">
            <a:pPr algn="l">
              <a:lnSpc>
                <a:spcPct val="125000"/>
              </a:lnSpc>
              <a:buNone/>
              <a:defRPr sz="1750" b="1">
                <a:solidFill>
                  <a:srgbClr val="285E7D"/>
                </a:solidFill>
                <a:latin typeface="Arial Unicode MS"/>
                <a:ea typeface="Arial Unicode MS"/>
                <a:cs typeface="Arial Unicode MS"/>
              </a:defRPr>
            </a:pPr>
            <a:r>
              <a:rPr sz="1750" b="1">
                <a:solidFill>
                  <a:srgbClr val="285E7D"/>
                </a:solidFill>
                <a:latin typeface="Arial Unicode MS"/>
                <a:ea typeface="Arial Unicode MS"/>
                <a:cs typeface="Arial Unicode MS"/>
              </a:rPr>
              <a:t>Supply constraints</a:t>
            </a:r>
          </a:p>
        </p:txBody>
      </p:sp>
      <p:sp>
        <p:nvSpPr>
          <p:cNvPr id="20" name="Figure 10 label 19">
            <a:extLst xmlns:a="http://schemas.openxmlformats.org/drawingml/2006/main">
              <a:ext uri="{FF2B5EF4-FFF2-40B4-BE49-F238E27FC236}">
                <a16:creationId xmlns:a16="http://schemas.microsoft.com/office/drawing/2014/main" id="{52A1DE4C-F514-4F87-B189-891FB88A588E}"/>
              </a:ext>
            </a:extLst>
          </p:cNvPr>
          <p:cNvSpPr>
            <a:spLocks xmlns:a="http://schemas.openxmlformats.org/drawingml/2006/main" noGrp="1"/>
          </p:cNvSpPr>
          <p:nvPr/>
        </p:nvSpPr>
        <p:spPr>
          <a:xfrm xmlns:a="http://schemas.openxmlformats.org/drawingml/2006/main" rot="0">
            <a:off x="13928598" y="4922494"/>
            <a:ext cx="238925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Specialty plates / components</a:t>
            </a:r>
          </a:p>
        </p:txBody>
      </p:sp>
      <p:sp>
        <p:nvSpPr>
          <p:cNvPr id="21" name="Figure 10 label 20">
            <a:extLst xmlns:a="http://schemas.openxmlformats.org/drawingml/2006/main">
              <a:ext uri="{FF2B5EF4-FFF2-40B4-BE49-F238E27FC236}">
                <a16:creationId xmlns:a16="http://schemas.microsoft.com/office/drawing/2014/main" id="{8CCE12BB-A9C3-498D-9640-AF9391C88405}"/>
              </a:ext>
            </a:extLst>
          </p:cNvPr>
          <p:cNvSpPr>
            <a:spLocks xmlns:a="http://schemas.openxmlformats.org/drawingml/2006/main" noGrp="1"/>
          </p:cNvSpPr>
          <p:nvPr/>
        </p:nvSpPr>
        <p:spPr>
          <a:xfrm xmlns:a="http://schemas.openxmlformats.org/drawingml/2006/main" rot="0">
            <a:off x="13928598" y="5167124"/>
            <a:ext cx="251323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Expansion limits need evidence</a:t>
            </a:r>
          </a:p>
        </p:txBody>
      </p:sp>
      <p:sp>
        <p:nvSpPr>
          <p:cNvPr id="22" name="Figure 10 label 21">
            <a:extLst xmlns:a="http://schemas.openxmlformats.org/drawingml/2006/main">
              <a:ext uri="{FF2B5EF4-FFF2-40B4-BE49-F238E27FC236}">
                <a16:creationId xmlns:a16="http://schemas.microsoft.com/office/drawing/2014/main" id="{AD1558B8-02A9-4503-A316-327A677ADEDB}"/>
              </a:ext>
            </a:extLst>
          </p:cNvPr>
          <p:cNvSpPr>
            <a:spLocks xmlns:a="http://schemas.openxmlformats.org/drawingml/2006/main" noGrp="1"/>
          </p:cNvSpPr>
          <p:nvPr/>
        </p:nvSpPr>
        <p:spPr>
          <a:xfrm xmlns:a="http://schemas.openxmlformats.org/drawingml/2006/main" rot="0">
            <a:off x="13926566" y="6474205"/>
            <a:ext cx="1874143"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A18150"/>
                </a:solidFill>
                <a:latin typeface="Arial Unicode MS"/>
                <a:ea typeface="Arial Unicode MS"/>
                <a:cs typeface="Arial Unicode MS"/>
              </a:defRPr>
            </a:defPPr>
          </a:lstStyle>
          <a:p xmlns:a="http://schemas.openxmlformats.org/drawingml/2006/main">
            <a:pPr algn="l">
              <a:lnSpc>
                <a:spcPct val="125000"/>
              </a:lnSpc>
              <a:buNone/>
              <a:defRPr sz="1750" b="1">
                <a:solidFill>
                  <a:srgbClr val="A18150"/>
                </a:solidFill>
                <a:latin typeface="Arial Unicode MS"/>
                <a:ea typeface="Arial Unicode MS"/>
                <a:cs typeface="Arial Unicode MS"/>
              </a:defRPr>
            </a:pPr>
            <a:r>
              <a:rPr sz="1750" b="1">
                <a:solidFill>
                  <a:srgbClr val="A18150"/>
                </a:solidFill>
                <a:latin typeface="Arial Unicode MS"/>
                <a:ea typeface="Arial Unicode MS"/>
                <a:cs typeface="Arial Unicode MS"/>
              </a:rPr>
              <a:t>Listed candidates</a:t>
            </a:r>
          </a:p>
        </p:txBody>
      </p:sp>
      <p:sp>
        <p:nvSpPr>
          <p:cNvPr id="23" name="Figure 10 label 22">
            <a:extLst xmlns:a="http://schemas.openxmlformats.org/drawingml/2006/main">
              <a:ext uri="{FF2B5EF4-FFF2-40B4-BE49-F238E27FC236}">
                <a16:creationId xmlns:a16="http://schemas.microsoft.com/office/drawing/2014/main" id="{6FD35C26-1476-4431-A75F-6A4FC7C391A5}"/>
              </a:ext>
            </a:extLst>
          </p:cNvPr>
          <p:cNvSpPr>
            <a:spLocks xmlns:a="http://schemas.openxmlformats.org/drawingml/2006/main" noGrp="1"/>
          </p:cNvSpPr>
          <p:nvPr/>
        </p:nvSpPr>
        <p:spPr>
          <a:xfrm xmlns:a="http://schemas.openxmlformats.org/drawingml/2006/main" rot="0">
            <a:off x="13928598" y="6977194"/>
            <a:ext cx="268408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ACRO, Vazyme, Sino, NanoMicro</a:t>
            </a:r>
          </a:p>
        </p:txBody>
      </p:sp>
      <p:sp>
        <p:nvSpPr>
          <p:cNvPr id="24" name="Figure 10 label 23">
            <a:extLst xmlns:a="http://schemas.openxmlformats.org/drawingml/2006/main">
              <a:ext uri="{FF2B5EF4-FFF2-40B4-BE49-F238E27FC236}">
                <a16:creationId xmlns:a16="http://schemas.microsoft.com/office/drawing/2014/main" id="{8E84237D-5769-441C-AF83-995F561EFD0E}"/>
              </a:ext>
            </a:extLst>
          </p:cNvPr>
          <p:cNvSpPr>
            <a:spLocks xmlns:a="http://schemas.openxmlformats.org/drawingml/2006/main" noGrp="1"/>
          </p:cNvSpPr>
          <p:nvPr/>
        </p:nvSpPr>
        <p:spPr>
          <a:xfrm xmlns:a="http://schemas.openxmlformats.org/drawingml/2006/main" rot="0">
            <a:off x="13928598" y="7225376"/>
            <a:ext cx="22560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57B88"/>
                </a:solidFill>
                <a:latin typeface="Arial Unicode MS"/>
                <a:ea typeface="Arial Unicode MS"/>
                <a:cs typeface="Arial Unicode MS"/>
              </a:defRPr>
            </a:defPPr>
          </a:lstStyle>
          <a:p xmlns:a="http://schemas.openxmlformats.org/drawingml/2006/main">
            <a:pPr algn="l">
              <a:lnSpc>
                <a:spcPct val="125000"/>
              </a:lnSpc>
              <a:buNone/>
              <a:defRPr sz="1350" b="0">
                <a:solidFill>
                  <a:srgbClr val="657B88"/>
                </a:solidFill>
                <a:latin typeface="Arial Unicode MS"/>
                <a:ea typeface="Arial Unicode MS"/>
                <a:cs typeface="Arial Unicode MS"/>
              </a:defRPr>
            </a:pPr>
            <a:r>
              <a:rPr sz="1350" b="0">
                <a:solidFill>
                  <a:srgbClr val="657B88"/>
                </a:solidFill>
                <a:latin typeface="Arial Unicode MS"/>
                <a:ea typeface="Arial Unicode MS"/>
                <a:cs typeface="Arial Unicode MS"/>
              </a:rPr>
              <a:t>JET, Changhong and others</a:t>
            </a:r>
          </a:p>
        </p:txBody>
      </p:sp>
      <p:sp>
        <p:nvSpPr>
          <p:cNvPr id="25" name="Figure 10 label 24">
            <a:extLst xmlns:a="http://schemas.openxmlformats.org/drawingml/2006/main">
              <a:ext uri="{FF2B5EF4-FFF2-40B4-BE49-F238E27FC236}">
                <a16:creationId xmlns:a16="http://schemas.microsoft.com/office/drawing/2014/main" id="{6BE70D80-AEBE-41AF-9554-72AB696ABC15}"/>
              </a:ext>
            </a:extLst>
          </p:cNvPr>
          <p:cNvSpPr>
            <a:spLocks xmlns:a="http://schemas.openxmlformats.org/drawingml/2006/main" noGrp="1"/>
          </p:cNvSpPr>
          <p:nvPr/>
        </p:nvSpPr>
        <p:spPr>
          <a:xfrm xmlns:a="http://schemas.openxmlformats.org/drawingml/2006/main" rot="0">
            <a:off x="1326134" y="5682106"/>
            <a:ext cx="3356620"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49837F"/>
                </a:solidFill>
                <a:latin typeface="Arial Unicode MS"/>
                <a:ea typeface="Arial Unicode MS"/>
                <a:cs typeface="Arial Unicode MS"/>
              </a:defRPr>
            </a:defPPr>
          </a:lstStyle>
          <a:p xmlns:a="http://schemas.openxmlformats.org/drawingml/2006/main">
            <a:pPr algn="l">
              <a:lnSpc>
                <a:spcPct val="125000"/>
              </a:lnSpc>
              <a:buNone/>
              <a:defRPr sz="1750" b="1">
                <a:solidFill>
                  <a:srgbClr val="49837F"/>
                </a:solidFill>
                <a:latin typeface="Arial Unicode MS"/>
                <a:ea typeface="Arial Unicode MS"/>
                <a:cs typeface="Arial Unicode MS"/>
              </a:defRPr>
            </a:pPr>
            <a:r>
              <a:rPr sz="1750" b="1">
                <a:solidFill>
                  <a:srgbClr val="49837F"/>
                </a:solidFill>
                <a:latin typeface="Arial Unicode MS"/>
                <a:ea typeface="Arial Unicode MS"/>
                <a:cs typeface="Arial Unicode MS"/>
              </a:rPr>
              <a:t>Evidence is needed at each step</a:t>
            </a:r>
          </a:p>
        </p:txBody>
      </p:sp>
      <p:sp>
        <p:nvSpPr>
          <p:cNvPr id="26" name="Figure 10 label 25">
            <a:extLst xmlns:a="http://schemas.openxmlformats.org/drawingml/2006/main">
              <a:ext uri="{FF2B5EF4-FFF2-40B4-BE49-F238E27FC236}">
                <a16:creationId xmlns:a16="http://schemas.microsoft.com/office/drawing/2014/main" id="{9550A303-D358-44D8-9A16-1AE0A7F7E3B5}"/>
              </a:ext>
            </a:extLst>
          </p:cNvPr>
          <p:cNvSpPr>
            <a:spLocks xmlns:a="http://schemas.openxmlformats.org/drawingml/2006/main" noGrp="1"/>
          </p:cNvSpPr>
          <p:nvPr/>
        </p:nvSpPr>
        <p:spPr>
          <a:xfrm xmlns:a="http://schemas.openxmlformats.org/drawingml/2006/main" rot="0">
            <a:off x="1327404" y="6158944"/>
            <a:ext cx="676825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Customer budgets → orders / repeat purchases → net consumption → utilization</a:t>
            </a:r>
          </a:p>
        </p:txBody>
      </p:sp>
      <p:sp>
        <p:nvSpPr>
          <p:cNvPr id="27" name="Figure 10 label 26">
            <a:extLst xmlns:a="http://schemas.openxmlformats.org/drawingml/2006/main">
              <a:ext uri="{FF2B5EF4-FFF2-40B4-BE49-F238E27FC236}">
                <a16:creationId xmlns:a16="http://schemas.microsoft.com/office/drawing/2014/main" id="{0E42384E-0FBC-495E-A580-4C2D5FA8DAC0}"/>
              </a:ext>
            </a:extLst>
          </p:cNvPr>
          <p:cNvSpPr>
            <a:spLocks xmlns:a="http://schemas.openxmlformats.org/drawingml/2006/main" noGrp="1"/>
          </p:cNvSpPr>
          <p:nvPr/>
        </p:nvSpPr>
        <p:spPr>
          <a:xfrm xmlns:a="http://schemas.openxmlformats.org/drawingml/2006/main" rot="0">
            <a:off x="1327404" y="6462437"/>
            <a:ext cx="697944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657B88"/>
                </a:solidFill>
                <a:latin typeface="Arial Unicode MS"/>
                <a:ea typeface="Arial Unicode MS"/>
                <a:cs typeface="Arial Unicode MS"/>
              </a:defRPr>
            </a:defPPr>
          </a:lstStyle>
          <a:p xmlns:a="http://schemas.openxmlformats.org/drawingml/2006/main">
            <a:pPr algn="l">
              <a:lnSpc>
                <a:spcPct val="125000"/>
              </a:lnSpc>
              <a:buNone/>
              <a:defRPr sz="1500" b="0">
                <a:solidFill>
                  <a:srgbClr val="657B88"/>
                </a:solidFill>
                <a:latin typeface="Arial Unicode MS"/>
                <a:ea typeface="Arial Unicode MS"/>
                <a:cs typeface="Arial Unicode MS"/>
              </a:defRPr>
            </a:pPr>
            <a:r>
              <a:rPr sz="1500" b="0">
                <a:solidFill>
                  <a:srgbClr val="657B88"/>
                </a:solidFill>
                <a:latin typeface="Arial Unicode MS"/>
                <a:ea typeface="Arial Unicode MS"/>
                <a:cs typeface="Arial Unicode MS"/>
              </a:rPr>
              <a:t>→ company share → recurring profit / free cash flow → growth priced into the stock</a:t>
            </a:r>
          </a:p>
        </p:txBody>
      </p:sp>
      <p:sp>
        <p:nvSpPr>
          <p:cNvPr id="28" name="Figure 10 label 27">
            <a:extLst xmlns:a="http://schemas.openxmlformats.org/drawingml/2006/main">
              <a:ext uri="{FF2B5EF4-FFF2-40B4-BE49-F238E27FC236}">
                <a16:creationId xmlns:a16="http://schemas.microsoft.com/office/drawing/2014/main" id="{0DBB04F1-E4D3-4E6F-A900-55AE321D9DB4}"/>
              </a:ext>
            </a:extLst>
          </p:cNvPr>
          <p:cNvSpPr>
            <a:spLocks xmlns:a="http://schemas.openxmlformats.org/drawingml/2006/main" noGrp="1"/>
          </p:cNvSpPr>
          <p:nvPr/>
        </p:nvSpPr>
        <p:spPr>
          <a:xfrm xmlns:a="http://schemas.openxmlformats.org/drawingml/2006/main" rot="0">
            <a:off x="4743896" y="8371852"/>
            <a:ext cx="8800207"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263B49"/>
                </a:solidFill>
                <a:latin typeface="Arial Unicode MS"/>
                <a:ea typeface="Arial Unicode MS"/>
                <a:cs typeface="Arial Unicode MS"/>
              </a:defRPr>
            </a:defPPr>
          </a:lstStyle>
          <a:p xmlns:a="http://schemas.openxmlformats.org/drawingml/2006/main">
            <a:pPr algn="ctr">
              <a:lnSpc>
                <a:spcPct val="125000"/>
              </a:lnSpc>
              <a:buNone/>
              <a:defRPr sz="1875" b="1">
                <a:solidFill>
                  <a:srgbClr val="263B49"/>
                </a:solidFill>
                <a:latin typeface="Arial Unicode MS"/>
                <a:ea typeface="Arial Unicode MS"/>
                <a:cs typeface="Arial Unicode MS"/>
              </a:defRPr>
            </a:pPr>
            <a:r>
              <a:rPr sz="1875" b="1">
                <a:solidFill>
                  <a:srgbClr val="263B49"/>
                </a:solidFill>
                <a:latin typeface="Arial Unicode MS"/>
                <a:ea typeface="Arial Unicode MS"/>
                <a:cs typeface="Arial Unicode MS"/>
              </a:rPr>
              <a:t>Experimental relevance  ∩  Evidenced supply constraints  ∩  Global customer access</a:t>
            </a:r>
          </a:p>
        </p:txBody>
      </p:sp>
    </p:spTree>
    <p:extLst>
      <p:ext uri="{BB962C8B-B14F-4D97-AF65-F5344CB8AC3E}">
        <p14:creationId xmlns:p14="http://schemas.microsoft.com/office/powerpoint/2010/main" val="8763161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0" name="">
            <a:extLst xmlns:a="http://schemas.openxmlformats.org/drawingml/2006/main">
              <a:ext uri="{FF2B5EF4-FFF2-40B4-BE49-F238E27FC236}">
                <a16:creationId xmlns:a16="http://schemas.microsoft.com/office/drawing/2014/main" id="{60F3348F-0EDC-4AA1-8332-E44BF63123A7}"/>
              </a:ext>
            </a:extLst>
          </p:cNvPr>
          <p:cNvPicPr>
            <a:picLocks xmlns:a="http://schemas.openxmlformats.org/drawingml/2006/main" noChangeAspect="1"/>
          </p:cNvPicPr>
          <p:nvPr/>
        </p:nvPicPr>
        <p:blipFill>
          <a:blip xmlns:r="http://schemas.openxmlformats.org/officeDocument/2006/relationships" xmlns:a="http://schemas.openxmlformats.org/drawingml/2006/main" r:embed="R270f11b5c7724efa"/>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1 label 1">
            <a:extLst xmlns:a="http://schemas.openxmlformats.org/drawingml/2006/main">
              <a:ext uri="{FF2B5EF4-FFF2-40B4-BE49-F238E27FC236}">
                <a16:creationId xmlns:a16="http://schemas.microsoft.com/office/drawing/2014/main" id="{2A57192C-81B4-4A9A-B7E4-0ABF8A72AB09}"/>
              </a:ext>
            </a:extLst>
          </p:cNvPr>
          <p:cNvSpPr>
            <a:spLocks xmlns:a="http://schemas.openxmlformats.org/drawingml/2006/main" noGrp="1"/>
          </p:cNvSpPr>
          <p:nvPr/>
        </p:nvSpPr>
        <p:spPr>
          <a:xfrm xmlns:a="http://schemas.openxmlformats.org/drawingml/2006/main" rot="0">
            <a:off x="982599" y="311277"/>
            <a:ext cx="10901005"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152C3A"/>
                </a:solidFill>
                <a:latin typeface="Arial"/>
                <a:ea typeface="Arial"/>
                <a:cs typeface="Arial"/>
              </a:defRPr>
            </a:defPPr>
          </a:lstStyle>
          <a:p xmlns:a="http://schemas.openxmlformats.org/drawingml/2006/main">
            <a:pPr algn="l">
              <a:lnSpc>
                <a:spcPct val="125000"/>
              </a:lnSpc>
              <a:buNone/>
              <a:defRPr sz="3450" b="1">
                <a:solidFill>
                  <a:srgbClr val="152C3A"/>
                </a:solidFill>
                <a:latin typeface="Arial"/>
                <a:ea typeface="Arial"/>
                <a:cs typeface="Arial"/>
              </a:defRPr>
            </a:pPr>
            <a:r>
              <a:rPr sz="3450" b="1">
                <a:solidFill>
                  <a:srgbClr val="152C3A"/>
                </a:solidFill>
                <a:latin typeface="Arial"/>
                <a:ea typeface="Arial"/>
                <a:cs typeface="Arial"/>
              </a:rPr>
              <a:t>Design capacity expands. Validation must keep up.</a:t>
            </a:r>
          </a:p>
        </p:txBody>
      </p:sp>
      <p:sp>
        <p:nvSpPr>
          <p:cNvPr id="3" name="Figure 11 label 2">
            <a:extLst xmlns:a="http://schemas.openxmlformats.org/drawingml/2006/main">
              <a:ext uri="{FF2B5EF4-FFF2-40B4-BE49-F238E27FC236}">
                <a16:creationId xmlns:a16="http://schemas.microsoft.com/office/drawing/2014/main" id="{7855F1A3-D43F-4A56-9E60-36800EB5FBD1}"/>
              </a:ext>
            </a:extLst>
          </p:cNvPr>
          <p:cNvSpPr>
            <a:spLocks xmlns:a="http://schemas.openxmlformats.org/drawingml/2006/main" noGrp="1"/>
          </p:cNvSpPr>
          <p:nvPr/>
        </p:nvSpPr>
        <p:spPr>
          <a:xfrm xmlns:a="http://schemas.openxmlformats.org/drawingml/2006/main" rot="0">
            <a:off x="1000887" y="1050989"/>
            <a:ext cx="10699819"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0">
                <a:solidFill>
                  <a:srgbClr val="647887"/>
                </a:solidFill>
                <a:latin typeface="Arial"/>
                <a:ea typeface="Arial"/>
                <a:cs typeface="Arial"/>
              </a:defRPr>
            </a:defPPr>
          </a:lstStyle>
          <a:p xmlns:a="http://schemas.openxmlformats.org/drawingml/2006/main">
            <a:pPr algn="l">
              <a:lnSpc>
                <a:spcPct val="125000"/>
              </a:lnSpc>
              <a:buNone/>
              <a:defRPr sz="1725" b="0">
                <a:solidFill>
                  <a:srgbClr val="647887"/>
                </a:solidFill>
                <a:latin typeface="Arial"/>
                <a:ea typeface="Arial"/>
                <a:cs typeface="Arial"/>
              </a:defRPr>
            </a:pPr>
            <a:r>
              <a:rPr sz="1725" b="0">
                <a:solidFill>
                  <a:srgbClr val="647887"/>
                </a:solidFill>
                <a:latin typeface="Arial"/>
                <a:ea typeface="Arial"/>
                <a:cs typeface="Arial"/>
              </a:rPr>
              <a:t>Illustrative stage comparison, normalized per one clinical entrant. Supplied assumptions, not cohort statistics.</a:t>
            </a:r>
          </a:p>
        </p:txBody>
      </p:sp>
      <p:sp>
        <p:nvSpPr>
          <p:cNvPr id="4" name="Figure 11 label 3">
            <a:extLst xmlns:a="http://schemas.openxmlformats.org/drawingml/2006/main">
              <a:ext uri="{FF2B5EF4-FFF2-40B4-BE49-F238E27FC236}">
                <a16:creationId xmlns:a16="http://schemas.microsoft.com/office/drawing/2014/main" id="{346F6514-517D-4CA6-B602-E49F36761F11}"/>
              </a:ext>
            </a:extLst>
          </p:cNvPr>
          <p:cNvSpPr>
            <a:spLocks xmlns:a="http://schemas.openxmlformats.org/drawingml/2006/main" noGrp="1"/>
          </p:cNvSpPr>
          <p:nvPr/>
        </p:nvSpPr>
        <p:spPr>
          <a:xfrm xmlns:a="http://schemas.openxmlformats.org/drawingml/2006/main" rot="0">
            <a:off x="887730" y="2355533"/>
            <a:ext cx="76601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FFFFFF"/>
                </a:solidFill>
                <a:latin typeface="Arial"/>
                <a:ea typeface="Arial"/>
                <a:cs typeface="Arial"/>
              </a:defRPr>
            </a:defPPr>
          </a:lstStyle>
          <a:p xmlns:a="http://schemas.openxmlformats.org/drawingml/2006/main">
            <a:pPr algn="l">
              <a:lnSpc>
                <a:spcPct val="125000"/>
              </a:lnSpc>
              <a:buNone/>
              <a:defRPr sz="1500" b="1">
                <a:solidFill>
                  <a:srgbClr val="FFFFFF"/>
                </a:solidFill>
                <a:latin typeface="Arial"/>
                <a:ea typeface="Arial"/>
                <a:cs typeface="Arial"/>
              </a:defRPr>
            </a:pPr>
            <a:r>
              <a:rPr sz="1500" b="1">
                <a:solidFill>
                  <a:srgbClr val="FFFFFF"/>
                </a:solidFill>
                <a:latin typeface="Arial"/>
                <a:ea typeface="Arial"/>
                <a:cs typeface="Arial"/>
              </a:rPr>
              <a:t>STAGE</a:t>
            </a:r>
          </a:p>
        </p:txBody>
      </p:sp>
      <p:sp>
        <p:nvSpPr>
          <p:cNvPr id="5" name="Figure 11 label 4">
            <a:extLst xmlns:a="http://schemas.openxmlformats.org/drawingml/2006/main">
              <a:ext uri="{FF2B5EF4-FFF2-40B4-BE49-F238E27FC236}">
                <a16:creationId xmlns:a16="http://schemas.microsoft.com/office/drawing/2014/main" id="{848A79D7-4DE3-4BFC-B4B8-D305D32DF7B7}"/>
              </a:ext>
            </a:extLst>
          </p:cNvPr>
          <p:cNvSpPr>
            <a:spLocks xmlns:a="http://schemas.openxmlformats.org/drawingml/2006/main" noGrp="1"/>
          </p:cNvSpPr>
          <p:nvPr/>
        </p:nvSpPr>
        <p:spPr>
          <a:xfrm xmlns:a="http://schemas.openxmlformats.org/drawingml/2006/main" rot="0">
            <a:off x="6111255" y="2355533"/>
            <a:ext cx="76959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1">
                <a:solidFill>
                  <a:srgbClr val="FFFFFF"/>
                </a:solidFill>
                <a:latin typeface="Arial"/>
                <a:ea typeface="Arial"/>
                <a:cs typeface="Arial"/>
              </a:defRPr>
            </a:defPPr>
          </a:lstStyle>
          <a:p xmlns:a="http://schemas.openxmlformats.org/drawingml/2006/main">
            <a:pPr algn="ctr">
              <a:lnSpc>
                <a:spcPct val="125000"/>
              </a:lnSpc>
              <a:buNone/>
              <a:defRPr sz="1500" b="1">
                <a:solidFill>
                  <a:srgbClr val="FFFFFF"/>
                </a:solidFill>
                <a:latin typeface="Arial"/>
                <a:ea typeface="Arial"/>
                <a:cs typeface="Arial"/>
              </a:defRPr>
            </a:pPr>
            <a:r>
              <a:rPr sz="1500" b="1">
                <a:solidFill>
                  <a:srgbClr val="FFFFFF"/>
                </a:solidFill>
                <a:latin typeface="Arial"/>
                <a:ea typeface="Arial"/>
                <a:cs typeface="Arial"/>
              </a:rPr>
              <a:t>PRE-AI</a:t>
            </a:r>
          </a:p>
        </p:txBody>
      </p:sp>
      <p:sp>
        <p:nvSpPr>
          <p:cNvPr id="6" name="Figure 11 label 5">
            <a:extLst xmlns:a="http://schemas.openxmlformats.org/drawingml/2006/main">
              <a:ext uri="{FF2B5EF4-FFF2-40B4-BE49-F238E27FC236}">
                <a16:creationId xmlns:a16="http://schemas.microsoft.com/office/drawing/2014/main" id="{364EB644-6327-4E1E-9CEE-DADE7EBEF715}"/>
              </a:ext>
            </a:extLst>
          </p:cNvPr>
          <p:cNvSpPr>
            <a:spLocks xmlns:a="http://schemas.openxmlformats.org/drawingml/2006/main" noGrp="1"/>
          </p:cNvSpPr>
          <p:nvPr/>
        </p:nvSpPr>
        <p:spPr>
          <a:xfrm xmlns:a="http://schemas.openxmlformats.org/drawingml/2006/main" rot="0">
            <a:off x="8230567" y="2355533"/>
            <a:ext cx="76959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1">
                <a:solidFill>
                  <a:srgbClr val="FFFFFF"/>
                </a:solidFill>
                <a:latin typeface="Arial"/>
                <a:ea typeface="Arial"/>
                <a:cs typeface="Arial"/>
              </a:defRPr>
            </a:defPPr>
          </a:lstStyle>
          <a:p xmlns:a="http://schemas.openxmlformats.org/drawingml/2006/main">
            <a:pPr algn="ctr">
              <a:lnSpc>
                <a:spcPct val="125000"/>
              </a:lnSpc>
              <a:buNone/>
              <a:defRPr sz="1500" b="1">
                <a:solidFill>
                  <a:srgbClr val="FFFFFF"/>
                </a:solidFill>
                <a:latin typeface="Arial"/>
                <a:ea typeface="Arial"/>
                <a:cs typeface="Arial"/>
              </a:defRPr>
            </a:pPr>
            <a:r>
              <a:rPr sz="1500" b="1">
                <a:solidFill>
                  <a:srgbClr val="FFFFFF"/>
                </a:solidFill>
                <a:latin typeface="Arial"/>
                <a:ea typeface="Arial"/>
                <a:cs typeface="Arial"/>
              </a:rPr>
              <a:t>AI ERA</a:t>
            </a:r>
          </a:p>
        </p:txBody>
      </p:sp>
      <p:sp>
        <p:nvSpPr>
          <p:cNvPr id="7" name="Figure 11 label 6">
            <a:extLst xmlns:a="http://schemas.openxmlformats.org/drawingml/2006/main">
              <a:ext uri="{FF2B5EF4-FFF2-40B4-BE49-F238E27FC236}">
                <a16:creationId xmlns:a16="http://schemas.microsoft.com/office/drawing/2014/main" id="{FA1E92EF-20E6-476C-A6CA-79516F153D6F}"/>
              </a:ext>
            </a:extLst>
          </p:cNvPr>
          <p:cNvSpPr>
            <a:spLocks xmlns:a="http://schemas.openxmlformats.org/drawingml/2006/main" noGrp="1"/>
          </p:cNvSpPr>
          <p:nvPr/>
        </p:nvSpPr>
        <p:spPr>
          <a:xfrm xmlns:a="http://schemas.openxmlformats.org/drawingml/2006/main" rot="0">
            <a:off x="10031730" y="2355533"/>
            <a:ext cx="168652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FFFFFF"/>
                </a:solidFill>
                <a:latin typeface="Arial"/>
                <a:ea typeface="Arial"/>
                <a:cs typeface="Arial"/>
              </a:defRPr>
            </a:defPPr>
          </a:lstStyle>
          <a:p xmlns:a="http://schemas.openxmlformats.org/drawingml/2006/main">
            <a:pPr algn="l">
              <a:lnSpc>
                <a:spcPct val="125000"/>
              </a:lnSpc>
              <a:buNone/>
              <a:defRPr sz="1500" b="1">
                <a:solidFill>
                  <a:srgbClr val="FFFFFF"/>
                </a:solidFill>
                <a:latin typeface="Arial"/>
                <a:ea typeface="Arial"/>
                <a:cs typeface="Arial"/>
              </a:defRPr>
            </a:pPr>
            <a:r>
              <a:rPr sz="1500" b="1">
                <a:solidFill>
                  <a:srgbClr val="FFFFFF"/>
                </a:solidFill>
                <a:latin typeface="Arial"/>
                <a:ea typeface="Arial"/>
                <a:cs typeface="Arial"/>
              </a:rPr>
              <a:t>WHAT CHANGES</a:t>
            </a:r>
          </a:p>
        </p:txBody>
      </p:sp>
      <p:sp>
        <p:nvSpPr>
          <p:cNvPr id="8" name="Figure 11 label 7">
            <a:extLst xmlns:a="http://schemas.openxmlformats.org/drawingml/2006/main">
              <a:ext uri="{FF2B5EF4-FFF2-40B4-BE49-F238E27FC236}">
                <a16:creationId xmlns:a16="http://schemas.microsoft.com/office/drawing/2014/main" id="{0081CA4E-5657-43D3-8FA3-E7DC9C96ECB9}"/>
              </a:ext>
            </a:extLst>
          </p:cNvPr>
          <p:cNvSpPr>
            <a:spLocks xmlns:a="http://schemas.openxmlformats.org/drawingml/2006/main" noGrp="1"/>
          </p:cNvSpPr>
          <p:nvPr/>
        </p:nvSpPr>
        <p:spPr>
          <a:xfrm xmlns:a="http://schemas.openxmlformats.org/drawingml/2006/main" rot="0">
            <a:off x="885825" y="3050381"/>
            <a:ext cx="2259657" cy="595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Molecules designed</a:t>
            </a:r>
          </a:p>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(virtual)</a:t>
            </a:r>
          </a:p>
        </p:txBody>
      </p:sp>
      <p:sp>
        <p:nvSpPr>
          <p:cNvPr id="9" name="Figure 11 label 8">
            <a:extLst xmlns:a="http://schemas.openxmlformats.org/drawingml/2006/main">
              <a:ext uri="{FF2B5EF4-FFF2-40B4-BE49-F238E27FC236}">
                <a16:creationId xmlns:a16="http://schemas.microsoft.com/office/drawing/2014/main" id="{4D5F0B86-DAA2-43C8-A0DB-AA6EE218AEE5}"/>
              </a:ext>
            </a:extLst>
          </p:cNvPr>
          <p:cNvSpPr>
            <a:spLocks xmlns:a="http://schemas.openxmlformats.org/drawingml/2006/main" noGrp="1"/>
          </p:cNvSpPr>
          <p:nvPr/>
        </p:nvSpPr>
        <p:spPr>
          <a:xfrm xmlns:a="http://schemas.openxmlformats.org/drawingml/2006/main" rot="0">
            <a:off x="6087725" y="3140202"/>
            <a:ext cx="816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~10³</a:t>
            </a:r>
          </a:p>
        </p:txBody>
      </p:sp>
      <p:sp>
        <p:nvSpPr>
          <p:cNvPr id="10" name="Figure 11 label 9">
            <a:extLst xmlns:a="http://schemas.openxmlformats.org/drawingml/2006/main">
              <a:ext uri="{FF2B5EF4-FFF2-40B4-BE49-F238E27FC236}">
                <a16:creationId xmlns:a16="http://schemas.microsoft.com/office/drawing/2014/main" id="{8C4B76E2-4875-4CF7-AD73-8C4817617B5B}"/>
              </a:ext>
            </a:extLst>
          </p:cNvPr>
          <p:cNvSpPr>
            <a:spLocks xmlns:a="http://schemas.openxmlformats.org/drawingml/2006/main" noGrp="1"/>
          </p:cNvSpPr>
          <p:nvPr/>
        </p:nvSpPr>
        <p:spPr>
          <a:xfrm xmlns:a="http://schemas.openxmlformats.org/drawingml/2006/main" rot="0">
            <a:off x="8007831" y="3140202"/>
            <a:ext cx="1215063"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10⁵–10⁹</a:t>
            </a:r>
          </a:p>
        </p:txBody>
      </p:sp>
      <p:sp>
        <p:nvSpPr>
          <p:cNvPr id="11" name="Figure 11 label 10">
            <a:extLst xmlns:a="http://schemas.openxmlformats.org/drawingml/2006/main">
              <a:ext uri="{FF2B5EF4-FFF2-40B4-BE49-F238E27FC236}">
                <a16:creationId xmlns:a16="http://schemas.microsoft.com/office/drawing/2014/main" id="{E45FC9E1-8ED7-4297-ACA8-1527AD1EC57A}"/>
              </a:ext>
            </a:extLst>
          </p:cNvPr>
          <p:cNvSpPr>
            <a:spLocks xmlns:a="http://schemas.openxmlformats.org/drawingml/2006/main" noGrp="1"/>
          </p:cNvSpPr>
          <p:nvPr/>
        </p:nvSpPr>
        <p:spPr>
          <a:xfrm xmlns:a="http://schemas.openxmlformats.org/drawingml/2006/main" rot="0">
            <a:off x="10029825" y="3050381"/>
            <a:ext cx="4814143" cy="595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Generative models can expand</a:t>
            </a:r>
          </a:p>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candidate enumeration at low marginal cost.</a:t>
            </a:r>
          </a:p>
        </p:txBody>
      </p:sp>
      <p:sp>
        <p:nvSpPr>
          <p:cNvPr id="12" name="Figure 11 label 11">
            <a:extLst xmlns:a="http://schemas.openxmlformats.org/drawingml/2006/main">
              <a:ext uri="{FF2B5EF4-FFF2-40B4-BE49-F238E27FC236}">
                <a16:creationId xmlns:a16="http://schemas.microsoft.com/office/drawing/2014/main" id="{7316728B-240B-495B-B4D3-BC17A2A2A23C}"/>
              </a:ext>
            </a:extLst>
          </p:cNvPr>
          <p:cNvSpPr>
            <a:spLocks xmlns:a="http://schemas.openxmlformats.org/drawingml/2006/main" noGrp="1"/>
          </p:cNvSpPr>
          <p:nvPr/>
        </p:nvSpPr>
        <p:spPr>
          <a:xfrm xmlns:a="http://schemas.openxmlformats.org/drawingml/2006/main" rot="0">
            <a:off x="885825" y="4251722"/>
            <a:ext cx="2987129"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Molecules physically made</a:t>
            </a:r>
          </a:p>
        </p:txBody>
      </p:sp>
      <p:sp>
        <p:nvSpPr>
          <p:cNvPr id="13" name="Figure 11 label 12">
            <a:extLst xmlns:a="http://schemas.openxmlformats.org/drawingml/2006/main">
              <a:ext uri="{FF2B5EF4-FFF2-40B4-BE49-F238E27FC236}">
                <a16:creationId xmlns:a16="http://schemas.microsoft.com/office/drawing/2014/main" id="{BA1DBEAB-9E12-48EC-97FE-F263EB0F914B}"/>
              </a:ext>
            </a:extLst>
          </p:cNvPr>
          <p:cNvSpPr>
            <a:spLocks xmlns:a="http://schemas.openxmlformats.org/drawingml/2006/main" noGrp="1"/>
          </p:cNvSpPr>
          <p:nvPr/>
        </p:nvSpPr>
        <p:spPr>
          <a:xfrm xmlns:a="http://schemas.openxmlformats.org/drawingml/2006/main" rot="0">
            <a:off x="6087725" y="4192715"/>
            <a:ext cx="816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~10³</a:t>
            </a:r>
          </a:p>
        </p:txBody>
      </p:sp>
      <p:sp>
        <p:nvSpPr>
          <p:cNvPr id="14" name="Figure 11 label 13">
            <a:extLst xmlns:a="http://schemas.openxmlformats.org/drawingml/2006/main">
              <a:ext uri="{FF2B5EF4-FFF2-40B4-BE49-F238E27FC236}">
                <a16:creationId xmlns:a16="http://schemas.microsoft.com/office/drawing/2014/main" id="{2E26B138-A63C-4BED-8A25-0D74C5D0A73C}"/>
              </a:ext>
            </a:extLst>
          </p:cNvPr>
          <p:cNvSpPr>
            <a:spLocks xmlns:a="http://schemas.openxmlformats.org/drawingml/2006/main" noGrp="1"/>
          </p:cNvSpPr>
          <p:nvPr/>
        </p:nvSpPr>
        <p:spPr>
          <a:xfrm xmlns:a="http://schemas.openxmlformats.org/drawingml/2006/main" rot="0">
            <a:off x="7999422" y="4192715"/>
            <a:ext cx="123188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10³–10⁴</a:t>
            </a:r>
          </a:p>
        </p:txBody>
      </p:sp>
      <p:sp>
        <p:nvSpPr>
          <p:cNvPr id="15" name="Figure 11 label 14">
            <a:extLst xmlns:a="http://schemas.openxmlformats.org/drawingml/2006/main">
              <a:ext uri="{FF2B5EF4-FFF2-40B4-BE49-F238E27FC236}">
                <a16:creationId xmlns:a16="http://schemas.microsoft.com/office/drawing/2014/main" id="{661ACEA6-259E-4F9B-9D34-C40649C2DD09}"/>
              </a:ext>
            </a:extLst>
          </p:cNvPr>
          <p:cNvSpPr>
            <a:spLocks xmlns:a="http://schemas.openxmlformats.org/drawingml/2006/main" noGrp="1"/>
          </p:cNvSpPr>
          <p:nvPr/>
        </p:nvSpPr>
        <p:spPr>
          <a:xfrm xmlns:a="http://schemas.openxmlformats.org/drawingml/2006/main" rot="0">
            <a:off x="10029825" y="4102894"/>
            <a:ext cx="4284315" cy="595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Automated synthesis and DNA libraries</a:t>
            </a:r>
          </a:p>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can expand construction capacity.</a:t>
            </a:r>
          </a:p>
        </p:txBody>
      </p:sp>
      <p:sp>
        <p:nvSpPr>
          <p:cNvPr id="16" name="Figure 11 label 15">
            <a:extLst xmlns:a="http://schemas.openxmlformats.org/drawingml/2006/main">
              <a:ext uri="{FF2B5EF4-FFF2-40B4-BE49-F238E27FC236}">
                <a16:creationId xmlns:a16="http://schemas.microsoft.com/office/drawing/2014/main" id="{C59DC4FE-CA20-42A3-9388-611CDD49C4C1}"/>
              </a:ext>
            </a:extLst>
          </p:cNvPr>
          <p:cNvSpPr>
            <a:spLocks xmlns:a="http://schemas.openxmlformats.org/drawingml/2006/main" noGrp="1"/>
          </p:cNvSpPr>
          <p:nvPr/>
        </p:nvSpPr>
        <p:spPr>
          <a:xfrm xmlns:a="http://schemas.openxmlformats.org/drawingml/2006/main" rot="0">
            <a:off x="885825" y="5251847"/>
            <a:ext cx="2800796"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7D80"/>
                </a:solidFill>
                <a:latin typeface="Arial"/>
                <a:ea typeface="Arial"/>
                <a:cs typeface="Arial"/>
              </a:defRPr>
            </a:defPPr>
          </a:lstStyle>
          <a:p xmlns:a="http://schemas.openxmlformats.org/drawingml/2006/main">
            <a:pPr algn="l">
              <a:lnSpc>
                <a:spcPct val="125000"/>
              </a:lnSpc>
              <a:buNone/>
              <a:defRPr sz="1875" b="1">
                <a:solidFill>
                  <a:srgbClr val="007D80"/>
                </a:solidFill>
                <a:latin typeface="Arial"/>
                <a:ea typeface="Arial"/>
                <a:cs typeface="Arial"/>
              </a:defRPr>
            </a:pPr>
            <a:r>
              <a:rPr sz="1875" b="1">
                <a:solidFill>
                  <a:srgbClr val="007D80"/>
                </a:solidFill>
                <a:latin typeface="Arial"/>
                <a:ea typeface="Arial"/>
                <a:cs typeface="Arial"/>
              </a:rPr>
              <a:t>Fully profiled in wet lab</a:t>
            </a:r>
          </a:p>
        </p:txBody>
      </p:sp>
      <p:sp>
        <p:nvSpPr>
          <p:cNvPr id="17" name="Figure 11 label 16">
            <a:extLst xmlns:a="http://schemas.openxmlformats.org/drawingml/2006/main">
              <a:ext uri="{FF2B5EF4-FFF2-40B4-BE49-F238E27FC236}">
                <a16:creationId xmlns:a16="http://schemas.microsoft.com/office/drawing/2014/main" id="{33720A2F-2874-4C5B-BFBA-89A731280D14}"/>
              </a:ext>
            </a:extLst>
          </p:cNvPr>
          <p:cNvSpPr>
            <a:spLocks xmlns:a="http://schemas.openxmlformats.org/drawingml/2006/main" noGrp="1"/>
          </p:cNvSpPr>
          <p:nvPr/>
        </p:nvSpPr>
        <p:spPr>
          <a:xfrm xmlns:a="http://schemas.openxmlformats.org/drawingml/2006/main" rot="0">
            <a:off x="6138476" y="5192839"/>
            <a:ext cx="715149"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1">
                <a:solidFill>
                  <a:srgbClr val="007D80"/>
                </a:solidFill>
                <a:latin typeface="Arial"/>
                <a:ea typeface="Arial"/>
                <a:cs typeface="Arial"/>
              </a:defRPr>
            </a:defPPr>
          </a:lstStyle>
          <a:p xmlns:a="http://schemas.openxmlformats.org/drawingml/2006/main">
            <a:pPr algn="ctr">
              <a:lnSpc>
                <a:spcPct val="125000"/>
              </a:lnSpc>
              <a:buNone/>
              <a:defRPr sz="2400" b="1">
                <a:solidFill>
                  <a:srgbClr val="007D80"/>
                </a:solidFill>
                <a:latin typeface="Arial"/>
                <a:ea typeface="Arial"/>
                <a:cs typeface="Arial"/>
              </a:defRPr>
            </a:pPr>
            <a:r>
              <a:rPr sz="2400" b="1">
                <a:solidFill>
                  <a:srgbClr val="007D80"/>
                </a:solidFill>
                <a:latin typeface="Arial"/>
                <a:ea typeface="Arial"/>
                <a:cs typeface="Arial"/>
              </a:rPr>
              <a:t>~50</a:t>
            </a:r>
          </a:p>
        </p:txBody>
      </p:sp>
      <p:sp>
        <p:nvSpPr>
          <p:cNvPr id="18" name="Figure 11 label 17">
            <a:extLst xmlns:a="http://schemas.openxmlformats.org/drawingml/2006/main">
              <a:ext uri="{FF2B5EF4-FFF2-40B4-BE49-F238E27FC236}">
                <a16:creationId xmlns:a16="http://schemas.microsoft.com/office/drawing/2014/main" id="{EEEB62AA-2362-4174-B9D3-00B3D9BC8137}"/>
              </a:ext>
            </a:extLst>
          </p:cNvPr>
          <p:cNvSpPr>
            <a:spLocks xmlns:a="http://schemas.openxmlformats.org/drawingml/2006/main" noGrp="1"/>
          </p:cNvSpPr>
          <p:nvPr/>
        </p:nvSpPr>
        <p:spPr>
          <a:xfrm xmlns:a="http://schemas.openxmlformats.org/drawingml/2006/main" rot="0">
            <a:off x="7855431" y="5192839"/>
            <a:ext cx="1519863"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1">
                <a:solidFill>
                  <a:srgbClr val="007D80"/>
                </a:solidFill>
                <a:latin typeface="Arial"/>
                <a:ea typeface="Arial"/>
                <a:cs typeface="Arial"/>
              </a:defRPr>
            </a:defPPr>
          </a:lstStyle>
          <a:p xmlns:a="http://schemas.openxmlformats.org/drawingml/2006/main">
            <a:pPr algn="ctr">
              <a:lnSpc>
                <a:spcPct val="125000"/>
              </a:lnSpc>
              <a:buNone/>
              <a:defRPr sz="2400" b="1">
                <a:solidFill>
                  <a:srgbClr val="007D80"/>
                </a:solidFill>
                <a:latin typeface="Arial"/>
                <a:ea typeface="Arial"/>
                <a:cs typeface="Arial"/>
              </a:defRPr>
            </a:pPr>
            <a:r>
              <a:rPr sz="2400" b="1">
                <a:solidFill>
                  <a:srgbClr val="007D80"/>
                </a:solidFill>
                <a:latin typeface="Arial"/>
                <a:ea typeface="Arial"/>
                <a:cs typeface="Arial"/>
              </a:rPr>
              <a:t>50 → 500</a:t>
            </a:r>
          </a:p>
        </p:txBody>
      </p:sp>
      <p:sp>
        <p:nvSpPr>
          <p:cNvPr id="19" name="Figure 11 label 18">
            <a:extLst xmlns:a="http://schemas.openxmlformats.org/drawingml/2006/main">
              <a:ext uri="{FF2B5EF4-FFF2-40B4-BE49-F238E27FC236}">
                <a16:creationId xmlns:a16="http://schemas.microsoft.com/office/drawing/2014/main" id="{2100BC27-6E5B-4FCD-8777-3AED604FD1FF}"/>
              </a:ext>
            </a:extLst>
          </p:cNvPr>
          <p:cNvSpPr>
            <a:spLocks xmlns:a="http://schemas.openxmlformats.org/drawingml/2006/main" noGrp="1"/>
          </p:cNvSpPr>
          <p:nvPr/>
        </p:nvSpPr>
        <p:spPr>
          <a:xfrm xmlns:a="http://schemas.openxmlformats.org/drawingml/2006/main" rot="0">
            <a:off x="10029825" y="5103019"/>
            <a:ext cx="4031010" cy="595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7D80"/>
                </a:solidFill>
                <a:latin typeface="Arial"/>
                <a:ea typeface="Arial"/>
                <a:cs typeface="Arial"/>
              </a:defRPr>
            </a:defPPr>
          </a:lstStyle>
          <a:p xmlns:a="http://schemas.openxmlformats.org/drawingml/2006/main">
            <a:pPr algn="l">
              <a:lnSpc>
                <a:spcPct val="125000"/>
              </a:lnSpc>
              <a:buNone/>
              <a:defRPr sz="1875" b="1">
                <a:solidFill>
                  <a:srgbClr val="007D80"/>
                </a:solidFill>
                <a:latin typeface="Arial"/>
                <a:ea typeface="Arial"/>
                <a:cs typeface="Arial"/>
              </a:defRPr>
            </a:pPr>
            <a:r>
              <a:rPr sz="1875" b="1">
                <a:solidFill>
                  <a:srgbClr val="007D80"/>
                </a:solidFill>
                <a:latin typeface="Arial"/>
                <a:ea typeface="Arial"/>
                <a:cs typeface="Arial"/>
              </a:rPr>
              <a:t>Illustrative capacity expansion</a:t>
            </a:r>
          </a:p>
          <a:p xmlns:a="http://schemas.openxmlformats.org/drawingml/2006/main">
            <a:pPr algn="l">
              <a:lnSpc>
                <a:spcPct val="125000"/>
              </a:lnSpc>
              <a:buNone/>
              <a:defRPr sz="1875" b="1">
                <a:solidFill>
                  <a:srgbClr val="007D80"/>
                </a:solidFill>
                <a:latin typeface="Arial"/>
                <a:ea typeface="Arial"/>
                <a:cs typeface="Arial"/>
              </a:defRPr>
            </a:pPr>
            <a:r>
              <a:rPr sz="1875" b="1">
                <a:solidFill>
                  <a:srgbClr val="007D80"/>
                </a:solidFill>
                <a:latin typeface="Arial"/>
                <a:ea typeface="Arial"/>
                <a:cs typeface="Arial"/>
              </a:rPr>
              <a:t>that investors would need to fund.</a:t>
            </a:r>
          </a:p>
        </p:txBody>
      </p:sp>
      <p:sp>
        <p:nvSpPr>
          <p:cNvPr id="20" name="Figure 11 label 19">
            <a:extLst xmlns:a="http://schemas.openxmlformats.org/drawingml/2006/main">
              <a:ext uri="{FF2B5EF4-FFF2-40B4-BE49-F238E27FC236}">
                <a16:creationId xmlns:a16="http://schemas.microsoft.com/office/drawing/2014/main" id="{06D854A1-7193-4E30-AB65-9FEB7F5D5D01}"/>
              </a:ext>
            </a:extLst>
          </p:cNvPr>
          <p:cNvSpPr>
            <a:spLocks xmlns:a="http://schemas.openxmlformats.org/drawingml/2006/main" noGrp="1"/>
          </p:cNvSpPr>
          <p:nvPr/>
        </p:nvSpPr>
        <p:spPr>
          <a:xfrm xmlns:a="http://schemas.openxmlformats.org/drawingml/2006/main" rot="0">
            <a:off x="885825" y="6251972"/>
            <a:ext cx="151789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Clinical entry</a:t>
            </a:r>
          </a:p>
        </p:txBody>
      </p:sp>
      <p:sp>
        <p:nvSpPr>
          <p:cNvPr id="21" name="Figure 11 label 20">
            <a:extLst xmlns:a="http://schemas.openxmlformats.org/drawingml/2006/main">
              <a:ext uri="{FF2B5EF4-FFF2-40B4-BE49-F238E27FC236}">
                <a16:creationId xmlns:a16="http://schemas.microsoft.com/office/drawing/2014/main" id="{26DD5753-ECDF-4C2D-ADA2-25C37C853CB8}"/>
              </a:ext>
            </a:extLst>
          </p:cNvPr>
          <p:cNvSpPr>
            <a:spLocks xmlns:a="http://schemas.openxmlformats.org/drawingml/2006/main" noGrp="1"/>
          </p:cNvSpPr>
          <p:nvPr/>
        </p:nvSpPr>
        <p:spPr>
          <a:xfrm xmlns:a="http://schemas.openxmlformats.org/drawingml/2006/main" rot="0">
            <a:off x="6312232" y="6192964"/>
            <a:ext cx="36763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1</a:t>
            </a:r>
          </a:p>
        </p:txBody>
      </p:sp>
      <p:sp>
        <p:nvSpPr>
          <p:cNvPr id="22" name="Figure 11 label 21">
            <a:extLst xmlns:a="http://schemas.openxmlformats.org/drawingml/2006/main">
              <a:ext uri="{FF2B5EF4-FFF2-40B4-BE49-F238E27FC236}">
                <a16:creationId xmlns:a16="http://schemas.microsoft.com/office/drawing/2014/main" id="{F257505A-66DB-4560-9C45-3FF1C04E39EB}"/>
              </a:ext>
            </a:extLst>
          </p:cNvPr>
          <p:cNvSpPr>
            <a:spLocks xmlns:a="http://schemas.openxmlformats.org/drawingml/2006/main" noGrp="1"/>
          </p:cNvSpPr>
          <p:nvPr/>
        </p:nvSpPr>
        <p:spPr>
          <a:xfrm xmlns:a="http://schemas.openxmlformats.org/drawingml/2006/main" rot="0">
            <a:off x="8431545" y="6192964"/>
            <a:ext cx="36763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1</a:t>
            </a:r>
          </a:p>
        </p:txBody>
      </p:sp>
      <p:sp>
        <p:nvSpPr>
          <p:cNvPr id="23" name="Figure 11 label 22">
            <a:extLst xmlns:a="http://schemas.openxmlformats.org/drawingml/2006/main">
              <a:ext uri="{FF2B5EF4-FFF2-40B4-BE49-F238E27FC236}">
                <a16:creationId xmlns:a16="http://schemas.microsoft.com/office/drawing/2014/main" id="{62F7AC22-5261-4AA1-9B1F-796FEE925991}"/>
              </a:ext>
            </a:extLst>
          </p:cNvPr>
          <p:cNvSpPr>
            <a:spLocks xmlns:a="http://schemas.openxmlformats.org/drawingml/2006/main" noGrp="1"/>
          </p:cNvSpPr>
          <p:nvPr/>
        </p:nvSpPr>
        <p:spPr>
          <a:xfrm xmlns:a="http://schemas.openxmlformats.org/drawingml/2006/main" rot="0">
            <a:off x="10029825" y="6103144"/>
            <a:ext cx="3569791" cy="595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Patients, ethics, capital and time</a:t>
            </a:r>
          </a:p>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remain hard constraints.</a:t>
            </a:r>
          </a:p>
        </p:txBody>
      </p:sp>
      <p:sp>
        <p:nvSpPr>
          <p:cNvPr id="24" name="Figure 11 label 23">
            <a:extLst xmlns:a="http://schemas.openxmlformats.org/drawingml/2006/main">
              <a:ext uri="{FF2B5EF4-FFF2-40B4-BE49-F238E27FC236}">
                <a16:creationId xmlns:a16="http://schemas.microsoft.com/office/drawing/2014/main" id="{CEE5CF1C-3485-4768-B912-0972F1CDF8B4}"/>
              </a:ext>
            </a:extLst>
          </p:cNvPr>
          <p:cNvSpPr>
            <a:spLocks xmlns:a="http://schemas.openxmlformats.org/drawingml/2006/main" noGrp="1"/>
          </p:cNvSpPr>
          <p:nvPr/>
        </p:nvSpPr>
        <p:spPr>
          <a:xfrm xmlns:a="http://schemas.openxmlformats.org/drawingml/2006/main" rot="0">
            <a:off x="885825" y="7252097"/>
            <a:ext cx="2246412"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Expected approvals</a:t>
            </a:r>
          </a:p>
        </p:txBody>
      </p:sp>
      <p:sp>
        <p:nvSpPr>
          <p:cNvPr id="25" name="Figure 11 label 24">
            <a:extLst xmlns:a="http://schemas.openxmlformats.org/drawingml/2006/main">
              <a:ext uri="{FF2B5EF4-FFF2-40B4-BE49-F238E27FC236}">
                <a16:creationId xmlns:a16="http://schemas.microsoft.com/office/drawing/2014/main" id="{8981429B-FEC3-4ABC-8882-44CE0B7F3B8B}"/>
              </a:ext>
            </a:extLst>
          </p:cNvPr>
          <p:cNvSpPr>
            <a:spLocks xmlns:a="http://schemas.openxmlformats.org/drawingml/2006/main" noGrp="1"/>
          </p:cNvSpPr>
          <p:nvPr/>
        </p:nvSpPr>
        <p:spPr>
          <a:xfrm xmlns:a="http://schemas.openxmlformats.org/drawingml/2006/main" rot="0">
            <a:off x="6011376" y="7193089"/>
            <a:ext cx="969347"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~0.14</a:t>
            </a:r>
          </a:p>
        </p:txBody>
      </p:sp>
      <p:sp>
        <p:nvSpPr>
          <p:cNvPr id="26" name="Figure 11 label 25">
            <a:extLst xmlns:a="http://schemas.openxmlformats.org/drawingml/2006/main">
              <a:ext uri="{FF2B5EF4-FFF2-40B4-BE49-F238E27FC236}">
                <a16:creationId xmlns:a16="http://schemas.microsoft.com/office/drawing/2014/main" id="{4E588205-C63E-401C-BB4E-A1541F74D314}"/>
              </a:ext>
            </a:extLst>
          </p:cNvPr>
          <p:cNvSpPr>
            <a:spLocks xmlns:a="http://schemas.openxmlformats.org/drawingml/2006/main" noGrp="1"/>
          </p:cNvSpPr>
          <p:nvPr/>
        </p:nvSpPr>
        <p:spPr>
          <a:xfrm xmlns:a="http://schemas.openxmlformats.org/drawingml/2006/main" rot="0">
            <a:off x="7880955" y="7193089"/>
            <a:ext cx="146881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0">
                <a:solidFill>
                  <a:srgbClr val="152C3A"/>
                </a:solidFill>
                <a:latin typeface="Arial"/>
                <a:ea typeface="Arial"/>
                <a:cs typeface="Arial"/>
              </a:defRPr>
            </a:defPPr>
          </a:lstStyle>
          <a:p xmlns:a="http://schemas.openxmlformats.org/drawingml/2006/main">
            <a:pPr algn="ctr">
              <a:lnSpc>
                <a:spcPct val="125000"/>
              </a:lnSpc>
              <a:buNone/>
              <a:defRPr sz="2400" b="0">
                <a:solidFill>
                  <a:srgbClr val="152C3A"/>
                </a:solidFill>
                <a:latin typeface="Arial"/>
                <a:ea typeface="Arial"/>
                <a:cs typeface="Arial"/>
              </a:defRPr>
            </a:pPr>
            <a:r>
              <a:rPr sz="2400" b="0">
                <a:solidFill>
                  <a:srgbClr val="152C3A"/>
                </a:solidFill>
                <a:latin typeface="Arial"/>
                <a:ea typeface="Arial"/>
                <a:cs typeface="Arial"/>
              </a:rPr>
              <a:t>Unknown</a:t>
            </a:r>
          </a:p>
        </p:txBody>
      </p:sp>
      <p:sp>
        <p:nvSpPr>
          <p:cNvPr id="27" name="Figure 11 label 26">
            <a:extLst xmlns:a="http://schemas.openxmlformats.org/drawingml/2006/main">
              <a:ext uri="{FF2B5EF4-FFF2-40B4-BE49-F238E27FC236}">
                <a16:creationId xmlns:a16="http://schemas.microsoft.com/office/drawing/2014/main" id="{3418D23E-E9E8-4A10-9051-1D6346414D08}"/>
              </a:ext>
            </a:extLst>
          </p:cNvPr>
          <p:cNvSpPr>
            <a:spLocks xmlns:a="http://schemas.openxmlformats.org/drawingml/2006/main" noGrp="1"/>
          </p:cNvSpPr>
          <p:nvPr/>
        </p:nvSpPr>
        <p:spPr>
          <a:xfrm xmlns:a="http://schemas.openxmlformats.org/drawingml/2006/main" rot="0">
            <a:off x="10029825" y="7103269"/>
            <a:ext cx="4350246" cy="595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0">
                <a:solidFill>
                  <a:srgbClr val="152C3A"/>
                </a:solidFill>
                <a:latin typeface="Arial"/>
                <a:ea typeface="Arial"/>
                <a:cs typeface="Arial"/>
              </a:defRPr>
            </a:defPPr>
          </a:lstStyle>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Clinical success must be demonstrated;</a:t>
            </a:r>
          </a:p>
          <a:p xmlns:a="http://schemas.openxmlformats.org/drawingml/2006/main">
            <a:pPr algn="l">
              <a:lnSpc>
                <a:spcPct val="125000"/>
              </a:lnSpc>
              <a:buNone/>
              <a:defRPr sz="1875" b="0">
                <a:solidFill>
                  <a:srgbClr val="152C3A"/>
                </a:solidFill>
                <a:latin typeface="Arial"/>
                <a:ea typeface="Arial"/>
                <a:cs typeface="Arial"/>
              </a:defRPr>
            </a:pPr>
            <a:r>
              <a:rPr sz="1875" b="0">
                <a:solidFill>
                  <a:srgbClr val="152C3A"/>
                </a:solidFill>
                <a:latin typeface="Arial"/>
                <a:ea typeface="Arial"/>
                <a:cs typeface="Arial"/>
              </a:rPr>
              <a:t>AI does not establish an approval rate.</a:t>
            </a:r>
          </a:p>
        </p:txBody>
      </p:sp>
      <p:sp>
        <p:nvSpPr>
          <p:cNvPr id="28" name="Figure 11 label 27">
            <a:extLst xmlns:a="http://schemas.openxmlformats.org/drawingml/2006/main">
              <a:ext uri="{FF2B5EF4-FFF2-40B4-BE49-F238E27FC236}">
                <a16:creationId xmlns:a16="http://schemas.microsoft.com/office/drawing/2014/main" id="{C437EB97-8064-4123-818B-B82AF4387A6A}"/>
              </a:ext>
            </a:extLst>
          </p:cNvPr>
          <p:cNvSpPr>
            <a:spLocks xmlns:a="http://schemas.openxmlformats.org/drawingml/2006/main" noGrp="1"/>
          </p:cNvSpPr>
          <p:nvPr/>
        </p:nvSpPr>
        <p:spPr>
          <a:xfrm xmlns:a="http://schemas.openxmlformats.org/drawingml/2006/main" rot="0">
            <a:off x="1618107" y="8450961"/>
            <a:ext cx="11743849"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FFFFFF"/>
                </a:solidFill>
                <a:latin typeface="Arial"/>
                <a:ea typeface="Arial"/>
                <a:cs typeface="Arial"/>
              </a:defRPr>
            </a:defPPr>
          </a:lstStyle>
          <a:p xmlns:a="http://schemas.openxmlformats.org/drawingml/2006/main">
            <a:pPr algn="l">
              <a:lnSpc>
                <a:spcPct val="125000"/>
              </a:lnSpc>
              <a:buNone/>
              <a:defRPr sz="2100" b="1">
                <a:solidFill>
                  <a:srgbClr val="FFFFFF"/>
                </a:solidFill>
                <a:latin typeface="Arial"/>
                <a:ea typeface="Arial"/>
                <a:cs typeface="Arial"/>
              </a:defRPr>
            </a:pPr>
            <a:r>
              <a:rPr sz="2100" b="1">
                <a:solidFill>
                  <a:srgbClr val="FFFFFF"/>
                </a:solidFill>
                <a:latin typeface="Arial"/>
                <a:ea typeface="Arial"/>
                <a:cs typeface="Arial"/>
              </a:rPr>
              <a:t>Working thesis: experimental throughput becomes a capacity gate as virtual design scales.</a:t>
            </a:r>
          </a:p>
        </p:txBody>
      </p:sp>
      <p:sp>
        <p:nvSpPr>
          <p:cNvPr id="29" name="Figure 11 label 28">
            <a:extLst xmlns:a="http://schemas.openxmlformats.org/drawingml/2006/main">
              <a:ext uri="{FF2B5EF4-FFF2-40B4-BE49-F238E27FC236}">
                <a16:creationId xmlns:a16="http://schemas.microsoft.com/office/drawing/2014/main" id="{4729F760-9FF0-47C1-A23D-468B9936D5F4}"/>
              </a:ext>
            </a:extLst>
          </p:cNvPr>
          <p:cNvSpPr>
            <a:spLocks xmlns:a="http://schemas.openxmlformats.org/drawingml/2006/main" noGrp="1"/>
          </p:cNvSpPr>
          <p:nvPr/>
        </p:nvSpPr>
        <p:spPr>
          <a:xfrm xmlns:a="http://schemas.openxmlformats.org/drawingml/2006/main" rot="0">
            <a:off x="679323" y="9533192"/>
            <a:ext cx="9740682"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Source: user-supplied comparison. ~0.14 is an illustrative expected approval count per clinical entrant; the AI-era outcome is unknown.</a:t>
            </a:r>
          </a:p>
        </p:txBody>
      </p:sp>
    </p:spTree>
    <p:extLst>
      <p:ext uri="{BB962C8B-B14F-4D97-AF65-F5344CB8AC3E}">
        <p14:creationId xmlns:p14="http://schemas.microsoft.com/office/powerpoint/2010/main" val="125027369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0" name="">
            <a:extLst xmlns:a="http://schemas.openxmlformats.org/drawingml/2006/main">
              <a:ext uri="{FF2B5EF4-FFF2-40B4-BE49-F238E27FC236}">
                <a16:creationId xmlns:a16="http://schemas.microsoft.com/office/drawing/2014/main" id="{B7190B3B-4FCC-4E42-AEDA-F3A57B2A0BA9}"/>
              </a:ext>
            </a:extLst>
          </p:cNvPr>
          <p:cNvPicPr>
            <a:picLocks xmlns:a="http://schemas.openxmlformats.org/drawingml/2006/main" noChangeAspect="1"/>
          </p:cNvPicPr>
          <p:nvPr/>
        </p:nvPicPr>
        <p:blipFill>
          <a:blip xmlns:r="http://schemas.openxmlformats.org/officeDocument/2006/relationships" xmlns:a="http://schemas.openxmlformats.org/drawingml/2006/main" r:embed="R70c946a692b34d8b"/>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2 label 1">
            <a:extLst xmlns:a="http://schemas.openxmlformats.org/drawingml/2006/main">
              <a:ext uri="{FF2B5EF4-FFF2-40B4-BE49-F238E27FC236}">
                <a16:creationId xmlns:a16="http://schemas.microsoft.com/office/drawing/2014/main" id="{6967FFC2-5B3C-4E7D-87F1-DB19B5AB301C}"/>
              </a:ext>
            </a:extLst>
          </p:cNvPr>
          <p:cNvSpPr>
            <a:spLocks xmlns:a="http://schemas.openxmlformats.org/drawingml/2006/main" noGrp="1"/>
          </p:cNvSpPr>
          <p:nvPr/>
        </p:nvSpPr>
        <p:spPr>
          <a:xfrm xmlns:a="http://schemas.openxmlformats.org/drawingml/2006/main" rot="0">
            <a:off x="982599" y="311277"/>
            <a:ext cx="10755898"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152C3A"/>
                </a:solidFill>
                <a:latin typeface="Arial"/>
                <a:ea typeface="Arial"/>
                <a:cs typeface="Arial"/>
              </a:defRPr>
            </a:defPPr>
          </a:lstStyle>
          <a:p xmlns:a="http://schemas.openxmlformats.org/drawingml/2006/main">
            <a:pPr algn="l">
              <a:lnSpc>
                <a:spcPct val="125000"/>
              </a:lnSpc>
              <a:buNone/>
              <a:defRPr sz="3450" b="1">
                <a:solidFill>
                  <a:srgbClr val="152C3A"/>
                </a:solidFill>
                <a:latin typeface="Arial"/>
                <a:ea typeface="Arial"/>
                <a:cs typeface="Arial"/>
              </a:defRPr>
            </a:pPr>
            <a:r>
              <a:rPr sz="3450" b="1">
                <a:solidFill>
                  <a:srgbClr val="152C3A"/>
                </a:solidFill>
                <a:latin typeface="Arial"/>
                <a:ea typeface="Arial"/>
                <a:cs typeface="Arial"/>
              </a:rPr>
              <a:t>AI-scale design meets finite experimental capacity</a:t>
            </a:r>
          </a:p>
        </p:txBody>
      </p:sp>
      <p:sp>
        <p:nvSpPr>
          <p:cNvPr id="3" name="Figure 12 label 2">
            <a:extLst xmlns:a="http://schemas.openxmlformats.org/drawingml/2006/main">
              <a:ext uri="{FF2B5EF4-FFF2-40B4-BE49-F238E27FC236}">
                <a16:creationId xmlns:a16="http://schemas.microsoft.com/office/drawing/2014/main" id="{E18B4C4A-FAA8-4C8C-A80F-4024565C3203}"/>
              </a:ext>
            </a:extLst>
          </p:cNvPr>
          <p:cNvSpPr>
            <a:spLocks xmlns:a="http://schemas.openxmlformats.org/drawingml/2006/main" noGrp="1"/>
          </p:cNvSpPr>
          <p:nvPr/>
        </p:nvSpPr>
        <p:spPr>
          <a:xfrm xmlns:a="http://schemas.openxmlformats.org/drawingml/2006/main" rot="0">
            <a:off x="1000887" y="1050989"/>
            <a:ext cx="10526435"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0">
                <a:solidFill>
                  <a:srgbClr val="647887"/>
                </a:solidFill>
                <a:latin typeface="Arial"/>
                <a:ea typeface="Arial"/>
                <a:cs typeface="Arial"/>
              </a:defRPr>
            </a:defPPr>
          </a:lstStyle>
          <a:p xmlns:a="http://schemas.openxmlformats.org/drawingml/2006/main">
            <a:pPr algn="l">
              <a:lnSpc>
                <a:spcPct val="125000"/>
              </a:lnSpc>
              <a:buNone/>
              <a:defRPr sz="1725" b="0">
                <a:solidFill>
                  <a:srgbClr val="647887"/>
                </a:solidFill>
                <a:latin typeface="Arial"/>
                <a:ea typeface="Arial"/>
                <a:cs typeface="Arial"/>
              </a:defRPr>
            </a:pPr>
            <a:r>
              <a:rPr sz="1725" b="0">
                <a:solidFill>
                  <a:srgbClr val="647887"/>
                </a:solidFill>
                <a:latin typeface="Arial"/>
                <a:ea typeface="Arial"/>
                <a:cs typeface="Arial"/>
              </a:rPr>
              <a:t>Working scenario: candidate generation expands faster than physical construction and biological validation.</a:t>
            </a:r>
          </a:p>
        </p:txBody>
      </p:sp>
      <p:sp>
        <p:nvSpPr>
          <p:cNvPr id="4" name="Figure 12 label 3">
            <a:extLst xmlns:a="http://schemas.openxmlformats.org/drawingml/2006/main">
              <a:ext uri="{FF2B5EF4-FFF2-40B4-BE49-F238E27FC236}">
                <a16:creationId xmlns:a16="http://schemas.microsoft.com/office/drawing/2014/main" id="{9930E3D9-8DF1-42C5-A591-6AEE1896422F}"/>
              </a:ext>
            </a:extLst>
          </p:cNvPr>
          <p:cNvSpPr>
            <a:spLocks xmlns:a="http://schemas.openxmlformats.org/drawingml/2006/main" noGrp="1"/>
          </p:cNvSpPr>
          <p:nvPr/>
        </p:nvSpPr>
        <p:spPr>
          <a:xfrm xmlns:a="http://schemas.openxmlformats.org/drawingml/2006/main" rot="0">
            <a:off x="677418" y="1950339"/>
            <a:ext cx="3039249"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152C3A"/>
                </a:solidFill>
                <a:latin typeface="Arial"/>
                <a:ea typeface="Arial"/>
                <a:cs typeface="Arial"/>
              </a:defRPr>
            </a:defPPr>
          </a:lstStyle>
          <a:p xmlns:a="http://schemas.openxmlformats.org/drawingml/2006/main">
            <a:pPr algn="l">
              <a:lnSpc>
                <a:spcPct val="125000"/>
              </a:lnSpc>
              <a:buNone/>
              <a:defRPr sz="1650" b="1">
                <a:solidFill>
                  <a:srgbClr val="152C3A"/>
                </a:solidFill>
                <a:latin typeface="Arial"/>
                <a:ea typeface="Arial"/>
                <a:cs typeface="Arial"/>
              </a:defRPr>
            </a:pPr>
            <a:r>
              <a:rPr sz="1650" b="1">
                <a:solidFill>
                  <a:srgbClr val="152C3A"/>
                </a:solidFill>
                <a:latin typeface="Arial"/>
                <a:ea typeface="Arial"/>
                <a:cs typeface="Arial"/>
              </a:rPr>
              <a:t>AI-ERA DISCOVERY FUNNEL</a:t>
            </a:r>
          </a:p>
        </p:txBody>
      </p:sp>
      <p:sp>
        <p:nvSpPr>
          <p:cNvPr id="5" name="Figure 12 label 4">
            <a:extLst xmlns:a="http://schemas.openxmlformats.org/drawingml/2006/main">
              <a:ext uri="{FF2B5EF4-FFF2-40B4-BE49-F238E27FC236}">
                <a16:creationId xmlns:a16="http://schemas.microsoft.com/office/drawing/2014/main" id="{FA5EA504-D1F1-4BC2-9AF1-5BCC515F2D5F}"/>
              </a:ext>
            </a:extLst>
          </p:cNvPr>
          <p:cNvSpPr>
            <a:spLocks xmlns:a="http://schemas.openxmlformats.org/drawingml/2006/main" noGrp="1"/>
          </p:cNvSpPr>
          <p:nvPr/>
        </p:nvSpPr>
        <p:spPr>
          <a:xfrm xmlns:a="http://schemas.openxmlformats.org/drawingml/2006/main" rot="0">
            <a:off x="678942" y="2318766"/>
            <a:ext cx="32087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647887"/>
                </a:solidFill>
                <a:latin typeface="Arial"/>
                <a:ea typeface="Arial"/>
                <a:cs typeface="Arial"/>
              </a:defRPr>
            </a:defPPr>
          </a:lstStyle>
          <a:p xmlns:a="http://schemas.openxmlformats.org/drawingml/2006/main">
            <a:pPr algn="l">
              <a:lnSpc>
                <a:spcPct val="125000"/>
              </a:lnSpc>
              <a:buNone/>
              <a:defRPr sz="1350" b="0">
                <a:solidFill>
                  <a:srgbClr val="647887"/>
                </a:solidFill>
                <a:latin typeface="Arial"/>
                <a:ea typeface="Arial"/>
                <a:cs typeface="Arial"/>
              </a:defRPr>
            </a:pPr>
            <a:r>
              <a:rPr sz="1350" b="0">
                <a:solidFill>
                  <a:srgbClr val="647887"/>
                </a:solidFill>
                <a:latin typeface="Arial"/>
                <a:ea typeface="Arial"/>
                <a:cs typeface="Arial"/>
              </a:rPr>
              <a:t>Illustrative counts per one clinical entrant</a:t>
            </a:r>
          </a:p>
        </p:txBody>
      </p:sp>
      <p:sp>
        <p:nvSpPr>
          <p:cNvPr id="6" name="Figure 12 label 5">
            <a:extLst xmlns:a="http://schemas.openxmlformats.org/drawingml/2006/main">
              <a:ext uri="{FF2B5EF4-FFF2-40B4-BE49-F238E27FC236}">
                <a16:creationId xmlns:a16="http://schemas.microsoft.com/office/drawing/2014/main" id="{C2705D2C-867F-4215-99BC-93AF825F047D}"/>
              </a:ext>
            </a:extLst>
          </p:cNvPr>
          <p:cNvSpPr>
            <a:spLocks xmlns:a="http://schemas.openxmlformats.org/drawingml/2006/main" noGrp="1"/>
          </p:cNvSpPr>
          <p:nvPr/>
        </p:nvSpPr>
        <p:spPr>
          <a:xfrm xmlns:a="http://schemas.openxmlformats.org/drawingml/2006/main" rot="0">
            <a:off x="2364968" y="3022664"/>
            <a:ext cx="1708964"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25" b="1">
                <a:solidFill>
                  <a:srgbClr val="2B62B1"/>
                </a:solidFill>
                <a:latin typeface="Arial"/>
                <a:ea typeface="Arial"/>
                <a:cs typeface="Arial"/>
              </a:defRPr>
            </a:defPPr>
          </a:lstStyle>
          <a:p xmlns:a="http://schemas.openxmlformats.org/drawingml/2006/main">
            <a:pPr algn="ctr">
              <a:lnSpc>
                <a:spcPct val="125000"/>
              </a:lnSpc>
              <a:buNone/>
              <a:defRPr sz="1725" b="1">
                <a:solidFill>
                  <a:srgbClr val="2B62B1"/>
                </a:solidFill>
                <a:latin typeface="Arial"/>
                <a:ea typeface="Arial"/>
                <a:cs typeface="Arial"/>
              </a:defRPr>
            </a:pPr>
            <a:r>
              <a:rPr sz="1725" b="1">
                <a:solidFill>
                  <a:srgbClr val="2B62B1"/>
                </a:solidFill>
                <a:latin typeface="Arial"/>
                <a:ea typeface="Arial"/>
                <a:cs typeface="Arial"/>
              </a:rPr>
              <a:t>Virtual designs</a:t>
            </a:r>
          </a:p>
        </p:txBody>
      </p:sp>
      <p:sp>
        <p:nvSpPr>
          <p:cNvPr id="7" name="Figure 12 label 6">
            <a:extLst xmlns:a="http://schemas.openxmlformats.org/drawingml/2006/main">
              <a:ext uri="{FF2B5EF4-FFF2-40B4-BE49-F238E27FC236}">
                <a16:creationId xmlns:a16="http://schemas.microsoft.com/office/drawing/2014/main" id="{41216E2C-8F96-45AC-B985-AA5DED29AF86}"/>
              </a:ext>
            </a:extLst>
          </p:cNvPr>
          <p:cNvSpPr>
            <a:spLocks xmlns:a="http://schemas.openxmlformats.org/drawingml/2006/main" noGrp="1"/>
          </p:cNvSpPr>
          <p:nvPr/>
        </p:nvSpPr>
        <p:spPr>
          <a:xfrm xmlns:a="http://schemas.openxmlformats.org/drawingml/2006/main" rot="0">
            <a:off x="2573878" y="3312033"/>
            <a:ext cx="1291144"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50" b="1">
                <a:solidFill>
                  <a:srgbClr val="2B62B1"/>
                </a:solidFill>
                <a:latin typeface="Arial"/>
                <a:ea typeface="Arial"/>
                <a:cs typeface="Arial"/>
              </a:defRPr>
            </a:defPPr>
          </a:lstStyle>
          <a:p xmlns:a="http://schemas.openxmlformats.org/drawingml/2006/main">
            <a:pPr algn="ctr">
              <a:lnSpc>
                <a:spcPct val="125000"/>
              </a:lnSpc>
              <a:buNone/>
              <a:defRPr sz="2550" b="1">
                <a:solidFill>
                  <a:srgbClr val="2B62B1"/>
                </a:solidFill>
                <a:latin typeface="Arial"/>
                <a:ea typeface="Arial"/>
                <a:cs typeface="Arial"/>
              </a:defRPr>
            </a:pPr>
            <a:r>
              <a:rPr sz="2550" b="1">
                <a:solidFill>
                  <a:srgbClr val="2B62B1"/>
                </a:solidFill>
                <a:latin typeface="Arial"/>
                <a:ea typeface="Arial"/>
                <a:cs typeface="Arial"/>
              </a:rPr>
              <a:t>10⁵–10⁹</a:t>
            </a:r>
          </a:p>
        </p:txBody>
      </p:sp>
      <p:sp>
        <p:nvSpPr>
          <p:cNvPr id="8" name="Figure 12 label 7">
            <a:extLst xmlns:a="http://schemas.openxmlformats.org/drawingml/2006/main">
              <a:ext uri="{FF2B5EF4-FFF2-40B4-BE49-F238E27FC236}">
                <a16:creationId xmlns:a16="http://schemas.microsoft.com/office/drawing/2014/main" id="{CAD99AE0-2662-4AE8-B844-0125A4EC6C7B}"/>
              </a:ext>
            </a:extLst>
          </p:cNvPr>
          <p:cNvSpPr>
            <a:spLocks xmlns:a="http://schemas.openxmlformats.org/drawingml/2006/main" noGrp="1"/>
          </p:cNvSpPr>
          <p:nvPr/>
        </p:nvSpPr>
        <p:spPr>
          <a:xfrm xmlns:a="http://schemas.openxmlformats.org/drawingml/2006/main" rot="0">
            <a:off x="2295763" y="4203764"/>
            <a:ext cx="1847374"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25" b="1">
                <a:solidFill>
                  <a:srgbClr val="007D80"/>
                </a:solidFill>
                <a:latin typeface="Arial"/>
                <a:ea typeface="Arial"/>
                <a:cs typeface="Arial"/>
              </a:defRPr>
            </a:defPPr>
          </a:lstStyle>
          <a:p xmlns:a="http://schemas.openxmlformats.org/drawingml/2006/main">
            <a:pPr algn="ctr">
              <a:lnSpc>
                <a:spcPct val="125000"/>
              </a:lnSpc>
              <a:buNone/>
              <a:defRPr sz="1725" b="1">
                <a:solidFill>
                  <a:srgbClr val="007D80"/>
                </a:solidFill>
                <a:latin typeface="Arial"/>
                <a:ea typeface="Arial"/>
                <a:cs typeface="Arial"/>
              </a:defRPr>
            </a:pPr>
            <a:r>
              <a:rPr sz="1725" b="1">
                <a:solidFill>
                  <a:srgbClr val="007D80"/>
                </a:solidFill>
                <a:latin typeface="Arial"/>
                <a:ea typeface="Arial"/>
                <a:cs typeface="Arial"/>
              </a:rPr>
              <a:t>Physically made</a:t>
            </a:r>
          </a:p>
        </p:txBody>
      </p:sp>
      <p:sp>
        <p:nvSpPr>
          <p:cNvPr id="9" name="Figure 12 label 8">
            <a:extLst xmlns:a="http://schemas.openxmlformats.org/drawingml/2006/main">
              <a:ext uri="{FF2B5EF4-FFF2-40B4-BE49-F238E27FC236}">
                <a16:creationId xmlns:a16="http://schemas.microsoft.com/office/drawing/2014/main" id="{362BB696-8957-4218-97F6-B6B04C3BDAAC}"/>
              </a:ext>
            </a:extLst>
          </p:cNvPr>
          <p:cNvSpPr>
            <a:spLocks xmlns:a="http://schemas.openxmlformats.org/drawingml/2006/main" noGrp="1"/>
          </p:cNvSpPr>
          <p:nvPr/>
        </p:nvSpPr>
        <p:spPr>
          <a:xfrm xmlns:a="http://schemas.openxmlformats.org/drawingml/2006/main" rot="0">
            <a:off x="2564874" y="4493133"/>
            <a:ext cx="1309152"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50" b="1">
                <a:solidFill>
                  <a:srgbClr val="007D80"/>
                </a:solidFill>
                <a:latin typeface="Arial"/>
                <a:ea typeface="Arial"/>
                <a:cs typeface="Arial"/>
              </a:defRPr>
            </a:defPPr>
          </a:lstStyle>
          <a:p xmlns:a="http://schemas.openxmlformats.org/drawingml/2006/main">
            <a:pPr algn="ctr">
              <a:lnSpc>
                <a:spcPct val="125000"/>
              </a:lnSpc>
              <a:buNone/>
              <a:defRPr sz="2550" b="1">
                <a:solidFill>
                  <a:srgbClr val="007D80"/>
                </a:solidFill>
                <a:latin typeface="Arial"/>
                <a:ea typeface="Arial"/>
                <a:cs typeface="Arial"/>
              </a:defRPr>
            </a:pPr>
            <a:r>
              <a:rPr sz="2550" b="1">
                <a:solidFill>
                  <a:srgbClr val="007D80"/>
                </a:solidFill>
                <a:latin typeface="Arial"/>
                <a:ea typeface="Arial"/>
                <a:cs typeface="Arial"/>
              </a:rPr>
              <a:t>10³–10⁴</a:t>
            </a:r>
          </a:p>
        </p:txBody>
      </p:sp>
      <p:sp>
        <p:nvSpPr>
          <p:cNvPr id="10" name="Figure 12 label 9">
            <a:extLst xmlns:a="http://schemas.openxmlformats.org/drawingml/2006/main">
              <a:ext uri="{FF2B5EF4-FFF2-40B4-BE49-F238E27FC236}">
                <a16:creationId xmlns:a16="http://schemas.microsoft.com/office/drawing/2014/main" id="{90F91B24-FC4B-4B44-938E-C4A68A4AE313}"/>
              </a:ext>
            </a:extLst>
          </p:cNvPr>
          <p:cNvSpPr>
            <a:spLocks xmlns:a="http://schemas.openxmlformats.org/drawingml/2006/main" noGrp="1"/>
          </p:cNvSpPr>
          <p:nvPr/>
        </p:nvSpPr>
        <p:spPr>
          <a:xfrm xmlns:a="http://schemas.openxmlformats.org/drawingml/2006/main" rot="0">
            <a:off x="2460590" y="5308664"/>
            <a:ext cx="1517719"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25" b="1">
                <a:solidFill>
                  <a:srgbClr val="FFFFFF"/>
                </a:solidFill>
                <a:latin typeface="Arial"/>
                <a:ea typeface="Arial"/>
                <a:cs typeface="Arial"/>
              </a:defRPr>
            </a:defPPr>
          </a:lstStyle>
          <a:p xmlns:a="http://schemas.openxmlformats.org/drawingml/2006/main">
            <a:pPr algn="ctr">
              <a:lnSpc>
                <a:spcPct val="125000"/>
              </a:lnSpc>
              <a:buNone/>
              <a:defRPr sz="1725" b="1">
                <a:solidFill>
                  <a:srgbClr val="FFFFFF"/>
                </a:solidFill>
                <a:latin typeface="Arial"/>
                <a:ea typeface="Arial"/>
                <a:cs typeface="Arial"/>
              </a:defRPr>
            </a:pPr>
            <a:r>
              <a:rPr sz="1725" b="1">
                <a:solidFill>
                  <a:srgbClr val="FFFFFF"/>
                </a:solidFill>
                <a:latin typeface="Arial"/>
                <a:ea typeface="Arial"/>
                <a:cs typeface="Arial"/>
              </a:rPr>
              <a:t>Fully profiled</a:t>
            </a:r>
          </a:p>
        </p:txBody>
      </p:sp>
      <p:sp>
        <p:nvSpPr>
          <p:cNvPr id="11" name="Figure 12 label 10">
            <a:extLst xmlns:a="http://schemas.openxmlformats.org/drawingml/2006/main">
              <a:ext uri="{FF2B5EF4-FFF2-40B4-BE49-F238E27FC236}">
                <a16:creationId xmlns:a16="http://schemas.microsoft.com/office/drawing/2014/main" id="{6FEEC8EC-A14C-48A1-94A4-F71248E9C0E8}"/>
              </a:ext>
            </a:extLst>
          </p:cNvPr>
          <p:cNvSpPr>
            <a:spLocks xmlns:a="http://schemas.openxmlformats.org/drawingml/2006/main" noGrp="1"/>
          </p:cNvSpPr>
          <p:nvPr/>
        </p:nvSpPr>
        <p:spPr>
          <a:xfrm xmlns:a="http://schemas.openxmlformats.org/drawingml/2006/main" rot="0">
            <a:off x="2411953" y="5598033"/>
            <a:ext cx="1614994"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50" b="1">
                <a:solidFill>
                  <a:srgbClr val="FFFFFF"/>
                </a:solidFill>
                <a:latin typeface="Arial"/>
                <a:ea typeface="Arial"/>
                <a:cs typeface="Arial"/>
              </a:defRPr>
            </a:defPPr>
          </a:lstStyle>
          <a:p xmlns:a="http://schemas.openxmlformats.org/drawingml/2006/main">
            <a:pPr algn="ctr">
              <a:lnSpc>
                <a:spcPct val="125000"/>
              </a:lnSpc>
              <a:buNone/>
              <a:defRPr sz="2550" b="1">
                <a:solidFill>
                  <a:srgbClr val="FFFFFF"/>
                </a:solidFill>
                <a:latin typeface="Arial"/>
                <a:ea typeface="Arial"/>
                <a:cs typeface="Arial"/>
              </a:defRPr>
            </a:pPr>
            <a:r>
              <a:rPr sz="2550" b="1">
                <a:solidFill>
                  <a:srgbClr val="FFFFFF"/>
                </a:solidFill>
                <a:latin typeface="Arial"/>
                <a:ea typeface="Arial"/>
                <a:cs typeface="Arial"/>
              </a:rPr>
              <a:t>50 → 500</a:t>
            </a:r>
          </a:p>
        </p:txBody>
      </p:sp>
      <p:sp>
        <p:nvSpPr>
          <p:cNvPr id="12" name="Figure 12 label 11">
            <a:extLst xmlns:a="http://schemas.openxmlformats.org/drawingml/2006/main">
              <a:ext uri="{FF2B5EF4-FFF2-40B4-BE49-F238E27FC236}">
                <a16:creationId xmlns:a16="http://schemas.microsoft.com/office/drawing/2014/main" id="{AB3230FE-ECC5-4949-BE1C-74CF7B913B01}"/>
              </a:ext>
            </a:extLst>
          </p:cNvPr>
          <p:cNvSpPr>
            <a:spLocks xmlns:a="http://schemas.openxmlformats.org/drawingml/2006/main" noGrp="1"/>
          </p:cNvSpPr>
          <p:nvPr/>
        </p:nvSpPr>
        <p:spPr>
          <a:xfrm xmlns:a="http://schemas.openxmlformats.org/drawingml/2006/main" rot="0">
            <a:off x="2625343" y="6471666"/>
            <a:ext cx="118821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152C3A"/>
                </a:solidFill>
                <a:latin typeface="Arial"/>
                <a:ea typeface="Arial"/>
                <a:cs typeface="Arial"/>
              </a:defRPr>
            </a:defPPr>
          </a:lstStyle>
          <a:p xmlns:a="http://schemas.openxmlformats.org/drawingml/2006/main">
            <a:pPr algn="ctr">
              <a:lnSpc>
                <a:spcPct val="125000"/>
              </a:lnSpc>
              <a:buNone/>
              <a:defRPr sz="1350" b="1">
                <a:solidFill>
                  <a:srgbClr val="152C3A"/>
                </a:solidFill>
                <a:latin typeface="Arial"/>
                <a:ea typeface="Arial"/>
                <a:cs typeface="Arial"/>
              </a:defRPr>
            </a:pPr>
            <a:r>
              <a:rPr sz="1350" b="1">
                <a:solidFill>
                  <a:srgbClr val="152C3A"/>
                </a:solidFill>
                <a:latin typeface="Arial"/>
                <a:ea typeface="Arial"/>
                <a:cs typeface="Arial"/>
              </a:rPr>
              <a:t>Clinical entry</a:t>
            </a:r>
          </a:p>
        </p:txBody>
      </p:sp>
      <p:sp>
        <p:nvSpPr>
          <p:cNvPr id="13" name="Figure 12 label 12">
            <a:extLst xmlns:a="http://schemas.openxmlformats.org/drawingml/2006/main">
              <a:ext uri="{FF2B5EF4-FFF2-40B4-BE49-F238E27FC236}">
                <a16:creationId xmlns:a16="http://schemas.microsoft.com/office/drawing/2014/main" id="{12FC73AD-91EC-4F61-88C3-6543A433E9CF}"/>
              </a:ext>
            </a:extLst>
          </p:cNvPr>
          <p:cNvSpPr>
            <a:spLocks xmlns:a="http://schemas.openxmlformats.org/drawingml/2006/main" noGrp="1"/>
          </p:cNvSpPr>
          <p:nvPr/>
        </p:nvSpPr>
        <p:spPr>
          <a:xfrm xmlns:a="http://schemas.openxmlformats.org/drawingml/2006/main" rot="0">
            <a:off x="3087306" y="6785039"/>
            <a:ext cx="264289"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25" b="1">
                <a:solidFill>
                  <a:srgbClr val="152C3A"/>
                </a:solidFill>
                <a:latin typeface="Arial"/>
                <a:ea typeface="Arial"/>
                <a:cs typeface="Arial"/>
              </a:defRPr>
            </a:defPPr>
          </a:lstStyle>
          <a:p xmlns:a="http://schemas.openxmlformats.org/drawingml/2006/main">
            <a:pPr algn="ctr">
              <a:lnSpc>
                <a:spcPct val="125000"/>
              </a:lnSpc>
              <a:buNone/>
              <a:defRPr sz="1725" b="1">
                <a:solidFill>
                  <a:srgbClr val="152C3A"/>
                </a:solidFill>
                <a:latin typeface="Arial"/>
                <a:ea typeface="Arial"/>
                <a:cs typeface="Arial"/>
              </a:defRPr>
            </a:pPr>
            <a:r>
              <a:rPr sz="1725" b="1">
                <a:solidFill>
                  <a:srgbClr val="152C3A"/>
                </a:solidFill>
                <a:latin typeface="Arial"/>
                <a:ea typeface="Arial"/>
                <a:cs typeface="Arial"/>
              </a:rPr>
              <a:t>1</a:t>
            </a:r>
          </a:p>
        </p:txBody>
      </p:sp>
      <p:sp>
        <p:nvSpPr>
          <p:cNvPr id="14" name="Figure 12 label 13">
            <a:extLst xmlns:a="http://schemas.openxmlformats.org/drawingml/2006/main">
              <a:ext uri="{FF2B5EF4-FFF2-40B4-BE49-F238E27FC236}">
                <a16:creationId xmlns:a16="http://schemas.microsoft.com/office/drawing/2014/main" id="{8AC26F51-9714-468F-B3E9-51867AC90A43}"/>
              </a:ext>
            </a:extLst>
          </p:cNvPr>
          <p:cNvSpPr>
            <a:spLocks xmlns:a="http://schemas.openxmlformats.org/drawingml/2006/main" noGrp="1"/>
          </p:cNvSpPr>
          <p:nvPr/>
        </p:nvSpPr>
        <p:spPr>
          <a:xfrm xmlns:a="http://schemas.openxmlformats.org/drawingml/2006/main" rot="0">
            <a:off x="2744480" y="7395591"/>
            <a:ext cx="94994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152C3A"/>
                </a:solidFill>
                <a:latin typeface="Arial"/>
                <a:ea typeface="Arial"/>
                <a:cs typeface="Arial"/>
              </a:defRPr>
            </a:defPPr>
          </a:lstStyle>
          <a:p xmlns:a="http://schemas.openxmlformats.org/drawingml/2006/main">
            <a:pPr algn="ctr">
              <a:lnSpc>
                <a:spcPct val="125000"/>
              </a:lnSpc>
              <a:buNone/>
              <a:defRPr sz="1350" b="1">
                <a:solidFill>
                  <a:srgbClr val="152C3A"/>
                </a:solidFill>
                <a:latin typeface="Arial"/>
                <a:ea typeface="Arial"/>
                <a:cs typeface="Arial"/>
              </a:defRPr>
            </a:pPr>
            <a:r>
              <a:rPr sz="1350" b="1">
                <a:solidFill>
                  <a:srgbClr val="152C3A"/>
                </a:solidFill>
                <a:latin typeface="Arial"/>
                <a:ea typeface="Arial"/>
                <a:cs typeface="Arial"/>
              </a:rPr>
              <a:t>Approvals</a:t>
            </a:r>
          </a:p>
        </p:txBody>
      </p:sp>
      <p:sp>
        <p:nvSpPr>
          <p:cNvPr id="15" name="Figure 12 label 14">
            <a:extLst xmlns:a="http://schemas.openxmlformats.org/drawingml/2006/main">
              <a:ext uri="{FF2B5EF4-FFF2-40B4-BE49-F238E27FC236}">
                <a16:creationId xmlns:a16="http://schemas.microsoft.com/office/drawing/2014/main" id="{D69849B6-6D68-4936-919D-728F9F03906B}"/>
              </a:ext>
            </a:extLst>
          </p:cNvPr>
          <p:cNvSpPr>
            <a:spLocks xmlns:a="http://schemas.openxmlformats.org/drawingml/2006/main" noGrp="1"/>
          </p:cNvSpPr>
          <p:nvPr/>
        </p:nvSpPr>
        <p:spPr>
          <a:xfrm xmlns:a="http://schemas.openxmlformats.org/drawingml/2006/main" rot="0">
            <a:off x="2655332" y="7708964"/>
            <a:ext cx="1128236"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25" b="1">
                <a:solidFill>
                  <a:srgbClr val="152C3A"/>
                </a:solidFill>
                <a:latin typeface="Arial"/>
                <a:ea typeface="Arial"/>
                <a:cs typeface="Arial"/>
              </a:defRPr>
            </a:defPPr>
          </a:lstStyle>
          <a:p xmlns:a="http://schemas.openxmlformats.org/drawingml/2006/main">
            <a:pPr algn="ctr">
              <a:lnSpc>
                <a:spcPct val="125000"/>
              </a:lnSpc>
              <a:buNone/>
              <a:defRPr sz="1725" b="1">
                <a:solidFill>
                  <a:srgbClr val="152C3A"/>
                </a:solidFill>
                <a:latin typeface="Arial"/>
                <a:ea typeface="Arial"/>
                <a:cs typeface="Arial"/>
              </a:defRPr>
            </a:pPr>
            <a:r>
              <a:rPr sz="1725" b="1">
                <a:solidFill>
                  <a:srgbClr val="152C3A"/>
                </a:solidFill>
                <a:latin typeface="Arial"/>
                <a:ea typeface="Arial"/>
                <a:cs typeface="Arial"/>
              </a:rPr>
              <a:t>Unknown</a:t>
            </a:r>
          </a:p>
        </p:txBody>
      </p:sp>
      <p:sp>
        <p:nvSpPr>
          <p:cNvPr id="16" name="Figure 12 label 15">
            <a:extLst xmlns:a="http://schemas.openxmlformats.org/drawingml/2006/main">
              <a:ext uri="{FF2B5EF4-FFF2-40B4-BE49-F238E27FC236}">
                <a16:creationId xmlns:a16="http://schemas.microsoft.com/office/drawing/2014/main" id="{41CFB28F-40EF-4CFB-AD4F-41609CFDD52E}"/>
              </a:ext>
            </a:extLst>
          </p:cNvPr>
          <p:cNvSpPr>
            <a:spLocks xmlns:a="http://schemas.openxmlformats.org/drawingml/2006/main" noGrp="1"/>
          </p:cNvSpPr>
          <p:nvPr/>
        </p:nvSpPr>
        <p:spPr>
          <a:xfrm xmlns:a="http://schemas.openxmlformats.org/drawingml/2006/main" rot="0">
            <a:off x="1372362" y="8499539"/>
            <a:ext cx="2868781"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7D80"/>
                </a:solidFill>
                <a:latin typeface="Arial"/>
                <a:ea typeface="Arial"/>
                <a:cs typeface="Arial"/>
              </a:defRPr>
            </a:defPPr>
          </a:lstStyle>
          <a:p xmlns:a="http://schemas.openxmlformats.org/drawingml/2006/main">
            <a:pPr algn="l">
              <a:lnSpc>
                <a:spcPct val="125000"/>
              </a:lnSpc>
              <a:buNone/>
              <a:defRPr sz="1725" b="1">
                <a:solidFill>
                  <a:srgbClr val="007D80"/>
                </a:solidFill>
                <a:latin typeface="Arial"/>
                <a:ea typeface="Arial"/>
                <a:cs typeface="Arial"/>
              </a:defRPr>
            </a:pPr>
            <a:r>
              <a:rPr sz="1725" b="1">
                <a:solidFill>
                  <a:srgbClr val="007D80"/>
                </a:solidFill>
                <a:latin typeface="Arial"/>
                <a:ea typeface="Arial"/>
                <a:cs typeface="Arial"/>
              </a:rPr>
              <a:t>WET LAB = BUILD + TEST</a:t>
            </a:r>
          </a:p>
        </p:txBody>
      </p:sp>
      <p:sp>
        <p:nvSpPr>
          <p:cNvPr id="17" name="Figure 12 label 16">
            <a:extLst xmlns:a="http://schemas.openxmlformats.org/drawingml/2006/main">
              <a:ext uri="{FF2B5EF4-FFF2-40B4-BE49-F238E27FC236}">
                <a16:creationId xmlns:a16="http://schemas.microsoft.com/office/drawing/2014/main" id="{6BE5E41F-0DB1-4FD7-96AF-D758C440FFD4}"/>
              </a:ext>
            </a:extLst>
          </p:cNvPr>
          <p:cNvSpPr>
            <a:spLocks xmlns:a="http://schemas.openxmlformats.org/drawingml/2006/main" noGrp="1"/>
          </p:cNvSpPr>
          <p:nvPr/>
        </p:nvSpPr>
        <p:spPr>
          <a:xfrm xmlns:a="http://schemas.openxmlformats.org/drawingml/2006/main" rot="0">
            <a:off x="679323" y="9266492"/>
            <a:ext cx="3768209"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Funnel widths are schematic.</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Clinical success remains unproven in this scenario.</a:t>
            </a:r>
          </a:p>
        </p:txBody>
      </p:sp>
      <p:sp>
        <p:nvSpPr>
          <p:cNvPr id="18" name="Figure 12 label 17">
            <a:extLst xmlns:a="http://schemas.openxmlformats.org/drawingml/2006/main">
              <a:ext uri="{FF2B5EF4-FFF2-40B4-BE49-F238E27FC236}">
                <a16:creationId xmlns:a16="http://schemas.microsoft.com/office/drawing/2014/main" id="{6115CB09-3386-4760-B396-6446F9A6895B}"/>
              </a:ext>
            </a:extLst>
          </p:cNvPr>
          <p:cNvSpPr>
            <a:spLocks xmlns:a="http://schemas.openxmlformats.org/drawingml/2006/main" noGrp="1"/>
          </p:cNvSpPr>
          <p:nvPr/>
        </p:nvSpPr>
        <p:spPr>
          <a:xfrm xmlns:a="http://schemas.openxmlformats.org/drawingml/2006/main" rot="0">
            <a:off x="6913626" y="2027111"/>
            <a:ext cx="6074033"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152C3A"/>
                </a:solidFill>
                <a:latin typeface="Arial"/>
                <a:ea typeface="Arial"/>
                <a:cs typeface="Arial"/>
              </a:defRPr>
            </a:defPPr>
          </a:lstStyle>
          <a:p xmlns:a="http://schemas.openxmlformats.org/drawingml/2006/main">
            <a:pPr algn="l">
              <a:lnSpc>
                <a:spcPct val="125000"/>
              </a:lnSpc>
              <a:buNone/>
              <a:defRPr sz="2175" b="1">
                <a:solidFill>
                  <a:srgbClr val="152C3A"/>
                </a:solidFill>
                <a:latin typeface="Arial"/>
                <a:ea typeface="Arial"/>
                <a:cs typeface="Arial"/>
              </a:defRPr>
            </a:pPr>
            <a:r>
              <a:rPr sz="2175" b="1">
                <a:solidFill>
                  <a:srgbClr val="152C3A"/>
                </a:solidFill>
                <a:latin typeface="Arial"/>
                <a:ea typeface="Arial"/>
                <a:cs typeface="Arial"/>
              </a:rPr>
              <a:t>The LST ecosystem behind the capacity gate</a:t>
            </a:r>
          </a:p>
        </p:txBody>
      </p:sp>
      <p:sp>
        <p:nvSpPr>
          <p:cNvPr id="19" name="Figure 12 label 18">
            <a:extLst xmlns:a="http://schemas.openxmlformats.org/drawingml/2006/main">
              <a:ext uri="{FF2B5EF4-FFF2-40B4-BE49-F238E27FC236}">
                <a16:creationId xmlns:a16="http://schemas.microsoft.com/office/drawing/2014/main" id="{7B1779DE-9A2C-4380-82AA-443B1BB957D7}"/>
              </a:ext>
            </a:extLst>
          </p:cNvPr>
          <p:cNvSpPr>
            <a:spLocks xmlns:a="http://schemas.openxmlformats.org/drawingml/2006/main" noGrp="1"/>
          </p:cNvSpPr>
          <p:nvPr/>
        </p:nvSpPr>
        <p:spPr>
          <a:xfrm xmlns:a="http://schemas.openxmlformats.org/drawingml/2006/main" rot="0">
            <a:off x="6918579" y="2479167"/>
            <a:ext cx="546401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647887"/>
                </a:solidFill>
                <a:latin typeface="Arial"/>
                <a:ea typeface="Arial"/>
                <a:cs typeface="Arial"/>
              </a:defRPr>
            </a:defPPr>
          </a:lstStyle>
          <a:p xmlns:a="http://schemas.openxmlformats.org/drawingml/2006/main">
            <a:pPr algn="l">
              <a:lnSpc>
                <a:spcPct val="125000"/>
              </a:lnSpc>
              <a:buNone/>
              <a:defRPr sz="1200" b="0">
                <a:solidFill>
                  <a:srgbClr val="647887"/>
                </a:solidFill>
                <a:latin typeface="Arial"/>
                <a:ea typeface="Arial"/>
                <a:cs typeface="Arial"/>
              </a:defRPr>
            </a:pPr>
            <a:r>
              <a:rPr sz="1200" b="0">
                <a:solidFill>
                  <a:srgbClr val="647887"/>
                </a:solidFill>
                <a:latin typeface="Arial"/>
                <a:ea typeface="Arial"/>
                <a:cs typeface="Arial"/>
              </a:rPr>
              <a:t>Selected market anchors • different scopes and years • do not add these values</a:t>
            </a:r>
          </a:p>
        </p:txBody>
      </p:sp>
      <p:sp>
        <p:nvSpPr>
          <p:cNvPr id="20" name="Figure 12 label 19">
            <a:extLst xmlns:a="http://schemas.openxmlformats.org/drawingml/2006/main">
              <a:ext uri="{FF2B5EF4-FFF2-40B4-BE49-F238E27FC236}">
                <a16:creationId xmlns:a16="http://schemas.microsoft.com/office/drawing/2014/main" id="{EECC9357-8193-4445-94CE-E6F8330C23FF}"/>
              </a:ext>
            </a:extLst>
          </p:cNvPr>
          <p:cNvSpPr>
            <a:spLocks xmlns:a="http://schemas.openxmlformats.org/drawingml/2006/main" noGrp="1"/>
          </p:cNvSpPr>
          <p:nvPr/>
        </p:nvSpPr>
        <p:spPr>
          <a:xfrm xmlns:a="http://schemas.openxmlformats.org/drawingml/2006/main" rot="0">
            <a:off x="7497699" y="3135440"/>
            <a:ext cx="2330589"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1">
                <a:solidFill>
                  <a:srgbClr val="152C3A"/>
                </a:solidFill>
                <a:latin typeface="Arial"/>
                <a:ea typeface="Arial"/>
                <a:cs typeface="Arial"/>
              </a:defRPr>
            </a:defPPr>
          </a:lstStyle>
          <a:p xmlns:a="http://schemas.openxmlformats.org/drawingml/2006/main">
            <a:pPr algn="l">
              <a:lnSpc>
                <a:spcPct val="125000"/>
              </a:lnSpc>
              <a:buNone/>
              <a:defRPr sz="1575" b="1">
                <a:solidFill>
                  <a:srgbClr val="152C3A"/>
                </a:solidFill>
                <a:latin typeface="Arial"/>
                <a:ea typeface="Arial"/>
                <a:cs typeface="Arial"/>
              </a:defRPr>
            </a:pPr>
            <a:r>
              <a:rPr sz="1575" b="1">
                <a:solidFill>
                  <a:srgbClr val="152C3A"/>
                </a:solidFill>
                <a:latin typeface="Arial"/>
                <a:ea typeface="Arial"/>
                <a:cs typeface="Arial"/>
              </a:rPr>
              <a:t>Molecular construction</a:t>
            </a:r>
          </a:p>
        </p:txBody>
      </p:sp>
      <p:sp>
        <p:nvSpPr>
          <p:cNvPr id="21" name="Figure 12 label 20">
            <a:extLst xmlns:a="http://schemas.openxmlformats.org/drawingml/2006/main">
              <a:ext uri="{FF2B5EF4-FFF2-40B4-BE49-F238E27FC236}">
                <a16:creationId xmlns:a16="http://schemas.microsoft.com/office/drawing/2014/main" id="{A0054002-9CBC-49B5-9CD4-5E5FEE6842E1}"/>
              </a:ext>
            </a:extLst>
          </p:cNvPr>
          <p:cNvSpPr>
            <a:spLocks xmlns:a="http://schemas.openxmlformats.org/drawingml/2006/main" noGrp="1"/>
          </p:cNvSpPr>
          <p:nvPr/>
        </p:nvSpPr>
        <p:spPr>
          <a:xfrm xmlns:a="http://schemas.openxmlformats.org/drawingml/2006/main" rot="0">
            <a:off x="7080123" y="3551491"/>
            <a:ext cx="2364016"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DNA / RNA synthesis, enzymes</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Chemical building blocks</a:t>
            </a:r>
          </a:p>
        </p:txBody>
      </p:sp>
      <p:sp>
        <p:nvSpPr>
          <p:cNvPr id="22" name="Figure 12 label 21">
            <a:extLst xmlns:a="http://schemas.openxmlformats.org/drawingml/2006/main">
              <a:ext uri="{FF2B5EF4-FFF2-40B4-BE49-F238E27FC236}">
                <a16:creationId xmlns:a16="http://schemas.microsoft.com/office/drawing/2014/main" id="{01C9E8E6-04FF-4882-AA1C-E822A3F44161}"/>
              </a:ext>
            </a:extLst>
          </p:cNvPr>
          <p:cNvSpPr>
            <a:spLocks xmlns:a="http://schemas.openxmlformats.org/drawingml/2006/main" noGrp="1"/>
          </p:cNvSpPr>
          <p:nvPr/>
        </p:nvSpPr>
        <p:spPr>
          <a:xfrm xmlns:a="http://schemas.openxmlformats.org/drawingml/2006/main" rot="0">
            <a:off x="7075170" y="4156710"/>
            <a:ext cx="1821210"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50" b="1">
                <a:solidFill>
                  <a:srgbClr val="152C3A"/>
                </a:solidFill>
                <a:latin typeface="Arial"/>
                <a:ea typeface="Arial"/>
                <a:cs typeface="Arial"/>
              </a:defRPr>
            </a:defPPr>
          </a:lstStyle>
          <a:p xmlns:a="http://schemas.openxmlformats.org/drawingml/2006/main">
            <a:pPr algn="l">
              <a:lnSpc>
                <a:spcPct val="125000"/>
              </a:lnSpc>
              <a:buNone/>
              <a:defRPr sz="2250" b="1">
                <a:solidFill>
                  <a:srgbClr val="152C3A"/>
                </a:solidFill>
                <a:latin typeface="Arial"/>
                <a:ea typeface="Arial"/>
                <a:cs typeface="Arial"/>
              </a:defRPr>
            </a:pPr>
            <a:r>
              <a:rPr sz="2250" b="1">
                <a:solidFill>
                  <a:srgbClr val="152C3A"/>
                </a:solidFill>
                <a:latin typeface="Arial"/>
                <a:ea typeface="Arial"/>
                <a:cs typeface="Arial"/>
              </a:rPr>
              <a:t>RMB 1.33bn</a:t>
            </a:r>
          </a:p>
        </p:txBody>
      </p:sp>
      <p:sp>
        <p:nvSpPr>
          <p:cNvPr id="23" name="Figure 12 label 22">
            <a:extLst xmlns:a="http://schemas.openxmlformats.org/drawingml/2006/main">
              <a:ext uri="{FF2B5EF4-FFF2-40B4-BE49-F238E27FC236}">
                <a16:creationId xmlns:a16="http://schemas.microsoft.com/office/drawing/2014/main" id="{B836C508-09EB-4F3F-A228-F3D55C447CDB}"/>
              </a:ext>
            </a:extLst>
          </p:cNvPr>
          <p:cNvSpPr>
            <a:spLocks xmlns:a="http://schemas.openxmlformats.org/drawingml/2006/main" noGrp="1"/>
          </p:cNvSpPr>
          <p:nvPr/>
        </p:nvSpPr>
        <p:spPr>
          <a:xfrm xmlns:a="http://schemas.openxmlformats.org/drawingml/2006/main" rot="0">
            <a:off x="7081380" y="4641018"/>
            <a:ext cx="2497175" cy="163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8" b="0">
                <a:solidFill>
                  <a:srgbClr val="647887"/>
                </a:solidFill>
                <a:latin typeface="Arial"/>
                <a:ea typeface="Arial"/>
                <a:cs typeface="Arial"/>
              </a:defRPr>
            </a:defPPr>
          </a:lstStyle>
          <a:p xmlns:a="http://schemas.openxmlformats.org/drawingml/2006/main">
            <a:pPr algn="l">
              <a:lnSpc>
                <a:spcPct val="125000"/>
              </a:lnSpc>
              <a:buNone/>
              <a:defRPr sz="1028" b="0">
                <a:solidFill>
                  <a:srgbClr val="647887"/>
                </a:solidFill>
                <a:latin typeface="Arial"/>
                <a:ea typeface="Arial"/>
                <a:cs typeface="Arial"/>
              </a:defRPr>
            </a:pPr>
            <a:r>
              <a:rPr sz="1028" b="0">
                <a:solidFill>
                  <a:srgbClr val="647887"/>
                </a:solidFill>
                <a:latin typeface="Arial"/>
                <a:ea typeface="Arial"/>
                <a:cs typeface="Arial"/>
              </a:rPr>
              <a:t>China • 2025 • DNA synthesis services [1]</a:t>
            </a:r>
          </a:p>
        </p:txBody>
      </p:sp>
      <p:sp>
        <p:nvSpPr>
          <p:cNvPr id="24" name="Figure 12 label 23">
            <a:extLst xmlns:a="http://schemas.openxmlformats.org/drawingml/2006/main">
              <a:ext uri="{FF2B5EF4-FFF2-40B4-BE49-F238E27FC236}">
                <a16:creationId xmlns:a16="http://schemas.microsoft.com/office/drawing/2014/main" id="{D111632D-9455-4C9B-9DE7-273F39AE9F78}"/>
              </a:ext>
            </a:extLst>
          </p:cNvPr>
          <p:cNvSpPr>
            <a:spLocks xmlns:a="http://schemas.openxmlformats.org/drawingml/2006/main" noGrp="1"/>
          </p:cNvSpPr>
          <p:nvPr/>
        </p:nvSpPr>
        <p:spPr>
          <a:xfrm xmlns:a="http://schemas.openxmlformats.org/drawingml/2006/main" rot="0">
            <a:off x="7081457" y="4879944"/>
            <a:ext cx="1716822"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13" b="0">
                <a:solidFill>
                  <a:srgbClr val="647887"/>
                </a:solidFill>
                <a:latin typeface="Arial"/>
                <a:ea typeface="Arial"/>
                <a:cs typeface="Arial"/>
              </a:defRPr>
            </a:defPPr>
          </a:lstStyle>
          <a:p xmlns:a="http://schemas.openxmlformats.org/drawingml/2006/main">
            <a:pPr algn="l">
              <a:lnSpc>
                <a:spcPct val="125000"/>
              </a:lnSpc>
              <a:buNone/>
              <a:defRPr sz="1013" b="0">
                <a:solidFill>
                  <a:srgbClr val="647887"/>
                </a:solidFill>
                <a:latin typeface="Arial"/>
                <a:ea typeface="Arial"/>
                <a:cs typeface="Arial"/>
              </a:defRPr>
            </a:pPr>
            <a:r>
              <a:rPr sz="1013" b="0">
                <a:solidFill>
                  <a:srgbClr val="647887"/>
                </a:solidFill>
                <a:latin typeface="Arial"/>
                <a:ea typeface="Arial"/>
                <a:cs typeface="Arial"/>
              </a:rPr>
              <a:t>Oligos + long fragments only</a:t>
            </a:r>
          </a:p>
        </p:txBody>
      </p:sp>
      <p:sp>
        <p:nvSpPr>
          <p:cNvPr id="25" name="Figure 12 label 24">
            <a:extLst xmlns:a="http://schemas.openxmlformats.org/drawingml/2006/main">
              <a:ext uri="{FF2B5EF4-FFF2-40B4-BE49-F238E27FC236}">
                <a16:creationId xmlns:a16="http://schemas.microsoft.com/office/drawing/2014/main" id="{DD2F2FD3-98BE-49C3-AE7B-997497E0BCC1}"/>
              </a:ext>
            </a:extLst>
          </p:cNvPr>
          <p:cNvSpPr>
            <a:spLocks xmlns:a="http://schemas.openxmlformats.org/drawingml/2006/main" noGrp="1"/>
          </p:cNvSpPr>
          <p:nvPr/>
        </p:nvSpPr>
        <p:spPr>
          <a:xfrm xmlns:a="http://schemas.openxmlformats.org/drawingml/2006/main" rot="0">
            <a:off x="7081914" y="5580069"/>
            <a:ext cx="1992017" cy="1464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23" b="0">
                <a:solidFill>
                  <a:srgbClr val="647887"/>
                </a:solidFill>
                <a:latin typeface="Arial"/>
                <a:ea typeface="Arial"/>
                <a:cs typeface="Arial"/>
              </a:defRPr>
            </a:defPPr>
          </a:lstStyle>
          <a:p xmlns:a="http://schemas.openxmlformats.org/drawingml/2006/main">
            <a:pPr algn="l">
              <a:lnSpc>
                <a:spcPct val="125000"/>
              </a:lnSpc>
              <a:buNone/>
              <a:defRPr sz="923" b="0">
                <a:solidFill>
                  <a:srgbClr val="647887"/>
                </a:solidFill>
                <a:latin typeface="Arial"/>
                <a:ea typeface="Arial"/>
                <a:cs typeface="Arial"/>
              </a:defRPr>
            </a:pPr>
            <a:r>
              <a:rPr sz="923" b="0">
                <a:solidFill>
                  <a:srgbClr val="647887"/>
                </a:solidFill>
                <a:latin typeface="Arial"/>
                <a:ea typeface="Arial"/>
                <a:cs typeface="Arial"/>
              </a:rPr>
              <a:t>Twist • GenScript • Tsingke • Vazyme</a:t>
            </a:r>
          </a:p>
        </p:txBody>
      </p:sp>
      <p:sp>
        <p:nvSpPr>
          <p:cNvPr id="26" name="Figure 12 label 25">
            <a:extLst xmlns:a="http://schemas.openxmlformats.org/drawingml/2006/main">
              <a:ext uri="{FF2B5EF4-FFF2-40B4-BE49-F238E27FC236}">
                <a16:creationId xmlns:a16="http://schemas.microsoft.com/office/drawing/2014/main" id="{7A5E3351-4801-4677-AD71-2B2EEA85E4CA}"/>
              </a:ext>
            </a:extLst>
          </p:cNvPr>
          <p:cNvSpPr>
            <a:spLocks xmlns:a="http://schemas.openxmlformats.org/drawingml/2006/main" noGrp="1"/>
          </p:cNvSpPr>
          <p:nvPr/>
        </p:nvSpPr>
        <p:spPr>
          <a:xfrm xmlns:a="http://schemas.openxmlformats.org/drawingml/2006/main" rot="0">
            <a:off x="11069574" y="3135440"/>
            <a:ext cx="275341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1">
                <a:solidFill>
                  <a:srgbClr val="152C3A"/>
                </a:solidFill>
                <a:latin typeface="Arial"/>
                <a:ea typeface="Arial"/>
                <a:cs typeface="Arial"/>
              </a:defRPr>
            </a:defPPr>
          </a:lstStyle>
          <a:p xmlns:a="http://schemas.openxmlformats.org/drawingml/2006/main">
            <a:pPr algn="l">
              <a:lnSpc>
                <a:spcPct val="125000"/>
              </a:lnSpc>
              <a:buNone/>
              <a:defRPr sz="1575" b="1">
                <a:solidFill>
                  <a:srgbClr val="152C3A"/>
                </a:solidFill>
                <a:latin typeface="Arial"/>
                <a:ea typeface="Arial"/>
                <a:cs typeface="Arial"/>
              </a:defRPr>
            </a:pPr>
            <a:r>
              <a:rPr sz="1575" b="1">
                <a:solidFill>
                  <a:srgbClr val="152C3A"/>
                </a:solidFill>
                <a:latin typeface="Arial"/>
                <a:ea typeface="Arial"/>
                <a:cs typeface="Arial"/>
              </a:rPr>
              <a:t>Protein &amp; functional assays</a:t>
            </a:r>
          </a:p>
        </p:txBody>
      </p:sp>
      <p:sp>
        <p:nvSpPr>
          <p:cNvPr id="27" name="Figure 12 label 26">
            <a:extLst xmlns:a="http://schemas.openxmlformats.org/drawingml/2006/main">
              <a:ext uri="{FF2B5EF4-FFF2-40B4-BE49-F238E27FC236}">
                <a16:creationId xmlns:a16="http://schemas.microsoft.com/office/drawing/2014/main" id="{1A1335B7-41D7-4FD3-8F0F-3C879BFA294C}"/>
              </a:ext>
            </a:extLst>
          </p:cNvPr>
          <p:cNvSpPr>
            <a:spLocks xmlns:a="http://schemas.openxmlformats.org/drawingml/2006/main" noGrp="1"/>
          </p:cNvSpPr>
          <p:nvPr/>
        </p:nvSpPr>
        <p:spPr>
          <a:xfrm xmlns:a="http://schemas.openxmlformats.org/drawingml/2006/main" rot="0">
            <a:off x="10651998" y="3551491"/>
            <a:ext cx="2508677"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Recombinant proteins, antibodies</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Binding and activity assays</a:t>
            </a:r>
          </a:p>
        </p:txBody>
      </p:sp>
      <p:sp>
        <p:nvSpPr>
          <p:cNvPr id="28" name="Figure 12 label 27">
            <a:extLst xmlns:a="http://schemas.openxmlformats.org/drawingml/2006/main">
              <a:ext uri="{FF2B5EF4-FFF2-40B4-BE49-F238E27FC236}">
                <a16:creationId xmlns:a16="http://schemas.microsoft.com/office/drawing/2014/main" id="{12D00E14-533A-4A9C-AEC1-AD75B5A6E893}"/>
              </a:ext>
            </a:extLst>
          </p:cNvPr>
          <p:cNvSpPr>
            <a:spLocks xmlns:a="http://schemas.openxmlformats.org/drawingml/2006/main" noGrp="1"/>
          </p:cNvSpPr>
          <p:nvPr/>
        </p:nvSpPr>
        <p:spPr>
          <a:xfrm xmlns:a="http://schemas.openxmlformats.org/drawingml/2006/main" rot="0">
            <a:off x="10647045" y="4156710"/>
            <a:ext cx="1487984"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50" b="1">
                <a:solidFill>
                  <a:srgbClr val="007D80"/>
                </a:solidFill>
                <a:latin typeface="Arial"/>
                <a:ea typeface="Arial"/>
                <a:cs typeface="Arial"/>
              </a:defRPr>
            </a:defPPr>
          </a:lstStyle>
          <a:p xmlns:a="http://schemas.openxmlformats.org/drawingml/2006/main">
            <a:pPr algn="l">
              <a:lnSpc>
                <a:spcPct val="125000"/>
              </a:lnSpc>
              <a:buNone/>
              <a:defRPr sz="2250" b="1">
                <a:solidFill>
                  <a:srgbClr val="007D80"/>
                </a:solidFill>
                <a:latin typeface="Arial"/>
                <a:ea typeface="Arial"/>
                <a:cs typeface="Arial"/>
              </a:defRPr>
            </a:pPr>
            <a:r>
              <a:rPr sz="2250" b="1">
                <a:solidFill>
                  <a:srgbClr val="007D80"/>
                </a:solidFill>
                <a:latin typeface="Arial"/>
                <a:ea typeface="Arial"/>
                <a:cs typeface="Arial"/>
              </a:rPr>
              <a:t>US$3.5bn</a:t>
            </a:r>
          </a:p>
        </p:txBody>
      </p:sp>
      <p:sp>
        <p:nvSpPr>
          <p:cNvPr id="29" name="Figure 12 label 28">
            <a:extLst xmlns:a="http://schemas.openxmlformats.org/drawingml/2006/main">
              <a:ext uri="{FF2B5EF4-FFF2-40B4-BE49-F238E27FC236}">
                <a16:creationId xmlns:a16="http://schemas.microsoft.com/office/drawing/2014/main" id="{1B7CEB3B-9D0B-4C7F-8063-D56E1A13BEA0}"/>
              </a:ext>
            </a:extLst>
          </p:cNvPr>
          <p:cNvSpPr>
            <a:spLocks xmlns:a="http://schemas.openxmlformats.org/drawingml/2006/main" noGrp="1"/>
          </p:cNvSpPr>
          <p:nvPr/>
        </p:nvSpPr>
        <p:spPr>
          <a:xfrm xmlns:a="http://schemas.openxmlformats.org/drawingml/2006/main" rot="0">
            <a:off x="10653255" y="4641018"/>
            <a:ext cx="2178385" cy="163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8" b="0">
                <a:solidFill>
                  <a:srgbClr val="647887"/>
                </a:solidFill>
                <a:latin typeface="Arial"/>
                <a:ea typeface="Arial"/>
                <a:cs typeface="Arial"/>
              </a:defRPr>
            </a:defPPr>
          </a:lstStyle>
          <a:p xmlns:a="http://schemas.openxmlformats.org/drawingml/2006/main">
            <a:pPr algn="l">
              <a:lnSpc>
                <a:spcPct val="125000"/>
              </a:lnSpc>
              <a:buNone/>
              <a:defRPr sz="1028" b="0">
                <a:solidFill>
                  <a:srgbClr val="647887"/>
                </a:solidFill>
                <a:latin typeface="Arial"/>
                <a:ea typeface="Arial"/>
                <a:cs typeface="Arial"/>
              </a:defRPr>
            </a:pPr>
            <a:r>
              <a:rPr sz="1028" b="0">
                <a:solidFill>
                  <a:srgbClr val="647887"/>
                </a:solidFill>
                <a:latin typeface="Arial"/>
                <a:ea typeface="Arial"/>
                <a:cs typeface="Arial"/>
              </a:rPr>
              <a:t>Global • 2025 • research proteins [2]</a:t>
            </a:r>
          </a:p>
        </p:txBody>
      </p:sp>
      <p:sp>
        <p:nvSpPr>
          <p:cNvPr id="30" name="Figure 12 label 29">
            <a:extLst xmlns:a="http://schemas.openxmlformats.org/drawingml/2006/main">
              <a:ext uri="{FF2B5EF4-FFF2-40B4-BE49-F238E27FC236}">
                <a16:creationId xmlns:a16="http://schemas.microsoft.com/office/drawing/2014/main" id="{78DD00C4-BBAB-4409-AEF0-AA71D2A9E9B3}"/>
              </a:ext>
            </a:extLst>
          </p:cNvPr>
          <p:cNvSpPr>
            <a:spLocks xmlns:a="http://schemas.openxmlformats.org/drawingml/2006/main" noGrp="1"/>
          </p:cNvSpPr>
          <p:nvPr/>
        </p:nvSpPr>
        <p:spPr>
          <a:xfrm xmlns:a="http://schemas.openxmlformats.org/drawingml/2006/main" rot="0">
            <a:off x="10653332" y="4879944"/>
            <a:ext cx="191922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13" b="0">
                <a:solidFill>
                  <a:srgbClr val="647887"/>
                </a:solidFill>
                <a:latin typeface="Arial"/>
                <a:ea typeface="Arial"/>
                <a:cs typeface="Arial"/>
              </a:defRPr>
            </a:defPPr>
          </a:lstStyle>
          <a:p xmlns:a="http://schemas.openxmlformats.org/drawingml/2006/main">
            <a:pPr algn="l">
              <a:lnSpc>
                <a:spcPct val="125000"/>
              </a:lnSpc>
              <a:buNone/>
              <a:defRPr sz="1013" b="0">
                <a:solidFill>
                  <a:srgbClr val="647887"/>
                </a:solidFill>
                <a:latin typeface="Arial"/>
                <a:ea typeface="Arial"/>
                <a:cs typeface="Arial"/>
              </a:defRPr>
            </a:pPr>
            <a:r>
              <a:rPr sz="1013" b="0">
                <a:solidFill>
                  <a:srgbClr val="647887"/>
                </a:solidFill>
                <a:latin typeface="Arial"/>
                <a:ea typeface="Arial"/>
                <a:cs typeface="Arial"/>
              </a:rPr>
              <a:t>China: ~US$0.4bn • RUO scope</a:t>
            </a:r>
          </a:p>
        </p:txBody>
      </p:sp>
      <p:sp>
        <p:nvSpPr>
          <p:cNvPr id="31" name="Figure 12 label 30">
            <a:extLst xmlns:a="http://schemas.openxmlformats.org/drawingml/2006/main">
              <a:ext uri="{FF2B5EF4-FFF2-40B4-BE49-F238E27FC236}">
                <a16:creationId xmlns:a16="http://schemas.microsoft.com/office/drawing/2014/main" id="{80121FD9-874B-4655-A392-DBE42B9B733D}"/>
              </a:ext>
            </a:extLst>
          </p:cNvPr>
          <p:cNvSpPr>
            <a:spLocks xmlns:a="http://schemas.openxmlformats.org/drawingml/2006/main" noGrp="1"/>
          </p:cNvSpPr>
          <p:nvPr/>
        </p:nvSpPr>
        <p:spPr>
          <a:xfrm xmlns:a="http://schemas.openxmlformats.org/drawingml/2006/main" rot="0">
            <a:off x="10653789" y="5580069"/>
            <a:ext cx="2046488" cy="1464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23" b="0">
                <a:solidFill>
                  <a:srgbClr val="647887"/>
                </a:solidFill>
                <a:latin typeface="Arial"/>
                <a:ea typeface="Arial"/>
                <a:cs typeface="Arial"/>
              </a:defRPr>
            </a:defPPr>
          </a:lstStyle>
          <a:p xmlns:a="http://schemas.openxmlformats.org/drawingml/2006/main">
            <a:pPr algn="l">
              <a:lnSpc>
                <a:spcPct val="125000"/>
              </a:lnSpc>
              <a:buNone/>
              <a:defRPr sz="923" b="0">
                <a:solidFill>
                  <a:srgbClr val="647887"/>
                </a:solidFill>
                <a:latin typeface="Arial"/>
                <a:ea typeface="Arial"/>
                <a:cs typeface="Arial"/>
              </a:defRPr>
            </a:pPr>
            <a:r>
              <a:rPr sz="923" b="0">
                <a:solidFill>
                  <a:srgbClr val="647887"/>
                </a:solidFill>
                <a:latin typeface="Arial"/>
                <a:ea typeface="Arial"/>
                <a:cs typeface="Arial"/>
              </a:rPr>
              <a:t>ACROBiosystems • Bio-Techne • Sino</a:t>
            </a:r>
          </a:p>
        </p:txBody>
      </p:sp>
      <p:sp>
        <p:nvSpPr>
          <p:cNvPr id="32" name="Figure 12 label 31">
            <a:extLst xmlns:a="http://schemas.openxmlformats.org/drawingml/2006/main">
              <a:ext uri="{FF2B5EF4-FFF2-40B4-BE49-F238E27FC236}">
                <a16:creationId xmlns:a16="http://schemas.microsoft.com/office/drawing/2014/main" id="{859973E8-C3EF-48C8-9CEE-A252068BDC24}"/>
              </a:ext>
            </a:extLst>
          </p:cNvPr>
          <p:cNvSpPr>
            <a:spLocks xmlns:a="http://schemas.openxmlformats.org/drawingml/2006/main" noGrp="1"/>
          </p:cNvSpPr>
          <p:nvPr/>
        </p:nvSpPr>
        <p:spPr>
          <a:xfrm xmlns:a="http://schemas.openxmlformats.org/drawingml/2006/main" rot="0">
            <a:off x="14641449" y="3135440"/>
            <a:ext cx="238684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1">
                <a:solidFill>
                  <a:srgbClr val="152C3A"/>
                </a:solidFill>
                <a:latin typeface="Arial"/>
                <a:ea typeface="Arial"/>
                <a:cs typeface="Arial"/>
              </a:defRPr>
            </a:defPPr>
          </a:lstStyle>
          <a:p xmlns:a="http://schemas.openxmlformats.org/drawingml/2006/main">
            <a:pPr algn="l">
              <a:lnSpc>
                <a:spcPct val="125000"/>
              </a:lnSpc>
              <a:buNone/>
              <a:defRPr sz="1575" b="1">
                <a:solidFill>
                  <a:srgbClr val="152C3A"/>
                </a:solidFill>
                <a:latin typeface="Arial"/>
                <a:ea typeface="Arial"/>
                <a:cs typeface="Arial"/>
              </a:defRPr>
            </a:pPr>
            <a:r>
              <a:rPr sz="1575" b="1">
                <a:solidFill>
                  <a:srgbClr val="152C3A"/>
                </a:solidFill>
                <a:latin typeface="Arial"/>
                <a:ea typeface="Arial"/>
                <a:cs typeface="Arial"/>
              </a:rPr>
              <a:t>Cells &amp; culture systems</a:t>
            </a:r>
          </a:p>
        </p:txBody>
      </p:sp>
      <p:sp>
        <p:nvSpPr>
          <p:cNvPr id="33" name="Figure 12 label 32">
            <a:extLst xmlns:a="http://schemas.openxmlformats.org/drawingml/2006/main">
              <a:ext uri="{FF2B5EF4-FFF2-40B4-BE49-F238E27FC236}">
                <a16:creationId xmlns:a16="http://schemas.microsoft.com/office/drawing/2014/main" id="{B2DB6584-38A1-42E3-93AD-09E6D0E76FBD}"/>
              </a:ext>
            </a:extLst>
          </p:cNvPr>
          <p:cNvSpPr>
            <a:spLocks xmlns:a="http://schemas.openxmlformats.org/drawingml/2006/main" noGrp="1"/>
          </p:cNvSpPr>
          <p:nvPr/>
        </p:nvSpPr>
        <p:spPr>
          <a:xfrm xmlns:a="http://schemas.openxmlformats.org/drawingml/2006/main" rot="0">
            <a:off x="14223873" y="3551491"/>
            <a:ext cx="2310586"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Cell models, media, feeds</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Bioreactors and cell expansion</a:t>
            </a:r>
          </a:p>
        </p:txBody>
      </p:sp>
      <p:sp>
        <p:nvSpPr>
          <p:cNvPr id="34" name="Figure 12 label 33">
            <a:extLst xmlns:a="http://schemas.openxmlformats.org/drawingml/2006/main">
              <a:ext uri="{FF2B5EF4-FFF2-40B4-BE49-F238E27FC236}">
                <a16:creationId xmlns:a16="http://schemas.microsoft.com/office/drawing/2014/main" id="{F87DCC9C-B8D5-476B-ADB8-14E42B719176}"/>
              </a:ext>
            </a:extLst>
          </p:cNvPr>
          <p:cNvSpPr>
            <a:spLocks xmlns:a="http://schemas.openxmlformats.org/drawingml/2006/main" noGrp="1"/>
          </p:cNvSpPr>
          <p:nvPr/>
        </p:nvSpPr>
        <p:spPr>
          <a:xfrm xmlns:a="http://schemas.openxmlformats.org/drawingml/2006/main" rot="0">
            <a:off x="14218920" y="4156710"/>
            <a:ext cx="1822103"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50" b="1">
                <a:solidFill>
                  <a:srgbClr val="152C3A"/>
                </a:solidFill>
                <a:latin typeface="Arial"/>
                <a:ea typeface="Arial"/>
                <a:cs typeface="Arial"/>
              </a:defRPr>
            </a:defPPr>
          </a:lstStyle>
          <a:p xmlns:a="http://schemas.openxmlformats.org/drawingml/2006/main">
            <a:pPr algn="l">
              <a:lnSpc>
                <a:spcPct val="125000"/>
              </a:lnSpc>
              <a:buNone/>
              <a:defRPr sz="2250" b="1">
                <a:solidFill>
                  <a:srgbClr val="152C3A"/>
                </a:solidFill>
                <a:latin typeface="Arial"/>
                <a:ea typeface="Arial"/>
                <a:cs typeface="Arial"/>
              </a:defRPr>
            </a:pPr>
            <a:r>
              <a:rPr sz="2250" b="1">
                <a:solidFill>
                  <a:srgbClr val="152C3A"/>
                </a:solidFill>
                <a:latin typeface="Arial"/>
                <a:ea typeface="Arial"/>
                <a:cs typeface="Arial"/>
              </a:rPr>
              <a:t>US$323.5m*</a:t>
            </a:r>
          </a:p>
        </p:txBody>
      </p:sp>
      <p:sp>
        <p:nvSpPr>
          <p:cNvPr id="35" name="Figure 12 label 34">
            <a:extLst xmlns:a="http://schemas.openxmlformats.org/drawingml/2006/main">
              <a:ext uri="{FF2B5EF4-FFF2-40B4-BE49-F238E27FC236}">
                <a16:creationId xmlns:a16="http://schemas.microsoft.com/office/drawing/2014/main" id="{3F99DB7D-FAEC-45EC-A3B7-307008ABA423}"/>
              </a:ext>
            </a:extLst>
          </p:cNvPr>
          <p:cNvSpPr>
            <a:spLocks xmlns:a="http://schemas.openxmlformats.org/drawingml/2006/main" noGrp="1"/>
          </p:cNvSpPr>
          <p:nvPr/>
        </p:nvSpPr>
        <p:spPr>
          <a:xfrm xmlns:a="http://schemas.openxmlformats.org/drawingml/2006/main" rot="0">
            <a:off x="14225130" y="4641018"/>
            <a:ext cx="2156656" cy="163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8" b="0">
                <a:solidFill>
                  <a:srgbClr val="647887"/>
                </a:solidFill>
                <a:latin typeface="Arial"/>
                <a:ea typeface="Arial"/>
                <a:cs typeface="Arial"/>
              </a:defRPr>
            </a:defPPr>
          </a:lstStyle>
          <a:p xmlns:a="http://schemas.openxmlformats.org/drawingml/2006/main">
            <a:pPr algn="l">
              <a:lnSpc>
                <a:spcPct val="125000"/>
              </a:lnSpc>
              <a:buNone/>
              <a:defRPr sz="1028" b="0">
                <a:solidFill>
                  <a:srgbClr val="647887"/>
                </a:solidFill>
                <a:latin typeface="Arial"/>
                <a:ea typeface="Arial"/>
                <a:cs typeface="Arial"/>
              </a:defRPr>
            </a:pPr>
            <a:r>
              <a:rPr sz="1028" b="0">
                <a:solidFill>
                  <a:srgbClr val="647887"/>
                </a:solidFill>
                <a:latin typeface="Arial"/>
                <a:ea typeface="Arial"/>
                <a:cs typeface="Arial"/>
              </a:rPr>
              <a:t>China • 2024 • bioprocess media [3]</a:t>
            </a:r>
          </a:p>
        </p:txBody>
      </p:sp>
      <p:sp>
        <p:nvSpPr>
          <p:cNvPr id="36" name="Figure 12 label 35">
            <a:extLst xmlns:a="http://schemas.openxmlformats.org/drawingml/2006/main">
              <a:ext uri="{FF2B5EF4-FFF2-40B4-BE49-F238E27FC236}">
                <a16:creationId xmlns:a16="http://schemas.microsoft.com/office/drawing/2014/main" id="{C2B29F09-F726-4EE4-97E6-96C084237CFF}"/>
              </a:ext>
            </a:extLst>
          </p:cNvPr>
          <p:cNvSpPr>
            <a:spLocks xmlns:a="http://schemas.openxmlformats.org/drawingml/2006/main" noGrp="1"/>
          </p:cNvSpPr>
          <p:nvPr/>
        </p:nvSpPr>
        <p:spPr>
          <a:xfrm xmlns:a="http://schemas.openxmlformats.org/drawingml/2006/main" rot="0">
            <a:off x="14225207" y="4879944"/>
            <a:ext cx="2349490"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13" b="0">
                <a:solidFill>
                  <a:srgbClr val="647887"/>
                </a:solidFill>
                <a:latin typeface="Arial"/>
                <a:ea typeface="Arial"/>
                <a:cs typeface="Arial"/>
              </a:defRPr>
            </a:defPPr>
          </a:lstStyle>
          <a:p xmlns:a="http://schemas.openxmlformats.org/drawingml/2006/main">
            <a:pPr algn="l">
              <a:lnSpc>
                <a:spcPct val="125000"/>
              </a:lnSpc>
              <a:buNone/>
              <a:defRPr sz="1013" b="0">
                <a:solidFill>
                  <a:srgbClr val="647887"/>
                </a:solidFill>
                <a:latin typeface="Arial"/>
                <a:ea typeface="Arial"/>
                <a:cs typeface="Arial"/>
              </a:defRPr>
            </a:pPr>
            <a:r>
              <a:rPr sz="1013" b="0">
                <a:solidFill>
                  <a:srgbClr val="647887"/>
                </a:solidFill>
                <a:latin typeface="Arial"/>
                <a:ea typeface="Arial"/>
                <a:cs typeface="Arial"/>
              </a:rPr>
              <a:t>Selected media anchor; not all cell tools</a:t>
            </a:r>
          </a:p>
        </p:txBody>
      </p:sp>
      <p:sp>
        <p:nvSpPr>
          <p:cNvPr id="37" name="Figure 12 label 36">
            <a:extLst xmlns:a="http://schemas.openxmlformats.org/drawingml/2006/main">
              <a:ext uri="{FF2B5EF4-FFF2-40B4-BE49-F238E27FC236}">
                <a16:creationId xmlns:a16="http://schemas.microsoft.com/office/drawing/2014/main" id="{49768C86-AFB4-4345-B9AE-6B529DCC55C7}"/>
              </a:ext>
            </a:extLst>
          </p:cNvPr>
          <p:cNvSpPr>
            <a:spLocks xmlns:a="http://schemas.openxmlformats.org/drawingml/2006/main" noGrp="1"/>
          </p:cNvSpPr>
          <p:nvPr/>
        </p:nvSpPr>
        <p:spPr>
          <a:xfrm xmlns:a="http://schemas.openxmlformats.org/drawingml/2006/main" rot="0">
            <a:off x="14223873" y="5161217"/>
            <a:ext cx="1860084"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1">
                <a:solidFill>
                  <a:srgbClr val="152C3A"/>
                </a:solidFill>
                <a:latin typeface="Arial"/>
                <a:ea typeface="Arial"/>
                <a:cs typeface="Arial"/>
              </a:defRPr>
            </a:defPPr>
          </a:lstStyle>
          <a:p xmlns:a="http://schemas.openxmlformats.org/drawingml/2006/main">
            <a:pPr algn="l">
              <a:lnSpc>
                <a:spcPct val="125000"/>
              </a:lnSpc>
              <a:buNone/>
              <a:defRPr sz="1275" b="1">
                <a:solidFill>
                  <a:srgbClr val="152C3A"/>
                </a:solidFill>
                <a:latin typeface="Arial"/>
                <a:ea typeface="Arial"/>
                <a:cs typeface="Arial"/>
              </a:defRPr>
            </a:pPr>
            <a:r>
              <a:rPr sz="1275" b="1">
                <a:solidFill>
                  <a:srgbClr val="152C3A"/>
                </a:solidFill>
                <a:latin typeface="Arial"/>
                <a:ea typeface="Arial"/>
                <a:cs typeface="Arial"/>
              </a:rPr>
              <a:t>Gibco  |  OPM  |  Duoning</a:t>
            </a:r>
          </a:p>
        </p:txBody>
      </p:sp>
      <p:sp>
        <p:nvSpPr>
          <p:cNvPr id="38" name="Figure 12 label 37">
            <a:extLst xmlns:a="http://schemas.openxmlformats.org/drawingml/2006/main">
              <a:ext uri="{FF2B5EF4-FFF2-40B4-BE49-F238E27FC236}">
                <a16:creationId xmlns:a16="http://schemas.microsoft.com/office/drawing/2014/main" id="{A13B41CB-0081-424E-9934-6693374499A4}"/>
              </a:ext>
            </a:extLst>
          </p:cNvPr>
          <p:cNvSpPr>
            <a:spLocks xmlns:a="http://schemas.openxmlformats.org/drawingml/2006/main" noGrp="1"/>
          </p:cNvSpPr>
          <p:nvPr/>
        </p:nvSpPr>
        <p:spPr>
          <a:xfrm xmlns:a="http://schemas.openxmlformats.org/drawingml/2006/main" rot="0">
            <a:off x="14225664" y="5580069"/>
            <a:ext cx="1799136" cy="1464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23" b="0">
                <a:solidFill>
                  <a:srgbClr val="647887"/>
                </a:solidFill>
                <a:latin typeface="Arial"/>
                <a:ea typeface="Arial"/>
                <a:cs typeface="Arial"/>
              </a:defRPr>
            </a:defPPr>
          </a:lstStyle>
          <a:p xmlns:a="http://schemas.openxmlformats.org/drawingml/2006/main">
            <a:pPr algn="l">
              <a:lnSpc>
                <a:spcPct val="125000"/>
              </a:lnSpc>
              <a:buNone/>
              <a:defRPr sz="923" b="0">
                <a:solidFill>
                  <a:srgbClr val="647887"/>
                </a:solidFill>
                <a:latin typeface="Arial"/>
                <a:ea typeface="Arial"/>
                <a:cs typeface="Arial"/>
              </a:defRPr>
            </a:pPr>
            <a:r>
              <a:rPr sz="923" b="0">
                <a:solidFill>
                  <a:srgbClr val="647887"/>
                </a:solidFill>
                <a:latin typeface="Arial"/>
                <a:ea typeface="Arial"/>
                <a:cs typeface="Arial"/>
              </a:rPr>
              <a:t>Thermo / Gibco • OPM • Duoning</a:t>
            </a:r>
          </a:p>
        </p:txBody>
      </p:sp>
      <p:sp>
        <p:nvSpPr>
          <p:cNvPr id="39" name="Figure 12 label 38">
            <a:extLst xmlns:a="http://schemas.openxmlformats.org/drawingml/2006/main">
              <a:ext uri="{FF2B5EF4-FFF2-40B4-BE49-F238E27FC236}">
                <a16:creationId xmlns:a16="http://schemas.microsoft.com/office/drawing/2014/main" id="{2E5B7914-B22A-446C-8867-F89EA75DA5B4}"/>
              </a:ext>
            </a:extLst>
          </p:cNvPr>
          <p:cNvSpPr>
            <a:spLocks xmlns:a="http://schemas.openxmlformats.org/drawingml/2006/main" noGrp="1"/>
          </p:cNvSpPr>
          <p:nvPr/>
        </p:nvSpPr>
        <p:spPr>
          <a:xfrm xmlns:a="http://schemas.openxmlformats.org/drawingml/2006/main" rot="0">
            <a:off x="7497699" y="5907215"/>
            <a:ext cx="277543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1">
                <a:solidFill>
                  <a:srgbClr val="152C3A"/>
                </a:solidFill>
                <a:latin typeface="Arial"/>
                <a:ea typeface="Arial"/>
                <a:cs typeface="Arial"/>
              </a:defRPr>
            </a:defPPr>
          </a:lstStyle>
          <a:p xmlns:a="http://schemas.openxmlformats.org/drawingml/2006/main">
            <a:pPr algn="l">
              <a:lnSpc>
                <a:spcPct val="125000"/>
              </a:lnSpc>
              <a:buNone/>
              <a:defRPr sz="1575" b="1">
                <a:solidFill>
                  <a:srgbClr val="152C3A"/>
                </a:solidFill>
                <a:latin typeface="Arial"/>
                <a:ea typeface="Arial"/>
                <a:cs typeface="Arial"/>
              </a:defRPr>
            </a:pPr>
            <a:r>
              <a:rPr sz="1575" b="1">
                <a:solidFill>
                  <a:srgbClr val="152C3A"/>
                </a:solidFill>
                <a:latin typeface="Arial"/>
                <a:ea typeface="Arial"/>
                <a:cs typeface="Arial"/>
              </a:rPr>
              <a:t>Labware &amp; sample handling</a:t>
            </a:r>
          </a:p>
        </p:txBody>
      </p:sp>
      <p:sp>
        <p:nvSpPr>
          <p:cNvPr id="40" name="Figure 12 label 39">
            <a:extLst xmlns:a="http://schemas.openxmlformats.org/drawingml/2006/main">
              <a:ext uri="{FF2B5EF4-FFF2-40B4-BE49-F238E27FC236}">
                <a16:creationId xmlns:a16="http://schemas.microsoft.com/office/drawing/2014/main" id="{7E223BB0-DFD0-4589-B6D5-C7D06F28ACA5}"/>
              </a:ext>
            </a:extLst>
          </p:cNvPr>
          <p:cNvSpPr>
            <a:spLocks xmlns:a="http://schemas.openxmlformats.org/drawingml/2006/main" noGrp="1"/>
          </p:cNvSpPr>
          <p:nvPr/>
        </p:nvSpPr>
        <p:spPr>
          <a:xfrm xmlns:a="http://schemas.openxmlformats.org/drawingml/2006/main" rot="0">
            <a:off x="7080123" y="6323267"/>
            <a:ext cx="2373392"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Tips, plates, tubes, filtration</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Automation-compatible labware</a:t>
            </a:r>
          </a:p>
        </p:txBody>
      </p:sp>
      <p:sp>
        <p:nvSpPr>
          <p:cNvPr id="41" name="Figure 12 label 40">
            <a:extLst xmlns:a="http://schemas.openxmlformats.org/drawingml/2006/main">
              <a:ext uri="{FF2B5EF4-FFF2-40B4-BE49-F238E27FC236}">
                <a16:creationId xmlns:a16="http://schemas.microsoft.com/office/drawing/2014/main" id="{FEA5135F-C8DA-4639-B6B3-5A459AD49247}"/>
              </a:ext>
            </a:extLst>
          </p:cNvPr>
          <p:cNvSpPr>
            <a:spLocks xmlns:a="http://schemas.openxmlformats.org/drawingml/2006/main" noGrp="1"/>
          </p:cNvSpPr>
          <p:nvPr/>
        </p:nvSpPr>
        <p:spPr>
          <a:xfrm xmlns:a="http://schemas.openxmlformats.org/drawingml/2006/main" rot="0">
            <a:off x="7075170" y="6928485"/>
            <a:ext cx="1749772"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50" b="1">
                <a:solidFill>
                  <a:srgbClr val="152C3A"/>
                </a:solidFill>
                <a:latin typeface="Arial"/>
                <a:ea typeface="Arial"/>
                <a:cs typeface="Arial"/>
              </a:defRPr>
            </a:defPPr>
          </a:lstStyle>
          <a:p xmlns:a="http://schemas.openxmlformats.org/drawingml/2006/main">
            <a:pPr algn="l">
              <a:lnSpc>
                <a:spcPct val="125000"/>
              </a:lnSpc>
              <a:buNone/>
              <a:defRPr sz="2250" b="1">
                <a:solidFill>
                  <a:srgbClr val="152C3A"/>
                </a:solidFill>
                <a:latin typeface="Arial"/>
                <a:ea typeface="Arial"/>
                <a:cs typeface="Arial"/>
              </a:defRPr>
            </a:pPr>
            <a:r>
              <a:rPr sz="2250" b="1">
                <a:solidFill>
                  <a:srgbClr val="152C3A"/>
                </a:solidFill>
                <a:latin typeface="Arial"/>
                <a:ea typeface="Arial"/>
                <a:cs typeface="Arial"/>
              </a:rPr>
              <a:t>~RMB 23bn</a:t>
            </a:r>
          </a:p>
        </p:txBody>
      </p:sp>
      <p:sp>
        <p:nvSpPr>
          <p:cNvPr id="42" name="Figure 12 label 41">
            <a:extLst xmlns:a="http://schemas.openxmlformats.org/drawingml/2006/main">
              <a:ext uri="{FF2B5EF4-FFF2-40B4-BE49-F238E27FC236}">
                <a16:creationId xmlns:a16="http://schemas.microsoft.com/office/drawing/2014/main" id="{C7A1F315-DCBF-45BF-9513-740D484D8265}"/>
              </a:ext>
            </a:extLst>
          </p:cNvPr>
          <p:cNvSpPr>
            <a:spLocks xmlns:a="http://schemas.openxmlformats.org/drawingml/2006/main" noGrp="1"/>
          </p:cNvSpPr>
          <p:nvPr/>
        </p:nvSpPr>
        <p:spPr>
          <a:xfrm xmlns:a="http://schemas.openxmlformats.org/drawingml/2006/main" rot="0">
            <a:off x="7081380" y="7412793"/>
            <a:ext cx="1996964" cy="163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8" b="0">
                <a:solidFill>
                  <a:srgbClr val="647887"/>
                </a:solidFill>
                <a:latin typeface="Arial"/>
                <a:ea typeface="Arial"/>
                <a:cs typeface="Arial"/>
              </a:defRPr>
            </a:defPPr>
          </a:lstStyle>
          <a:p xmlns:a="http://schemas.openxmlformats.org/drawingml/2006/main">
            <a:pPr algn="l">
              <a:lnSpc>
                <a:spcPct val="125000"/>
              </a:lnSpc>
              <a:buNone/>
              <a:defRPr sz="1028" b="0">
                <a:solidFill>
                  <a:srgbClr val="647887"/>
                </a:solidFill>
                <a:latin typeface="Arial"/>
                <a:ea typeface="Arial"/>
                <a:cs typeface="Arial"/>
              </a:defRPr>
            </a:pPr>
            <a:r>
              <a:rPr sz="1028" b="0">
                <a:solidFill>
                  <a:srgbClr val="647887"/>
                </a:solidFill>
                <a:latin typeface="Arial"/>
                <a:ea typeface="Arial"/>
                <a:cs typeface="Arial"/>
              </a:rPr>
              <a:t>China • 2024 • plastic labware [4]</a:t>
            </a:r>
          </a:p>
        </p:txBody>
      </p:sp>
      <p:sp>
        <p:nvSpPr>
          <p:cNvPr id="43" name="Figure 12 label 42">
            <a:extLst xmlns:a="http://schemas.openxmlformats.org/drawingml/2006/main">
              <a:ext uri="{FF2B5EF4-FFF2-40B4-BE49-F238E27FC236}">
                <a16:creationId xmlns:a16="http://schemas.microsoft.com/office/drawing/2014/main" id="{D179A087-E53F-4B44-8444-A43C9AAAAB16}"/>
              </a:ext>
            </a:extLst>
          </p:cNvPr>
          <p:cNvSpPr>
            <a:spLocks xmlns:a="http://schemas.openxmlformats.org/drawingml/2006/main" noGrp="1"/>
          </p:cNvSpPr>
          <p:nvPr/>
        </p:nvSpPr>
        <p:spPr>
          <a:xfrm xmlns:a="http://schemas.openxmlformats.org/drawingml/2006/main" rot="0">
            <a:off x="7081457" y="7651719"/>
            <a:ext cx="2092166"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13" b="0">
                <a:solidFill>
                  <a:srgbClr val="647887"/>
                </a:solidFill>
                <a:latin typeface="Arial"/>
                <a:ea typeface="Arial"/>
                <a:cs typeface="Arial"/>
              </a:defRPr>
            </a:defPPr>
          </a:lstStyle>
          <a:p xmlns:a="http://schemas.openxmlformats.org/drawingml/2006/main">
            <a:pPr algn="l">
              <a:lnSpc>
                <a:spcPct val="125000"/>
              </a:lnSpc>
              <a:buNone/>
              <a:defRPr sz="1013" b="0">
                <a:solidFill>
                  <a:srgbClr val="647887"/>
                </a:solidFill>
                <a:latin typeface="Arial"/>
                <a:ea typeface="Arial"/>
                <a:cs typeface="Arial"/>
              </a:defRPr>
            </a:pPr>
            <a:r>
              <a:rPr sz="1013" b="0">
                <a:solidFill>
                  <a:srgbClr val="647887"/>
                </a:solidFill>
                <a:latin typeface="Arial"/>
                <a:ea typeface="Arial"/>
                <a:cs typeface="Arial"/>
              </a:rPr>
              <a:t>Includes clinical and industrial uses</a:t>
            </a:r>
          </a:p>
        </p:txBody>
      </p:sp>
      <p:sp>
        <p:nvSpPr>
          <p:cNvPr id="44" name="Figure 12 label 43">
            <a:extLst xmlns:a="http://schemas.openxmlformats.org/drawingml/2006/main">
              <a:ext uri="{FF2B5EF4-FFF2-40B4-BE49-F238E27FC236}">
                <a16:creationId xmlns:a16="http://schemas.microsoft.com/office/drawing/2014/main" id="{14917180-5C5D-465E-8838-9AB6B7C2212D}"/>
              </a:ext>
            </a:extLst>
          </p:cNvPr>
          <p:cNvSpPr>
            <a:spLocks xmlns:a="http://schemas.openxmlformats.org/drawingml/2006/main" noGrp="1"/>
          </p:cNvSpPr>
          <p:nvPr/>
        </p:nvSpPr>
        <p:spPr>
          <a:xfrm xmlns:a="http://schemas.openxmlformats.org/drawingml/2006/main" rot="0">
            <a:off x="7081914" y="8351844"/>
            <a:ext cx="1797201" cy="1464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23" b="0">
                <a:solidFill>
                  <a:srgbClr val="647887"/>
                </a:solidFill>
                <a:latin typeface="Arial"/>
                <a:ea typeface="Arial"/>
                <a:cs typeface="Arial"/>
              </a:defRPr>
            </a:defPPr>
          </a:lstStyle>
          <a:p xmlns:a="http://schemas.openxmlformats.org/drawingml/2006/main">
            <a:pPr algn="l">
              <a:lnSpc>
                <a:spcPct val="125000"/>
              </a:lnSpc>
              <a:buNone/>
              <a:defRPr sz="923" b="0">
                <a:solidFill>
                  <a:srgbClr val="647887"/>
                </a:solidFill>
                <a:latin typeface="Arial"/>
                <a:ea typeface="Arial"/>
                <a:cs typeface="Arial"/>
              </a:defRPr>
            </a:pPr>
            <a:r>
              <a:rPr sz="923" b="0">
                <a:solidFill>
                  <a:srgbClr val="647887"/>
                </a:solidFill>
                <a:latin typeface="Arial"/>
                <a:ea typeface="Arial"/>
                <a:cs typeface="Arial"/>
              </a:rPr>
              <a:t>JET Biofil • Corning • Changhong</a:t>
            </a:r>
          </a:p>
        </p:txBody>
      </p:sp>
      <p:sp>
        <p:nvSpPr>
          <p:cNvPr id="45" name="Figure 12 label 44">
            <a:extLst xmlns:a="http://schemas.openxmlformats.org/drawingml/2006/main">
              <a:ext uri="{FF2B5EF4-FFF2-40B4-BE49-F238E27FC236}">
                <a16:creationId xmlns:a16="http://schemas.microsoft.com/office/drawing/2014/main" id="{335BA7BF-8199-4088-9180-4CBE847B4C23}"/>
              </a:ext>
            </a:extLst>
          </p:cNvPr>
          <p:cNvSpPr>
            <a:spLocks xmlns:a="http://schemas.openxmlformats.org/drawingml/2006/main" noGrp="1"/>
          </p:cNvSpPr>
          <p:nvPr/>
        </p:nvSpPr>
        <p:spPr>
          <a:xfrm xmlns:a="http://schemas.openxmlformats.org/drawingml/2006/main" rot="0">
            <a:off x="11069574" y="5907215"/>
            <a:ext cx="2531358"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1">
                <a:solidFill>
                  <a:srgbClr val="152C3A"/>
                </a:solidFill>
                <a:latin typeface="Arial"/>
                <a:ea typeface="Arial"/>
                <a:cs typeface="Arial"/>
              </a:defRPr>
            </a:defPPr>
          </a:lstStyle>
          <a:p xmlns:a="http://schemas.openxmlformats.org/drawingml/2006/main">
            <a:pPr algn="l">
              <a:lnSpc>
                <a:spcPct val="125000"/>
              </a:lnSpc>
              <a:buNone/>
              <a:defRPr sz="1575" b="1">
                <a:solidFill>
                  <a:srgbClr val="152C3A"/>
                </a:solidFill>
                <a:latin typeface="Arial"/>
                <a:ea typeface="Arial"/>
                <a:cs typeface="Arial"/>
              </a:defRPr>
            </a:pPr>
            <a:r>
              <a:rPr sz="1575" b="1">
                <a:solidFill>
                  <a:srgbClr val="152C3A"/>
                </a:solidFill>
                <a:latin typeface="Arial"/>
                <a:ea typeface="Arial"/>
                <a:cs typeface="Arial"/>
              </a:rPr>
              <a:t>Measurement &amp; analytics</a:t>
            </a:r>
          </a:p>
        </p:txBody>
      </p:sp>
      <p:sp>
        <p:nvSpPr>
          <p:cNvPr id="46" name="Figure 12 label 45">
            <a:extLst xmlns:a="http://schemas.openxmlformats.org/drawingml/2006/main">
              <a:ext uri="{FF2B5EF4-FFF2-40B4-BE49-F238E27FC236}">
                <a16:creationId xmlns:a16="http://schemas.microsoft.com/office/drawing/2014/main" id="{146BFA0B-D6ED-419D-BA7A-72A16D7CFCCF}"/>
              </a:ext>
            </a:extLst>
          </p:cNvPr>
          <p:cNvSpPr>
            <a:spLocks xmlns:a="http://schemas.openxmlformats.org/drawingml/2006/main" noGrp="1"/>
          </p:cNvSpPr>
          <p:nvPr/>
        </p:nvSpPr>
        <p:spPr>
          <a:xfrm xmlns:a="http://schemas.openxmlformats.org/drawingml/2006/main" rot="0">
            <a:off x="10651998" y="6323267"/>
            <a:ext cx="2274272"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Sequencing, LC / LC-MS, flow</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Imaging and quality control</a:t>
            </a:r>
          </a:p>
        </p:txBody>
      </p:sp>
      <p:sp>
        <p:nvSpPr>
          <p:cNvPr id="47" name="Figure 12 label 46">
            <a:extLst xmlns:a="http://schemas.openxmlformats.org/drawingml/2006/main">
              <a:ext uri="{FF2B5EF4-FFF2-40B4-BE49-F238E27FC236}">
                <a16:creationId xmlns:a16="http://schemas.microsoft.com/office/drawing/2014/main" id="{C3BCFC6C-D580-4BAD-A045-4C97DE1EB865}"/>
              </a:ext>
            </a:extLst>
          </p:cNvPr>
          <p:cNvSpPr>
            <a:spLocks xmlns:a="http://schemas.openxmlformats.org/drawingml/2006/main" noGrp="1"/>
          </p:cNvSpPr>
          <p:nvPr/>
        </p:nvSpPr>
        <p:spPr>
          <a:xfrm xmlns:a="http://schemas.openxmlformats.org/drawingml/2006/main" rot="0">
            <a:off x="10647045" y="6928485"/>
            <a:ext cx="1662261"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50" b="1">
                <a:solidFill>
                  <a:srgbClr val="152C3A"/>
                </a:solidFill>
                <a:latin typeface="Arial"/>
                <a:ea typeface="Arial"/>
                <a:cs typeface="Arial"/>
              </a:defRPr>
            </a:defPPr>
          </a:lstStyle>
          <a:p xmlns:a="http://schemas.openxmlformats.org/drawingml/2006/main">
            <a:pPr algn="l">
              <a:lnSpc>
                <a:spcPct val="125000"/>
              </a:lnSpc>
              <a:buNone/>
              <a:defRPr sz="2250" b="1">
                <a:solidFill>
                  <a:srgbClr val="152C3A"/>
                </a:solidFill>
                <a:latin typeface="Arial"/>
                <a:ea typeface="Arial"/>
                <a:cs typeface="Arial"/>
              </a:defRPr>
            </a:pPr>
            <a:r>
              <a:rPr sz="2250" b="1">
                <a:solidFill>
                  <a:srgbClr val="152C3A"/>
                </a:solidFill>
                <a:latin typeface="Arial"/>
                <a:ea typeface="Arial"/>
                <a:cs typeface="Arial"/>
              </a:rPr>
              <a:t>RMB 4.3bn</a:t>
            </a:r>
          </a:p>
        </p:txBody>
      </p:sp>
      <p:sp>
        <p:nvSpPr>
          <p:cNvPr id="48" name="Figure 12 label 47">
            <a:extLst xmlns:a="http://schemas.openxmlformats.org/drawingml/2006/main">
              <a:ext uri="{FF2B5EF4-FFF2-40B4-BE49-F238E27FC236}">
                <a16:creationId xmlns:a16="http://schemas.microsoft.com/office/drawing/2014/main" id="{02EBD3EB-41D1-49CE-A3E5-A1EE6E1F23FC}"/>
              </a:ext>
            </a:extLst>
          </p:cNvPr>
          <p:cNvSpPr>
            <a:spLocks xmlns:a="http://schemas.openxmlformats.org/drawingml/2006/main" noGrp="1"/>
          </p:cNvSpPr>
          <p:nvPr/>
        </p:nvSpPr>
        <p:spPr>
          <a:xfrm xmlns:a="http://schemas.openxmlformats.org/drawingml/2006/main" rot="0">
            <a:off x="10653255" y="7412793"/>
            <a:ext cx="2113199" cy="163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8" b="0">
                <a:solidFill>
                  <a:srgbClr val="647887"/>
                </a:solidFill>
                <a:latin typeface="Arial"/>
                <a:ea typeface="Arial"/>
                <a:cs typeface="Arial"/>
              </a:defRPr>
            </a:defPPr>
          </a:lstStyle>
          <a:p xmlns:a="http://schemas.openxmlformats.org/drawingml/2006/main">
            <a:pPr algn="l">
              <a:lnSpc>
                <a:spcPct val="125000"/>
              </a:lnSpc>
              <a:buNone/>
              <a:defRPr sz="1028" b="0">
                <a:solidFill>
                  <a:srgbClr val="647887"/>
                </a:solidFill>
                <a:latin typeface="Arial"/>
                <a:ea typeface="Arial"/>
                <a:cs typeface="Arial"/>
              </a:defRPr>
            </a:pPr>
            <a:r>
              <a:rPr sz="1028" b="0">
                <a:solidFill>
                  <a:srgbClr val="647887"/>
                </a:solidFill>
                <a:latin typeface="Arial"/>
                <a:ea typeface="Arial"/>
                <a:cs typeface="Arial"/>
              </a:rPr>
              <a:t>China • 2024 • sequencing tools [5]</a:t>
            </a:r>
          </a:p>
        </p:txBody>
      </p:sp>
      <p:sp>
        <p:nvSpPr>
          <p:cNvPr id="49" name="Figure 12 label 48">
            <a:extLst xmlns:a="http://schemas.openxmlformats.org/drawingml/2006/main">
              <a:ext uri="{FF2B5EF4-FFF2-40B4-BE49-F238E27FC236}">
                <a16:creationId xmlns:a16="http://schemas.microsoft.com/office/drawing/2014/main" id="{963874A0-1B54-4C42-9EC8-2835E9DADDBB}"/>
              </a:ext>
            </a:extLst>
          </p:cNvPr>
          <p:cNvSpPr>
            <a:spLocks xmlns:a="http://schemas.openxmlformats.org/drawingml/2006/main" noGrp="1"/>
          </p:cNvSpPr>
          <p:nvPr/>
        </p:nvSpPr>
        <p:spPr>
          <a:xfrm xmlns:a="http://schemas.openxmlformats.org/drawingml/2006/main" rot="0">
            <a:off x="10653332" y="7651719"/>
            <a:ext cx="2181612"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13" b="0">
                <a:solidFill>
                  <a:srgbClr val="647887"/>
                </a:solidFill>
                <a:latin typeface="Arial"/>
                <a:ea typeface="Arial"/>
                <a:cs typeface="Arial"/>
              </a:defRPr>
            </a:defPPr>
          </a:lstStyle>
          <a:p xmlns:a="http://schemas.openxmlformats.org/drawingml/2006/main">
            <a:pPr algn="l">
              <a:lnSpc>
                <a:spcPct val="125000"/>
              </a:lnSpc>
              <a:buNone/>
              <a:defRPr sz="1013" b="0">
                <a:solidFill>
                  <a:srgbClr val="647887"/>
                </a:solidFill>
                <a:latin typeface="Arial"/>
                <a:ea typeface="Arial"/>
                <a:cs typeface="Arial"/>
              </a:defRPr>
            </a:pPr>
            <a:r>
              <a:rPr sz="1013" b="0">
                <a:solidFill>
                  <a:srgbClr val="647887"/>
                </a:solidFill>
                <a:latin typeface="Arial"/>
                <a:ea typeface="Arial"/>
                <a:cs typeface="Arial"/>
              </a:rPr>
              <a:t>Sequencers + consumables; all uses</a:t>
            </a:r>
          </a:p>
        </p:txBody>
      </p:sp>
      <p:sp>
        <p:nvSpPr>
          <p:cNvPr id="50" name="Figure 12 label 49">
            <a:extLst xmlns:a="http://schemas.openxmlformats.org/drawingml/2006/main">
              <a:ext uri="{FF2B5EF4-FFF2-40B4-BE49-F238E27FC236}">
                <a16:creationId xmlns:a16="http://schemas.microsoft.com/office/drawing/2014/main" id="{CE4C26BA-D643-4FDC-8E6E-C7344DFE4BE0}"/>
              </a:ext>
            </a:extLst>
          </p:cNvPr>
          <p:cNvSpPr>
            <a:spLocks xmlns:a="http://schemas.openxmlformats.org/drawingml/2006/main" noGrp="1"/>
          </p:cNvSpPr>
          <p:nvPr/>
        </p:nvSpPr>
        <p:spPr>
          <a:xfrm xmlns:a="http://schemas.openxmlformats.org/drawingml/2006/main" rot="0">
            <a:off x="10653789" y="8351844"/>
            <a:ext cx="1737967" cy="1464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23" b="0">
                <a:solidFill>
                  <a:srgbClr val="647887"/>
                </a:solidFill>
                <a:latin typeface="Arial"/>
                <a:ea typeface="Arial"/>
                <a:cs typeface="Arial"/>
              </a:defRPr>
            </a:defPPr>
          </a:lstStyle>
          <a:p xmlns:a="http://schemas.openxmlformats.org/drawingml/2006/main">
            <a:pPr algn="l">
              <a:lnSpc>
                <a:spcPct val="125000"/>
              </a:lnSpc>
              <a:buNone/>
              <a:defRPr sz="923" b="0">
                <a:solidFill>
                  <a:srgbClr val="647887"/>
                </a:solidFill>
                <a:latin typeface="Arial"/>
                <a:ea typeface="Arial"/>
                <a:cs typeface="Arial"/>
              </a:defRPr>
            </a:pPr>
            <a:r>
              <a:rPr sz="923" b="0">
                <a:solidFill>
                  <a:srgbClr val="647887"/>
                </a:solidFill>
                <a:latin typeface="Arial"/>
                <a:ea typeface="Arial"/>
                <a:cs typeface="Arial"/>
              </a:rPr>
              <a:t>MGI • Illumina • Agilent • Waters</a:t>
            </a:r>
          </a:p>
        </p:txBody>
      </p:sp>
      <p:sp>
        <p:nvSpPr>
          <p:cNvPr id="51" name="Figure 12 label 50">
            <a:extLst xmlns:a="http://schemas.openxmlformats.org/drawingml/2006/main">
              <a:ext uri="{FF2B5EF4-FFF2-40B4-BE49-F238E27FC236}">
                <a16:creationId xmlns:a16="http://schemas.microsoft.com/office/drawing/2014/main" id="{D28E3F9F-5159-43C1-933C-A354770F10D6}"/>
              </a:ext>
            </a:extLst>
          </p:cNvPr>
          <p:cNvSpPr>
            <a:spLocks xmlns:a="http://schemas.openxmlformats.org/drawingml/2006/main" noGrp="1"/>
          </p:cNvSpPr>
          <p:nvPr/>
        </p:nvSpPr>
        <p:spPr>
          <a:xfrm xmlns:a="http://schemas.openxmlformats.org/drawingml/2006/main" rot="0">
            <a:off x="14641449" y="5907215"/>
            <a:ext cx="229740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1">
                <a:solidFill>
                  <a:srgbClr val="152C3A"/>
                </a:solidFill>
                <a:latin typeface="Arial"/>
                <a:ea typeface="Arial"/>
                <a:cs typeface="Arial"/>
              </a:defRPr>
            </a:defPPr>
          </a:lstStyle>
          <a:p xmlns:a="http://schemas.openxmlformats.org/drawingml/2006/main">
            <a:pPr algn="l">
              <a:lnSpc>
                <a:spcPct val="125000"/>
              </a:lnSpc>
              <a:buNone/>
              <a:defRPr sz="1575" b="1">
                <a:solidFill>
                  <a:srgbClr val="152C3A"/>
                </a:solidFill>
                <a:latin typeface="Arial"/>
                <a:ea typeface="Arial"/>
                <a:cs typeface="Arial"/>
              </a:defRPr>
            </a:pPr>
            <a:r>
              <a:rPr sz="1575" b="1">
                <a:solidFill>
                  <a:srgbClr val="152C3A"/>
                </a:solidFill>
                <a:latin typeface="Arial"/>
                <a:ea typeface="Arial"/>
                <a:cs typeface="Arial"/>
              </a:rPr>
              <a:t>Purification &amp; scale-up</a:t>
            </a:r>
          </a:p>
        </p:txBody>
      </p:sp>
      <p:sp>
        <p:nvSpPr>
          <p:cNvPr id="52" name="Figure 12 label 51">
            <a:extLst xmlns:a="http://schemas.openxmlformats.org/drawingml/2006/main">
              <a:ext uri="{FF2B5EF4-FFF2-40B4-BE49-F238E27FC236}">
                <a16:creationId xmlns:a16="http://schemas.microsoft.com/office/drawing/2014/main" id="{B4A13ACF-2D52-4748-AD47-7BE41E8ED898}"/>
              </a:ext>
            </a:extLst>
          </p:cNvPr>
          <p:cNvSpPr>
            <a:spLocks xmlns:a="http://schemas.openxmlformats.org/drawingml/2006/main" noGrp="1"/>
          </p:cNvSpPr>
          <p:nvPr/>
        </p:nvSpPr>
        <p:spPr>
          <a:xfrm xmlns:a="http://schemas.openxmlformats.org/drawingml/2006/main" rot="0">
            <a:off x="14223873" y="6323267"/>
            <a:ext cx="2580114" cy="404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647887"/>
                </a:solidFill>
                <a:latin typeface="Arial"/>
                <a:ea typeface="Arial"/>
                <a:cs typeface="Arial"/>
              </a:defRPr>
            </a:defPPr>
          </a:lstStyle>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Analytical columns, process resins</a:t>
            </a:r>
          </a:p>
          <a:p xmlns:a="http://schemas.openxmlformats.org/drawingml/2006/main">
            <a:pPr algn="l">
              <a:lnSpc>
                <a:spcPct val="125000"/>
              </a:lnSpc>
              <a:buNone/>
              <a:defRPr sz="1275" b="0">
                <a:solidFill>
                  <a:srgbClr val="647887"/>
                </a:solidFill>
                <a:latin typeface="Arial"/>
                <a:ea typeface="Arial"/>
                <a:cs typeface="Arial"/>
              </a:defRPr>
            </a:pPr>
            <a:r>
              <a:rPr sz="1275" b="0">
                <a:solidFill>
                  <a:srgbClr val="647887"/>
                </a:solidFill>
                <a:latin typeface="Arial"/>
                <a:ea typeface="Arial"/>
                <a:cs typeface="Arial"/>
              </a:rPr>
              <a:t>Filtration and single-use systems</a:t>
            </a:r>
          </a:p>
        </p:txBody>
      </p:sp>
      <p:sp>
        <p:nvSpPr>
          <p:cNvPr id="53" name="Figure 12 label 52">
            <a:extLst xmlns:a="http://schemas.openxmlformats.org/drawingml/2006/main">
              <a:ext uri="{FF2B5EF4-FFF2-40B4-BE49-F238E27FC236}">
                <a16:creationId xmlns:a16="http://schemas.microsoft.com/office/drawing/2014/main" id="{2762F155-D1C5-47A4-B63B-9D88BF628760}"/>
              </a:ext>
            </a:extLst>
          </p:cNvPr>
          <p:cNvSpPr>
            <a:spLocks xmlns:a="http://schemas.openxmlformats.org/drawingml/2006/main" noGrp="1"/>
          </p:cNvSpPr>
          <p:nvPr/>
        </p:nvSpPr>
        <p:spPr>
          <a:xfrm xmlns:a="http://schemas.openxmlformats.org/drawingml/2006/main" rot="0">
            <a:off x="14218920" y="6928485"/>
            <a:ext cx="1822103"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50" b="1">
                <a:solidFill>
                  <a:srgbClr val="007D80"/>
                </a:solidFill>
                <a:latin typeface="Arial"/>
                <a:ea typeface="Arial"/>
                <a:cs typeface="Arial"/>
              </a:defRPr>
            </a:defPPr>
          </a:lstStyle>
          <a:p xmlns:a="http://schemas.openxmlformats.org/drawingml/2006/main">
            <a:pPr algn="l">
              <a:lnSpc>
                <a:spcPct val="125000"/>
              </a:lnSpc>
              <a:buNone/>
              <a:defRPr sz="2250" b="1">
                <a:solidFill>
                  <a:srgbClr val="007D80"/>
                </a:solidFill>
                <a:latin typeface="Arial"/>
                <a:ea typeface="Arial"/>
                <a:cs typeface="Arial"/>
              </a:defRPr>
            </a:pPr>
            <a:r>
              <a:rPr sz="2250" b="1">
                <a:solidFill>
                  <a:srgbClr val="007D80"/>
                </a:solidFill>
                <a:latin typeface="Arial"/>
                <a:ea typeface="Arial"/>
                <a:cs typeface="Arial"/>
              </a:rPr>
              <a:t>US$578.2m*</a:t>
            </a:r>
          </a:p>
        </p:txBody>
      </p:sp>
      <p:sp>
        <p:nvSpPr>
          <p:cNvPr id="54" name="Figure 12 label 53">
            <a:extLst xmlns:a="http://schemas.openxmlformats.org/drawingml/2006/main">
              <a:ext uri="{FF2B5EF4-FFF2-40B4-BE49-F238E27FC236}">
                <a16:creationId xmlns:a16="http://schemas.microsoft.com/office/drawing/2014/main" id="{94486CEC-1AA6-44DA-B82B-107A5848E6CE}"/>
              </a:ext>
            </a:extLst>
          </p:cNvPr>
          <p:cNvSpPr>
            <a:spLocks xmlns:a="http://schemas.openxmlformats.org/drawingml/2006/main" noGrp="1"/>
          </p:cNvSpPr>
          <p:nvPr/>
        </p:nvSpPr>
        <p:spPr>
          <a:xfrm xmlns:a="http://schemas.openxmlformats.org/drawingml/2006/main" rot="0">
            <a:off x="14225130" y="7412793"/>
            <a:ext cx="2149215" cy="163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8" b="0">
                <a:solidFill>
                  <a:srgbClr val="647887"/>
                </a:solidFill>
                <a:latin typeface="Arial"/>
                <a:ea typeface="Arial"/>
                <a:cs typeface="Arial"/>
              </a:defRPr>
            </a:defPPr>
          </a:lstStyle>
          <a:p xmlns:a="http://schemas.openxmlformats.org/drawingml/2006/main">
            <a:pPr algn="l">
              <a:lnSpc>
                <a:spcPct val="125000"/>
              </a:lnSpc>
              <a:buNone/>
              <a:defRPr sz="1028" b="0">
                <a:solidFill>
                  <a:srgbClr val="647887"/>
                </a:solidFill>
                <a:latin typeface="Arial"/>
                <a:ea typeface="Arial"/>
                <a:cs typeface="Arial"/>
              </a:defRPr>
            </a:pPr>
            <a:r>
              <a:rPr sz="1028" b="0">
                <a:solidFill>
                  <a:srgbClr val="647887"/>
                </a:solidFill>
                <a:latin typeface="Arial"/>
                <a:ea typeface="Arial"/>
                <a:cs typeface="Arial"/>
              </a:rPr>
              <a:t>China • 2024 • bioprocess resins [3]</a:t>
            </a:r>
          </a:p>
        </p:txBody>
      </p:sp>
      <p:sp>
        <p:nvSpPr>
          <p:cNvPr id="55" name="Figure 12 label 54">
            <a:extLst xmlns:a="http://schemas.openxmlformats.org/drawingml/2006/main">
              <a:ext uri="{FF2B5EF4-FFF2-40B4-BE49-F238E27FC236}">
                <a16:creationId xmlns:a16="http://schemas.microsoft.com/office/drawing/2014/main" id="{600ACBC5-3F6A-4A3D-8718-18C233254AD3}"/>
              </a:ext>
            </a:extLst>
          </p:cNvPr>
          <p:cNvSpPr>
            <a:spLocks xmlns:a="http://schemas.openxmlformats.org/drawingml/2006/main" noGrp="1"/>
          </p:cNvSpPr>
          <p:nvPr/>
        </p:nvSpPr>
        <p:spPr>
          <a:xfrm xmlns:a="http://schemas.openxmlformats.org/drawingml/2006/main" rot="0">
            <a:off x="14225207" y="7651719"/>
            <a:ext cx="2349639"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13" b="0">
                <a:solidFill>
                  <a:srgbClr val="647887"/>
                </a:solidFill>
                <a:latin typeface="Arial"/>
                <a:ea typeface="Arial"/>
                <a:cs typeface="Arial"/>
              </a:defRPr>
            </a:defPPr>
          </a:lstStyle>
          <a:p xmlns:a="http://schemas.openxmlformats.org/drawingml/2006/main">
            <a:pPr algn="l">
              <a:lnSpc>
                <a:spcPct val="125000"/>
              </a:lnSpc>
              <a:buNone/>
              <a:defRPr sz="1013" b="0">
                <a:solidFill>
                  <a:srgbClr val="647887"/>
                </a:solidFill>
                <a:latin typeface="Arial"/>
                <a:ea typeface="Arial"/>
                <a:cs typeface="Arial"/>
              </a:defRPr>
            </a:pPr>
            <a:r>
              <a:rPr sz="1013" b="0">
                <a:solidFill>
                  <a:srgbClr val="647887"/>
                </a:solidFill>
                <a:latin typeface="Arial"/>
                <a:ea typeface="Arial"/>
                <a:cs typeface="Arial"/>
              </a:rPr>
              <a:t>Manufacturing demand has a longer lag</a:t>
            </a:r>
          </a:p>
        </p:txBody>
      </p:sp>
      <p:sp>
        <p:nvSpPr>
          <p:cNvPr id="56" name="Figure 12 label 55">
            <a:extLst xmlns:a="http://schemas.openxmlformats.org/drawingml/2006/main">
              <a:ext uri="{FF2B5EF4-FFF2-40B4-BE49-F238E27FC236}">
                <a16:creationId xmlns:a16="http://schemas.microsoft.com/office/drawing/2014/main" id="{D18661F7-98C3-4890-B4A2-47884800A9C3}"/>
              </a:ext>
            </a:extLst>
          </p:cNvPr>
          <p:cNvSpPr>
            <a:spLocks xmlns:a="http://schemas.openxmlformats.org/drawingml/2006/main" noGrp="1"/>
          </p:cNvSpPr>
          <p:nvPr/>
        </p:nvSpPr>
        <p:spPr>
          <a:xfrm xmlns:a="http://schemas.openxmlformats.org/drawingml/2006/main" rot="0">
            <a:off x="14642592" y="7938516"/>
            <a:ext cx="99741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1">
                <a:solidFill>
                  <a:srgbClr val="0078A0"/>
                </a:solidFill>
                <a:latin typeface="Arial"/>
                <a:ea typeface="Arial"/>
                <a:cs typeface="Arial"/>
              </a:defRPr>
            </a:defPPr>
          </a:lstStyle>
          <a:p xmlns:a="http://schemas.openxmlformats.org/drawingml/2006/main">
            <a:pPr algn="l">
              <a:lnSpc>
                <a:spcPct val="125000"/>
              </a:lnSpc>
              <a:buNone/>
              <a:defRPr sz="1350" b="1">
                <a:solidFill>
                  <a:srgbClr val="0078A0"/>
                </a:solidFill>
                <a:latin typeface="Arial"/>
                <a:ea typeface="Arial"/>
                <a:cs typeface="Arial"/>
              </a:defRPr>
            </a:pPr>
            <a:r>
              <a:rPr sz="1350" b="1">
                <a:solidFill>
                  <a:srgbClr val="0078A0"/>
                </a:solidFill>
                <a:latin typeface="Arial"/>
                <a:ea typeface="Arial"/>
                <a:cs typeface="Arial"/>
              </a:rPr>
              <a:t>NanoMicro</a:t>
            </a:r>
          </a:p>
        </p:txBody>
      </p:sp>
      <p:sp>
        <p:nvSpPr>
          <p:cNvPr id="57" name="Figure 12 label 56">
            <a:extLst xmlns:a="http://schemas.openxmlformats.org/drawingml/2006/main">
              <a:ext uri="{FF2B5EF4-FFF2-40B4-BE49-F238E27FC236}">
                <a16:creationId xmlns:a16="http://schemas.microsoft.com/office/drawing/2014/main" id="{E312A13D-B02E-403B-87F8-FE2C298E3BA4}"/>
              </a:ext>
            </a:extLst>
          </p:cNvPr>
          <p:cNvSpPr>
            <a:spLocks xmlns:a="http://schemas.openxmlformats.org/drawingml/2006/main" noGrp="1"/>
          </p:cNvSpPr>
          <p:nvPr/>
        </p:nvSpPr>
        <p:spPr>
          <a:xfrm xmlns:a="http://schemas.openxmlformats.org/drawingml/2006/main" rot="0">
            <a:off x="14225664" y="8351844"/>
            <a:ext cx="1512641" cy="1464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23" b="0">
                <a:solidFill>
                  <a:srgbClr val="647887"/>
                </a:solidFill>
                <a:latin typeface="Arial"/>
                <a:ea typeface="Arial"/>
                <a:cs typeface="Arial"/>
              </a:defRPr>
            </a:defPPr>
          </a:lstStyle>
          <a:p xmlns:a="http://schemas.openxmlformats.org/drawingml/2006/main">
            <a:pPr algn="l">
              <a:lnSpc>
                <a:spcPct val="125000"/>
              </a:lnSpc>
              <a:buNone/>
              <a:defRPr sz="923" b="0">
                <a:solidFill>
                  <a:srgbClr val="647887"/>
                </a:solidFill>
                <a:latin typeface="Arial"/>
                <a:ea typeface="Arial"/>
                <a:cs typeface="Arial"/>
              </a:defRPr>
            </a:pPr>
            <a:r>
              <a:rPr sz="923" b="0">
                <a:solidFill>
                  <a:srgbClr val="647887"/>
                </a:solidFill>
                <a:latin typeface="Arial"/>
                <a:ea typeface="Arial"/>
                <a:cs typeface="Arial"/>
              </a:rPr>
              <a:t>NanoMicro • Cytiva • Sepax</a:t>
            </a:r>
          </a:p>
        </p:txBody>
      </p:sp>
      <p:sp>
        <p:nvSpPr>
          <p:cNvPr id="58" name="Figure 12 label 57">
            <a:extLst xmlns:a="http://schemas.openxmlformats.org/drawingml/2006/main">
              <a:ext uri="{FF2B5EF4-FFF2-40B4-BE49-F238E27FC236}">
                <a16:creationId xmlns:a16="http://schemas.microsoft.com/office/drawing/2014/main" id="{24139B02-4820-455F-9930-890E30C86032}"/>
              </a:ext>
            </a:extLst>
          </p:cNvPr>
          <p:cNvSpPr>
            <a:spLocks xmlns:a="http://schemas.openxmlformats.org/drawingml/2006/main" noGrp="1"/>
          </p:cNvSpPr>
          <p:nvPr/>
        </p:nvSpPr>
        <p:spPr>
          <a:xfrm xmlns:a="http://schemas.openxmlformats.org/drawingml/2006/main" rot="0">
            <a:off x="7298055" y="8959215"/>
            <a:ext cx="511507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FFFFFF"/>
                </a:solidFill>
                <a:latin typeface="Arial"/>
                <a:ea typeface="Arial"/>
                <a:cs typeface="Arial"/>
              </a:defRPr>
            </a:defPPr>
          </a:lstStyle>
          <a:p xmlns:a="http://schemas.openxmlformats.org/drawingml/2006/main">
            <a:pPr algn="l">
              <a:lnSpc>
                <a:spcPct val="125000"/>
              </a:lnSpc>
              <a:buNone/>
              <a:defRPr sz="1500" b="1">
                <a:solidFill>
                  <a:srgbClr val="FFFFFF"/>
                </a:solidFill>
                <a:latin typeface="Arial"/>
                <a:ea typeface="Arial"/>
                <a:cs typeface="Arial"/>
              </a:defRPr>
            </a:pPr>
            <a:r>
              <a:rPr sz="1500" b="1">
                <a:solidFill>
                  <a:srgbClr val="FFFFFF"/>
                </a:solidFill>
                <a:latin typeface="Arial"/>
                <a:ea typeface="Arial"/>
                <a:cs typeface="Arial"/>
              </a:rPr>
              <a:t>Automation + data orchestration span every tool family</a:t>
            </a:r>
          </a:p>
        </p:txBody>
      </p:sp>
      <p:sp>
        <p:nvSpPr>
          <p:cNvPr id="59" name="Figure 12 label 58">
            <a:extLst xmlns:a="http://schemas.openxmlformats.org/drawingml/2006/main">
              <a:ext uri="{FF2B5EF4-FFF2-40B4-BE49-F238E27FC236}">
                <a16:creationId xmlns:a16="http://schemas.microsoft.com/office/drawing/2014/main" id="{301D3D1A-7A15-40F7-89FD-8B61DF973715}"/>
              </a:ext>
            </a:extLst>
          </p:cNvPr>
          <p:cNvSpPr>
            <a:spLocks xmlns:a="http://schemas.openxmlformats.org/drawingml/2006/main" noGrp="1"/>
          </p:cNvSpPr>
          <p:nvPr/>
        </p:nvSpPr>
        <p:spPr>
          <a:xfrm xmlns:a="http://schemas.openxmlformats.org/drawingml/2006/main" rot="0">
            <a:off x="6671691" y="9516618"/>
            <a:ext cx="6695688"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647887"/>
                </a:solidFill>
                <a:latin typeface="Arial"/>
                <a:ea typeface="Arial"/>
                <a:cs typeface="Arial"/>
              </a:defRPr>
            </a:defPPr>
          </a:lstStyle>
          <a:p xmlns:a="http://schemas.openxmlformats.org/drawingml/2006/main">
            <a:pPr algn="l">
              <a:lnSpc>
                <a:spcPct val="125000"/>
              </a:lnSpc>
              <a:buNone/>
              <a:defRPr sz="1050" b="0">
                <a:solidFill>
                  <a:srgbClr val="647887"/>
                </a:solidFill>
                <a:latin typeface="Arial"/>
                <a:ea typeface="Arial"/>
                <a:cs typeface="Arial"/>
              </a:defRPr>
            </a:pPr>
            <a:r>
              <a:rPr sz="1050" b="0">
                <a:solidFill>
                  <a:srgbClr val="647887"/>
                </a:solidFill>
                <a:latin typeface="Arial"/>
                <a:ea typeface="Arial"/>
                <a:cs typeface="Arial"/>
              </a:rPr>
              <a:t>[1] Tsingke IPO 2026  [2] ACRO HKEX 2026  [3] Duoning HKEX 2026*  [4] JET 2025  [5] MGI 2024</a:t>
            </a:r>
          </a:p>
          <a:p xmlns:a="http://schemas.openxmlformats.org/drawingml/2006/main">
            <a:pPr algn="l">
              <a:lnSpc>
                <a:spcPct val="125000"/>
              </a:lnSpc>
              <a:buNone/>
              <a:defRPr sz="1050" b="0">
                <a:solidFill>
                  <a:srgbClr val="647887"/>
                </a:solidFill>
                <a:latin typeface="Arial"/>
                <a:ea typeface="Arial"/>
                <a:cs typeface="Arial"/>
              </a:defRPr>
            </a:pPr>
            <a:r>
              <a:rPr sz="1050" b="0">
                <a:solidFill>
                  <a:srgbClr val="647887"/>
                </a:solidFill>
                <a:latin typeface="Arial"/>
                <a:ea typeface="Arial"/>
                <a:cs typeface="Arial"/>
              </a:rPr>
              <a:t>*Previously checked official-index data; source PDFs currently unavailable. Scope and citations: SOURCES.md.</a:t>
            </a:r>
          </a:p>
        </p:txBody>
      </p:sp>
    </p:spTree>
    <p:extLst>
      <p:ext uri="{BB962C8B-B14F-4D97-AF65-F5344CB8AC3E}">
        <p14:creationId xmlns:p14="http://schemas.microsoft.com/office/powerpoint/2010/main" val="12862992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2026-10-12T12:21:16.6710000Z</dcterms:created>
  <dcterms:modified xsi:type="dcterms:W3CDTF">2026-10-12T12:21:16.6710000Z</dcterms:modified>
</coreProperties>
</file>