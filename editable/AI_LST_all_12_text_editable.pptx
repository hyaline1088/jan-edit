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bb07540cb4645df" /><Relationship Type="http://schemas.openxmlformats.org/officeDocument/2006/relationships/extended-properties" Target="/docProps/app.xml" Id="R1e1cb32344654683" /><Relationship Type="http://schemas.openxmlformats.org/officeDocument/2006/relationships/officeDocument" Target="/ppt/presentation.xml" Id="R25226ef067f04448" /></Relationships>
</file>

<file path=ppt/presentation.xml><?xml version="1.0" encoding="utf-8"?>
<p:presentation xmlns:p="http://schemas.openxmlformats.org/presentationml/2006/main">
  <p:sldMasterIdLst>
    <p:sldMasterId xmlns:r="http://schemas.openxmlformats.org/officeDocument/2006/relationships" id="2147483648" r:id="R68e99c69e6e7421a"/>
  </p:sldMasterIdLst>
  <p:notesMasterIdLst>
    <p:notesMasterId xmlns:r="http://schemas.openxmlformats.org/officeDocument/2006/relationships" r:id="R8db22a3e8e1f4f66"/>
  </p:notesMasterIdLst>
  <p:sldIdLst>
    <p:sldId xmlns:r="http://schemas.openxmlformats.org/officeDocument/2006/relationships" id="256" r:id="R674b096f83ee40dc"/>
    <p:sldId xmlns:r="http://schemas.openxmlformats.org/officeDocument/2006/relationships" id="257" r:id="R28ec364c1ff9431a"/>
    <p:sldId xmlns:r="http://schemas.openxmlformats.org/officeDocument/2006/relationships" id="258" r:id="R8aa4f6043df14557"/>
    <p:sldId xmlns:r="http://schemas.openxmlformats.org/officeDocument/2006/relationships" id="259" r:id="R1b4c26516c5f4aa9"/>
    <p:sldId xmlns:r="http://schemas.openxmlformats.org/officeDocument/2006/relationships" id="260" r:id="Rde468afe28d642a4"/>
    <p:sldId xmlns:r="http://schemas.openxmlformats.org/officeDocument/2006/relationships" id="261" r:id="R48f9561859844e8d"/>
    <p:sldId xmlns:r="http://schemas.openxmlformats.org/officeDocument/2006/relationships" id="262" r:id="R474d18c217134d89"/>
    <p:sldId xmlns:r="http://schemas.openxmlformats.org/officeDocument/2006/relationships" id="263" r:id="Rd5e19c51490948e7"/>
    <p:sldId xmlns:r="http://schemas.openxmlformats.org/officeDocument/2006/relationships" id="264" r:id="Rcd365395d261444b"/>
    <p:sldId xmlns:r="http://schemas.openxmlformats.org/officeDocument/2006/relationships" id="265" r:id="R304200cfde394b24"/>
    <p:sldId xmlns:r="http://schemas.openxmlformats.org/officeDocument/2006/relationships" id="266" r:id="Rf1cd4a23665741f2"/>
    <p:sldId xmlns:r="http://schemas.openxmlformats.org/officeDocument/2006/relationships" id="267" r:id="R6a5ce10f540543af"/>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e5591096b43498b" /><Relationship Type="http://schemas.openxmlformats.org/officeDocument/2006/relationships/slideMaster" Target="/ppt/slideMasters/slideMaster1.xml" Id="R68e99c69e6e7421a" /><Relationship Type="http://schemas.openxmlformats.org/officeDocument/2006/relationships/notesMaster" Target="/ppt/notesMasters/notesMaster1.xml" Id="R8db22a3e8e1f4f66" /><Relationship Type="http://schemas.openxmlformats.org/officeDocument/2006/relationships/presProps" Target="/ppt/presProps.xml" Id="Rf225e16be6a94d4f" /><Relationship Type="http://schemas.openxmlformats.org/officeDocument/2006/relationships/tableStyles" Target="/ppt/tableStyles.xml" Id="R189a9f4388c6404e" /><Relationship Type="http://schemas.openxmlformats.org/officeDocument/2006/relationships/slide" Target="/ppt/slides/slide1.xml" Id="R674b096f83ee40dc" /><Relationship Type="http://schemas.openxmlformats.org/officeDocument/2006/relationships/slide" Target="/ppt/slides/slide2.xml" Id="R28ec364c1ff9431a" /><Relationship Type="http://schemas.openxmlformats.org/officeDocument/2006/relationships/slide" Target="/ppt/slides/slide3.xml" Id="R8aa4f6043df14557" /><Relationship Type="http://schemas.openxmlformats.org/officeDocument/2006/relationships/slide" Target="/ppt/slides/slide4.xml" Id="R1b4c26516c5f4aa9" /><Relationship Type="http://schemas.openxmlformats.org/officeDocument/2006/relationships/slide" Target="/ppt/slides/slide5.xml" Id="Rde468afe28d642a4" /><Relationship Type="http://schemas.openxmlformats.org/officeDocument/2006/relationships/slide" Target="/ppt/slides/slide6.xml" Id="R48f9561859844e8d" /><Relationship Type="http://schemas.openxmlformats.org/officeDocument/2006/relationships/slide" Target="/ppt/slides/slide7.xml" Id="R474d18c217134d89" /><Relationship Type="http://schemas.openxmlformats.org/officeDocument/2006/relationships/slide" Target="/ppt/slides/slide8.xml" Id="Rd5e19c51490948e7" /><Relationship Type="http://schemas.openxmlformats.org/officeDocument/2006/relationships/slide" Target="/ppt/slides/slide9.xml" Id="Rcd365395d261444b" /><Relationship Type="http://schemas.openxmlformats.org/officeDocument/2006/relationships/slide" Target="/ppt/slides/slide10.xml" Id="R304200cfde394b24" /><Relationship Type="http://schemas.openxmlformats.org/officeDocument/2006/relationships/slide" Target="/ppt/slides/slide11.xml" Id="Rf1cd4a23665741f2" /><Relationship Type="http://schemas.openxmlformats.org/officeDocument/2006/relationships/slide" Target="/ppt/slides/slide12.xml" Id="R6a5ce10f540543a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701d6e4e3dc45f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07445a09655470b" /><Relationship Type="http://schemas.openxmlformats.org/officeDocument/2006/relationships/notesMaster" Target="/ppt/notesMasters/notesMaster1.xml" Id="Rfe271f98e9544fdd" /></Relationships>
</file>

<file path=ppt/notesSlides/_rels/notesSlide2.xml.rels>&#65279;<?xml version="1.0" encoding="utf-8"?><Relationships xmlns="http://schemas.openxmlformats.org/package/2006/relationships"><Relationship Type="http://schemas.openxmlformats.org/officeDocument/2006/relationships/slide" Target="/ppt/slides/slide2.xml" Id="R5d739cb96f4f4069" /><Relationship Type="http://schemas.openxmlformats.org/officeDocument/2006/relationships/notesMaster" Target="/ppt/notesMasters/notesMaster1.xml" Id="Rf6cd1983651347af" /></Relationships>
</file>

<file path=ppt/notesSlides/_rels/notesSlide3.xml.rels>&#65279;<?xml version="1.0" encoding="utf-8"?><Relationships xmlns="http://schemas.openxmlformats.org/package/2006/relationships"><Relationship Type="http://schemas.openxmlformats.org/officeDocument/2006/relationships/slide" Target="/ppt/slides/slide3.xml" Id="R901e7f09b87845bb" /><Relationship Type="http://schemas.openxmlformats.org/officeDocument/2006/relationships/notesMaster" Target="/ppt/notesMasters/notesMaster1.xml" Id="Rc376867ac0ae4e80" /></Relationships>
</file>

<file path=ppt/notesSlides/_rels/notesSlide4.xml.rels>&#65279;<?xml version="1.0" encoding="utf-8"?><Relationships xmlns="http://schemas.openxmlformats.org/package/2006/relationships"><Relationship Type="http://schemas.openxmlformats.org/officeDocument/2006/relationships/slide" Target="/ppt/slides/slide4.xml" Id="Re8a8b270e5cb4e77" /><Relationship Type="http://schemas.openxmlformats.org/officeDocument/2006/relationships/notesMaster" Target="/ppt/notesMasters/notesMaster1.xml" Id="R29d685b2eb9547e7" /></Relationships>
</file>

<file path=ppt/notesSlides/_rels/notesSlide5.xml.rels>&#65279;<?xml version="1.0" encoding="utf-8"?><Relationships xmlns="http://schemas.openxmlformats.org/package/2006/relationships"><Relationship Type="http://schemas.openxmlformats.org/officeDocument/2006/relationships/slide" Target="/ppt/slides/slide5.xml" Id="Rc3a307c46c274298" /><Relationship Type="http://schemas.openxmlformats.org/officeDocument/2006/relationships/notesMaster" Target="/ppt/notesMasters/notesMaster1.xml" Id="R6cb59d7f91e74ced" /></Relationships>
</file>

<file path=ppt/notesSlides/_rels/notesSlide6.xml.rels>&#65279;<?xml version="1.0" encoding="utf-8"?><Relationships xmlns="http://schemas.openxmlformats.org/package/2006/relationships"><Relationship Type="http://schemas.openxmlformats.org/officeDocument/2006/relationships/slide" Target="/ppt/slides/slide6.xml" Id="Rc995b9c803e14c7f" /><Relationship Type="http://schemas.openxmlformats.org/officeDocument/2006/relationships/notesMaster" Target="/ppt/notesMasters/notesMaster1.xml" Id="R2beda521bc0b4bfb" /></Relationships>
</file>

<file path=ppt/notesSlides/_rels/notesSlide7.xml.rels>&#65279;<?xml version="1.0" encoding="utf-8"?><Relationships xmlns="http://schemas.openxmlformats.org/package/2006/relationships"><Relationship Type="http://schemas.openxmlformats.org/officeDocument/2006/relationships/slide" Target="/ppt/slides/slide7.xml" Id="R69866e7dbe524e61" /><Relationship Type="http://schemas.openxmlformats.org/officeDocument/2006/relationships/notesMaster" Target="/ppt/notesMasters/notesMaster1.xml" Id="Rd2d71a4b60c44129" /></Relationships>
</file>

<file path=ppt/notesSlides/_rels/notesSlide8.xml.rels>&#65279;<?xml version="1.0" encoding="utf-8"?><Relationships xmlns="http://schemas.openxmlformats.org/package/2006/relationships"><Relationship Type="http://schemas.openxmlformats.org/officeDocument/2006/relationships/slide" Target="/ppt/slides/slide8.xml" Id="Ra3f5b33586a04f24" /><Relationship Type="http://schemas.openxmlformats.org/officeDocument/2006/relationships/notesMaster" Target="/ppt/notesMasters/notesMaster1.xml" Id="R96764509d88d492d" /></Relationships>
</file>

<file path=ppt/notesSlides/_rels/notesSlide9.xml.rels>&#65279;<?xml version="1.0" encoding="utf-8"?><Relationships xmlns="http://schemas.openxmlformats.org/package/2006/relationships"><Relationship Type="http://schemas.openxmlformats.org/officeDocument/2006/relationships/slide" Target="/ppt/slides/slide9.xml" Id="R1d0df84b8fd44ab3" /><Relationship Type="http://schemas.openxmlformats.org/officeDocument/2006/relationships/notesMaster" Target="/ppt/notesMasters/notesMaster1.xml" Id="R78a664e4cadd413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477d1dacb804a6d" /><Relationship Type="http://schemas.openxmlformats.org/officeDocument/2006/relationships/notesMaster" Target="/ppt/notesMasters/notesMaster1.xml" Id="R5594646f1cad4ca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470e9ad367e4e5c" /><Relationship Type="http://schemas.openxmlformats.org/officeDocument/2006/relationships/notesMaster" Target="/ppt/notesMasters/notesMaster1.xml" Id="Rdae55ebdfec8436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ec476def9504448e" /><Relationship Type="http://schemas.openxmlformats.org/officeDocument/2006/relationships/notesMaster" Target="/ppt/notesMasters/notesMaster1.xml" Id="Rdc691ae2e98148b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1: The life science tools framework</a:t>
            </a:r>
          </a:p>
          <a:p xmlns:a="http://schemas.openxmlformats.org/drawingml/2006/main">
            <a:r>
              <a:t>Evidence status: Framework</a:t>
            </a:r>
          </a:p>
          <a:p xmlns:a="http://schemas.openxmlformats.org/drawingml/2006/main">
            <a:r>
              <a:t/>
            </a:r>
          </a:p>
          <a:p xmlns:a="http://schemas.openxmlformats.org/drawingml/2006/main">
            <a:r>
              <a:t># Sources, assumptions and market boundaries</a:t>
            </a:r>
          </a:p>
          <a:p xmlns:a="http://schemas.openxmlformats.org/drawingml/2006/main">
            <a:r>
              <a:t/>
            </a:r>
          </a:p>
          <a:p xmlns:a="http://schemas.openxmlformats.org/drawingml/2006/main">
            <a:r>
              <a:t>Research date: 12 October 2026. This package visualizes the supplied research framework and selected anchors from the preceding primary-source research. Historical industry numbers are consultant or company-cited estimates, rather than administrative census measurements.</a:t>
            </a:r>
          </a:p>
          <a:p xmlns:a="http://schemas.openxmlformats.org/drawingml/2006/main">
            <a:r>
              <a:t/>
            </a:r>
          </a:p>
          <a:p xmlns:a="http://schemas.openxmlformats.org/drawingml/2006/main">
            <a:r>
              <a:t>## Stage table and funnel</a:t>
            </a:r>
          </a:p>
          <a:p xmlns:a="http://schemas.openxmlformats.org/drawingml/2006/main">
            <a:r>
              <a:t/>
            </a:r>
          </a:p>
          <a:p xmlns:a="http://schemas.openxmlformats.org/drawingml/2006/main">
            <a:r>
              <a:t>The supplied stage table uses virtual designs ~1,000 before AI versus 100,000–1 billion in the AI scenario; physical candidates ~1,000 versus 1,000–10,000; wet-lab profiling ~50 versus an illustrative 50→500 expansion; clinical entry 1 versus 1; expected approvals ~0.14 versus unknown. These are user-supplied assumptions, not empirical cohort statistics.</a:t>
            </a:r>
          </a:p>
          <a:p xmlns:a="http://schemas.openxmlformats.org/drawingml/2006/main">
            <a:r>
              <a:t/>
            </a:r>
          </a:p>
          <a:p xmlns:a="http://schemas.openxmlformats.org/drawingml/2006/main">
            <a:r>
              <a:t>The denominator is one clinical entrant. The second reference image uses a different denominator, per approved drug; its counts are not mixed into this table. ~0.14 is an illustrative expected count, not an independently validated success probability. DNA-encoded libraries are not equivalent to fully characterized discrete candidates. Virtual design has costs and quality constraints. The diagram states a working capacity-gate hypothesis, not that design quality or clinical biology cease to matter.</a:t>
            </a:r>
          </a:p>
          <a:p xmlns:a="http://schemas.openxmlformats.org/drawingml/2006/main">
            <a:r>
              <a:t/>
            </a:r>
          </a:p>
          <a:p xmlns:a="http://schemas.openxmlformats.org/drawingml/2006/main">
            <a:r>
              <a:t>## Market anchors in the enlarged ecosystem</a:t>
            </a:r>
          </a:p>
          <a:p xmlns:a="http://schemas.openxmlformats.org/drawingml/2006/main">
            <a:r>
              <a:t/>
            </a:r>
          </a:p>
          <a:p xmlns:a="http://schemas.openxmlformats.org/drawingml/2006/main">
            <a:r>
              <a:t>| Anchor | Geography / year | Value | Scope and evidence |</a:t>
            </a:r>
          </a:p>
          <a:p xmlns:a="http://schemas.openxmlformats.org/drawingml/2006/main">
            <a:r>
              <a:t>|---|---|---|---|</a:t>
            </a:r>
          </a:p>
          <a:p xmlns:a="http://schemas.openxmlformats.org/drawingml/2006/main">
            <a:r>
              <a:t>| DNA synthesis services | China / 2025 | RMB1.33bn | Oligonucleotide RMB0.53bn + long-fragment RMB0.80bn. Midstream services only. Tsingke 2026 IPO filing, pp.156–158. [Primary filing](https://static.sse.com.cn/stock/disclosure/announcement/c/202606/002233_20260630_Z9LA.pdf). |</a:t>
            </a:r>
          </a:p>
          <a:p xmlns:a="http://schemas.openxmlformats.org/drawingml/2006/main">
            <a:r>
              <a:t>| Research-use recombinant proteins | Global / 2025 | US$3.5bn | Research use; not therapeutic protein manufacturing. China ~US$0.4bn is rounded to US$0.1bn precision. ACROBiosystems 2026 HKEX application, printed p.71 / PDF p.80. [Primary filing](https://www1.hkexnews.hk/app/sehk/2026/108910/documents/sehk26093002651_c.pdf). |</a:t>
            </a:r>
          </a:p>
          <a:p xmlns:a="http://schemas.openxmlformats.org/drawingml/2006/main">
            <a:r>
              <a:t>| Bioprocess culture media | China / 2024 | US$323.5m* | Selected media market; not all cellular tools. F&amp;S in Duoning 2026 filing, printed p.126. Excludes the COVID impact on vaccine products. [Filing URL](https://www.hkexnews.hk/app/sehk/2026/108106/documents/sehk26011800033_c.pdf). |</a:t>
            </a:r>
          </a:p>
          <a:p xmlns:a="http://schemas.openxmlformats.org/drawingml/2006/main">
            <a:r>
              <a:t>| Disposable plastic biological laboratory consumables | China / 2024 | ~RMB23bn | Includes research, clinical and industrial uses. JET Biofil 2025 annual-report summary, PDF p.6; company cites F&amp;S and industry research. Direct primary PDF rechecked on 12 Oct 2026. [Primary disclosure](https://static.cninfo.com.cn/finalpage/2026-04-30/1225255989.PDF). |</a:t>
            </a:r>
          </a:p>
          <a:p xmlns:a="http://schemas.openxmlformats.org/drawingml/2006/main">
            <a:r>
              <a:t>| Sequencing instruments and consumables | China / 2024 | RMB4.3bn | Includes clinical sequencing; not instruments alone, and not a combined LC/MS market. MGI 2024 annual report pp.41–42, citing CIC. [Primary disclosure](https://static.cninfo.com.cn/finalpage/2025-04-30/1223427376.PDF). |</a:t>
            </a:r>
          </a:p>
          <a:p xmlns:a="http://schemas.openxmlformats.org/drawingml/2006/main">
            <a:r>
              <a:t>| Bioprocess chromatography resins | China / 2024 | US$578.2m* | Biological process resins; not all analytical columns, chemical adsorption resins or purification hardware. F&amp;S in Duoning 2026 filing, printed p.132. [Filing URL](https://www.hkexnews.hk/app/sehk/2026/108106/documents/sehk26011800033_c.pdf). |</a:t>
            </a:r>
          </a:p>
          <a:p xmlns:a="http://schemas.openxmlformats.org/drawingml/2006/main">
            <a:r>
              <a:t/>
            </a:r>
          </a:p>
          <a:p xmlns:a="http://schemas.openxmlformats.org/drawingml/2006/main">
            <a:r>
              <a:t>*The Duoning figures were checked against the publicly indexed official filing during the preceding research on 9–10 October 2026. Direct PDF access now returns 404. They carry lower source-access confidence than directly downloaded filings. The 2025 values in that filing remain forecasts and are deliberately not presented as 2025 actual results here.*</a:t>
            </a:r>
          </a:p>
          <a:p xmlns:a="http://schemas.openxmlformats.org/drawingml/2006/main">
            <a:r>
              <a:t/>
            </a:r>
          </a:p>
          <a:p xmlns:a="http://schemas.openxmlformats.org/drawingml/2006/main">
            <a:r>
              <a:t>These anchors cannot be added. Their geography, currency, year and boundary differ, and tools can be used across the six product families. Each headline sizes the stated subset, not the full box. In particular, the culture-media figure is a bioprocess anchor and cannot be generalized to all research media and cell models. Automation, mass spectrometry, flow cytometry, imaging and analytical columns are shown as tool families but are not assigned an unsupported combined TAM.</a:t>
            </a:r>
          </a:p>
          <a:p xmlns:a="http://schemas.openxmlformats.org/drawingml/2006/main">
            <a:r>
              <a:t/>
            </a:r>
          </a:p>
          <a:p xmlns:a="http://schemas.openxmlformats.org/drawingml/2006/main">
            <a:r>
              <a:t>## Supporting figure 02: consistent-scope LST comparison</a:t>
            </a:r>
          </a:p>
          <a:p xmlns:a="http://schemas.openxmlformats.org/drawingml/2006/main">
            <a:r>
              <a:t/>
            </a:r>
          </a:p>
          <a:p xmlns:a="http://schemas.openxmlformats.org/drawingml/2006/main">
            <a:r>
              <a:t>The ACROBiosystems HKEX filing of 30 Sep 2026 reports 2025 global LST US$41.5bn and China US$7.7bn under its F&amp;S scope, printed p.65 / PDF p.74. Research biological reagents are global US$26.4bn and China US$4.6bn, printed p.67 / PDF p.76. The residual other-tool values are derived: 41.5−26.4 =15.1 and 7.7−4.6 =3.1, in US$bn. China/global share is 7.7÷41.5 =18.6% rounded. This scope does not reconcile automatically to broader laboratory or manufacturing markets. [Primary filing](https://www1.hkexnews.hk/app/sehk/2026/108910/documents/sehk26093002651_c.pdf).</a:t>
            </a:r>
          </a:p>
          <a:p xmlns:a="http://schemas.openxmlformats.org/drawingml/2006/main">
            <a:r>
              <a:t/>
            </a:r>
          </a:p>
          <a:p xmlns:a="http://schemas.openxmlformats.org/drawingml/2006/main">
            <a:r>
              <a:t>## Illustrative and qualitative figures</a:t>
            </a:r>
          </a:p>
          <a:p xmlns:a="http://schemas.openxmlformats.org/drawingml/2006/main">
            <a:r>
              <a:t/>
            </a:r>
          </a:p>
          <a:p xmlns:a="http://schemas.openxmlformats.org/drawingml/2006/main">
            <a:r>
              <a:t>Figure 03 uses the supplied customer mixes: reagents 30/25/15/10/20%, consumables 20/20/15/30/15%, and instruments 25/20/10/15/30%, for academia, biotech/pharma R&amp;D, CRO/CDMO, pharma-owned production and IVD development. These are illustrative purchasing shares. Hospitals are not independently modeled, and distributors are not an end-customer category.</a:t>
            </a:r>
          </a:p>
          <a:p xmlns:a="http://schemas.openxmlformats.org/drawingml/2006/main">
            <a:r>
              <a:t/>
            </a:r>
          </a:p>
          <a:p xmlns:a="http://schemas.openxmlformats.org/drawingml/2006/main">
            <a:r>
              <a:t>Figure 06 compares 100,000 tests at 100µL in 96-well plates with 1,000,000 tests at 5µL in 1,536-well plates. Reagents fall from 10L to 5L; full-plate counts are ceiling(100,000/96)=1,042 and ceiling(1,000,000/1,536)=652. Tips per test are assumed to fall from 1 to 0.1, giving 100,000 tips in both cases. Volume index 1,000; reagent index 50; plate index 62.6; tip index 100, against a baseline of 100. Dead volume, controls, retests, ASP and service spending are excluded. The two panels use different y-axis scales.</a:t>
            </a:r>
          </a:p>
          <a:p xmlns:a="http://schemas.openxmlformats.org/drawingml/2006/main">
            <a:r>
              <a:t/>
            </a:r>
          </a:p>
          <a:p xmlns:a="http://schemas.openxmlformats.org/drawingml/2006/main">
            <a:r>
              <a:t>Figure 07 uses illustrative cumulative funding pools of US$50bn, US$100bn and US$200bn. No time horizon is specified. Allocations are 30% research equipment/automation, 25% research reagents, 20% research consumables, 15% manufacturing bioprocess tools and 10% services/other. Research-use and manufacturing-use allocations are mutually exclusive. These are not realized financing, annual TAM or a company revenue forecast.</a:t>
            </a:r>
          </a:p>
          <a:p xmlns:a="http://schemas.openxmlformats.org/drawingml/2006/main">
            <a:r>
              <a:t/>
            </a:r>
          </a:p>
          <a:p xmlns:a="http://schemas.openxmlformats.org/drawingml/2006/main">
            <a:r>
              <a:t>Figures 05, 08 and 09 use qualitative analyst positions. Bubble area in figure 05 is schematic relative opportunity, not measured TAM. Axis positions and the gold emphasis on ACROBiosystems and NanoMicro are not numerical scores, stock recommendations, market-share estimates or measured AI revenue. Supply barriers do not establish a current shortage.</a:t>
            </a:r>
          </a:p>
          <a:p xmlns:a="http://schemas.openxmlformats.org/drawingml/2006/main">
            <a:r>
              <a:t/>
            </a:r>
          </a:p>
          <a:p xmlns:a="http://schemas.openxmlformats.org/drawingml/2006/main">
            <a:r>
              <a:t>Figures 04 and 10 describe a conditional mechanism: funded projects → physical experimentation → net tool consumption and purchasing → company share → profit and cash flow. AI funding announcements alone do not establish LST orders. Miniaturization, faster candidate triage, resin reuse and pricing can offset higher experiment counts.</a:t>
            </a:r>
          </a:p>
          <a:p xmlns:a="http://schemas.openxmlformats.org/drawingml/2006/main">
            <a:r>
              <a:t/>
            </a:r>
          </a:p>
          <a:p xmlns:a="http://schemas.openxmlformats.org/drawingml/2006/main">
            <a:r>
              <a:t>## Representative-company product evidence</a:t>
            </a:r>
          </a:p>
          <a:p xmlns:a="http://schemas.openxmlformats.org/drawingml/2006/main">
            <a:r>
              <a:t/>
            </a:r>
          </a:p>
          <a:p xmlns:a="http://schemas.openxmlformats.org/drawingml/2006/main">
            <a:r>
              <a:t>- [ACROBiosystems HKEX application, 30 Sep 2026](https://www1.hkexnews.hk/app/sehk/2026/108910/documents/sehk26093002651_c.pdf): Printed pp. 65, 67 and 71 (PDF pp. 74, 76, 80); defined LST scope, research reagents and recombinant proteins.</a:t>
            </a:r>
          </a:p>
          <a:p xmlns:a="http://schemas.openxmlformats.org/drawingml/2006/main">
            <a:r>
              <a:t>- [Vazyme 2024 annual report](https://static.cninfo.com.cn/finalpage/2025-04-10/1223046699.PDF): Product and business evidence; matrix positions are analyst assumptions.</a:t>
            </a:r>
          </a:p>
          <a:p xmlns:a="http://schemas.openxmlformats.org/drawingml/2006/main">
            <a:r>
              <a:t>- [ACROBiosystems filing: recombinant protein competitive landscape](https://www1.hkexnews.hk/app/sehk/2026/108910/documents/sehk26093002651_c.pdf): Product and business evidence; matrix positions are analyst assumptions.</a:t>
            </a:r>
          </a:p>
          <a:p xmlns:a="http://schemas.openxmlformats.org/drawingml/2006/main">
            <a:r>
              <a:t>- [Novoprotein official product catalog](https://www.novoprotein.com.cn/products): Product and business evidence; matrix positions are analyst assumptions.</a:t>
            </a:r>
          </a:p>
          <a:p xmlns:a="http://schemas.openxmlformats.org/drawingml/2006/main">
            <a:r>
              <a:t>- [NanoMicro 2025 annual report](https://static.cninfo.com.cn/finalpage/2026-04-16/1225107014.PDF): Product and business evidence; matrix positions are analyst assumptions.</a:t>
            </a:r>
          </a:p>
          <a:p xmlns:a="http://schemas.openxmlformats.org/drawingml/2006/main">
            <a:r>
              <a:t>- [Sepax IPO prospectus, Jan 2025](https://static.cninfo.com.cn/finalpage/2025-01-06/1222238930.PDF): Product and business evidence; matrix positions are analyst assumptions.</a:t>
            </a:r>
          </a:p>
          <a:p xmlns:a="http://schemas.openxmlformats.org/drawingml/2006/main">
            <a:r>
              <a:t>- [JET Biofil 2025 interim report](https://stockmc.xueqiu.com/202508/688026_20250830_4FZX.pdf): Product and business evidence; matrix positions are analyst assumptions.</a:t>
            </a:r>
          </a:p>
          <a:p xmlns:a="http://schemas.openxmlformats.org/drawingml/2006/main">
            <a:r>
              <a:t>- [Changhong official website](https://cn.sz-changhong.com/): Product and business evidence; matrix positions are analyst assumptions.</a:t>
            </a:r>
          </a:p>
          <a:p xmlns:a="http://schemas.openxmlformats.org/drawingml/2006/main">
            <a:r>
              <a:t>- [Bide Pharmatech official catalog](https://www.bidepharm.com/): Product and business evidence; matrix positions are analyst assumptions.</a:t>
            </a:r>
          </a:p>
          <a:p xmlns:a="http://schemas.openxmlformats.org/drawingml/2006/main">
            <a:r>
              <a:t>- [ChemExpress official website](https://www.chemexpress.com.cn/): Product and business evidence; matrix positions are analyst assumptions.</a:t>
            </a:r>
          </a:p>
          <a:p xmlns:a="http://schemas.openxmlformats.org/drawingml/2006/main">
            <a:r>
              <a:t>- [MGI 2025 annual report](https://static.cninfo.com.cn/finalpage/2026-04-25/1225194780.PDF): Product and business evidence; matrix positions are analyst assumptions.</a:t>
            </a:r>
          </a:p>
          <a:p xmlns:a="http://schemas.openxmlformats.org/drawingml/2006/main">
            <a:r>
              <a:t>- [OPM Biosciences 2025 annual report](https://pdf.dfcfw.com/pdf/H2_AN202604221821449851_1.pdf): Product and business evidence; matrix positions are analyst assumptions.</a:t>
            </a:r>
          </a:p>
          <a:p xmlns:a="http://schemas.openxmlformats.org/drawingml/2006/main">
            <a:r>
              <a:t/>
            </a:r>
          </a:p>
          <a:p xmlns:a="http://schemas.openxmlformats.org/drawingml/2006/main">
            <a:r>
              <a:t>The primary distinction in this research is product exposure: ACROBiosystems supplies recombinant proteins and assay tools used in expression and functional validation; NanoMicro supplies purification and chromatography products used in analytical/process development and manufacturing. A broad increase in virtual candidates does not establish either company's incremental orders. Manufacturing demand also depends on successful clinical translation and drug output.</a:t>
            </a:r>
          </a:p>
          <a:p xmlns:a="http://schemas.openxmlformats.org/drawingml/2006/main">
            <a:r>
              <a:t/>
            </a:r>
          </a:p>
          <a:p xmlns:a="http://schemas.openxmlformats.org/drawingml/2006/main">
            <a:r>
              <a:t>## Logo and icon assets</a:t>
            </a:r>
          </a:p>
          <a:p xmlns:a="http://schemas.openxmlformats.org/drawingml/2006/main">
            <a:r>
              <a:t/>
            </a:r>
          </a:p>
          <a:p xmlns:a="http://schemas.openxmlformats.org/drawingml/2006/main">
            <a:r>
              <a:t>Logo files identify representative suppliers. `assets/sources.json` gives source URLs and modifications. Where whitespace was trimmed, the brand artwork is unchanged. NanoMicro uses its circular emblem alongside a separate editable English company label, keeping all visible labels English. JET uses an English brand asset from a supplier listing. Company names remain editable even when a logo is embedded. Supplier lists are examples and are not rankings or endorsements.</a:t>
            </a:r>
          </a:p>
          <a:p xmlns:a="http://schemas.openxmlformats.org/drawingml/2006/main">
            <a:r>
              <a:t/>
            </a:r>
          </a:p>
          <a:p xmlns:a="http://schemas.openxmlformats.org/drawingml/2006/main">
            <a:r>
              <a:t>Lucide icons are sourced from the project's official GitHub repository, recolored teal for the graphic and provided under the ISC license. The full license is included in `assets/icons/LICENSE`.</a:t>
            </a:r>
          </a:p>
          <a:p xmlns:a="http://schemas.openxmlformats.org/drawingml/2006/main">
            <a:r>
              <a:t/>
            </a:r>
          </a:p>
          <a:p xmlns:a="http://schemas.openxmlformats.org/drawingml/2006/main">
            <a:r>
              <a:t/>
            </a:r>
          </a:p>
          <a:p xmlns:a="http://schemas.openxmlformats.org/drawingml/2006/main">
            <a:r>
              <a:t># Supplier tickers and current BD exposure</a:t>
            </a:r>
          </a:p>
          <a:p xmlns:a="http://schemas.openxmlformats.org/drawingml/2006/main">
            <a:r>
              <a:t/>
            </a:r>
          </a:p>
          <a:p xmlns:a="http://schemas.openxmlformats.org/drawingml/2006/main">
            <a:r>
              <a:t>Updated 13 October 2026. Rows identify representative suppliers or their listed parents, not market shares or investment recommendations. China/HK and US groups refer to listing venues; they do not imply legal domicile, headquarters or pure-play exposure.</a:t>
            </a:r>
          </a:p>
          <a:p xmlns:a="http://schemas.openxmlformats.org/drawingml/2006/main">
            <a:r>
              <a:t/>
            </a:r>
          </a:p>
          <a:p xmlns:a="http://schemas.openxmlformats.org/drawingml/2006/main">
            <a:r>
              <a:t>BD (NYSE:BDX) remains relevant to specimen collection and preanalytical sample handling. Its former Biosciences and Diagnostic Solutions business, including flow cytometry, moved to Waters (NYSE:WAT) on 9 February 2026.</a:t>
            </a:r>
          </a:p>
          <a:p xmlns:a="http://schemas.openxmlformats.org/drawingml/2006/main">
            <a:r>
              <a:t/>
            </a:r>
          </a:p>
          <a:p xmlns:a="http://schemas.openxmlformats.org/drawingml/2006/main">
            <a:r>
              <a:t>- [BD completion release](https://investors.bd.com/news-events/press-releases/detail/937/bd-completes-combination-of-biosciences-diagnostic-solutions-business-with-waters-corporation)</a:t>
            </a:r>
          </a:p>
          <a:p xmlns:a="http://schemas.openxmlformats.org/drawingml/2006/main">
            <a:r>
              <a:t>- [Waters current transaction disclosure](https://www.waters.com/nextgen/us/en/about-waters/corporate-governance/legal-and-privacy-notices/bdtransaction.html)</a:t>
            </a:r>
          </a:p>
          <a:p xmlns:a="http://schemas.openxmlformats.org/drawingml/2006/main">
            <a:r>
              <a:t>- [Current BD Vacutainer portfolio](https://go.bd.com/vacutainer-product-updates-TY.html): specimen-collection / sample-management products.</a:t>
            </a:r>
          </a:p>
          <a:p xmlns:a="http://schemas.openxmlformats.org/drawingml/2006/main">
            <a:r>
              <a:t/>
            </a:r>
          </a:p>
          <a:p xmlns:a="http://schemas.openxmlformats.org/drawingml/2006/main">
            <a:r>
              <a:t>Gibco is shown with Thermo Fisher (TMO); Cytiva and HyClone with Danaher (DHR). The underlying business exposure is narrower than the parent company's total revenue. Tsingke's code 874813 is a NEEQ code, not an A-share exchange listing; its IPO application is a separate filing. Suzhou Sepax is 688758.SH; the graphic refers to the China-listed issuer's chromatography portfolio.</a:t>
            </a:r>
          </a:p>
          <a:p xmlns:a="http://schemas.openxmlformats.org/drawingml/2006/main">
            <a:r>
              <a:t/>
            </a:r>
          </a:p>
          <a:p xmlns:a="http://schemas.openxmlformats.org/drawingml/2006/main">
            <a:r>
              <a:t>| Supplier / parent | Exchange | Ticker | Product pathway | Primary listing / business source |</a:t>
            </a:r>
          </a:p>
          <a:p xmlns:a="http://schemas.openxmlformats.org/drawingml/2006/main">
            <a:r>
              <a:t>|---|---|---|---|---|</a:t>
            </a:r>
          </a:p>
          <a:p xmlns:a="http://schemas.openxmlformats.org/drawingml/2006/main">
            <a:r>
              <a:t>| GenScript | HKEX | 1548 | Molecular construction | [Source](https://www.genscript.com/genscript-biotech-demonstrates-profitable-scale-and-strategic-leadership-in-h1-2025.html) |</a:t>
            </a:r>
          </a:p>
          <a:p xmlns:a="http://schemas.openxmlformats.org/drawingml/2006/main">
            <a:r>
              <a:t>| Vazyme | SSE | 688105 | Molecular construction | [Source](https://www.vazyme.us/AboutUs/OurStrories/) |</a:t>
            </a:r>
          </a:p>
          <a:p xmlns:a="http://schemas.openxmlformats.org/drawingml/2006/main">
            <a:r>
              <a:t>| Tsingke | NEEQ | 874813 | DNA synthesis; NEEQ-listed, A-share IPO application is separate | [Source](https://static.sse.com.cn/stock/disclosure/announcement/c/202606/002233_20260630_Z9LA.pdf) |</a:t>
            </a:r>
          </a:p>
          <a:p xmlns:a="http://schemas.openxmlformats.org/drawingml/2006/main">
            <a:r>
              <a:t>| ACROBiosystems | SZSE | 301080 | Proteins / functional cells | [Source](https://www1.hkexnews.hk/app/sehk/2026/108910/documents/sehk26093002651_c.pdf) |</a:t>
            </a:r>
          </a:p>
          <a:p xmlns:a="http://schemas.openxmlformats.org/drawingml/2006/main">
            <a:r>
              <a:t>| Sino Biological | SZSE | 301047 | Research proteins / antibodies | [Source](https://disc.static.szse.cn/disc/disk03/finalpage/2026-08-26/cd4ea950-7931-4164-bcec-20c03b8236e1.PDF) |</a:t>
            </a:r>
          </a:p>
          <a:p xmlns:a="http://schemas.openxmlformats.org/drawingml/2006/main">
            <a:r>
              <a:t>| OPM Biosciences | SSE | 688293 | Cell culture media | [Source](https://opmbiosciences.com/) |</a:t>
            </a:r>
          </a:p>
          <a:p xmlns:a="http://schemas.openxmlformats.org/drawingml/2006/main">
            <a:r>
              <a:t>| JET Biofil | SSE | 688026 | Plastic laboratory consumables | [Source](https://static.cninfo.com.cn/finalpage/2026-04-30/1225255989.PDF) |</a:t>
            </a:r>
          </a:p>
          <a:p xmlns:a="http://schemas.openxmlformats.org/drawingml/2006/main">
            <a:r>
              <a:t>| Changhong | SZSE | 300151 | Life science / medical plastic consumables | [Source](https://static.cninfo.com.cn/finalpage/2025-10-30/1224764410.PDF) |</a:t>
            </a:r>
          </a:p>
          <a:p xmlns:a="http://schemas.openxmlformats.org/drawingml/2006/main">
            <a:r>
              <a:t>| MGI | SSE | 688114 | Sequencing instruments / consumables | [Source](https://static.cninfo.com.cn/finalpage/2025-04-30/1223427376.PDF) |</a:t>
            </a:r>
          </a:p>
          <a:p xmlns:a="http://schemas.openxmlformats.org/drawingml/2006/main">
            <a:r>
              <a:t>| NanoMicro | SSE | 688690 | Chromatography materials and analytical separation / purification | [Source](https://static.cninfo.com.cn/finalpage/2026-09-22/1225575593.PDF) |</a:t>
            </a:r>
          </a:p>
          <a:p xmlns:a="http://schemas.openxmlformats.org/drawingml/2006/main">
            <a:r>
              <a:t>| Suzhou Sepax | SSE | 688758 | Chromatography columns / process media | [Source](https://www.sepax-tech.com.cn/skin/default/investorpdf/%E8%8B%8F%E5%B7%9E%E8%B5%9B%E5%88%86%E7%A7%91%E6%8A%80%E8%82%A1%E4%BB%BD%E6%9C%89%E9%99%90%E5%85%AC%E5%8F%B82025%E5%B9%B4%E7%AC%AC%E4%B8%80%E6%AC%A1%E4%B8%B4%E6%97%B6%E8%82%A1%E4%B8%9C%E4%BC%9A%E4%BC%9A%E8%AE%AE%E8%B5%84%E6%96%99.pdf) |</a:t>
            </a:r>
          </a:p>
          <a:p xmlns:a="http://schemas.openxmlformats.org/drawingml/2006/main">
            <a:r>
              <a:t>| Twist Bioscience | NASDAQ | TWST | DNA synthesis | [Source](https://investors.twistbioscience.com/static-files/8c1d5bed-df6f-48d5-832f-eb2f32717c27) |</a:t>
            </a:r>
          </a:p>
          <a:p xmlns:a="http://schemas.openxmlformats.org/drawingml/2006/main">
            <a:r>
              <a:t>| Thermo Fisher / Gibco | NYSE | TMO | Molecular tools, proteins, media and instruments; parent ticker | [Source](https://ir.thermofisher.com/investors/news-events/news/news-details/2026/Thermo-Fisher-Scientific-Reports-Second-Quarter-2026-Results/) |</a:t>
            </a:r>
          </a:p>
          <a:p xmlns:a="http://schemas.openxmlformats.org/drawingml/2006/main">
            <a:r>
              <a:t>| Bio-Techne | NASDAQ | TECH | Proteins / functional assay reagents | [Source](https://investors.bio-techne.com/stock-data) |</a:t>
            </a:r>
          </a:p>
          <a:p xmlns:a="http://schemas.openxmlformats.org/drawingml/2006/main">
            <a:r>
              <a:t>| Danaher / Cytiva / HyClone | NYSE | DHR | Culture and purification; parent ticker | [Source](https://www.danaher.com/our-businesses/biotechnology) |</a:t>
            </a:r>
          </a:p>
          <a:p xmlns:a="http://schemas.openxmlformats.org/drawingml/2006/main">
            <a:r>
              <a:t>| Corning | NYSE | GLW | Laboratory plastics / cell culture | [Source](https://www.corning.com/content/dam/corning/media/worldwide/global/documents/corning_10-k_2025.pdf) |</a:t>
            </a:r>
          </a:p>
          <a:p xmlns:a="http://schemas.openxmlformats.org/drawingml/2006/main">
            <a:r>
              <a:t>| BD | NYSE | BDX | Current specimen collection / preanalytics; ex-BD flow is WAT | [Source](https://investors.bd.com/news-events/press-releases/detail/937/bd-completes-combination-of-biosciences-diagnostic-solutions-business-with-waters-corporation) |</a:t>
            </a:r>
          </a:p>
          <a:p xmlns:a="http://schemas.openxmlformats.org/drawingml/2006/main">
            <a:r>
              <a:t>| Illumina | NASDAQ | ILMN | Sequencing instruments / consumables | [Source](https://investor.illumina.com/static-files/eb129ea4-1f1a-408f-b87a-44eaee93c63d) |</a:t>
            </a:r>
          </a:p>
          <a:p xmlns:a="http://schemas.openxmlformats.org/drawingml/2006/main">
            <a:r>
              <a:t>| Agilent | NYSE | A | Chromatography / analytical instruments | [Source](https://www.investor.agilent.com/stock-info/stock-quote-and-chart/) |</a:t>
            </a:r>
          </a:p>
          <a:p xmlns:a="http://schemas.openxmlformats.org/drawingml/2006/main">
            <a:r>
              <a:t>| Waters / former BD Biosciences | NYSE | WAT | LC-MS / chromatography and ex-BD flow cytometry | [Source](https://www.waters.com/nextgen/us/en/about-waters/corporate-governance/legal-and-privacy-notices/bdtransaction.html) |</a:t>
            </a:r>
          </a:p>
          <a:p xmlns:a="http://schemas.openxmlformats.org/drawingml/2006/main">
            <a:r>
              <a:t>| Repligen | NASDAQ | RGEN | Bioprocess purification / filtration tools | [Source](https://investors.repligen.com/stock-info/default.aspx) |</a:t>
            </a:r>
          </a:p>
          <a:p xmlns:a="http://schemas.openxmlformats.org/drawingml/2006/main">
            <a:r>
              <a:t>| Tecan | SIX | TECN | Laboratory automation; Swiss-listed | [Source](https://www.tecan.com/hubfs/HubDB/Te-PrArc/180323_Tecan_KeplerCheuvreux.pdf) |</a:t>
            </a:r>
          </a:p>
          <a:p xmlns:a="http://schemas.openxmlformats.org/drawingml/2006/main">
            <a:r>
              <a:t/>
            </a:r>
          </a:p>
          <a:p xmlns:a="http://schemas.openxmlformats.org/drawingml/2006/main">
            <a:r>
              <a:t>The market anchors retain their original scope and sources. Adding a supplier does not broaden or update the displayed TAM. The labware family includes a clinical/preanalytical adjacency for BD; the displayed anchor continues to be the selected China plastic laboratory-consumables estimate. The analytics anchor remains China sequencing instruments plus consumables; it does not size flow cytometry.</a:t>
            </a:r>
          </a:p>
          <a:p xmlns:a="http://schemas.openxmlformats.org/drawingml/2006/main">
            <a:r>
              <a:t/>
            </a:r>
          </a:p>
          <a:p xmlns:a="http://schemas.openxmlformats.org/drawingml/2006/main">
            <a:r>
              <a:t>Original BD logo: https://news.bd.com/images/header-bd-logo.svg. Original company marks retain their colors; chart/UI colors use the user-supplied palette. The second RGB value was explicitly confirmed by the user as 172:212:241.</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2: China and global LST markets</a:t>
            </a:r>
          </a:p>
          <a:p xmlns:a="http://schemas.openxmlformats.org/drawingml/2006/main">
            <a:r>
              <a:t>Evidence status: Historical estimate</a:t>
            </a:r>
          </a:p>
          <a:p xmlns:a="http://schemas.openxmlformats.org/drawingml/2006/main">
            <a:r>
              <a:t/>
            </a:r>
          </a:p>
          <a:p xmlns:a="http://schemas.openxmlformats.org/drawingml/2006/main">
            <a:r>
              <a:t># Sources, assumptions and market boundaries</a:t>
            </a:r>
          </a:p>
          <a:p xmlns:a="http://schemas.openxmlformats.org/drawingml/2006/main">
            <a:r>
              <a:t/>
            </a:r>
          </a:p>
          <a:p xmlns:a="http://schemas.openxmlformats.org/drawingml/2006/main">
            <a:r>
              <a:t>Research date: 12 October 2026. This package visualizes the supplied research framework and selected anchors from the preceding primary-source research. Historical industry numbers are consultant or company-cited estimates, rather than administrative census measurements.</a:t>
            </a:r>
          </a:p>
          <a:p xmlns:a="http://schemas.openxmlformats.org/drawingml/2006/main">
            <a:r>
              <a:t/>
            </a:r>
          </a:p>
          <a:p xmlns:a="http://schemas.openxmlformats.org/drawingml/2006/main">
            <a:r>
              <a:t>## Stage table and funnel</a:t>
            </a:r>
          </a:p>
          <a:p xmlns:a="http://schemas.openxmlformats.org/drawingml/2006/main">
            <a:r>
              <a:t/>
            </a:r>
          </a:p>
          <a:p xmlns:a="http://schemas.openxmlformats.org/drawingml/2006/main">
            <a:r>
              <a:t>The supplied stage table uses virtual designs ~1,000 before AI versus 100,000–1 billion in the AI scenario; physical candidates ~1,000 versus 1,000–10,000; wet-lab profiling ~50 versus an illustrative 50→500 expansion; clinical entry 1 versus 1; expected approvals ~0.14 versus unknown. These are user-supplied assumptions, not empirical cohort statistics.</a:t>
            </a:r>
          </a:p>
          <a:p xmlns:a="http://schemas.openxmlformats.org/drawingml/2006/main">
            <a:r>
              <a:t/>
            </a:r>
          </a:p>
          <a:p xmlns:a="http://schemas.openxmlformats.org/drawingml/2006/main">
            <a:r>
              <a:t>The denominator is one clinical entrant. The second reference image uses a different denominator, per approved drug; its counts are not mixed into this table. ~0.14 is an illustrative expected count, not an independently validated success probability. DNA-encoded libraries are not equivalent to fully characterized discrete candidates. Virtual design has costs and quality constraints. The diagram states a working capacity-gate hypothesis, not that design quality or clinical biology cease to matter.</a:t>
            </a:r>
          </a:p>
          <a:p xmlns:a="http://schemas.openxmlformats.org/drawingml/2006/main">
            <a:r>
              <a:t/>
            </a:r>
          </a:p>
          <a:p xmlns:a="http://schemas.openxmlformats.org/drawingml/2006/main">
            <a:r>
              <a:t>## Market anchors in the enlarged ecosystem</a:t>
            </a:r>
          </a:p>
          <a:p xmlns:a="http://schemas.openxmlformats.org/drawingml/2006/main">
            <a:r>
              <a:t/>
            </a:r>
          </a:p>
          <a:p xmlns:a="http://schemas.openxmlformats.org/drawingml/2006/main">
            <a:r>
              <a:t>| Anchor | Geography / year | Value | Scope and evidence |</a:t>
            </a:r>
          </a:p>
          <a:p xmlns:a="http://schemas.openxmlformats.org/drawingml/2006/main">
            <a:r>
              <a:t>|---|---|---|---|</a:t>
            </a:r>
          </a:p>
          <a:p xmlns:a="http://schemas.openxmlformats.org/drawingml/2006/main">
            <a:r>
              <a:t>| DNA synthesis services | China / 2025 | RMB1.33bn | Oligonucleotide RMB0.53bn + long-fragment RMB0.80bn. Midstream services only. Tsingke 2026 IPO filing, pp.156–158. [Primary filing](https://static.sse.com.cn/stock/disclosure/announcement/c/202606/002233_20260630_Z9LA.pdf). |</a:t>
            </a:r>
          </a:p>
          <a:p xmlns:a="http://schemas.openxmlformats.org/drawingml/2006/main">
            <a:r>
              <a:t>| Research-use recombinant proteins | Global / 2025 | US$3.5bn | Research use; not therapeutic protein manufacturing. China ~US$0.4bn is rounded to US$0.1bn precision. ACROBiosystems 2026 HKEX application, printed p.71 / PDF p.80. [Primary filing](https://www1.hkexnews.hk/app/sehk/2026/108910/documents/sehk26093002651_c.pdf). |</a:t>
            </a:r>
          </a:p>
          <a:p xmlns:a="http://schemas.openxmlformats.org/drawingml/2006/main">
            <a:r>
              <a:t>| Bioprocess culture media | China / 2024 | US$323.5m* | Selected media market; not all cellular tools. F&amp;S in Duoning 2026 filing, printed p.126. Excludes the COVID impact on vaccine products. [Filing URL](https://www.hkexnews.hk/app/sehk/2026/108106/documents/sehk26011800033_c.pdf). |</a:t>
            </a:r>
          </a:p>
          <a:p xmlns:a="http://schemas.openxmlformats.org/drawingml/2006/main">
            <a:r>
              <a:t>| Disposable plastic biological laboratory consumables | China / 2024 | ~RMB23bn | Includes research, clinical and industrial uses. JET Biofil 2025 annual-report summary, PDF p.6; company cites F&amp;S and industry research. Direct primary PDF rechecked on 12 Oct 2026. [Primary disclosure](https://static.cninfo.com.cn/finalpage/2026-04-30/1225255989.PDF). |</a:t>
            </a:r>
          </a:p>
          <a:p xmlns:a="http://schemas.openxmlformats.org/drawingml/2006/main">
            <a:r>
              <a:t>| Sequencing instruments and consumables | China / 2024 | RMB4.3bn | Includes clinical sequencing; not instruments alone, and not a combined LC/MS market. MGI 2024 annual report pp.41–42, citing CIC. [Primary disclosure](https://static.cninfo.com.cn/finalpage/2025-04-30/1223427376.PDF). |</a:t>
            </a:r>
          </a:p>
          <a:p xmlns:a="http://schemas.openxmlformats.org/drawingml/2006/main">
            <a:r>
              <a:t>| Bioprocess chromatography resins | China / 2024 | US$578.2m* | Biological process resins; not all analytical columns, chemical adsorption resins or purification hardware. F&amp;S in Duoning 2026 filing, printed p.132. [Filing URL](https://www.hkexnews.hk/app/sehk/2026/108106/documents/sehk26011800033_c.pdf). |</a:t>
            </a:r>
          </a:p>
          <a:p xmlns:a="http://schemas.openxmlformats.org/drawingml/2006/main">
            <a:r>
              <a:t/>
            </a:r>
          </a:p>
          <a:p xmlns:a="http://schemas.openxmlformats.org/drawingml/2006/main">
            <a:r>
              <a:t>*The Duoning figures were checked against the publicly indexed official filing during the preceding research on 9–10 October 2026. Direct PDF access now returns 404. They carry lower source-access confidence than directly downloaded filings. The 2025 values in that filing remain forecasts and are deliberately not presented as 2025 actual results here.*</a:t>
            </a:r>
          </a:p>
          <a:p xmlns:a="http://schemas.openxmlformats.org/drawingml/2006/main">
            <a:r>
              <a:t/>
            </a:r>
          </a:p>
          <a:p xmlns:a="http://schemas.openxmlformats.org/drawingml/2006/main">
            <a:r>
              <a:t>These anchors cannot be added. Their geography, currency, year and boundary differ, and tools can be used across the six product families. Each headline sizes the stated subset, not the full box. In particular, the culture-media figure is a bioprocess anchor and cannot be generalized to all research media and cell models. Automation, mass spectrometry, flow cytometry, imaging and analytical columns are shown as tool families but are not assigned an unsupported combined TAM.</a:t>
            </a:r>
          </a:p>
          <a:p xmlns:a="http://schemas.openxmlformats.org/drawingml/2006/main">
            <a:r>
              <a:t/>
            </a:r>
          </a:p>
          <a:p xmlns:a="http://schemas.openxmlformats.org/drawingml/2006/main">
            <a:r>
              <a:t>## Supporting figure 02: consistent-scope LST comparison</a:t>
            </a:r>
          </a:p>
          <a:p xmlns:a="http://schemas.openxmlformats.org/drawingml/2006/main">
            <a:r>
              <a:t/>
            </a:r>
          </a:p>
          <a:p xmlns:a="http://schemas.openxmlformats.org/drawingml/2006/main">
            <a:r>
              <a:t>The ACROBiosystems HKEX filing of 30 Sep 2026 reports 2025 global LST US$41.5bn and China US$7.7bn under its F&amp;S scope, printed p.65 / PDF p.74. Research biological reagents are global US$26.4bn and China US$4.6bn, printed p.67 / PDF p.76. The residual other-tool values are derived: 41.5−26.4 =15.1 and 7.7−4.6 =3.1, in US$bn. China/global share is 7.7÷41.5 =18.6% rounded. This scope does not reconcile automatically to broader laboratory or manufacturing markets. [Primary filing](https://www1.hkexnews.hk/app/sehk/2026/108910/documents/sehk26093002651_c.pdf).</a:t>
            </a:r>
          </a:p>
          <a:p xmlns:a="http://schemas.openxmlformats.org/drawingml/2006/main">
            <a:r>
              <a:t/>
            </a:r>
          </a:p>
          <a:p xmlns:a="http://schemas.openxmlformats.org/drawingml/2006/main">
            <a:r>
              <a:t>## Illustrative and qualitative figures</a:t>
            </a:r>
          </a:p>
          <a:p xmlns:a="http://schemas.openxmlformats.org/drawingml/2006/main">
            <a:r>
              <a:t/>
            </a:r>
          </a:p>
          <a:p xmlns:a="http://schemas.openxmlformats.org/drawingml/2006/main">
            <a:r>
              <a:t>Figure 03 uses the supplied customer mixes: reagents 30/25/15/10/20%, consumables 20/20/15/30/15%, and instruments 25/20/10/15/30%, for academia, biotech/pharma R&amp;D, CRO/CDMO, pharma-owned production and IVD development. These are illustrative purchasing shares. Hospitals are not independently modeled, and distributors are not an end-customer category.</a:t>
            </a:r>
          </a:p>
          <a:p xmlns:a="http://schemas.openxmlformats.org/drawingml/2006/main">
            <a:r>
              <a:t/>
            </a:r>
          </a:p>
          <a:p xmlns:a="http://schemas.openxmlformats.org/drawingml/2006/main">
            <a:r>
              <a:t>Figure 06 compares 100,000 tests at 100µL in 96-well plates with 1,000,000 tests at 5µL in 1,536-well plates. Reagents fall from 10L to 5L; full-plate counts are ceiling(100,000/96)=1,042 and ceiling(1,000,000/1,536)=652. Tips per test are assumed to fall from 1 to 0.1, giving 100,000 tips in both cases. Volume index 1,000; reagent index 50; plate index 62.6; tip index 100, against a baseline of 100. Dead volume, controls, retests, ASP and service spending are excluded. The two panels use different y-axis scales.</a:t>
            </a:r>
          </a:p>
          <a:p xmlns:a="http://schemas.openxmlformats.org/drawingml/2006/main">
            <a:r>
              <a:t/>
            </a:r>
          </a:p>
          <a:p xmlns:a="http://schemas.openxmlformats.org/drawingml/2006/main">
            <a:r>
              <a:t>Figure 07 uses illustrative cumulative funding pools of US$50bn, US$100bn and US$200bn. No time horizon is specified. Allocations are 30% research equipment/automation, 25% research reagents, 20% research consumables, 15% manufacturing bioprocess tools and 10% services/other. Research-use and manufacturing-use allocations are mutually exclusive. These are not realized financing, annual TAM or a company revenue forecast.</a:t>
            </a:r>
          </a:p>
          <a:p xmlns:a="http://schemas.openxmlformats.org/drawingml/2006/main">
            <a:r>
              <a:t/>
            </a:r>
          </a:p>
          <a:p xmlns:a="http://schemas.openxmlformats.org/drawingml/2006/main">
            <a:r>
              <a:t>Figures 05, 08 and 09 use qualitative analyst positions. Bubble area in figure 05 is schematic relative opportunity, not measured TAM. Axis positions and the gold emphasis on ACROBiosystems and NanoMicro are not numerical scores, stock recommendations, market-share estimates or measured AI revenue. Supply barriers do not establish a current shortage.</a:t>
            </a:r>
          </a:p>
          <a:p xmlns:a="http://schemas.openxmlformats.org/drawingml/2006/main">
            <a:r>
              <a:t/>
            </a:r>
          </a:p>
          <a:p xmlns:a="http://schemas.openxmlformats.org/drawingml/2006/main">
            <a:r>
              <a:t>Figures 04 and 10 describe a conditional mechanism: funded projects → physical experimentation → net tool consumption and purchasing → company share → profit and cash flow. AI funding announcements alone do not establish LST orders. Miniaturization, faster candidate triage, resin reuse and pricing can offset higher experiment counts.</a:t>
            </a:r>
          </a:p>
          <a:p xmlns:a="http://schemas.openxmlformats.org/drawingml/2006/main">
            <a:r>
              <a:t/>
            </a:r>
          </a:p>
          <a:p xmlns:a="http://schemas.openxmlformats.org/drawingml/2006/main">
            <a:r>
              <a:t>## Representative-company product evidence</a:t>
            </a:r>
          </a:p>
          <a:p xmlns:a="http://schemas.openxmlformats.org/drawingml/2006/main">
            <a:r>
              <a:t/>
            </a:r>
          </a:p>
          <a:p xmlns:a="http://schemas.openxmlformats.org/drawingml/2006/main">
            <a:r>
              <a:t>- [ACROBiosystems HKEX application, 30 Sep 2026](https://www1.hkexnews.hk/app/sehk/2026/108910/documents/sehk26093002651_c.pdf): Printed pp. 65, 67 and 71 (PDF pp. 74, 76, 80); defined LST scope, research reagents and recombinant proteins.</a:t>
            </a:r>
          </a:p>
          <a:p xmlns:a="http://schemas.openxmlformats.org/drawingml/2006/main">
            <a:r>
              <a:t>- [Vazyme 2024 annual report](https://static.cninfo.com.cn/finalpage/2025-04-10/1223046699.PDF): Product and business evidence; matrix positions are analyst assumptions.</a:t>
            </a:r>
          </a:p>
          <a:p xmlns:a="http://schemas.openxmlformats.org/drawingml/2006/main">
            <a:r>
              <a:t>- [ACROBiosystems filing: recombinant protein competitive landscape](https://www1.hkexnews.hk/app/sehk/2026/108910/documents/sehk26093002651_c.pdf): Product and business evidence; matrix positions are analyst assumptions.</a:t>
            </a:r>
          </a:p>
          <a:p xmlns:a="http://schemas.openxmlformats.org/drawingml/2006/main">
            <a:r>
              <a:t>- [Novoprotein official product catalog](https://www.novoprotein.com.cn/products): Product and business evidence; matrix positions are analyst assumptions.</a:t>
            </a:r>
          </a:p>
          <a:p xmlns:a="http://schemas.openxmlformats.org/drawingml/2006/main">
            <a:r>
              <a:t>- [NanoMicro 2025 annual report](https://static.cninfo.com.cn/finalpage/2026-04-16/1225107014.PDF): Product and business evidence; matrix positions are analyst assumptions.</a:t>
            </a:r>
          </a:p>
          <a:p xmlns:a="http://schemas.openxmlformats.org/drawingml/2006/main">
            <a:r>
              <a:t>- [Sepax IPO prospectus, Jan 2025](https://static.cninfo.com.cn/finalpage/2025-01-06/1222238930.PDF): Product and business evidence; matrix positions are analyst assumptions.</a:t>
            </a:r>
          </a:p>
          <a:p xmlns:a="http://schemas.openxmlformats.org/drawingml/2006/main">
            <a:r>
              <a:t>- [JET Biofil 2025 interim report](https://stockmc.xueqiu.com/202508/688026_20250830_4FZX.pdf): Product and business evidence; matrix positions are analyst assumptions.</a:t>
            </a:r>
          </a:p>
          <a:p xmlns:a="http://schemas.openxmlformats.org/drawingml/2006/main">
            <a:r>
              <a:t>- [Changhong official website](https://cn.sz-changhong.com/): Product and business evidence; matrix positions are analyst assumptions.</a:t>
            </a:r>
          </a:p>
          <a:p xmlns:a="http://schemas.openxmlformats.org/drawingml/2006/main">
            <a:r>
              <a:t>- [Bide Pharmatech official catalog](https://www.bidepharm.com/): Product and business evidence; matrix positions are analyst assumptions.</a:t>
            </a:r>
          </a:p>
          <a:p xmlns:a="http://schemas.openxmlformats.org/drawingml/2006/main">
            <a:r>
              <a:t>- [ChemExpress official website](https://www.chemexpress.com.cn/): Product and business evidence; matrix positions are analyst assumptions.</a:t>
            </a:r>
          </a:p>
          <a:p xmlns:a="http://schemas.openxmlformats.org/drawingml/2006/main">
            <a:r>
              <a:t>- [MGI 2025 annual report](https://static.cninfo.com.cn/finalpage/2026-04-25/1225194780.PDF): Product and business evidence; matrix positions are analyst assumptions.</a:t>
            </a:r>
          </a:p>
          <a:p xmlns:a="http://schemas.openxmlformats.org/drawingml/2006/main">
            <a:r>
              <a:t>- [OPM Biosciences 2025 annual report](https://pdf.dfcfw.com/pdf/H2_AN202604221821449851_1.pdf): Product and business evidence; matrix positions are analyst assumptions.</a:t>
            </a:r>
          </a:p>
          <a:p xmlns:a="http://schemas.openxmlformats.org/drawingml/2006/main">
            <a:r>
              <a:t/>
            </a:r>
          </a:p>
          <a:p xmlns:a="http://schemas.openxmlformats.org/drawingml/2006/main">
            <a:r>
              <a:t>The primary distinction in this research is product exposure: ACROBiosystems supplies recombinant proteins and assay tools used in expression and functional validation; NanoMicro supplies purification and chromatography products used in analytical/process development and manufacturing. A broad increase in virtual candidates does not establish either company's incremental orders. Manufacturing demand also depends on successful clinical translation and drug output.</a:t>
            </a:r>
          </a:p>
          <a:p xmlns:a="http://schemas.openxmlformats.org/drawingml/2006/main">
            <a:r>
              <a:t/>
            </a:r>
          </a:p>
          <a:p xmlns:a="http://schemas.openxmlformats.org/drawingml/2006/main">
            <a:r>
              <a:t>## Logo and icon assets</a:t>
            </a:r>
          </a:p>
          <a:p xmlns:a="http://schemas.openxmlformats.org/drawingml/2006/main">
            <a:r>
              <a:t/>
            </a:r>
          </a:p>
          <a:p xmlns:a="http://schemas.openxmlformats.org/drawingml/2006/main">
            <a:r>
              <a:t>Logo files identify representative suppliers. `assets/sources.json` gives source URLs and modifications. Where whitespace was trimmed, the brand artwork is unchanged. NanoMicro uses its circular emblem alongside a separate editable English company label, keeping all visible labels English. JET uses an English brand asset from a supplier listing. Company names remain editable even when a logo is embedded. Supplier lists are examples and are not rankings or endorsements.</a:t>
            </a:r>
          </a:p>
          <a:p xmlns:a="http://schemas.openxmlformats.org/drawingml/2006/main">
            <a:r>
              <a:t/>
            </a:r>
          </a:p>
          <a:p xmlns:a="http://schemas.openxmlformats.org/drawingml/2006/main">
            <a:r>
              <a:t>Lucide icons are sourced from the project's official GitHub repository, recolored teal for the graphic and provided under the ISC license. The full license is included in `assets/icons/LICENSE`.</a:t>
            </a:r>
          </a:p>
          <a:p xmlns:a="http://schemas.openxmlformats.org/drawingml/2006/main">
            <a:r>
              <a:t/>
            </a:r>
          </a:p>
          <a:p xmlns:a="http://schemas.openxmlformats.org/drawingml/2006/main">
            <a:r>
              <a:t/>
            </a:r>
          </a:p>
          <a:p xmlns:a="http://schemas.openxmlformats.org/drawingml/2006/main">
            <a:r>
              <a:t># Supplier tickers and current BD exposure</a:t>
            </a:r>
          </a:p>
          <a:p xmlns:a="http://schemas.openxmlformats.org/drawingml/2006/main">
            <a:r>
              <a:t/>
            </a:r>
          </a:p>
          <a:p xmlns:a="http://schemas.openxmlformats.org/drawingml/2006/main">
            <a:r>
              <a:t>Updated 13 October 2026. Rows identify representative suppliers or their listed parents, not market shares or investment recommendations. China/HK and US groups refer to listing venues; they do not imply legal domicile, headquarters or pure-play exposure.</a:t>
            </a:r>
          </a:p>
          <a:p xmlns:a="http://schemas.openxmlformats.org/drawingml/2006/main">
            <a:r>
              <a:t/>
            </a:r>
          </a:p>
          <a:p xmlns:a="http://schemas.openxmlformats.org/drawingml/2006/main">
            <a:r>
              <a:t>BD (NYSE:BDX) remains relevant to specimen collection and preanalytical sample handling. Its former Biosciences and Diagnostic Solutions business, including flow cytometry, moved to Waters (NYSE:WAT) on 9 February 2026.</a:t>
            </a:r>
          </a:p>
          <a:p xmlns:a="http://schemas.openxmlformats.org/drawingml/2006/main">
            <a:r>
              <a:t/>
            </a:r>
          </a:p>
          <a:p xmlns:a="http://schemas.openxmlformats.org/drawingml/2006/main">
            <a:r>
              <a:t>- [BD completion release](https://investors.bd.com/news-events/press-releases/detail/937/bd-completes-combination-of-biosciences-diagnostic-solutions-business-with-waters-corporation)</a:t>
            </a:r>
          </a:p>
          <a:p xmlns:a="http://schemas.openxmlformats.org/drawingml/2006/main">
            <a:r>
              <a:t>- [Waters current transaction disclosure](https://www.waters.com/nextgen/us/en/about-waters/corporate-governance/legal-and-privacy-notices/bdtransaction.html)</a:t>
            </a:r>
          </a:p>
          <a:p xmlns:a="http://schemas.openxmlformats.org/drawingml/2006/main">
            <a:r>
              <a:t>- [Current BD Vacutainer portfolio](https://go.bd.com/vacutainer-product-updates-TY.html): specimen-collection / sample-management products.</a:t>
            </a:r>
          </a:p>
          <a:p xmlns:a="http://schemas.openxmlformats.org/drawingml/2006/main">
            <a:r>
              <a:t/>
            </a:r>
          </a:p>
          <a:p xmlns:a="http://schemas.openxmlformats.org/drawingml/2006/main">
            <a:r>
              <a:t>Gibco is shown with Thermo Fisher (TMO); Cytiva and HyClone with Danaher (DHR). The underlying business exposure is narrower than the parent company's total revenue. Tsingke's code 874813 is a NEEQ code, not an A-share exchange listing; its IPO application is a separate filing. Suzhou Sepax is 688758.SH; the graphic refers to the China-listed issuer's chromatography portfolio.</a:t>
            </a:r>
          </a:p>
          <a:p xmlns:a="http://schemas.openxmlformats.org/drawingml/2006/main">
            <a:r>
              <a:t/>
            </a:r>
          </a:p>
          <a:p xmlns:a="http://schemas.openxmlformats.org/drawingml/2006/main">
            <a:r>
              <a:t>| Supplier / parent | Exchange | Ticker | Product pathway | Primary listing / business source |</a:t>
            </a:r>
          </a:p>
          <a:p xmlns:a="http://schemas.openxmlformats.org/drawingml/2006/main">
            <a:r>
              <a:t>|---|---|---|---|---|</a:t>
            </a:r>
          </a:p>
          <a:p xmlns:a="http://schemas.openxmlformats.org/drawingml/2006/main">
            <a:r>
              <a:t>| GenScript | HKEX | 1548 | Molecular construction | [Source](https://www.genscript.com/genscript-biotech-demonstrates-profitable-scale-and-strategic-leadership-in-h1-2025.html) |</a:t>
            </a:r>
          </a:p>
          <a:p xmlns:a="http://schemas.openxmlformats.org/drawingml/2006/main">
            <a:r>
              <a:t>| Vazyme | SSE | 688105 | Molecular construction | [Source](https://www.vazyme.us/AboutUs/OurStrories/) |</a:t>
            </a:r>
          </a:p>
          <a:p xmlns:a="http://schemas.openxmlformats.org/drawingml/2006/main">
            <a:r>
              <a:t>| Tsingke | NEEQ | 874813 | DNA synthesis; NEEQ-listed, A-share IPO application is separate | [Source](https://static.sse.com.cn/stock/disclosure/announcement/c/202606/002233_20260630_Z9LA.pdf) |</a:t>
            </a:r>
          </a:p>
          <a:p xmlns:a="http://schemas.openxmlformats.org/drawingml/2006/main">
            <a:r>
              <a:t>| ACROBiosystems | SZSE | 301080 | Proteins / functional cells | [Source](https://www1.hkexnews.hk/app/sehk/2026/108910/documents/sehk26093002651_c.pdf) |</a:t>
            </a:r>
          </a:p>
          <a:p xmlns:a="http://schemas.openxmlformats.org/drawingml/2006/main">
            <a:r>
              <a:t>| Sino Biological | SZSE | 301047 | Research proteins / antibodies | [Source](https://disc.static.szse.cn/disc/disk03/finalpage/2026-08-26/cd4ea950-7931-4164-bcec-20c03b8236e1.PDF) |</a:t>
            </a:r>
          </a:p>
          <a:p xmlns:a="http://schemas.openxmlformats.org/drawingml/2006/main">
            <a:r>
              <a:t>| OPM Biosciences | SSE | 688293 | Cell culture media | [Source](https://opmbiosciences.com/) |</a:t>
            </a:r>
          </a:p>
          <a:p xmlns:a="http://schemas.openxmlformats.org/drawingml/2006/main">
            <a:r>
              <a:t>| JET Biofil | SSE | 688026 | Plastic laboratory consumables | [Source](https://static.cninfo.com.cn/finalpage/2026-04-30/1225255989.PDF) |</a:t>
            </a:r>
          </a:p>
          <a:p xmlns:a="http://schemas.openxmlformats.org/drawingml/2006/main">
            <a:r>
              <a:t>| Changhong | SZSE | 300151 | Life science / medical plastic consumables | [Source](https://static.cninfo.com.cn/finalpage/2025-10-30/1224764410.PDF) |</a:t>
            </a:r>
          </a:p>
          <a:p xmlns:a="http://schemas.openxmlformats.org/drawingml/2006/main">
            <a:r>
              <a:t>| MGI | SSE | 688114 | Sequencing instruments / consumables | [Source](https://static.cninfo.com.cn/finalpage/2025-04-30/1223427376.PDF) |</a:t>
            </a:r>
          </a:p>
          <a:p xmlns:a="http://schemas.openxmlformats.org/drawingml/2006/main">
            <a:r>
              <a:t>| NanoMicro | SSE | 688690 | Chromatography materials and analytical separation / purification | [Source](https://static.cninfo.com.cn/finalpage/2026-09-22/1225575593.PDF) |</a:t>
            </a:r>
          </a:p>
          <a:p xmlns:a="http://schemas.openxmlformats.org/drawingml/2006/main">
            <a:r>
              <a:t>| Suzhou Sepax | SSE | 688758 | Chromatography columns / process media | [Source](https://www.sepax-tech.com.cn/skin/default/investorpdf/%E8%8B%8F%E5%B7%9E%E8%B5%9B%E5%88%86%E7%A7%91%E6%8A%80%E8%82%A1%E4%BB%BD%E6%9C%89%E9%99%90%E5%85%AC%E5%8F%B82025%E5%B9%B4%E7%AC%AC%E4%B8%80%E6%AC%A1%E4%B8%B4%E6%97%B6%E8%82%A1%E4%B8%9C%E4%BC%9A%E4%BC%9A%E8%AE%AE%E8%B5%84%E6%96%99.pdf) |</a:t>
            </a:r>
          </a:p>
          <a:p xmlns:a="http://schemas.openxmlformats.org/drawingml/2006/main">
            <a:r>
              <a:t>| Twist Bioscience | NASDAQ | TWST | DNA synthesis | [Source](https://investors.twistbioscience.com/static-files/8c1d5bed-df6f-48d5-832f-eb2f32717c27) |</a:t>
            </a:r>
          </a:p>
          <a:p xmlns:a="http://schemas.openxmlformats.org/drawingml/2006/main">
            <a:r>
              <a:t>| Thermo Fisher / Gibco | NYSE | TMO | Molecular tools, proteins, media and instruments; parent ticker | [Source](https://ir.thermofisher.com/investors/news-events/news/news-details/2026/Thermo-Fisher-Scientific-Reports-Second-Quarter-2026-Results/) |</a:t>
            </a:r>
          </a:p>
          <a:p xmlns:a="http://schemas.openxmlformats.org/drawingml/2006/main">
            <a:r>
              <a:t>| Bio-Techne | NASDAQ | TECH | Proteins / functional assay reagents | [Source](https://investors.bio-techne.com/stock-data) |</a:t>
            </a:r>
          </a:p>
          <a:p xmlns:a="http://schemas.openxmlformats.org/drawingml/2006/main">
            <a:r>
              <a:t>| Danaher / Cytiva / HyClone | NYSE | DHR | Culture and purification; parent ticker | [Source](https://www.danaher.com/our-businesses/biotechnology) |</a:t>
            </a:r>
          </a:p>
          <a:p xmlns:a="http://schemas.openxmlformats.org/drawingml/2006/main">
            <a:r>
              <a:t>| Corning | NYSE | GLW | Laboratory plastics / cell culture | [Source](https://www.corning.com/content/dam/corning/media/worldwide/global/documents/corning_10-k_2025.pdf) |</a:t>
            </a:r>
          </a:p>
          <a:p xmlns:a="http://schemas.openxmlformats.org/drawingml/2006/main">
            <a:r>
              <a:t>| BD | NYSE | BDX | Current specimen collection / preanalytics; ex-BD flow is WAT | [Source](https://investors.bd.com/news-events/press-releases/detail/937/bd-completes-combination-of-biosciences-diagnostic-solutions-business-with-waters-corporation) |</a:t>
            </a:r>
          </a:p>
          <a:p xmlns:a="http://schemas.openxmlformats.org/drawingml/2006/main">
            <a:r>
              <a:t>| Illumina | NASDAQ | ILMN | Sequencing instruments / consumables | [Source](https://investor.illumina.com/static-files/eb129ea4-1f1a-408f-b87a-44eaee93c63d) |</a:t>
            </a:r>
          </a:p>
          <a:p xmlns:a="http://schemas.openxmlformats.org/drawingml/2006/main">
            <a:r>
              <a:t>| Agilent | NYSE | A | Chromatography / analytical instruments | [Source](https://www.investor.agilent.com/stock-info/stock-quote-and-chart/) |</a:t>
            </a:r>
          </a:p>
          <a:p xmlns:a="http://schemas.openxmlformats.org/drawingml/2006/main">
            <a:r>
              <a:t>| Waters / former BD Biosciences | NYSE | WAT | LC-MS / chromatography and ex-BD flow cytometry | [Source](https://www.waters.com/nextgen/us/en/about-waters/corporate-governance/legal-and-privacy-notices/bdtransaction.html) |</a:t>
            </a:r>
          </a:p>
          <a:p xmlns:a="http://schemas.openxmlformats.org/drawingml/2006/main">
            <a:r>
              <a:t>| Repligen | NASDAQ | RGEN | Bioprocess purification / filtration tools | [Source](https://investors.repligen.com/stock-info/default.aspx) |</a:t>
            </a:r>
          </a:p>
          <a:p xmlns:a="http://schemas.openxmlformats.org/drawingml/2006/main">
            <a:r>
              <a:t>| Tecan | SIX | TECN | Laboratory automation; Swiss-listed | [Source](https://www.tecan.com/hubfs/HubDB/Te-PrArc/180323_Tecan_KeplerCheuvreux.pdf) |</a:t>
            </a:r>
          </a:p>
          <a:p xmlns:a="http://schemas.openxmlformats.org/drawingml/2006/main">
            <a:r>
              <a:t/>
            </a:r>
          </a:p>
          <a:p xmlns:a="http://schemas.openxmlformats.org/drawingml/2006/main">
            <a:r>
              <a:t>The market anchors retain their original scope and sources. Adding a supplier does not broaden or update the displayed TAM. The labware family includes a clinical/preanalytical adjacency for BD; the displayed anchor continues to be the selected China plastic laboratory-consumables estimate. The analytics anchor remains China sequencing instruments plus consumables; it does not size flow cytometry.</a:t>
            </a:r>
          </a:p>
          <a:p xmlns:a="http://schemas.openxmlformats.org/drawingml/2006/main">
            <a:r>
              <a:t/>
            </a:r>
          </a:p>
          <a:p xmlns:a="http://schemas.openxmlformats.org/drawingml/2006/main">
            <a:r>
              <a:t>Original BD logo: https://news.bd.com/images/header-bd-logo.svg. Original company marks retain their colors; chart/UI colors use the user-supplied palette. The second RGB value was explicitly confirmed by the user as 172:212:241.</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3: How downstream demand differs</a:t>
            </a:r>
          </a:p>
          <a:p xmlns:a="http://schemas.openxmlformats.org/drawingml/2006/main">
            <a:r>
              <a:t>Evidence status: Illustrative scenario</a:t>
            </a:r>
          </a:p>
          <a:p xmlns:a="http://schemas.openxmlformats.org/drawingml/2006/main">
            <a:r>
              <a:t/>
            </a:r>
          </a:p>
          <a:p xmlns:a="http://schemas.openxmlformats.org/drawingml/2006/main">
            <a:r>
              <a:t># Sources, assumptions and market boundaries</a:t>
            </a:r>
          </a:p>
          <a:p xmlns:a="http://schemas.openxmlformats.org/drawingml/2006/main">
            <a:r>
              <a:t/>
            </a:r>
          </a:p>
          <a:p xmlns:a="http://schemas.openxmlformats.org/drawingml/2006/main">
            <a:r>
              <a:t>Research date: 12 October 2026. This package visualizes the supplied research framework and selected anchors from the preceding primary-source research. Historical industry numbers are consultant or company-cited estimates, rather than administrative census measurements.</a:t>
            </a:r>
          </a:p>
          <a:p xmlns:a="http://schemas.openxmlformats.org/drawingml/2006/main">
            <a:r>
              <a:t/>
            </a:r>
          </a:p>
          <a:p xmlns:a="http://schemas.openxmlformats.org/drawingml/2006/main">
            <a:r>
              <a:t>## Stage table and funnel</a:t>
            </a:r>
          </a:p>
          <a:p xmlns:a="http://schemas.openxmlformats.org/drawingml/2006/main">
            <a:r>
              <a:t/>
            </a:r>
          </a:p>
          <a:p xmlns:a="http://schemas.openxmlformats.org/drawingml/2006/main">
            <a:r>
              <a:t>The supplied stage table uses virtual designs ~1,000 before AI versus 100,000–1 billion in the AI scenario; physical candidates ~1,000 versus 1,000–10,000; wet-lab profiling ~50 versus an illustrative 50→500 expansion; clinical entry 1 versus 1; expected approvals ~0.14 versus unknown. These are user-supplied assumptions, not empirical cohort statistics.</a:t>
            </a:r>
          </a:p>
          <a:p xmlns:a="http://schemas.openxmlformats.org/drawingml/2006/main">
            <a:r>
              <a:t/>
            </a:r>
          </a:p>
          <a:p xmlns:a="http://schemas.openxmlformats.org/drawingml/2006/main">
            <a:r>
              <a:t>The denominator is one clinical entrant. The second reference image uses a different denominator, per approved drug; its counts are not mixed into this table. ~0.14 is an illustrative expected count, not an independently validated success probability. DNA-encoded libraries are not equivalent to fully characterized discrete candidates. Virtual design has costs and quality constraints. The diagram states a working capacity-gate hypothesis, not that design quality or clinical biology cease to matter.</a:t>
            </a:r>
          </a:p>
          <a:p xmlns:a="http://schemas.openxmlformats.org/drawingml/2006/main">
            <a:r>
              <a:t/>
            </a:r>
          </a:p>
          <a:p xmlns:a="http://schemas.openxmlformats.org/drawingml/2006/main">
            <a:r>
              <a:t>## Market anchors in the enlarged ecosystem</a:t>
            </a:r>
          </a:p>
          <a:p xmlns:a="http://schemas.openxmlformats.org/drawingml/2006/main">
            <a:r>
              <a:t/>
            </a:r>
          </a:p>
          <a:p xmlns:a="http://schemas.openxmlformats.org/drawingml/2006/main">
            <a:r>
              <a:t>| Anchor | Geography / year | Value | Scope and evidence |</a:t>
            </a:r>
          </a:p>
          <a:p xmlns:a="http://schemas.openxmlformats.org/drawingml/2006/main">
            <a:r>
              <a:t>|---|---|---|---|</a:t>
            </a:r>
          </a:p>
          <a:p xmlns:a="http://schemas.openxmlformats.org/drawingml/2006/main">
            <a:r>
              <a:t>| DNA synthesis services | China / 2025 | RMB1.33bn | Oligonucleotide RMB0.53bn + long-fragment RMB0.80bn. Midstream services only. Tsingke 2026 IPO filing, pp.156–158. [Primary filing](https://static.sse.com.cn/stock/disclosure/announcement/c/202606/002233_20260630_Z9LA.pdf). |</a:t>
            </a:r>
          </a:p>
          <a:p xmlns:a="http://schemas.openxmlformats.org/drawingml/2006/main">
            <a:r>
              <a:t>| Research-use recombinant proteins | Global / 2025 | US$3.5bn | Research use; not therapeutic protein manufacturing. China ~US$0.4bn is rounded to US$0.1bn precision. ACROBiosystems 2026 HKEX application, printed p.71 / PDF p.80. [Primary filing](https://www1.hkexnews.hk/app/sehk/2026/108910/documents/sehk26093002651_c.pdf). |</a:t>
            </a:r>
          </a:p>
          <a:p xmlns:a="http://schemas.openxmlformats.org/drawingml/2006/main">
            <a:r>
              <a:t>| Bioprocess culture media | China / 2024 | US$323.5m* | Selected media market; not all cellular tools. F&amp;S in Duoning 2026 filing, printed p.126. Excludes the COVID impact on vaccine products. [Filing URL](https://www.hkexnews.hk/app/sehk/2026/108106/documents/sehk26011800033_c.pdf). |</a:t>
            </a:r>
          </a:p>
          <a:p xmlns:a="http://schemas.openxmlformats.org/drawingml/2006/main">
            <a:r>
              <a:t>| Disposable plastic biological laboratory consumables | China / 2024 | ~RMB23bn | Includes research, clinical and industrial uses. JET Biofil 2025 annual-report summary, PDF p.6; company cites F&amp;S and industry research. Direct primary PDF rechecked on 12 Oct 2026. [Primary disclosure](https://static.cninfo.com.cn/finalpage/2026-04-30/1225255989.PDF). |</a:t>
            </a:r>
          </a:p>
          <a:p xmlns:a="http://schemas.openxmlformats.org/drawingml/2006/main">
            <a:r>
              <a:t>| Sequencing instruments and consumables | China / 2024 | RMB4.3bn | Includes clinical sequencing; not instruments alone, and not a combined LC/MS market. MGI 2024 annual report pp.41–42, citing CIC. [Primary disclosure](https://static.cninfo.com.cn/finalpage/2025-04-30/1223427376.PDF). |</a:t>
            </a:r>
          </a:p>
          <a:p xmlns:a="http://schemas.openxmlformats.org/drawingml/2006/main">
            <a:r>
              <a:t>| Bioprocess chromatography resins | China / 2024 | US$578.2m* | Biological process resins; not all analytical columns, chemical adsorption resins or purification hardware. F&amp;S in Duoning 2026 filing, printed p.132. [Filing URL](https://www.hkexnews.hk/app/sehk/2026/108106/documents/sehk26011800033_c.pdf). |</a:t>
            </a:r>
          </a:p>
          <a:p xmlns:a="http://schemas.openxmlformats.org/drawingml/2006/main">
            <a:r>
              <a:t/>
            </a:r>
          </a:p>
          <a:p xmlns:a="http://schemas.openxmlformats.org/drawingml/2006/main">
            <a:r>
              <a:t>*The Duoning figures were checked against the publicly indexed official filing during the preceding research on 9–10 October 2026. Direct PDF access now returns 404. They carry lower source-access confidence than directly downloaded filings. The 2025 values in that filing remain forecasts and are deliberately not presented as 2025 actual results here.*</a:t>
            </a:r>
          </a:p>
          <a:p xmlns:a="http://schemas.openxmlformats.org/drawingml/2006/main">
            <a:r>
              <a:t/>
            </a:r>
          </a:p>
          <a:p xmlns:a="http://schemas.openxmlformats.org/drawingml/2006/main">
            <a:r>
              <a:t>These anchors cannot be added. Their geography, currency, year and boundary differ, and tools can be used across the six product families. Each headline sizes the stated subset, not the full box. In particular, the culture-media figure is a bioprocess anchor and cannot be generalized to all research media and cell models. Automation, mass spectrometry, flow cytometry, imaging and analytical columns are shown as tool families but are not assigned an unsupported combined TAM.</a:t>
            </a:r>
          </a:p>
          <a:p xmlns:a="http://schemas.openxmlformats.org/drawingml/2006/main">
            <a:r>
              <a:t/>
            </a:r>
          </a:p>
          <a:p xmlns:a="http://schemas.openxmlformats.org/drawingml/2006/main">
            <a:r>
              <a:t>## Supporting figure 02: consistent-scope LST comparison</a:t>
            </a:r>
          </a:p>
          <a:p xmlns:a="http://schemas.openxmlformats.org/drawingml/2006/main">
            <a:r>
              <a:t/>
            </a:r>
          </a:p>
          <a:p xmlns:a="http://schemas.openxmlformats.org/drawingml/2006/main">
            <a:r>
              <a:t>The ACROBiosystems HKEX filing of 30 Sep 2026 reports 2025 global LST US$41.5bn and China US$7.7bn under its F&amp;S scope, printed p.65 / PDF p.74. Research biological reagents are global US$26.4bn and China US$4.6bn, printed p.67 / PDF p.76. The residual other-tool values are derived: 41.5−26.4 =15.1 and 7.7−4.6 =3.1, in US$bn. China/global share is 7.7÷41.5 =18.6% rounded. This scope does not reconcile automatically to broader laboratory or manufacturing markets. [Primary filing](https://www1.hkexnews.hk/app/sehk/2026/108910/documents/sehk26093002651_c.pdf).</a:t>
            </a:r>
          </a:p>
          <a:p xmlns:a="http://schemas.openxmlformats.org/drawingml/2006/main">
            <a:r>
              <a:t/>
            </a:r>
          </a:p>
          <a:p xmlns:a="http://schemas.openxmlformats.org/drawingml/2006/main">
            <a:r>
              <a:t>## Illustrative and qualitative figures</a:t>
            </a:r>
          </a:p>
          <a:p xmlns:a="http://schemas.openxmlformats.org/drawingml/2006/main">
            <a:r>
              <a:t/>
            </a:r>
          </a:p>
          <a:p xmlns:a="http://schemas.openxmlformats.org/drawingml/2006/main">
            <a:r>
              <a:t>Figure 03 uses the supplied customer mixes: reagents 30/25/15/10/20%, consumables 20/20/15/30/15%, and instruments 25/20/10/15/30%, for academia, biotech/pharma R&amp;D, CRO/CDMO, pharma-owned production and IVD development. These are illustrative purchasing shares. Hospitals are not independently modeled, and distributors are not an end-customer category.</a:t>
            </a:r>
          </a:p>
          <a:p xmlns:a="http://schemas.openxmlformats.org/drawingml/2006/main">
            <a:r>
              <a:t/>
            </a:r>
          </a:p>
          <a:p xmlns:a="http://schemas.openxmlformats.org/drawingml/2006/main">
            <a:r>
              <a:t>Figure 06 compares 100,000 tests at 100µL in 96-well plates with 1,000,000 tests at 5µL in 1,536-well plates. Reagents fall from 10L to 5L; full-plate counts are ceiling(100,000/96)=1,042 and ceiling(1,000,000/1,536)=652. Tips per test are assumed to fall from 1 to 0.1, giving 100,000 tips in both cases. Volume index 1,000; reagent index 50; plate index 62.6; tip index 100, against a baseline of 100. Dead volume, controls, retests, ASP and service spending are excluded. The two panels use different y-axis scales.</a:t>
            </a:r>
          </a:p>
          <a:p xmlns:a="http://schemas.openxmlformats.org/drawingml/2006/main">
            <a:r>
              <a:t/>
            </a:r>
          </a:p>
          <a:p xmlns:a="http://schemas.openxmlformats.org/drawingml/2006/main">
            <a:r>
              <a:t>Figure 07 uses illustrative cumulative funding pools of US$50bn, US$100bn and US$200bn. No time horizon is specified. Allocations are 30% research equipment/automation, 25% research reagents, 20% research consumables, 15% manufacturing bioprocess tools and 10% services/other. Research-use and manufacturing-use allocations are mutually exclusive. These are not realized financing, annual TAM or a company revenue forecast.</a:t>
            </a:r>
          </a:p>
          <a:p xmlns:a="http://schemas.openxmlformats.org/drawingml/2006/main">
            <a:r>
              <a:t/>
            </a:r>
          </a:p>
          <a:p xmlns:a="http://schemas.openxmlformats.org/drawingml/2006/main">
            <a:r>
              <a:t>Figures 05, 08 and 09 use qualitative analyst positions. Bubble area in figure 05 is schematic relative opportunity, not measured TAM. Axis positions and the gold emphasis on ACROBiosystems and NanoMicro are not numerical scores, stock recommendations, market-share estimates or measured AI revenue. Supply barriers do not establish a current shortage.</a:t>
            </a:r>
          </a:p>
          <a:p xmlns:a="http://schemas.openxmlformats.org/drawingml/2006/main">
            <a:r>
              <a:t/>
            </a:r>
          </a:p>
          <a:p xmlns:a="http://schemas.openxmlformats.org/drawingml/2006/main">
            <a:r>
              <a:t>Figures 04 and 10 describe a conditional mechanism: funded projects → physical experimentation → net tool consumption and purchasing → company share → profit and cash flow. AI funding announcements alone do not establish LST orders. Miniaturization, faster candidate triage, resin reuse and pricing can offset higher experiment counts.</a:t>
            </a:r>
          </a:p>
          <a:p xmlns:a="http://schemas.openxmlformats.org/drawingml/2006/main">
            <a:r>
              <a:t/>
            </a:r>
          </a:p>
          <a:p xmlns:a="http://schemas.openxmlformats.org/drawingml/2006/main">
            <a:r>
              <a:t>## Representative-company product evidence</a:t>
            </a:r>
          </a:p>
          <a:p xmlns:a="http://schemas.openxmlformats.org/drawingml/2006/main">
            <a:r>
              <a:t/>
            </a:r>
          </a:p>
          <a:p xmlns:a="http://schemas.openxmlformats.org/drawingml/2006/main">
            <a:r>
              <a:t>- [ACROBiosystems HKEX application, 30 Sep 2026](https://www1.hkexnews.hk/app/sehk/2026/108910/documents/sehk26093002651_c.pdf): Printed pp. 65, 67 and 71 (PDF pp. 74, 76, 80); defined LST scope, research reagents and recombinant proteins.</a:t>
            </a:r>
          </a:p>
          <a:p xmlns:a="http://schemas.openxmlformats.org/drawingml/2006/main">
            <a:r>
              <a:t>- [Vazyme 2024 annual report](https://static.cninfo.com.cn/finalpage/2025-04-10/1223046699.PDF): Product and business evidence; matrix positions are analyst assumptions.</a:t>
            </a:r>
          </a:p>
          <a:p xmlns:a="http://schemas.openxmlformats.org/drawingml/2006/main">
            <a:r>
              <a:t>- [ACROBiosystems filing: recombinant protein competitive landscape](https://www1.hkexnews.hk/app/sehk/2026/108910/documents/sehk26093002651_c.pdf): Product and business evidence; matrix positions are analyst assumptions.</a:t>
            </a:r>
          </a:p>
          <a:p xmlns:a="http://schemas.openxmlformats.org/drawingml/2006/main">
            <a:r>
              <a:t>- [Novoprotein official product catalog](https://www.novoprotein.com.cn/products): Product and business evidence; matrix positions are analyst assumptions.</a:t>
            </a:r>
          </a:p>
          <a:p xmlns:a="http://schemas.openxmlformats.org/drawingml/2006/main">
            <a:r>
              <a:t>- [NanoMicro 2025 annual report](https://static.cninfo.com.cn/finalpage/2026-04-16/1225107014.PDF): Product and business evidence; matrix positions are analyst assumptions.</a:t>
            </a:r>
          </a:p>
          <a:p xmlns:a="http://schemas.openxmlformats.org/drawingml/2006/main">
            <a:r>
              <a:t>- [Sepax IPO prospectus, Jan 2025](https://static.cninfo.com.cn/finalpage/2025-01-06/1222238930.PDF): Product and business evidence; matrix positions are analyst assumptions.</a:t>
            </a:r>
          </a:p>
          <a:p xmlns:a="http://schemas.openxmlformats.org/drawingml/2006/main">
            <a:r>
              <a:t>- [JET Biofil 2025 interim report](https://stockmc.xueqiu.com/202508/688026_20250830_4FZX.pdf): Product and business evidence; matrix positions are analyst assumptions.</a:t>
            </a:r>
          </a:p>
          <a:p xmlns:a="http://schemas.openxmlformats.org/drawingml/2006/main">
            <a:r>
              <a:t>- [Changhong official website](https://cn.sz-changhong.com/): Product and business evidence; matrix positions are analyst assumptions.</a:t>
            </a:r>
          </a:p>
          <a:p xmlns:a="http://schemas.openxmlformats.org/drawingml/2006/main">
            <a:r>
              <a:t>- [Bide Pharmatech official catalog](https://www.bidepharm.com/): Product and business evidence; matrix positions are analyst assumptions.</a:t>
            </a:r>
          </a:p>
          <a:p xmlns:a="http://schemas.openxmlformats.org/drawingml/2006/main">
            <a:r>
              <a:t>- [ChemExpress official website](https://www.chemexpress.com.cn/): Product and business evidence; matrix positions are analyst assumptions.</a:t>
            </a:r>
          </a:p>
          <a:p xmlns:a="http://schemas.openxmlformats.org/drawingml/2006/main">
            <a:r>
              <a:t>- [MGI 2025 annual report](https://static.cninfo.com.cn/finalpage/2026-04-25/1225194780.PDF): Product and business evidence; matrix positions are analyst assumptions.</a:t>
            </a:r>
          </a:p>
          <a:p xmlns:a="http://schemas.openxmlformats.org/drawingml/2006/main">
            <a:r>
              <a:t>- [OPM Biosciences 2025 annual report](https://pdf.dfcfw.com/pdf/H2_AN202604221821449851_1.pdf): Product and business evidence; matrix positions are analyst assumptions.</a:t>
            </a:r>
          </a:p>
          <a:p xmlns:a="http://schemas.openxmlformats.org/drawingml/2006/main">
            <a:r>
              <a:t/>
            </a:r>
          </a:p>
          <a:p xmlns:a="http://schemas.openxmlformats.org/drawingml/2006/main">
            <a:r>
              <a:t>The primary distinction in this research is product exposure: ACROBiosystems supplies recombinant proteins and assay tools used in expression and functional validation; NanoMicro supplies purification and chromatography products used in analytical/process development and manufacturing. A broad increase in virtual candidates does not establish either company's incremental orders. Manufacturing demand also depends on successful clinical translation and drug output.</a:t>
            </a:r>
          </a:p>
          <a:p xmlns:a="http://schemas.openxmlformats.org/drawingml/2006/main">
            <a:r>
              <a:t/>
            </a:r>
          </a:p>
          <a:p xmlns:a="http://schemas.openxmlformats.org/drawingml/2006/main">
            <a:r>
              <a:t>## Logo and icon assets</a:t>
            </a:r>
          </a:p>
          <a:p xmlns:a="http://schemas.openxmlformats.org/drawingml/2006/main">
            <a:r>
              <a:t/>
            </a:r>
          </a:p>
          <a:p xmlns:a="http://schemas.openxmlformats.org/drawingml/2006/main">
            <a:r>
              <a:t>Logo files identify representative suppliers. `assets/sources.json` gives source URLs and modifications. Where whitespace was trimmed, the brand artwork is unchanged. NanoMicro uses its circular emblem alongside a separate editable English company label, keeping all visible labels English. JET uses an English brand asset from a supplier listing. Company names remain editable even when a logo is embedded. Supplier lists are examples and are not rankings or endorsements.</a:t>
            </a:r>
          </a:p>
          <a:p xmlns:a="http://schemas.openxmlformats.org/drawingml/2006/main">
            <a:r>
              <a:t/>
            </a:r>
          </a:p>
          <a:p xmlns:a="http://schemas.openxmlformats.org/drawingml/2006/main">
            <a:r>
              <a:t>Lucide icons are sourced from the project's official GitHub repository, recolored teal for the graphic and provided under the ISC license. The full license is included in `assets/icons/LICENSE`.</a:t>
            </a:r>
          </a:p>
          <a:p xmlns:a="http://schemas.openxmlformats.org/drawingml/2006/main">
            <a:r>
              <a:t/>
            </a:r>
          </a:p>
          <a:p xmlns:a="http://schemas.openxmlformats.org/drawingml/2006/main">
            <a:r>
              <a:t/>
            </a:r>
          </a:p>
          <a:p xmlns:a="http://schemas.openxmlformats.org/drawingml/2006/main">
            <a:r>
              <a:t># Supplier tickers and current BD exposure</a:t>
            </a:r>
          </a:p>
          <a:p xmlns:a="http://schemas.openxmlformats.org/drawingml/2006/main">
            <a:r>
              <a:t/>
            </a:r>
          </a:p>
          <a:p xmlns:a="http://schemas.openxmlformats.org/drawingml/2006/main">
            <a:r>
              <a:t>Updated 13 October 2026. Rows identify representative suppliers or their listed parents, not market shares or investment recommendations. China/HK and US groups refer to listing venues; they do not imply legal domicile, headquarters or pure-play exposure.</a:t>
            </a:r>
          </a:p>
          <a:p xmlns:a="http://schemas.openxmlformats.org/drawingml/2006/main">
            <a:r>
              <a:t/>
            </a:r>
          </a:p>
          <a:p xmlns:a="http://schemas.openxmlformats.org/drawingml/2006/main">
            <a:r>
              <a:t>BD (NYSE:BDX) remains relevant to specimen collection and preanalytical sample handling. Its former Biosciences and Diagnostic Solutions business, including flow cytometry, moved to Waters (NYSE:WAT) on 9 February 2026.</a:t>
            </a:r>
          </a:p>
          <a:p xmlns:a="http://schemas.openxmlformats.org/drawingml/2006/main">
            <a:r>
              <a:t/>
            </a:r>
          </a:p>
          <a:p xmlns:a="http://schemas.openxmlformats.org/drawingml/2006/main">
            <a:r>
              <a:t>- [BD completion release](https://investors.bd.com/news-events/press-releases/detail/937/bd-completes-combination-of-biosciences-diagnostic-solutions-business-with-waters-corporation)</a:t>
            </a:r>
          </a:p>
          <a:p xmlns:a="http://schemas.openxmlformats.org/drawingml/2006/main">
            <a:r>
              <a:t>- [Waters current transaction disclosure](https://www.waters.com/nextgen/us/en/about-waters/corporate-governance/legal-and-privacy-notices/bdtransaction.html)</a:t>
            </a:r>
          </a:p>
          <a:p xmlns:a="http://schemas.openxmlformats.org/drawingml/2006/main">
            <a:r>
              <a:t>- [Current BD Vacutainer portfolio](https://go.bd.com/vacutainer-product-updates-TY.html): specimen-collection / sample-management products.</a:t>
            </a:r>
          </a:p>
          <a:p xmlns:a="http://schemas.openxmlformats.org/drawingml/2006/main">
            <a:r>
              <a:t/>
            </a:r>
          </a:p>
          <a:p xmlns:a="http://schemas.openxmlformats.org/drawingml/2006/main">
            <a:r>
              <a:t>Gibco is shown with Thermo Fisher (TMO); Cytiva and HyClone with Danaher (DHR). The underlying business exposure is narrower than the parent company's total revenue. Tsingke's code 874813 is a NEEQ code, not an A-share exchange listing; its IPO application is a separate filing. Suzhou Sepax is 688758.SH; the graphic refers to the China-listed issuer's chromatography portfolio.</a:t>
            </a:r>
          </a:p>
          <a:p xmlns:a="http://schemas.openxmlformats.org/drawingml/2006/main">
            <a:r>
              <a:t/>
            </a:r>
          </a:p>
          <a:p xmlns:a="http://schemas.openxmlformats.org/drawingml/2006/main">
            <a:r>
              <a:t>| Supplier / parent | Exchange | Ticker | Product pathway | Primary listing / business source |</a:t>
            </a:r>
          </a:p>
          <a:p xmlns:a="http://schemas.openxmlformats.org/drawingml/2006/main">
            <a:r>
              <a:t>|---|---|---|---|---|</a:t>
            </a:r>
          </a:p>
          <a:p xmlns:a="http://schemas.openxmlformats.org/drawingml/2006/main">
            <a:r>
              <a:t>| GenScript | HKEX | 1548 | Molecular construction | [Source](https://www.genscript.com/genscript-biotech-demonstrates-profitable-scale-and-strategic-leadership-in-h1-2025.html) |</a:t>
            </a:r>
          </a:p>
          <a:p xmlns:a="http://schemas.openxmlformats.org/drawingml/2006/main">
            <a:r>
              <a:t>| Vazyme | SSE | 688105 | Molecular construction | [Source](https://www.vazyme.us/AboutUs/OurStrories/) |</a:t>
            </a:r>
          </a:p>
          <a:p xmlns:a="http://schemas.openxmlformats.org/drawingml/2006/main">
            <a:r>
              <a:t>| Tsingke | NEEQ | 874813 | DNA synthesis; NEEQ-listed, A-share IPO application is separate | [Source](https://static.sse.com.cn/stock/disclosure/announcement/c/202606/002233_20260630_Z9LA.pdf) |</a:t>
            </a:r>
          </a:p>
          <a:p xmlns:a="http://schemas.openxmlformats.org/drawingml/2006/main">
            <a:r>
              <a:t>| ACROBiosystems | SZSE | 301080 | Proteins / functional cells | [Source](https://www1.hkexnews.hk/app/sehk/2026/108910/documents/sehk26093002651_c.pdf) |</a:t>
            </a:r>
          </a:p>
          <a:p xmlns:a="http://schemas.openxmlformats.org/drawingml/2006/main">
            <a:r>
              <a:t>| Sino Biological | SZSE | 301047 | Research proteins / antibodies | [Source](https://disc.static.szse.cn/disc/disk03/finalpage/2026-08-26/cd4ea950-7931-4164-bcec-20c03b8236e1.PDF) |</a:t>
            </a:r>
          </a:p>
          <a:p xmlns:a="http://schemas.openxmlformats.org/drawingml/2006/main">
            <a:r>
              <a:t>| OPM Biosciences | SSE | 688293 | Cell culture media | [Source](https://opmbiosciences.com/) |</a:t>
            </a:r>
          </a:p>
          <a:p xmlns:a="http://schemas.openxmlformats.org/drawingml/2006/main">
            <a:r>
              <a:t>| JET Biofil | SSE | 688026 | Plastic laboratory consumables | [Source](https://static.cninfo.com.cn/finalpage/2026-04-30/1225255989.PDF) |</a:t>
            </a:r>
          </a:p>
          <a:p xmlns:a="http://schemas.openxmlformats.org/drawingml/2006/main">
            <a:r>
              <a:t>| Changhong | SZSE | 300151 | Life science / medical plastic consumables | [Source](https://static.cninfo.com.cn/finalpage/2025-10-30/1224764410.PDF) |</a:t>
            </a:r>
          </a:p>
          <a:p xmlns:a="http://schemas.openxmlformats.org/drawingml/2006/main">
            <a:r>
              <a:t>| MGI | SSE | 688114 | Sequencing instruments / consumables | [Source](https://static.cninfo.com.cn/finalpage/2025-04-30/1223427376.PDF) |</a:t>
            </a:r>
          </a:p>
          <a:p xmlns:a="http://schemas.openxmlformats.org/drawingml/2006/main">
            <a:r>
              <a:t>| NanoMicro | SSE | 688690 | Chromatography materials and analytical separation / purification | [Source](https://static.cninfo.com.cn/finalpage/2026-09-22/1225575593.PDF) |</a:t>
            </a:r>
          </a:p>
          <a:p xmlns:a="http://schemas.openxmlformats.org/drawingml/2006/main">
            <a:r>
              <a:t>| Suzhou Sepax | SSE | 688758 | Chromatography columns / process media | [Source](https://www.sepax-tech.com.cn/skin/default/investorpdf/%E8%8B%8F%E5%B7%9E%E8%B5%9B%E5%88%86%E7%A7%91%E6%8A%80%E8%82%A1%E4%BB%BD%E6%9C%89%E9%99%90%E5%85%AC%E5%8F%B82025%E5%B9%B4%E7%AC%AC%E4%B8%80%E6%AC%A1%E4%B8%B4%E6%97%B6%E8%82%A1%E4%B8%9C%E4%BC%9A%E4%BC%9A%E8%AE%AE%E8%B5%84%E6%96%99.pdf) |</a:t>
            </a:r>
          </a:p>
          <a:p xmlns:a="http://schemas.openxmlformats.org/drawingml/2006/main">
            <a:r>
              <a:t>| Twist Bioscience | NASDAQ | TWST | DNA synthesis | [Source](https://investors.twistbioscience.com/static-files/8c1d5bed-df6f-48d5-832f-eb2f32717c27) |</a:t>
            </a:r>
          </a:p>
          <a:p xmlns:a="http://schemas.openxmlformats.org/drawingml/2006/main">
            <a:r>
              <a:t>| Thermo Fisher / Gibco | NYSE | TMO | Molecular tools, proteins, media and instruments; parent ticker | [Source](https://ir.thermofisher.com/investors/news-events/news/news-details/2026/Thermo-Fisher-Scientific-Reports-Second-Quarter-2026-Results/) |</a:t>
            </a:r>
          </a:p>
          <a:p xmlns:a="http://schemas.openxmlformats.org/drawingml/2006/main">
            <a:r>
              <a:t>| Bio-Techne | NASDAQ | TECH | Proteins / functional assay reagents | [Source](https://investors.bio-techne.com/stock-data) |</a:t>
            </a:r>
          </a:p>
          <a:p xmlns:a="http://schemas.openxmlformats.org/drawingml/2006/main">
            <a:r>
              <a:t>| Danaher / Cytiva / HyClone | NYSE | DHR | Culture and purification; parent ticker | [Source](https://www.danaher.com/our-businesses/biotechnology) |</a:t>
            </a:r>
          </a:p>
          <a:p xmlns:a="http://schemas.openxmlformats.org/drawingml/2006/main">
            <a:r>
              <a:t>| Corning | NYSE | GLW | Laboratory plastics / cell culture | [Source](https://www.corning.com/content/dam/corning/media/worldwide/global/documents/corning_10-k_2025.pdf) |</a:t>
            </a:r>
          </a:p>
          <a:p xmlns:a="http://schemas.openxmlformats.org/drawingml/2006/main">
            <a:r>
              <a:t>| BD | NYSE | BDX | Current specimen collection / preanalytics; ex-BD flow is WAT | [Source](https://investors.bd.com/news-events/press-releases/detail/937/bd-completes-combination-of-biosciences-diagnostic-solutions-business-with-waters-corporation) |</a:t>
            </a:r>
          </a:p>
          <a:p xmlns:a="http://schemas.openxmlformats.org/drawingml/2006/main">
            <a:r>
              <a:t>| Illumina | NASDAQ | ILMN | Sequencing instruments / consumables | [Source](https://investor.illumina.com/static-files/eb129ea4-1f1a-408f-b87a-44eaee93c63d) |</a:t>
            </a:r>
          </a:p>
          <a:p xmlns:a="http://schemas.openxmlformats.org/drawingml/2006/main">
            <a:r>
              <a:t>| Agilent | NYSE | A | Chromatography / analytical instruments | [Source](https://www.investor.agilent.com/stock-info/stock-quote-and-chart/) |</a:t>
            </a:r>
          </a:p>
          <a:p xmlns:a="http://schemas.openxmlformats.org/drawingml/2006/main">
            <a:r>
              <a:t>| Waters / former BD Biosciences | NYSE | WAT | LC-MS / chromatography and ex-BD flow cytometry | [Source](https://www.waters.com/nextgen/us/en/about-waters/corporate-governance/legal-and-privacy-notices/bdtransaction.html) |</a:t>
            </a:r>
          </a:p>
          <a:p xmlns:a="http://schemas.openxmlformats.org/drawingml/2006/main">
            <a:r>
              <a:t>| Repligen | NASDAQ | RGEN | Bioprocess purification / filtration tools | [Source](https://investors.repligen.com/stock-info/default.aspx) |</a:t>
            </a:r>
          </a:p>
          <a:p xmlns:a="http://schemas.openxmlformats.org/drawingml/2006/main">
            <a:r>
              <a:t>| Tecan | SIX | TECN | Laboratory automation; Swiss-listed | [Source](https://www.tecan.com/hubfs/HubDB/Te-PrArc/180323_Tecan_KeplerCheuvreux.pdf) |</a:t>
            </a:r>
          </a:p>
          <a:p xmlns:a="http://schemas.openxmlformats.org/drawingml/2006/main">
            <a:r>
              <a:t/>
            </a:r>
          </a:p>
          <a:p xmlns:a="http://schemas.openxmlformats.org/drawingml/2006/main">
            <a:r>
              <a:t>The market anchors retain their original scope and sources. Adding a supplier does not broaden or update the displayed TAM. The labware family includes a clinical/preanalytical adjacency for BD; the displayed anchor continues to be the selected China plastic laboratory-consumables estimate. The analytics anchor remains China sequencing instruments plus consumables; it does not size flow cytometry.</a:t>
            </a:r>
          </a:p>
          <a:p xmlns:a="http://schemas.openxmlformats.org/drawingml/2006/main">
            <a:r>
              <a:t/>
            </a:r>
          </a:p>
          <a:p xmlns:a="http://schemas.openxmlformats.org/drawingml/2006/main">
            <a:r>
              <a:t>Original BD logo: https://news.bd.com/images/header-bd-logo.svg. Original company marks retain their colors; chart/UI colors use the user-supplied palette. The second RGB value was explicitly confirmed by the user as 172:212:241.</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4: AI discovery and its LST touchpoints</a:t>
            </a:r>
          </a:p>
          <a:p xmlns:a="http://schemas.openxmlformats.org/drawingml/2006/main">
            <a:r>
              <a:t>Evidence status: Research hypothesis</a:t>
            </a:r>
          </a:p>
          <a:p xmlns:a="http://schemas.openxmlformats.org/drawingml/2006/main">
            <a:r>
              <a:t/>
            </a:r>
          </a:p>
          <a:p xmlns:a="http://schemas.openxmlformats.org/drawingml/2006/main">
            <a:r>
              <a:t># Sources, assumptions and market boundaries</a:t>
            </a:r>
          </a:p>
          <a:p xmlns:a="http://schemas.openxmlformats.org/drawingml/2006/main">
            <a:r>
              <a:t/>
            </a:r>
          </a:p>
          <a:p xmlns:a="http://schemas.openxmlformats.org/drawingml/2006/main">
            <a:r>
              <a:t>Research date: 12 October 2026. This package visualizes the supplied research framework and selected anchors from the preceding primary-source research. Historical industry numbers are consultant or company-cited estimates, rather than administrative census measurements.</a:t>
            </a:r>
          </a:p>
          <a:p xmlns:a="http://schemas.openxmlformats.org/drawingml/2006/main">
            <a:r>
              <a:t/>
            </a:r>
          </a:p>
          <a:p xmlns:a="http://schemas.openxmlformats.org/drawingml/2006/main">
            <a:r>
              <a:t>## Stage table and funnel</a:t>
            </a:r>
          </a:p>
          <a:p xmlns:a="http://schemas.openxmlformats.org/drawingml/2006/main">
            <a:r>
              <a:t/>
            </a:r>
          </a:p>
          <a:p xmlns:a="http://schemas.openxmlformats.org/drawingml/2006/main">
            <a:r>
              <a:t>The supplied stage table uses virtual designs ~1,000 before AI versus 100,000–1 billion in the AI scenario; physical candidates ~1,000 versus 1,000–10,000; wet-lab profiling ~50 versus an illustrative 50→500 expansion; clinical entry 1 versus 1; expected approvals ~0.14 versus unknown. These are user-supplied assumptions, not empirical cohort statistics.</a:t>
            </a:r>
          </a:p>
          <a:p xmlns:a="http://schemas.openxmlformats.org/drawingml/2006/main">
            <a:r>
              <a:t/>
            </a:r>
          </a:p>
          <a:p xmlns:a="http://schemas.openxmlformats.org/drawingml/2006/main">
            <a:r>
              <a:t>The denominator is one clinical entrant. The second reference image uses a different denominator, per approved drug; its counts are not mixed into this table. ~0.14 is an illustrative expected count, not an independently validated success probability. DNA-encoded libraries are not equivalent to fully characterized discrete candidates. Virtual design has costs and quality constraints. The diagram states a working capacity-gate hypothesis, not that design quality or clinical biology cease to matter.</a:t>
            </a:r>
          </a:p>
          <a:p xmlns:a="http://schemas.openxmlformats.org/drawingml/2006/main">
            <a:r>
              <a:t/>
            </a:r>
          </a:p>
          <a:p xmlns:a="http://schemas.openxmlformats.org/drawingml/2006/main">
            <a:r>
              <a:t>## Market anchors in the enlarged ecosystem</a:t>
            </a:r>
          </a:p>
          <a:p xmlns:a="http://schemas.openxmlformats.org/drawingml/2006/main">
            <a:r>
              <a:t/>
            </a:r>
          </a:p>
          <a:p xmlns:a="http://schemas.openxmlformats.org/drawingml/2006/main">
            <a:r>
              <a:t>| Anchor | Geography / year | Value | Scope and evidence |</a:t>
            </a:r>
          </a:p>
          <a:p xmlns:a="http://schemas.openxmlformats.org/drawingml/2006/main">
            <a:r>
              <a:t>|---|---|---|---|</a:t>
            </a:r>
          </a:p>
          <a:p xmlns:a="http://schemas.openxmlformats.org/drawingml/2006/main">
            <a:r>
              <a:t>| DNA synthesis services | China / 2025 | RMB1.33bn | Oligonucleotide RMB0.53bn + long-fragment RMB0.80bn. Midstream services only. Tsingke 2026 IPO filing, pp.156–158. [Primary filing](https://static.sse.com.cn/stock/disclosure/announcement/c/202606/002233_20260630_Z9LA.pdf). |</a:t>
            </a:r>
          </a:p>
          <a:p xmlns:a="http://schemas.openxmlformats.org/drawingml/2006/main">
            <a:r>
              <a:t>| Research-use recombinant proteins | Global / 2025 | US$3.5bn | Research use; not therapeutic protein manufacturing. China ~US$0.4bn is rounded to US$0.1bn precision. ACROBiosystems 2026 HKEX application, printed p.71 / PDF p.80. [Primary filing](https://www1.hkexnews.hk/app/sehk/2026/108910/documents/sehk26093002651_c.pdf). |</a:t>
            </a:r>
          </a:p>
          <a:p xmlns:a="http://schemas.openxmlformats.org/drawingml/2006/main">
            <a:r>
              <a:t>| Bioprocess culture media | China / 2024 | US$323.5m* | Selected media market; not all cellular tools. F&amp;S in Duoning 2026 filing, printed p.126. Excludes the COVID impact on vaccine products. [Filing URL](https://www.hkexnews.hk/app/sehk/2026/108106/documents/sehk26011800033_c.pdf). |</a:t>
            </a:r>
          </a:p>
          <a:p xmlns:a="http://schemas.openxmlformats.org/drawingml/2006/main">
            <a:r>
              <a:t>| Disposable plastic biological laboratory consumables | China / 2024 | ~RMB23bn | Includes research, clinical and industrial uses. JET Biofil 2025 annual-report summary, PDF p.6; company cites F&amp;S and industry research. Direct primary PDF rechecked on 12 Oct 2026. [Primary disclosure](https://static.cninfo.com.cn/finalpage/2026-04-30/1225255989.PDF). |</a:t>
            </a:r>
          </a:p>
          <a:p xmlns:a="http://schemas.openxmlformats.org/drawingml/2006/main">
            <a:r>
              <a:t>| Sequencing instruments and consumables | China / 2024 | RMB4.3bn | Includes clinical sequencing; not instruments alone, and not a combined LC/MS market. MGI 2024 annual report pp.41–42, citing CIC. [Primary disclosure](https://static.cninfo.com.cn/finalpage/2025-04-30/1223427376.PDF). |</a:t>
            </a:r>
          </a:p>
          <a:p xmlns:a="http://schemas.openxmlformats.org/drawingml/2006/main">
            <a:r>
              <a:t>| Bioprocess chromatography resins | China / 2024 | US$578.2m* | Biological process resins; not all analytical columns, chemical adsorption resins or purification hardware. F&amp;S in Duoning 2026 filing, printed p.132. [Filing URL](https://www.hkexnews.hk/app/sehk/2026/108106/documents/sehk26011800033_c.pdf). |</a:t>
            </a:r>
          </a:p>
          <a:p xmlns:a="http://schemas.openxmlformats.org/drawingml/2006/main">
            <a:r>
              <a:t/>
            </a:r>
          </a:p>
          <a:p xmlns:a="http://schemas.openxmlformats.org/drawingml/2006/main">
            <a:r>
              <a:t>*The Duoning figures were checked against the publicly indexed official filing during the preceding research on 9–10 October 2026. Direct PDF access now returns 404. They carry lower source-access confidence than directly downloaded filings. The 2025 values in that filing remain forecasts and are deliberately not presented as 2025 actual results here.*</a:t>
            </a:r>
          </a:p>
          <a:p xmlns:a="http://schemas.openxmlformats.org/drawingml/2006/main">
            <a:r>
              <a:t/>
            </a:r>
          </a:p>
          <a:p xmlns:a="http://schemas.openxmlformats.org/drawingml/2006/main">
            <a:r>
              <a:t>These anchors cannot be added. Their geography, currency, year and boundary differ, and tools can be used across the six product families. Each headline sizes the stated subset, not the full box. In particular, the culture-media figure is a bioprocess anchor and cannot be generalized to all research media and cell models. Automation, mass spectrometry, flow cytometry, imaging and analytical columns are shown as tool families but are not assigned an unsupported combined TAM.</a:t>
            </a:r>
          </a:p>
          <a:p xmlns:a="http://schemas.openxmlformats.org/drawingml/2006/main">
            <a:r>
              <a:t/>
            </a:r>
          </a:p>
          <a:p xmlns:a="http://schemas.openxmlformats.org/drawingml/2006/main">
            <a:r>
              <a:t>## Supporting figure 02: consistent-scope LST comparison</a:t>
            </a:r>
          </a:p>
          <a:p xmlns:a="http://schemas.openxmlformats.org/drawingml/2006/main">
            <a:r>
              <a:t/>
            </a:r>
          </a:p>
          <a:p xmlns:a="http://schemas.openxmlformats.org/drawingml/2006/main">
            <a:r>
              <a:t>The ACROBiosystems HKEX filing of 30 Sep 2026 reports 2025 global LST US$41.5bn and China US$7.7bn under its F&amp;S scope, printed p.65 / PDF p.74. Research biological reagents are global US$26.4bn and China US$4.6bn, printed p.67 / PDF p.76. The residual other-tool values are derived: 41.5−26.4 =15.1 and 7.7−4.6 =3.1, in US$bn. China/global share is 7.7÷41.5 =18.6% rounded. This scope does not reconcile automatically to broader laboratory or manufacturing markets. [Primary filing](https://www1.hkexnews.hk/app/sehk/2026/108910/documents/sehk26093002651_c.pdf).</a:t>
            </a:r>
          </a:p>
          <a:p xmlns:a="http://schemas.openxmlformats.org/drawingml/2006/main">
            <a:r>
              <a:t/>
            </a:r>
          </a:p>
          <a:p xmlns:a="http://schemas.openxmlformats.org/drawingml/2006/main">
            <a:r>
              <a:t>## Illustrative and qualitative figures</a:t>
            </a:r>
          </a:p>
          <a:p xmlns:a="http://schemas.openxmlformats.org/drawingml/2006/main">
            <a:r>
              <a:t/>
            </a:r>
          </a:p>
          <a:p xmlns:a="http://schemas.openxmlformats.org/drawingml/2006/main">
            <a:r>
              <a:t>Figure 03 uses the supplied customer mixes: reagents 30/25/15/10/20%, consumables 20/20/15/30/15%, and instruments 25/20/10/15/30%, for academia, biotech/pharma R&amp;D, CRO/CDMO, pharma-owned production and IVD development. These are illustrative purchasing shares. Hospitals are not independently modeled, and distributors are not an end-customer category.</a:t>
            </a:r>
          </a:p>
          <a:p xmlns:a="http://schemas.openxmlformats.org/drawingml/2006/main">
            <a:r>
              <a:t/>
            </a:r>
          </a:p>
          <a:p xmlns:a="http://schemas.openxmlformats.org/drawingml/2006/main">
            <a:r>
              <a:t>Figure 06 compares 100,000 tests at 100µL in 96-well plates with 1,000,000 tests at 5µL in 1,536-well plates. Reagents fall from 10L to 5L; full-plate counts are ceiling(100,000/96)=1,042 and ceiling(1,000,000/1,536)=652. Tips per test are assumed to fall from 1 to 0.1, giving 100,000 tips in both cases. Volume index 1,000; reagent index 50; plate index 62.6; tip index 100, against a baseline of 100. Dead volume, controls, retests, ASP and service spending are excluded. The two panels use different y-axis scales.</a:t>
            </a:r>
          </a:p>
          <a:p xmlns:a="http://schemas.openxmlformats.org/drawingml/2006/main">
            <a:r>
              <a:t/>
            </a:r>
          </a:p>
          <a:p xmlns:a="http://schemas.openxmlformats.org/drawingml/2006/main">
            <a:r>
              <a:t>Figure 07 uses illustrative cumulative funding pools of US$50bn, US$100bn and US$200bn. No time horizon is specified. Allocations are 30% research equipment/automation, 25% research reagents, 20% research consumables, 15% manufacturing bioprocess tools and 10% services/other. Research-use and manufacturing-use allocations are mutually exclusive. These are not realized financing, annual TAM or a company revenue forecast.</a:t>
            </a:r>
          </a:p>
          <a:p xmlns:a="http://schemas.openxmlformats.org/drawingml/2006/main">
            <a:r>
              <a:t/>
            </a:r>
          </a:p>
          <a:p xmlns:a="http://schemas.openxmlformats.org/drawingml/2006/main">
            <a:r>
              <a:t>Figures 05, 08 and 09 use qualitative analyst positions. Bubble area in figure 05 is schematic relative opportunity, not measured TAM. Axis positions and the gold emphasis on ACROBiosystems and NanoMicro are not numerical scores, stock recommendations, market-share estimates or measured AI revenue. Supply barriers do not establish a current shortage.</a:t>
            </a:r>
          </a:p>
          <a:p xmlns:a="http://schemas.openxmlformats.org/drawingml/2006/main">
            <a:r>
              <a:t/>
            </a:r>
          </a:p>
          <a:p xmlns:a="http://schemas.openxmlformats.org/drawingml/2006/main">
            <a:r>
              <a:t>Figures 04 and 10 describe a conditional mechanism: funded projects → physical experimentation → net tool consumption and purchasing → company share → profit and cash flow. AI funding announcements alone do not establish LST orders. Miniaturization, faster candidate triage, resin reuse and pricing can offset higher experiment counts.</a:t>
            </a:r>
          </a:p>
          <a:p xmlns:a="http://schemas.openxmlformats.org/drawingml/2006/main">
            <a:r>
              <a:t/>
            </a:r>
          </a:p>
          <a:p xmlns:a="http://schemas.openxmlformats.org/drawingml/2006/main">
            <a:r>
              <a:t>## Representative-company product evidence</a:t>
            </a:r>
          </a:p>
          <a:p xmlns:a="http://schemas.openxmlformats.org/drawingml/2006/main">
            <a:r>
              <a:t/>
            </a:r>
          </a:p>
          <a:p xmlns:a="http://schemas.openxmlformats.org/drawingml/2006/main">
            <a:r>
              <a:t>- [ACROBiosystems HKEX application, 30 Sep 2026](https://www1.hkexnews.hk/app/sehk/2026/108910/documents/sehk26093002651_c.pdf): Printed pp. 65, 67 and 71 (PDF pp. 74, 76, 80); defined LST scope, research reagents and recombinant proteins.</a:t>
            </a:r>
          </a:p>
          <a:p xmlns:a="http://schemas.openxmlformats.org/drawingml/2006/main">
            <a:r>
              <a:t>- [Vazyme 2024 annual report](https://static.cninfo.com.cn/finalpage/2025-04-10/1223046699.PDF): Product and business evidence; matrix positions are analyst assumptions.</a:t>
            </a:r>
          </a:p>
          <a:p xmlns:a="http://schemas.openxmlformats.org/drawingml/2006/main">
            <a:r>
              <a:t>- [ACROBiosystems filing: recombinant protein competitive landscape](https://www1.hkexnews.hk/app/sehk/2026/108910/documents/sehk26093002651_c.pdf): Product and business evidence; matrix positions are analyst assumptions.</a:t>
            </a:r>
          </a:p>
          <a:p xmlns:a="http://schemas.openxmlformats.org/drawingml/2006/main">
            <a:r>
              <a:t>- [Novoprotein official product catalog](https://www.novoprotein.com.cn/products): Product and business evidence; matrix positions are analyst assumptions.</a:t>
            </a:r>
          </a:p>
          <a:p xmlns:a="http://schemas.openxmlformats.org/drawingml/2006/main">
            <a:r>
              <a:t>- [NanoMicro 2025 annual report](https://static.cninfo.com.cn/finalpage/2026-04-16/1225107014.PDF): Product and business evidence; matrix positions are analyst assumptions.</a:t>
            </a:r>
          </a:p>
          <a:p xmlns:a="http://schemas.openxmlformats.org/drawingml/2006/main">
            <a:r>
              <a:t>- [Sepax IPO prospectus, Jan 2025](https://static.cninfo.com.cn/finalpage/2025-01-06/1222238930.PDF): Product and business evidence; matrix positions are analyst assumptions.</a:t>
            </a:r>
          </a:p>
          <a:p xmlns:a="http://schemas.openxmlformats.org/drawingml/2006/main">
            <a:r>
              <a:t>- [JET Biofil 2025 interim report](https://stockmc.xueqiu.com/202508/688026_20250830_4FZX.pdf): Product and business evidence; matrix positions are analyst assumptions.</a:t>
            </a:r>
          </a:p>
          <a:p xmlns:a="http://schemas.openxmlformats.org/drawingml/2006/main">
            <a:r>
              <a:t>- [Changhong official website](https://cn.sz-changhong.com/): Product and business evidence; matrix positions are analyst assumptions.</a:t>
            </a:r>
          </a:p>
          <a:p xmlns:a="http://schemas.openxmlformats.org/drawingml/2006/main">
            <a:r>
              <a:t>- [Bide Pharmatech official catalog](https://www.bidepharm.com/): Product and business evidence; matrix positions are analyst assumptions.</a:t>
            </a:r>
          </a:p>
          <a:p xmlns:a="http://schemas.openxmlformats.org/drawingml/2006/main">
            <a:r>
              <a:t>- [ChemExpress official website](https://www.chemexpress.com.cn/): Product and business evidence; matrix positions are analyst assumptions.</a:t>
            </a:r>
          </a:p>
          <a:p xmlns:a="http://schemas.openxmlformats.org/drawingml/2006/main">
            <a:r>
              <a:t>- [MGI 2025 annual report](https://static.cninfo.com.cn/finalpage/2026-04-25/1225194780.PDF): Product and business evidence; matrix positions are analyst assumptions.</a:t>
            </a:r>
          </a:p>
          <a:p xmlns:a="http://schemas.openxmlformats.org/drawingml/2006/main">
            <a:r>
              <a:t>- [OPM Biosciences 2025 annual report](https://pdf.dfcfw.com/pdf/H2_AN202604221821449851_1.pdf): Product and business evidence; matrix positions are analyst assumptions.</a:t>
            </a:r>
          </a:p>
          <a:p xmlns:a="http://schemas.openxmlformats.org/drawingml/2006/main">
            <a:r>
              <a:t/>
            </a:r>
          </a:p>
          <a:p xmlns:a="http://schemas.openxmlformats.org/drawingml/2006/main">
            <a:r>
              <a:t>The primary distinction in this research is product exposure: ACROBiosystems supplies recombinant proteins and assay tools used in expression and functional validation; NanoMicro supplies purification and chromatography products used in analytical/process development and manufacturing. A broad increase in virtual candidates does not establish either company's incremental orders. Manufacturing demand also depends on successful clinical translation and drug output.</a:t>
            </a:r>
          </a:p>
          <a:p xmlns:a="http://schemas.openxmlformats.org/drawingml/2006/main">
            <a:r>
              <a:t/>
            </a:r>
          </a:p>
          <a:p xmlns:a="http://schemas.openxmlformats.org/drawingml/2006/main">
            <a:r>
              <a:t>## Logo and icon assets</a:t>
            </a:r>
          </a:p>
          <a:p xmlns:a="http://schemas.openxmlformats.org/drawingml/2006/main">
            <a:r>
              <a:t/>
            </a:r>
          </a:p>
          <a:p xmlns:a="http://schemas.openxmlformats.org/drawingml/2006/main">
            <a:r>
              <a:t>Logo files identify representative suppliers. `assets/sources.json` gives source URLs and modifications. Where whitespace was trimmed, the brand artwork is unchanged. NanoMicro uses its circular emblem alongside a separate editable English company label, keeping all visible labels English. JET uses an English brand asset from a supplier listing. Company names remain editable even when a logo is embedded. Supplier lists are examples and are not rankings or endorsements.</a:t>
            </a:r>
          </a:p>
          <a:p xmlns:a="http://schemas.openxmlformats.org/drawingml/2006/main">
            <a:r>
              <a:t/>
            </a:r>
          </a:p>
          <a:p xmlns:a="http://schemas.openxmlformats.org/drawingml/2006/main">
            <a:r>
              <a:t>Lucide icons are sourced from the project's official GitHub repository, recolored teal for the graphic and provided under the ISC license. The full license is included in `assets/icons/LICENSE`.</a:t>
            </a:r>
          </a:p>
          <a:p xmlns:a="http://schemas.openxmlformats.org/drawingml/2006/main">
            <a:r>
              <a:t/>
            </a:r>
          </a:p>
          <a:p xmlns:a="http://schemas.openxmlformats.org/drawingml/2006/main">
            <a:r>
              <a:t/>
            </a:r>
          </a:p>
          <a:p xmlns:a="http://schemas.openxmlformats.org/drawingml/2006/main">
            <a:r>
              <a:t># Supplier tickers and current BD exposure</a:t>
            </a:r>
          </a:p>
          <a:p xmlns:a="http://schemas.openxmlformats.org/drawingml/2006/main">
            <a:r>
              <a:t/>
            </a:r>
          </a:p>
          <a:p xmlns:a="http://schemas.openxmlformats.org/drawingml/2006/main">
            <a:r>
              <a:t>Updated 13 October 2026. Rows identify representative suppliers or their listed parents, not market shares or investment recommendations. China/HK and US groups refer to listing venues; they do not imply legal domicile, headquarters or pure-play exposure.</a:t>
            </a:r>
          </a:p>
          <a:p xmlns:a="http://schemas.openxmlformats.org/drawingml/2006/main">
            <a:r>
              <a:t/>
            </a:r>
          </a:p>
          <a:p xmlns:a="http://schemas.openxmlformats.org/drawingml/2006/main">
            <a:r>
              <a:t>BD (NYSE:BDX) remains relevant to specimen collection and preanalytical sample handling. Its former Biosciences and Diagnostic Solutions business, including flow cytometry, moved to Waters (NYSE:WAT) on 9 February 2026.</a:t>
            </a:r>
          </a:p>
          <a:p xmlns:a="http://schemas.openxmlformats.org/drawingml/2006/main">
            <a:r>
              <a:t/>
            </a:r>
          </a:p>
          <a:p xmlns:a="http://schemas.openxmlformats.org/drawingml/2006/main">
            <a:r>
              <a:t>- [BD completion release](https://investors.bd.com/news-events/press-releases/detail/937/bd-completes-combination-of-biosciences-diagnostic-solutions-business-with-waters-corporation)</a:t>
            </a:r>
          </a:p>
          <a:p xmlns:a="http://schemas.openxmlformats.org/drawingml/2006/main">
            <a:r>
              <a:t>- [Waters current transaction disclosure](https://www.waters.com/nextgen/us/en/about-waters/corporate-governance/legal-and-privacy-notices/bdtransaction.html)</a:t>
            </a:r>
          </a:p>
          <a:p xmlns:a="http://schemas.openxmlformats.org/drawingml/2006/main">
            <a:r>
              <a:t>- [Current BD Vacutainer portfolio](https://go.bd.com/vacutainer-product-updates-TY.html): specimen-collection / sample-management products.</a:t>
            </a:r>
          </a:p>
          <a:p xmlns:a="http://schemas.openxmlformats.org/drawingml/2006/main">
            <a:r>
              <a:t/>
            </a:r>
          </a:p>
          <a:p xmlns:a="http://schemas.openxmlformats.org/drawingml/2006/main">
            <a:r>
              <a:t>Gibco is shown with Thermo Fisher (TMO); Cytiva and HyClone with Danaher (DHR). The underlying business exposure is narrower than the parent company's total revenue. Tsingke's code 874813 is a NEEQ code, not an A-share exchange listing; its IPO application is a separate filing. Suzhou Sepax is 688758.SH; the graphic refers to the China-listed issuer's chromatography portfolio.</a:t>
            </a:r>
          </a:p>
          <a:p xmlns:a="http://schemas.openxmlformats.org/drawingml/2006/main">
            <a:r>
              <a:t/>
            </a:r>
          </a:p>
          <a:p xmlns:a="http://schemas.openxmlformats.org/drawingml/2006/main">
            <a:r>
              <a:t>| Supplier / parent | Exchange | Ticker | Product pathway | Primary listing / business source |</a:t>
            </a:r>
          </a:p>
          <a:p xmlns:a="http://schemas.openxmlformats.org/drawingml/2006/main">
            <a:r>
              <a:t>|---|---|---|---|---|</a:t>
            </a:r>
          </a:p>
          <a:p xmlns:a="http://schemas.openxmlformats.org/drawingml/2006/main">
            <a:r>
              <a:t>| GenScript | HKEX | 1548 | Molecular construction | [Source](https://www.genscript.com/genscript-biotech-demonstrates-profitable-scale-and-strategic-leadership-in-h1-2025.html) |</a:t>
            </a:r>
          </a:p>
          <a:p xmlns:a="http://schemas.openxmlformats.org/drawingml/2006/main">
            <a:r>
              <a:t>| Vazyme | SSE | 688105 | Molecular construction | [Source](https://www.vazyme.us/AboutUs/OurStrories/) |</a:t>
            </a:r>
          </a:p>
          <a:p xmlns:a="http://schemas.openxmlformats.org/drawingml/2006/main">
            <a:r>
              <a:t>| Tsingke | NEEQ | 874813 | DNA synthesis; NEEQ-listed, A-share IPO application is separate | [Source](https://static.sse.com.cn/stock/disclosure/announcement/c/202606/002233_20260630_Z9LA.pdf) |</a:t>
            </a:r>
          </a:p>
          <a:p xmlns:a="http://schemas.openxmlformats.org/drawingml/2006/main">
            <a:r>
              <a:t>| ACROBiosystems | SZSE | 301080 | Proteins / functional cells | [Source](https://www1.hkexnews.hk/app/sehk/2026/108910/documents/sehk26093002651_c.pdf) |</a:t>
            </a:r>
          </a:p>
          <a:p xmlns:a="http://schemas.openxmlformats.org/drawingml/2006/main">
            <a:r>
              <a:t>| Sino Biological | SZSE | 301047 | Research proteins / antibodies | [Source](https://disc.static.szse.cn/disc/disk03/finalpage/2026-08-26/cd4ea950-7931-4164-bcec-20c03b8236e1.PDF) |</a:t>
            </a:r>
          </a:p>
          <a:p xmlns:a="http://schemas.openxmlformats.org/drawingml/2006/main">
            <a:r>
              <a:t>| OPM Biosciences | SSE | 688293 | Cell culture media | [Source](https://opmbiosciences.com/) |</a:t>
            </a:r>
          </a:p>
          <a:p xmlns:a="http://schemas.openxmlformats.org/drawingml/2006/main">
            <a:r>
              <a:t>| JET Biofil | SSE | 688026 | Plastic laboratory consumables | [Source](https://static.cninfo.com.cn/finalpage/2026-04-30/1225255989.PDF) |</a:t>
            </a:r>
          </a:p>
          <a:p xmlns:a="http://schemas.openxmlformats.org/drawingml/2006/main">
            <a:r>
              <a:t>| Changhong | SZSE | 300151 | Life science / medical plastic consumables | [Source](https://static.cninfo.com.cn/finalpage/2025-10-30/1224764410.PDF) |</a:t>
            </a:r>
          </a:p>
          <a:p xmlns:a="http://schemas.openxmlformats.org/drawingml/2006/main">
            <a:r>
              <a:t>| MGI | SSE | 688114 | Sequencing instruments / consumables | [Source](https://static.cninfo.com.cn/finalpage/2025-04-30/1223427376.PDF) |</a:t>
            </a:r>
          </a:p>
          <a:p xmlns:a="http://schemas.openxmlformats.org/drawingml/2006/main">
            <a:r>
              <a:t>| NanoMicro | SSE | 688690 | Chromatography materials and analytical separation / purification | [Source](https://static.cninfo.com.cn/finalpage/2026-09-22/1225575593.PDF) |</a:t>
            </a:r>
          </a:p>
          <a:p xmlns:a="http://schemas.openxmlformats.org/drawingml/2006/main">
            <a:r>
              <a:t>| Suzhou Sepax | SSE | 688758 | Chromatography columns / process media | [Source](https://www.sepax-tech.com.cn/skin/default/investorpdf/%E8%8B%8F%E5%B7%9E%E8%B5%9B%E5%88%86%E7%A7%91%E6%8A%80%E8%82%A1%E4%BB%BD%E6%9C%89%E9%99%90%E5%85%AC%E5%8F%B82025%E5%B9%B4%E7%AC%AC%E4%B8%80%E6%AC%A1%E4%B8%B4%E6%97%B6%E8%82%A1%E4%B8%9C%E4%BC%9A%E4%BC%9A%E8%AE%AE%E8%B5%84%E6%96%99.pdf) |</a:t>
            </a:r>
          </a:p>
          <a:p xmlns:a="http://schemas.openxmlformats.org/drawingml/2006/main">
            <a:r>
              <a:t>| Twist Bioscience | NASDAQ | TWST | DNA synthesis | [Source](https://investors.twistbioscience.com/static-files/8c1d5bed-df6f-48d5-832f-eb2f32717c27) |</a:t>
            </a:r>
          </a:p>
          <a:p xmlns:a="http://schemas.openxmlformats.org/drawingml/2006/main">
            <a:r>
              <a:t>| Thermo Fisher / Gibco | NYSE | TMO | Molecular tools, proteins, media and instruments; parent ticker | [Source](https://ir.thermofisher.com/investors/news-events/news/news-details/2026/Thermo-Fisher-Scientific-Reports-Second-Quarter-2026-Results/) |</a:t>
            </a:r>
          </a:p>
          <a:p xmlns:a="http://schemas.openxmlformats.org/drawingml/2006/main">
            <a:r>
              <a:t>| Bio-Techne | NASDAQ | TECH | Proteins / functional assay reagents | [Source](https://investors.bio-techne.com/stock-data) |</a:t>
            </a:r>
          </a:p>
          <a:p xmlns:a="http://schemas.openxmlformats.org/drawingml/2006/main">
            <a:r>
              <a:t>| Danaher / Cytiva / HyClone | NYSE | DHR | Culture and purification; parent ticker | [Source](https://www.danaher.com/our-businesses/biotechnology) |</a:t>
            </a:r>
          </a:p>
          <a:p xmlns:a="http://schemas.openxmlformats.org/drawingml/2006/main">
            <a:r>
              <a:t>| Corning | NYSE | GLW | Laboratory plastics / cell culture | [Source](https://www.corning.com/content/dam/corning/media/worldwide/global/documents/corning_10-k_2025.pdf) |</a:t>
            </a:r>
          </a:p>
          <a:p xmlns:a="http://schemas.openxmlformats.org/drawingml/2006/main">
            <a:r>
              <a:t>| BD | NYSE | BDX | Current specimen collection / preanalytics; ex-BD flow is WAT | [Source](https://investors.bd.com/news-events/press-releases/detail/937/bd-completes-combination-of-biosciences-diagnostic-solutions-business-with-waters-corporation) |</a:t>
            </a:r>
          </a:p>
          <a:p xmlns:a="http://schemas.openxmlformats.org/drawingml/2006/main">
            <a:r>
              <a:t>| Illumina | NASDAQ | ILMN | Sequencing instruments / consumables | [Source](https://investor.illumina.com/static-files/eb129ea4-1f1a-408f-b87a-44eaee93c63d) |</a:t>
            </a:r>
          </a:p>
          <a:p xmlns:a="http://schemas.openxmlformats.org/drawingml/2006/main">
            <a:r>
              <a:t>| Agilent | NYSE | A | Chromatography / analytical instruments | [Source](https://www.investor.agilent.com/stock-info/stock-quote-and-chart/) |</a:t>
            </a:r>
          </a:p>
          <a:p xmlns:a="http://schemas.openxmlformats.org/drawingml/2006/main">
            <a:r>
              <a:t>| Waters / former BD Biosciences | NYSE | WAT | LC-MS / chromatography and ex-BD flow cytometry | [Source](https://www.waters.com/nextgen/us/en/about-waters/corporate-governance/legal-and-privacy-notices/bdtransaction.html) |</a:t>
            </a:r>
          </a:p>
          <a:p xmlns:a="http://schemas.openxmlformats.org/drawingml/2006/main">
            <a:r>
              <a:t>| Repligen | NASDAQ | RGEN | Bioprocess purification / filtration tools | [Source](https://investors.repligen.com/stock-info/default.aspx) |</a:t>
            </a:r>
          </a:p>
          <a:p xmlns:a="http://schemas.openxmlformats.org/drawingml/2006/main">
            <a:r>
              <a:t>| Tecan | SIX | TECN | Laboratory automation; Swiss-listed | [Source](https://www.tecan.com/hubfs/HubDB/Te-PrArc/180323_Tecan_KeplerCheuvreux.pdf) |</a:t>
            </a:r>
          </a:p>
          <a:p xmlns:a="http://schemas.openxmlformats.org/drawingml/2006/main">
            <a:r>
              <a:t/>
            </a:r>
          </a:p>
          <a:p xmlns:a="http://schemas.openxmlformats.org/drawingml/2006/main">
            <a:r>
              <a:t>The market anchors retain their original scope and sources. Adding a supplier does not broaden or update the displayed TAM. The labware family includes a clinical/preanalytical adjacency for BD; the displayed anchor continues to be the selected China plastic laboratory-consumables estimate. The analytics anchor remains China sequencing instruments plus consumables; it does not size flow cytometry.</a:t>
            </a:r>
          </a:p>
          <a:p xmlns:a="http://schemas.openxmlformats.org/drawingml/2006/main">
            <a:r>
              <a:t/>
            </a:r>
          </a:p>
          <a:p xmlns:a="http://schemas.openxmlformats.org/drawingml/2006/main">
            <a:r>
              <a:t>Original BD logo: https://news.bd.com/images/header-bd-logo.svg. Original company marks retain their colors; chart/UI colors use the user-supplied palette. The second RGB value was explicitly confirmed by the user as 172:212:241.</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5: Which tools have more demand elasticity?</a:t>
            </a:r>
          </a:p>
          <a:p xmlns:a="http://schemas.openxmlformats.org/drawingml/2006/main">
            <a:r>
              <a:t>Evidence status: Research hypothesis</a:t>
            </a:r>
          </a:p>
          <a:p xmlns:a="http://schemas.openxmlformats.org/drawingml/2006/main">
            <a:r>
              <a:t/>
            </a:r>
          </a:p>
          <a:p xmlns:a="http://schemas.openxmlformats.org/drawingml/2006/main">
            <a:r>
              <a:t># Sources, assumptions and market boundaries</a:t>
            </a:r>
          </a:p>
          <a:p xmlns:a="http://schemas.openxmlformats.org/drawingml/2006/main">
            <a:r>
              <a:t/>
            </a:r>
          </a:p>
          <a:p xmlns:a="http://schemas.openxmlformats.org/drawingml/2006/main">
            <a:r>
              <a:t>Research date: 12 October 2026. This package visualizes the supplied research framework and selected anchors from the preceding primary-source research. Historical industry numbers are consultant or company-cited estimates, rather than administrative census measurements.</a:t>
            </a:r>
          </a:p>
          <a:p xmlns:a="http://schemas.openxmlformats.org/drawingml/2006/main">
            <a:r>
              <a:t/>
            </a:r>
          </a:p>
          <a:p xmlns:a="http://schemas.openxmlformats.org/drawingml/2006/main">
            <a:r>
              <a:t>## Stage table and funnel</a:t>
            </a:r>
          </a:p>
          <a:p xmlns:a="http://schemas.openxmlformats.org/drawingml/2006/main">
            <a:r>
              <a:t/>
            </a:r>
          </a:p>
          <a:p xmlns:a="http://schemas.openxmlformats.org/drawingml/2006/main">
            <a:r>
              <a:t>The supplied stage table uses virtual designs ~1,000 before AI versus 100,000–1 billion in the AI scenario; physical candidates ~1,000 versus 1,000–10,000; wet-lab profiling ~50 versus an illustrative 50→500 expansion; clinical entry 1 versus 1; expected approvals ~0.14 versus unknown. These are user-supplied assumptions, not empirical cohort statistics.</a:t>
            </a:r>
          </a:p>
          <a:p xmlns:a="http://schemas.openxmlformats.org/drawingml/2006/main">
            <a:r>
              <a:t/>
            </a:r>
          </a:p>
          <a:p xmlns:a="http://schemas.openxmlformats.org/drawingml/2006/main">
            <a:r>
              <a:t>The denominator is one clinical entrant. The second reference image uses a different denominator, per approved drug; its counts are not mixed into this table. ~0.14 is an illustrative expected count, not an independently validated success probability. DNA-encoded libraries are not equivalent to fully characterized discrete candidates. Virtual design has costs and quality constraints. The diagram states a working capacity-gate hypothesis, not that design quality or clinical biology cease to matter.</a:t>
            </a:r>
          </a:p>
          <a:p xmlns:a="http://schemas.openxmlformats.org/drawingml/2006/main">
            <a:r>
              <a:t/>
            </a:r>
          </a:p>
          <a:p xmlns:a="http://schemas.openxmlformats.org/drawingml/2006/main">
            <a:r>
              <a:t>## Market anchors in the enlarged ecosystem</a:t>
            </a:r>
          </a:p>
          <a:p xmlns:a="http://schemas.openxmlformats.org/drawingml/2006/main">
            <a:r>
              <a:t/>
            </a:r>
          </a:p>
          <a:p xmlns:a="http://schemas.openxmlformats.org/drawingml/2006/main">
            <a:r>
              <a:t>| Anchor | Geography / year | Value | Scope and evidence |</a:t>
            </a:r>
          </a:p>
          <a:p xmlns:a="http://schemas.openxmlformats.org/drawingml/2006/main">
            <a:r>
              <a:t>|---|---|---|---|</a:t>
            </a:r>
          </a:p>
          <a:p xmlns:a="http://schemas.openxmlformats.org/drawingml/2006/main">
            <a:r>
              <a:t>| DNA synthesis services | China / 2025 | RMB1.33bn | Oligonucleotide RMB0.53bn + long-fragment RMB0.80bn. Midstream services only. Tsingke 2026 IPO filing, pp.156–158. [Primary filing](https://static.sse.com.cn/stock/disclosure/announcement/c/202606/002233_20260630_Z9LA.pdf). |</a:t>
            </a:r>
          </a:p>
          <a:p xmlns:a="http://schemas.openxmlformats.org/drawingml/2006/main">
            <a:r>
              <a:t>| Research-use recombinant proteins | Global / 2025 | US$3.5bn | Research use; not therapeutic protein manufacturing. China ~US$0.4bn is rounded to US$0.1bn precision. ACROBiosystems 2026 HKEX application, printed p.71 / PDF p.80. [Primary filing](https://www1.hkexnews.hk/app/sehk/2026/108910/documents/sehk26093002651_c.pdf). |</a:t>
            </a:r>
          </a:p>
          <a:p xmlns:a="http://schemas.openxmlformats.org/drawingml/2006/main">
            <a:r>
              <a:t>| Bioprocess culture media | China / 2024 | US$323.5m* | Selected media market; not all cellular tools. F&amp;S in Duoning 2026 filing, printed p.126. Excludes the COVID impact on vaccine products. [Filing URL](https://www.hkexnews.hk/app/sehk/2026/108106/documents/sehk26011800033_c.pdf). |</a:t>
            </a:r>
          </a:p>
          <a:p xmlns:a="http://schemas.openxmlformats.org/drawingml/2006/main">
            <a:r>
              <a:t>| Disposable plastic biological laboratory consumables | China / 2024 | ~RMB23bn | Includes research, clinical and industrial uses. JET Biofil 2025 annual-report summary, PDF p.6; company cites F&amp;S and industry research. Direct primary PDF rechecked on 12 Oct 2026. [Primary disclosure](https://static.cninfo.com.cn/finalpage/2026-04-30/1225255989.PDF). |</a:t>
            </a:r>
          </a:p>
          <a:p xmlns:a="http://schemas.openxmlformats.org/drawingml/2006/main">
            <a:r>
              <a:t>| Sequencing instruments and consumables | China / 2024 | RMB4.3bn | Includes clinical sequencing; not instruments alone, and not a combined LC/MS market. MGI 2024 annual report pp.41–42, citing CIC. [Primary disclosure](https://static.cninfo.com.cn/finalpage/2025-04-30/1223427376.PDF). |</a:t>
            </a:r>
          </a:p>
          <a:p xmlns:a="http://schemas.openxmlformats.org/drawingml/2006/main">
            <a:r>
              <a:t>| Bioprocess chromatography resins | China / 2024 | US$578.2m* | Biological process resins; not all analytical columns, chemical adsorption resins or purification hardware. F&amp;S in Duoning 2026 filing, printed p.132. [Filing URL](https://www.hkexnews.hk/app/sehk/2026/108106/documents/sehk26011800033_c.pdf). |</a:t>
            </a:r>
          </a:p>
          <a:p xmlns:a="http://schemas.openxmlformats.org/drawingml/2006/main">
            <a:r>
              <a:t/>
            </a:r>
          </a:p>
          <a:p xmlns:a="http://schemas.openxmlformats.org/drawingml/2006/main">
            <a:r>
              <a:t>*The Duoning figures were checked against the publicly indexed official filing during the preceding research on 9–10 October 2026. Direct PDF access now returns 404. They carry lower source-access confidence than directly downloaded filings. The 2025 values in that filing remain forecasts and are deliberately not presented as 2025 actual results here.*</a:t>
            </a:r>
          </a:p>
          <a:p xmlns:a="http://schemas.openxmlformats.org/drawingml/2006/main">
            <a:r>
              <a:t/>
            </a:r>
          </a:p>
          <a:p xmlns:a="http://schemas.openxmlformats.org/drawingml/2006/main">
            <a:r>
              <a:t>These anchors cannot be added. Their geography, currency, year and boundary differ, and tools can be used across the six product families. Each headline sizes the stated subset, not the full box. In particular, the culture-media figure is a bioprocess anchor and cannot be generalized to all research media and cell models. Automation, mass spectrometry, flow cytometry, imaging and analytical columns are shown as tool families but are not assigned an unsupported combined TAM.</a:t>
            </a:r>
          </a:p>
          <a:p xmlns:a="http://schemas.openxmlformats.org/drawingml/2006/main">
            <a:r>
              <a:t/>
            </a:r>
          </a:p>
          <a:p xmlns:a="http://schemas.openxmlformats.org/drawingml/2006/main">
            <a:r>
              <a:t>## Supporting figure 02: consistent-scope LST comparison</a:t>
            </a:r>
          </a:p>
          <a:p xmlns:a="http://schemas.openxmlformats.org/drawingml/2006/main">
            <a:r>
              <a:t/>
            </a:r>
          </a:p>
          <a:p xmlns:a="http://schemas.openxmlformats.org/drawingml/2006/main">
            <a:r>
              <a:t>The ACROBiosystems HKEX filing of 30 Sep 2026 reports 2025 global LST US$41.5bn and China US$7.7bn under its F&amp;S scope, printed p.65 / PDF p.74. Research biological reagents are global US$26.4bn and China US$4.6bn, printed p.67 / PDF p.76. The residual other-tool values are derived: 41.5−26.4 =15.1 and 7.7−4.6 =3.1, in US$bn. China/global share is 7.7÷41.5 =18.6% rounded. This scope does not reconcile automatically to broader laboratory or manufacturing markets. [Primary filing](https://www1.hkexnews.hk/app/sehk/2026/108910/documents/sehk26093002651_c.pdf).</a:t>
            </a:r>
          </a:p>
          <a:p xmlns:a="http://schemas.openxmlformats.org/drawingml/2006/main">
            <a:r>
              <a:t/>
            </a:r>
          </a:p>
          <a:p xmlns:a="http://schemas.openxmlformats.org/drawingml/2006/main">
            <a:r>
              <a:t>## Illustrative and qualitative figures</a:t>
            </a:r>
          </a:p>
          <a:p xmlns:a="http://schemas.openxmlformats.org/drawingml/2006/main">
            <a:r>
              <a:t/>
            </a:r>
          </a:p>
          <a:p xmlns:a="http://schemas.openxmlformats.org/drawingml/2006/main">
            <a:r>
              <a:t>Figure 03 uses the supplied customer mixes: reagents 30/25/15/10/20%, consumables 20/20/15/30/15%, and instruments 25/20/10/15/30%, for academia, biotech/pharma R&amp;D, CRO/CDMO, pharma-owned production and IVD development. These are illustrative purchasing shares. Hospitals are not independently modeled, and distributors are not an end-customer category.</a:t>
            </a:r>
          </a:p>
          <a:p xmlns:a="http://schemas.openxmlformats.org/drawingml/2006/main">
            <a:r>
              <a:t/>
            </a:r>
          </a:p>
          <a:p xmlns:a="http://schemas.openxmlformats.org/drawingml/2006/main">
            <a:r>
              <a:t>Figure 06 compares 100,000 tests at 100µL in 96-well plates with 1,000,000 tests at 5µL in 1,536-well plates. Reagents fall from 10L to 5L; full-plate counts are ceiling(100,000/96)=1,042 and ceiling(1,000,000/1,536)=652. Tips per test are assumed to fall from 1 to 0.1, giving 100,000 tips in both cases. Volume index 1,000; reagent index 50; plate index 62.6; tip index 100, against a baseline of 100. Dead volume, controls, retests, ASP and service spending are excluded. The two panels use different y-axis scales.</a:t>
            </a:r>
          </a:p>
          <a:p xmlns:a="http://schemas.openxmlformats.org/drawingml/2006/main">
            <a:r>
              <a:t/>
            </a:r>
          </a:p>
          <a:p xmlns:a="http://schemas.openxmlformats.org/drawingml/2006/main">
            <a:r>
              <a:t>Figure 07 uses illustrative cumulative funding pools of US$50bn, US$100bn and US$200bn. No time horizon is specified. Allocations are 30% research equipment/automation, 25% research reagents, 20% research consumables, 15% manufacturing bioprocess tools and 10% services/other. Research-use and manufacturing-use allocations are mutually exclusive. These are not realized financing, annual TAM or a company revenue forecast.</a:t>
            </a:r>
          </a:p>
          <a:p xmlns:a="http://schemas.openxmlformats.org/drawingml/2006/main">
            <a:r>
              <a:t/>
            </a:r>
          </a:p>
          <a:p xmlns:a="http://schemas.openxmlformats.org/drawingml/2006/main">
            <a:r>
              <a:t>Figures 05, 08 and 09 use qualitative analyst positions. Bubble area in figure 05 is schematic relative opportunity, not measured TAM. Axis positions and the gold emphasis on ACROBiosystems and NanoMicro are not numerical scores, stock recommendations, market-share estimates or measured AI revenue. Supply barriers do not establish a current shortage.</a:t>
            </a:r>
          </a:p>
          <a:p xmlns:a="http://schemas.openxmlformats.org/drawingml/2006/main">
            <a:r>
              <a:t/>
            </a:r>
          </a:p>
          <a:p xmlns:a="http://schemas.openxmlformats.org/drawingml/2006/main">
            <a:r>
              <a:t>Figures 04 and 10 describe a conditional mechanism: funded projects → physical experimentation → net tool consumption and purchasing → company share → profit and cash flow. AI funding announcements alone do not establish LST orders. Miniaturization, faster candidate triage, resin reuse and pricing can offset higher experiment counts.</a:t>
            </a:r>
          </a:p>
          <a:p xmlns:a="http://schemas.openxmlformats.org/drawingml/2006/main">
            <a:r>
              <a:t/>
            </a:r>
          </a:p>
          <a:p xmlns:a="http://schemas.openxmlformats.org/drawingml/2006/main">
            <a:r>
              <a:t>## Representative-company product evidence</a:t>
            </a:r>
          </a:p>
          <a:p xmlns:a="http://schemas.openxmlformats.org/drawingml/2006/main">
            <a:r>
              <a:t/>
            </a:r>
          </a:p>
          <a:p xmlns:a="http://schemas.openxmlformats.org/drawingml/2006/main">
            <a:r>
              <a:t>- [ACROBiosystems HKEX application, 30 Sep 2026](https://www1.hkexnews.hk/app/sehk/2026/108910/documents/sehk26093002651_c.pdf): Printed pp. 65, 67 and 71 (PDF pp. 74, 76, 80); defined LST scope, research reagents and recombinant proteins.</a:t>
            </a:r>
          </a:p>
          <a:p xmlns:a="http://schemas.openxmlformats.org/drawingml/2006/main">
            <a:r>
              <a:t>- [Vazyme 2024 annual report](https://static.cninfo.com.cn/finalpage/2025-04-10/1223046699.PDF): Product and business evidence; matrix positions are analyst assumptions.</a:t>
            </a:r>
          </a:p>
          <a:p xmlns:a="http://schemas.openxmlformats.org/drawingml/2006/main">
            <a:r>
              <a:t>- [ACROBiosystems filing: recombinant protein competitive landscape](https://www1.hkexnews.hk/app/sehk/2026/108910/documents/sehk26093002651_c.pdf): Product and business evidence; matrix positions are analyst assumptions.</a:t>
            </a:r>
          </a:p>
          <a:p xmlns:a="http://schemas.openxmlformats.org/drawingml/2006/main">
            <a:r>
              <a:t>- [Novoprotein official product catalog](https://www.novoprotein.com.cn/products): Product and business evidence; matrix positions are analyst assumptions.</a:t>
            </a:r>
          </a:p>
          <a:p xmlns:a="http://schemas.openxmlformats.org/drawingml/2006/main">
            <a:r>
              <a:t>- [NanoMicro 2025 annual report](https://static.cninfo.com.cn/finalpage/2026-04-16/1225107014.PDF): Product and business evidence; matrix positions are analyst assumptions.</a:t>
            </a:r>
          </a:p>
          <a:p xmlns:a="http://schemas.openxmlformats.org/drawingml/2006/main">
            <a:r>
              <a:t>- [Sepax IPO prospectus, Jan 2025](https://static.cninfo.com.cn/finalpage/2025-01-06/1222238930.PDF): Product and business evidence; matrix positions are analyst assumptions.</a:t>
            </a:r>
          </a:p>
          <a:p xmlns:a="http://schemas.openxmlformats.org/drawingml/2006/main">
            <a:r>
              <a:t>- [JET Biofil 2025 interim report](https://stockmc.xueqiu.com/202508/688026_20250830_4FZX.pdf): Product and business evidence; matrix positions are analyst assumptions.</a:t>
            </a:r>
          </a:p>
          <a:p xmlns:a="http://schemas.openxmlformats.org/drawingml/2006/main">
            <a:r>
              <a:t>- [Changhong official website](https://cn.sz-changhong.com/): Product and business evidence; matrix positions are analyst assumptions.</a:t>
            </a:r>
          </a:p>
          <a:p xmlns:a="http://schemas.openxmlformats.org/drawingml/2006/main">
            <a:r>
              <a:t>- [Bide Pharmatech official catalog](https://www.bidepharm.com/): Product and business evidence; matrix positions are analyst assumptions.</a:t>
            </a:r>
          </a:p>
          <a:p xmlns:a="http://schemas.openxmlformats.org/drawingml/2006/main">
            <a:r>
              <a:t>- [ChemExpress official website](https://www.chemexpress.com.cn/): Product and business evidence; matrix positions are analyst assumptions.</a:t>
            </a:r>
          </a:p>
          <a:p xmlns:a="http://schemas.openxmlformats.org/drawingml/2006/main">
            <a:r>
              <a:t>- [MGI 2025 annual report](https://static.cninfo.com.cn/finalpage/2026-04-25/1225194780.PDF): Product and business evidence; matrix positions are analyst assumptions.</a:t>
            </a:r>
          </a:p>
          <a:p xmlns:a="http://schemas.openxmlformats.org/drawingml/2006/main">
            <a:r>
              <a:t>- [OPM Biosciences 2025 annual report](https://pdf.dfcfw.com/pdf/H2_AN202604221821449851_1.pdf): Product and business evidence; matrix positions are analyst assumptions.</a:t>
            </a:r>
          </a:p>
          <a:p xmlns:a="http://schemas.openxmlformats.org/drawingml/2006/main">
            <a:r>
              <a:t/>
            </a:r>
          </a:p>
          <a:p xmlns:a="http://schemas.openxmlformats.org/drawingml/2006/main">
            <a:r>
              <a:t>The primary distinction in this research is product exposure: ACROBiosystems supplies recombinant proteins and assay tools used in expression and functional validation; NanoMicro supplies purification and chromatography products used in analytical/process development and manufacturing. A broad increase in virtual candidates does not establish either company's incremental orders. Manufacturing demand also depends on successful clinical translation and drug output.</a:t>
            </a:r>
          </a:p>
          <a:p xmlns:a="http://schemas.openxmlformats.org/drawingml/2006/main">
            <a:r>
              <a:t/>
            </a:r>
          </a:p>
          <a:p xmlns:a="http://schemas.openxmlformats.org/drawingml/2006/main">
            <a:r>
              <a:t>## Logo and icon assets</a:t>
            </a:r>
          </a:p>
          <a:p xmlns:a="http://schemas.openxmlformats.org/drawingml/2006/main">
            <a:r>
              <a:t/>
            </a:r>
          </a:p>
          <a:p xmlns:a="http://schemas.openxmlformats.org/drawingml/2006/main">
            <a:r>
              <a:t>Logo files identify representative suppliers. `assets/sources.json` gives source URLs and modifications. Where whitespace was trimmed, the brand artwork is unchanged. NanoMicro uses its circular emblem alongside a separate editable English company label, keeping all visible labels English. JET uses an English brand asset from a supplier listing. Company names remain editable even when a logo is embedded. Supplier lists are examples and are not rankings or endorsements.</a:t>
            </a:r>
          </a:p>
          <a:p xmlns:a="http://schemas.openxmlformats.org/drawingml/2006/main">
            <a:r>
              <a:t/>
            </a:r>
          </a:p>
          <a:p xmlns:a="http://schemas.openxmlformats.org/drawingml/2006/main">
            <a:r>
              <a:t>Lucide icons are sourced from the project's official GitHub repository, recolored teal for the graphic and provided under the ISC license. The full license is included in `assets/icons/LICENSE`.</a:t>
            </a:r>
          </a:p>
          <a:p xmlns:a="http://schemas.openxmlformats.org/drawingml/2006/main">
            <a:r>
              <a:t/>
            </a:r>
          </a:p>
          <a:p xmlns:a="http://schemas.openxmlformats.org/drawingml/2006/main">
            <a:r>
              <a:t/>
            </a:r>
          </a:p>
          <a:p xmlns:a="http://schemas.openxmlformats.org/drawingml/2006/main">
            <a:r>
              <a:t># Supplier tickers and current BD exposure</a:t>
            </a:r>
          </a:p>
          <a:p xmlns:a="http://schemas.openxmlformats.org/drawingml/2006/main">
            <a:r>
              <a:t/>
            </a:r>
          </a:p>
          <a:p xmlns:a="http://schemas.openxmlformats.org/drawingml/2006/main">
            <a:r>
              <a:t>Updated 13 October 2026. Rows identify representative suppliers or their listed parents, not market shares or investment recommendations. China/HK and US groups refer to listing venues; they do not imply legal domicile, headquarters or pure-play exposure.</a:t>
            </a:r>
          </a:p>
          <a:p xmlns:a="http://schemas.openxmlformats.org/drawingml/2006/main">
            <a:r>
              <a:t/>
            </a:r>
          </a:p>
          <a:p xmlns:a="http://schemas.openxmlformats.org/drawingml/2006/main">
            <a:r>
              <a:t>BD (NYSE:BDX) remains relevant to specimen collection and preanalytical sample handling. Its former Biosciences and Diagnostic Solutions business, including flow cytometry, moved to Waters (NYSE:WAT) on 9 February 2026.</a:t>
            </a:r>
          </a:p>
          <a:p xmlns:a="http://schemas.openxmlformats.org/drawingml/2006/main">
            <a:r>
              <a:t/>
            </a:r>
          </a:p>
          <a:p xmlns:a="http://schemas.openxmlformats.org/drawingml/2006/main">
            <a:r>
              <a:t>- [BD completion release](https://investors.bd.com/news-events/press-releases/detail/937/bd-completes-combination-of-biosciences-diagnostic-solutions-business-with-waters-corporation)</a:t>
            </a:r>
          </a:p>
          <a:p xmlns:a="http://schemas.openxmlformats.org/drawingml/2006/main">
            <a:r>
              <a:t>- [Waters current transaction disclosure](https://www.waters.com/nextgen/us/en/about-waters/corporate-governance/legal-and-privacy-notices/bdtransaction.html)</a:t>
            </a:r>
          </a:p>
          <a:p xmlns:a="http://schemas.openxmlformats.org/drawingml/2006/main">
            <a:r>
              <a:t>- [Current BD Vacutainer portfolio](https://go.bd.com/vacutainer-product-updates-TY.html): specimen-collection / sample-management products.</a:t>
            </a:r>
          </a:p>
          <a:p xmlns:a="http://schemas.openxmlformats.org/drawingml/2006/main">
            <a:r>
              <a:t/>
            </a:r>
          </a:p>
          <a:p xmlns:a="http://schemas.openxmlformats.org/drawingml/2006/main">
            <a:r>
              <a:t>Gibco is shown with Thermo Fisher (TMO); Cytiva and HyClone with Danaher (DHR). The underlying business exposure is narrower than the parent company's total revenue. Tsingke's code 874813 is a NEEQ code, not an A-share exchange listing; its IPO application is a separate filing. Suzhou Sepax is 688758.SH; the graphic refers to the China-listed issuer's chromatography portfolio.</a:t>
            </a:r>
          </a:p>
          <a:p xmlns:a="http://schemas.openxmlformats.org/drawingml/2006/main">
            <a:r>
              <a:t/>
            </a:r>
          </a:p>
          <a:p xmlns:a="http://schemas.openxmlformats.org/drawingml/2006/main">
            <a:r>
              <a:t>| Supplier / parent | Exchange | Ticker | Product pathway | Primary listing / business source |</a:t>
            </a:r>
          </a:p>
          <a:p xmlns:a="http://schemas.openxmlformats.org/drawingml/2006/main">
            <a:r>
              <a:t>|---|---|---|---|---|</a:t>
            </a:r>
          </a:p>
          <a:p xmlns:a="http://schemas.openxmlformats.org/drawingml/2006/main">
            <a:r>
              <a:t>| GenScript | HKEX | 1548 | Molecular construction | [Source](https://www.genscript.com/genscript-biotech-demonstrates-profitable-scale-and-strategic-leadership-in-h1-2025.html) |</a:t>
            </a:r>
          </a:p>
          <a:p xmlns:a="http://schemas.openxmlformats.org/drawingml/2006/main">
            <a:r>
              <a:t>| Vazyme | SSE | 688105 | Molecular construction | [Source](https://www.vazyme.us/AboutUs/OurStrories/) |</a:t>
            </a:r>
          </a:p>
          <a:p xmlns:a="http://schemas.openxmlformats.org/drawingml/2006/main">
            <a:r>
              <a:t>| Tsingke | NEEQ | 874813 | DNA synthesis; NEEQ-listed, A-share IPO application is separate | [Source](https://static.sse.com.cn/stock/disclosure/announcement/c/202606/002233_20260630_Z9LA.pdf) |</a:t>
            </a:r>
          </a:p>
          <a:p xmlns:a="http://schemas.openxmlformats.org/drawingml/2006/main">
            <a:r>
              <a:t>| ACROBiosystems | SZSE | 301080 | Proteins / functional cells | [Source](https://www1.hkexnews.hk/app/sehk/2026/108910/documents/sehk26093002651_c.pdf) |</a:t>
            </a:r>
          </a:p>
          <a:p xmlns:a="http://schemas.openxmlformats.org/drawingml/2006/main">
            <a:r>
              <a:t>| Sino Biological | SZSE | 301047 | Research proteins / antibodies | [Source](https://disc.static.szse.cn/disc/disk03/finalpage/2026-08-26/cd4ea950-7931-4164-bcec-20c03b8236e1.PDF) |</a:t>
            </a:r>
          </a:p>
          <a:p xmlns:a="http://schemas.openxmlformats.org/drawingml/2006/main">
            <a:r>
              <a:t>| OPM Biosciences | SSE | 688293 | Cell culture media | [Source](https://opmbiosciences.com/) |</a:t>
            </a:r>
          </a:p>
          <a:p xmlns:a="http://schemas.openxmlformats.org/drawingml/2006/main">
            <a:r>
              <a:t>| JET Biofil | SSE | 688026 | Plastic laboratory consumables | [Source](https://static.cninfo.com.cn/finalpage/2026-04-30/1225255989.PDF) |</a:t>
            </a:r>
          </a:p>
          <a:p xmlns:a="http://schemas.openxmlformats.org/drawingml/2006/main">
            <a:r>
              <a:t>| Changhong | SZSE | 300151 | Life science / medical plastic consumables | [Source](https://static.cninfo.com.cn/finalpage/2025-10-30/1224764410.PDF) |</a:t>
            </a:r>
          </a:p>
          <a:p xmlns:a="http://schemas.openxmlformats.org/drawingml/2006/main">
            <a:r>
              <a:t>| MGI | SSE | 688114 | Sequencing instruments / consumables | [Source](https://static.cninfo.com.cn/finalpage/2025-04-30/1223427376.PDF) |</a:t>
            </a:r>
          </a:p>
          <a:p xmlns:a="http://schemas.openxmlformats.org/drawingml/2006/main">
            <a:r>
              <a:t>| NanoMicro | SSE | 688690 | Chromatography materials and analytical separation / purification | [Source](https://static.cninfo.com.cn/finalpage/2026-09-22/1225575593.PDF) |</a:t>
            </a:r>
          </a:p>
          <a:p xmlns:a="http://schemas.openxmlformats.org/drawingml/2006/main">
            <a:r>
              <a:t>| Suzhou Sepax | SSE | 688758 | Chromatography columns / process media | [Source](https://www.sepax-tech.com.cn/skin/default/investorpdf/%E8%8B%8F%E5%B7%9E%E8%B5%9B%E5%88%86%E7%A7%91%E6%8A%80%E8%82%A1%E4%BB%BD%E6%9C%89%E9%99%90%E5%85%AC%E5%8F%B82025%E5%B9%B4%E7%AC%AC%E4%B8%80%E6%AC%A1%E4%B8%B4%E6%97%B6%E8%82%A1%E4%B8%9C%E4%BC%9A%E4%BC%9A%E8%AE%AE%E8%B5%84%E6%96%99.pdf) |</a:t>
            </a:r>
          </a:p>
          <a:p xmlns:a="http://schemas.openxmlformats.org/drawingml/2006/main">
            <a:r>
              <a:t>| Twist Bioscience | NASDAQ | TWST | DNA synthesis | [Source](https://investors.twistbioscience.com/static-files/8c1d5bed-df6f-48d5-832f-eb2f32717c27) |</a:t>
            </a:r>
          </a:p>
          <a:p xmlns:a="http://schemas.openxmlformats.org/drawingml/2006/main">
            <a:r>
              <a:t>| Thermo Fisher / Gibco | NYSE | TMO | Molecular tools, proteins, media and instruments; parent ticker | [Source](https://ir.thermofisher.com/investors/news-events/news/news-details/2026/Thermo-Fisher-Scientific-Reports-Second-Quarter-2026-Results/) |</a:t>
            </a:r>
          </a:p>
          <a:p xmlns:a="http://schemas.openxmlformats.org/drawingml/2006/main">
            <a:r>
              <a:t>| Bio-Techne | NASDAQ | TECH | Proteins / functional assay reagents | [Source](https://investors.bio-techne.com/stock-data) |</a:t>
            </a:r>
          </a:p>
          <a:p xmlns:a="http://schemas.openxmlformats.org/drawingml/2006/main">
            <a:r>
              <a:t>| Danaher / Cytiva / HyClone | NYSE | DHR | Culture and purification; parent ticker | [Source](https://www.danaher.com/our-businesses/biotechnology) |</a:t>
            </a:r>
          </a:p>
          <a:p xmlns:a="http://schemas.openxmlformats.org/drawingml/2006/main">
            <a:r>
              <a:t>| Corning | NYSE | GLW | Laboratory plastics / cell culture | [Source](https://www.corning.com/content/dam/corning/media/worldwide/global/documents/corning_10-k_2025.pdf) |</a:t>
            </a:r>
          </a:p>
          <a:p xmlns:a="http://schemas.openxmlformats.org/drawingml/2006/main">
            <a:r>
              <a:t>| BD | NYSE | BDX | Current specimen collection / preanalytics; ex-BD flow is WAT | [Source](https://investors.bd.com/news-events/press-releases/detail/937/bd-completes-combination-of-biosciences-diagnostic-solutions-business-with-waters-corporation) |</a:t>
            </a:r>
          </a:p>
          <a:p xmlns:a="http://schemas.openxmlformats.org/drawingml/2006/main">
            <a:r>
              <a:t>| Illumina | NASDAQ | ILMN | Sequencing instruments / consumables | [Source](https://investor.illumina.com/static-files/eb129ea4-1f1a-408f-b87a-44eaee93c63d) |</a:t>
            </a:r>
          </a:p>
          <a:p xmlns:a="http://schemas.openxmlformats.org/drawingml/2006/main">
            <a:r>
              <a:t>| Agilent | NYSE | A | Chromatography / analytical instruments | [Source](https://www.investor.agilent.com/stock-info/stock-quote-and-chart/) |</a:t>
            </a:r>
          </a:p>
          <a:p xmlns:a="http://schemas.openxmlformats.org/drawingml/2006/main">
            <a:r>
              <a:t>| Waters / former BD Biosciences | NYSE | WAT | LC-MS / chromatography and ex-BD flow cytometry | [Source](https://www.waters.com/nextgen/us/en/about-waters/corporate-governance/legal-and-privacy-notices/bdtransaction.html) |</a:t>
            </a:r>
          </a:p>
          <a:p xmlns:a="http://schemas.openxmlformats.org/drawingml/2006/main">
            <a:r>
              <a:t>| Repligen | NASDAQ | RGEN | Bioprocess purification / filtration tools | [Source](https://investors.repligen.com/stock-info/default.aspx) |</a:t>
            </a:r>
          </a:p>
          <a:p xmlns:a="http://schemas.openxmlformats.org/drawingml/2006/main">
            <a:r>
              <a:t>| Tecan | SIX | TECN | Laboratory automation; Swiss-listed | [Source](https://www.tecan.com/hubfs/HubDB/Te-PrArc/180323_Tecan_KeplerCheuvreux.pdf) |</a:t>
            </a:r>
          </a:p>
          <a:p xmlns:a="http://schemas.openxmlformats.org/drawingml/2006/main">
            <a:r>
              <a:t/>
            </a:r>
          </a:p>
          <a:p xmlns:a="http://schemas.openxmlformats.org/drawingml/2006/main">
            <a:r>
              <a:t>The market anchors retain their original scope and sources. Adding a supplier does not broaden or update the displayed TAM. The labware family includes a clinical/preanalytical adjacency for BD; the displayed anchor continues to be the selected China plastic laboratory-consumables estimate. The analytics anchor remains China sequencing instruments plus consumables; it does not size flow cytometry.</a:t>
            </a:r>
          </a:p>
          <a:p xmlns:a="http://schemas.openxmlformats.org/drawingml/2006/main">
            <a:r>
              <a:t/>
            </a:r>
          </a:p>
          <a:p xmlns:a="http://schemas.openxmlformats.org/drawingml/2006/main">
            <a:r>
              <a:t>Original BD logo: https://news.bd.com/images/header-bd-logo.svg. Original company marks retain their colors; chart/UI colors use the user-supplied palette. The second RGB value was explicitly confirmed by the user as 172:212:241.</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6: More experiments, less material per experiment</a:t>
            </a:r>
          </a:p>
          <a:p xmlns:a="http://schemas.openxmlformats.org/drawingml/2006/main">
            <a:r>
              <a:t>Evidence status: Illustrative scenario</a:t>
            </a:r>
          </a:p>
          <a:p xmlns:a="http://schemas.openxmlformats.org/drawingml/2006/main">
            <a:r>
              <a:t/>
            </a:r>
          </a:p>
          <a:p xmlns:a="http://schemas.openxmlformats.org/drawingml/2006/main">
            <a:r>
              <a:t># Sources, assumptions and market boundaries</a:t>
            </a:r>
          </a:p>
          <a:p xmlns:a="http://schemas.openxmlformats.org/drawingml/2006/main">
            <a:r>
              <a:t/>
            </a:r>
          </a:p>
          <a:p xmlns:a="http://schemas.openxmlformats.org/drawingml/2006/main">
            <a:r>
              <a:t>Research date: 12 October 2026. This package visualizes the supplied research framework and selected anchors from the preceding primary-source research. Historical industry numbers are consultant or company-cited estimates, rather than administrative census measurements.</a:t>
            </a:r>
          </a:p>
          <a:p xmlns:a="http://schemas.openxmlformats.org/drawingml/2006/main">
            <a:r>
              <a:t/>
            </a:r>
          </a:p>
          <a:p xmlns:a="http://schemas.openxmlformats.org/drawingml/2006/main">
            <a:r>
              <a:t>## Stage table and funnel</a:t>
            </a:r>
          </a:p>
          <a:p xmlns:a="http://schemas.openxmlformats.org/drawingml/2006/main">
            <a:r>
              <a:t/>
            </a:r>
          </a:p>
          <a:p xmlns:a="http://schemas.openxmlformats.org/drawingml/2006/main">
            <a:r>
              <a:t>The supplied stage table uses virtual designs ~1,000 before AI versus 100,000–1 billion in the AI scenario; physical candidates ~1,000 versus 1,000–10,000; wet-lab profiling ~50 versus an illustrative 50→500 expansion; clinical entry 1 versus 1; expected approvals ~0.14 versus unknown. These are user-supplied assumptions, not empirical cohort statistics.</a:t>
            </a:r>
          </a:p>
          <a:p xmlns:a="http://schemas.openxmlformats.org/drawingml/2006/main">
            <a:r>
              <a:t/>
            </a:r>
          </a:p>
          <a:p xmlns:a="http://schemas.openxmlformats.org/drawingml/2006/main">
            <a:r>
              <a:t>The denominator is one clinical entrant. The second reference image uses a different denominator, per approved drug; its counts are not mixed into this table. ~0.14 is an illustrative expected count, not an independently validated success probability. DNA-encoded libraries are not equivalent to fully characterized discrete candidates. Virtual design has costs and quality constraints. The diagram states a working capacity-gate hypothesis, not that design quality or clinical biology cease to matter.</a:t>
            </a:r>
          </a:p>
          <a:p xmlns:a="http://schemas.openxmlformats.org/drawingml/2006/main">
            <a:r>
              <a:t/>
            </a:r>
          </a:p>
          <a:p xmlns:a="http://schemas.openxmlformats.org/drawingml/2006/main">
            <a:r>
              <a:t>## Market anchors in the enlarged ecosystem</a:t>
            </a:r>
          </a:p>
          <a:p xmlns:a="http://schemas.openxmlformats.org/drawingml/2006/main">
            <a:r>
              <a:t/>
            </a:r>
          </a:p>
          <a:p xmlns:a="http://schemas.openxmlformats.org/drawingml/2006/main">
            <a:r>
              <a:t>| Anchor | Geography / year | Value | Scope and evidence |</a:t>
            </a:r>
          </a:p>
          <a:p xmlns:a="http://schemas.openxmlformats.org/drawingml/2006/main">
            <a:r>
              <a:t>|---|---|---|---|</a:t>
            </a:r>
          </a:p>
          <a:p xmlns:a="http://schemas.openxmlformats.org/drawingml/2006/main">
            <a:r>
              <a:t>| DNA synthesis services | China / 2025 | RMB1.33bn | Oligonucleotide RMB0.53bn + long-fragment RMB0.80bn. Midstream services only. Tsingke 2026 IPO filing, pp.156–158. [Primary filing](https://static.sse.com.cn/stock/disclosure/announcement/c/202606/002233_20260630_Z9LA.pdf). |</a:t>
            </a:r>
          </a:p>
          <a:p xmlns:a="http://schemas.openxmlformats.org/drawingml/2006/main">
            <a:r>
              <a:t>| Research-use recombinant proteins | Global / 2025 | US$3.5bn | Research use; not therapeutic protein manufacturing. China ~US$0.4bn is rounded to US$0.1bn precision. ACROBiosystems 2026 HKEX application, printed p.71 / PDF p.80. [Primary filing](https://www1.hkexnews.hk/app/sehk/2026/108910/documents/sehk26093002651_c.pdf). |</a:t>
            </a:r>
          </a:p>
          <a:p xmlns:a="http://schemas.openxmlformats.org/drawingml/2006/main">
            <a:r>
              <a:t>| Bioprocess culture media | China / 2024 | US$323.5m* | Selected media market; not all cellular tools. F&amp;S in Duoning 2026 filing, printed p.126. Excludes the COVID impact on vaccine products. [Filing URL](https://www.hkexnews.hk/app/sehk/2026/108106/documents/sehk26011800033_c.pdf). |</a:t>
            </a:r>
          </a:p>
          <a:p xmlns:a="http://schemas.openxmlformats.org/drawingml/2006/main">
            <a:r>
              <a:t>| Disposable plastic biological laboratory consumables | China / 2024 | ~RMB23bn | Includes research, clinical and industrial uses. JET Biofil 2025 annual-report summary, PDF p.6; company cites F&amp;S and industry research. Direct primary PDF rechecked on 12 Oct 2026. [Primary disclosure](https://static.cninfo.com.cn/finalpage/2026-04-30/1225255989.PDF). |</a:t>
            </a:r>
          </a:p>
          <a:p xmlns:a="http://schemas.openxmlformats.org/drawingml/2006/main">
            <a:r>
              <a:t>| Sequencing instruments and consumables | China / 2024 | RMB4.3bn | Includes clinical sequencing; not instruments alone, and not a combined LC/MS market. MGI 2024 annual report pp.41–42, citing CIC. [Primary disclosure](https://static.cninfo.com.cn/finalpage/2025-04-30/1223427376.PDF). |</a:t>
            </a:r>
          </a:p>
          <a:p xmlns:a="http://schemas.openxmlformats.org/drawingml/2006/main">
            <a:r>
              <a:t>| Bioprocess chromatography resins | China / 2024 | US$578.2m* | Biological process resins; not all analytical columns, chemical adsorption resins or purification hardware. F&amp;S in Duoning 2026 filing, printed p.132. [Filing URL](https://www.hkexnews.hk/app/sehk/2026/108106/documents/sehk26011800033_c.pdf). |</a:t>
            </a:r>
          </a:p>
          <a:p xmlns:a="http://schemas.openxmlformats.org/drawingml/2006/main">
            <a:r>
              <a:t/>
            </a:r>
          </a:p>
          <a:p xmlns:a="http://schemas.openxmlformats.org/drawingml/2006/main">
            <a:r>
              <a:t>*The Duoning figures were checked against the publicly indexed official filing during the preceding research on 9–10 October 2026. Direct PDF access now returns 404. They carry lower source-access confidence than directly downloaded filings. The 2025 values in that filing remain forecasts and are deliberately not presented as 2025 actual results here.*</a:t>
            </a:r>
          </a:p>
          <a:p xmlns:a="http://schemas.openxmlformats.org/drawingml/2006/main">
            <a:r>
              <a:t/>
            </a:r>
          </a:p>
          <a:p xmlns:a="http://schemas.openxmlformats.org/drawingml/2006/main">
            <a:r>
              <a:t>These anchors cannot be added. Their geography, currency, year and boundary differ, and tools can be used across the six product families. Each headline sizes the stated subset, not the full box. In particular, the culture-media figure is a bioprocess anchor and cannot be generalized to all research media and cell models. Automation, mass spectrometry, flow cytometry, imaging and analytical columns are shown as tool families but are not assigned an unsupported combined TAM.</a:t>
            </a:r>
          </a:p>
          <a:p xmlns:a="http://schemas.openxmlformats.org/drawingml/2006/main">
            <a:r>
              <a:t/>
            </a:r>
          </a:p>
          <a:p xmlns:a="http://schemas.openxmlformats.org/drawingml/2006/main">
            <a:r>
              <a:t>## Supporting figure 02: consistent-scope LST comparison</a:t>
            </a:r>
          </a:p>
          <a:p xmlns:a="http://schemas.openxmlformats.org/drawingml/2006/main">
            <a:r>
              <a:t/>
            </a:r>
          </a:p>
          <a:p xmlns:a="http://schemas.openxmlformats.org/drawingml/2006/main">
            <a:r>
              <a:t>The ACROBiosystems HKEX filing of 30 Sep 2026 reports 2025 global LST US$41.5bn and China US$7.7bn under its F&amp;S scope, printed p.65 / PDF p.74. Research biological reagents are global US$26.4bn and China US$4.6bn, printed p.67 / PDF p.76. The residual other-tool values are derived: 41.5−26.4 =15.1 and 7.7−4.6 =3.1, in US$bn. China/global share is 7.7÷41.5 =18.6% rounded. This scope does not reconcile automatically to broader laboratory or manufacturing markets. [Primary filing](https://www1.hkexnews.hk/app/sehk/2026/108910/documents/sehk26093002651_c.pdf).</a:t>
            </a:r>
          </a:p>
          <a:p xmlns:a="http://schemas.openxmlformats.org/drawingml/2006/main">
            <a:r>
              <a:t/>
            </a:r>
          </a:p>
          <a:p xmlns:a="http://schemas.openxmlformats.org/drawingml/2006/main">
            <a:r>
              <a:t>## Illustrative and qualitative figures</a:t>
            </a:r>
          </a:p>
          <a:p xmlns:a="http://schemas.openxmlformats.org/drawingml/2006/main">
            <a:r>
              <a:t/>
            </a:r>
          </a:p>
          <a:p xmlns:a="http://schemas.openxmlformats.org/drawingml/2006/main">
            <a:r>
              <a:t>Figure 03 uses the supplied customer mixes: reagents 30/25/15/10/20%, consumables 20/20/15/30/15%, and instruments 25/20/10/15/30%, for academia, biotech/pharma R&amp;D, CRO/CDMO, pharma-owned production and IVD development. These are illustrative purchasing shares. Hospitals are not independently modeled, and distributors are not an end-customer category.</a:t>
            </a:r>
          </a:p>
          <a:p xmlns:a="http://schemas.openxmlformats.org/drawingml/2006/main">
            <a:r>
              <a:t/>
            </a:r>
          </a:p>
          <a:p xmlns:a="http://schemas.openxmlformats.org/drawingml/2006/main">
            <a:r>
              <a:t>Figure 06 compares 100,000 tests at 100µL in 96-well plates with 1,000,000 tests at 5µL in 1,536-well plates. Reagents fall from 10L to 5L; full-plate counts are ceiling(100,000/96)=1,042 and ceiling(1,000,000/1,536)=652. Tips per test are assumed to fall from 1 to 0.1, giving 100,000 tips in both cases. Volume index 1,000; reagent index 50; plate index 62.6; tip index 100, against a baseline of 100. Dead volume, controls, retests, ASP and service spending are excluded. The two panels use different y-axis scales.</a:t>
            </a:r>
          </a:p>
          <a:p xmlns:a="http://schemas.openxmlformats.org/drawingml/2006/main">
            <a:r>
              <a:t/>
            </a:r>
          </a:p>
          <a:p xmlns:a="http://schemas.openxmlformats.org/drawingml/2006/main">
            <a:r>
              <a:t>Figure 07 uses illustrative cumulative funding pools of US$50bn, US$100bn and US$200bn. No time horizon is specified. Allocations are 30% research equipment/automation, 25% research reagents, 20% research consumables, 15% manufacturing bioprocess tools and 10% services/other. Research-use and manufacturing-use allocations are mutually exclusive. These are not realized financing, annual TAM or a company revenue forecast.</a:t>
            </a:r>
          </a:p>
          <a:p xmlns:a="http://schemas.openxmlformats.org/drawingml/2006/main">
            <a:r>
              <a:t/>
            </a:r>
          </a:p>
          <a:p xmlns:a="http://schemas.openxmlformats.org/drawingml/2006/main">
            <a:r>
              <a:t>Figures 05, 08 and 09 use qualitative analyst positions. Bubble area in figure 05 is schematic relative opportunity, not measured TAM. Axis positions and the gold emphasis on ACROBiosystems and NanoMicro are not numerical scores, stock recommendations, market-share estimates or measured AI revenue. Supply barriers do not establish a current shortage.</a:t>
            </a:r>
          </a:p>
          <a:p xmlns:a="http://schemas.openxmlformats.org/drawingml/2006/main">
            <a:r>
              <a:t/>
            </a:r>
          </a:p>
          <a:p xmlns:a="http://schemas.openxmlformats.org/drawingml/2006/main">
            <a:r>
              <a:t>Figures 04 and 10 describe a conditional mechanism: funded projects → physical experimentation → net tool consumption and purchasing → company share → profit and cash flow. AI funding announcements alone do not establish LST orders. Miniaturization, faster candidate triage, resin reuse and pricing can offset higher experiment counts.</a:t>
            </a:r>
          </a:p>
          <a:p xmlns:a="http://schemas.openxmlformats.org/drawingml/2006/main">
            <a:r>
              <a:t/>
            </a:r>
          </a:p>
          <a:p xmlns:a="http://schemas.openxmlformats.org/drawingml/2006/main">
            <a:r>
              <a:t>## Representative-company product evidence</a:t>
            </a:r>
          </a:p>
          <a:p xmlns:a="http://schemas.openxmlformats.org/drawingml/2006/main">
            <a:r>
              <a:t/>
            </a:r>
          </a:p>
          <a:p xmlns:a="http://schemas.openxmlformats.org/drawingml/2006/main">
            <a:r>
              <a:t>- [ACROBiosystems HKEX application, 30 Sep 2026](https://www1.hkexnews.hk/app/sehk/2026/108910/documents/sehk26093002651_c.pdf): Printed pp. 65, 67 and 71 (PDF pp. 74, 76, 80); defined LST scope, research reagents and recombinant proteins.</a:t>
            </a:r>
          </a:p>
          <a:p xmlns:a="http://schemas.openxmlformats.org/drawingml/2006/main">
            <a:r>
              <a:t>- [Vazyme 2024 annual report](https://static.cninfo.com.cn/finalpage/2025-04-10/1223046699.PDF): Product and business evidence; matrix positions are analyst assumptions.</a:t>
            </a:r>
          </a:p>
          <a:p xmlns:a="http://schemas.openxmlformats.org/drawingml/2006/main">
            <a:r>
              <a:t>- [ACROBiosystems filing: recombinant protein competitive landscape](https://www1.hkexnews.hk/app/sehk/2026/108910/documents/sehk26093002651_c.pdf): Product and business evidence; matrix positions are analyst assumptions.</a:t>
            </a:r>
          </a:p>
          <a:p xmlns:a="http://schemas.openxmlformats.org/drawingml/2006/main">
            <a:r>
              <a:t>- [Novoprotein official product catalog](https://www.novoprotein.com.cn/products): Product and business evidence; matrix positions are analyst assumptions.</a:t>
            </a:r>
          </a:p>
          <a:p xmlns:a="http://schemas.openxmlformats.org/drawingml/2006/main">
            <a:r>
              <a:t>- [NanoMicro 2025 annual report](https://static.cninfo.com.cn/finalpage/2026-04-16/1225107014.PDF): Product and business evidence; matrix positions are analyst assumptions.</a:t>
            </a:r>
          </a:p>
          <a:p xmlns:a="http://schemas.openxmlformats.org/drawingml/2006/main">
            <a:r>
              <a:t>- [Sepax IPO prospectus, Jan 2025](https://static.cninfo.com.cn/finalpage/2025-01-06/1222238930.PDF): Product and business evidence; matrix positions are analyst assumptions.</a:t>
            </a:r>
          </a:p>
          <a:p xmlns:a="http://schemas.openxmlformats.org/drawingml/2006/main">
            <a:r>
              <a:t>- [JET Biofil 2025 interim report](https://stockmc.xueqiu.com/202508/688026_20250830_4FZX.pdf): Product and business evidence; matrix positions are analyst assumptions.</a:t>
            </a:r>
          </a:p>
          <a:p xmlns:a="http://schemas.openxmlformats.org/drawingml/2006/main">
            <a:r>
              <a:t>- [Changhong official website](https://cn.sz-changhong.com/): Product and business evidence; matrix positions are analyst assumptions.</a:t>
            </a:r>
          </a:p>
          <a:p xmlns:a="http://schemas.openxmlformats.org/drawingml/2006/main">
            <a:r>
              <a:t>- [Bide Pharmatech official catalog](https://www.bidepharm.com/): Product and business evidence; matrix positions are analyst assumptions.</a:t>
            </a:r>
          </a:p>
          <a:p xmlns:a="http://schemas.openxmlformats.org/drawingml/2006/main">
            <a:r>
              <a:t>- [ChemExpress official website](https://www.chemexpress.com.cn/): Product and business evidence; matrix positions are analyst assumptions.</a:t>
            </a:r>
          </a:p>
          <a:p xmlns:a="http://schemas.openxmlformats.org/drawingml/2006/main">
            <a:r>
              <a:t>- [MGI 2025 annual report](https://static.cninfo.com.cn/finalpage/2026-04-25/1225194780.PDF): Product and business evidence; matrix positions are analyst assumptions.</a:t>
            </a:r>
          </a:p>
          <a:p xmlns:a="http://schemas.openxmlformats.org/drawingml/2006/main">
            <a:r>
              <a:t>- [OPM Biosciences 2025 annual report](https://pdf.dfcfw.com/pdf/H2_AN202604221821449851_1.pdf): Product and business evidence; matrix positions are analyst assumptions.</a:t>
            </a:r>
          </a:p>
          <a:p xmlns:a="http://schemas.openxmlformats.org/drawingml/2006/main">
            <a:r>
              <a:t/>
            </a:r>
          </a:p>
          <a:p xmlns:a="http://schemas.openxmlformats.org/drawingml/2006/main">
            <a:r>
              <a:t>The primary distinction in this research is product exposure: ACROBiosystems supplies recombinant proteins and assay tools used in expression and functional validation; NanoMicro supplies purification and chromatography products used in analytical/process development and manufacturing. A broad increase in virtual candidates does not establish either company's incremental orders. Manufacturing demand also depends on successful clinical translation and drug output.</a:t>
            </a:r>
          </a:p>
          <a:p xmlns:a="http://schemas.openxmlformats.org/drawingml/2006/main">
            <a:r>
              <a:t/>
            </a:r>
          </a:p>
          <a:p xmlns:a="http://schemas.openxmlformats.org/drawingml/2006/main">
            <a:r>
              <a:t>## Logo and icon assets</a:t>
            </a:r>
          </a:p>
          <a:p xmlns:a="http://schemas.openxmlformats.org/drawingml/2006/main">
            <a:r>
              <a:t/>
            </a:r>
          </a:p>
          <a:p xmlns:a="http://schemas.openxmlformats.org/drawingml/2006/main">
            <a:r>
              <a:t>Logo files identify representative suppliers. `assets/sources.json` gives source URLs and modifications. Where whitespace was trimmed, the brand artwork is unchanged. NanoMicro uses its circular emblem alongside a separate editable English company label, keeping all visible labels English. JET uses an English brand asset from a supplier listing. Company names remain editable even when a logo is embedded. Supplier lists are examples and are not rankings or endorsements.</a:t>
            </a:r>
          </a:p>
          <a:p xmlns:a="http://schemas.openxmlformats.org/drawingml/2006/main">
            <a:r>
              <a:t/>
            </a:r>
          </a:p>
          <a:p xmlns:a="http://schemas.openxmlformats.org/drawingml/2006/main">
            <a:r>
              <a:t>Lucide icons are sourced from the project's official GitHub repository, recolored teal for the graphic and provided under the ISC license. The full license is included in `assets/icons/LICENSE`.</a:t>
            </a:r>
          </a:p>
          <a:p xmlns:a="http://schemas.openxmlformats.org/drawingml/2006/main">
            <a:r>
              <a:t/>
            </a:r>
          </a:p>
          <a:p xmlns:a="http://schemas.openxmlformats.org/drawingml/2006/main">
            <a:r>
              <a:t/>
            </a:r>
          </a:p>
          <a:p xmlns:a="http://schemas.openxmlformats.org/drawingml/2006/main">
            <a:r>
              <a:t># Supplier tickers and current BD exposure</a:t>
            </a:r>
          </a:p>
          <a:p xmlns:a="http://schemas.openxmlformats.org/drawingml/2006/main">
            <a:r>
              <a:t/>
            </a:r>
          </a:p>
          <a:p xmlns:a="http://schemas.openxmlformats.org/drawingml/2006/main">
            <a:r>
              <a:t>Updated 13 October 2026. Rows identify representative suppliers or their listed parents, not market shares or investment recommendations. China/HK and US groups refer to listing venues; they do not imply legal domicile, headquarters or pure-play exposure.</a:t>
            </a:r>
          </a:p>
          <a:p xmlns:a="http://schemas.openxmlformats.org/drawingml/2006/main">
            <a:r>
              <a:t/>
            </a:r>
          </a:p>
          <a:p xmlns:a="http://schemas.openxmlformats.org/drawingml/2006/main">
            <a:r>
              <a:t>BD (NYSE:BDX) remains relevant to specimen collection and preanalytical sample handling. Its former Biosciences and Diagnostic Solutions business, including flow cytometry, moved to Waters (NYSE:WAT) on 9 February 2026.</a:t>
            </a:r>
          </a:p>
          <a:p xmlns:a="http://schemas.openxmlformats.org/drawingml/2006/main">
            <a:r>
              <a:t/>
            </a:r>
          </a:p>
          <a:p xmlns:a="http://schemas.openxmlformats.org/drawingml/2006/main">
            <a:r>
              <a:t>- [BD completion release](https://investors.bd.com/news-events/press-releases/detail/937/bd-completes-combination-of-biosciences-diagnostic-solutions-business-with-waters-corporation)</a:t>
            </a:r>
          </a:p>
          <a:p xmlns:a="http://schemas.openxmlformats.org/drawingml/2006/main">
            <a:r>
              <a:t>- [Waters current transaction disclosure](https://www.waters.com/nextgen/us/en/about-waters/corporate-governance/legal-and-privacy-notices/bdtransaction.html)</a:t>
            </a:r>
          </a:p>
          <a:p xmlns:a="http://schemas.openxmlformats.org/drawingml/2006/main">
            <a:r>
              <a:t>- [Current BD Vacutainer portfolio](https://go.bd.com/vacutainer-product-updates-TY.html): specimen-collection / sample-management products.</a:t>
            </a:r>
          </a:p>
          <a:p xmlns:a="http://schemas.openxmlformats.org/drawingml/2006/main">
            <a:r>
              <a:t/>
            </a:r>
          </a:p>
          <a:p xmlns:a="http://schemas.openxmlformats.org/drawingml/2006/main">
            <a:r>
              <a:t>Gibco is shown with Thermo Fisher (TMO); Cytiva and HyClone with Danaher (DHR). The underlying business exposure is narrower than the parent company's total revenue. Tsingke's code 874813 is a NEEQ code, not an A-share exchange listing; its IPO application is a separate filing. Suzhou Sepax is 688758.SH; the graphic refers to the China-listed issuer's chromatography portfolio.</a:t>
            </a:r>
          </a:p>
          <a:p xmlns:a="http://schemas.openxmlformats.org/drawingml/2006/main">
            <a:r>
              <a:t/>
            </a:r>
          </a:p>
          <a:p xmlns:a="http://schemas.openxmlformats.org/drawingml/2006/main">
            <a:r>
              <a:t>| Supplier / parent | Exchange | Ticker | Product pathway | Primary listing / business source |</a:t>
            </a:r>
          </a:p>
          <a:p xmlns:a="http://schemas.openxmlformats.org/drawingml/2006/main">
            <a:r>
              <a:t>|---|---|---|---|---|</a:t>
            </a:r>
          </a:p>
          <a:p xmlns:a="http://schemas.openxmlformats.org/drawingml/2006/main">
            <a:r>
              <a:t>| GenScript | HKEX | 1548 | Molecular construction | [Source](https://www.genscript.com/genscript-biotech-demonstrates-profitable-scale-and-strategic-leadership-in-h1-2025.html) |</a:t>
            </a:r>
          </a:p>
          <a:p xmlns:a="http://schemas.openxmlformats.org/drawingml/2006/main">
            <a:r>
              <a:t>| Vazyme | SSE | 688105 | Molecular construction | [Source](https://www.vazyme.us/AboutUs/OurStrories/) |</a:t>
            </a:r>
          </a:p>
          <a:p xmlns:a="http://schemas.openxmlformats.org/drawingml/2006/main">
            <a:r>
              <a:t>| Tsingke | NEEQ | 874813 | DNA synthesis; NEEQ-listed, A-share IPO application is separate | [Source](https://static.sse.com.cn/stock/disclosure/announcement/c/202606/002233_20260630_Z9LA.pdf) |</a:t>
            </a:r>
          </a:p>
          <a:p xmlns:a="http://schemas.openxmlformats.org/drawingml/2006/main">
            <a:r>
              <a:t>| ACROBiosystems | SZSE | 301080 | Proteins / functional cells | [Source](https://www1.hkexnews.hk/app/sehk/2026/108910/documents/sehk26093002651_c.pdf) |</a:t>
            </a:r>
          </a:p>
          <a:p xmlns:a="http://schemas.openxmlformats.org/drawingml/2006/main">
            <a:r>
              <a:t>| Sino Biological | SZSE | 301047 | Research proteins / antibodies | [Source](https://disc.static.szse.cn/disc/disk03/finalpage/2026-08-26/cd4ea950-7931-4164-bcec-20c03b8236e1.PDF) |</a:t>
            </a:r>
          </a:p>
          <a:p xmlns:a="http://schemas.openxmlformats.org/drawingml/2006/main">
            <a:r>
              <a:t>| OPM Biosciences | SSE | 688293 | Cell culture media | [Source](https://opmbiosciences.com/) |</a:t>
            </a:r>
          </a:p>
          <a:p xmlns:a="http://schemas.openxmlformats.org/drawingml/2006/main">
            <a:r>
              <a:t>| JET Biofil | SSE | 688026 | Plastic laboratory consumables | [Source](https://static.cninfo.com.cn/finalpage/2026-04-30/1225255989.PDF) |</a:t>
            </a:r>
          </a:p>
          <a:p xmlns:a="http://schemas.openxmlformats.org/drawingml/2006/main">
            <a:r>
              <a:t>| Changhong | SZSE | 300151 | Life science / medical plastic consumables | [Source](https://static.cninfo.com.cn/finalpage/2025-10-30/1224764410.PDF) |</a:t>
            </a:r>
          </a:p>
          <a:p xmlns:a="http://schemas.openxmlformats.org/drawingml/2006/main">
            <a:r>
              <a:t>| MGI | SSE | 688114 | Sequencing instruments / consumables | [Source](https://static.cninfo.com.cn/finalpage/2025-04-30/1223427376.PDF) |</a:t>
            </a:r>
          </a:p>
          <a:p xmlns:a="http://schemas.openxmlformats.org/drawingml/2006/main">
            <a:r>
              <a:t>| NanoMicro | SSE | 688690 | Chromatography materials and analytical separation / purification | [Source](https://static.cninfo.com.cn/finalpage/2026-09-22/1225575593.PDF) |</a:t>
            </a:r>
          </a:p>
          <a:p xmlns:a="http://schemas.openxmlformats.org/drawingml/2006/main">
            <a:r>
              <a:t>| Suzhou Sepax | SSE | 688758 | Chromatography columns / process media | [Source](https://www.sepax-tech.com.cn/skin/default/investorpdf/%E8%8B%8F%E5%B7%9E%E8%B5%9B%E5%88%86%E7%A7%91%E6%8A%80%E8%82%A1%E4%BB%BD%E6%9C%89%E9%99%90%E5%85%AC%E5%8F%B82025%E5%B9%B4%E7%AC%AC%E4%B8%80%E6%AC%A1%E4%B8%B4%E6%97%B6%E8%82%A1%E4%B8%9C%E4%BC%9A%E4%BC%9A%E8%AE%AE%E8%B5%84%E6%96%99.pdf) |</a:t>
            </a:r>
          </a:p>
          <a:p xmlns:a="http://schemas.openxmlformats.org/drawingml/2006/main">
            <a:r>
              <a:t>| Twist Bioscience | NASDAQ | TWST | DNA synthesis | [Source](https://investors.twistbioscience.com/static-files/8c1d5bed-df6f-48d5-832f-eb2f32717c27) |</a:t>
            </a:r>
          </a:p>
          <a:p xmlns:a="http://schemas.openxmlformats.org/drawingml/2006/main">
            <a:r>
              <a:t>| Thermo Fisher / Gibco | NYSE | TMO | Molecular tools, proteins, media and instruments; parent ticker | [Source](https://ir.thermofisher.com/investors/news-events/news/news-details/2026/Thermo-Fisher-Scientific-Reports-Second-Quarter-2026-Results/) |</a:t>
            </a:r>
          </a:p>
          <a:p xmlns:a="http://schemas.openxmlformats.org/drawingml/2006/main">
            <a:r>
              <a:t>| Bio-Techne | NASDAQ | TECH | Proteins / functional assay reagents | [Source](https://investors.bio-techne.com/stock-data) |</a:t>
            </a:r>
          </a:p>
          <a:p xmlns:a="http://schemas.openxmlformats.org/drawingml/2006/main">
            <a:r>
              <a:t>| Danaher / Cytiva / HyClone | NYSE | DHR | Culture and purification; parent ticker | [Source](https://www.danaher.com/our-businesses/biotechnology) |</a:t>
            </a:r>
          </a:p>
          <a:p xmlns:a="http://schemas.openxmlformats.org/drawingml/2006/main">
            <a:r>
              <a:t>| Corning | NYSE | GLW | Laboratory plastics / cell culture | [Source](https://www.corning.com/content/dam/corning/media/worldwide/global/documents/corning_10-k_2025.pdf) |</a:t>
            </a:r>
          </a:p>
          <a:p xmlns:a="http://schemas.openxmlformats.org/drawingml/2006/main">
            <a:r>
              <a:t>| BD | NYSE | BDX | Current specimen collection / preanalytics; ex-BD flow is WAT | [Source](https://investors.bd.com/news-events/press-releases/detail/937/bd-completes-combination-of-biosciences-diagnostic-solutions-business-with-waters-corporation) |</a:t>
            </a:r>
          </a:p>
          <a:p xmlns:a="http://schemas.openxmlformats.org/drawingml/2006/main">
            <a:r>
              <a:t>| Illumina | NASDAQ | ILMN | Sequencing instruments / consumables | [Source](https://investor.illumina.com/static-files/eb129ea4-1f1a-408f-b87a-44eaee93c63d) |</a:t>
            </a:r>
          </a:p>
          <a:p xmlns:a="http://schemas.openxmlformats.org/drawingml/2006/main">
            <a:r>
              <a:t>| Agilent | NYSE | A | Chromatography / analytical instruments | [Source](https://www.investor.agilent.com/stock-info/stock-quote-and-chart/) |</a:t>
            </a:r>
          </a:p>
          <a:p xmlns:a="http://schemas.openxmlformats.org/drawingml/2006/main">
            <a:r>
              <a:t>| Waters / former BD Biosciences | NYSE | WAT | LC-MS / chromatography and ex-BD flow cytometry | [Source](https://www.waters.com/nextgen/us/en/about-waters/corporate-governance/legal-and-privacy-notices/bdtransaction.html) |</a:t>
            </a:r>
          </a:p>
          <a:p xmlns:a="http://schemas.openxmlformats.org/drawingml/2006/main">
            <a:r>
              <a:t>| Repligen | NASDAQ | RGEN | Bioprocess purification / filtration tools | [Source](https://investors.repligen.com/stock-info/default.aspx) |</a:t>
            </a:r>
          </a:p>
          <a:p xmlns:a="http://schemas.openxmlformats.org/drawingml/2006/main">
            <a:r>
              <a:t>| Tecan | SIX | TECN | Laboratory automation; Swiss-listed | [Source](https://www.tecan.com/hubfs/HubDB/Te-PrArc/180323_Tecan_KeplerCheuvreux.pdf) |</a:t>
            </a:r>
          </a:p>
          <a:p xmlns:a="http://schemas.openxmlformats.org/drawingml/2006/main">
            <a:r>
              <a:t/>
            </a:r>
          </a:p>
          <a:p xmlns:a="http://schemas.openxmlformats.org/drawingml/2006/main">
            <a:r>
              <a:t>The market anchors retain their original scope and sources. Adding a supplier does not broaden or update the displayed TAM. The labware family includes a clinical/preanalytical adjacency for BD; the displayed anchor continues to be the selected China plastic laboratory-consumables estimate. The analytics anchor remains China sequencing instruments plus consumables; it does not size flow cytometry.</a:t>
            </a:r>
          </a:p>
          <a:p xmlns:a="http://schemas.openxmlformats.org/drawingml/2006/main">
            <a:r>
              <a:t/>
            </a:r>
          </a:p>
          <a:p xmlns:a="http://schemas.openxmlformats.org/drawingml/2006/main">
            <a:r>
              <a:t>Original BD logo: https://news.bd.com/images/header-bd-logo.svg. Original company marks retain their colors; chart/UI colors use the user-supplied palette. The second RGB value was explicitly confirmed by the user as 172:212:241.</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7: Illustrative AI-driven investment scenarios</a:t>
            </a:r>
          </a:p>
          <a:p xmlns:a="http://schemas.openxmlformats.org/drawingml/2006/main">
            <a:r>
              <a:t>Evidence status: Illustrative scenario</a:t>
            </a:r>
          </a:p>
          <a:p xmlns:a="http://schemas.openxmlformats.org/drawingml/2006/main">
            <a:r>
              <a:t/>
            </a:r>
          </a:p>
          <a:p xmlns:a="http://schemas.openxmlformats.org/drawingml/2006/main">
            <a:r>
              <a:t># Sources, assumptions and market boundaries</a:t>
            </a:r>
          </a:p>
          <a:p xmlns:a="http://schemas.openxmlformats.org/drawingml/2006/main">
            <a:r>
              <a:t/>
            </a:r>
          </a:p>
          <a:p xmlns:a="http://schemas.openxmlformats.org/drawingml/2006/main">
            <a:r>
              <a:t>Research date: 12 October 2026. This package visualizes the supplied research framework and selected anchors from the preceding primary-source research. Historical industry numbers are consultant or company-cited estimates, rather than administrative census measurements.</a:t>
            </a:r>
          </a:p>
          <a:p xmlns:a="http://schemas.openxmlformats.org/drawingml/2006/main">
            <a:r>
              <a:t/>
            </a:r>
          </a:p>
          <a:p xmlns:a="http://schemas.openxmlformats.org/drawingml/2006/main">
            <a:r>
              <a:t>## Stage table and funnel</a:t>
            </a:r>
          </a:p>
          <a:p xmlns:a="http://schemas.openxmlformats.org/drawingml/2006/main">
            <a:r>
              <a:t/>
            </a:r>
          </a:p>
          <a:p xmlns:a="http://schemas.openxmlformats.org/drawingml/2006/main">
            <a:r>
              <a:t>The supplied stage table uses virtual designs ~1,000 before AI versus 100,000–1 billion in the AI scenario; physical candidates ~1,000 versus 1,000–10,000; wet-lab profiling ~50 versus an illustrative 50→500 expansion; clinical entry 1 versus 1; expected approvals ~0.14 versus unknown. These are user-supplied assumptions, not empirical cohort statistics.</a:t>
            </a:r>
          </a:p>
          <a:p xmlns:a="http://schemas.openxmlformats.org/drawingml/2006/main">
            <a:r>
              <a:t/>
            </a:r>
          </a:p>
          <a:p xmlns:a="http://schemas.openxmlformats.org/drawingml/2006/main">
            <a:r>
              <a:t>The denominator is one clinical entrant. The second reference image uses a different denominator, per approved drug; its counts are not mixed into this table. ~0.14 is an illustrative expected count, not an independently validated success probability. DNA-encoded libraries are not equivalent to fully characterized discrete candidates. Virtual design has costs and quality constraints. The diagram states a working capacity-gate hypothesis, not that design quality or clinical biology cease to matter.</a:t>
            </a:r>
          </a:p>
          <a:p xmlns:a="http://schemas.openxmlformats.org/drawingml/2006/main">
            <a:r>
              <a:t/>
            </a:r>
          </a:p>
          <a:p xmlns:a="http://schemas.openxmlformats.org/drawingml/2006/main">
            <a:r>
              <a:t>## Market anchors in the enlarged ecosystem</a:t>
            </a:r>
          </a:p>
          <a:p xmlns:a="http://schemas.openxmlformats.org/drawingml/2006/main">
            <a:r>
              <a:t/>
            </a:r>
          </a:p>
          <a:p xmlns:a="http://schemas.openxmlformats.org/drawingml/2006/main">
            <a:r>
              <a:t>| Anchor | Geography / year | Value | Scope and evidence |</a:t>
            </a:r>
          </a:p>
          <a:p xmlns:a="http://schemas.openxmlformats.org/drawingml/2006/main">
            <a:r>
              <a:t>|---|---|---|---|</a:t>
            </a:r>
          </a:p>
          <a:p xmlns:a="http://schemas.openxmlformats.org/drawingml/2006/main">
            <a:r>
              <a:t>| DNA synthesis services | China / 2025 | RMB1.33bn | Oligonucleotide RMB0.53bn + long-fragment RMB0.80bn. Midstream services only. Tsingke 2026 IPO filing, pp.156–158. [Primary filing](https://static.sse.com.cn/stock/disclosure/announcement/c/202606/002233_20260630_Z9LA.pdf). |</a:t>
            </a:r>
          </a:p>
          <a:p xmlns:a="http://schemas.openxmlformats.org/drawingml/2006/main">
            <a:r>
              <a:t>| Research-use recombinant proteins | Global / 2025 | US$3.5bn | Research use; not therapeutic protein manufacturing. China ~US$0.4bn is rounded to US$0.1bn precision. ACROBiosystems 2026 HKEX application, printed p.71 / PDF p.80. [Primary filing](https://www1.hkexnews.hk/app/sehk/2026/108910/documents/sehk26093002651_c.pdf). |</a:t>
            </a:r>
          </a:p>
          <a:p xmlns:a="http://schemas.openxmlformats.org/drawingml/2006/main">
            <a:r>
              <a:t>| Bioprocess culture media | China / 2024 | US$323.5m* | Selected media market; not all cellular tools. F&amp;S in Duoning 2026 filing, printed p.126. Excludes the COVID impact on vaccine products. [Filing URL](https://www.hkexnews.hk/app/sehk/2026/108106/documents/sehk26011800033_c.pdf). |</a:t>
            </a:r>
          </a:p>
          <a:p xmlns:a="http://schemas.openxmlformats.org/drawingml/2006/main">
            <a:r>
              <a:t>| Disposable plastic biological laboratory consumables | China / 2024 | ~RMB23bn | Includes research, clinical and industrial uses. JET Biofil 2025 annual-report summary, PDF p.6; company cites F&amp;S and industry research. Direct primary PDF rechecked on 12 Oct 2026. [Primary disclosure](https://static.cninfo.com.cn/finalpage/2026-04-30/1225255989.PDF). |</a:t>
            </a:r>
          </a:p>
          <a:p xmlns:a="http://schemas.openxmlformats.org/drawingml/2006/main">
            <a:r>
              <a:t>| Sequencing instruments and consumables | China / 2024 | RMB4.3bn | Includes clinical sequencing; not instruments alone, and not a combined LC/MS market. MGI 2024 annual report pp.41–42, citing CIC. [Primary disclosure](https://static.cninfo.com.cn/finalpage/2025-04-30/1223427376.PDF). |</a:t>
            </a:r>
          </a:p>
          <a:p xmlns:a="http://schemas.openxmlformats.org/drawingml/2006/main">
            <a:r>
              <a:t>| Bioprocess chromatography resins | China / 2024 | US$578.2m* | Biological process resins; not all analytical columns, chemical adsorption resins or purification hardware. F&amp;S in Duoning 2026 filing, printed p.132. [Filing URL](https://www.hkexnews.hk/app/sehk/2026/108106/documents/sehk26011800033_c.pdf). |</a:t>
            </a:r>
          </a:p>
          <a:p xmlns:a="http://schemas.openxmlformats.org/drawingml/2006/main">
            <a:r>
              <a:t/>
            </a:r>
          </a:p>
          <a:p xmlns:a="http://schemas.openxmlformats.org/drawingml/2006/main">
            <a:r>
              <a:t>*The Duoning figures were checked against the publicly indexed official filing during the preceding research on 9–10 October 2026. Direct PDF access now returns 404. They carry lower source-access confidence than directly downloaded filings. The 2025 values in that filing remain forecasts and are deliberately not presented as 2025 actual results here.*</a:t>
            </a:r>
          </a:p>
          <a:p xmlns:a="http://schemas.openxmlformats.org/drawingml/2006/main">
            <a:r>
              <a:t/>
            </a:r>
          </a:p>
          <a:p xmlns:a="http://schemas.openxmlformats.org/drawingml/2006/main">
            <a:r>
              <a:t>These anchors cannot be added. Their geography, currency, year and boundary differ, and tools can be used across the six product families. Each headline sizes the stated subset, not the full box. In particular, the culture-media figure is a bioprocess anchor and cannot be generalized to all research media and cell models. Automation, mass spectrometry, flow cytometry, imaging and analytical columns are shown as tool families but are not assigned an unsupported combined TAM.</a:t>
            </a:r>
          </a:p>
          <a:p xmlns:a="http://schemas.openxmlformats.org/drawingml/2006/main">
            <a:r>
              <a:t/>
            </a:r>
          </a:p>
          <a:p xmlns:a="http://schemas.openxmlformats.org/drawingml/2006/main">
            <a:r>
              <a:t>## Supporting figure 02: consistent-scope LST comparison</a:t>
            </a:r>
          </a:p>
          <a:p xmlns:a="http://schemas.openxmlformats.org/drawingml/2006/main">
            <a:r>
              <a:t/>
            </a:r>
          </a:p>
          <a:p xmlns:a="http://schemas.openxmlformats.org/drawingml/2006/main">
            <a:r>
              <a:t>The ACROBiosystems HKEX filing of 30 Sep 2026 reports 2025 global LST US$41.5bn and China US$7.7bn under its F&amp;S scope, printed p.65 / PDF p.74. Research biological reagents are global US$26.4bn and China US$4.6bn, printed p.67 / PDF p.76. The residual other-tool values are derived: 41.5−26.4 =15.1 and 7.7−4.6 =3.1, in US$bn. China/global share is 7.7÷41.5 =18.6% rounded. This scope does not reconcile automatically to broader laboratory or manufacturing markets. [Primary filing](https://www1.hkexnews.hk/app/sehk/2026/108910/documents/sehk26093002651_c.pdf).</a:t>
            </a:r>
          </a:p>
          <a:p xmlns:a="http://schemas.openxmlformats.org/drawingml/2006/main">
            <a:r>
              <a:t/>
            </a:r>
          </a:p>
          <a:p xmlns:a="http://schemas.openxmlformats.org/drawingml/2006/main">
            <a:r>
              <a:t>## Illustrative and qualitative figures</a:t>
            </a:r>
          </a:p>
          <a:p xmlns:a="http://schemas.openxmlformats.org/drawingml/2006/main">
            <a:r>
              <a:t/>
            </a:r>
          </a:p>
          <a:p xmlns:a="http://schemas.openxmlformats.org/drawingml/2006/main">
            <a:r>
              <a:t>Figure 03 uses the supplied customer mixes: reagents 30/25/15/10/20%, consumables 20/20/15/30/15%, and instruments 25/20/10/15/30%, for academia, biotech/pharma R&amp;D, CRO/CDMO, pharma-owned production and IVD development. These are illustrative purchasing shares. Hospitals are not independently modeled, and distributors are not an end-customer category.</a:t>
            </a:r>
          </a:p>
          <a:p xmlns:a="http://schemas.openxmlformats.org/drawingml/2006/main">
            <a:r>
              <a:t/>
            </a:r>
          </a:p>
          <a:p xmlns:a="http://schemas.openxmlformats.org/drawingml/2006/main">
            <a:r>
              <a:t>Figure 06 compares 100,000 tests at 100µL in 96-well plates with 1,000,000 tests at 5µL in 1,536-well plates. Reagents fall from 10L to 5L; full-plate counts are ceiling(100,000/96)=1,042 and ceiling(1,000,000/1,536)=652. Tips per test are assumed to fall from 1 to 0.1, giving 100,000 tips in both cases. Volume index 1,000; reagent index 50; plate index 62.6; tip index 100, against a baseline of 100. Dead volume, controls, retests, ASP and service spending are excluded. The two panels use different y-axis scales.</a:t>
            </a:r>
          </a:p>
          <a:p xmlns:a="http://schemas.openxmlformats.org/drawingml/2006/main">
            <a:r>
              <a:t/>
            </a:r>
          </a:p>
          <a:p xmlns:a="http://schemas.openxmlformats.org/drawingml/2006/main">
            <a:r>
              <a:t>Figure 07 uses illustrative cumulative funding pools of US$50bn, US$100bn and US$200bn. No time horizon is specified. Allocations are 30% research equipment/automation, 25% research reagents, 20% research consumables, 15% manufacturing bioprocess tools and 10% services/other. Research-use and manufacturing-use allocations are mutually exclusive. These are not realized financing, annual TAM or a company revenue forecast.</a:t>
            </a:r>
          </a:p>
          <a:p xmlns:a="http://schemas.openxmlformats.org/drawingml/2006/main">
            <a:r>
              <a:t/>
            </a:r>
          </a:p>
          <a:p xmlns:a="http://schemas.openxmlformats.org/drawingml/2006/main">
            <a:r>
              <a:t>Figures 05, 08 and 09 use qualitative analyst positions. Bubble area in figure 05 is schematic relative opportunity, not measured TAM. Axis positions and the gold emphasis on ACROBiosystems and NanoMicro are not numerical scores, stock recommendations, market-share estimates or measured AI revenue. Supply barriers do not establish a current shortage.</a:t>
            </a:r>
          </a:p>
          <a:p xmlns:a="http://schemas.openxmlformats.org/drawingml/2006/main">
            <a:r>
              <a:t/>
            </a:r>
          </a:p>
          <a:p xmlns:a="http://schemas.openxmlformats.org/drawingml/2006/main">
            <a:r>
              <a:t>Figures 04 and 10 describe a conditional mechanism: funded projects → physical experimentation → net tool consumption and purchasing → company share → profit and cash flow. AI funding announcements alone do not establish LST orders. Miniaturization, faster candidate triage, resin reuse and pricing can offset higher experiment counts.</a:t>
            </a:r>
          </a:p>
          <a:p xmlns:a="http://schemas.openxmlformats.org/drawingml/2006/main">
            <a:r>
              <a:t/>
            </a:r>
          </a:p>
          <a:p xmlns:a="http://schemas.openxmlformats.org/drawingml/2006/main">
            <a:r>
              <a:t>## Representative-company product evidence</a:t>
            </a:r>
          </a:p>
          <a:p xmlns:a="http://schemas.openxmlformats.org/drawingml/2006/main">
            <a:r>
              <a:t/>
            </a:r>
          </a:p>
          <a:p xmlns:a="http://schemas.openxmlformats.org/drawingml/2006/main">
            <a:r>
              <a:t>- [ACROBiosystems HKEX application, 30 Sep 2026](https://www1.hkexnews.hk/app/sehk/2026/108910/documents/sehk26093002651_c.pdf): Printed pp. 65, 67 and 71 (PDF pp. 74, 76, 80); defined LST scope, research reagents and recombinant proteins.</a:t>
            </a:r>
          </a:p>
          <a:p xmlns:a="http://schemas.openxmlformats.org/drawingml/2006/main">
            <a:r>
              <a:t>- [Vazyme 2024 annual report](https://static.cninfo.com.cn/finalpage/2025-04-10/1223046699.PDF): Product and business evidence; matrix positions are analyst assumptions.</a:t>
            </a:r>
          </a:p>
          <a:p xmlns:a="http://schemas.openxmlformats.org/drawingml/2006/main">
            <a:r>
              <a:t>- [ACROBiosystems filing: recombinant protein competitive landscape](https://www1.hkexnews.hk/app/sehk/2026/108910/documents/sehk26093002651_c.pdf): Product and business evidence; matrix positions are analyst assumptions.</a:t>
            </a:r>
          </a:p>
          <a:p xmlns:a="http://schemas.openxmlformats.org/drawingml/2006/main">
            <a:r>
              <a:t>- [Novoprotein official product catalog](https://www.novoprotein.com.cn/products): Product and business evidence; matrix positions are analyst assumptions.</a:t>
            </a:r>
          </a:p>
          <a:p xmlns:a="http://schemas.openxmlformats.org/drawingml/2006/main">
            <a:r>
              <a:t>- [NanoMicro 2025 annual report](https://static.cninfo.com.cn/finalpage/2026-04-16/1225107014.PDF): Product and business evidence; matrix positions are analyst assumptions.</a:t>
            </a:r>
          </a:p>
          <a:p xmlns:a="http://schemas.openxmlformats.org/drawingml/2006/main">
            <a:r>
              <a:t>- [Sepax IPO prospectus, Jan 2025](https://static.cninfo.com.cn/finalpage/2025-01-06/1222238930.PDF): Product and business evidence; matrix positions are analyst assumptions.</a:t>
            </a:r>
          </a:p>
          <a:p xmlns:a="http://schemas.openxmlformats.org/drawingml/2006/main">
            <a:r>
              <a:t>- [JET Biofil 2025 interim report](https://stockmc.xueqiu.com/202508/688026_20250830_4FZX.pdf): Product and business evidence; matrix positions are analyst assumptions.</a:t>
            </a:r>
          </a:p>
          <a:p xmlns:a="http://schemas.openxmlformats.org/drawingml/2006/main">
            <a:r>
              <a:t>- [Changhong official website](https://cn.sz-changhong.com/): Product and business evidence; matrix positions are analyst assumptions.</a:t>
            </a:r>
          </a:p>
          <a:p xmlns:a="http://schemas.openxmlformats.org/drawingml/2006/main">
            <a:r>
              <a:t>- [Bide Pharmatech official catalog](https://www.bidepharm.com/): Product and business evidence; matrix positions are analyst assumptions.</a:t>
            </a:r>
          </a:p>
          <a:p xmlns:a="http://schemas.openxmlformats.org/drawingml/2006/main">
            <a:r>
              <a:t>- [ChemExpress official website](https://www.chemexpress.com.cn/): Product and business evidence; matrix positions are analyst assumptions.</a:t>
            </a:r>
          </a:p>
          <a:p xmlns:a="http://schemas.openxmlformats.org/drawingml/2006/main">
            <a:r>
              <a:t>- [MGI 2025 annual report](https://static.cninfo.com.cn/finalpage/2026-04-25/1225194780.PDF): Product and business evidence; matrix positions are analyst assumptions.</a:t>
            </a:r>
          </a:p>
          <a:p xmlns:a="http://schemas.openxmlformats.org/drawingml/2006/main">
            <a:r>
              <a:t>- [OPM Biosciences 2025 annual report](https://pdf.dfcfw.com/pdf/H2_AN202604221821449851_1.pdf): Product and business evidence; matrix positions are analyst assumptions.</a:t>
            </a:r>
          </a:p>
          <a:p xmlns:a="http://schemas.openxmlformats.org/drawingml/2006/main">
            <a:r>
              <a:t/>
            </a:r>
          </a:p>
          <a:p xmlns:a="http://schemas.openxmlformats.org/drawingml/2006/main">
            <a:r>
              <a:t>The primary distinction in this research is product exposure: ACROBiosystems supplies recombinant proteins and assay tools used in expression and functional validation; NanoMicro supplies purification and chromatography products used in analytical/process development and manufacturing. A broad increase in virtual candidates does not establish either company's incremental orders. Manufacturing demand also depends on successful clinical translation and drug output.</a:t>
            </a:r>
          </a:p>
          <a:p xmlns:a="http://schemas.openxmlformats.org/drawingml/2006/main">
            <a:r>
              <a:t/>
            </a:r>
          </a:p>
          <a:p xmlns:a="http://schemas.openxmlformats.org/drawingml/2006/main">
            <a:r>
              <a:t>## Logo and icon assets</a:t>
            </a:r>
          </a:p>
          <a:p xmlns:a="http://schemas.openxmlformats.org/drawingml/2006/main">
            <a:r>
              <a:t/>
            </a:r>
          </a:p>
          <a:p xmlns:a="http://schemas.openxmlformats.org/drawingml/2006/main">
            <a:r>
              <a:t>Logo files identify representative suppliers. `assets/sources.json` gives source URLs and modifications. Where whitespace was trimmed, the brand artwork is unchanged. NanoMicro uses its circular emblem alongside a separate editable English company label, keeping all visible labels English. JET uses an English brand asset from a supplier listing. Company names remain editable even when a logo is embedded. Supplier lists are examples and are not rankings or endorsements.</a:t>
            </a:r>
          </a:p>
          <a:p xmlns:a="http://schemas.openxmlformats.org/drawingml/2006/main">
            <a:r>
              <a:t/>
            </a:r>
          </a:p>
          <a:p xmlns:a="http://schemas.openxmlformats.org/drawingml/2006/main">
            <a:r>
              <a:t>Lucide icons are sourced from the project's official GitHub repository, recolored teal for the graphic and provided under the ISC license. The full license is included in `assets/icons/LICENSE`.</a:t>
            </a:r>
          </a:p>
          <a:p xmlns:a="http://schemas.openxmlformats.org/drawingml/2006/main">
            <a:r>
              <a:t/>
            </a:r>
          </a:p>
          <a:p xmlns:a="http://schemas.openxmlformats.org/drawingml/2006/main">
            <a:r>
              <a:t/>
            </a:r>
          </a:p>
          <a:p xmlns:a="http://schemas.openxmlformats.org/drawingml/2006/main">
            <a:r>
              <a:t># Supplier tickers and current BD exposure</a:t>
            </a:r>
          </a:p>
          <a:p xmlns:a="http://schemas.openxmlformats.org/drawingml/2006/main">
            <a:r>
              <a:t/>
            </a:r>
          </a:p>
          <a:p xmlns:a="http://schemas.openxmlformats.org/drawingml/2006/main">
            <a:r>
              <a:t>Updated 13 October 2026. Rows identify representative suppliers or their listed parents, not market shares or investment recommendations. China/HK and US groups refer to listing venues; they do not imply legal domicile, headquarters or pure-play exposure.</a:t>
            </a:r>
          </a:p>
          <a:p xmlns:a="http://schemas.openxmlformats.org/drawingml/2006/main">
            <a:r>
              <a:t/>
            </a:r>
          </a:p>
          <a:p xmlns:a="http://schemas.openxmlformats.org/drawingml/2006/main">
            <a:r>
              <a:t>BD (NYSE:BDX) remains relevant to specimen collection and preanalytical sample handling. Its former Biosciences and Diagnostic Solutions business, including flow cytometry, moved to Waters (NYSE:WAT) on 9 February 2026.</a:t>
            </a:r>
          </a:p>
          <a:p xmlns:a="http://schemas.openxmlformats.org/drawingml/2006/main">
            <a:r>
              <a:t/>
            </a:r>
          </a:p>
          <a:p xmlns:a="http://schemas.openxmlformats.org/drawingml/2006/main">
            <a:r>
              <a:t>- [BD completion release](https://investors.bd.com/news-events/press-releases/detail/937/bd-completes-combination-of-biosciences-diagnostic-solutions-business-with-waters-corporation)</a:t>
            </a:r>
          </a:p>
          <a:p xmlns:a="http://schemas.openxmlformats.org/drawingml/2006/main">
            <a:r>
              <a:t>- [Waters current transaction disclosure](https://www.waters.com/nextgen/us/en/about-waters/corporate-governance/legal-and-privacy-notices/bdtransaction.html)</a:t>
            </a:r>
          </a:p>
          <a:p xmlns:a="http://schemas.openxmlformats.org/drawingml/2006/main">
            <a:r>
              <a:t>- [Current BD Vacutainer portfolio](https://go.bd.com/vacutainer-product-updates-TY.html): specimen-collection / sample-management products.</a:t>
            </a:r>
          </a:p>
          <a:p xmlns:a="http://schemas.openxmlformats.org/drawingml/2006/main">
            <a:r>
              <a:t/>
            </a:r>
          </a:p>
          <a:p xmlns:a="http://schemas.openxmlformats.org/drawingml/2006/main">
            <a:r>
              <a:t>Gibco is shown with Thermo Fisher (TMO); Cytiva and HyClone with Danaher (DHR). The underlying business exposure is narrower than the parent company's total revenue. Tsingke's code 874813 is a NEEQ code, not an A-share exchange listing; its IPO application is a separate filing. Suzhou Sepax is 688758.SH; the graphic refers to the China-listed issuer's chromatography portfolio.</a:t>
            </a:r>
          </a:p>
          <a:p xmlns:a="http://schemas.openxmlformats.org/drawingml/2006/main">
            <a:r>
              <a:t/>
            </a:r>
          </a:p>
          <a:p xmlns:a="http://schemas.openxmlformats.org/drawingml/2006/main">
            <a:r>
              <a:t>| Supplier / parent | Exchange | Ticker | Product pathway | Primary listing / business source |</a:t>
            </a:r>
          </a:p>
          <a:p xmlns:a="http://schemas.openxmlformats.org/drawingml/2006/main">
            <a:r>
              <a:t>|---|---|---|---|---|</a:t>
            </a:r>
          </a:p>
          <a:p xmlns:a="http://schemas.openxmlformats.org/drawingml/2006/main">
            <a:r>
              <a:t>| GenScript | HKEX | 1548 | Molecular construction | [Source](https://www.genscript.com/genscript-biotech-demonstrates-profitable-scale-and-strategic-leadership-in-h1-2025.html) |</a:t>
            </a:r>
          </a:p>
          <a:p xmlns:a="http://schemas.openxmlformats.org/drawingml/2006/main">
            <a:r>
              <a:t>| Vazyme | SSE | 688105 | Molecular construction | [Source](https://www.vazyme.us/AboutUs/OurStrories/) |</a:t>
            </a:r>
          </a:p>
          <a:p xmlns:a="http://schemas.openxmlformats.org/drawingml/2006/main">
            <a:r>
              <a:t>| Tsingke | NEEQ | 874813 | DNA synthesis; NEEQ-listed, A-share IPO application is separate | [Source](https://static.sse.com.cn/stock/disclosure/announcement/c/202606/002233_20260630_Z9LA.pdf) |</a:t>
            </a:r>
          </a:p>
          <a:p xmlns:a="http://schemas.openxmlformats.org/drawingml/2006/main">
            <a:r>
              <a:t>| ACROBiosystems | SZSE | 301080 | Proteins / functional cells | [Source](https://www1.hkexnews.hk/app/sehk/2026/108910/documents/sehk26093002651_c.pdf) |</a:t>
            </a:r>
          </a:p>
          <a:p xmlns:a="http://schemas.openxmlformats.org/drawingml/2006/main">
            <a:r>
              <a:t>| Sino Biological | SZSE | 301047 | Research proteins / antibodies | [Source](https://disc.static.szse.cn/disc/disk03/finalpage/2026-08-26/cd4ea950-7931-4164-bcec-20c03b8236e1.PDF) |</a:t>
            </a:r>
          </a:p>
          <a:p xmlns:a="http://schemas.openxmlformats.org/drawingml/2006/main">
            <a:r>
              <a:t>| OPM Biosciences | SSE | 688293 | Cell culture media | [Source](https://opmbiosciences.com/) |</a:t>
            </a:r>
          </a:p>
          <a:p xmlns:a="http://schemas.openxmlformats.org/drawingml/2006/main">
            <a:r>
              <a:t>| JET Biofil | SSE | 688026 | Plastic laboratory consumables | [Source](https://static.cninfo.com.cn/finalpage/2026-04-30/1225255989.PDF) |</a:t>
            </a:r>
          </a:p>
          <a:p xmlns:a="http://schemas.openxmlformats.org/drawingml/2006/main">
            <a:r>
              <a:t>| Changhong | SZSE | 300151 | Life science / medical plastic consumables | [Source](https://static.cninfo.com.cn/finalpage/2025-10-30/1224764410.PDF) |</a:t>
            </a:r>
          </a:p>
          <a:p xmlns:a="http://schemas.openxmlformats.org/drawingml/2006/main">
            <a:r>
              <a:t>| MGI | SSE | 688114 | Sequencing instruments / consumables | [Source](https://static.cninfo.com.cn/finalpage/2025-04-30/1223427376.PDF) |</a:t>
            </a:r>
          </a:p>
          <a:p xmlns:a="http://schemas.openxmlformats.org/drawingml/2006/main">
            <a:r>
              <a:t>| NanoMicro | SSE | 688690 | Chromatography materials and analytical separation / purification | [Source](https://static.cninfo.com.cn/finalpage/2026-09-22/1225575593.PDF) |</a:t>
            </a:r>
          </a:p>
          <a:p xmlns:a="http://schemas.openxmlformats.org/drawingml/2006/main">
            <a:r>
              <a:t>| Suzhou Sepax | SSE | 688758 | Chromatography columns / process media | [Source](https://www.sepax-tech.com.cn/skin/default/investorpdf/%E8%8B%8F%E5%B7%9E%E8%B5%9B%E5%88%86%E7%A7%91%E6%8A%80%E8%82%A1%E4%BB%BD%E6%9C%89%E9%99%90%E5%85%AC%E5%8F%B82025%E5%B9%B4%E7%AC%AC%E4%B8%80%E6%AC%A1%E4%B8%B4%E6%97%B6%E8%82%A1%E4%B8%9C%E4%BC%9A%E4%BC%9A%E8%AE%AE%E8%B5%84%E6%96%99.pdf) |</a:t>
            </a:r>
          </a:p>
          <a:p xmlns:a="http://schemas.openxmlformats.org/drawingml/2006/main">
            <a:r>
              <a:t>| Twist Bioscience | NASDAQ | TWST | DNA synthesis | [Source](https://investors.twistbioscience.com/static-files/8c1d5bed-df6f-48d5-832f-eb2f32717c27) |</a:t>
            </a:r>
          </a:p>
          <a:p xmlns:a="http://schemas.openxmlformats.org/drawingml/2006/main">
            <a:r>
              <a:t>| Thermo Fisher / Gibco | NYSE | TMO | Molecular tools, proteins, media and instruments; parent ticker | [Source](https://ir.thermofisher.com/investors/news-events/news/news-details/2026/Thermo-Fisher-Scientific-Reports-Second-Quarter-2026-Results/) |</a:t>
            </a:r>
          </a:p>
          <a:p xmlns:a="http://schemas.openxmlformats.org/drawingml/2006/main">
            <a:r>
              <a:t>| Bio-Techne | NASDAQ | TECH | Proteins / functional assay reagents | [Source](https://investors.bio-techne.com/stock-data) |</a:t>
            </a:r>
          </a:p>
          <a:p xmlns:a="http://schemas.openxmlformats.org/drawingml/2006/main">
            <a:r>
              <a:t>| Danaher / Cytiva / HyClone | NYSE | DHR | Culture and purification; parent ticker | [Source](https://www.danaher.com/our-businesses/biotechnology) |</a:t>
            </a:r>
          </a:p>
          <a:p xmlns:a="http://schemas.openxmlformats.org/drawingml/2006/main">
            <a:r>
              <a:t>| Corning | NYSE | GLW | Laboratory plastics / cell culture | [Source](https://www.corning.com/content/dam/corning/media/worldwide/global/documents/corning_10-k_2025.pdf) |</a:t>
            </a:r>
          </a:p>
          <a:p xmlns:a="http://schemas.openxmlformats.org/drawingml/2006/main">
            <a:r>
              <a:t>| BD | NYSE | BDX | Current specimen collection / preanalytics; ex-BD flow is WAT | [Source](https://investors.bd.com/news-events/press-releases/detail/937/bd-completes-combination-of-biosciences-diagnostic-solutions-business-with-waters-corporation) |</a:t>
            </a:r>
          </a:p>
          <a:p xmlns:a="http://schemas.openxmlformats.org/drawingml/2006/main">
            <a:r>
              <a:t>| Illumina | NASDAQ | ILMN | Sequencing instruments / consumables | [Source](https://investor.illumina.com/static-files/eb129ea4-1f1a-408f-b87a-44eaee93c63d) |</a:t>
            </a:r>
          </a:p>
          <a:p xmlns:a="http://schemas.openxmlformats.org/drawingml/2006/main">
            <a:r>
              <a:t>| Agilent | NYSE | A | Chromatography / analytical instruments | [Source](https://www.investor.agilent.com/stock-info/stock-quote-and-chart/) |</a:t>
            </a:r>
          </a:p>
          <a:p xmlns:a="http://schemas.openxmlformats.org/drawingml/2006/main">
            <a:r>
              <a:t>| Waters / former BD Biosciences | NYSE | WAT | LC-MS / chromatography and ex-BD flow cytometry | [Source](https://www.waters.com/nextgen/us/en/about-waters/corporate-governance/legal-and-privacy-notices/bdtransaction.html) |</a:t>
            </a:r>
          </a:p>
          <a:p xmlns:a="http://schemas.openxmlformats.org/drawingml/2006/main">
            <a:r>
              <a:t>| Repligen | NASDAQ | RGEN | Bioprocess purification / filtration tools | [Source](https://investors.repligen.com/stock-info/default.aspx) |</a:t>
            </a:r>
          </a:p>
          <a:p xmlns:a="http://schemas.openxmlformats.org/drawingml/2006/main">
            <a:r>
              <a:t>| Tecan | SIX | TECN | Laboratory automation; Swiss-listed | [Source](https://www.tecan.com/hubfs/HubDB/Te-PrArc/180323_Tecan_KeplerCheuvreux.pdf) |</a:t>
            </a:r>
          </a:p>
          <a:p xmlns:a="http://schemas.openxmlformats.org/drawingml/2006/main">
            <a:r>
              <a:t/>
            </a:r>
          </a:p>
          <a:p xmlns:a="http://schemas.openxmlformats.org/drawingml/2006/main">
            <a:r>
              <a:t>The market anchors retain their original scope and sources. Adding a supplier does not broaden or update the displayed TAM. The labware family includes a clinical/preanalytical adjacency for BD; the displayed anchor continues to be the selected China plastic laboratory-consumables estimate. The analytics anchor remains China sequencing instruments plus consumables; it does not size flow cytometry.</a:t>
            </a:r>
          </a:p>
          <a:p xmlns:a="http://schemas.openxmlformats.org/drawingml/2006/main">
            <a:r>
              <a:t/>
            </a:r>
          </a:p>
          <a:p xmlns:a="http://schemas.openxmlformats.org/drawingml/2006/main">
            <a:r>
              <a:t>Original BD logo: https://news.bd.com/images/header-bd-logo.svg. Original company marks retain their colors; chart/UI colors use the user-supplied palette. The second RGB value was explicitly confirmed by the user as 172:212:241.</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8: Potential supply constraints over 12–24 months</a:t>
            </a:r>
          </a:p>
          <a:p xmlns:a="http://schemas.openxmlformats.org/drawingml/2006/main">
            <a:r>
              <a:t>Evidence status: Research hypothesis</a:t>
            </a:r>
          </a:p>
          <a:p xmlns:a="http://schemas.openxmlformats.org/drawingml/2006/main">
            <a:r>
              <a:t/>
            </a:r>
          </a:p>
          <a:p xmlns:a="http://schemas.openxmlformats.org/drawingml/2006/main">
            <a:r>
              <a:t># Sources, assumptions and market boundaries</a:t>
            </a:r>
          </a:p>
          <a:p xmlns:a="http://schemas.openxmlformats.org/drawingml/2006/main">
            <a:r>
              <a:t/>
            </a:r>
          </a:p>
          <a:p xmlns:a="http://schemas.openxmlformats.org/drawingml/2006/main">
            <a:r>
              <a:t>Research date: 12 October 2026. This package visualizes the supplied research framework and selected anchors from the preceding primary-source research. Historical industry numbers are consultant or company-cited estimates, rather than administrative census measurements.</a:t>
            </a:r>
          </a:p>
          <a:p xmlns:a="http://schemas.openxmlformats.org/drawingml/2006/main">
            <a:r>
              <a:t/>
            </a:r>
          </a:p>
          <a:p xmlns:a="http://schemas.openxmlformats.org/drawingml/2006/main">
            <a:r>
              <a:t>## Stage table and funnel</a:t>
            </a:r>
          </a:p>
          <a:p xmlns:a="http://schemas.openxmlformats.org/drawingml/2006/main">
            <a:r>
              <a:t/>
            </a:r>
          </a:p>
          <a:p xmlns:a="http://schemas.openxmlformats.org/drawingml/2006/main">
            <a:r>
              <a:t>The supplied stage table uses virtual designs ~1,000 before AI versus 100,000–1 billion in the AI scenario; physical candidates ~1,000 versus 1,000–10,000; wet-lab profiling ~50 versus an illustrative 50→500 expansion; clinical entry 1 versus 1; expected approvals ~0.14 versus unknown. These are user-supplied assumptions, not empirical cohort statistics.</a:t>
            </a:r>
          </a:p>
          <a:p xmlns:a="http://schemas.openxmlformats.org/drawingml/2006/main">
            <a:r>
              <a:t/>
            </a:r>
          </a:p>
          <a:p xmlns:a="http://schemas.openxmlformats.org/drawingml/2006/main">
            <a:r>
              <a:t>The denominator is one clinical entrant. The second reference image uses a different denominator, per approved drug; its counts are not mixed into this table. ~0.14 is an illustrative expected count, not an independently validated success probability. DNA-encoded libraries are not equivalent to fully characterized discrete candidates. Virtual design has costs and quality constraints. The diagram states a working capacity-gate hypothesis, not that design quality or clinical biology cease to matter.</a:t>
            </a:r>
          </a:p>
          <a:p xmlns:a="http://schemas.openxmlformats.org/drawingml/2006/main">
            <a:r>
              <a:t/>
            </a:r>
          </a:p>
          <a:p xmlns:a="http://schemas.openxmlformats.org/drawingml/2006/main">
            <a:r>
              <a:t>## Market anchors in the enlarged ecosystem</a:t>
            </a:r>
          </a:p>
          <a:p xmlns:a="http://schemas.openxmlformats.org/drawingml/2006/main">
            <a:r>
              <a:t/>
            </a:r>
          </a:p>
          <a:p xmlns:a="http://schemas.openxmlformats.org/drawingml/2006/main">
            <a:r>
              <a:t>| Anchor | Geography / year | Value | Scope and evidence |</a:t>
            </a:r>
          </a:p>
          <a:p xmlns:a="http://schemas.openxmlformats.org/drawingml/2006/main">
            <a:r>
              <a:t>|---|---|---|---|</a:t>
            </a:r>
          </a:p>
          <a:p xmlns:a="http://schemas.openxmlformats.org/drawingml/2006/main">
            <a:r>
              <a:t>| DNA synthesis services | China / 2025 | RMB1.33bn | Oligonucleotide RMB0.53bn + long-fragment RMB0.80bn. Midstream services only. Tsingke 2026 IPO filing, pp.156–158. [Primary filing](https://static.sse.com.cn/stock/disclosure/announcement/c/202606/002233_20260630_Z9LA.pdf). |</a:t>
            </a:r>
          </a:p>
          <a:p xmlns:a="http://schemas.openxmlformats.org/drawingml/2006/main">
            <a:r>
              <a:t>| Research-use recombinant proteins | Global / 2025 | US$3.5bn | Research use; not therapeutic protein manufacturing. China ~US$0.4bn is rounded to US$0.1bn precision. ACROBiosystems 2026 HKEX application, printed p.71 / PDF p.80. [Primary filing](https://www1.hkexnews.hk/app/sehk/2026/108910/documents/sehk26093002651_c.pdf). |</a:t>
            </a:r>
          </a:p>
          <a:p xmlns:a="http://schemas.openxmlformats.org/drawingml/2006/main">
            <a:r>
              <a:t>| Bioprocess culture media | China / 2024 | US$323.5m* | Selected media market; not all cellular tools. F&amp;S in Duoning 2026 filing, printed p.126. Excludes the COVID impact on vaccine products. [Filing URL](https://www.hkexnews.hk/app/sehk/2026/108106/documents/sehk26011800033_c.pdf). |</a:t>
            </a:r>
          </a:p>
          <a:p xmlns:a="http://schemas.openxmlformats.org/drawingml/2006/main">
            <a:r>
              <a:t>| Disposable plastic biological laboratory consumables | China / 2024 | ~RMB23bn | Includes research, clinical and industrial uses. JET Biofil 2025 annual-report summary, PDF p.6; company cites F&amp;S and industry research. Direct primary PDF rechecked on 12 Oct 2026. [Primary disclosure](https://static.cninfo.com.cn/finalpage/2026-04-30/1225255989.PDF). |</a:t>
            </a:r>
          </a:p>
          <a:p xmlns:a="http://schemas.openxmlformats.org/drawingml/2006/main">
            <a:r>
              <a:t>| Sequencing instruments and consumables | China / 2024 | RMB4.3bn | Includes clinical sequencing; not instruments alone, and not a combined LC/MS market. MGI 2024 annual report pp.41–42, citing CIC. [Primary disclosure](https://static.cninfo.com.cn/finalpage/2025-04-30/1223427376.PDF). |</a:t>
            </a:r>
          </a:p>
          <a:p xmlns:a="http://schemas.openxmlformats.org/drawingml/2006/main">
            <a:r>
              <a:t>| Bioprocess chromatography resins | China / 2024 | US$578.2m* | Biological process resins; not all analytical columns, chemical adsorption resins or purification hardware. F&amp;S in Duoning 2026 filing, printed p.132. [Filing URL](https://www.hkexnews.hk/app/sehk/2026/108106/documents/sehk26011800033_c.pdf). |</a:t>
            </a:r>
          </a:p>
          <a:p xmlns:a="http://schemas.openxmlformats.org/drawingml/2006/main">
            <a:r>
              <a:t/>
            </a:r>
          </a:p>
          <a:p xmlns:a="http://schemas.openxmlformats.org/drawingml/2006/main">
            <a:r>
              <a:t>*The Duoning figures were checked against the publicly indexed official filing during the preceding research on 9–10 October 2026. Direct PDF access now returns 404. They carry lower source-access confidence than directly downloaded filings. The 2025 values in that filing remain forecasts and are deliberately not presented as 2025 actual results here.*</a:t>
            </a:r>
          </a:p>
          <a:p xmlns:a="http://schemas.openxmlformats.org/drawingml/2006/main">
            <a:r>
              <a:t/>
            </a:r>
          </a:p>
          <a:p xmlns:a="http://schemas.openxmlformats.org/drawingml/2006/main">
            <a:r>
              <a:t>These anchors cannot be added. Their geography, currency, year and boundary differ, and tools can be used across the six product families. Each headline sizes the stated subset, not the full box. In particular, the culture-media figure is a bioprocess anchor and cannot be generalized to all research media and cell models. Automation, mass spectrometry, flow cytometry, imaging and analytical columns are shown as tool families but are not assigned an unsupported combined TAM.</a:t>
            </a:r>
          </a:p>
          <a:p xmlns:a="http://schemas.openxmlformats.org/drawingml/2006/main">
            <a:r>
              <a:t/>
            </a:r>
          </a:p>
          <a:p xmlns:a="http://schemas.openxmlformats.org/drawingml/2006/main">
            <a:r>
              <a:t>## Supporting figure 02: consistent-scope LST comparison</a:t>
            </a:r>
          </a:p>
          <a:p xmlns:a="http://schemas.openxmlformats.org/drawingml/2006/main">
            <a:r>
              <a:t/>
            </a:r>
          </a:p>
          <a:p xmlns:a="http://schemas.openxmlformats.org/drawingml/2006/main">
            <a:r>
              <a:t>The ACROBiosystems HKEX filing of 30 Sep 2026 reports 2025 global LST US$41.5bn and China US$7.7bn under its F&amp;S scope, printed p.65 / PDF p.74. Research biological reagents are global US$26.4bn and China US$4.6bn, printed p.67 / PDF p.76. The residual other-tool values are derived: 41.5−26.4 =15.1 and 7.7−4.6 =3.1, in US$bn. China/global share is 7.7÷41.5 =18.6% rounded. This scope does not reconcile automatically to broader laboratory or manufacturing markets. [Primary filing](https://www1.hkexnews.hk/app/sehk/2026/108910/documents/sehk26093002651_c.pdf).</a:t>
            </a:r>
          </a:p>
          <a:p xmlns:a="http://schemas.openxmlformats.org/drawingml/2006/main">
            <a:r>
              <a:t/>
            </a:r>
          </a:p>
          <a:p xmlns:a="http://schemas.openxmlformats.org/drawingml/2006/main">
            <a:r>
              <a:t>## Illustrative and qualitative figures</a:t>
            </a:r>
          </a:p>
          <a:p xmlns:a="http://schemas.openxmlformats.org/drawingml/2006/main">
            <a:r>
              <a:t/>
            </a:r>
          </a:p>
          <a:p xmlns:a="http://schemas.openxmlformats.org/drawingml/2006/main">
            <a:r>
              <a:t>Figure 03 uses the supplied customer mixes: reagents 30/25/15/10/20%, consumables 20/20/15/30/15%, and instruments 25/20/10/15/30%, for academia, biotech/pharma R&amp;D, CRO/CDMO, pharma-owned production and IVD development. These are illustrative purchasing shares. Hospitals are not independently modeled, and distributors are not an end-customer category.</a:t>
            </a:r>
          </a:p>
          <a:p xmlns:a="http://schemas.openxmlformats.org/drawingml/2006/main">
            <a:r>
              <a:t/>
            </a:r>
          </a:p>
          <a:p xmlns:a="http://schemas.openxmlformats.org/drawingml/2006/main">
            <a:r>
              <a:t>Figure 06 compares 100,000 tests at 100µL in 96-well plates with 1,000,000 tests at 5µL in 1,536-well plates. Reagents fall from 10L to 5L; full-plate counts are ceiling(100,000/96)=1,042 and ceiling(1,000,000/1,536)=652. Tips per test are assumed to fall from 1 to 0.1, giving 100,000 tips in both cases. Volume index 1,000; reagent index 50; plate index 62.6; tip index 100, against a baseline of 100. Dead volume, controls, retests, ASP and service spending are excluded. The two panels use different y-axis scales.</a:t>
            </a:r>
          </a:p>
          <a:p xmlns:a="http://schemas.openxmlformats.org/drawingml/2006/main">
            <a:r>
              <a:t/>
            </a:r>
          </a:p>
          <a:p xmlns:a="http://schemas.openxmlformats.org/drawingml/2006/main">
            <a:r>
              <a:t>Figure 07 uses illustrative cumulative funding pools of US$50bn, US$100bn and US$200bn. No time horizon is specified. Allocations are 30% research equipment/automation, 25% research reagents, 20% research consumables, 15% manufacturing bioprocess tools and 10% services/other. Research-use and manufacturing-use allocations are mutually exclusive. These are not realized financing, annual TAM or a company revenue forecast.</a:t>
            </a:r>
          </a:p>
          <a:p xmlns:a="http://schemas.openxmlformats.org/drawingml/2006/main">
            <a:r>
              <a:t/>
            </a:r>
          </a:p>
          <a:p xmlns:a="http://schemas.openxmlformats.org/drawingml/2006/main">
            <a:r>
              <a:t>Figures 05, 08 and 09 use qualitative analyst positions. Bubble area in figure 05 is schematic relative opportunity, not measured TAM. Axis positions and the gold emphasis on ACROBiosystems and NanoMicro are not numerical scores, stock recommendations, market-share estimates or measured AI revenue. Supply barriers do not establish a current shortage.</a:t>
            </a:r>
          </a:p>
          <a:p xmlns:a="http://schemas.openxmlformats.org/drawingml/2006/main">
            <a:r>
              <a:t/>
            </a:r>
          </a:p>
          <a:p xmlns:a="http://schemas.openxmlformats.org/drawingml/2006/main">
            <a:r>
              <a:t>Figures 04 and 10 describe a conditional mechanism: funded projects → physical experimentation → net tool consumption and purchasing → company share → profit and cash flow. AI funding announcements alone do not establish LST orders. Miniaturization, faster candidate triage, resin reuse and pricing can offset higher experiment counts.</a:t>
            </a:r>
          </a:p>
          <a:p xmlns:a="http://schemas.openxmlformats.org/drawingml/2006/main">
            <a:r>
              <a:t/>
            </a:r>
          </a:p>
          <a:p xmlns:a="http://schemas.openxmlformats.org/drawingml/2006/main">
            <a:r>
              <a:t>## Representative-company product evidence</a:t>
            </a:r>
          </a:p>
          <a:p xmlns:a="http://schemas.openxmlformats.org/drawingml/2006/main">
            <a:r>
              <a:t/>
            </a:r>
          </a:p>
          <a:p xmlns:a="http://schemas.openxmlformats.org/drawingml/2006/main">
            <a:r>
              <a:t>- [ACROBiosystems HKEX application, 30 Sep 2026](https://www1.hkexnews.hk/app/sehk/2026/108910/documents/sehk26093002651_c.pdf): Printed pp. 65, 67 and 71 (PDF pp. 74, 76, 80); defined LST scope, research reagents and recombinant proteins.</a:t>
            </a:r>
          </a:p>
          <a:p xmlns:a="http://schemas.openxmlformats.org/drawingml/2006/main">
            <a:r>
              <a:t>- [Vazyme 2024 annual report](https://static.cninfo.com.cn/finalpage/2025-04-10/1223046699.PDF): Product and business evidence; matrix positions are analyst assumptions.</a:t>
            </a:r>
          </a:p>
          <a:p xmlns:a="http://schemas.openxmlformats.org/drawingml/2006/main">
            <a:r>
              <a:t>- [ACROBiosystems filing: recombinant protein competitive landscape](https://www1.hkexnews.hk/app/sehk/2026/108910/documents/sehk26093002651_c.pdf): Product and business evidence; matrix positions are analyst assumptions.</a:t>
            </a:r>
          </a:p>
          <a:p xmlns:a="http://schemas.openxmlformats.org/drawingml/2006/main">
            <a:r>
              <a:t>- [Novoprotein official product catalog](https://www.novoprotein.com.cn/products): Product and business evidence; matrix positions are analyst assumptions.</a:t>
            </a:r>
          </a:p>
          <a:p xmlns:a="http://schemas.openxmlformats.org/drawingml/2006/main">
            <a:r>
              <a:t>- [NanoMicro 2025 annual report](https://static.cninfo.com.cn/finalpage/2026-04-16/1225107014.PDF): Product and business evidence; matrix positions are analyst assumptions.</a:t>
            </a:r>
          </a:p>
          <a:p xmlns:a="http://schemas.openxmlformats.org/drawingml/2006/main">
            <a:r>
              <a:t>- [Sepax IPO prospectus, Jan 2025](https://static.cninfo.com.cn/finalpage/2025-01-06/1222238930.PDF): Product and business evidence; matrix positions are analyst assumptions.</a:t>
            </a:r>
          </a:p>
          <a:p xmlns:a="http://schemas.openxmlformats.org/drawingml/2006/main">
            <a:r>
              <a:t>- [JET Biofil 2025 interim report](https://stockmc.xueqiu.com/202508/688026_20250830_4FZX.pdf): Product and business evidence; matrix positions are analyst assumptions.</a:t>
            </a:r>
          </a:p>
          <a:p xmlns:a="http://schemas.openxmlformats.org/drawingml/2006/main">
            <a:r>
              <a:t>- [Changhong official website](https://cn.sz-changhong.com/): Product and business evidence; matrix positions are analyst assumptions.</a:t>
            </a:r>
          </a:p>
          <a:p xmlns:a="http://schemas.openxmlformats.org/drawingml/2006/main">
            <a:r>
              <a:t>- [Bide Pharmatech official catalog](https://www.bidepharm.com/): Product and business evidence; matrix positions are analyst assumptions.</a:t>
            </a:r>
          </a:p>
          <a:p xmlns:a="http://schemas.openxmlformats.org/drawingml/2006/main">
            <a:r>
              <a:t>- [ChemExpress official website](https://www.chemexpress.com.cn/): Product and business evidence; matrix positions are analyst assumptions.</a:t>
            </a:r>
          </a:p>
          <a:p xmlns:a="http://schemas.openxmlformats.org/drawingml/2006/main">
            <a:r>
              <a:t>- [MGI 2025 annual report](https://static.cninfo.com.cn/finalpage/2026-04-25/1225194780.PDF): Product and business evidence; matrix positions are analyst assumptions.</a:t>
            </a:r>
          </a:p>
          <a:p xmlns:a="http://schemas.openxmlformats.org/drawingml/2006/main">
            <a:r>
              <a:t>- [OPM Biosciences 2025 annual report](https://pdf.dfcfw.com/pdf/H2_AN202604221821449851_1.pdf): Product and business evidence; matrix positions are analyst assumptions.</a:t>
            </a:r>
          </a:p>
          <a:p xmlns:a="http://schemas.openxmlformats.org/drawingml/2006/main">
            <a:r>
              <a:t/>
            </a:r>
          </a:p>
          <a:p xmlns:a="http://schemas.openxmlformats.org/drawingml/2006/main">
            <a:r>
              <a:t>The primary distinction in this research is product exposure: ACROBiosystems supplies recombinant proteins and assay tools used in expression and functional validation; NanoMicro supplies purification and chromatography products used in analytical/process development and manufacturing. A broad increase in virtual candidates does not establish either company's incremental orders. Manufacturing demand also depends on successful clinical translation and drug output.</a:t>
            </a:r>
          </a:p>
          <a:p xmlns:a="http://schemas.openxmlformats.org/drawingml/2006/main">
            <a:r>
              <a:t/>
            </a:r>
          </a:p>
          <a:p xmlns:a="http://schemas.openxmlformats.org/drawingml/2006/main">
            <a:r>
              <a:t>## Logo and icon assets</a:t>
            </a:r>
          </a:p>
          <a:p xmlns:a="http://schemas.openxmlformats.org/drawingml/2006/main">
            <a:r>
              <a:t/>
            </a:r>
          </a:p>
          <a:p xmlns:a="http://schemas.openxmlformats.org/drawingml/2006/main">
            <a:r>
              <a:t>Logo files identify representative suppliers. `assets/sources.json` gives source URLs and modifications. Where whitespace was trimmed, the brand artwork is unchanged. NanoMicro uses its circular emblem alongside a separate editable English company label, keeping all visible labels English. JET uses an English brand asset from a supplier listing. Company names remain editable even when a logo is embedded. Supplier lists are examples and are not rankings or endorsements.</a:t>
            </a:r>
          </a:p>
          <a:p xmlns:a="http://schemas.openxmlformats.org/drawingml/2006/main">
            <a:r>
              <a:t/>
            </a:r>
          </a:p>
          <a:p xmlns:a="http://schemas.openxmlformats.org/drawingml/2006/main">
            <a:r>
              <a:t>Lucide icons are sourced from the project's official GitHub repository, recolored teal for the graphic and provided under the ISC license. The full license is included in `assets/icons/LICENSE`.</a:t>
            </a:r>
          </a:p>
          <a:p xmlns:a="http://schemas.openxmlformats.org/drawingml/2006/main">
            <a:r>
              <a:t/>
            </a:r>
          </a:p>
          <a:p xmlns:a="http://schemas.openxmlformats.org/drawingml/2006/main">
            <a:r>
              <a:t/>
            </a:r>
          </a:p>
          <a:p xmlns:a="http://schemas.openxmlformats.org/drawingml/2006/main">
            <a:r>
              <a:t># Supplier tickers and current BD exposure</a:t>
            </a:r>
          </a:p>
          <a:p xmlns:a="http://schemas.openxmlformats.org/drawingml/2006/main">
            <a:r>
              <a:t/>
            </a:r>
          </a:p>
          <a:p xmlns:a="http://schemas.openxmlformats.org/drawingml/2006/main">
            <a:r>
              <a:t>Updated 13 October 2026. Rows identify representative suppliers or their listed parents, not market shares or investment recommendations. China/HK and US groups refer to listing venues; they do not imply legal domicile, headquarters or pure-play exposure.</a:t>
            </a:r>
          </a:p>
          <a:p xmlns:a="http://schemas.openxmlformats.org/drawingml/2006/main">
            <a:r>
              <a:t/>
            </a:r>
          </a:p>
          <a:p xmlns:a="http://schemas.openxmlformats.org/drawingml/2006/main">
            <a:r>
              <a:t>BD (NYSE:BDX) remains relevant to specimen collection and preanalytical sample handling. Its former Biosciences and Diagnostic Solutions business, including flow cytometry, moved to Waters (NYSE:WAT) on 9 February 2026.</a:t>
            </a:r>
          </a:p>
          <a:p xmlns:a="http://schemas.openxmlformats.org/drawingml/2006/main">
            <a:r>
              <a:t/>
            </a:r>
          </a:p>
          <a:p xmlns:a="http://schemas.openxmlformats.org/drawingml/2006/main">
            <a:r>
              <a:t>- [BD completion release](https://investors.bd.com/news-events/press-releases/detail/937/bd-completes-combination-of-biosciences-diagnostic-solutions-business-with-waters-corporation)</a:t>
            </a:r>
          </a:p>
          <a:p xmlns:a="http://schemas.openxmlformats.org/drawingml/2006/main">
            <a:r>
              <a:t>- [Waters current transaction disclosure](https://www.waters.com/nextgen/us/en/about-waters/corporate-governance/legal-and-privacy-notices/bdtransaction.html)</a:t>
            </a:r>
          </a:p>
          <a:p xmlns:a="http://schemas.openxmlformats.org/drawingml/2006/main">
            <a:r>
              <a:t>- [Current BD Vacutainer portfolio](https://go.bd.com/vacutainer-product-updates-TY.html): specimen-collection / sample-management products.</a:t>
            </a:r>
          </a:p>
          <a:p xmlns:a="http://schemas.openxmlformats.org/drawingml/2006/main">
            <a:r>
              <a:t/>
            </a:r>
          </a:p>
          <a:p xmlns:a="http://schemas.openxmlformats.org/drawingml/2006/main">
            <a:r>
              <a:t>Gibco is shown with Thermo Fisher (TMO); Cytiva and HyClone with Danaher (DHR). The underlying business exposure is narrower than the parent company's total revenue. Tsingke's code 874813 is a NEEQ code, not an A-share exchange listing; its IPO application is a separate filing. Suzhou Sepax is 688758.SH; the graphic refers to the China-listed issuer's chromatography portfolio.</a:t>
            </a:r>
          </a:p>
          <a:p xmlns:a="http://schemas.openxmlformats.org/drawingml/2006/main">
            <a:r>
              <a:t/>
            </a:r>
          </a:p>
          <a:p xmlns:a="http://schemas.openxmlformats.org/drawingml/2006/main">
            <a:r>
              <a:t>| Supplier / parent | Exchange | Ticker | Product pathway | Primary listing / business source |</a:t>
            </a:r>
          </a:p>
          <a:p xmlns:a="http://schemas.openxmlformats.org/drawingml/2006/main">
            <a:r>
              <a:t>|---|---|---|---|---|</a:t>
            </a:r>
          </a:p>
          <a:p xmlns:a="http://schemas.openxmlformats.org/drawingml/2006/main">
            <a:r>
              <a:t>| GenScript | HKEX | 1548 | Molecular construction | [Source](https://www.genscript.com/genscript-biotech-demonstrates-profitable-scale-and-strategic-leadership-in-h1-2025.html) |</a:t>
            </a:r>
          </a:p>
          <a:p xmlns:a="http://schemas.openxmlformats.org/drawingml/2006/main">
            <a:r>
              <a:t>| Vazyme | SSE | 688105 | Molecular construction | [Source](https://www.vazyme.us/AboutUs/OurStrories/) |</a:t>
            </a:r>
          </a:p>
          <a:p xmlns:a="http://schemas.openxmlformats.org/drawingml/2006/main">
            <a:r>
              <a:t>| Tsingke | NEEQ | 874813 | DNA synthesis; NEEQ-listed, A-share IPO application is separate | [Source](https://static.sse.com.cn/stock/disclosure/announcement/c/202606/002233_20260630_Z9LA.pdf) |</a:t>
            </a:r>
          </a:p>
          <a:p xmlns:a="http://schemas.openxmlformats.org/drawingml/2006/main">
            <a:r>
              <a:t>| ACROBiosystems | SZSE | 301080 | Proteins / functional cells | [Source](https://www1.hkexnews.hk/app/sehk/2026/108910/documents/sehk26093002651_c.pdf) |</a:t>
            </a:r>
          </a:p>
          <a:p xmlns:a="http://schemas.openxmlformats.org/drawingml/2006/main">
            <a:r>
              <a:t>| Sino Biological | SZSE | 301047 | Research proteins / antibodies | [Source](https://disc.static.szse.cn/disc/disk03/finalpage/2026-08-26/cd4ea950-7931-4164-bcec-20c03b8236e1.PDF) |</a:t>
            </a:r>
          </a:p>
          <a:p xmlns:a="http://schemas.openxmlformats.org/drawingml/2006/main">
            <a:r>
              <a:t>| OPM Biosciences | SSE | 688293 | Cell culture media | [Source](https://opmbiosciences.com/) |</a:t>
            </a:r>
          </a:p>
          <a:p xmlns:a="http://schemas.openxmlformats.org/drawingml/2006/main">
            <a:r>
              <a:t>| JET Biofil | SSE | 688026 | Plastic laboratory consumables | [Source](https://static.cninfo.com.cn/finalpage/2026-04-30/1225255989.PDF) |</a:t>
            </a:r>
          </a:p>
          <a:p xmlns:a="http://schemas.openxmlformats.org/drawingml/2006/main">
            <a:r>
              <a:t>| Changhong | SZSE | 300151 | Life science / medical plastic consumables | [Source](https://static.cninfo.com.cn/finalpage/2025-10-30/1224764410.PDF) |</a:t>
            </a:r>
          </a:p>
          <a:p xmlns:a="http://schemas.openxmlformats.org/drawingml/2006/main">
            <a:r>
              <a:t>| MGI | SSE | 688114 | Sequencing instruments / consumables | [Source](https://static.cninfo.com.cn/finalpage/2025-04-30/1223427376.PDF) |</a:t>
            </a:r>
          </a:p>
          <a:p xmlns:a="http://schemas.openxmlformats.org/drawingml/2006/main">
            <a:r>
              <a:t>| NanoMicro | SSE | 688690 | Chromatography materials and analytical separation / purification | [Source](https://static.cninfo.com.cn/finalpage/2026-09-22/1225575593.PDF) |</a:t>
            </a:r>
          </a:p>
          <a:p xmlns:a="http://schemas.openxmlformats.org/drawingml/2006/main">
            <a:r>
              <a:t>| Suzhou Sepax | SSE | 688758 | Chromatography columns / process media | [Source](https://www.sepax-tech.com.cn/skin/default/investorpdf/%E8%8B%8F%E5%B7%9E%E8%B5%9B%E5%88%86%E7%A7%91%E6%8A%80%E8%82%A1%E4%BB%BD%E6%9C%89%E9%99%90%E5%85%AC%E5%8F%B82025%E5%B9%B4%E7%AC%AC%E4%B8%80%E6%AC%A1%E4%B8%B4%E6%97%B6%E8%82%A1%E4%B8%9C%E4%BC%9A%E4%BC%9A%E8%AE%AE%E8%B5%84%E6%96%99.pdf) |</a:t>
            </a:r>
          </a:p>
          <a:p xmlns:a="http://schemas.openxmlformats.org/drawingml/2006/main">
            <a:r>
              <a:t>| Twist Bioscience | NASDAQ | TWST | DNA synthesis | [Source](https://investors.twistbioscience.com/static-files/8c1d5bed-df6f-48d5-832f-eb2f32717c27) |</a:t>
            </a:r>
          </a:p>
          <a:p xmlns:a="http://schemas.openxmlformats.org/drawingml/2006/main">
            <a:r>
              <a:t>| Thermo Fisher / Gibco | NYSE | TMO | Molecular tools, proteins, media and instruments; parent ticker | [Source](https://ir.thermofisher.com/investors/news-events/news/news-details/2026/Thermo-Fisher-Scientific-Reports-Second-Quarter-2026-Results/) |</a:t>
            </a:r>
          </a:p>
          <a:p xmlns:a="http://schemas.openxmlformats.org/drawingml/2006/main">
            <a:r>
              <a:t>| Bio-Techne | NASDAQ | TECH | Proteins / functional assay reagents | [Source](https://investors.bio-techne.com/stock-data) |</a:t>
            </a:r>
          </a:p>
          <a:p xmlns:a="http://schemas.openxmlformats.org/drawingml/2006/main">
            <a:r>
              <a:t>| Danaher / Cytiva / HyClone | NYSE | DHR | Culture and purification; parent ticker | [Source](https://www.danaher.com/our-businesses/biotechnology) |</a:t>
            </a:r>
          </a:p>
          <a:p xmlns:a="http://schemas.openxmlformats.org/drawingml/2006/main">
            <a:r>
              <a:t>| Corning | NYSE | GLW | Laboratory plastics / cell culture | [Source](https://www.corning.com/content/dam/corning/media/worldwide/global/documents/corning_10-k_2025.pdf) |</a:t>
            </a:r>
          </a:p>
          <a:p xmlns:a="http://schemas.openxmlformats.org/drawingml/2006/main">
            <a:r>
              <a:t>| BD | NYSE | BDX | Current specimen collection / preanalytics; ex-BD flow is WAT | [Source](https://investors.bd.com/news-events/press-releases/detail/937/bd-completes-combination-of-biosciences-diagnostic-solutions-business-with-waters-corporation) |</a:t>
            </a:r>
          </a:p>
          <a:p xmlns:a="http://schemas.openxmlformats.org/drawingml/2006/main">
            <a:r>
              <a:t>| Illumina | NASDAQ | ILMN | Sequencing instruments / consumables | [Source](https://investor.illumina.com/static-files/eb129ea4-1f1a-408f-b87a-44eaee93c63d) |</a:t>
            </a:r>
          </a:p>
          <a:p xmlns:a="http://schemas.openxmlformats.org/drawingml/2006/main">
            <a:r>
              <a:t>| Agilent | NYSE | A | Chromatography / analytical instruments | [Source](https://www.investor.agilent.com/stock-info/stock-quote-and-chart/) |</a:t>
            </a:r>
          </a:p>
          <a:p xmlns:a="http://schemas.openxmlformats.org/drawingml/2006/main">
            <a:r>
              <a:t>| Waters / former BD Biosciences | NYSE | WAT | LC-MS / chromatography and ex-BD flow cytometry | [Source](https://www.waters.com/nextgen/us/en/about-waters/corporate-governance/legal-and-privacy-notices/bdtransaction.html) |</a:t>
            </a:r>
          </a:p>
          <a:p xmlns:a="http://schemas.openxmlformats.org/drawingml/2006/main">
            <a:r>
              <a:t>| Repligen | NASDAQ | RGEN | Bioprocess purification / filtration tools | [Source](https://investors.repligen.com/stock-info/default.aspx) |</a:t>
            </a:r>
          </a:p>
          <a:p xmlns:a="http://schemas.openxmlformats.org/drawingml/2006/main">
            <a:r>
              <a:t>| Tecan | SIX | TECN | Laboratory automation; Swiss-listed | [Source](https://www.tecan.com/hubfs/HubDB/Te-PrArc/180323_Tecan_KeplerCheuvreux.pdf) |</a:t>
            </a:r>
          </a:p>
          <a:p xmlns:a="http://schemas.openxmlformats.org/drawingml/2006/main">
            <a:r>
              <a:t/>
            </a:r>
          </a:p>
          <a:p xmlns:a="http://schemas.openxmlformats.org/drawingml/2006/main">
            <a:r>
              <a:t>The market anchors retain their original scope and sources. Adding a supplier does not broaden or update the displayed TAM. The labware family includes a clinical/preanalytical adjacency for BD; the displayed anchor continues to be the selected China plastic laboratory-consumables estimate. The analytics anchor remains China sequencing instruments plus consumables; it does not size flow cytometry.</a:t>
            </a:r>
          </a:p>
          <a:p xmlns:a="http://schemas.openxmlformats.org/drawingml/2006/main">
            <a:r>
              <a:t/>
            </a:r>
          </a:p>
          <a:p xmlns:a="http://schemas.openxmlformats.org/drawingml/2006/main">
            <a:r>
              <a:t>Original BD logo: https://news.bd.com/images/header-bd-logo.svg. Original company marks retain their colors; chart/UI colors use the user-supplied palette. The second RGB value was explicitly confirmed by the user as 172:212:241.</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9: Mapping Chinese listed LST suppliers</a:t>
            </a:r>
          </a:p>
          <a:p xmlns:a="http://schemas.openxmlformats.org/drawingml/2006/main">
            <a:r>
              <a:t>Evidence status: Research hypothesis</a:t>
            </a:r>
          </a:p>
          <a:p xmlns:a="http://schemas.openxmlformats.org/drawingml/2006/main">
            <a:r>
              <a:t/>
            </a:r>
          </a:p>
          <a:p xmlns:a="http://schemas.openxmlformats.org/drawingml/2006/main">
            <a:r>
              <a:t># Sources, assumptions and market boundaries</a:t>
            </a:r>
          </a:p>
          <a:p xmlns:a="http://schemas.openxmlformats.org/drawingml/2006/main">
            <a:r>
              <a:t/>
            </a:r>
          </a:p>
          <a:p xmlns:a="http://schemas.openxmlformats.org/drawingml/2006/main">
            <a:r>
              <a:t>Research date: 12 October 2026. This package visualizes the supplied research framework and selected anchors from the preceding primary-source research. Historical industry numbers are consultant or company-cited estimates, rather than administrative census measurements.</a:t>
            </a:r>
          </a:p>
          <a:p xmlns:a="http://schemas.openxmlformats.org/drawingml/2006/main">
            <a:r>
              <a:t/>
            </a:r>
          </a:p>
          <a:p xmlns:a="http://schemas.openxmlformats.org/drawingml/2006/main">
            <a:r>
              <a:t>## Stage table and funnel</a:t>
            </a:r>
          </a:p>
          <a:p xmlns:a="http://schemas.openxmlformats.org/drawingml/2006/main">
            <a:r>
              <a:t/>
            </a:r>
          </a:p>
          <a:p xmlns:a="http://schemas.openxmlformats.org/drawingml/2006/main">
            <a:r>
              <a:t>The supplied stage table uses virtual designs ~1,000 before AI versus 100,000–1 billion in the AI scenario; physical candidates ~1,000 versus 1,000–10,000; wet-lab profiling ~50 versus an illustrative 50→500 expansion; clinical entry 1 versus 1; expected approvals ~0.14 versus unknown. These are user-supplied assumptions, not empirical cohort statistics.</a:t>
            </a:r>
          </a:p>
          <a:p xmlns:a="http://schemas.openxmlformats.org/drawingml/2006/main">
            <a:r>
              <a:t/>
            </a:r>
          </a:p>
          <a:p xmlns:a="http://schemas.openxmlformats.org/drawingml/2006/main">
            <a:r>
              <a:t>The denominator is one clinical entrant. The second reference image uses a different denominator, per approved drug; its counts are not mixed into this table. ~0.14 is an illustrative expected count, not an independently validated success probability. DNA-encoded libraries are not equivalent to fully characterized discrete candidates. Virtual design has costs and quality constraints. The diagram states a working capacity-gate hypothesis, not that design quality or clinical biology cease to matter.</a:t>
            </a:r>
          </a:p>
          <a:p xmlns:a="http://schemas.openxmlformats.org/drawingml/2006/main">
            <a:r>
              <a:t/>
            </a:r>
          </a:p>
          <a:p xmlns:a="http://schemas.openxmlformats.org/drawingml/2006/main">
            <a:r>
              <a:t>## Market anchors in the enlarged ecosystem</a:t>
            </a:r>
          </a:p>
          <a:p xmlns:a="http://schemas.openxmlformats.org/drawingml/2006/main">
            <a:r>
              <a:t/>
            </a:r>
          </a:p>
          <a:p xmlns:a="http://schemas.openxmlformats.org/drawingml/2006/main">
            <a:r>
              <a:t>| Anchor | Geography / year | Value | Scope and evidence |</a:t>
            </a:r>
          </a:p>
          <a:p xmlns:a="http://schemas.openxmlformats.org/drawingml/2006/main">
            <a:r>
              <a:t>|---|---|---|---|</a:t>
            </a:r>
          </a:p>
          <a:p xmlns:a="http://schemas.openxmlformats.org/drawingml/2006/main">
            <a:r>
              <a:t>| DNA synthesis services | China / 2025 | RMB1.33bn | Oligonucleotide RMB0.53bn + long-fragment RMB0.80bn. Midstream services only. Tsingke 2026 IPO filing, pp.156–158. [Primary filing](https://static.sse.com.cn/stock/disclosure/announcement/c/202606/002233_20260630_Z9LA.pdf). |</a:t>
            </a:r>
          </a:p>
          <a:p xmlns:a="http://schemas.openxmlformats.org/drawingml/2006/main">
            <a:r>
              <a:t>| Research-use recombinant proteins | Global / 2025 | US$3.5bn | Research use; not therapeutic protein manufacturing. China ~US$0.4bn is rounded to US$0.1bn precision. ACROBiosystems 2026 HKEX application, printed p.71 / PDF p.80. [Primary filing](https://www1.hkexnews.hk/app/sehk/2026/108910/documents/sehk26093002651_c.pdf). |</a:t>
            </a:r>
          </a:p>
          <a:p xmlns:a="http://schemas.openxmlformats.org/drawingml/2006/main">
            <a:r>
              <a:t>| Bioprocess culture media | China / 2024 | US$323.5m* | Selected media market; not all cellular tools. F&amp;S in Duoning 2026 filing, printed p.126. Excludes the COVID impact on vaccine products. [Filing URL](https://www.hkexnews.hk/app/sehk/2026/108106/documents/sehk26011800033_c.pdf). |</a:t>
            </a:r>
          </a:p>
          <a:p xmlns:a="http://schemas.openxmlformats.org/drawingml/2006/main">
            <a:r>
              <a:t>| Disposable plastic biological laboratory consumables | China / 2024 | ~RMB23bn | Includes research, clinical and industrial uses. JET Biofil 2025 annual-report summary, PDF p.6; company cites F&amp;S and industry research. Direct primary PDF rechecked on 12 Oct 2026. [Primary disclosure](https://static.cninfo.com.cn/finalpage/2026-04-30/1225255989.PDF). |</a:t>
            </a:r>
          </a:p>
          <a:p xmlns:a="http://schemas.openxmlformats.org/drawingml/2006/main">
            <a:r>
              <a:t>| Sequencing instruments and consumables | China / 2024 | RMB4.3bn | Includes clinical sequencing; not instruments alone, and not a combined LC/MS market. MGI 2024 annual report pp.41–42, citing CIC. [Primary disclosure](https://static.cninfo.com.cn/finalpage/2025-04-30/1223427376.PDF). |</a:t>
            </a:r>
          </a:p>
          <a:p xmlns:a="http://schemas.openxmlformats.org/drawingml/2006/main">
            <a:r>
              <a:t>| Bioprocess chromatography resins | China / 2024 | US$578.2m* | Biological process resins; not all analytical columns, chemical adsorption resins or purification hardware. F&amp;S in Duoning 2026 filing, printed p.132. [Filing URL](https://www.hkexnews.hk/app/sehk/2026/108106/documents/sehk26011800033_c.pdf). |</a:t>
            </a:r>
          </a:p>
          <a:p xmlns:a="http://schemas.openxmlformats.org/drawingml/2006/main">
            <a:r>
              <a:t/>
            </a:r>
          </a:p>
          <a:p xmlns:a="http://schemas.openxmlformats.org/drawingml/2006/main">
            <a:r>
              <a:t>*The Duoning figures were checked against the publicly indexed official filing during the preceding research on 9–10 October 2026. Direct PDF access now returns 404. They carry lower source-access confidence than directly downloaded filings. The 2025 values in that filing remain forecasts and are deliberately not presented as 2025 actual results here.*</a:t>
            </a:r>
          </a:p>
          <a:p xmlns:a="http://schemas.openxmlformats.org/drawingml/2006/main">
            <a:r>
              <a:t/>
            </a:r>
          </a:p>
          <a:p xmlns:a="http://schemas.openxmlformats.org/drawingml/2006/main">
            <a:r>
              <a:t>These anchors cannot be added. Their geography, currency, year and boundary differ, and tools can be used across the six product families. Each headline sizes the stated subset, not the full box. In particular, the culture-media figure is a bioprocess anchor and cannot be generalized to all research media and cell models. Automation, mass spectrometry, flow cytometry, imaging and analytical columns are shown as tool families but are not assigned an unsupported combined TAM.</a:t>
            </a:r>
          </a:p>
          <a:p xmlns:a="http://schemas.openxmlformats.org/drawingml/2006/main">
            <a:r>
              <a:t/>
            </a:r>
          </a:p>
          <a:p xmlns:a="http://schemas.openxmlformats.org/drawingml/2006/main">
            <a:r>
              <a:t>## Supporting figure 02: consistent-scope LST comparison</a:t>
            </a:r>
          </a:p>
          <a:p xmlns:a="http://schemas.openxmlformats.org/drawingml/2006/main">
            <a:r>
              <a:t/>
            </a:r>
          </a:p>
          <a:p xmlns:a="http://schemas.openxmlformats.org/drawingml/2006/main">
            <a:r>
              <a:t>The ACROBiosystems HKEX filing of 30 Sep 2026 reports 2025 global LST US$41.5bn and China US$7.7bn under its F&amp;S scope, printed p.65 / PDF p.74. Research biological reagents are global US$26.4bn and China US$4.6bn, printed p.67 / PDF p.76. The residual other-tool values are derived: 41.5−26.4 =15.1 and 7.7−4.6 =3.1, in US$bn. China/global share is 7.7÷41.5 =18.6% rounded. This scope does not reconcile automatically to broader laboratory or manufacturing markets. [Primary filing](https://www1.hkexnews.hk/app/sehk/2026/108910/documents/sehk26093002651_c.pdf).</a:t>
            </a:r>
          </a:p>
          <a:p xmlns:a="http://schemas.openxmlformats.org/drawingml/2006/main">
            <a:r>
              <a:t/>
            </a:r>
          </a:p>
          <a:p xmlns:a="http://schemas.openxmlformats.org/drawingml/2006/main">
            <a:r>
              <a:t>## Illustrative and qualitative figures</a:t>
            </a:r>
          </a:p>
          <a:p xmlns:a="http://schemas.openxmlformats.org/drawingml/2006/main">
            <a:r>
              <a:t/>
            </a:r>
          </a:p>
          <a:p xmlns:a="http://schemas.openxmlformats.org/drawingml/2006/main">
            <a:r>
              <a:t>Figure 03 uses the supplied customer mixes: reagents 30/25/15/10/20%, consumables 20/20/15/30/15%, and instruments 25/20/10/15/30%, for academia, biotech/pharma R&amp;D, CRO/CDMO, pharma-owned production and IVD development. These are illustrative purchasing shares. Hospitals are not independently modeled, and distributors are not an end-customer category.</a:t>
            </a:r>
          </a:p>
          <a:p xmlns:a="http://schemas.openxmlformats.org/drawingml/2006/main">
            <a:r>
              <a:t/>
            </a:r>
          </a:p>
          <a:p xmlns:a="http://schemas.openxmlformats.org/drawingml/2006/main">
            <a:r>
              <a:t>Figure 06 compares 100,000 tests at 100µL in 96-well plates with 1,000,000 tests at 5µL in 1,536-well plates. Reagents fall from 10L to 5L; full-plate counts are ceiling(100,000/96)=1,042 and ceiling(1,000,000/1,536)=652. Tips per test are assumed to fall from 1 to 0.1, giving 100,000 tips in both cases. Volume index 1,000; reagent index 50; plate index 62.6; tip index 100, against a baseline of 100. Dead volume, controls, retests, ASP and service spending are excluded. The two panels use different y-axis scales.</a:t>
            </a:r>
          </a:p>
          <a:p xmlns:a="http://schemas.openxmlformats.org/drawingml/2006/main">
            <a:r>
              <a:t/>
            </a:r>
          </a:p>
          <a:p xmlns:a="http://schemas.openxmlformats.org/drawingml/2006/main">
            <a:r>
              <a:t>Figure 07 uses illustrative cumulative funding pools of US$50bn, US$100bn and US$200bn. No time horizon is specified. Allocations are 30% research equipment/automation, 25% research reagents, 20% research consumables, 15% manufacturing bioprocess tools and 10% services/other. Research-use and manufacturing-use allocations are mutually exclusive. These are not realized financing, annual TAM or a company revenue forecast.</a:t>
            </a:r>
          </a:p>
          <a:p xmlns:a="http://schemas.openxmlformats.org/drawingml/2006/main">
            <a:r>
              <a:t/>
            </a:r>
          </a:p>
          <a:p xmlns:a="http://schemas.openxmlformats.org/drawingml/2006/main">
            <a:r>
              <a:t>Figures 05, 08 and 09 use qualitative analyst positions. Bubble area in figure 05 is schematic relative opportunity, not measured TAM. Axis positions and the gold emphasis on ACROBiosystems and NanoMicro are not numerical scores, stock recommendations, market-share estimates or measured AI revenue. Supply barriers do not establish a current shortage.</a:t>
            </a:r>
          </a:p>
          <a:p xmlns:a="http://schemas.openxmlformats.org/drawingml/2006/main">
            <a:r>
              <a:t/>
            </a:r>
          </a:p>
          <a:p xmlns:a="http://schemas.openxmlformats.org/drawingml/2006/main">
            <a:r>
              <a:t>Figures 04 and 10 describe a conditional mechanism: funded projects → physical experimentation → net tool consumption and purchasing → company share → profit and cash flow. AI funding announcements alone do not establish LST orders. Miniaturization, faster candidate triage, resin reuse and pricing can offset higher experiment counts.</a:t>
            </a:r>
          </a:p>
          <a:p xmlns:a="http://schemas.openxmlformats.org/drawingml/2006/main">
            <a:r>
              <a:t/>
            </a:r>
          </a:p>
          <a:p xmlns:a="http://schemas.openxmlformats.org/drawingml/2006/main">
            <a:r>
              <a:t>## Representative-company product evidence</a:t>
            </a:r>
          </a:p>
          <a:p xmlns:a="http://schemas.openxmlformats.org/drawingml/2006/main">
            <a:r>
              <a:t/>
            </a:r>
          </a:p>
          <a:p xmlns:a="http://schemas.openxmlformats.org/drawingml/2006/main">
            <a:r>
              <a:t>- [ACROBiosystems HKEX application, 30 Sep 2026](https://www1.hkexnews.hk/app/sehk/2026/108910/documents/sehk26093002651_c.pdf): Printed pp. 65, 67 and 71 (PDF pp. 74, 76, 80); defined LST scope, research reagents and recombinant proteins.</a:t>
            </a:r>
          </a:p>
          <a:p xmlns:a="http://schemas.openxmlformats.org/drawingml/2006/main">
            <a:r>
              <a:t>- [Vazyme 2024 annual report](https://static.cninfo.com.cn/finalpage/2025-04-10/1223046699.PDF): Product and business evidence; matrix positions are analyst assumptions.</a:t>
            </a:r>
          </a:p>
          <a:p xmlns:a="http://schemas.openxmlformats.org/drawingml/2006/main">
            <a:r>
              <a:t>- [ACROBiosystems filing: recombinant protein competitive landscape](https://www1.hkexnews.hk/app/sehk/2026/108910/documents/sehk26093002651_c.pdf): Product and business evidence; matrix positions are analyst assumptions.</a:t>
            </a:r>
          </a:p>
          <a:p xmlns:a="http://schemas.openxmlformats.org/drawingml/2006/main">
            <a:r>
              <a:t>- [Novoprotein official product catalog](https://www.novoprotein.com.cn/products): Product and business evidence; matrix positions are analyst assumptions.</a:t>
            </a:r>
          </a:p>
          <a:p xmlns:a="http://schemas.openxmlformats.org/drawingml/2006/main">
            <a:r>
              <a:t>- [NanoMicro 2025 annual report](https://static.cninfo.com.cn/finalpage/2026-04-16/1225107014.PDF): Product and business evidence; matrix positions are analyst assumptions.</a:t>
            </a:r>
          </a:p>
          <a:p xmlns:a="http://schemas.openxmlformats.org/drawingml/2006/main">
            <a:r>
              <a:t>- [Sepax IPO prospectus, Jan 2025](https://static.cninfo.com.cn/finalpage/2025-01-06/1222238930.PDF): Product and business evidence; matrix positions are analyst assumptions.</a:t>
            </a:r>
          </a:p>
          <a:p xmlns:a="http://schemas.openxmlformats.org/drawingml/2006/main">
            <a:r>
              <a:t>- [JET Biofil 2025 interim report](https://stockmc.xueqiu.com/202508/688026_20250830_4FZX.pdf): Product and business evidence; matrix positions are analyst assumptions.</a:t>
            </a:r>
          </a:p>
          <a:p xmlns:a="http://schemas.openxmlformats.org/drawingml/2006/main">
            <a:r>
              <a:t>- [Changhong official website](https://cn.sz-changhong.com/): Product and business evidence; matrix positions are analyst assumptions.</a:t>
            </a:r>
          </a:p>
          <a:p xmlns:a="http://schemas.openxmlformats.org/drawingml/2006/main">
            <a:r>
              <a:t>- [Bide Pharmatech official catalog](https://www.bidepharm.com/): Product and business evidence; matrix positions are analyst assumptions.</a:t>
            </a:r>
          </a:p>
          <a:p xmlns:a="http://schemas.openxmlformats.org/drawingml/2006/main">
            <a:r>
              <a:t>- [ChemExpress official website](https://www.chemexpress.com.cn/): Product and business evidence; matrix positions are analyst assumptions.</a:t>
            </a:r>
          </a:p>
          <a:p xmlns:a="http://schemas.openxmlformats.org/drawingml/2006/main">
            <a:r>
              <a:t>- [MGI 2025 annual report](https://static.cninfo.com.cn/finalpage/2026-04-25/1225194780.PDF): Product and business evidence; matrix positions are analyst assumptions.</a:t>
            </a:r>
          </a:p>
          <a:p xmlns:a="http://schemas.openxmlformats.org/drawingml/2006/main">
            <a:r>
              <a:t>- [OPM Biosciences 2025 annual report](https://pdf.dfcfw.com/pdf/H2_AN202604221821449851_1.pdf): Product and business evidence; matrix positions are analyst assumptions.</a:t>
            </a:r>
          </a:p>
          <a:p xmlns:a="http://schemas.openxmlformats.org/drawingml/2006/main">
            <a:r>
              <a:t/>
            </a:r>
          </a:p>
          <a:p xmlns:a="http://schemas.openxmlformats.org/drawingml/2006/main">
            <a:r>
              <a:t>The primary distinction in this research is product exposure: ACROBiosystems supplies recombinant proteins and assay tools used in expression and functional validation; NanoMicro supplies purification and chromatography products used in analytical/process development and manufacturing. A broad increase in virtual candidates does not establish either company's incremental orders. Manufacturing demand also depends on successful clinical translation and drug output.</a:t>
            </a:r>
          </a:p>
          <a:p xmlns:a="http://schemas.openxmlformats.org/drawingml/2006/main">
            <a:r>
              <a:t/>
            </a:r>
          </a:p>
          <a:p xmlns:a="http://schemas.openxmlformats.org/drawingml/2006/main">
            <a:r>
              <a:t>## Logo and icon assets</a:t>
            </a:r>
          </a:p>
          <a:p xmlns:a="http://schemas.openxmlformats.org/drawingml/2006/main">
            <a:r>
              <a:t/>
            </a:r>
          </a:p>
          <a:p xmlns:a="http://schemas.openxmlformats.org/drawingml/2006/main">
            <a:r>
              <a:t>Logo files identify representative suppliers. `assets/sources.json` gives source URLs and modifications. Where whitespace was trimmed, the brand artwork is unchanged. NanoMicro uses its circular emblem alongside a separate editable English company label, keeping all visible labels English. JET uses an English brand asset from a supplier listing. Company names remain editable even when a logo is embedded. Supplier lists are examples and are not rankings or endorsements.</a:t>
            </a:r>
          </a:p>
          <a:p xmlns:a="http://schemas.openxmlformats.org/drawingml/2006/main">
            <a:r>
              <a:t/>
            </a:r>
          </a:p>
          <a:p xmlns:a="http://schemas.openxmlformats.org/drawingml/2006/main">
            <a:r>
              <a:t>Lucide icons are sourced from the project's official GitHub repository, recolored teal for the graphic and provided under the ISC license. The full license is included in `assets/icons/LICENSE`.</a:t>
            </a:r>
          </a:p>
          <a:p xmlns:a="http://schemas.openxmlformats.org/drawingml/2006/main">
            <a:r>
              <a:t/>
            </a:r>
          </a:p>
          <a:p xmlns:a="http://schemas.openxmlformats.org/drawingml/2006/main">
            <a:r>
              <a:t/>
            </a:r>
          </a:p>
          <a:p xmlns:a="http://schemas.openxmlformats.org/drawingml/2006/main">
            <a:r>
              <a:t># Supplier tickers and current BD exposure</a:t>
            </a:r>
          </a:p>
          <a:p xmlns:a="http://schemas.openxmlformats.org/drawingml/2006/main">
            <a:r>
              <a:t/>
            </a:r>
          </a:p>
          <a:p xmlns:a="http://schemas.openxmlformats.org/drawingml/2006/main">
            <a:r>
              <a:t>Updated 13 October 2026. Rows identify representative suppliers or their listed parents, not market shares or investment recommendations. China/HK and US groups refer to listing venues; they do not imply legal domicile, headquarters or pure-play exposure.</a:t>
            </a:r>
          </a:p>
          <a:p xmlns:a="http://schemas.openxmlformats.org/drawingml/2006/main">
            <a:r>
              <a:t/>
            </a:r>
          </a:p>
          <a:p xmlns:a="http://schemas.openxmlformats.org/drawingml/2006/main">
            <a:r>
              <a:t>BD (NYSE:BDX) remains relevant to specimen collection and preanalytical sample handling. Its former Biosciences and Diagnostic Solutions business, including flow cytometry, moved to Waters (NYSE:WAT) on 9 February 2026.</a:t>
            </a:r>
          </a:p>
          <a:p xmlns:a="http://schemas.openxmlformats.org/drawingml/2006/main">
            <a:r>
              <a:t/>
            </a:r>
          </a:p>
          <a:p xmlns:a="http://schemas.openxmlformats.org/drawingml/2006/main">
            <a:r>
              <a:t>- [BD completion release](https://investors.bd.com/news-events/press-releases/detail/937/bd-completes-combination-of-biosciences-diagnostic-solutions-business-with-waters-corporation)</a:t>
            </a:r>
          </a:p>
          <a:p xmlns:a="http://schemas.openxmlformats.org/drawingml/2006/main">
            <a:r>
              <a:t>- [Waters current transaction disclosure](https://www.waters.com/nextgen/us/en/about-waters/corporate-governance/legal-and-privacy-notices/bdtransaction.html)</a:t>
            </a:r>
          </a:p>
          <a:p xmlns:a="http://schemas.openxmlformats.org/drawingml/2006/main">
            <a:r>
              <a:t>- [Current BD Vacutainer portfolio](https://go.bd.com/vacutainer-product-updates-TY.html): specimen-collection / sample-management products.</a:t>
            </a:r>
          </a:p>
          <a:p xmlns:a="http://schemas.openxmlformats.org/drawingml/2006/main">
            <a:r>
              <a:t/>
            </a:r>
          </a:p>
          <a:p xmlns:a="http://schemas.openxmlformats.org/drawingml/2006/main">
            <a:r>
              <a:t>Gibco is shown with Thermo Fisher (TMO); Cytiva and HyClone with Danaher (DHR). The underlying business exposure is narrower than the parent company's total revenue. Tsingke's code 874813 is a NEEQ code, not an A-share exchange listing; its IPO application is a separate filing. Suzhou Sepax is 688758.SH; the graphic refers to the China-listed issuer's chromatography portfolio.</a:t>
            </a:r>
          </a:p>
          <a:p xmlns:a="http://schemas.openxmlformats.org/drawingml/2006/main">
            <a:r>
              <a:t/>
            </a:r>
          </a:p>
          <a:p xmlns:a="http://schemas.openxmlformats.org/drawingml/2006/main">
            <a:r>
              <a:t>| Supplier / parent | Exchange | Ticker | Product pathway | Primary listing / business source |</a:t>
            </a:r>
          </a:p>
          <a:p xmlns:a="http://schemas.openxmlformats.org/drawingml/2006/main">
            <a:r>
              <a:t>|---|---|---|---|---|</a:t>
            </a:r>
          </a:p>
          <a:p xmlns:a="http://schemas.openxmlformats.org/drawingml/2006/main">
            <a:r>
              <a:t>| GenScript | HKEX | 1548 | Molecular construction | [Source](https://www.genscript.com/genscript-biotech-demonstrates-profitable-scale-and-strategic-leadership-in-h1-2025.html) |</a:t>
            </a:r>
          </a:p>
          <a:p xmlns:a="http://schemas.openxmlformats.org/drawingml/2006/main">
            <a:r>
              <a:t>| Vazyme | SSE | 688105 | Molecular construction | [Source](https://www.vazyme.us/AboutUs/OurStrories/) |</a:t>
            </a:r>
          </a:p>
          <a:p xmlns:a="http://schemas.openxmlformats.org/drawingml/2006/main">
            <a:r>
              <a:t>| Tsingke | NEEQ | 874813 | DNA synthesis; NEEQ-listed, A-share IPO application is separate | [Source](https://static.sse.com.cn/stock/disclosure/announcement/c/202606/002233_20260630_Z9LA.pdf) |</a:t>
            </a:r>
          </a:p>
          <a:p xmlns:a="http://schemas.openxmlformats.org/drawingml/2006/main">
            <a:r>
              <a:t>| ACROBiosystems | SZSE | 301080 | Proteins / functional cells | [Source](https://www1.hkexnews.hk/app/sehk/2026/108910/documents/sehk26093002651_c.pdf) |</a:t>
            </a:r>
          </a:p>
          <a:p xmlns:a="http://schemas.openxmlformats.org/drawingml/2006/main">
            <a:r>
              <a:t>| Sino Biological | SZSE | 301047 | Research proteins / antibodies | [Source](https://disc.static.szse.cn/disc/disk03/finalpage/2026-08-26/cd4ea950-7931-4164-bcec-20c03b8236e1.PDF) |</a:t>
            </a:r>
          </a:p>
          <a:p xmlns:a="http://schemas.openxmlformats.org/drawingml/2006/main">
            <a:r>
              <a:t>| OPM Biosciences | SSE | 688293 | Cell culture media | [Source](https://opmbiosciences.com/) |</a:t>
            </a:r>
          </a:p>
          <a:p xmlns:a="http://schemas.openxmlformats.org/drawingml/2006/main">
            <a:r>
              <a:t>| JET Biofil | SSE | 688026 | Plastic laboratory consumables | [Source](https://static.cninfo.com.cn/finalpage/2026-04-30/1225255989.PDF) |</a:t>
            </a:r>
          </a:p>
          <a:p xmlns:a="http://schemas.openxmlformats.org/drawingml/2006/main">
            <a:r>
              <a:t>| Changhong | SZSE | 300151 | Life science / medical plastic consumables | [Source](https://static.cninfo.com.cn/finalpage/2025-10-30/1224764410.PDF) |</a:t>
            </a:r>
          </a:p>
          <a:p xmlns:a="http://schemas.openxmlformats.org/drawingml/2006/main">
            <a:r>
              <a:t>| MGI | SSE | 688114 | Sequencing instruments / consumables | [Source](https://static.cninfo.com.cn/finalpage/2025-04-30/1223427376.PDF) |</a:t>
            </a:r>
          </a:p>
          <a:p xmlns:a="http://schemas.openxmlformats.org/drawingml/2006/main">
            <a:r>
              <a:t>| NanoMicro | SSE | 688690 | Chromatography materials and analytical separation / purification | [Source](https://static.cninfo.com.cn/finalpage/2026-09-22/1225575593.PDF) |</a:t>
            </a:r>
          </a:p>
          <a:p xmlns:a="http://schemas.openxmlformats.org/drawingml/2006/main">
            <a:r>
              <a:t>| Suzhou Sepax | SSE | 688758 | Chromatography columns / process media | [Source](https://www.sepax-tech.com.cn/skin/default/investorpdf/%E8%8B%8F%E5%B7%9E%E8%B5%9B%E5%88%86%E7%A7%91%E6%8A%80%E8%82%A1%E4%BB%BD%E6%9C%89%E9%99%90%E5%85%AC%E5%8F%B82025%E5%B9%B4%E7%AC%AC%E4%B8%80%E6%AC%A1%E4%B8%B4%E6%97%B6%E8%82%A1%E4%B8%9C%E4%BC%9A%E4%BC%9A%E8%AE%AE%E8%B5%84%E6%96%99.pdf) |</a:t>
            </a:r>
          </a:p>
          <a:p xmlns:a="http://schemas.openxmlformats.org/drawingml/2006/main">
            <a:r>
              <a:t>| Twist Bioscience | NASDAQ | TWST | DNA synthesis | [Source](https://investors.twistbioscience.com/static-files/8c1d5bed-df6f-48d5-832f-eb2f32717c27) |</a:t>
            </a:r>
          </a:p>
          <a:p xmlns:a="http://schemas.openxmlformats.org/drawingml/2006/main">
            <a:r>
              <a:t>| Thermo Fisher / Gibco | NYSE | TMO | Molecular tools, proteins, media and instruments; parent ticker | [Source](https://ir.thermofisher.com/investors/news-events/news/news-details/2026/Thermo-Fisher-Scientific-Reports-Second-Quarter-2026-Results/) |</a:t>
            </a:r>
          </a:p>
          <a:p xmlns:a="http://schemas.openxmlformats.org/drawingml/2006/main">
            <a:r>
              <a:t>| Bio-Techne | NASDAQ | TECH | Proteins / functional assay reagents | [Source](https://investors.bio-techne.com/stock-data) |</a:t>
            </a:r>
          </a:p>
          <a:p xmlns:a="http://schemas.openxmlformats.org/drawingml/2006/main">
            <a:r>
              <a:t>| Danaher / Cytiva / HyClone | NYSE | DHR | Culture and purification; parent ticker | [Source](https://www.danaher.com/our-businesses/biotechnology) |</a:t>
            </a:r>
          </a:p>
          <a:p xmlns:a="http://schemas.openxmlformats.org/drawingml/2006/main">
            <a:r>
              <a:t>| Corning | NYSE | GLW | Laboratory plastics / cell culture | [Source](https://www.corning.com/content/dam/corning/media/worldwide/global/documents/corning_10-k_2025.pdf) |</a:t>
            </a:r>
          </a:p>
          <a:p xmlns:a="http://schemas.openxmlformats.org/drawingml/2006/main">
            <a:r>
              <a:t>| BD | NYSE | BDX | Current specimen collection / preanalytics; ex-BD flow is WAT | [Source](https://investors.bd.com/news-events/press-releases/detail/937/bd-completes-combination-of-biosciences-diagnostic-solutions-business-with-waters-corporation) |</a:t>
            </a:r>
          </a:p>
          <a:p xmlns:a="http://schemas.openxmlformats.org/drawingml/2006/main">
            <a:r>
              <a:t>| Illumina | NASDAQ | ILMN | Sequencing instruments / consumables | [Source](https://investor.illumina.com/static-files/eb129ea4-1f1a-408f-b87a-44eaee93c63d) |</a:t>
            </a:r>
          </a:p>
          <a:p xmlns:a="http://schemas.openxmlformats.org/drawingml/2006/main">
            <a:r>
              <a:t>| Agilent | NYSE | A | Chromatography / analytical instruments | [Source](https://www.investor.agilent.com/stock-info/stock-quote-and-chart/) |</a:t>
            </a:r>
          </a:p>
          <a:p xmlns:a="http://schemas.openxmlformats.org/drawingml/2006/main">
            <a:r>
              <a:t>| Waters / former BD Biosciences | NYSE | WAT | LC-MS / chromatography and ex-BD flow cytometry | [Source](https://www.waters.com/nextgen/us/en/about-waters/corporate-governance/legal-and-privacy-notices/bdtransaction.html) |</a:t>
            </a:r>
          </a:p>
          <a:p xmlns:a="http://schemas.openxmlformats.org/drawingml/2006/main">
            <a:r>
              <a:t>| Repligen | NASDAQ | RGEN | Bioprocess purification / filtration tools | [Source](https://investors.repligen.com/stock-info/default.aspx) |</a:t>
            </a:r>
          </a:p>
          <a:p xmlns:a="http://schemas.openxmlformats.org/drawingml/2006/main">
            <a:r>
              <a:t>| Tecan | SIX | TECN | Laboratory automation; Swiss-listed | [Source](https://www.tecan.com/hubfs/HubDB/Te-PrArc/180323_Tecan_KeplerCheuvreux.pdf) |</a:t>
            </a:r>
          </a:p>
          <a:p xmlns:a="http://schemas.openxmlformats.org/drawingml/2006/main">
            <a:r>
              <a:t/>
            </a:r>
          </a:p>
          <a:p xmlns:a="http://schemas.openxmlformats.org/drawingml/2006/main">
            <a:r>
              <a:t>The market anchors retain their original scope and sources. Adding a supplier does not broaden or update the displayed TAM. The labware family includes a clinical/preanalytical adjacency for BD; the displayed anchor continues to be the selected China plastic laboratory-consumables estimate. The analytics anchor remains China sequencing instruments plus consumables; it does not size flow cytometry.</a:t>
            </a:r>
          </a:p>
          <a:p xmlns:a="http://schemas.openxmlformats.org/drawingml/2006/main">
            <a:r>
              <a:t/>
            </a:r>
          </a:p>
          <a:p xmlns:a="http://schemas.openxmlformats.org/drawingml/2006/main">
            <a:r>
              <a:t>Original BD logo: https://news.bd.com/images/header-bd-logo.svg. Original company marks retain their colors; chart/UI colors use the user-supplied palette. The second RGB value was explicitly confirmed by the user as 172:212:241.</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10: From AI funding to LST shareholder returns</a:t>
            </a:r>
          </a:p>
          <a:p xmlns:a="http://schemas.openxmlformats.org/drawingml/2006/main">
            <a:r>
              <a:t>Evidence status: Research hypothesis</a:t>
            </a:r>
          </a:p>
          <a:p xmlns:a="http://schemas.openxmlformats.org/drawingml/2006/main">
            <a:r>
              <a:t/>
            </a:r>
          </a:p>
          <a:p xmlns:a="http://schemas.openxmlformats.org/drawingml/2006/main">
            <a:r>
              <a:t># Sources, assumptions and market boundaries</a:t>
            </a:r>
          </a:p>
          <a:p xmlns:a="http://schemas.openxmlformats.org/drawingml/2006/main">
            <a:r>
              <a:t/>
            </a:r>
          </a:p>
          <a:p xmlns:a="http://schemas.openxmlformats.org/drawingml/2006/main">
            <a:r>
              <a:t>Research date: 12 October 2026. This package visualizes the supplied research framework and selected anchors from the preceding primary-source research. Historical industry numbers are consultant or company-cited estimates, rather than administrative census measurements.</a:t>
            </a:r>
          </a:p>
          <a:p xmlns:a="http://schemas.openxmlformats.org/drawingml/2006/main">
            <a:r>
              <a:t/>
            </a:r>
          </a:p>
          <a:p xmlns:a="http://schemas.openxmlformats.org/drawingml/2006/main">
            <a:r>
              <a:t>## Stage table and funnel</a:t>
            </a:r>
          </a:p>
          <a:p xmlns:a="http://schemas.openxmlformats.org/drawingml/2006/main">
            <a:r>
              <a:t/>
            </a:r>
          </a:p>
          <a:p xmlns:a="http://schemas.openxmlformats.org/drawingml/2006/main">
            <a:r>
              <a:t>The supplied stage table uses virtual designs ~1,000 before AI versus 100,000–1 billion in the AI scenario; physical candidates ~1,000 versus 1,000–10,000; wet-lab profiling ~50 versus an illustrative 50→500 expansion; clinical entry 1 versus 1; expected approvals ~0.14 versus unknown. These are user-supplied assumptions, not empirical cohort statistics.</a:t>
            </a:r>
          </a:p>
          <a:p xmlns:a="http://schemas.openxmlformats.org/drawingml/2006/main">
            <a:r>
              <a:t/>
            </a:r>
          </a:p>
          <a:p xmlns:a="http://schemas.openxmlformats.org/drawingml/2006/main">
            <a:r>
              <a:t>The denominator is one clinical entrant. The second reference image uses a different denominator, per approved drug; its counts are not mixed into this table. ~0.14 is an illustrative expected count, not an independently validated success probability. DNA-encoded libraries are not equivalent to fully characterized discrete candidates. Virtual design has costs and quality constraints. The diagram states a working capacity-gate hypothesis, not that design quality or clinical biology cease to matter.</a:t>
            </a:r>
          </a:p>
          <a:p xmlns:a="http://schemas.openxmlformats.org/drawingml/2006/main">
            <a:r>
              <a:t/>
            </a:r>
          </a:p>
          <a:p xmlns:a="http://schemas.openxmlformats.org/drawingml/2006/main">
            <a:r>
              <a:t>## Market anchors in the enlarged ecosystem</a:t>
            </a:r>
          </a:p>
          <a:p xmlns:a="http://schemas.openxmlformats.org/drawingml/2006/main">
            <a:r>
              <a:t/>
            </a:r>
          </a:p>
          <a:p xmlns:a="http://schemas.openxmlformats.org/drawingml/2006/main">
            <a:r>
              <a:t>| Anchor | Geography / year | Value | Scope and evidence |</a:t>
            </a:r>
          </a:p>
          <a:p xmlns:a="http://schemas.openxmlformats.org/drawingml/2006/main">
            <a:r>
              <a:t>|---|---|---|---|</a:t>
            </a:r>
          </a:p>
          <a:p xmlns:a="http://schemas.openxmlformats.org/drawingml/2006/main">
            <a:r>
              <a:t>| DNA synthesis services | China / 2025 | RMB1.33bn | Oligonucleotide RMB0.53bn + long-fragment RMB0.80bn. Midstream services only. Tsingke 2026 IPO filing, pp.156–158. [Primary filing](https://static.sse.com.cn/stock/disclosure/announcement/c/202606/002233_20260630_Z9LA.pdf). |</a:t>
            </a:r>
          </a:p>
          <a:p xmlns:a="http://schemas.openxmlformats.org/drawingml/2006/main">
            <a:r>
              <a:t>| Research-use recombinant proteins | Global / 2025 | US$3.5bn | Research use; not therapeutic protein manufacturing. China ~US$0.4bn is rounded to US$0.1bn precision. ACROBiosystems 2026 HKEX application, printed p.71 / PDF p.80. [Primary filing](https://www1.hkexnews.hk/app/sehk/2026/108910/documents/sehk26093002651_c.pdf). |</a:t>
            </a:r>
          </a:p>
          <a:p xmlns:a="http://schemas.openxmlformats.org/drawingml/2006/main">
            <a:r>
              <a:t>| Bioprocess culture media | China / 2024 | US$323.5m* | Selected media market; not all cellular tools. F&amp;S in Duoning 2026 filing, printed p.126. Excludes the COVID impact on vaccine products. [Filing URL](https://www.hkexnews.hk/app/sehk/2026/108106/documents/sehk26011800033_c.pdf). |</a:t>
            </a:r>
          </a:p>
          <a:p xmlns:a="http://schemas.openxmlformats.org/drawingml/2006/main">
            <a:r>
              <a:t>| Disposable plastic biological laboratory consumables | China / 2024 | ~RMB23bn | Includes research, clinical and industrial uses. JET Biofil 2025 annual-report summary, PDF p.6; company cites F&amp;S and industry research. Direct primary PDF rechecked on 12 Oct 2026. [Primary disclosure](https://static.cninfo.com.cn/finalpage/2026-04-30/1225255989.PDF). |</a:t>
            </a:r>
          </a:p>
          <a:p xmlns:a="http://schemas.openxmlformats.org/drawingml/2006/main">
            <a:r>
              <a:t>| Sequencing instruments and consumables | China / 2024 | RMB4.3bn | Includes clinical sequencing; not instruments alone, and not a combined LC/MS market. MGI 2024 annual report pp.41–42, citing CIC. [Primary disclosure](https://static.cninfo.com.cn/finalpage/2025-04-30/1223427376.PDF). |</a:t>
            </a:r>
          </a:p>
          <a:p xmlns:a="http://schemas.openxmlformats.org/drawingml/2006/main">
            <a:r>
              <a:t>| Bioprocess chromatography resins | China / 2024 | US$578.2m* | Biological process resins; not all analytical columns, chemical adsorption resins or purification hardware. F&amp;S in Duoning 2026 filing, printed p.132. [Filing URL](https://www.hkexnews.hk/app/sehk/2026/108106/documents/sehk26011800033_c.pdf). |</a:t>
            </a:r>
          </a:p>
          <a:p xmlns:a="http://schemas.openxmlformats.org/drawingml/2006/main">
            <a:r>
              <a:t/>
            </a:r>
          </a:p>
          <a:p xmlns:a="http://schemas.openxmlformats.org/drawingml/2006/main">
            <a:r>
              <a:t>*The Duoning figures were checked against the publicly indexed official filing during the preceding research on 9–10 October 2026. Direct PDF access now returns 404. They carry lower source-access confidence than directly downloaded filings. The 2025 values in that filing remain forecasts and are deliberately not presented as 2025 actual results here.*</a:t>
            </a:r>
          </a:p>
          <a:p xmlns:a="http://schemas.openxmlformats.org/drawingml/2006/main">
            <a:r>
              <a:t/>
            </a:r>
          </a:p>
          <a:p xmlns:a="http://schemas.openxmlformats.org/drawingml/2006/main">
            <a:r>
              <a:t>These anchors cannot be added. Their geography, currency, year and boundary differ, and tools can be used across the six product families. Each headline sizes the stated subset, not the full box. In particular, the culture-media figure is a bioprocess anchor and cannot be generalized to all research media and cell models. Automation, mass spectrometry, flow cytometry, imaging and analytical columns are shown as tool families but are not assigned an unsupported combined TAM.</a:t>
            </a:r>
          </a:p>
          <a:p xmlns:a="http://schemas.openxmlformats.org/drawingml/2006/main">
            <a:r>
              <a:t/>
            </a:r>
          </a:p>
          <a:p xmlns:a="http://schemas.openxmlformats.org/drawingml/2006/main">
            <a:r>
              <a:t>## Supporting figure 02: consistent-scope LST comparison</a:t>
            </a:r>
          </a:p>
          <a:p xmlns:a="http://schemas.openxmlformats.org/drawingml/2006/main">
            <a:r>
              <a:t/>
            </a:r>
          </a:p>
          <a:p xmlns:a="http://schemas.openxmlformats.org/drawingml/2006/main">
            <a:r>
              <a:t>The ACROBiosystems HKEX filing of 30 Sep 2026 reports 2025 global LST US$41.5bn and China US$7.7bn under its F&amp;S scope, printed p.65 / PDF p.74. Research biological reagents are global US$26.4bn and China US$4.6bn, printed p.67 / PDF p.76. The residual other-tool values are derived: 41.5−26.4 =15.1 and 7.7−4.6 =3.1, in US$bn. China/global share is 7.7÷41.5 =18.6% rounded. This scope does not reconcile automatically to broader laboratory or manufacturing markets. [Primary filing](https://www1.hkexnews.hk/app/sehk/2026/108910/documents/sehk26093002651_c.pdf).</a:t>
            </a:r>
          </a:p>
          <a:p xmlns:a="http://schemas.openxmlformats.org/drawingml/2006/main">
            <a:r>
              <a:t/>
            </a:r>
          </a:p>
          <a:p xmlns:a="http://schemas.openxmlformats.org/drawingml/2006/main">
            <a:r>
              <a:t>## Illustrative and qualitative figures</a:t>
            </a:r>
          </a:p>
          <a:p xmlns:a="http://schemas.openxmlformats.org/drawingml/2006/main">
            <a:r>
              <a:t/>
            </a:r>
          </a:p>
          <a:p xmlns:a="http://schemas.openxmlformats.org/drawingml/2006/main">
            <a:r>
              <a:t>Figure 03 uses the supplied customer mixes: reagents 30/25/15/10/20%, consumables 20/20/15/30/15%, and instruments 25/20/10/15/30%, for academia, biotech/pharma R&amp;D, CRO/CDMO, pharma-owned production and IVD development. These are illustrative purchasing shares. Hospitals are not independently modeled, and distributors are not an end-customer category.</a:t>
            </a:r>
          </a:p>
          <a:p xmlns:a="http://schemas.openxmlformats.org/drawingml/2006/main">
            <a:r>
              <a:t/>
            </a:r>
          </a:p>
          <a:p xmlns:a="http://schemas.openxmlformats.org/drawingml/2006/main">
            <a:r>
              <a:t>Figure 06 compares 100,000 tests at 100µL in 96-well plates with 1,000,000 tests at 5µL in 1,536-well plates. Reagents fall from 10L to 5L; full-plate counts are ceiling(100,000/96)=1,042 and ceiling(1,000,000/1,536)=652. Tips per test are assumed to fall from 1 to 0.1, giving 100,000 tips in both cases. Volume index 1,000; reagent index 50; plate index 62.6; tip index 100, against a baseline of 100. Dead volume, controls, retests, ASP and service spending are excluded. The two panels use different y-axis scales.</a:t>
            </a:r>
          </a:p>
          <a:p xmlns:a="http://schemas.openxmlformats.org/drawingml/2006/main">
            <a:r>
              <a:t/>
            </a:r>
          </a:p>
          <a:p xmlns:a="http://schemas.openxmlformats.org/drawingml/2006/main">
            <a:r>
              <a:t>Figure 07 uses illustrative cumulative funding pools of US$50bn, US$100bn and US$200bn. No time horizon is specified. Allocations are 30% research equipment/automation, 25% research reagents, 20% research consumables, 15% manufacturing bioprocess tools and 10% services/other. Research-use and manufacturing-use allocations are mutually exclusive. These are not realized financing, annual TAM or a company revenue forecast.</a:t>
            </a:r>
          </a:p>
          <a:p xmlns:a="http://schemas.openxmlformats.org/drawingml/2006/main">
            <a:r>
              <a:t/>
            </a:r>
          </a:p>
          <a:p xmlns:a="http://schemas.openxmlformats.org/drawingml/2006/main">
            <a:r>
              <a:t>Figures 05, 08 and 09 use qualitative analyst positions. Bubble area in figure 05 is schematic relative opportunity, not measured TAM. Axis positions and the gold emphasis on ACROBiosystems and NanoMicro are not numerical scores, stock recommendations, market-share estimates or measured AI revenue. Supply barriers do not establish a current shortage.</a:t>
            </a:r>
          </a:p>
          <a:p xmlns:a="http://schemas.openxmlformats.org/drawingml/2006/main">
            <a:r>
              <a:t/>
            </a:r>
          </a:p>
          <a:p xmlns:a="http://schemas.openxmlformats.org/drawingml/2006/main">
            <a:r>
              <a:t>Figures 04 and 10 describe a conditional mechanism: funded projects → physical experimentation → net tool consumption and purchasing → company share → profit and cash flow. AI funding announcements alone do not establish LST orders. Miniaturization, faster candidate triage, resin reuse and pricing can offset higher experiment counts.</a:t>
            </a:r>
          </a:p>
          <a:p xmlns:a="http://schemas.openxmlformats.org/drawingml/2006/main">
            <a:r>
              <a:t/>
            </a:r>
          </a:p>
          <a:p xmlns:a="http://schemas.openxmlformats.org/drawingml/2006/main">
            <a:r>
              <a:t>## Representative-company product evidence</a:t>
            </a:r>
          </a:p>
          <a:p xmlns:a="http://schemas.openxmlformats.org/drawingml/2006/main">
            <a:r>
              <a:t/>
            </a:r>
          </a:p>
          <a:p xmlns:a="http://schemas.openxmlformats.org/drawingml/2006/main">
            <a:r>
              <a:t>- [ACROBiosystems HKEX application, 30 Sep 2026](https://www1.hkexnews.hk/app/sehk/2026/108910/documents/sehk26093002651_c.pdf): Printed pp. 65, 67 and 71 (PDF pp. 74, 76, 80); defined LST scope, research reagents and recombinant proteins.</a:t>
            </a:r>
          </a:p>
          <a:p xmlns:a="http://schemas.openxmlformats.org/drawingml/2006/main">
            <a:r>
              <a:t>- [Vazyme 2024 annual report](https://static.cninfo.com.cn/finalpage/2025-04-10/1223046699.PDF): Product and business evidence; matrix positions are analyst assumptions.</a:t>
            </a:r>
          </a:p>
          <a:p xmlns:a="http://schemas.openxmlformats.org/drawingml/2006/main">
            <a:r>
              <a:t>- [ACROBiosystems filing: recombinant protein competitive landscape](https://www1.hkexnews.hk/app/sehk/2026/108910/documents/sehk26093002651_c.pdf): Product and business evidence; matrix positions are analyst assumptions.</a:t>
            </a:r>
          </a:p>
          <a:p xmlns:a="http://schemas.openxmlformats.org/drawingml/2006/main">
            <a:r>
              <a:t>- [Novoprotein official product catalog](https://www.novoprotein.com.cn/products): Product and business evidence; matrix positions are analyst assumptions.</a:t>
            </a:r>
          </a:p>
          <a:p xmlns:a="http://schemas.openxmlformats.org/drawingml/2006/main">
            <a:r>
              <a:t>- [NanoMicro 2025 annual report](https://static.cninfo.com.cn/finalpage/2026-04-16/1225107014.PDF): Product and business evidence; matrix positions are analyst assumptions.</a:t>
            </a:r>
          </a:p>
          <a:p xmlns:a="http://schemas.openxmlformats.org/drawingml/2006/main">
            <a:r>
              <a:t>- [Sepax IPO prospectus, Jan 2025](https://static.cninfo.com.cn/finalpage/2025-01-06/1222238930.PDF): Product and business evidence; matrix positions are analyst assumptions.</a:t>
            </a:r>
          </a:p>
          <a:p xmlns:a="http://schemas.openxmlformats.org/drawingml/2006/main">
            <a:r>
              <a:t>- [JET Biofil 2025 interim report](https://stockmc.xueqiu.com/202508/688026_20250830_4FZX.pdf): Product and business evidence; matrix positions are analyst assumptions.</a:t>
            </a:r>
          </a:p>
          <a:p xmlns:a="http://schemas.openxmlformats.org/drawingml/2006/main">
            <a:r>
              <a:t>- [Changhong official website](https://cn.sz-changhong.com/): Product and business evidence; matrix positions are analyst assumptions.</a:t>
            </a:r>
          </a:p>
          <a:p xmlns:a="http://schemas.openxmlformats.org/drawingml/2006/main">
            <a:r>
              <a:t>- [Bide Pharmatech official catalog](https://www.bidepharm.com/): Product and business evidence; matrix positions are analyst assumptions.</a:t>
            </a:r>
          </a:p>
          <a:p xmlns:a="http://schemas.openxmlformats.org/drawingml/2006/main">
            <a:r>
              <a:t>- [ChemExpress official website](https://www.chemexpress.com.cn/): Product and business evidence; matrix positions are analyst assumptions.</a:t>
            </a:r>
          </a:p>
          <a:p xmlns:a="http://schemas.openxmlformats.org/drawingml/2006/main">
            <a:r>
              <a:t>- [MGI 2025 annual report](https://static.cninfo.com.cn/finalpage/2026-04-25/1225194780.PDF): Product and business evidence; matrix positions are analyst assumptions.</a:t>
            </a:r>
          </a:p>
          <a:p xmlns:a="http://schemas.openxmlformats.org/drawingml/2006/main">
            <a:r>
              <a:t>- [OPM Biosciences 2025 annual report](https://pdf.dfcfw.com/pdf/H2_AN202604221821449851_1.pdf): Product and business evidence; matrix positions are analyst assumptions.</a:t>
            </a:r>
          </a:p>
          <a:p xmlns:a="http://schemas.openxmlformats.org/drawingml/2006/main">
            <a:r>
              <a:t/>
            </a:r>
          </a:p>
          <a:p xmlns:a="http://schemas.openxmlformats.org/drawingml/2006/main">
            <a:r>
              <a:t>The primary distinction in this research is product exposure: ACROBiosystems supplies recombinant proteins and assay tools used in expression and functional validation; NanoMicro supplies purification and chromatography products used in analytical/process development and manufacturing. A broad increase in virtual candidates does not establish either company's incremental orders. Manufacturing demand also depends on successful clinical translation and drug output.</a:t>
            </a:r>
          </a:p>
          <a:p xmlns:a="http://schemas.openxmlformats.org/drawingml/2006/main">
            <a:r>
              <a:t/>
            </a:r>
          </a:p>
          <a:p xmlns:a="http://schemas.openxmlformats.org/drawingml/2006/main">
            <a:r>
              <a:t>## Logo and icon assets</a:t>
            </a:r>
          </a:p>
          <a:p xmlns:a="http://schemas.openxmlformats.org/drawingml/2006/main">
            <a:r>
              <a:t/>
            </a:r>
          </a:p>
          <a:p xmlns:a="http://schemas.openxmlformats.org/drawingml/2006/main">
            <a:r>
              <a:t>Logo files identify representative suppliers. `assets/sources.json` gives source URLs and modifications. Where whitespace was trimmed, the brand artwork is unchanged. NanoMicro uses its circular emblem alongside a separate editable English company label, keeping all visible labels English. JET uses an English brand asset from a supplier listing. Company names remain editable even when a logo is embedded. Supplier lists are examples and are not rankings or endorsements.</a:t>
            </a:r>
          </a:p>
          <a:p xmlns:a="http://schemas.openxmlformats.org/drawingml/2006/main">
            <a:r>
              <a:t/>
            </a:r>
          </a:p>
          <a:p xmlns:a="http://schemas.openxmlformats.org/drawingml/2006/main">
            <a:r>
              <a:t>Lucide icons are sourced from the project's official GitHub repository, recolored teal for the graphic and provided under the ISC license. The full license is included in `assets/icons/LICENSE`.</a:t>
            </a:r>
          </a:p>
          <a:p xmlns:a="http://schemas.openxmlformats.org/drawingml/2006/main">
            <a:r>
              <a:t/>
            </a:r>
          </a:p>
          <a:p xmlns:a="http://schemas.openxmlformats.org/drawingml/2006/main">
            <a:r>
              <a:t/>
            </a:r>
          </a:p>
          <a:p xmlns:a="http://schemas.openxmlformats.org/drawingml/2006/main">
            <a:r>
              <a:t># Supplier tickers and current BD exposure</a:t>
            </a:r>
          </a:p>
          <a:p xmlns:a="http://schemas.openxmlformats.org/drawingml/2006/main">
            <a:r>
              <a:t/>
            </a:r>
          </a:p>
          <a:p xmlns:a="http://schemas.openxmlformats.org/drawingml/2006/main">
            <a:r>
              <a:t>Updated 13 October 2026. Rows identify representative suppliers or their listed parents, not market shares or investment recommendations. China/HK and US groups refer to listing venues; they do not imply legal domicile, headquarters or pure-play exposure.</a:t>
            </a:r>
          </a:p>
          <a:p xmlns:a="http://schemas.openxmlformats.org/drawingml/2006/main">
            <a:r>
              <a:t/>
            </a:r>
          </a:p>
          <a:p xmlns:a="http://schemas.openxmlformats.org/drawingml/2006/main">
            <a:r>
              <a:t>BD (NYSE:BDX) remains relevant to specimen collection and preanalytical sample handling. Its former Biosciences and Diagnostic Solutions business, including flow cytometry, moved to Waters (NYSE:WAT) on 9 February 2026.</a:t>
            </a:r>
          </a:p>
          <a:p xmlns:a="http://schemas.openxmlformats.org/drawingml/2006/main">
            <a:r>
              <a:t/>
            </a:r>
          </a:p>
          <a:p xmlns:a="http://schemas.openxmlformats.org/drawingml/2006/main">
            <a:r>
              <a:t>- [BD completion release](https://investors.bd.com/news-events/press-releases/detail/937/bd-completes-combination-of-biosciences-diagnostic-solutions-business-with-waters-corporation)</a:t>
            </a:r>
          </a:p>
          <a:p xmlns:a="http://schemas.openxmlformats.org/drawingml/2006/main">
            <a:r>
              <a:t>- [Waters current transaction disclosure](https://www.waters.com/nextgen/us/en/about-waters/corporate-governance/legal-and-privacy-notices/bdtransaction.html)</a:t>
            </a:r>
          </a:p>
          <a:p xmlns:a="http://schemas.openxmlformats.org/drawingml/2006/main">
            <a:r>
              <a:t>- [Current BD Vacutainer portfolio](https://go.bd.com/vacutainer-product-updates-TY.html): specimen-collection / sample-management products.</a:t>
            </a:r>
          </a:p>
          <a:p xmlns:a="http://schemas.openxmlformats.org/drawingml/2006/main">
            <a:r>
              <a:t/>
            </a:r>
          </a:p>
          <a:p xmlns:a="http://schemas.openxmlformats.org/drawingml/2006/main">
            <a:r>
              <a:t>Gibco is shown with Thermo Fisher (TMO); Cytiva and HyClone with Danaher (DHR). The underlying business exposure is narrower than the parent company's total revenue. Tsingke's code 874813 is a NEEQ code, not an A-share exchange listing; its IPO application is a separate filing. Suzhou Sepax is 688758.SH; the graphic refers to the China-listed issuer's chromatography portfolio.</a:t>
            </a:r>
          </a:p>
          <a:p xmlns:a="http://schemas.openxmlformats.org/drawingml/2006/main">
            <a:r>
              <a:t/>
            </a:r>
          </a:p>
          <a:p xmlns:a="http://schemas.openxmlformats.org/drawingml/2006/main">
            <a:r>
              <a:t>| Supplier / parent | Exchange | Ticker | Product pathway | Primary listing / business source |</a:t>
            </a:r>
          </a:p>
          <a:p xmlns:a="http://schemas.openxmlformats.org/drawingml/2006/main">
            <a:r>
              <a:t>|---|---|---|---|---|</a:t>
            </a:r>
          </a:p>
          <a:p xmlns:a="http://schemas.openxmlformats.org/drawingml/2006/main">
            <a:r>
              <a:t>| GenScript | HKEX | 1548 | Molecular construction | [Source](https://www.genscript.com/genscript-biotech-demonstrates-profitable-scale-and-strategic-leadership-in-h1-2025.html) |</a:t>
            </a:r>
          </a:p>
          <a:p xmlns:a="http://schemas.openxmlformats.org/drawingml/2006/main">
            <a:r>
              <a:t>| Vazyme | SSE | 688105 | Molecular construction | [Source](https://www.vazyme.us/AboutUs/OurStrories/) |</a:t>
            </a:r>
          </a:p>
          <a:p xmlns:a="http://schemas.openxmlformats.org/drawingml/2006/main">
            <a:r>
              <a:t>| Tsingke | NEEQ | 874813 | DNA synthesis; NEEQ-listed, A-share IPO application is separate | [Source](https://static.sse.com.cn/stock/disclosure/announcement/c/202606/002233_20260630_Z9LA.pdf) |</a:t>
            </a:r>
          </a:p>
          <a:p xmlns:a="http://schemas.openxmlformats.org/drawingml/2006/main">
            <a:r>
              <a:t>| ACROBiosystems | SZSE | 301080 | Proteins / functional cells | [Source](https://www1.hkexnews.hk/app/sehk/2026/108910/documents/sehk26093002651_c.pdf) |</a:t>
            </a:r>
          </a:p>
          <a:p xmlns:a="http://schemas.openxmlformats.org/drawingml/2006/main">
            <a:r>
              <a:t>| Sino Biological | SZSE | 301047 | Research proteins / antibodies | [Source](https://disc.static.szse.cn/disc/disk03/finalpage/2026-08-26/cd4ea950-7931-4164-bcec-20c03b8236e1.PDF) |</a:t>
            </a:r>
          </a:p>
          <a:p xmlns:a="http://schemas.openxmlformats.org/drawingml/2006/main">
            <a:r>
              <a:t>| OPM Biosciences | SSE | 688293 | Cell culture media | [Source](https://opmbiosciences.com/) |</a:t>
            </a:r>
          </a:p>
          <a:p xmlns:a="http://schemas.openxmlformats.org/drawingml/2006/main">
            <a:r>
              <a:t>| JET Biofil | SSE | 688026 | Plastic laboratory consumables | [Source](https://static.cninfo.com.cn/finalpage/2026-04-30/1225255989.PDF) |</a:t>
            </a:r>
          </a:p>
          <a:p xmlns:a="http://schemas.openxmlformats.org/drawingml/2006/main">
            <a:r>
              <a:t>| Changhong | SZSE | 300151 | Life science / medical plastic consumables | [Source](https://static.cninfo.com.cn/finalpage/2025-10-30/1224764410.PDF) |</a:t>
            </a:r>
          </a:p>
          <a:p xmlns:a="http://schemas.openxmlformats.org/drawingml/2006/main">
            <a:r>
              <a:t>| MGI | SSE | 688114 | Sequencing instruments / consumables | [Source](https://static.cninfo.com.cn/finalpage/2025-04-30/1223427376.PDF) |</a:t>
            </a:r>
          </a:p>
          <a:p xmlns:a="http://schemas.openxmlformats.org/drawingml/2006/main">
            <a:r>
              <a:t>| NanoMicro | SSE | 688690 | Chromatography materials and analytical separation / purification | [Source](https://static.cninfo.com.cn/finalpage/2026-09-22/1225575593.PDF) |</a:t>
            </a:r>
          </a:p>
          <a:p xmlns:a="http://schemas.openxmlformats.org/drawingml/2006/main">
            <a:r>
              <a:t>| Suzhou Sepax | SSE | 688758 | Chromatography columns / process media | [Source](https://www.sepax-tech.com.cn/skin/default/investorpdf/%E8%8B%8F%E5%B7%9E%E8%B5%9B%E5%88%86%E7%A7%91%E6%8A%80%E8%82%A1%E4%BB%BD%E6%9C%89%E9%99%90%E5%85%AC%E5%8F%B82025%E5%B9%B4%E7%AC%AC%E4%B8%80%E6%AC%A1%E4%B8%B4%E6%97%B6%E8%82%A1%E4%B8%9C%E4%BC%9A%E4%BC%9A%E8%AE%AE%E8%B5%84%E6%96%99.pdf) |</a:t>
            </a:r>
          </a:p>
          <a:p xmlns:a="http://schemas.openxmlformats.org/drawingml/2006/main">
            <a:r>
              <a:t>| Twist Bioscience | NASDAQ | TWST | DNA synthesis | [Source](https://investors.twistbioscience.com/static-files/8c1d5bed-df6f-48d5-832f-eb2f32717c27) |</a:t>
            </a:r>
          </a:p>
          <a:p xmlns:a="http://schemas.openxmlformats.org/drawingml/2006/main">
            <a:r>
              <a:t>| Thermo Fisher / Gibco | NYSE | TMO | Molecular tools, proteins, media and instruments; parent ticker | [Source](https://ir.thermofisher.com/investors/news-events/news/news-details/2026/Thermo-Fisher-Scientific-Reports-Second-Quarter-2026-Results/) |</a:t>
            </a:r>
          </a:p>
          <a:p xmlns:a="http://schemas.openxmlformats.org/drawingml/2006/main">
            <a:r>
              <a:t>| Bio-Techne | NASDAQ | TECH | Proteins / functional assay reagents | [Source](https://investors.bio-techne.com/stock-data) |</a:t>
            </a:r>
          </a:p>
          <a:p xmlns:a="http://schemas.openxmlformats.org/drawingml/2006/main">
            <a:r>
              <a:t>| Danaher / Cytiva / HyClone | NYSE | DHR | Culture and purification; parent ticker | [Source](https://www.danaher.com/our-businesses/biotechnology) |</a:t>
            </a:r>
          </a:p>
          <a:p xmlns:a="http://schemas.openxmlformats.org/drawingml/2006/main">
            <a:r>
              <a:t>| Corning | NYSE | GLW | Laboratory plastics / cell culture | [Source](https://www.corning.com/content/dam/corning/media/worldwide/global/documents/corning_10-k_2025.pdf) |</a:t>
            </a:r>
          </a:p>
          <a:p xmlns:a="http://schemas.openxmlformats.org/drawingml/2006/main">
            <a:r>
              <a:t>| BD | NYSE | BDX | Current specimen collection / preanalytics; ex-BD flow is WAT | [Source](https://investors.bd.com/news-events/press-releases/detail/937/bd-completes-combination-of-biosciences-diagnostic-solutions-business-with-waters-corporation) |</a:t>
            </a:r>
          </a:p>
          <a:p xmlns:a="http://schemas.openxmlformats.org/drawingml/2006/main">
            <a:r>
              <a:t>| Illumina | NASDAQ | ILMN | Sequencing instruments / consumables | [Source](https://investor.illumina.com/static-files/eb129ea4-1f1a-408f-b87a-44eaee93c63d) |</a:t>
            </a:r>
          </a:p>
          <a:p xmlns:a="http://schemas.openxmlformats.org/drawingml/2006/main">
            <a:r>
              <a:t>| Agilent | NYSE | A | Chromatography / analytical instruments | [Source](https://www.investor.agilent.com/stock-info/stock-quote-and-chart/) |</a:t>
            </a:r>
          </a:p>
          <a:p xmlns:a="http://schemas.openxmlformats.org/drawingml/2006/main">
            <a:r>
              <a:t>| Waters / former BD Biosciences | NYSE | WAT | LC-MS / chromatography and ex-BD flow cytometry | [Source](https://www.waters.com/nextgen/us/en/about-waters/corporate-governance/legal-and-privacy-notices/bdtransaction.html) |</a:t>
            </a:r>
          </a:p>
          <a:p xmlns:a="http://schemas.openxmlformats.org/drawingml/2006/main">
            <a:r>
              <a:t>| Repligen | NASDAQ | RGEN | Bioprocess purification / filtration tools | [Source](https://investors.repligen.com/stock-info/default.aspx) |</a:t>
            </a:r>
          </a:p>
          <a:p xmlns:a="http://schemas.openxmlformats.org/drawingml/2006/main">
            <a:r>
              <a:t>| Tecan | SIX | TECN | Laboratory automation; Swiss-listed | [Source](https://www.tecan.com/hubfs/HubDB/Te-PrArc/180323_Tecan_KeplerCheuvreux.pdf) |</a:t>
            </a:r>
          </a:p>
          <a:p xmlns:a="http://schemas.openxmlformats.org/drawingml/2006/main">
            <a:r>
              <a:t/>
            </a:r>
          </a:p>
          <a:p xmlns:a="http://schemas.openxmlformats.org/drawingml/2006/main">
            <a:r>
              <a:t>The market anchors retain their original scope and sources. Adding a supplier does not broaden or update the displayed TAM. The labware family includes a clinical/preanalytical adjacency for BD; the displayed anchor continues to be the selected China plastic laboratory-consumables estimate. The analytics anchor remains China sequencing instruments plus consumables; it does not size flow cytometry.</a:t>
            </a:r>
          </a:p>
          <a:p xmlns:a="http://schemas.openxmlformats.org/drawingml/2006/main">
            <a:r>
              <a:t/>
            </a:r>
          </a:p>
          <a:p xmlns:a="http://schemas.openxmlformats.org/drawingml/2006/main">
            <a:r>
              <a:t>Original BD logo: https://news.bd.com/images/header-bd-logo.svg. Original company marks retain their colors; chart/UI colors use the user-supplied palette. The second RGB value was explicitly confirmed by the user as 172:212:241.</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11: Editable stage comparison</a:t>
            </a:r>
          </a:p>
          <a:p xmlns:a="http://schemas.openxmlformats.org/drawingml/2006/main">
            <a:r>
              <a:t>Evidence status: Illustrative scenario</a:t>
            </a:r>
          </a:p>
          <a:p xmlns:a="http://schemas.openxmlformats.org/drawingml/2006/main">
            <a:r>
              <a:t/>
            </a:r>
          </a:p>
          <a:p xmlns:a="http://schemas.openxmlformats.org/drawingml/2006/main">
            <a:r>
              <a:t># Sources, assumptions and market boundaries</a:t>
            </a:r>
          </a:p>
          <a:p xmlns:a="http://schemas.openxmlformats.org/drawingml/2006/main">
            <a:r>
              <a:t/>
            </a:r>
          </a:p>
          <a:p xmlns:a="http://schemas.openxmlformats.org/drawingml/2006/main">
            <a:r>
              <a:t>Research date: 12 October 2026. This package visualizes the supplied research framework and selected anchors from the preceding primary-source research. Historical industry numbers are consultant or company-cited estimates, rather than administrative census measurements.</a:t>
            </a:r>
          </a:p>
          <a:p xmlns:a="http://schemas.openxmlformats.org/drawingml/2006/main">
            <a:r>
              <a:t/>
            </a:r>
          </a:p>
          <a:p xmlns:a="http://schemas.openxmlformats.org/drawingml/2006/main">
            <a:r>
              <a:t>## Stage table and funnel</a:t>
            </a:r>
          </a:p>
          <a:p xmlns:a="http://schemas.openxmlformats.org/drawingml/2006/main">
            <a:r>
              <a:t/>
            </a:r>
          </a:p>
          <a:p xmlns:a="http://schemas.openxmlformats.org/drawingml/2006/main">
            <a:r>
              <a:t>The supplied stage table uses virtual designs ~1,000 before AI versus 100,000–1 billion in the AI scenario; physical candidates ~1,000 versus 1,000–10,000; wet-lab profiling ~50 versus an illustrative 50→500 expansion; clinical entry 1 versus 1; expected approvals ~0.14 versus unknown. These are user-supplied assumptions, not empirical cohort statistics.</a:t>
            </a:r>
          </a:p>
          <a:p xmlns:a="http://schemas.openxmlformats.org/drawingml/2006/main">
            <a:r>
              <a:t/>
            </a:r>
          </a:p>
          <a:p xmlns:a="http://schemas.openxmlformats.org/drawingml/2006/main">
            <a:r>
              <a:t>The denominator is one clinical entrant. The second reference image uses a different denominator, per approved drug; its counts are not mixed into this table. ~0.14 is an illustrative expected count, not an independently validated success probability. DNA-encoded libraries are not equivalent to fully characterized discrete candidates. Virtual design has costs and quality constraints. The diagram states a working capacity-gate hypothesis, not that design quality or clinical biology cease to matter.</a:t>
            </a:r>
          </a:p>
          <a:p xmlns:a="http://schemas.openxmlformats.org/drawingml/2006/main">
            <a:r>
              <a:t/>
            </a:r>
          </a:p>
          <a:p xmlns:a="http://schemas.openxmlformats.org/drawingml/2006/main">
            <a:r>
              <a:t>## Market anchors in the enlarged ecosystem</a:t>
            </a:r>
          </a:p>
          <a:p xmlns:a="http://schemas.openxmlformats.org/drawingml/2006/main">
            <a:r>
              <a:t/>
            </a:r>
          </a:p>
          <a:p xmlns:a="http://schemas.openxmlformats.org/drawingml/2006/main">
            <a:r>
              <a:t>| Anchor | Geography / year | Value | Scope and evidence |</a:t>
            </a:r>
          </a:p>
          <a:p xmlns:a="http://schemas.openxmlformats.org/drawingml/2006/main">
            <a:r>
              <a:t>|---|---|---|---|</a:t>
            </a:r>
          </a:p>
          <a:p xmlns:a="http://schemas.openxmlformats.org/drawingml/2006/main">
            <a:r>
              <a:t>| DNA synthesis services | China / 2025 | RMB1.33bn | Oligonucleotide RMB0.53bn + long-fragment RMB0.80bn. Midstream services only. Tsingke 2026 IPO filing, pp.156–158. [Primary filing](https://static.sse.com.cn/stock/disclosure/announcement/c/202606/002233_20260630_Z9LA.pdf). |</a:t>
            </a:r>
          </a:p>
          <a:p xmlns:a="http://schemas.openxmlformats.org/drawingml/2006/main">
            <a:r>
              <a:t>| Research-use recombinant proteins | Global / 2025 | US$3.5bn | Research use; not therapeutic protein manufacturing. China ~US$0.4bn is rounded to US$0.1bn precision. ACROBiosystems 2026 HKEX application, printed p.71 / PDF p.80. [Primary filing](https://www1.hkexnews.hk/app/sehk/2026/108910/documents/sehk26093002651_c.pdf). |</a:t>
            </a:r>
          </a:p>
          <a:p xmlns:a="http://schemas.openxmlformats.org/drawingml/2006/main">
            <a:r>
              <a:t>| Bioprocess culture media | China / 2024 | US$323.5m* | Selected media market; not all cellular tools. F&amp;S in Duoning 2026 filing, printed p.126. Excludes the COVID impact on vaccine products. [Filing URL](https://www.hkexnews.hk/app/sehk/2026/108106/documents/sehk26011800033_c.pdf). |</a:t>
            </a:r>
          </a:p>
          <a:p xmlns:a="http://schemas.openxmlformats.org/drawingml/2006/main">
            <a:r>
              <a:t>| Disposable plastic biological laboratory consumables | China / 2024 | ~RMB23bn | Includes research, clinical and industrial uses. JET Biofil 2025 annual-report summary, PDF p.6; company cites F&amp;S and industry research. Direct primary PDF rechecked on 12 Oct 2026. [Primary disclosure](https://static.cninfo.com.cn/finalpage/2026-04-30/1225255989.PDF). |</a:t>
            </a:r>
          </a:p>
          <a:p xmlns:a="http://schemas.openxmlformats.org/drawingml/2006/main">
            <a:r>
              <a:t>| Sequencing instruments and consumables | China / 2024 | RMB4.3bn | Includes clinical sequencing; not instruments alone, and not a combined LC/MS market. MGI 2024 annual report pp.41–42, citing CIC. [Primary disclosure](https://static.cninfo.com.cn/finalpage/2025-04-30/1223427376.PDF). |</a:t>
            </a:r>
          </a:p>
          <a:p xmlns:a="http://schemas.openxmlformats.org/drawingml/2006/main">
            <a:r>
              <a:t>| Bioprocess chromatography resins | China / 2024 | US$578.2m* | Biological process resins; not all analytical columns, chemical adsorption resins or purification hardware. F&amp;S in Duoning 2026 filing, printed p.132. [Filing URL](https://www.hkexnews.hk/app/sehk/2026/108106/documents/sehk26011800033_c.pdf). |</a:t>
            </a:r>
          </a:p>
          <a:p xmlns:a="http://schemas.openxmlformats.org/drawingml/2006/main">
            <a:r>
              <a:t/>
            </a:r>
          </a:p>
          <a:p xmlns:a="http://schemas.openxmlformats.org/drawingml/2006/main">
            <a:r>
              <a:t>*The Duoning figures were checked against the publicly indexed official filing during the preceding research on 9–10 October 2026. Direct PDF access now returns 404. They carry lower source-access confidence than directly downloaded filings. The 2025 values in that filing remain forecasts and are deliberately not presented as 2025 actual results here.*</a:t>
            </a:r>
          </a:p>
          <a:p xmlns:a="http://schemas.openxmlformats.org/drawingml/2006/main">
            <a:r>
              <a:t/>
            </a:r>
          </a:p>
          <a:p xmlns:a="http://schemas.openxmlformats.org/drawingml/2006/main">
            <a:r>
              <a:t>These anchors cannot be added. Their geography, currency, year and boundary differ, and tools can be used across the six product families. Each headline sizes the stated subset, not the full box. In particular, the culture-media figure is a bioprocess anchor and cannot be generalized to all research media and cell models. Automation, mass spectrometry, flow cytometry, imaging and analytical columns are shown as tool families but are not assigned an unsupported combined TAM.</a:t>
            </a:r>
          </a:p>
          <a:p xmlns:a="http://schemas.openxmlformats.org/drawingml/2006/main">
            <a:r>
              <a:t/>
            </a:r>
          </a:p>
          <a:p xmlns:a="http://schemas.openxmlformats.org/drawingml/2006/main">
            <a:r>
              <a:t>## Supporting figure 02: consistent-scope LST comparison</a:t>
            </a:r>
          </a:p>
          <a:p xmlns:a="http://schemas.openxmlformats.org/drawingml/2006/main">
            <a:r>
              <a:t/>
            </a:r>
          </a:p>
          <a:p xmlns:a="http://schemas.openxmlformats.org/drawingml/2006/main">
            <a:r>
              <a:t>The ACROBiosystems HKEX filing of 30 Sep 2026 reports 2025 global LST US$41.5bn and China US$7.7bn under its F&amp;S scope, printed p.65 / PDF p.74. Research biological reagents are global US$26.4bn and China US$4.6bn, printed p.67 / PDF p.76. The residual other-tool values are derived: 41.5−26.4 =15.1 and 7.7−4.6 =3.1, in US$bn. China/global share is 7.7÷41.5 =18.6% rounded. This scope does not reconcile automatically to broader laboratory or manufacturing markets. [Primary filing](https://www1.hkexnews.hk/app/sehk/2026/108910/documents/sehk26093002651_c.pdf).</a:t>
            </a:r>
          </a:p>
          <a:p xmlns:a="http://schemas.openxmlformats.org/drawingml/2006/main">
            <a:r>
              <a:t/>
            </a:r>
          </a:p>
          <a:p xmlns:a="http://schemas.openxmlformats.org/drawingml/2006/main">
            <a:r>
              <a:t>## Illustrative and qualitative figures</a:t>
            </a:r>
          </a:p>
          <a:p xmlns:a="http://schemas.openxmlformats.org/drawingml/2006/main">
            <a:r>
              <a:t/>
            </a:r>
          </a:p>
          <a:p xmlns:a="http://schemas.openxmlformats.org/drawingml/2006/main">
            <a:r>
              <a:t>Figure 03 uses the supplied customer mixes: reagents 30/25/15/10/20%, consumables 20/20/15/30/15%, and instruments 25/20/10/15/30%, for academia, biotech/pharma R&amp;D, CRO/CDMO, pharma-owned production and IVD development. These are illustrative purchasing shares. Hospitals are not independently modeled, and distributors are not an end-customer category.</a:t>
            </a:r>
          </a:p>
          <a:p xmlns:a="http://schemas.openxmlformats.org/drawingml/2006/main">
            <a:r>
              <a:t/>
            </a:r>
          </a:p>
          <a:p xmlns:a="http://schemas.openxmlformats.org/drawingml/2006/main">
            <a:r>
              <a:t>Figure 06 compares 100,000 tests at 100µL in 96-well plates with 1,000,000 tests at 5µL in 1,536-well plates. Reagents fall from 10L to 5L; full-plate counts are ceiling(100,000/96)=1,042 and ceiling(1,000,000/1,536)=652. Tips per test are assumed to fall from 1 to 0.1, giving 100,000 tips in both cases. Volume index 1,000; reagent index 50; plate index 62.6; tip index 100, against a baseline of 100. Dead volume, controls, retests, ASP and service spending are excluded. The two panels use different y-axis scales.</a:t>
            </a:r>
          </a:p>
          <a:p xmlns:a="http://schemas.openxmlformats.org/drawingml/2006/main">
            <a:r>
              <a:t/>
            </a:r>
          </a:p>
          <a:p xmlns:a="http://schemas.openxmlformats.org/drawingml/2006/main">
            <a:r>
              <a:t>Figure 07 uses illustrative cumulative funding pools of US$50bn, US$100bn and US$200bn. No time horizon is specified. Allocations are 30% research equipment/automation, 25% research reagents, 20% research consumables, 15% manufacturing bioprocess tools and 10% services/other. Research-use and manufacturing-use allocations are mutually exclusive. These are not realized financing, annual TAM or a company revenue forecast.</a:t>
            </a:r>
          </a:p>
          <a:p xmlns:a="http://schemas.openxmlformats.org/drawingml/2006/main">
            <a:r>
              <a:t/>
            </a:r>
          </a:p>
          <a:p xmlns:a="http://schemas.openxmlformats.org/drawingml/2006/main">
            <a:r>
              <a:t>Figures 05, 08 and 09 use qualitative analyst positions. Bubble area in figure 05 is schematic relative opportunity, not measured TAM. Axis positions and the gold emphasis on ACROBiosystems and NanoMicro are not numerical scores, stock recommendations, market-share estimates or measured AI revenue. Supply barriers do not establish a current shortage.</a:t>
            </a:r>
          </a:p>
          <a:p xmlns:a="http://schemas.openxmlformats.org/drawingml/2006/main">
            <a:r>
              <a:t/>
            </a:r>
          </a:p>
          <a:p xmlns:a="http://schemas.openxmlformats.org/drawingml/2006/main">
            <a:r>
              <a:t>Figures 04 and 10 describe a conditional mechanism: funded projects → physical experimentation → net tool consumption and purchasing → company share → profit and cash flow. AI funding announcements alone do not establish LST orders. Miniaturization, faster candidate triage, resin reuse and pricing can offset higher experiment counts.</a:t>
            </a:r>
          </a:p>
          <a:p xmlns:a="http://schemas.openxmlformats.org/drawingml/2006/main">
            <a:r>
              <a:t/>
            </a:r>
          </a:p>
          <a:p xmlns:a="http://schemas.openxmlformats.org/drawingml/2006/main">
            <a:r>
              <a:t>## Representative-company product evidence</a:t>
            </a:r>
          </a:p>
          <a:p xmlns:a="http://schemas.openxmlformats.org/drawingml/2006/main">
            <a:r>
              <a:t/>
            </a:r>
          </a:p>
          <a:p xmlns:a="http://schemas.openxmlformats.org/drawingml/2006/main">
            <a:r>
              <a:t>- [ACROBiosystems HKEX application, 30 Sep 2026](https://www1.hkexnews.hk/app/sehk/2026/108910/documents/sehk26093002651_c.pdf): Printed pp. 65, 67 and 71 (PDF pp. 74, 76, 80); defined LST scope, research reagents and recombinant proteins.</a:t>
            </a:r>
          </a:p>
          <a:p xmlns:a="http://schemas.openxmlformats.org/drawingml/2006/main">
            <a:r>
              <a:t>- [Vazyme 2024 annual report](https://static.cninfo.com.cn/finalpage/2025-04-10/1223046699.PDF): Product and business evidence; matrix positions are analyst assumptions.</a:t>
            </a:r>
          </a:p>
          <a:p xmlns:a="http://schemas.openxmlformats.org/drawingml/2006/main">
            <a:r>
              <a:t>- [ACROBiosystems filing: recombinant protein competitive landscape](https://www1.hkexnews.hk/app/sehk/2026/108910/documents/sehk26093002651_c.pdf): Product and business evidence; matrix positions are analyst assumptions.</a:t>
            </a:r>
          </a:p>
          <a:p xmlns:a="http://schemas.openxmlformats.org/drawingml/2006/main">
            <a:r>
              <a:t>- [Novoprotein official product catalog](https://www.novoprotein.com.cn/products): Product and business evidence; matrix positions are analyst assumptions.</a:t>
            </a:r>
          </a:p>
          <a:p xmlns:a="http://schemas.openxmlformats.org/drawingml/2006/main">
            <a:r>
              <a:t>- [NanoMicro 2025 annual report](https://static.cninfo.com.cn/finalpage/2026-04-16/1225107014.PDF): Product and business evidence; matrix positions are analyst assumptions.</a:t>
            </a:r>
          </a:p>
          <a:p xmlns:a="http://schemas.openxmlformats.org/drawingml/2006/main">
            <a:r>
              <a:t>- [Sepax IPO prospectus, Jan 2025](https://static.cninfo.com.cn/finalpage/2025-01-06/1222238930.PDF): Product and business evidence; matrix positions are analyst assumptions.</a:t>
            </a:r>
          </a:p>
          <a:p xmlns:a="http://schemas.openxmlformats.org/drawingml/2006/main">
            <a:r>
              <a:t>- [JET Biofil 2025 interim report](https://stockmc.xueqiu.com/202508/688026_20250830_4FZX.pdf): Product and business evidence; matrix positions are analyst assumptions.</a:t>
            </a:r>
          </a:p>
          <a:p xmlns:a="http://schemas.openxmlformats.org/drawingml/2006/main">
            <a:r>
              <a:t>- [Changhong official website](https://cn.sz-changhong.com/): Product and business evidence; matrix positions are analyst assumptions.</a:t>
            </a:r>
          </a:p>
          <a:p xmlns:a="http://schemas.openxmlformats.org/drawingml/2006/main">
            <a:r>
              <a:t>- [Bide Pharmatech official catalog](https://www.bidepharm.com/): Product and business evidence; matrix positions are analyst assumptions.</a:t>
            </a:r>
          </a:p>
          <a:p xmlns:a="http://schemas.openxmlformats.org/drawingml/2006/main">
            <a:r>
              <a:t>- [ChemExpress official website](https://www.chemexpress.com.cn/): Product and business evidence; matrix positions are analyst assumptions.</a:t>
            </a:r>
          </a:p>
          <a:p xmlns:a="http://schemas.openxmlformats.org/drawingml/2006/main">
            <a:r>
              <a:t>- [MGI 2025 annual report](https://static.cninfo.com.cn/finalpage/2026-04-25/1225194780.PDF): Product and business evidence; matrix positions are analyst assumptions.</a:t>
            </a:r>
          </a:p>
          <a:p xmlns:a="http://schemas.openxmlformats.org/drawingml/2006/main">
            <a:r>
              <a:t>- [OPM Biosciences 2025 annual report](https://pdf.dfcfw.com/pdf/H2_AN202604221821449851_1.pdf): Product and business evidence; matrix positions are analyst assumptions.</a:t>
            </a:r>
          </a:p>
          <a:p xmlns:a="http://schemas.openxmlformats.org/drawingml/2006/main">
            <a:r>
              <a:t/>
            </a:r>
          </a:p>
          <a:p xmlns:a="http://schemas.openxmlformats.org/drawingml/2006/main">
            <a:r>
              <a:t>The primary distinction in this research is product exposure: ACROBiosystems supplies recombinant proteins and assay tools used in expression and functional validation; NanoMicro supplies purification and chromatography products used in analytical/process development and manufacturing. A broad increase in virtual candidates does not establish either company's incremental orders. Manufacturing demand also depends on successful clinical translation and drug output.</a:t>
            </a:r>
          </a:p>
          <a:p xmlns:a="http://schemas.openxmlformats.org/drawingml/2006/main">
            <a:r>
              <a:t/>
            </a:r>
          </a:p>
          <a:p xmlns:a="http://schemas.openxmlformats.org/drawingml/2006/main">
            <a:r>
              <a:t>## Logo and icon assets</a:t>
            </a:r>
          </a:p>
          <a:p xmlns:a="http://schemas.openxmlformats.org/drawingml/2006/main">
            <a:r>
              <a:t/>
            </a:r>
          </a:p>
          <a:p xmlns:a="http://schemas.openxmlformats.org/drawingml/2006/main">
            <a:r>
              <a:t>Logo files identify representative suppliers. `assets/sources.json` gives source URLs and modifications. Where whitespace was trimmed, the brand artwork is unchanged. NanoMicro uses its circular emblem alongside a separate editable English company label, keeping all visible labels English. JET uses an English brand asset from a supplier listing. Company names remain editable even when a logo is embedded. Supplier lists are examples and are not rankings or endorsements.</a:t>
            </a:r>
          </a:p>
          <a:p xmlns:a="http://schemas.openxmlformats.org/drawingml/2006/main">
            <a:r>
              <a:t/>
            </a:r>
          </a:p>
          <a:p xmlns:a="http://schemas.openxmlformats.org/drawingml/2006/main">
            <a:r>
              <a:t>Lucide icons are sourced from the project's official GitHub repository, recolored teal for the graphic and provided under the ISC license. The full license is included in `assets/icons/LICENSE`.</a:t>
            </a:r>
          </a:p>
          <a:p xmlns:a="http://schemas.openxmlformats.org/drawingml/2006/main">
            <a:r>
              <a:t/>
            </a:r>
          </a:p>
          <a:p xmlns:a="http://schemas.openxmlformats.org/drawingml/2006/main">
            <a:r>
              <a:t/>
            </a:r>
          </a:p>
          <a:p xmlns:a="http://schemas.openxmlformats.org/drawingml/2006/main">
            <a:r>
              <a:t># Supplier tickers and current BD exposure</a:t>
            </a:r>
          </a:p>
          <a:p xmlns:a="http://schemas.openxmlformats.org/drawingml/2006/main">
            <a:r>
              <a:t/>
            </a:r>
          </a:p>
          <a:p xmlns:a="http://schemas.openxmlformats.org/drawingml/2006/main">
            <a:r>
              <a:t>Updated 13 October 2026. Rows identify representative suppliers or their listed parents, not market shares or investment recommendations. China/HK and US groups refer to listing venues; they do not imply legal domicile, headquarters or pure-play exposure.</a:t>
            </a:r>
          </a:p>
          <a:p xmlns:a="http://schemas.openxmlformats.org/drawingml/2006/main">
            <a:r>
              <a:t/>
            </a:r>
          </a:p>
          <a:p xmlns:a="http://schemas.openxmlformats.org/drawingml/2006/main">
            <a:r>
              <a:t>BD (NYSE:BDX) remains relevant to specimen collection and preanalytical sample handling. Its former Biosciences and Diagnostic Solutions business, including flow cytometry, moved to Waters (NYSE:WAT) on 9 February 2026.</a:t>
            </a:r>
          </a:p>
          <a:p xmlns:a="http://schemas.openxmlformats.org/drawingml/2006/main">
            <a:r>
              <a:t/>
            </a:r>
          </a:p>
          <a:p xmlns:a="http://schemas.openxmlformats.org/drawingml/2006/main">
            <a:r>
              <a:t>- [BD completion release](https://investors.bd.com/news-events/press-releases/detail/937/bd-completes-combination-of-biosciences-diagnostic-solutions-business-with-waters-corporation)</a:t>
            </a:r>
          </a:p>
          <a:p xmlns:a="http://schemas.openxmlformats.org/drawingml/2006/main">
            <a:r>
              <a:t>- [Waters current transaction disclosure](https://www.waters.com/nextgen/us/en/about-waters/corporate-governance/legal-and-privacy-notices/bdtransaction.html)</a:t>
            </a:r>
          </a:p>
          <a:p xmlns:a="http://schemas.openxmlformats.org/drawingml/2006/main">
            <a:r>
              <a:t>- [Current BD Vacutainer portfolio](https://go.bd.com/vacutainer-product-updates-TY.html): specimen-collection / sample-management products.</a:t>
            </a:r>
          </a:p>
          <a:p xmlns:a="http://schemas.openxmlformats.org/drawingml/2006/main">
            <a:r>
              <a:t/>
            </a:r>
          </a:p>
          <a:p xmlns:a="http://schemas.openxmlformats.org/drawingml/2006/main">
            <a:r>
              <a:t>Gibco is shown with Thermo Fisher (TMO); Cytiva and HyClone with Danaher (DHR). The underlying business exposure is narrower than the parent company's total revenue. Tsingke's code 874813 is a NEEQ code, not an A-share exchange listing; its IPO application is a separate filing. Suzhou Sepax is 688758.SH; the graphic refers to the China-listed issuer's chromatography portfolio.</a:t>
            </a:r>
          </a:p>
          <a:p xmlns:a="http://schemas.openxmlformats.org/drawingml/2006/main">
            <a:r>
              <a:t/>
            </a:r>
          </a:p>
          <a:p xmlns:a="http://schemas.openxmlformats.org/drawingml/2006/main">
            <a:r>
              <a:t>| Supplier / parent | Exchange | Ticker | Product pathway | Primary listing / business source |</a:t>
            </a:r>
          </a:p>
          <a:p xmlns:a="http://schemas.openxmlformats.org/drawingml/2006/main">
            <a:r>
              <a:t>|---|---|---|---|---|</a:t>
            </a:r>
          </a:p>
          <a:p xmlns:a="http://schemas.openxmlformats.org/drawingml/2006/main">
            <a:r>
              <a:t>| GenScript | HKEX | 1548 | Molecular construction | [Source](https://www.genscript.com/genscript-biotech-demonstrates-profitable-scale-and-strategic-leadership-in-h1-2025.html) |</a:t>
            </a:r>
          </a:p>
          <a:p xmlns:a="http://schemas.openxmlformats.org/drawingml/2006/main">
            <a:r>
              <a:t>| Vazyme | SSE | 688105 | Molecular construction | [Source](https://www.vazyme.us/AboutUs/OurStrories/) |</a:t>
            </a:r>
          </a:p>
          <a:p xmlns:a="http://schemas.openxmlformats.org/drawingml/2006/main">
            <a:r>
              <a:t>| Tsingke | NEEQ | 874813 | DNA synthesis; NEEQ-listed, A-share IPO application is separate | [Source](https://static.sse.com.cn/stock/disclosure/announcement/c/202606/002233_20260630_Z9LA.pdf) |</a:t>
            </a:r>
          </a:p>
          <a:p xmlns:a="http://schemas.openxmlformats.org/drawingml/2006/main">
            <a:r>
              <a:t>| ACROBiosystems | SZSE | 301080 | Proteins / functional cells | [Source](https://www1.hkexnews.hk/app/sehk/2026/108910/documents/sehk26093002651_c.pdf) |</a:t>
            </a:r>
          </a:p>
          <a:p xmlns:a="http://schemas.openxmlformats.org/drawingml/2006/main">
            <a:r>
              <a:t>| Sino Biological | SZSE | 301047 | Research proteins / antibodies | [Source](https://disc.static.szse.cn/disc/disk03/finalpage/2026-08-26/cd4ea950-7931-4164-bcec-20c03b8236e1.PDF) |</a:t>
            </a:r>
          </a:p>
          <a:p xmlns:a="http://schemas.openxmlformats.org/drawingml/2006/main">
            <a:r>
              <a:t>| OPM Biosciences | SSE | 688293 | Cell culture media | [Source](https://opmbiosciences.com/) |</a:t>
            </a:r>
          </a:p>
          <a:p xmlns:a="http://schemas.openxmlformats.org/drawingml/2006/main">
            <a:r>
              <a:t>| JET Biofil | SSE | 688026 | Plastic laboratory consumables | [Source](https://static.cninfo.com.cn/finalpage/2026-04-30/1225255989.PDF) |</a:t>
            </a:r>
          </a:p>
          <a:p xmlns:a="http://schemas.openxmlformats.org/drawingml/2006/main">
            <a:r>
              <a:t>| Changhong | SZSE | 300151 | Life science / medical plastic consumables | [Source](https://static.cninfo.com.cn/finalpage/2025-10-30/1224764410.PDF) |</a:t>
            </a:r>
          </a:p>
          <a:p xmlns:a="http://schemas.openxmlformats.org/drawingml/2006/main">
            <a:r>
              <a:t>| MGI | SSE | 688114 | Sequencing instruments / consumables | [Source](https://static.cninfo.com.cn/finalpage/2025-04-30/1223427376.PDF) |</a:t>
            </a:r>
          </a:p>
          <a:p xmlns:a="http://schemas.openxmlformats.org/drawingml/2006/main">
            <a:r>
              <a:t>| NanoMicro | SSE | 688690 | Chromatography materials and analytical separation / purification | [Source](https://static.cninfo.com.cn/finalpage/2026-09-22/1225575593.PDF) |</a:t>
            </a:r>
          </a:p>
          <a:p xmlns:a="http://schemas.openxmlformats.org/drawingml/2006/main">
            <a:r>
              <a:t>| Suzhou Sepax | SSE | 688758 | Chromatography columns / process media | [Source](https://www.sepax-tech.com.cn/skin/default/investorpdf/%E8%8B%8F%E5%B7%9E%E8%B5%9B%E5%88%86%E7%A7%91%E6%8A%80%E8%82%A1%E4%BB%BD%E6%9C%89%E9%99%90%E5%85%AC%E5%8F%B82025%E5%B9%B4%E7%AC%AC%E4%B8%80%E6%AC%A1%E4%B8%B4%E6%97%B6%E8%82%A1%E4%B8%9C%E4%BC%9A%E4%BC%9A%E8%AE%AE%E8%B5%84%E6%96%99.pdf) |</a:t>
            </a:r>
          </a:p>
          <a:p xmlns:a="http://schemas.openxmlformats.org/drawingml/2006/main">
            <a:r>
              <a:t>| Twist Bioscience | NASDAQ | TWST | DNA synthesis | [Source](https://investors.twistbioscience.com/static-files/8c1d5bed-df6f-48d5-832f-eb2f32717c27) |</a:t>
            </a:r>
          </a:p>
          <a:p xmlns:a="http://schemas.openxmlformats.org/drawingml/2006/main">
            <a:r>
              <a:t>| Thermo Fisher / Gibco | NYSE | TMO | Molecular tools, proteins, media and instruments; parent ticker | [Source](https://ir.thermofisher.com/investors/news-events/news/news-details/2026/Thermo-Fisher-Scientific-Reports-Second-Quarter-2026-Results/) |</a:t>
            </a:r>
          </a:p>
          <a:p xmlns:a="http://schemas.openxmlformats.org/drawingml/2006/main">
            <a:r>
              <a:t>| Bio-Techne | NASDAQ | TECH | Proteins / functional assay reagents | [Source](https://investors.bio-techne.com/stock-data) |</a:t>
            </a:r>
          </a:p>
          <a:p xmlns:a="http://schemas.openxmlformats.org/drawingml/2006/main">
            <a:r>
              <a:t>| Danaher / Cytiva / HyClone | NYSE | DHR | Culture and purification; parent ticker | [Source](https://www.danaher.com/our-businesses/biotechnology) |</a:t>
            </a:r>
          </a:p>
          <a:p xmlns:a="http://schemas.openxmlformats.org/drawingml/2006/main">
            <a:r>
              <a:t>| Corning | NYSE | GLW | Laboratory plastics / cell culture | [Source](https://www.corning.com/content/dam/corning/media/worldwide/global/documents/corning_10-k_2025.pdf) |</a:t>
            </a:r>
          </a:p>
          <a:p xmlns:a="http://schemas.openxmlformats.org/drawingml/2006/main">
            <a:r>
              <a:t>| BD | NYSE | BDX | Current specimen collection / preanalytics; ex-BD flow is WAT | [Source](https://investors.bd.com/news-events/press-releases/detail/937/bd-completes-combination-of-biosciences-diagnostic-solutions-business-with-waters-corporation) |</a:t>
            </a:r>
          </a:p>
          <a:p xmlns:a="http://schemas.openxmlformats.org/drawingml/2006/main">
            <a:r>
              <a:t>| Illumina | NASDAQ | ILMN | Sequencing instruments / consumables | [Source](https://investor.illumina.com/static-files/eb129ea4-1f1a-408f-b87a-44eaee93c63d) |</a:t>
            </a:r>
          </a:p>
          <a:p xmlns:a="http://schemas.openxmlformats.org/drawingml/2006/main">
            <a:r>
              <a:t>| Agilent | NYSE | A | Chromatography / analytical instruments | [Source](https://www.investor.agilent.com/stock-info/stock-quote-and-chart/) |</a:t>
            </a:r>
          </a:p>
          <a:p xmlns:a="http://schemas.openxmlformats.org/drawingml/2006/main">
            <a:r>
              <a:t>| Waters / former BD Biosciences | NYSE | WAT | LC-MS / chromatography and ex-BD flow cytometry | [Source](https://www.waters.com/nextgen/us/en/about-waters/corporate-governance/legal-and-privacy-notices/bdtransaction.html) |</a:t>
            </a:r>
          </a:p>
          <a:p xmlns:a="http://schemas.openxmlformats.org/drawingml/2006/main">
            <a:r>
              <a:t>| Repligen | NASDAQ | RGEN | Bioprocess purification / filtration tools | [Source](https://investors.repligen.com/stock-info/default.aspx) |</a:t>
            </a:r>
          </a:p>
          <a:p xmlns:a="http://schemas.openxmlformats.org/drawingml/2006/main">
            <a:r>
              <a:t>| Tecan | SIX | TECN | Laboratory automation; Swiss-listed | [Source](https://www.tecan.com/hubfs/HubDB/Te-PrArc/180323_Tecan_KeplerCheuvreux.pdf) |</a:t>
            </a:r>
          </a:p>
          <a:p xmlns:a="http://schemas.openxmlformats.org/drawingml/2006/main">
            <a:r>
              <a:t/>
            </a:r>
          </a:p>
          <a:p xmlns:a="http://schemas.openxmlformats.org/drawingml/2006/main">
            <a:r>
              <a:t>The market anchors retain their original scope and sources. Adding a supplier does not broaden or update the displayed TAM. The labware family includes a clinical/preanalytical adjacency for BD; the displayed anchor continues to be the selected China plastic laboratory-consumables estimate. The analytics anchor remains China sequencing instruments plus consumables; it does not size flow cytometry.</a:t>
            </a:r>
          </a:p>
          <a:p xmlns:a="http://schemas.openxmlformats.org/drawingml/2006/main">
            <a:r>
              <a:t/>
            </a:r>
          </a:p>
          <a:p xmlns:a="http://schemas.openxmlformats.org/drawingml/2006/main">
            <a:r>
              <a:t>Original BD logo: https://news.bd.com/images/header-bd-logo.svg. Original company marks retain their colors; chart/UI colors use the user-supplied palette. The second RGB value was explicitly confirmed by the user as 172:212:241.</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Figure 12: AI discovery funnel and enlarged LST ecosystem</a:t>
            </a:r>
          </a:p>
          <a:p xmlns:a="http://schemas.openxmlformats.org/drawingml/2006/main">
            <a:r>
              <a:t>Evidence status: Illustrative scenario</a:t>
            </a:r>
          </a:p>
          <a:p xmlns:a="http://schemas.openxmlformats.org/drawingml/2006/main">
            <a:r>
              <a:t/>
            </a:r>
          </a:p>
          <a:p xmlns:a="http://schemas.openxmlformats.org/drawingml/2006/main">
            <a:r>
              <a:t># Sources, assumptions and market boundaries</a:t>
            </a:r>
          </a:p>
          <a:p xmlns:a="http://schemas.openxmlformats.org/drawingml/2006/main">
            <a:r>
              <a:t/>
            </a:r>
          </a:p>
          <a:p xmlns:a="http://schemas.openxmlformats.org/drawingml/2006/main">
            <a:r>
              <a:t>Research date: 12 October 2026. This package visualizes the supplied research framework and selected anchors from the preceding primary-source research. Historical industry numbers are consultant or company-cited estimates, rather than administrative census measurements.</a:t>
            </a:r>
          </a:p>
          <a:p xmlns:a="http://schemas.openxmlformats.org/drawingml/2006/main">
            <a:r>
              <a:t/>
            </a:r>
          </a:p>
          <a:p xmlns:a="http://schemas.openxmlformats.org/drawingml/2006/main">
            <a:r>
              <a:t>## Stage table and funnel</a:t>
            </a:r>
          </a:p>
          <a:p xmlns:a="http://schemas.openxmlformats.org/drawingml/2006/main">
            <a:r>
              <a:t/>
            </a:r>
          </a:p>
          <a:p xmlns:a="http://schemas.openxmlformats.org/drawingml/2006/main">
            <a:r>
              <a:t>The supplied stage table uses virtual designs ~1,000 before AI versus 100,000–1 billion in the AI scenario; physical candidates ~1,000 versus 1,000–10,000; wet-lab profiling ~50 versus an illustrative 50→500 expansion; clinical entry 1 versus 1; expected approvals ~0.14 versus unknown. These are user-supplied assumptions, not empirical cohort statistics.</a:t>
            </a:r>
          </a:p>
          <a:p xmlns:a="http://schemas.openxmlformats.org/drawingml/2006/main">
            <a:r>
              <a:t/>
            </a:r>
          </a:p>
          <a:p xmlns:a="http://schemas.openxmlformats.org/drawingml/2006/main">
            <a:r>
              <a:t>The denominator is one clinical entrant. The second reference image uses a different denominator, per approved drug; its counts are not mixed into this table. ~0.14 is an illustrative expected count, not an independently validated success probability. DNA-encoded libraries are not equivalent to fully characterized discrete candidates. Virtual design has costs and quality constraints. The diagram states a working capacity-gate hypothesis, not that design quality or clinical biology cease to matter.</a:t>
            </a:r>
          </a:p>
          <a:p xmlns:a="http://schemas.openxmlformats.org/drawingml/2006/main">
            <a:r>
              <a:t/>
            </a:r>
          </a:p>
          <a:p xmlns:a="http://schemas.openxmlformats.org/drawingml/2006/main">
            <a:r>
              <a:t>## Market anchors in the enlarged ecosystem</a:t>
            </a:r>
          </a:p>
          <a:p xmlns:a="http://schemas.openxmlformats.org/drawingml/2006/main">
            <a:r>
              <a:t/>
            </a:r>
          </a:p>
          <a:p xmlns:a="http://schemas.openxmlformats.org/drawingml/2006/main">
            <a:r>
              <a:t>| Anchor | Geography / year | Value | Scope and evidence |</a:t>
            </a:r>
          </a:p>
          <a:p xmlns:a="http://schemas.openxmlformats.org/drawingml/2006/main">
            <a:r>
              <a:t>|---|---|---|---|</a:t>
            </a:r>
          </a:p>
          <a:p xmlns:a="http://schemas.openxmlformats.org/drawingml/2006/main">
            <a:r>
              <a:t>| DNA synthesis services | China / 2025 | RMB1.33bn | Oligonucleotide RMB0.53bn + long-fragment RMB0.80bn. Midstream services only. Tsingke 2026 IPO filing, pp.156–158. [Primary filing](https://static.sse.com.cn/stock/disclosure/announcement/c/202606/002233_20260630_Z9LA.pdf). |</a:t>
            </a:r>
          </a:p>
          <a:p xmlns:a="http://schemas.openxmlformats.org/drawingml/2006/main">
            <a:r>
              <a:t>| Research-use recombinant proteins | Global / 2025 | US$3.5bn | Research use; not therapeutic protein manufacturing. China ~US$0.4bn is rounded to US$0.1bn precision. ACROBiosystems 2026 HKEX application, printed p.71 / PDF p.80. [Primary filing](https://www1.hkexnews.hk/app/sehk/2026/108910/documents/sehk26093002651_c.pdf). |</a:t>
            </a:r>
          </a:p>
          <a:p xmlns:a="http://schemas.openxmlformats.org/drawingml/2006/main">
            <a:r>
              <a:t>| Bioprocess culture media | China / 2024 | US$323.5m* | Selected media market; not all cellular tools. F&amp;S in Duoning 2026 filing, printed p.126. Excludes the COVID impact on vaccine products. [Filing URL](https://www.hkexnews.hk/app/sehk/2026/108106/documents/sehk26011800033_c.pdf). |</a:t>
            </a:r>
          </a:p>
          <a:p xmlns:a="http://schemas.openxmlformats.org/drawingml/2006/main">
            <a:r>
              <a:t>| Disposable plastic biological laboratory consumables | China / 2024 | ~RMB23bn | Includes research, clinical and industrial uses. JET Biofil 2025 annual-report summary, PDF p.6; company cites F&amp;S and industry research. Direct primary PDF rechecked on 12 Oct 2026. [Primary disclosure](https://static.cninfo.com.cn/finalpage/2026-04-30/1225255989.PDF). |</a:t>
            </a:r>
          </a:p>
          <a:p xmlns:a="http://schemas.openxmlformats.org/drawingml/2006/main">
            <a:r>
              <a:t>| Sequencing instruments and consumables | China / 2024 | RMB4.3bn | Includes clinical sequencing; not instruments alone, and not a combined LC/MS market. MGI 2024 annual report pp.41–42, citing CIC. [Primary disclosure](https://static.cninfo.com.cn/finalpage/2025-04-30/1223427376.PDF). |</a:t>
            </a:r>
          </a:p>
          <a:p xmlns:a="http://schemas.openxmlformats.org/drawingml/2006/main">
            <a:r>
              <a:t>| Bioprocess chromatography resins | China / 2024 | US$578.2m* | Biological process resins; not all analytical columns, chemical adsorption resins or purification hardware. F&amp;S in Duoning 2026 filing, printed p.132. [Filing URL](https://www.hkexnews.hk/app/sehk/2026/108106/documents/sehk26011800033_c.pdf). |</a:t>
            </a:r>
          </a:p>
          <a:p xmlns:a="http://schemas.openxmlformats.org/drawingml/2006/main">
            <a:r>
              <a:t/>
            </a:r>
          </a:p>
          <a:p xmlns:a="http://schemas.openxmlformats.org/drawingml/2006/main">
            <a:r>
              <a:t>*The Duoning figures were checked against the publicly indexed official filing during the preceding research on 9–10 October 2026. Direct PDF access now returns 404. They carry lower source-access confidence than directly downloaded filings. The 2025 values in that filing remain forecasts and are deliberately not presented as 2025 actual results here.*</a:t>
            </a:r>
          </a:p>
          <a:p xmlns:a="http://schemas.openxmlformats.org/drawingml/2006/main">
            <a:r>
              <a:t/>
            </a:r>
          </a:p>
          <a:p xmlns:a="http://schemas.openxmlformats.org/drawingml/2006/main">
            <a:r>
              <a:t>These anchors cannot be added. Their geography, currency, year and boundary differ, and tools can be used across the six product families. Each headline sizes the stated subset, not the full box. In particular, the culture-media figure is a bioprocess anchor and cannot be generalized to all research media and cell models. Automation, mass spectrometry, flow cytometry, imaging and analytical columns are shown as tool families but are not assigned an unsupported combined TAM.</a:t>
            </a:r>
          </a:p>
          <a:p xmlns:a="http://schemas.openxmlformats.org/drawingml/2006/main">
            <a:r>
              <a:t/>
            </a:r>
          </a:p>
          <a:p xmlns:a="http://schemas.openxmlformats.org/drawingml/2006/main">
            <a:r>
              <a:t>## Supporting figure 02: consistent-scope LST comparison</a:t>
            </a:r>
          </a:p>
          <a:p xmlns:a="http://schemas.openxmlformats.org/drawingml/2006/main">
            <a:r>
              <a:t/>
            </a:r>
          </a:p>
          <a:p xmlns:a="http://schemas.openxmlformats.org/drawingml/2006/main">
            <a:r>
              <a:t>The ACROBiosystems HKEX filing of 30 Sep 2026 reports 2025 global LST US$41.5bn and China US$7.7bn under its F&amp;S scope, printed p.65 / PDF p.74. Research biological reagents are global US$26.4bn and China US$4.6bn, printed p.67 / PDF p.76. The residual other-tool values are derived: 41.5−26.4 =15.1 and 7.7−4.6 =3.1, in US$bn. China/global share is 7.7÷41.5 =18.6% rounded. This scope does not reconcile automatically to broader laboratory or manufacturing markets. [Primary filing](https://www1.hkexnews.hk/app/sehk/2026/108910/documents/sehk26093002651_c.pdf).</a:t>
            </a:r>
          </a:p>
          <a:p xmlns:a="http://schemas.openxmlformats.org/drawingml/2006/main">
            <a:r>
              <a:t/>
            </a:r>
          </a:p>
          <a:p xmlns:a="http://schemas.openxmlformats.org/drawingml/2006/main">
            <a:r>
              <a:t>## Illustrative and qualitative figures</a:t>
            </a:r>
          </a:p>
          <a:p xmlns:a="http://schemas.openxmlformats.org/drawingml/2006/main">
            <a:r>
              <a:t/>
            </a:r>
          </a:p>
          <a:p xmlns:a="http://schemas.openxmlformats.org/drawingml/2006/main">
            <a:r>
              <a:t>Figure 03 uses the supplied customer mixes: reagents 30/25/15/10/20%, consumables 20/20/15/30/15%, and instruments 25/20/10/15/30%, for academia, biotech/pharma R&amp;D, CRO/CDMO, pharma-owned production and IVD development. These are illustrative purchasing shares. Hospitals are not independently modeled, and distributors are not an end-customer category.</a:t>
            </a:r>
          </a:p>
          <a:p xmlns:a="http://schemas.openxmlformats.org/drawingml/2006/main">
            <a:r>
              <a:t/>
            </a:r>
          </a:p>
          <a:p xmlns:a="http://schemas.openxmlformats.org/drawingml/2006/main">
            <a:r>
              <a:t>Figure 06 compares 100,000 tests at 100µL in 96-well plates with 1,000,000 tests at 5µL in 1,536-well plates. Reagents fall from 10L to 5L; full-plate counts are ceiling(100,000/96)=1,042 and ceiling(1,000,000/1,536)=652. Tips per test are assumed to fall from 1 to 0.1, giving 100,000 tips in both cases. Volume index 1,000; reagent index 50; plate index 62.6; tip index 100, against a baseline of 100. Dead volume, controls, retests, ASP and service spending are excluded. The two panels use different y-axis scales.</a:t>
            </a:r>
          </a:p>
          <a:p xmlns:a="http://schemas.openxmlformats.org/drawingml/2006/main">
            <a:r>
              <a:t/>
            </a:r>
          </a:p>
          <a:p xmlns:a="http://schemas.openxmlformats.org/drawingml/2006/main">
            <a:r>
              <a:t>Figure 07 uses illustrative cumulative funding pools of US$50bn, US$100bn and US$200bn. No time horizon is specified. Allocations are 30% research equipment/automation, 25% research reagents, 20% research consumables, 15% manufacturing bioprocess tools and 10% services/other. Research-use and manufacturing-use allocations are mutually exclusive. These are not realized financing, annual TAM or a company revenue forecast.</a:t>
            </a:r>
          </a:p>
          <a:p xmlns:a="http://schemas.openxmlformats.org/drawingml/2006/main">
            <a:r>
              <a:t/>
            </a:r>
          </a:p>
          <a:p xmlns:a="http://schemas.openxmlformats.org/drawingml/2006/main">
            <a:r>
              <a:t>Figures 05, 08 and 09 use qualitative analyst positions. Bubble area in figure 05 is schematic relative opportunity, not measured TAM. Axis positions and the gold emphasis on ACROBiosystems and NanoMicro are not numerical scores, stock recommendations, market-share estimates or measured AI revenue. Supply barriers do not establish a current shortage.</a:t>
            </a:r>
          </a:p>
          <a:p xmlns:a="http://schemas.openxmlformats.org/drawingml/2006/main">
            <a:r>
              <a:t/>
            </a:r>
          </a:p>
          <a:p xmlns:a="http://schemas.openxmlformats.org/drawingml/2006/main">
            <a:r>
              <a:t>Figures 04 and 10 describe a conditional mechanism: funded projects → physical experimentation → net tool consumption and purchasing → company share → profit and cash flow. AI funding announcements alone do not establish LST orders. Miniaturization, faster candidate triage, resin reuse and pricing can offset higher experiment counts.</a:t>
            </a:r>
          </a:p>
          <a:p xmlns:a="http://schemas.openxmlformats.org/drawingml/2006/main">
            <a:r>
              <a:t/>
            </a:r>
          </a:p>
          <a:p xmlns:a="http://schemas.openxmlformats.org/drawingml/2006/main">
            <a:r>
              <a:t>## Representative-company product evidence</a:t>
            </a:r>
          </a:p>
          <a:p xmlns:a="http://schemas.openxmlformats.org/drawingml/2006/main">
            <a:r>
              <a:t/>
            </a:r>
          </a:p>
          <a:p xmlns:a="http://schemas.openxmlformats.org/drawingml/2006/main">
            <a:r>
              <a:t>- [ACROBiosystems HKEX application, 30 Sep 2026](https://www1.hkexnews.hk/app/sehk/2026/108910/documents/sehk26093002651_c.pdf): Printed pp. 65, 67 and 71 (PDF pp. 74, 76, 80); defined LST scope, research reagents and recombinant proteins.</a:t>
            </a:r>
          </a:p>
          <a:p xmlns:a="http://schemas.openxmlformats.org/drawingml/2006/main">
            <a:r>
              <a:t>- [Vazyme 2024 annual report](https://static.cninfo.com.cn/finalpage/2025-04-10/1223046699.PDF): Product and business evidence; matrix positions are analyst assumptions.</a:t>
            </a:r>
          </a:p>
          <a:p xmlns:a="http://schemas.openxmlformats.org/drawingml/2006/main">
            <a:r>
              <a:t>- [ACROBiosystems filing: recombinant protein competitive landscape](https://www1.hkexnews.hk/app/sehk/2026/108910/documents/sehk26093002651_c.pdf): Product and business evidence; matrix positions are analyst assumptions.</a:t>
            </a:r>
          </a:p>
          <a:p xmlns:a="http://schemas.openxmlformats.org/drawingml/2006/main">
            <a:r>
              <a:t>- [Novoprotein official product catalog](https://www.novoprotein.com.cn/products): Product and business evidence; matrix positions are analyst assumptions.</a:t>
            </a:r>
          </a:p>
          <a:p xmlns:a="http://schemas.openxmlformats.org/drawingml/2006/main">
            <a:r>
              <a:t>- [NanoMicro 2025 annual report](https://static.cninfo.com.cn/finalpage/2026-04-16/1225107014.PDF): Product and business evidence; matrix positions are analyst assumptions.</a:t>
            </a:r>
          </a:p>
          <a:p xmlns:a="http://schemas.openxmlformats.org/drawingml/2006/main">
            <a:r>
              <a:t>- [Sepax IPO prospectus, Jan 2025](https://static.cninfo.com.cn/finalpage/2025-01-06/1222238930.PDF): Product and business evidence; matrix positions are analyst assumptions.</a:t>
            </a:r>
          </a:p>
          <a:p xmlns:a="http://schemas.openxmlformats.org/drawingml/2006/main">
            <a:r>
              <a:t>- [JET Biofil 2025 interim report](https://stockmc.xueqiu.com/202508/688026_20250830_4FZX.pdf): Product and business evidence; matrix positions are analyst assumptions.</a:t>
            </a:r>
          </a:p>
          <a:p xmlns:a="http://schemas.openxmlformats.org/drawingml/2006/main">
            <a:r>
              <a:t>- [Changhong official website](https://cn.sz-changhong.com/): Product and business evidence; matrix positions are analyst assumptions.</a:t>
            </a:r>
          </a:p>
          <a:p xmlns:a="http://schemas.openxmlformats.org/drawingml/2006/main">
            <a:r>
              <a:t>- [Bide Pharmatech official catalog](https://www.bidepharm.com/): Product and business evidence; matrix positions are analyst assumptions.</a:t>
            </a:r>
          </a:p>
          <a:p xmlns:a="http://schemas.openxmlformats.org/drawingml/2006/main">
            <a:r>
              <a:t>- [ChemExpress official website](https://www.chemexpress.com.cn/): Product and business evidence; matrix positions are analyst assumptions.</a:t>
            </a:r>
          </a:p>
          <a:p xmlns:a="http://schemas.openxmlformats.org/drawingml/2006/main">
            <a:r>
              <a:t>- [MGI 2025 annual report](https://static.cninfo.com.cn/finalpage/2026-04-25/1225194780.PDF): Product and business evidence; matrix positions are analyst assumptions.</a:t>
            </a:r>
          </a:p>
          <a:p xmlns:a="http://schemas.openxmlformats.org/drawingml/2006/main">
            <a:r>
              <a:t>- [OPM Biosciences 2025 annual report](https://pdf.dfcfw.com/pdf/H2_AN202604221821449851_1.pdf): Product and business evidence; matrix positions are analyst assumptions.</a:t>
            </a:r>
          </a:p>
          <a:p xmlns:a="http://schemas.openxmlformats.org/drawingml/2006/main">
            <a:r>
              <a:t/>
            </a:r>
          </a:p>
          <a:p xmlns:a="http://schemas.openxmlformats.org/drawingml/2006/main">
            <a:r>
              <a:t>The primary distinction in this research is product exposure: ACROBiosystems supplies recombinant proteins and assay tools used in expression and functional validation; NanoMicro supplies purification and chromatography products used in analytical/process development and manufacturing. A broad increase in virtual candidates does not establish either company's incremental orders. Manufacturing demand also depends on successful clinical translation and drug output.</a:t>
            </a:r>
          </a:p>
          <a:p xmlns:a="http://schemas.openxmlformats.org/drawingml/2006/main">
            <a:r>
              <a:t/>
            </a:r>
          </a:p>
          <a:p xmlns:a="http://schemas.openxmlformats.org/drawingml/2006/main">
            <a:r>
              <a:t>## Logo and icon assets</a:t>
            </a:r>
          </a:p>
          <a:p xmlns:a="http://schemas.openxmlformats.org/drawingml/2006/main">
            <a:r>
              <a:t/>
            </a:r>
          </a:p>
          <a:p xmlns:a="http://schemas.openxmlformats.org/drawingml/2006/main">
            <a:r>
              <a:t>Logo files identify representative suppliers. `assets/sources.json` gives source URLs and modifications. Where whitespace was trimmed, the brand artwork is unchanged. NanoMicro uses its circular emblem alongside a separate editable English company label, keeping all visible labels English. JET uses an English brand asset from a supplier listing. Company names remain editable even when a logo is embedded. Supplier lists are examples and are not rankings or endorsements.</a:t>
            </a:r>
          </a:p>
          <a:p xmlns:a="http://schemas.openxmlformats.org/drawingml/2006/main">
            <a:r>
              <a:t/>
            </a:r>
          </a:p>
          <a:p xmlns:a="http://schemas.openxmlformats.org/drawingml/2006/main">
            <a:r>
              <a:t>Lucide icons are sourced from the project's official GitHub repository, recolored teal for the graphic and provided under the ISC license. The full license is included in `assets/icons/LICENSE`.</a:t>
            </a:r>
          </a:p>
          <a:p xmlns:a="http://schemas.openxmlformats.org/drawingml/2006/main">
            <a:r>
              <a:t/>
            </a:r>
          </a:p>
          <a:p xmlns:a="http://schemas.openxmlformats.org/drawingml/2006/main">
            <a:r>
              <a:t/>
            </a:r>
          </a:p>
          <a:p xmlns:a="http://schemas.openxmlformats.org/drawingml/2006/main">
            <a:r>
              <a:t># Supplier tickers and current BD exposure</a:t>
            </a:r>
          </a:p>
          <a:p xmlns:a="http://schemas.openxmlformats.org/drawingml/2006/main">
            <a:r>
              <a:t/>
            </a:r>
          </a:p>
          <a:p xmlns:a="http://schemas.openxmlformats.org/drawingml/2006/main">
            <a:r>
              <a:t>Updated 13 October 2026. Rows identify representative suppliers or their listed parents, not market shares or investment recommendations. China/HK and US groups refer to listing venues; they do not imply legal domicile, headquarters or pure-play exposure.</a:t>
            </a:r>
          </a:p>
          <a:p xmlns:a="http://schemas.openxmlformats.org/drawingml/2006/main">
            <a:r>
              <a:t/>
            </a:r>
          </a:p>
          <a:p xmlns:a="http://schemas.openxmlformats.org/drawingml/2006/main">
            <a:r>
              <a:t>BD (NYSE:BDX) remains relevant to specimen collection and preanalytical sample handling. Its former Biosciences and Diagnostic Solutions business, including flow cytometry, moved to Waters (NYSE:WAT) on 9 February 2026.</a:t>
            </a:r>
          </a:p>
          <a:p xmlns:a="http://schemas.openxmlformats.org/drawingml/2006/main">
            <a:r>
              <a:t/>
            </a:r>
          </a:p>
          <a:p xmlns:a="http://schemas.openxmlformats.org/drawingml/2006/main">
            <a:r>
              <a:t>- [BD completion release](https://investors.bd.com/news-events/press-releases/detail/937/bd-completes-combination-of-biosciences-diagnostic-solutions-business-with-waters-corporation)</a:t>
            </a:r>
          </a:p>
          <a:p xmlns:a="http://schemas.openxmlformats.org/drawingml/2006/main">
            <a:r>
              <a:t>- [Waters current transaction disclosure](https://www.waters.com/nextgen/us/en/about-waters/corporate-governance/legal-and-privacy-notices/bdtransaction.html)</a:t>
            </a:r>
          </a:p>
          <a:p xmlns:a="http://schemas.openxmlformats.org/drawingml/2006/main">
            <a:r>
              <a:t>- [Current BD Vacutainer portfolio](https://go.bd.com/vacutainer-product-updates-TY.html): specimen-collection / sample-management products.</a:t>
            </a:r>
          </a:p>
          <a:p xmlns:a="http://schemas.openxmlformats.org/drawingml/2006/main">
            <a:r>
              <a:t/>
            </a:r>
          </a:p>
          <a:p xmlns:a="http://schemas.openxmlformats.org/drawingml/2006/main">
            <a:r>
              <a:t>Gibco is shown with Thermo Fisher (TMO); Cytiva and HyClone with Danaher (DHR). The underlying business exposure is narrower than the parent company's total revenue. Tsingke's code 874813 is a NEEQ code, not an A-share exchange listing; its IPO application is a separate filing. Suzhou Sepax is 688758.SH; the graphic refers to the China-listed issuer's chromatography portfolio.</a:t>
            </a:r>
          </a:p>
          <a:p xmlns:a="http://schemas.openxmlformats.org/drawingml/2006/main">
            <a:r>
              <a:t/>
            </a:r>
          </a:p>
          <a:p xmlns:a="http://schemas.openxmlformats.org/drawingml/2006/main">
            <a:r>
              <a:t>| Supplier / parent | Exchange | Ticker | Product pathway | Primary listing / business source |</a:t>
            </a:r>
          </a:p>
          <a:p xmlns:a="http://schemas.openxmlformats.org/drawingml/2006/main">
            <a:r>
              <a:t>|---|---|---|---|---|</a:t>
            </a:r>
          </a:p>
          <a:p xmlns:a="http://schemas.openxmlformats.org/drawingml/2006/main">
            <a:r>
              <a:t>| GenScript | HKEX | 1548 | Molecular construction | [Source](https://www.genscript.com/genscript-biotech-demonstrates-profitable-scale-and-strategic-leadership-in-h1-2025.html) |</a:t>
            </a:r>
          </a:p>
          <a:p xmlns:a="http://schemas.openxmlformats.org/drawingml/2006/main">
            <a:r>
              <a:t>| Vazyme | SSE | 688105 | Molecular construction | [Source](https://www.vazyme.us/AboutUs/OurStrories/) |</a:t>
            </a:r>
          </a:p>
          <a:p xmlns:a="http://schemas.openxmlformats.org/drawingml/2006/main">
            <a:r>
              <a:t>| Tsingke | NEEQ | 874813 | DNA synthesis; NEEQ-listed, A-share IPO application is separate | [Source](https://static.sse.com.cn/stock/disclosure/announcement/c/202606/002233_20260630_Z9LA.pdf) |</a:t>
            </a:r>
          </a:p>
          <a:p xmlns:a="http://schemas.openxmlformats.org/drawingml/2006/main">
            <a:r>
              <a:t>| ACROBiosystems | SZSE | 301080 | Proteins / functional cells | [Source](https://www1.hkexnews.hk/app/sehk/2026/108910/documents/sehk26093002651_c.pdf) |</a:t>
            </a:r>
          </a:p>
          <a:p xmlns:a="http://schemas.openxmlformats.org/drawingml/2006/main">
            <a:r>
              <a:t>| Sino Biological | SZSE | 301047 | Research proteins / antibodies | [Source](https://disc.static.szse.cn/disc/disk03/finalpage/2026-08-26/cd4ea950-7931-4164-bcec-20c03b8236e1.PDF) |</a:t>
            </a:r>
          </a:p>
          <a:p xmlns:a="http://schemas.openxmlformats.org/drawingml/2006/main">
            <a:r>
              <a:t>| OPM Biosciences | SSE | 688293 | Cell culture media | [Source](https://opmbiosciences.com/) |</a:t>
            </a:r>
          </a:p>
          <a:p xmlns:a="http://schemas.openxmlformats.org/drawingml/2006/main">
            <a:r>
              <a:t>| JET Biofil | SSE | 688026 | Plastic laboratory consumables | [Source](https://static.cninfo.com.cn/finalpage/2026-04-30/1225255989.PDF) |</a:t>
            </a:r>
          </a:p>
          <a:p xmlns:a="http://schemas.openxmlformats.org/drawingml/2006/main">
            <a:r>
              <a:t>| Changhong | SZSE | 300151 | Life science / medical plastic consumables | [Source](https://static.cninfo.com.cn/finalpage/2025-10-30/1224764410.PDF) |</a:t>
            </a:r>
          </a:p>
          <a:p xmlns:a="http://schemas.openxmlformats.org/drawingml/2006/main">
            <a:r>
              <a:t>| MGI | SSE | 688114 | Sequencing instruments / consumables | [Source](https://static.cninfo.com.cn/finalpage/2025-04-30/1223427376.PDF) |</a:t>
            </a:r>
          </a:p>
          <a:p xmlns:a="http://schemas.openxmlformats.org/drawingml/2006/main">
            <a:r>
              <a:t>| NanoMicro | SSE | 688690 | Chromatography materials and analytical separation / purification | [Source](https://static.cninfo.com.cn/finalpage/2026-09-22/1225575593.PDF) |</a:t>
            </a:r>
          </a:p>
          <a:p xmlns:a="http://schemas.openxmlformats.org/drawingml/2006/main">
            <a:r>
              <a:t>| Suzhou Sepax | SSE | 688758 | Chromatography columns / process media | [Source](https://www.sepax-tech.com.cn/skin/default/investorpdf/%E8%8B%8F%E5%B7%9E%E8%B5%9B%E5%88%86%E7%A7%91%E6%8A%80%E8%82%A1%E4%BB%BD%E6%9C%89%E9%99%90%E5%85%AC%E5%8F%B82025%E5%B9%B4%E7%AC%AC%E4%B8%80%E6%AC%A1%E4%B8%B4%E6%97%B6%E8%82%A1%E4%B8%9C%E4%BC%9A%E4%BC%9A%E8%AE%AE%E8%B5%84%E6%96%99.pdf) |</a:t>
            </a:r>
          </a:p>
          <a:p xmlns:a="http://schemas.openxmlformats.org/drawingml/2006/main">
            <a:r>
              <a:t>| Twist Bioscience | NASDAQ | TWST | DNA synthesis | [Source](https://investors.twistbioscience.com/static-files/8c1d5bed-df6f-48d5-832f-eb2f32717c27) |</a:t>
            </a:r>
          </a:p>
          <a:p xmlns:a="http://schemas.openxmlformats.org/drawingml/2006/main">
            <a:r>
              <a:t>| Thermo Fisher / Gibco | NYSE | TMO | Molecular tools, proteins, media and instruments; parent ticker | [Source](https://ir.thermofisher.com/investors/news-events/news/news-details/2026/Thermo-Fisher-Scientific-Reports-Second-Quarter-2026-Results/) |</a:t>
            </a:r>
          </a:p>
          <a:p xmlns:a="http://schemas.openxmlformats.org/drawingml/2006/main">
            <a:r>
              <a:t>| Bio-Techne | NASDAQ | TECH | Proteins / functional assay reagents | [Source](https://investors.bio-techne.com/stock-data) |</a:t>
            </a:r>
          </a:p>
          <a:p xmlns:a="http://schemas.openxmlformats.org/drawingml/2006/main">
            <a:r>
              <a:t>| Danaher / Cytiva / HyClone | NYSE | DHR | Culture and purification; parent ticker | [Source](https://www.danaher.com/our-businesses/biotechnology) |</a:t>
            </a:r>
          </a:p>
          <a:p xmlns:a="http://schemas.openxmlformats.org/drawingml/2006/main">
            <a:r>
              <a:t>| Corning | NYSE | GLW | Laboratory plastics / cell culture | [Source](https://www.corning.com/content/dam/corning/media/worldwide/global/documents/corning_10-k_2025.pdf) |</a:t>
            </a:r>
          </a:p>
          <a:p xmlns:a="http://schemas.openxmlformats.org/drawingml/2006/main">
            <a:r>
              <a:t>| BD | NYSE | BDX | Current specimen collection / preanalytics; ex-BD flow is WAT | [Source](https://investors.bd.com/news-events/press-releases/detail/937/bd-completes-combination-of-biosciences-diagnostic-solutions-business-with-waters-corporation) |</a:t>
            </a:r>
          </a:p>
          <a:p xmlns:a="http://schemas.openxmlformats.org/drawingml/2006/main">
            <a:r>
              <a:t>| Illumina | NASDAQ | ILMN | Sequencing instruments / consumables | [Source](https://investor.illumina.com/static-files/eb129ea4-1f1a-408f-b87a-44eaee93c63d) |</a:t>
            </a:r>
          </a:p>
          <a:p xmlns:a="http://schemas.openxmlformats.org/drawingml/2006/main">
            <a:r>
              <a:t>| Agilent | NYSE | A | Chromatography / analytical instruments | [Source](https://www.investor.agilent.com/stock-info/stock-quote-and-chart/) |</a:t>
            </a:r>
          </a:p>
          <a:p xmlns:a="http://schemas.openxmlformats.org/drawingml/2006/main">
            <a:r>
              <a:t>| Waters / former BD Biosciences | NYSE | WAT | LC-MS / chromatography and ex-BD flow cytometry | [Source](https://www.waters.com/nextgen/us/en/about-waters/corporate-governance/legal-and-privacy-notices/bdtransaction.html) |</a:t>
            </a:r>
          </a:p>
          <a:p xmlns:a="http://schemas.openxmlformats.org/drawingml/2006/main">
            <a:r>
              <a:t>| Repligen | NASDAQ | RGEN | Bioprocess purification / filtration tools | [Source](https://investors.repligen.com/stock-info/default.aspx) |</a:t>
            </a:r>
          </a:p>
          <a:p xmlns:a="http://schemas.openxmlformats.org/drawingml/2006/main">
            <a:r>
              <a:t>| Tecan | SIX | TECN | Laboratory automation; Swiss-listed | [Source](https://www.tecan.com/hubfs/HubDB/Te-PrArc/180323_Tecan_KeplerCheuvreux.pdf) |</a:t>
            </a:r>
          </a:p>
          <a:p xmlns:a="http://schemas.openxmlformats.org/drawingml/2006/main">
            <a:r>
              <a:t/>
            </a:r>
          </a:p>
          <a:p xmlns:a="http://schemas.openxmlformats.org/drawingml/2006/main">
            <a:r>
              <a:t>The market anchors retain their original scope and sources. Adding a supplier does not broaden or update the displayed TAM. The labware family includes a clinical/preanalytical adjacency for BD; the displayed anchor continues to be the selected China plastic laboratory-consumables estimate. The analytics anchor remains China sequencing instruments plus consumables; it does not size flow cytometry.</a:t>
            </a:r>
          </a:p>
          <a:p xmlns:a="http://schemas.openxmlformats.org/drawingml/2006/main">
            <a:r>
              <a:t/>
            </a:r>
          </a:p>
          <a:p xmlns:a="http://schemas.openxmlformats.org/drawingml/2006/main">
            <a:r>
              <a:t>Original BD logo: https://news.bd.com/images/header-bd-logo.svg. Original company marks retain their colors; chart/UI colors use the user-supplied palette. The second RGB value was explicitly confirmed by the user as 172:212:241.</a:t>
            </a:r>
          </a:p>
          <a:p xmlns:a="http://schemas.openxmlformats.org/drawingml/2006/main">
            <a:r>
              <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381fada58844d0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0d8d9d650c74cf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094c1ea9cf54b5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a692962c8044954"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f4ce6e76f544bc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5a4324630ac492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F5746D4-EA7A-48C9-8F5F-233D984108B4}"/>
              </a:ext>
            </a:extLst>
          </p:cNvPr>
          <p:cNvSpPr>
            <a:spLocks xmlns:a="http://schemas.openxmlformats.org/drawingml/2006/main" noGrp="1"/>
          </p:cNvSpPr>
          <p:nvPr>
            <p:ph type="title" idx="0"/>
          </p:nvPr>
        </p:nvSpPr>
        <p:spPr>
          <a:xfrm xmlns:a="http://schemas.openxmlformats.org/drawingml/2006/main">
            <a:off x="1828800" y="3886200"/>
            <a:ext cx="14630400" cy="1485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7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FDF017A-7985-4CFB-BB3F-0C2887E54BFC}"/>
              </a:ext>
            </a:extLst>
          </p:cNvPr>
          <p:cNvSpPr>
            <a:spLocks xmlns:a="http://schemas.openxmlformats.org/drawingml/2006/main" noGrp="1"/>
          </p:cNvSpPr>
          <p:nvPr>
            <p:ph type="subTitle" idx="1"/>
          </p:nvPr>
        </p:nvSpPr>
        <p:spPr>
          <a:xfrm xmlns:a="http://schemas.openxmlformats.org/drawingml/2006/main">
            <a:off x="2743200" y="5657850"/>
            <a:ext cx="12801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F80EE5B-E89B-4FE5-87E1-C44741718DED}"/>
              </a:ext>
            </a:extLst>
          </p:cNvPr>
          <p:cNvSpPr>
            <a:spLocks xmlns:a="http://schemas.openxmlformats.org/drawingml/2006/main" noGrp="1"/>
          </p:cNvSpPr>
          <p:nvPr>
            <p:ph type="title" idx="0"/>
          </p:nvPr>
        </p:nvSpPr>
        <p:spPr>
          <a:xfrm xmlns:a="http://schemas.openxmlformats.org/drawingml/2006/main">
            <a:off x="1828800" y="4286250"/>
            <a:ext cx="14630400" cy="1714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2A8AC7F-8347-490B-80D7-CAD53C9204C6}"/>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D3CD525-C05D-4104-A6EB-687A01F10A21}"/>
              </a:ext>
            </a:extLst>
          </p:cNvPr>
          <p:cNvSpPr>
            <a:spLocks xmlns:a="http://schemas.openxmlformats.org/drawingml/2006/main" noGrp="1"/>
          </p:cNvSpPr>
          <p:nvPr>
            <p:ph type="body" idx="1"/>
          </p:nvPr>
        </p:nvSpPr>
        <p:spPr>
          <a:xfrm xmlns:a="http://schemas.openxmlformats.org/drawingml/2006/main">
            <a:off x="1028700" y="2857500"/>
            <a:ext cx="162306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821557E-4AD9-464F-98D6-453A60C9CD3B}"/>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8674FD8-3AB4-4A3B-A1F2-26E12676C9B8}"/>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6692538-533D-4A54-9EA4-195E1D45DEFD}"/>
              </a:ext>
            </a:extLst>
          </p:cNvPr>
          <p:cNvSpPr>
            <a:spLocks xmlns:a="http://schemas.openxmlformats.org/drawingml/2006/main" noGrp="1"/>
          </p:cNvSpPr>
          <p:nvPr>
            <p:ph type="body" idx="2"/>
          </p:nvPr>
        </p:nvSpPr>
        <p:spPr>
          <a:xfrm xmlns:a="http://schemas.openxmlformats.org/drawingml/2006/main">
            <a:off x="97155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150" b="0">
                <a:solidFill>
                  <a:schemeClr val="tx1"/>
                </a:solidFill>
                <a:latin typeface="+mn-lt"/>
                <a:ea typeface="+mn-lt"/>
                <a:cs typeface="+mn-lt"/>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9988C40-9F22-4B29-AFAF-F581068B673E}"/>
              </a:ext>
            </a:extLst>
          </p:cNvPr>
          <p:cNvSpPr>
            <a:spLocks xmlns:a="http://schemas.openxmlformats.org/drawingml/2006/main" noGrp="1"/>
          </p:cNvSpPr>
          <p:nvPr>
            <p:ph type="title" idx="0"/>
          </p:nvPr>
        </p:nvSpPr>
        <p:spPr>
          <a:xfrm xmlns:a="http://schemas.openxmlformats.org/drawingml/2006/main">
            <a:off x="1028700" y="800100"/>
            <a:ext cx="16230600" cy="12573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9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6FA314A-A5BD-4A42-994C-434ACFAA2127}"/>
              </a:ext>
            </a:extLst>
          </p:cNvPr>
          <p:cNvSpPr>
            <a:spLocks xmlns:a="http://schemas.openxmlformats.org/drawingml/2006/main" noGrp="1"/>
          </p:cNvSpPr>
          <p:nvPr>
            <p:ph type="body" idx="1"/>
          </p:nvPr>
        </p:nvSpPr>
        <p:spPr>
          <a:xfrm xmlns:a="http://schemas.openxmlformats.org/drawingml/2006/main">
            <a:off x="1028700" y="2857500"/>
            <a:ext cx="7543800" cy="64008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75" b="0">
                <a:solidFill>
                  <a:schemeClr val="tx1"/>
                </a:solidFill>
                <a:latin typeface="+mn-lt"/>
                <a:ea typeface="+mn-lt"/>
                <a:cs typeface="+mn-lt"/>
              </a:defRPr>
            </a:defPPr>
            <a:lvl1pPr marL="342900" indent="-342900">
              <a:lnSpc>
                <a:spcPct val="110000"/>
              </a:lnSpc>
              <a:spcBef>
                <a:spcPts val="0"/>
              </a:spcBef>
              <a:spcAft>
                <a:spcPts val="1800"/>
              </a:spcAft>
              <a:buChar char="•"/>
            </a:lvl1pPr>
            <a:lvl2pPr marL="800100" indent="-342900">
              <a:lnSpc>
                <a:spcPct val="110000"/>
              </a:lnSpc>
              <a:spcBef>
                <a:spcPts val="0"/>
              </a:spcBef>
              <a:spcAft>
                <a:spcPts val="1800"/>
              </a:spcAft>
              <a:buChar char="•"/>
            </a:lvl2pPr>
            <a:lvl3pPr marL="1257300" indent="-342900">
              <a:lnSpc>
                <a:spcPct val="110000"/>
              </a:lnSpc>
              <a:spcBef>
                <a:spcPts val="0"/>
              </a:spcBef>
              <a:spcAft>
                <a:spcPts val="1800"/>
              </a:spcAft>
              <a:buChar char="•"/>
            </a:lvl3pPr>
            <a:lvl4pPr marL="1714500" indent="-342900">
              <a:lnSpc>
                <a:spcPct val="110000"/>
              </a:lnSpc>
              <a:spcBef>
                <a:spcPts val="0"/>
              </a:spcBef>
              <a:spcAft>
                <a:spcPts val="1800"/>
              </a:spcAft>
              <a:buChar char="•"/>
            </a:lvl4pPr>
            <a:lvl5pPr marL="2171700" indent="-342900">
              <a:lnSpc>
                <a:spcPct val="110000"/>
              </a:lnSpc>
              <a:spcBef>
                <a:spcPts val="0"/>
              </a:spcBef>
              <a:spcAft>
                <a:spcPts val="1800"/>
              </a:spcAft>
              <a:buChar char="•"/>
            </a:lvl5pPr>
            <a:lvl6pPr marL="2628900" indent="-342900">
              <a:lnSpc>
                <a:spcPct val="110000"/>
              </a:lnSpc>
              <a:spcBef>
                <a:spcPts val="0"/>
              </a:spcBef>
              <a:spcAft>
                <a:spcPts val="1800"/>
              </a:spcAft>
              <a:buChar char="•"/>
            </a:lvl6pPr>
            <a:lvl7pPr marL="3086100" indent="-342900">
              <a:lnSpc>
                <a:spcPct val="110000"/>
              </a:lnSpc>
              <a:spcBef>
                <a:spcPts val="0"/>
              </a:spcBef>
              <a:spcAft>
                <a:spcPts val="1800"/>
              </a:spcAft>
              <a:buChar char="•"/>
            </a:lvl7pPr>
            <a:lvl8pPr marL="3543300" indent="-342900">
              <a:lnSpc>
                <a:spcPct val="110000"/>
              </a:lnSpc>
              <a:spcBef>
                <a:spcPts val="0"/>
              </a:spcBef>
              <a:spcAft>
                <a:spcPts val="1800"/>
              </a:spcAft>
              <a:buChar char="•"/>
            </a:lvl8pPr>
            <a:lvl9pPr marL="4000500" indent="-342900">
              <a:lnSpc>
                <a:spcPct val="110000"/>
              </a:lnSpc>
              <a:spcBef>
                <a:spcPts val="0"/>
              </a:spcBef>
              <a:spcAft>
                <a:spcPts val="18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282c43903884e65" /><Relationship Type="http://schemas.openxmlformats.org/officeDocument/2006/relationships/slideLayout" Target="/ppt/slideLayouts/slideLayout1.xml" Id="R168bf7d4a24648b1" /><Relationship Type="http://schemas.openxmlformats.org/officeDocument/2006/relationships/slideLayout" Target="/ppt/slideLayouts/slideLayout2.xml" Id="Reba57bc2dffb4143" /><Relationship Type="http://schemas.openxmlformats.org/officeDocument/2006/relationships/slideLayout" Target="/ppt/slideLayouts/slideLayout3.xml" Id="Ref844910572342e6" /><Relationship Type="http://schemas.openxmlformats.org/officeDocument/2006/relationships/slideLayout" Target="/ppt/slideLayouts/slideLayout4.xml" Id="Ra630d6662a1b4c35" /><Relationship Type="http://schemas.openxmlformats.org/officeDocument/2006/relationships/slideLayout" Target="/ppt/slideLayouts/slideLayout5.xml" Id="R1beca8d083604798" /><Relationship Type="http://schemas.openxmlformats.org/officeDocument/2006/relationships/slideLayout" Target="/ppt/slideLayouts/slideLayout6.xml" Id="R3742268b5a1d4e7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68bf7d4a24648b1"/>
    <p:sldLayoutId xmlns:r="http://schemas.openxmlformats.org/officeDocument/2006/relationships" id="2147483650" r:id="Reba57bc2dffb4143"/>
    <p:sldLayoutId xmlns:r="http://schemas.openxmlformats.org/officeDocument/2006/relationships" id="2147483651" r:id="Ref844910572342e6"/>
    <p:sldLayoutId xmlns:r="http://schemas.openxmlformats.org/officeDocument/2006/relationships" id="2147483652" r:id="Ra630d6662a1b4c35"/>
    <p:sldLayoutId xmlns:r="http://schemas.openxmlformats.org/officeDocument/2006/relationships" id="2147483653" r:id="R1beca8d083604798"/>
    <p:sldLayoutId xmlns:r="http://schemas.openxmlformats.org/officeDocument/2006/relationships" id="2147483654" r:id="R3742268b5a1d4e7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34b475ef8424037" /><Relationship Type="http://schemas.openxmlformats.org/officeDocument/2006/relationships/image" Target="/ppt/media/image.png" Id="R7cc0da8d749a471c" /><Relationship Type="http://schemas.openxmlformats.org/officeDocument/2006/relationships/notesSlide" Target="/ppt/notesSlides/notesSlide1.xml" Id="R3958bf24d24f40f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7c165250ec945ad" /><Relationship Type="http://schemas.openxmlformats.org/officeDocument/2006/relationships/image" Target="/ppt/media/image2.png" Id="Rba939d319ad942e3" /><Relationship Type="http://schemas.openxmlformats.org/officeDocument/2006/relationships/notesSlide" Target="/ppt/notesSlides/notesSlide2.xml" Id="R4c74f5a67a2b421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283ffcf7fb7a4bfe" /><Relationship Type="http://schemas.openxmlformats.org/officeDocument/2006/relationships/image" Target="/ppt/media/image3.png" Id="R44145fe313dd484d" /><Relationship Type="http://schemas.openxmlformats.org/officeDocument/2006/relationships/notesSlide" Target="/ppt/notesSlides/notesSlide3.xml" Id="R88af1204862f444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300cf720d324483" /><Relationship Type="http://schemas.openxmlformats.org/officeDocument/2006/relationships/image" Target="/ppt/media/image4.png" Id="R21337d2f32234cf4" /><Relationship Type="http://schemas.openxmlformats.org/officeDocument/2006/relationships/notesSlide" Target="/ppt/notesSlides/notesSlide4.xml" Id="Rd4a2b4a42f954cc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54b63b7b1d24bea" /><Relationship Type="http://schemas.openxmlformats.org/officeDocument/2006/relationships/image" Target="/ppt/media/image5.png" Id="R74698971c9e34439" /><Relationship Type="http://schemas.openxmlformats.org/officeDocument/2006/relationships/notesSlide" Target="/ppt/notesSlides/notesSlide5.xml" Id="R3cf2bf95417b470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bfb82a5f99a4397" /><Relationship Type="http://schemas.openxmlformats.org/officeDocument/2006/relationships/image" Target="/ppt/media/image6.png" Id="Ref37667f3dd24410" /><Relationship Type="http://schemas.openxmlformats.org/officeDocument/2006/relationships/notesSlide" Target="/ppt/notesSlides/notesSlide6.xml" Id="Rab823b2a27ad477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7e9b592b5b74120" /><Relationship Type="http://schemas.openxmlformats.org/officeDocument/2006/relationships/image" Target="/ppt/media/image7.png" Id="R963ab0a0bb634d4f" /><Relationship Type="http://schemas.openxmlformats.org/officeDocument/2006/relationships/notesSlide" Target="/ppt/notesSlides/notesSlide7.xml" Id="Raec85a32f4c44f8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05817dad0764460" /><Relationship Type="http://schemas.openxmlformats.org/officeDocument/2006/relationships/image" Target="/ppt/media/image8.png" Id="R743b36c5835b450a" /><Relationship Type="http://schemas.openxmlformats.org/officeDocument/2006/relationships/notesSlide" Target="/ppt/notesSlides/notesSlide8.xml" Id="R7ec49f58a4a4451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fd0ddd2f248404a" /><Relationship Type="http://schemas.openxmlformats.org/officeDocument/2006/relationships/image" Target="/ppt/media/image9.png" Id="Rbbedcac87a934290" /><Relationship Type="http://schemas.openxmlformats.org/officeDocument/2006/relationships/notesSlide" Target="/ppt/notesSlides/notesSlide9.xml" Id="Redd964361b99446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80a3644795243ef" /><Relationship Type="http://schemas.openxmlformats.org/officeDocument/2006/relationships/image" Target="/ppt/media/image10.png" Id="R875d7fbf977e49ff" /><Relationship Type="http://schemas.openxmlformats.org/officeDocument/2006/relationships/notesSlide" Target="/ppt/notesSlides/notesSlide10.xml" Id="Rff2ca70c6acf4b8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1fc6c00311bc4400" /><Relationship Type="http://schemas.openxmlformats.org/officeDocument/2006/relationships/image" Target="/ppt/media/image11.png" Id="Rd0ace436dbf249d9" /><Relationship Type="http://schemas.openxmlformats.org/officeDocument/2006/relationships/notesSlide" Target="/ppt/notesSlides/notesSlide11.xml" Id="Rc91e483c53264d9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5bd28ab033e04eab" /><Relationship Type="http://schemas.openxmlformats.org/officeDocument/2006/relationships/image" Target="/ppt/media/image12.png" Id="Rd07bc732059f4009" /><Relationship Type="http://schemas.openxmlformats.org/officeDocument/2006/relationships/notesSlide" Target="/ppt/notesSlides/notesSlide12.xml" Id="Ra307c241790f4f29"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5" name="">
            <a:extLst xmlns:a="http://schemas.openxmlformats.org/drawingml/2006/main">
              <a:ext uri="{FF2B5EF4-FFF2-40B4-BE49-F238E27FC236}">
                <a16:creationId xmlns:a16="http://schemas.microsoft.com/office/drawing/2014/main" id="{4DD107D6-E779-40AF-8E19-051680FA7D73}"/>
              </a:ext>
            </a:extLst>
          </p:cNvPr>
          <p:cNvPicPr>
            <a:picLocks xmlns:a="http://schemas.openxmlformats.org/drawingml/2006/main" noChangeAspect="1"/>
          </p:cNvPicPr>
          <p:nvPr/>
        </p:nvPicPr>
        <p:blipFill>
          <a:blip xmlns:r="http://schemas.openxmlformats.org/officeDocument/2006/relationships" xmlns:a="http://schemas.openxmlformats.org/drawingml/2006/main" r:embed="R7cc0da8d749a471c"/>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Figure 1 label 1 line 1">
            <a:extLst xmlns:a="http://schemas.openxmlformats.org/drawingml/2006/main">
              <a:ext uri="{FF2B5EF4-FFF2-40B4-BE49-F238E27FC236}">
                <a16:creationId xmlns:a16="http://schemas.microsoft.com/office/drawing/2014/main" id="{11411E0A-2C4B-4B80-9645-51072C2A160D}"/>
              </a:ext>
            </a:extLst>
          </p:cNvPr>
          <p:cNvSpPr>
            <a:spLocks xmlns:a="http://schemas.openxmlformats.org/drawingml/2006/main" noGrp="1"/>
          </p:cNvSpPr>
          <p:nvPr/>
        </p:nvSpPr>
        <p:spPr>
          <a:xfrm xmlns:a="http://schemas.openxmlformats.org/drawingml/2006/main" rot="0">
            <a:off x="991870" y="421675"/>
            <a:ext cx="5700018" cy="436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750" b="1">
                <a:solidFill>
                  <a:srgbClr val="00355F"/>
                </a:solidFill>
                <a:latin typeface="Arial Unicode MS"/>
                <a:ea typeface="Arial Unicode MS"/>
                <a:cs typeface="Arial Unicode MS"/>
              </a:defRPr>
            </a:defPPr>
          </a:lstStyle>
          <a:p xmlns:a="http://schemas.openxmlformats.org/drawingml/2006/main">
            <a:pPr algn="l">
              <a:lnSpc>
                <a:spcPct val="100000"/>
              </a:lnSpc>
              <a:buNone/>
              <a:defRPr sz="2750" b="1">
                <a:solidFill>
                  <a:srgbClr val="00355F"/>
                </a:solidFill>
                <a:latin typeface="Arial Unicode MS"/>
                <a:ea typeface="Arial Unicode MS"/>
                <a:cs typeface="Arial Unicode MS"/>
              </a:defRPr>
            </a:pPr>
            <a:r>
              <a:rPr sz="2750" b="1">
                <a:solidFill>
                  <a:srgbClr val="00355F"/>
                </a:solidFill>
                <a:latin typeface="Arial Unicode MS"/>
                <a:ea typeface="Arial Unicode MS"/>
                <a:cs typeface="Arial Unicode MS"/>
              </a:rPr>
              <a:t>01  The life science tools framework</a:t>
            </a:r>
          </a:p>
        </p:txBody>
      </p:sp>
      <p:sp>
        <p:nvSpPr>
          <p:cNvPr id="3" name="Figure 1 label 2 line 1">
            <a:extLst xmlns:a="http://schemas.openxmlformats.org/drawingml/2006/main">
              <a:ext uri="{FF2B5EF4-FFF2-40B4-BE49-F238E27FC236}">
                <a16:creationId xmlns:a16="http://schemas.microsoft.com/office/drawing/2014/main" id="{EB786385-0DA5-46BD-93A5-16B23C210F81}"/>
              </a:ext>
            </a:extLst>
          </p:cNvPr>
          <p:cNvSpPr>
            <a:spLocks xmlns:a="http://schemas.openxmlformats.org/drawingml/2006/main" noGrp="1"/>
          </p:cNvSpPr>
          <p:nvPr/>
        </p:nvSpPr>
        <p:spPr>
          <a:xfrm xmlns:a="http://schemas.openxmlformats.org/drawingml/2006/main" rot="0">
            <a:off x="15683161" y="661601"/>
            <a:ext cx="1094879" cy="188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188"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188" b="0">
                <a:solidFill>
                  <a:srgbClr val="00355F"/>
                </a:solidFill>
                <a:latin typeface="Arial Unicode MS"/>
                <a:ea typeface="Arial Unicode MS"/>
                <a:cs typeface="Arial Unicode MS"/>
              </a:defRPr>
            </a:pPr>
            <a:r>
              <a:rPr sz="1188" b="0">
                <a:solidFill>
                  <a:srgbClr val="00355F"/>
                </a:solidFill>
                <a:latin typeface="Arial Unicode MS"/>
                <a:ea typeface="Arial Unicode MS"/>
                <a:cs typeface="Arial Unicode MS"/>
              </a:rPr>
              <a:t>FRAMEWORK</a:t>
            </a:r>
          </a:p>
        </p:txBody>
      </p:sp>
      <p:sp>
        <p:nvSpPr>
          <p:cNvPr id="4" name="Figure 1 label 3 line 1">
            <a:extLst xmlns:a="http://schemas.openxmlformats.org/drawingml/2006/main">
              <a:ext uri="{FF2B5EF4-FFF2-40B4-BE49-F238E27FC236}">
                <a16:creationId xmlns:a16="http://schemas.microsoft.com/office/drawing/2014/main" id="{E430473E-8CEA-48D4-AD11-52636DB72679}"/>
              </a:ext>
            </a:extLst>
          </p:cNvPr>
          <p:cNvSpPr>
            <a:spLocks xmlns:a="http://schemas.openxmlformats.org/drawingml/2006/main" noGrp="1"/>
          </p:cNvSpPr>
          <p:nvPr/>
        </p:nvSpPr>
        <p:spPr>
          <a:xfrm xmlns:a="http://schemas.openxmlformats.org/drawingml/2006/main" rot="0">
            <a:off x="998220" y="1249487"/>
            <a:ext cx="8446294"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A product framework spanning academic research, biotech, pharma, CRDMOs and manufacturing.</a:t>
            </a:r>
          </a:p>
        </p:txBody>
      </p:sp>
      <p:sp>
        <p:nvSpPr>
          <p:cNvPr id="5" name="Figure 1 label 4 line 1">
            <a:extLst xmlns:a="http://schemas.openxmlformats.org/drawingml/2006/main">
              <a:ext uri="{FF2B5EF4-FFF2-40B4-BE49-F238E27FC236}">
                <a16:creationId xmlns:a16="http://schemas.microsoft.com/office/drawing/2014/main" id="{33279667-01AC-4903-A44F-836FEB8EE290}"/>
              </a:ext>
            </a:extLst>
          </p:cNvPr>
          <p:cNvSpPr>
            <a:spLocks xmlns:a="http://schemas.openxmlformats.org/drawingml/2006/main" noGrp="1"/>
          </p:cNvSpPr>
          <p:nvPr/>
        </p:nvSpPr>
        <p:spPr>
          <a:xfrm xmlns:a="http://schemas.openxmlformats.org/drawingml/2006/main" rot="0">
            <a:off x="999173" y="9256035"/>
            <a:ext cx="6714083"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Classify products separately from their use cases. Chromatography resins can be reused.</a:t>
            </a:r>
          </a:p>
        </p:txBody>
      </p:sp>
      <p:sp>
        <p:nvSpPr>
          <p:cNvPr id="6" name="Figure 1 label 5 line 1">
            <a:extLst xmlns:a="http://schemas.openxmlformats.org/drawingml/2006/main">
              <a:ext uri="{FF2B5EF4-FFF2-40B4-BE49-F238E27FC236}">
                <a16:creationId xmlns:a16="http://schemas.microsoft.com/office/drawing/2014/main" id="{0501FBD3-860F-4EFA-ABB2-095DC5E32D80}"/>
              </a:ext>
            </a:extLst>
          </p:cNvPr>
          <p:cNvSpPr>
            <a:spLocks xmlns:a="http://schemas.openxmlformats.org/drawingml/2006/main" noGrp="1"/>
          </p:cNvSpPr>
          <p:nvPr/>
        </p:nvSpPr>
        <p:spPr>
          <a:xfrm xmlns:a="http://schemas.openxmlformats.org/drawingml/2006/main" rot="0">
            <a:off x="1000316" y="9675546"/>
            <a:ext cx="6311087" cy="1726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88" b="0">
                <a:solidFill>
                  <a:srgbClr val="00355F"/>
                </a:solidFill>
                <a:latin typeface="Arial Unicode MS"/>
                <a:ea typeface="Arial Unicode MS"/>
                <a:cs typeface="Arial Unicode MS"/>
              </a:defRPr>
            </a:defPPr>
          </a:lstStyle>
          <a:p xmlns:a="http://schemas.openxmlformats.org/drawingml/2006/main">
            <a:pPr algn="l">
              <a:lnSpc>
                <a:spcPct val="100000"/>
              </a:lnSpc>
              <a:buNone/>
              <a:defRPr sz="1088" b="0">
                <a:solidFill>
                  <a:srgbClr val="00355F"/>
                </a:solidFill>
                <a:latin typeface="Arial Unicode MS"/>
                <a:ea typeface="Arial Unicode MS"/>
                <a:cs typeface="Arial Unicode MS"/>
              </a:defRPr>
            </a:pPr>
            <a:r>
              <a:rPr sz="1088" b="0">
                <a:solidFill>
                  <a:srgbClr val="00355F"/>
                </a:solidFill>
                <a:latin typeface="Arial Unicode MS"/>
                <a:ea typeface="Arial Unicode MS"/>
                <a:cs typeface="Arial Unicode MS"/>
              </a:rPr>
              <a:t>Source: supplied framework and prior product research. Existing TAMs do not automatically reconcile.</a:t>
            </a:r>
          </a:p>
        </p:txBody>
      </p:sp>
      <p:sp>
        <p:nvSpPr>
          <p:cNvPr id="7" name="Figure 1 label 6 line 1">
            <a:extLst xmlns:a="http://schemas.openxmlformats.org/drawingml/2006/main">
              <a:ext uri="{FF2B5EF4-FFF2-40B4-BE49-F238E27FC236}">
                <a16:creationId xmlns:a16="http://schemas.microsoft.com/office/drawing/2014/main" id="{9EE06DBD-16CB-41A8-81F7-37239F0A0614}"/>
              </a:ext>
            </a:extLst>
          </p:cNvPr>
          <p:cNvSpPr>
            <a:spLocks xmlns:a="http://schemas.openxmlformats.org/drawingml/2006/main" noGrp="1"/>
          </p:cNvSpPr>
          <p:nvPr/>
        </p:nvSpPr>
        <p:spPr>
          <a:xfrm xmlns:a="http://schemas.openxmlformats.org/drawingml/2006/main" rot="0">
            <a:off x="16440260" y="9667497"/>
            <a:ext cx="841901" cy="1825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150" b="0">
                <a:solidFill>
                  <a:srgbClr val="00355F"/>
                </a:solidFill>
                <a:latin typeface="Arial Unicode MS"/>
                <a:ea typeface="Arial Unicode MS"/>
                <a:cs typeface="Arial Unicode MS"/>
              </a:defRPr>
            </a:defPPr>
          </a:lstStyle>
          <a:p xmlns:a="http://schemas.openxmlformats.org/drawingml/2006/main">
            <a:pPr algn="r">
              <a:lnSpc>
                <a:spcPct val="100000"/>
              </a:lnSpc>
              <a:buNone/>
              <a:defRPr sz="1150" b="0">
                <a:solidFill>
                  <a:srgbClr val="00355F"/>
                </a:solidFill>
                <a:latin typeface="Arial Unicode MS"/>
                <a:ea typeface="Arial Unicode MS"/>
                <a:cs typeface="Arial Unicode MS"/>
              </a:defRPr>
            </a:pPr>
            <a:r>
              <a:rPr sz="1150" b="0">
                <a:solidFill>
                  <a:srgbClr val="00355F"/>
                </a:solidFill>
                <a:latin typeface="Arial Unicode MS"/>
                <a:ea typeface="Arial Unicode MS"/>
                <a:cs typeface="Arial Unicode MS"/>
              </a:rPr>
              <a:t>2026-10-12</a:t>
            </a:r>
          </a:p>
        </p:txBody>
      </p:sp>
      <p:sp>
        <p:nvSpPr>
          <p:cNvPr id="8" name="Figure 1 label 7 line 1">
            <a:extLst xmlns:a="http://schemas.openxmlformats.org/drawingml/2006/main">
              <a:ext uri="{FF2B5EF4-FFF2-40B4-BE49-F238E27FC236}">
                <a16:creationId xmlns:a16="http://schemas.microsoft.com/office/drawing/2014/main" id="{06A59E7C-0156-475D-80B2-D14D4A1053EA}"/>
              </a:ext>
            </a:extLst>
          </p:cNvPr>
          <p:cNvSpPr>
            <a:spLocks xmlns:a="http://schemas.openxmlformats.org/drawingml/2006/main" noGrp="1"/>
          </p:cNvSpPr>
          <p:nvPr/>
        </p:nvSpPr>
        <p:spPr>
          <a:xfrm xmlns:a="http://schemas.openxmlformats.org/drawingml/2006/main" rot="0">
            <a:off x="1394206" y="2415470"/>
            <a:ext cx="1721842" cy="436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750" b="1">
                <a:solidFill>
                  <a:srgbClr val="FFFFFF"/>
                </a:solidFill>
                <a:latin typeface="Arial Unicode MS"/>
                <a:ea typeface="Arial Unicode MS"/>
                <a:cs typeface="Arial Unicode MS"/>
              </a:defRPr>
            </a:defPPr>
          </a:lstStyle>
          <a:p xmlns:a="http://schemas.openxmlformats.org/drawingml/2006/main">
            <a:pPr algn="l">
              <a:lnSpc>
                <a:spcPct val="100000"/>
              </a:lnSpc>
              <a:buNone/>
              <a:defRPr sz="2750" b="1">
                <a:solidFill>
                  <a:srgbClr val="FFFFFF"/>
                </a:solidFill>
                <a:latin typeface="Arial Unicode MS"/>
                <a:ea typeface="Arial Unicode MS"/>
                <a:cs typeface="Arial Unicode MS"/>
              </a:defRPr>
            </a:pPr>
            <a:r>
              <a:rPr sz="2750" b="1">
                <a:solidFill>
                  <a:srgbClr val="FFFFFF"/>
                </a:solidFill>
                <a:latin typeface="Arial Unicode MS"/>
                <a:ea typeface="Arial Unicode MS"/>
                <a:cs typeface="Arial Unicode MS"/>
              </a:rPr>
              <a:t>Reagents</a:t>
            </a:r>
          </a:p>
        </p:txBody>
      </p:sp>
      <p:sp>
        <p:nvSpPr>
          <p:cNvPr id="9" name="Figure 1 label 8 line 1">
            <a:extLst xmlns:a="http://schemas.openxmlformats.org/drawingml/2006/main">
              <a:ext uri="{FF2B5EF4-FFF2-40B4-BE49-F238E27FC236}">
                <a16:creationId xmlns:a16="http://schemas.microsoft.com/office/drawing/2014/main" id="{9D32F89A-F363-4537-BF4D-709F59FEFCF0}"/>
              </a:ext>
            </a:extLst>
          </p:cNvPr>
          <p:cNvSpPr>
            <a:spLocks xmlns:a="http://schemas.openxmlformats.org/drawingml/2006/main" noGrp="1"/>
          </p:cNvSpPr>
          <p:nvPr/>
        </p:nvSpPr>
        <p:spPr>
          <a:xfrm xmlns:a="http://schemas.openxmlformats.org/drawingml/2006/main" rot="0">
            <a:off x="1401509" y="3649503"/>
            <a:ext cx="29378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01</a:t>
            </a:r>
          </a:p>
        </p:txBody>
      </p:sp>
      <p:sp>
        <p:nvSpPr>
          <p:cNvPr id="10" name="Figure 1 label 9 line 1">
            <a:extLst xmlns:a="http://schemas.openxmlformats.org/drawingml/2006/main">
              <a:ext uri="{FF2B5EF4-FFF2-40B4-BE49-F238E27FC236}">
                <a16:creationId xmlns:a16="http://schemas.microsoft.com/office/drawing/2014/main" id="{89364F5F-523D-4361-925D-145F01ACAA08}"/>
              </a:ext>
            </a:extLst>
          </p:cNvPr>
          <p:cNvSpPr>
            <a:spLocks xmlns:a="http://schemas.openxmlformats.org/drawingml/2006/main" noGrp="1"/>
          </p:cNvSpPr>
          <p:nvPr/>
        </p:nvSpPr>
        <p:spPr>
          <a:xfrm xmlns:a="http://schemas.openxmlformats.org/drawingml/2006/main" rot="0">
            <a:off x="2022348" y="3625649"/>
            <a:ext cx="300424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Recombinant proteins / antibodies</a:t>
            </a:r>
          </a:p>
        </p:txBody>
      </p:sp>
      <p:sp>
        <p:nvSpPr>
          <p:cNvPr id="11" name="Figure 1 label 10 line 1">
            <a:extLst xmlns:a="http://schemas.openxmlformats.org/drawingml/2006/main">
              <a:ext uri="{FF2B5EF4-FFF2-40B4-BE49-F238E27FC236}">
                <a16:creationId xmlns:a16="http://schemas.microsoft.com/office/drawing/2014/main" id="{FCB1A921-532F-4761-A711-E180F850E541}"/>
              </a:ext>
            </a:extLst>
          </p:cNvPr>
          <p:cNvSpPr>
            <a:spLocks xmlns:a="http://schemas.openxmlformats.org/drawingml/2006/main" noGrp="1"/>
          </p:cNvSpPr>
          <p:nvPr/>
        </p:nvSpPr>
        <p:spPr>
          <a:xfrm xmlns:a="http://schemas.openxmlformats.org/drawingml/2006/main" rot="0">
            <a:off x="1401509" y="4369593"/>
            <a:ext cx="29378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02</a:t>
            </a:r>
          </a:p>
        </p:txBody>
      </p:sp>
      <p:sp>
        <p:nvSpPr>
          <p:cNvPr id="12" name="Figure 1 label 11 line 1">
            <a:extLst xmlns:a="http://schemas.openxmlformats.org/drawingml/2006/main">
              <a:ext uri="{FF2B5EF4-FFF2-40B4-BE49-F238E27FC236}">
                <a16:creationId xmlns:a16="http://schemas.microsoft.com/office/drawing/2014/main" id="{86C9174F-37B0-4446-AC64-26E7CB51058F}"/>
              </a:ext>
            </a:extLst>
          </p:cNvPr>
          <p:cNvSpPr>
            <a:spLocks xmlns:a="http://schemas.openxmlformats.org/drawingml/2006/main" noGrp="1"/>
          </p:cNvSpPr>
          <p:nvPr/>
        </p:nvSpPr>
        <p:spPr>
          <a:xfrm xmlns:a="http://schemas.openxmlformats.org/drawingml/2006/main" rot="0">
            <a:off x="2022348" y="4345874"/>
            <a:ext cx="3099048"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Enzymes / PCR and NGS reagents</a:t>
            </a:r>
          </a:p>
        </p:txBody>
      </p:sp>
      <p:sp>
        <p:nvSpPr>
          <p:cNvPr id="13" name="Figure 1 label 12 line 1">
            <a:extLst xmlns:a="http://schemas.openxmlformats.org/drawingml/2006/main">
              <a:ext uri="{FF2B5EF4-FFF2-40B4-BE49-F238E27FC236}">
                <a16:creationId xmlns:a16="http://schemas.microsoft.com/office/drawing/2014/main" id="{3B3CF728-8F14-41EC-BDA3-7F233543B017}"/>
              </a:ext>
            </a:extLst>
          </p:cNvPr>
          <p:cNvSpPr>
            <a:spLocks xmlns:a="http://schemas.openxmlformats.org/drawingml/2006/main" noGrp="1"/>
          </p:cNvSpPr>
          <p:nvPr/>
        </p:nvSpPr>
        <p:spPr>
          <a:xfrm xmlns:a="http://schemas.openxmlformats.org/drawingml/2006/main" rot="0">
            <a:off x="1401509" y="5089683"/>
            <a:ext cx="29378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03</a:t>
            </a:r>
          </a:p>
        </p:txBody>
      </p:sp>
      <p:sp>
        <p:nvSpPr>
          <p:cNvPr id="14" name="Figure 1 label 13 line 1">
            <a:extLst xmlns:a="http://schemas.openxmlformats.org/drawingml/2006/main">
              <a:ext uri="{FF2B5EF4-FFF2-40B4-BE49-F238E27FC236}">
                <a16:creationId xmlns:a16="http://schemas.microsoft.com/office/drawing/2014/main" id="{054702DF-4908-42A1-A52C-EC6E864EA44C}"/>
              </a:ext>
            </a:extLst>
          </p:cNvPr>
          <p:cNvSpPr>
            <a:spLocks xmlns:a="http://schemas.openxmlformats.org/drawingml/2006/main" noGrp="1"/>
          </p:cNvSpPr>
          <p:nvPr/>
        </p:nvSpPr>
        <p:spPr>
          <a:xfrm xmlns:a="http://schemas.openxmlformats.org/drawingml/2006/main" rot="0">
            <a:off x="2022348" y="5064803"/>
            <a:ext cx="330011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DNA / RNA / chemical building blocks</a:t>
            </a:r>
          </a:p>
        </p:txBody>
      </p:sp>
      <p:sp>
        <p:nvSpPr>
          <p:cNvPr id="15" name="Figure 1 label 14 line 1">
            <a:extLst xmlns:a="http://schemas.openxmlformats.org/drawingml/2006/main">
              <a:ext uri="{FF2B5EF4-FFF2-40B4-BE49-F238E27FC236}">
                <a16:creationId xmlns:a16="http://schemas.microsoft.com/office/drawing/2014/main" id="{FF03E912-4D7E-4C5D-AC37-EE122BD5ABF9}"/>
              </a:ext>
            </a:extLst>
          </p:cNvPr>
          <p:cNvSpPr>
            <a:spLocks xmlns:a="http://schemas.openxmlformats.org/drawingml/2006/main" noGrp="1"/>
          </p:cNvSpPr>
          <p:nvPr/>
        </p:nvSpPr>
        <p:spPr>
          <a:xfrm xmlns:a="http://schemas.openxmlformats.org/drawingml/2006/main" rot="0">
            <a:off x="1401509" y="5809773"/>
            <a:ext cx="29378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04</a:t>
            </a:r>
          </a:p>
        </p:txBody>
      </p:sp>
      <p:sp>
        <p:nvSpPr>
          <p:cNvPr id="16" name="Figure 1 label 15 line 1">
            <a:extLst xmlns:a="http://schemas.openxmlformats.org/drawingml/2006/main">
              <a:ext uri="{FF2B5EF4-FFF2-40B4-BE49-F238E27FC236}">
                <a16:creationId xmlns:a16="http://schemas.microsoft.com/office/drawing/2014/main" id="{EE973B3C-445B-4CD2-9F85-CD1C4FEF20F6}"/>
              </a:ext>
            </a:extLst>
          </p:cNvPr>
          <p:cNvSpPr>
            <a:spLocks xmlns:a="http://schemas.openxmlformats.org/drawingml/2006/main" noGrp="1"/>
          </p:cNvSpPr>
          <p:nvPr/>
        </p:nvSpPr>
        <p:spPr>
          <a:xfrm xmlns:a="http://schemas.openxmlformats.org/drawingml/2006/main" rot="0">
            <a:off x="2022348" y="5785920"/>
            <a:ext cx="2199084"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Cell lines / culture media</a:t>
            </a:r>
          </a:p>
        </p:txBody>
      </p:sp>
      <p:sp>
        <p:nvSpPr>
          <p:cNvPr id="17" name="Figure 1 label 16 line 1">
            <a:extLst xmlns:a="http://schemas.openxmlformats.org/drawingml/2006/main">
              <a:ext uri="{FF2B5EF4-FFF2-40B4-BE49-F238E27FC236}">
                <a16:creationId xmlns:a16="http://schemas.microsoft.com/office/drawing/2014/main" id="{382A73CB-E774-4767-8FF1-19E06809692E}"/>
              </a:ext>
            </a:extLst>
          </p:cNvPr>
          <p:cNvSpPr>
            <a:spLocks xmlns:a="http://schemas.openxmlformats.org/drawingml/2006/main" noGrp="1"/>
          </p:cNvSpPr>
          <p:nvPr/>
        </p:nvSpPr>
        <p:spPr>
          <a:xfrm xmlns:a="http://schemas.openxmlformats.org/drawingml/2006/main" rot="0">
            <a:off x="1401509" y="6529863"/>
            <a:ext cx="29378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05</a:t>
            </a:r>
          </a:p>
        </p:txBody>
      </p:sp>
      <p:sp>
        <p:nvSpPr>
          <p:cNvPr id="18" name="Figure 1 label 17 line 1">
            <a:extLst xmlns:a="http://schemas.openxmlformats.org/drawingml/2006/main">
              <a:ext uri="{FF2B5EF4-FFF2-40B4-BE49-F238E27FC236}">
                <a16:creationId xmlns:a16="http://schemas.microsoft.com/office/drawing/2014/main" id="{7B1DD8DE-B820-4FE2-8DBB-D86AFA277C18}"/>
              </a:ext>
            </a:extLst>
          </p:cNvPr>
          <p:cNvSpPr>
            <a:spLocks xmlns:a="http://schemas.openxmlformats.org/drawingml/2006/main" noGrp="1"/>
          </p:cNvSpPr>
          <p:nvPr/>
        </p:nvSpPr>
        <p:spPr>
          <a:xfrm xmlns:a="http://schemas.openxmlformats.org/drawingml/2006/main" rot="0">
            <a:off x="2022348" y="6506143"/>
            <a:ext cx="287669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Assay reagents for R&amp;D and QC</a:t>
            </a:r>
          </a:p>
        </p:txBody>
      </p:sp>
      <p:sp>
        <p:nvSpPr>
          <p:cNvPr id="19" name="Figure 1 label 18 line 1">
            <a:extLst xmlns:a="http://schemas.openxmlformats.org/drawingml/2006/main">
              <a:ext uri="{FF2B5EF4-FFF2-40B4-BE49-F238E27FC236}">
                <a16:creationId xmlns:a16="http://schemas.microsoft.com/office/drawing/2014/main" id="{DFF30F8C-00E9-4F8A-B73D-5A0419FB0C81}"/>
              </a:ext>
            </a:extLst>
          </p:cNvPr>
          <p:cNvSpPr>
            <a:spLocks xmlns:a="http://schemas.openxmlformats.org/drawingml/2006/main" noGrp="1"/>
          </p:cNvSpPr>
          <p:nvPr/>
        </p:nvSpPr>
        <p:spPr>
          <a:xfrm xmlns:a="http://schemas.openxmlformats.org/drawingml/2006/main" rot="0">
            <a:off x="1401318" y="7440635"/>
            <a:ext cx="2284333"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Tests × dose per test × price</a:t>
            </a:r>
          </a:p>
        </p:txBody>
      </p:sp>
      <p:sp>
        <p:nvSpPr>
          <p:cNvPr id="20" name="Figure 1 label 19 line 1">
            <a:extLst xmlns:a="http://schemas.openxmlformats.org/drawingml/2006/main">
              <a:ext uri="{FF2B5EF4-FFF2-40B4-BE49-F238E27FC236}">
                <a16:creationId xmlns:a16="http://schemas.microsoft.com/office/drawing/2014/main" id="{7DB838EB-C62B-49D0-8C58-FEEE10957A3E}"/>
              </a:ext>
            </a:extLst>
          </p:cNvPr>
          <p:cNvSpPr>
            <a:spLocks xmlns:a="http://schemas.openxmlformats.org/drawingml/2006/main" noGrp="1"/>
          </p:cNvSpPr>
          <p:nvPr/>
        </p:nvSpPr>
        <p:spPr>
          <a:xfrm xmlns:a="http://schemas.openxmlformats.org/drawingml/2006/main" rot="0">
            <a:off x="6953758" y="2417353"/>
            <a:ext cx="2362101" cy="436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750" b="1">
                <a:solidFill>
                  <a:srgbClr val="00355F"/>
                </a:solidFill>
                <a:latin typeface="Arial Unicode MS"/>
                <a:ea typeface="Arial Unicode MS"/>
                <a:cs typeface="Arial Unicode MS"/>
              </a:defRPr>
            </a:defPPr>
          </a:lstStyle>
          <a:p xmlns:a="http://schemas.openxmlformats.org/drawingml/2006/main">
            <a:pPr algn="l">
              <a:lnSpc>
                <a:spcPct val="100000"/>
              </a:lnSpc>
              <a:buNone/>
              <a:defRPr sz="2750" b="1">
                <a:solidFill>
                  <a:srgbClr val="00355F"/>
                </a:solidFill>
                <a:latin typeface="Arial Unicode MS"/>
                <a:ea typeface="Arial Unicode MS"/>
                <a:cs typeface="Arial Unicode MS"/>
              </a:defRPr>
            </a:pPr>
            <a:r>
              <a:rPr sz="2750" b="1">
                <a:solidFill>
                  <a:srgbClr val="00355F"/>
                </a:solidFill>
                <a:latin typeface="Arial Unicode MS"/>
                <a:ea typeface="Arial Unicode MS"/>
                <a:cs typeface="Arial Unicode MS"/>
              </a:rPr>
              <a:t>Consumables</a:t>
            </a:r>
          </a:p>
        </p:txBody>
      </p:sp>
      <p:sp>
        <p:nvSpPr>
          <p:cNvPr id="21" name="Figure 1 label 20 line 1">
            <a:extLst xmlns:a="http://schemas.openxmlformats.org/drawingml/2006/main">
              <a:ext uri="{FF2B5EF4-FFF2-40B4-BE49-F238E27FC236}">
                <a16:creationId xmlns:a16="http://schemas.microsoft.com/office/drawing/2014/main" id="{7A3FFEB3-129E-4B8D-94B4-2DEA1859828B}"/>
              </a:ext>
            </a:extLst>
          </p:cNvPr>
          <p:cNvSpPr>
            <a:spLocks xmlns:a="http://schemas.openxmlformats.org/drawingml/2006/main" noGrp="1"/>
          </p:cNvSpPr>
          <p:nvPr/>
        </p:nvSpPr>
        <p:spPr>
          <a:xfrm xmlns:a="http://schemas.openxmlformats.org/drawingml/2006/main" rot="0">
            <a:off x="6961060" y="3649503"/>
            <a:ext cx="29378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01</a:t>
            </a:r>
          </a:p>
        </p:txBody>
      </p:sp>
      <p:sp>
        <p:nvSpPr>
          <p:cNvPr id="22" name="Figure 1 label 21 line 1">
            <a:extLst xmlns:a="http://schemas.openxmlformats.org/drawingml/2006/main">
              <a:ext uri="{FF2B5EF4-FFF2-40B4-BE49-F238E27FC236}">
                <a16:creationId xmlns:a16="http://schemas.microsoft.com/office/drawing/2014/main" id="{13DBB639-E439-42AC-BDCA-5ADAD6E3DB04}"/>
              </a:ext>
            </a:extLst>
          </p:cNvPr>
          <p:cNvSpPr>
            <a:spLocks xmlns:a="http://schemas.openxmlformats.org/drawingml/2006/main" noGrp="1"/>
          </p:cNvSpPr>
          <p:nvPr/>
        </p:nvSpPr>
        <p:spPr>
          <a:xfrm xmlns:a="http://schemas.openxmlformats.org/drawingml/2006/main" rot="0">
            <a:off x="7581900" y="3625649"/>
            <a:ext cx="161657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Tips / microplates</a:t>
            </a:r>
          </a:p>
        </p:txBody>
      </p:sp>
      <p:sp>
        <p:nvSpPr>
          <p:cNvPr id="23" name="Figure 1 label 22 line 1">
            <a:extLst xmlns:a="http://schemas.openxmlformats.org/drawingml/2006/main">
              <a:ext uri="{FF2B5EF4-FFF2-40B4-BE49-F238E27FC236}">
                <a16:creationId xmlns:a16="http://schemas.microsoft.com/office/drawing/2014/main" id="{22047573-F46E-40C0-BCB2-C6ABED68A4D9}"/>
              </a:ext>
            </a:extLst>
          </p:cNvPr>
          <p:cNvSpPr>
            <a:spLocks xmlns:a="http://schemas.openxmlformats.org/drawingml/2006/main" noGrp="1"/>
          </p:cNvSpPr>
          <p:nvPr/>
        </p:nvSpPr>
        <p:spPr>
          <a:xfrm xmlns:a="http://schemas.openxmlformats.org/drawingml/2006/main" rot="0">
            <a:off x="6961060" y="4369593"/>
            <a:ext cx="29378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02</a:t>
            </a:r>
          </a:p>
        </p:txBody>
      </p:sp>
      <p:sp>
        <p:nvSpPr>
          <p:cNvPr id="24" name="Figure 1 label 23 line 1">
            <a:extLst xmlns:a="http://schemas.openxmlformats.org/drawingml/2006/main">
              <a:ext uri="{FF2B5EF4-FFF2-40B4-BE49-F238E27FC236}">
                <a16:creationId xmlns:a16="http://schemas.microsoft.com/office/drawing/2014/main" id="{358CA7F5-FCFB-49BD-B202-D2A535117A57}"/>
              </a:ext>
            </a:extLst>
          </p:cNvPr>
          <p:cNvSpPr>
            <a:spLocks xmlns:a="http://schemas.openxmlformats.org/drawingml/2006/main" noGrp="1"/>
          </p:cNvSpPr>
          <p:nvPr/>
        </p:nvSpPr>
        <p:spPr>
          <a:xfrm xmlns:a="http://schemas.openxmlformats.org/drawingml/2006/main" rot="0">
            <a:off x="7581900" y="4345874"/>
            <a:ext cx="279216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Culture flasks / centrifuge tubes</a:t>
            </a:r>
          </a:p>
        </p:txBody>
      </p:sp>
      <p:sp>
        <p:nvSpPr>
          <p:cNvPr id="25" name="Figure 1 label 24 line 1">
            <a:extLst xmlns:a="http://schemas.openxmlformats.org/drawingml/2006/main">
              <a:ext uri="{FF2B5EF4-FFF2-40B4-BE49-F238E27FC236}">
                <a16:creationId xmlns:a16="http://schemas.microsoft.com/office/drawing/2014/main" id="{2E67714E-FA5B-4542-84D4-322223572B88}"/>
              </a:ext>
            </a:extLst>
          </p:cNvPr>
          <p:cNvSpPr>
            <a:spLocks xmlns:a="http://schemas.openxmlformats.org/drawingml/2006/main" noGrp="1"/>
          </p:cNvSpPr>
          <p:nvPr/>
        </p:nvSpPr>
        <p:spPr>
          <a:xfrm xmlns:a="http://schemas.openxmlformats.org/drawingml/2006/main" rot="0">
            <a:off x="6961060" y="5089683"/>
            <a:ext cx="29378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03</a:t>
            </a:r>
          </a:p>
        </p:txBody>
      </p:sp>
      <p:sp>
        <p:nvSpPr>
          <p:cNvPr id="26" name="Figure 1 label 25 line 1">
            <a:extLst xmlns:a="http://schemas.openxmlformats.org/drawingml/2006/main">
              <a:ext uri="{FF2B5EF4-FFF2-40B4-BE49-F238E27FC236}">
                <a16:creationId xmlns:a16="http://schemas.microsoft.com/office/drawing/2014/main" id="{A1DF8ADD-B711-45C0-A5D3-FA415FF124F8}"/>
              </a:ext>
            </a:extLst>
          </p:cNvPr>
          <p:cNvSpPr>
            <a:spLocks xmlns:a="http://schemas.openxmlformats.org/drawingml/2006/main" noGrp="1"/>
          </p:cNvSpPr>
          <p:nvPr/>
        </p:nvSpPr>
        <p:spPr>
          <a:xfrm xmlns:a="http://schemas.openxmlformats.org/drawingml/2006/main" rot="0">
            <a:off x="7581900" y="5065830"/>
            <a:ext cx="267593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Membranes / functional beads</a:t>
            </a:r>
          </a:p>
        </p:txBody>
      </p:sp>
      <p:sp>
        <p:nvSpPr>
          <p:cNvPr id="27" name="Figure 1 label 26 line 1">
            <a:extLst xmlns:a="http://schemas.openxmlformats.org/drawingml/2006/main">
              <a:ext uri="{FF2B5EF4-FFF2-40B4-BE49-F238E27FC236}">
                <a16:creationId xmlns:a16="http://schemas.microsoft.com/office/drawing/2014/main" id="{E038FEF1-2CB4-485B-92A6-698DD1889DE9}"/>
              </a:ext>
            </a:extLst>
          </p:cNvPr>
          <p:cNvSpPr>
            <a:spLocks xmlns:a="http://schemas.openxmlformats.org/drawingml/2006/main" noGrp="1"/>
          </p:cNvSpPr>
          <p:nvPr/>
        </p:nvSpPr>
        <p:spPr>
          <a:xfrm xmlns:a="http://schemas.openxmlformats.org/drawingml/2006/main" rot="0">
            <a:off x="6961060" y="5809773"/>
            <a:ext cx="29378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04</a:t>
            </a:r>
          </a:p>
        </p:txBody>
      </p:sp>
      <p:sp>
        <p:nvSpPr>
          <p:cNvPr id="28" name="Figure 1 label 27 line 1">
            <a:extLst xmlns:a="http://schemas.openxmlformats.org/drawingml/2006/main">
              <a:ext uri="{FF2B5EF4-FFF2-40B4-BE49-F238E27FC236}">
                <a16:creationId xmlns:a16="http://schemas.microsoft.com/office/drawing/2014/main" id="{FE7FE6E4-F1C6-4139-B2BD-B8478BD0021A}"/>
              </a:ext>
            </a:extLst>
          </p:cNvPr>
          <p:cNvSpPr>
            <a:spLocks xmlns:a="http://schemas.openxmlformats.org/drawingml/2006/main" noGrp="1"/>
          </p:cNvSpPr>
          <p:nvPr/>
        </p:nvSpPr>
        <p:spPr>
          <a:xfrm xmlns:a="http://schemas.openxmlformats.org/drawingml/2006/main" rot="0">
            <a:off x="7581900" y="5786054"/>
            <a:ext cx="297194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Columns / chromatography resins</a:t>
            </a:r>
          </a:p>
        </p:txBody>
      </p:sp>
      <p:sp>
        <p:nvSpPr>
          <p:cNvPr id="29" name="Figure 1 label 28 line 1">
            <a:extLst xmlns:a="http://schemas.openxmlformats.org/drawingml/2006/main">
              <a:ext uri="{FF2B5EF4-FFF2-40B4-BE49-F238E27FC236}">
                <a16:creationId xmlns:a16="http://schemas.microsoft.com/office/drawing/2014/main" id="{87AF35C1-F5AA-410A-A792-E6EFF3C92277}"/>
              </a:ext>
            </a:extLst>
          </p:cNvPr>
          <p:cNvSpPr>
            <a:spLocks xmlns:a="http://schemas.openxmlformats.org/drawingml/2006/main" noGrp="1"/>
          </p:cNvSpPr>
          <p:nvPr/>
        </p:nvSpPr>
        <p:spPr>
          <a:xfrm xmlns:a="http://schemas.openxmlformats.org/drawingml/2006/main" rot="0">
            <a:off x="6961060" y="6529863"/>
            <a:ext cx="29378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05</a:t>
            </a:r>
          </a:p>
        </p:txBody>
      </p:sp>
      <p:sp>
        <p:nvSpPr>
          <p:cNvPr id="30" name="Figure 1 label 29 line 1">
            <a:extLst xmlns:a="http://schemas.openxmlformats.org/drawingml/2006/main">
              <a:ext uri="{FF2B5EF4-FFF2-40B4-BE49-F238E27FC236}">
                <a16:creationId xmlns:a16="http://schemas.microsoft.com/office/drawing/2014/main" id="{9FDC144B-CB51-45E7-B4EC-8D9CC60F08B5}"/>
              </a:ext>
            </a:extLst>
          </p:cNvPr>
          <p:cNvSpPr>
            <a:spLocks xmlns:a="http://schemas.openxmlformats.org/drawingml/2006/main" noGrp="1"/>
          </p:cNvSpPr>
          <p:nvPr/>
        </p:nvSpPr>
        <p:spPr>
          <a:xfrm xmlns:a="http://schemas.openxmlformats.org/drawingml/2006/main" rot="0">
            <a:off x="7581900" y="6507171"/>
            <a:ext cx="243214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Gels / process components</a:t>
            </a:r>
          </a:p>
        </p:txBody>
      </p:sp>
      <p:sp>
        <p:nvSpPr>
          <p:cNvPr id="31" name="Figure 1 label 30 line 1">
            <a:extLst xmlns:a="http://schemas.openxmlformats.org/drawingml/2006/main">
              <a:ext uri="{FF2B5EF4-FFF2-40B4-BE49-F238E27FC236}">
                <a16:creationId xmlns:a16="http://schemas.microsoft.com/office/drawing/2014/main" id="{D5B6AB11-6933-4345-92FF-CBD504F9D213}"/>
              </a:ext>
            </a:extLst>
          </p:cNvPr>
          <p:cNvSpPr>
            <a:spLocks xmlns:a="http://schemas.openxmlformats.org/drawingml/2006/main" noGrp="1"/>
          </p:cNvSpPr>
          <p:nvPr/>
        </p:nvSpPr>
        <p:spPr>
          <a:xfrm xmlns:a="http://schemas.openxmlformats.org/drawingml/2006/main" rot="0">
            <a:off x="6960870" y="7439711"/>
            <a:ext cx="2770257"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Tests or batches × intensity × price</a:t>
            </a:r>
          </a:p>
        </p:txBody>
      </p:sp>
      <p:sp>
        <p:nvSpPr>
          <p:cNvPr id="32" name="Figure 1 label 31 line 1">
            <a:extLst xmlns:a="http://schemas.openxmlformats.org/drawingml/2006/main">
              <a:ext uri="{FF2B5EF4-FFF2-40B4-BE49-F238E27FC236}">
                <a16:creationId xmlns:a16="http://schemas.microsoft.com/office/drawing/2014/main" id="{B7C25C2A-538A-4E25-845E-E30B87964031}"/>
              </a:ext>
            </a:extLst>
          </p:cNvPr>
          <p:cNvSpPr>
            <a:spLocks xmlns:a="http://schemas.openxmlformats.org/drawingml/2006/main" noGrp="1"/>
          </p:cNvSpPr>
          <p:nvPr/>
        </p:nvSpPr>
        <p:spPr>
          <a:xfrm xmlns:a="http://schemas.openxmlformats.org/drawingml/2006/main" rot="0">
            <a:off x="12513310" y="2417353"/>
            <a:ext cx="2051348" cy="436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750" b="1">
                <a:solidFill>
                  <a:srgbClr val="00355F"/>
                </a:solidFill>
                <a:latin typeface="Arial Unicode MS"/>
                <a:ea typeface="Arial Unicode MS"/>
                <a:cs typeface="Arial Unicode MS"/>
              </a:defRPr>
            </a:defPPr>
          </a:lstStyle>
          <a:p xmlns:a="http://schemas.openxmlformats.org/drawingml/2006/main">
            <a:pPr algn="l">
              <a:lnSpc>
                <a:spcPct val="100000"/>
              </a:lnSpc>
              <a:buNone/>
              <a:defRPr sz="2750" b="1">
                <a:solidFill>
                  <a:srgbClr val="00355F"/>
                </a:solidFill>
                <a:latin typeface="Arial Unicode MS"/>
                <a:ea typeface="Arial Unicode MS"/>
                <a:cs typeface="Arial Unicode MS"/>
              </a:defRPr>
            </a:pPr>
            <a:r>
              <a:rPr sz="2750" b="1">
                <a:solidFill>
                  <a:srgbClr val="00355F"/>
                </a:solidFill>
                <a:latin typeface="Arial Unicode MS"/>
                <a:ea typeface="Arial Unicode MS"/>
                <a:cs typeface="Arial Unicode MS"/>
              </a:rPr>
              <a:t>Instruments</a:t>
            </a:r>
          </a:p>
        </p:txBody>
      </p:sp>
      <p:sp>
        <p:nvSpPr>
          <p:cNvPr id="33" name="Figure 1 label 32 line 1">
            <a:extLst xmlns:a="http://schemas.openxmlformats.org/drawingml/2006/main">
              <a:ext uri="{FF2B5EF4-FFF2-40B4-BE49-F238E27FC236}">
                <a16:creationId xmlns:a16="http://schemas.microsoft.com/office/drawing/2014/main" id="{D5B1BB62-C6BF-4017-824D-A33CF26AA892}"/>
              </a:ext>
            </a:extLst>
          </p:cNvPr>
          <p:cNvSpPr>
            <a:spLocks xmlns:a="http://schemas.openxmlformats.org/drawingml/2006/main" noGrp="1"/>
          </p:cNvSpPr>
          <p:nvPr/>
        </p:nvSpPr>
        <p:spPr>
          <a:xfrm xmlns:a="http://schemas.openxmlformats.org/drawingml/2006/main" rot="0">
            <a:off x="12520612" y="3649503"/>
            <a:ext cx="29378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01</a:t>
            </a:r>
          </a:p>
        </p:txBody>
      </p:sp>
      <p:sp>
        <p:nvSpPr>
          <p:cNvPr id="34" name="Figure 1 label 33 line 1">
            <a:extLst xmlns:a="http://schemas.openxmlformats.org/drawingml/2006/main">
              <a:ext uri="{FF2B5EF4-FFF2-40B4-BE49-F238E27FC236}">
                <a16:creationId xmlns:a16="http://schemas.microsoft.com/office/drawing/2014/main" id="{DDC78615-7DF8-4DCC-967F-BDD015BFC57A}"/>
              </a:ext>
            </a:extLst>
          </p:cNvPr>
          <p:cNvSpPr>
            <a:spLocks xmlns:a="http://schemas.openxmlformats.org/drawingml/2006/main" noGrp="1"/>
          </p:cNvSpPr>
          <p:nvPr/>
        </p:nvSpPr>
        <p:spPr>
          <a:xfrm xmlns:a="http://schemas.openxmlformats.org/drawingml/2006/main" rot="0">
            <a:off x="13141452" y="3626811"/>
            <a:ext cx="252784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Sequencers / liquid handlers</a:t>
            </a:r>
          </a:p>
        </p:txBody>
      </p:sp>
      <p:sp>
        <p:nvSpPr>
          <p:cNvPr id="35" name="Figure 1 label 34 line 1">
            <a:extLst xmlns:a="http://schemas.openxmlformats.org/drawingml/2006/main">
              <a:ext uri="{FF2B5EF4-FFF2-40B4-BE49-F238E27FC236}">
                <a16:creationId xmlns:a16="http://schemas.microsoft.com/office/drawing/2014/main" id="{8384B98F-82E0-48B7-B331-CF1621F5F8D0}"/>
              </a:ext>
            </a:extLst>
          </p:cNvPr>
          <p:cNvSpPr>
            <a:spLocks xmlns:a="http://schemas.openxmlformats.org/drawingml/2006/main" noGrp="1"/>
          </p:cNvSpPr>
          <p:nvPr/>
        </p:nvSpPr>
        <p:spPr>
          <a:xfrm xmlns:a="http://schemas.openxmlformats.org/drawingml/2006/main" rot="0">
            <a:off x="12520612" y="4369593"/>
            <a:ext cx="29378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02</a:t>
            </a:r>
          </a:p>
        </p:txBody>
      </p:sp>
      <p:sp>
        <p:nvSpPr>
          <p:cNvPr id="36" name="Figure 1 label 35 line 1">
            <a:extLst xmlns:a="http://schemas.openxmlformats.org/drawingml/2006/main">
              <a:ext uri="{FF2B5EF4-FFF2-40B4-BE49-F238E27FC236}">
                <a16:creationId xmlns:a16="http://schemas.microsoft.com/office/drawing/2014/main" id="{687CD862-0314-4FF9-8969-4B92F650ECEA}"/>
              </a:ext>
            </a:extLst>
          </p:cNvPr>
          <p:cNvSpPr>
            <a:spLocks xmlns:a="http://schemas.openxmlformats.org/drawingml/2006/main" noGrp="1"/>
          </p:cNvSpPr>
          <p:nvPr/>
        </p:nvSpPr>
        <p:spPr>
          <a:xfrm xmlns:a="http://schemas.openxmlformats.org/drawingml/2006/main" rot="0">
            <a:off x="13141452" y="4346900"/>
            <a:ext cx="299263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LC / LC-MS / mass spectrometers</a:t>
            </a:r>
          </a:p>
        </p:txBody>
      </p:sp>
      <p:sp>
        <p:nvSpPr>
          <p:cNvPr id="37" name="Figure 1 label 36 line 1">
            <a:extLst xmlns:a="http://schemas.openxmlformats.org/drawingml/2006/main">
              <a:ext uri="{FF2B5EF4-FFF2-40B4-BE49-F238E27FC236}">
                <a16:creationId xmlns:a16="http://schemas.microsoft.com/office/drawing/2014/main" id="{1AC9D24E-9A5A-40E3-8012-9A76EBEBAA13}"/>
              </a:ext>
            </a:extLst>
          </p:cNvPr>
          <p:cNvSpPr>
            <a:spLocks xmlns:a="http://schemas.openxmlformats.org/drawingml/2006/main" noGrp="1"/>
          </p:cNvSpPr>
          <p:nvPr/>
        </p:nvSpPr>
        <p:spPr>
          <a:xfrm xmlns:a="http://schemas.openxmlformats.org/drawingml/2006/main" rot="0">
            <a:off x="12520612" y="5089683"/>
            <a:ext cx="29378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03</a:t>
            </a:r>
          </a:p>
        </p:txBody>
      </p:sp>
      <p:sp>
        <p:nvSpPr>
          <p:cNvPr id="38" name="Figure 1 label 37 line 1">
            <a:extLst xmlns:a="http://schemas.openxmlformats.org/drawingml/2006/main">
              <a:ext uri="{FF2B5EF4-FFF2-40B4-BE49-F238E27FC236}">
                <a16:creationId xmlns:a16="http://schemas.microsoft.com/office/drawing/2014/main" id="{569A741E-8067-45CE-92CA-77B0270D5E7C}"/>
              </a:ext>
            </a:extLst>
          </p:cNvPr>
          <p:cNvSpPr>
            <a:spLocks xmlns:a="http://schemas.openxmlformats.org/drawingml/2006/main" noGrp="1"/>
          </p:cNvSpPr>
          <p:nvPr/>
        </p:nvSpPr>
        <p:spPr>
          <a:xfrm xmlns:a="http://schemas.openxmlformats.org/drawingml/2006/main" rot="0">
            <a:off x="13141452" y="5064803"/>
            <a:ext cx="151060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Flow cytometers</a:t>
            </a:r>
          </a:p>
        </p:txBody>
      </p:sp>
      <p:sp>
        <p:nvSpPr>
          <p:cNvPr id="39" name="Figure 1 label 38 line 1">
            <a:extLst xmlns:a="http://schemas.openxmlformats.org/drawingml/2006/main">
              <a:ext uri="{FF2B5EF4-FFF2-40B4-BE49-F238E27FC236}">
                <a16:creationId xmlns:a16="http://schemas.microsoft.com/office/drawing/2014/main" id="{417AD527-B5DB-4E0B-93E2-E9F2CA79EF97}"/>
              </a:ext>
            </a:extLst>
          </p:cNvPr>
          <p:cNvSpPr>
            <a:spLocks xmlns:a="http://schemas.openxmlformats.org/drawingml/2006/main" noGrp="1"/>
          </p:cNvSpPr>
          <p:nvPr/>
        </p:nvSpPr>
        <p:spPr>
          <a:xfrm xmlns:a="http://schemas.openxmlformats.org/drawingml/2006/main" rot="0">
            <a:off x="12520612" y="5809773"/>
            <a:ext cx="29378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04</a:t>
            </a:r>
          </a:p>
        </p:txBody>
      </p:sp>
      <p:sp>
        <p:nvSpPr>
          <p:cNvPr id="40" name="Figure 1 label 39 line 1">
            <a:extLst xmlns:a="http://schemas.openxmlformats.org/drawingml/2006/main">
              <a:ext uri="{FF2B5EF4-FFF2-40B4-BE49-F238E27FC236}">
                <a16:creationId xmlns:a16="http://schemas.microsoft.com/office/drawing/2014/main" id="{2C9CD251-937C-484A-8CA8-0866762F1CEC}"/>
              </a:ext>
            </a:extLst>
          </p:cNvPr>
          <p:cNvSpPr>
            <a:spLocks xmlns:a="http://schemas.openxmlformats.org/drawingml/2006/main" noGrp="1"/>
          </p:cNvSpPr>
          <p:nvPr/>
        </p:nvSpPr>
        <p:spPr>
          <a:xfrm xmlns:a="http://schemas.openxmlformats.org/drawingml/2006/main" rot="0">
            <a:off x="13141452" y="5784892"/>
            <a:ext cx="2675483"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High-content imaging systems</a:t>
            </a:r>
          </a:p>
        </p:txBody>
      </p:sp>
      <p:sp>
        <p:nvSpPr>
          <p:cNvPr id="41" name="Figure 1 label 40 line 1">
            <a:extLst xmlns:a="http://schemas.openxmlformats.org/drawingml/2006/main">
              <a:ext uri="{FF2B5EF4-FFF2-40B4-BE49-F238E27FC236}">
                <a16:creationId xmlns:a16="http://schemas.microsoft.com/office/drawing/2014/main" id="{E25C97C1-2B3D-4C87-9F7B-7E19DF36B30E}"/>
              </a:ext>
            </a:extLst>
          </p:cNvPr>
          <p:cNvSpPr>
            <a:spLocks xmlns:a="http://schemas.openxmlformats.org/drawingml/2006/main" noGrp="1"/>
          </p:cNvSpPr>
          <p:nvPr/>
        </p:nvSpPr>
        <p:spPr>
          <a:xfrm xmlns:a="http://schemas.openxmlformats.org/drawingml/2006/main" rot="0">
            <a:off x="12520612" y="6529863"/>
            <a:ext cx="29378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05</a:t>
            </a:r>
          </a:p>
        </p:txBody>
      </p:sp>
      <p:sp>
        <p:nvSpPr>
          <p:cNvPr id="42" name="Figure 1 label 41 line 1">
            <a:extLst xmlns:a="http://schemas.openxmlformats.org/drawingml/2006/main">
              <a:ext uri="{FF2B5EF4-FFF2-40B4-BE49-F238E27FC236}">
                <a16:creationId xmlns:a16="http://schemas.microsoft.com/office/drawing/2014/main" id="{2B1A6310-AF13-4DCC-9B1B-21A162D30EA2}"/>
              </a:ext>
            </a:extLst>
          </p:cNvPr>
          <p:cNvSpPr>
            <a:spLocks xmlns:a="http://schemas.openxmlformats.org/drawingml/2006/main" noGrp="1"/>
          </p:cNvSpPr>
          <p:nvPr/>
        </p:nvSpPr>
        <p:spPr>
          <a:xfrm xmlns:a="http://schemas.openxmlformats.org/drawingml/2006/main" rot="0">
            <a:off x="13141452" y="6506010"/>
            <a:ext cx="219893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Cell-culture workstations</a:t>
            </a:r>
          </a:p>
        </p:txBody>
      </p:sp>
      <p:sp>
        <p:nvSpPr>
          <p:cNvPr id="43" name="Figure 1 label 42 line 1">
            <a:extLst xmlns:a="http://schemas.openxmlformats.org/drawingml/2006/main">
              <a:ext uri="{FF2B5EF4-FFF2-40B4-BE49-F238E27FC236}">
                <a16:creationId xmlns:a16="http://schemas.microsoft.com/office/drawing/2014/main" id="{346C3D1C-21D4-4891-ABD6-909FD8758EEF}"/>
              </a:ext>
            </a:extLst>
          </p:cNvPr>
          <p:cNvSpPr>
            <a:spLocks xmlns:a="http://schemas.openxmlformats.org/drawingml/2006/main" noGrp="1"/>
          </p:cNvSpPr>
          <p:nvPr/>
        </p:nvSpPr>
        <p:spPr>
          <a:xfrm xmlns:a="http://schemas.openxmlformats.org/drawingml/2006/main" rot="0">
            <a:off x="12520422" y="7440635"/>
            <a:ext cx="3275231"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New installations + replacement + service</a:t>
            </a:r>
          </a:p>
        </p:txBody>
      </p:sp>
      <p:sp>
        <p:nvSpPr>
          <p:cNvPr id="44" name="Figure 1 label 43 line 1">
            <a:extLst xmlns:a="http://schemas.openxmlformats.org/drawingml/2006/main">
              <a:ext uri="{FF2B5EF4-FFF2-40B4-BE49-F238E27FC236}">
                <a16:creationId xmlns:a16="http://schemas.microsoft.com/office/drawing/2014/main" id="{A4E88B86-77D3-4AD0-A3F2-9DC07FB2FC89}"/>
              </a:ext>
            </a:extLst>
          </p:cNvPr>
          <p:cNvSpPr>
            <a:spLocks xmlns:a="http://schemas.openxmlformats.org/drawingml/2006/main" noGrp="1"/>
          </p:cNvSpPr>
          <p:nvPr/>
        </p:nvSpPr>
        <p:spPr>
          <a:xfrm xmlns:a="http://schemas.openxmlformats.org/drawingml/2006/main" rot="0">
            <a:off x="5393531" y="8413000"/>
            <a:ext cx="7500938"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75" b="1">
                <a:solidFill>
                  <a:srgbClr val="00355F"/>
                </a:solidFill>
                <a:latin typeface="Arial Unicode MS"/>
                <a:ea typeface="Arial Unicode MS"/>
                <a:cs typeface="Arial Unicode MS"/>
              </a:defRPr>
            </a:defPPr>
          </a:lstStyle>
          <a:p xmlns:a="http://schemas.openxmlformats.org/drawingml/2006/main">
            <a:pPr algn="ctr">
              <a:lnSpc>
                <a:spcPct val="100000"/>
              </a:lnSpc>
              <a:buNone/>
              <a:defRPr sz="1875" b="1">
                <a:solidFill>
                  <a:srgbClr val="00355F"/>
                </a:solidFill>
                <a:latin typeface="Arial Unicode MS"/>
                <a:ea typeface="Arial Unicode MS"/>
                <a:cs typeface="Arial Unicode MS"/>
              </a:defRPr>
            </a:pPr>
            <a:r>
              <a:rPr sz="1875" b="1">
                <a:solidFill>
                  <a:srgbClr val="00355F"/>
                </a:solidFill>
                <a:latin typeface="Arial Unicode MS"/>
                <a:ea typeface="Arial Unicode MS"/>
                <a:cs typeface="Arial Unicode MS"/>
              </a:rPr>
              <a:t>Use one product taxonomy; retain the scope of each market estimate.</a:t>
            </a:r>
          </a:p>
        </p:txBody>
      </p:sp>
    </p:spTree>
    <p:extLst>
      <p:ext uri="{BB962C8B-B14F-4D97-AF65-F5344CB8AC3E}">
        <p14:creationId xmlns:p14="http://schemas.microsoft.com/office/powerpoint/2010/main" val="180819108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1" name="">
            <a:extLst xmlns:a="http://schemas.openxmlformats.org/drawingml/2006/main">
              <a:ext uri="{FF2B5EF4-FFF2-40B4-BE49-F238E27FC236}">
                <a16:creationId xmlns:a16="http://schemas.microsoft.com/office/drawing/2014/main" id="{0F5C106F-4F29-44A7-81BF-8DAD1829AD6F}"/>
              </a:ext>
            </a:extLst>
          </p:cNvPr>
          <p:cNvPicPr>
            <a:picLocks xmlns:a="http://schemas.openxmlformats.org/drawingml/2006/main" noChangeAspect="1"/>
          </p:cNvPicPr>
          <p:nvPr/>
        </p:nvPicPr>
        <p:blipFill>
          <a:blip xmlns:r="http://schemas.openxmlformats.org/officeDocument/2006/relationships" xmlns:a="http://schemas.openxmlformats.org/drawingml/2006/main" r:embed="Rba939d319ad942e3"/>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Figure 2 label 1 line 1">
            <a:extLst xmlns:a="http://schemas.openxmlformats.org/drawingml/2006/main">
              <a:ext uri="{FF2B5EF4-FFF2-40B4-BE49-F238E27FC236}">
                <a16:creationId xmlns:a16="http://schemas.microsoft.com/office/drawing/2014/main" id="{A4197BFF-4B95-4652-9701-65D8DDA25F70}"/>
              </a:ext>
            </a:extLst>
          </p:cNvPr>
          <p:cNvSpPr>
            <a:spLocks xmlns:a="http://schemas.openxmlformats.org/drawingml/2006/main" noGrp="1"/>
          </p:cNvSpPr>
          <p:nvPr/>
        </p:nvSpPr>
        <p:spPr>
          <a:xfrm xmlns:a="http://schemas.openxmlformats.org/drawingml/2006/main" rot="0">
            <a:off x="3894019" y="7907353"/>
            <a:ext cx="1256209" cy="277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75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750" b="0">
                <a:solidFill>
                  <a:srgbClr val="00355F"/>
                </a:solidFill>
                <a:latin typeface="Arial Unicode MS"/>
                <a:ea typeface="Arial Unicode MS"/>
                <a:cs typeface="Arial Unicode MS"/>
              </a:defRPr>
            </a:pPr>
            <a:r>
              <a:rPr sz="1750" b="0">
                <a:solidFill>
                  <a:srgbClr val="00355F"/>
                </a:solidFill>
                <a:latin typeface="Arial Unicode MS"/>
                <a:ea typeface="Arial Unicode MS"/>
                <a:cs typeface="Arial Unicode MS"/>
              </a:rPr>
              <a:t>Global LST</a:t>
            </a:r>
          </a:p>
        </p:txBody>
      </p:sp>
      <p:sp>
        <p:nvSpPr>
          <p:cNvPr id="3" name="Figure 2 label 2 line 1">
            <a:extLst xmlns:a="http://schemas.openxmlformats.org/drawingml/2006/main">
              <a:ext uri="{FF2B5EF4-FFF2-40B4-BE49-F238E27FC236}">
                <a16:creationId xmlns:a16="http://schemas.microsoft.com/office/drawing/2014/main" id="{7295F06A-DEF7-4618-89FE-A69286C6E6A0}"/>
              </a:ext>
            </a:extLst>
          </p:cNvPr>
          <p:cNvSpPr>
            <a:spLocks xmlns:a="http://schemas.openxmlformats.org/drawingml/2006/main" noGrp="1"/>
          </p:cNvSpPr>
          <p:nvPr/>
        </p:nvSpPr>
        <p:spPr>
          <a:xfrm xmlns:a="http://schemas.openxmlformats.org/drawingml/2006/main" rot="0">
            <a:off x="8413774" y="7907353"/>
            <a:ext cx="1194445" cy="277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75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750" b="0">
                <a:solidFill>
                  <a:srgbClr val="00355F"/>
                </a:solidFill>
                <a:latin typeface="Arial Unicode MS"/>
                <a:ea typeface="Arial Unicode MS"/>
                <a:cs typeface="Arial Unicode MS"/>
              </a:defRPr>
            </a:pPr>
            <a:r>
              <a:rPr sz="1750" b="0">
                <a:solidFill>
                  <a:srgbClr val="00355F"/>
                </a:solidFill>
                <a:latin typeface="Arial Unicode MS"/>
                <a:ea typeface="Arial Unicode MS"/>
                <a:cs typeface="Arial Unicode MS"/>
              </a:rPr>
              <a:t>China LST</a:t>
            </a:r>
          </a:p>
        </p:txBody>
      </p:sp>
      <p:sp>
        <p:nvSpPr>
          <p:cNvPr id="4" name="Figure 2 label 3 line 1">
            <a:extLst xmlns:a="http://schemas.openxmlformats.org/drawingml/2006/main">
              <a:ext uri="{FF2B5EF4-FFF2-40B4-BE49-F238E27FC236}">
                <a16:creationId xmlns:a16="http://schemas.microsoft.com/office/drawing/2014/main" id="{5960172E-871D-46A1-8574-1652947E32D4}"/>
              </a:ext>
            </a:extLst>
          </p:cNvPr>
          <p:cNvSpPr>
            <a:spLocks xmlns:a="http://schemas.openxmlformats.org/drawingml/2006/main" noGrp="1"/>
          </p:cNvSpPr>
          <p:nvPr/>
        </p:nvSpPr>
        <p:spPr>
          <a:xfrm xmlns:a="http://schemas.openxmlformats.org/drawingml/2006/main" rot="0">
            <a:off x="1440259" y="7697703"/>
            <a:ext cx="22979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0</a:t>
            </a:r>
          </a:p>
        </p:txBody>
      </p:sp>
      <p:sp>
        <p:nvSpPr>
          <p:cNvPr id="5" name="Figure 2 label 4 line 1">
            <a:extLst xmlns:a="http://schemas.openxmlformats.org/drawingml/2006/main">
              <a:ext uri="{FF2B5EF4-FFF2-40B4-BE49-F238E27FC236}">
                <a16:creationId xmlns:a16="http://schemas.microsoft.com/office/drawing/2014/main" id="{1DC4D455-AF45-47F1-A792-84487AA13248}"/>
              </a:ext>
            </a:extLst>
          </p:cNvPr>
          <p:cNvSpPr>
            <a:spLocks xmlns:a="http://schemas.openxmlformats.org/drawingml/2006/main" noGrp="1"/>
          </p:cNvSpPr>
          <p:nvPr/>
        </p:nvSpPr>
        <p:spPr>
          <a:xfrm xmlns:a="http://schemas.openxmlformats.org/drawingml/2006/main" rot="0">
            <a:off x="1334294" y="6523643"/>
            <a:ext cx="33575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10</a:t>
            </a:r>
          </a:p>
        </p:txBody>
      </p:sp>
      <p:sp>
        <p:nvSpPr>
          <p:cNvPr id="6" name="Figure 2 label 5 line 1">
            <a:extLst xmlns:a="http://schemas.openxmlformats.org/drawingml/2006/main">
              <a:ext uri="{FF2B5EF4-FFF2-40B4-BE49-F238E27FC236}">
                <a16:creationId xmlns:a16="http://schemas.microsoft.com/office/drawing/2014/main" id="{83E17566-00B4-414F-8C68-FFBE174C872F}"/>
              </a:ext>
            </a:extLst>
          </p:cNvPr>
          <p:cNvSpPr>
            <a:spLocks xmlns:a="http://schemas.openxmlformats.org/drawingml/2006/main" noGrp="1"/>
          </p:cNvSpPr>
          <p:nvPr/>
        </p:nvSpPr>
        <p:spPr>
          <a:xfrm xmlns:a="http://schemas.openxmlformats.org/drawingml/2006/main" rot="0">
            <a:off x="1334294" y="5349584"/>
            <a:ext cx="33575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20</a:t>
            </a:r>
          </a:p>
        </p:txBody>
      </p:sp>
      <p:sp>
        <p:nvSpPr>
          <p:cNvPr id="7" name="Figure 2 label 6 line 1">
            <a:extLst xmlns:a="http://schemas.openxmlformats.org/drawingml/2006/main">
              <a:ext uri="{FF2B5EF4-FFF2-40B4-BE49-F238E27FC236}">
                <a16:creationId xmlns:a16="http://schemas.microsoft.com/office/drawing/2014/main" id="{CEF87B25-B866-4A44-B34A-136030582375}"/>
              </a:ext>
            </a:extLst>
          </p:cNvPr>
          <p:cNvSpPr>
            <a:spLocks xmlns:a="http://schemas.openxmlformats.org/drawingml/2006/main" noGrp="1"/>
          </p:cNvSpPr>
          <p:nvPr/>
        </p:nvSpPr>
        <p:spPr>
          <a:xfrm xmlns:a="http://schemas.openxmlformats.org/drawingml/2006/main" rot="0">
            <a:off x="1334294" y="4175524"/>
            <a:ext cx="33575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30</a:t>
            </a:r>
          </a:p>
        </p:txBody>
      </p:sp>
      <p:sp>
        <p:nvSpPr>
          <p:cNvPr id="8" name="Figure 2 label 7 line 1">
            <a:extLst xmlns:a="http://schemas.openxmlformats.org/drawingml/2006/main">
              <a:ext uri="{FF2B5EF4-FFF2-40B4-BE49-F238E27FC236}">
                <a16:creationId xmlns:a16="http://schemas.microsoft.com/office/drawing/2014/main" id="{58B82DED-A1D5-4CD4-B7AA-63D61638A5AA}"/>
              </a:ext>
            </a:extLst>
          </p:cNvPr>
          <p:cNvSpPr>
            <a:spLocks xmlns:a="http://schemas.openxmlformats.org/drawingml/2006/main" noGrp="1"/>
          </p:cNvSpPr>
          <p:nvPr/>
        </p:nvSpPr>
        <p:spPr>
          <a:xfrm xmlns:a="http://schemas.openxmlformats.org/drawingml/2006/main" rot="0">
            <a:off x="1334294" y="3001464"/>
            <a:ext cx="33575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40</a:t>
            </a:r>
          </a:p>
        </p:txBody>
      </p:sp>
      <p:sp>
        <p:nvSpPr>
          <p:cNvPr id="9" name="Figure 2 label 8 line 1">
            <a:extLst xmlns:a="http://schemas.openxmlformats.org/drawingml/2006/main">
              <a:ext uri="{FF2B5EF4-FFF2-40B4-BE49-F238E27FC236}">
                <a16:creationId xmlns:a16="http://schemas.microsoft.com/office/drawing/2014/main" id="{8B12A283-F7BA-4ADF-80F0-90B8D14C35BC}"/>
              </a:ext>
            </a:extLst>
          </p:cNvPr>
          <p:cNvSpPr>
            <a:spLocks xmlns:a="http://schemas.openxmlformats.org/drawingml/2006/main" noGrp="1"/>
          </p:cNvSpPr>
          <p:nvPr/>
        </p:nvSpPr>
        <p:spPr>
          <a:xfrm xmlns:a="http://schemas.openxmlformats.org/drawingml/2006/main" rot="16200000">
            <a:off x="962600" y="4970145"/>
            <a:ext cx="706338"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US$bn</a:t>
            </a:r>
          </a:p>
        </p:txBody>
      </p:sp>
      <p:sp>
        <p:nvSpPr>
          <p:cNvPr id="10" name="Figure 2 label 9 line 1">
            <a:extLst xmlns:a="http://schemas.openxmlformats.org/drawingml/2006/main">
              <a:ext uri="{FF2B5EF4-FFF2-40B4-BE49-F238E27FC236}">
                <a16:creationId xmlns:a16="http://schemas.microsoft.com/office/drawing/2014/main" id="{3476D7CE-E103-437B-BC32-5D10B87DDF29}"/>
              </a:ext>
            </a:extLst>
          </p:cNvPr>
          <p:cNvSpPr>
            <a:spLocks xmlns:a="http://schemas.openxmlformats.org/drawingml/2006/main" noGrp="1"/>
          </p:cNvSpPr>
          <p:nvPr/>
        </p:nvSpPr>
        <p:spPr>
          <a:xfrm xmlns:a="http://schemas.openxmlformats.org/drawingml/2006/main" rot="0">
            <a:off x="4171807" y="6049458"/>
            <a:ext cx="700633" cy="3373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125" b="1">
                <a:solidFill>
                  <a:srgbClr val="FFFFFF"/>
                </a:solidFill>
                <a:latin typeface="Arial Unicode MS"/>
                <a:ea typeface="Arial Unicode MS"/>
                <a:cs typeface="Arial Unicode MS"/>
              </a:defRPr>
            </a:defPPr>
          </a:lstStyle>
          <a:p xmlns:a="http://schemas.openxmlformats.org/drawingml/2006/main">
            <a:pPr algn="ctr">
              <a:lnSpc>
                <a:spcPct val="100000"/>
              </a:lnSpc>
              <a:buNone/>
              <a:defRPr sz="2125" b="1">
                <a:solidFill>
                  <a:srgbClr val="FFFFFF"/>
                </a:solidFill>
                <a:latin typeface="Arial Unicode MS"/>
                <a:ea typeface="Arial Unicode MS"/>
                <a:cs typeface="Arial Unicode MS"/>
              </a:defRPr>
            </a:pPr>
            <a:r>
              <a:rPr sz="2125" b="1">
                <a:solidFill>
                  <a:srgbClr val="FFFFFF"/>
                </a:solidFill>
                <a:latin typeface="Arial Unicode MS"/>
                <a:ea typeface="Arial Unicode MS"/>
                <a:cs typeface="Arial Unicode MS"/>
              </a:rPr>
              <a:t>26.4</a:t>
            </a:r>
          </a:p>
        </p:txBody>
      </p:sp>
      <p:sp>
        <p:nvSpPr>
          <p:cNvPr id="11" name="Figure 2 label 10 line 1">
            <a:extLst xmlns:a="http://schemas.openxmlformats.org/drawingml/2006/main">
              <a:ext uri="{FF2B5EF4-FFF2-40B4-BE49-F238E27FC236}">
                <a16:creationId xmlns:a16="http://schemas.microsoft.com/office/drawing/2014/main" id="{D63A3999-7E53-42C2-8580-8346F35E6142}"/>
              </a:ext>
            </a:extLst>
          </p:cNvPr>
          <p:cNvSpPr>
            <a:spLocks xmlns:a="http://schemas.openxmlformats.org/drawingml/2006/main" noGrp="1"/>
          </p:cNvSpPr>
          <p:nvPr/>
        </p:nvSpPr>
        <p:spPr>
          <a:xfrm xmlns:a="http://schemas.openxmlformats.org/drawingml/2006/main" rot="0">
            <a:off x="4212933" y="3645088"/>
            <a:ext cx="618381"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7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875" b="0">
                <a:solidFill>
                  <a:srgbClr val="00355F"/>
                </a:solidFill>
                <a:latin typeface="Arial Unicode MS"/>
                <a:ea typeface="Arial Unicode MS"/>
                <a:cs typeface="Arial Unicode MS"/>
              </a:defRPr>
            </a:pPr>
            <a:r>
              <a:rPr sz="1875" b="0">
                <a:solidFill>
                  <a:srgbClr val="00355F"/>
                </a:solidFill>
                <a:latin typeface="Arial Unicode MS"/>
                <a:ea typeface="Arial Unicode MS"/>
                <a:cs typeface="Arial Unicode MS"/>
              </a:rPr>
              <a:t>15.1</a:t>
            </a:r>
          </a:p>
        </p:txBody>
      </p:sp>
      <p:sp>
        <p:nvSpPr>
          <p:cNvPr id="12" name="Figure 2 label 11 line 1">
            <a:extLst xmlns:a="http://schemas.openxmlformats.org/drawingml/2006/main">
              <a:ext uri="{FF2B5EF4-FFF2-40B4-BE49-F238E27FC236}">
                <a16:creationId xmlns:a16="http://schemas.microsoft.com/office/drawing/2014/main" id="{7E7F8A1B-A06D-4327-B5F9-844A22000EBE}"/>
              </a:ext>
            </a:extLst>
          </p:cNvPr>
          <p:cNvSpPr>
            <a:spLocks xmlns:a="http://schemas.openxmlformats.org/drawingml/2006/main" noGrp="1"/>
          </p:cNvSpPr>
          <p:nvPr/>
        </p:nvSpPr>
        <p:spPr>
          <a:xfrm xmlns:a="http://schemas.openxmlformats.org/drawingml/2006/main" rot="0">
            <a:off x="4109969" y="2416499"/>
            <a:ext cx="824309" cy="39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500" b="1">
                <a:solidFill>
                  <a:srgbClr val="00355F"/>
                </a:solidFill>
                <a:latin typeface="Arial Unicode MS"/>
                <a:ea typeface="Arial Unicode MS"/>
                <a:cs typeface="Arial Unicode MS"/>
              </a:defRPr>
            </a:defPPr>
          </a:lstStyle>
          <a:p xmlns:a="http://schemas.openxmlformats.org/drawingml/2006/main">
            <a:pPr algn="ctr">
              <a:lnSpc>
                <a:spcPct val="100000"/>
              </a:lnSpc>
              <a:buNone/>
              <a:defRPr sz="2500" b="1">
                <a:solidFill>
                  <a:srgbClr val="00355F"/>
                </a:solidFill>
                <a:latin typeface="Arial Unicode MS"/>
                <a:ea typeface="Arial Unicode MS"/>
                <a:cs typeface="Arial Unicode MS"/>
              </a:defRPr>
            </a:pPr>
            <a:r>
              <a:rPr sz="2500" b="1">
                <a:solidFill>
                  <a:srgbClr val="00355F"/>
                </a:solidFill>
                <a:latin typeface="Arial Unicode MS"/>
                <a:ea typeface="Arial Unicode MS"/>
                <a:cs typeface="Arial Unicode MS"/>
              </a:rPr>
              <a:t>41.5</a:t>
            </a:r>
          </a:p>
        </p:txBody>
      </p:sp>
      <p:sp>
        <p:nvSpPr>
          <p:cNvPr id="13" name="Figure 2 label 12 line 1">
            <a:extLst xmlns:a="http://schemas.openxmlformats.org/drawingml/2006/main">
              <a:ext uri="{FF2B5EF4-FFF2-40B4-BE49-F238E27FC236}">
                <a16:creationId xmlns:a16="http://schemas.microsoft.com/office/drawing/2014/main" id="{861C2440-7B95-498B-89EF-0059A6477DF8}"/>
              </a:ext>
            </a:extLst>
          </p:cNvPr>
          <p:cNvSpPr>
            <a:spLocks xmlns:a="http://schemas.openxmlformats.org/drawingml/2006/main" noGrp="1"/>
          </p:cNvSpPr>
          <p:nvPr/>
        </p:nvSpPr>
        <p:spPr>
          <a:xfrm xmlns:a="http://schemas.openxmlformats.org/drawingml/2006/main" rot="0">
            <a:off x="8735690" y="7329182"/>
            <a:ext cx="550614" cy="3373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125" b="1">
                <a:solidFill>
                  <a:srgbClr val="FFFFFF"/>
                </a:solidFill>
                <a:latin typeface="Arial Unicode MS"/>
                <a:ea typeface="Arial Unicode MS"/>
                <a:cs typeface="Arial Unicode MS"/>
              </a:defRPr>
            </a:defPPr>
          </a:lstStyle>
          <a:p xmlns:a="http://schemas.openxmlformats.org/drawingml/2006/main">
            <a:pPr algn="ctr">
              <a:lnSpc>
                <a:spcPct val="100000"/>
              </a:lnSpc>
              <a:buNone/>
              <a:defRPr sz="2125" b="1">
                <a:solidFill>
                  <a:srgbClr val="FFFFFF"/>
                </a:solidFill>
                <a:latin typeface="Arial Unicode MS"/>
                <a:ea typeface="Arial Unicode MS"/>
                <a:cs typeface="Arial Unicode MS"/>
              </a:defRPr>
            </a:pPr>
            <a:r>
              <a:rPr sz="2125" b="1">
                <a:solidFill>
                  <a:srgbClr val="FFFFFF"/>
                </a:solidFill>
                <a:latin typeface="Arial Unicode MS"/>
                <a:ea typeface="Arial Unicode MS"/>
                <a:cs typeface="Arial Unicode MS"/>
              </a:rPr>
              <a:t>4.6</a:t>
            </a:r>
          </a:p>
        </p:txBody>
      </p:sp>
      <p:sp>
        <p:nvSpPr>
          <p:cNvPr id="14" name="Figure 2 label 13 line 1">
            <a:extLst xmlns:a="http://schemas.openxmlformats.org/drawingml/2006/main">
              <a:ext uri="{FF2B5EF4-FFF2-40B4-BE49-F238E27FC236}">
                <a16:creationId xmlns:a16="http://schemas.microsoft.com/office/drawing/2014/main" id="{1F05DCA2-1DFA-4278-817A-9F33E9B66523}"/>
              </a:ext>
            </a:extLst>
          </p:cNvPr>
          <p:cNvSpPr>
            <a:spLocks xmlns:a="http://schemas.openxmlformats.org/drawingml/2006/main" noGrp="1"/>
          </p:cNvSpPr>
          <p:nvPr/>
        </p:nvSpPr>
        <p:spPr>
          <a:xfrm xmlns:a="http://schemas.openxmlformats.org/drawingml/2006/main" rot="0">
            <a:off x="8768035" y="6908974"/>
            <a:ext cx="485924"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7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875" b="0">
                <a:solidFill>
                  <a:srgbClr val="00355F"/>
                </a:solidFill>
                <a:latin typeface="Arial Unicode MS"/>
                <a:ea typeface="Arial Unicode MS"/>
                <a:cs typeface="Arial Unicode MS"/>
              </a:defRPr>
            </a:pPr>
            <a:r>
              <a:rPr sz="1875" b="0">
                <a:solidFill>
                  <a:srgbClr val="00355F"/>
                </a:solidFill>
                <a:latin typeface="Arial Unicode MS"/>
                <a:ea typeface="Arial Unicode MS"/>
                <a:cs typeface="Arial Unicode MS"/>
              </a:rPr>
              <a:t>3.1</a:t>
            </a:r>
          </a:p>
        </p:txBody>
      </p:sp>
      <p:sp>
        <p:nvSpPr>
          <p:cNvPr id="15" name="Figure 2 label 14 line 1">
            <a:extLst xmlns:a="http://schemas.openxmlformats.org/drawingml/2006/main">
              <a:ext uri="{FF2B5EF4-FFF2-40B4-BE49-F238E27FC236}">
                <a16:creationId xmlns:a16="http://schemas.microsoft.com/office/drawing/2014/main" id="{F3CC40CF-B127-490B-A597-BD229CEFF75D}"/>
              </a:ext>
            </a:extLst>
          </p:cNvPr>
          <p:cNvSpPr>
            <a:spLocks xmlns:a="http://schemas.openxmlformats.org/drawingml/2006/main" noGrp="1"/>
          </p:cNvSpPr>
          <p:nvPr/>
        </p:nvSpPr>
        <p:spPr>
          <a:xfrm xmlns:a="http://schemas.openxmlformats.org/drawingml/2006/main" rot="0">
            <a:off x="8687098" y="6384822"/>
            <a:ext cx="647799" cy="39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500" b="1">
                <a:solidFill>
                  <a:srgbClr val="00355F"/>
                </a:solidFill>
                <a:latin typeface="Arial Unicode MS"/>
                <a:ea typeface="Arial Unicode MS"/>
                <a:cs typeface="Arial Unicode MS"/>
              </a:defRPr>
            </a:defPPr>
          </a:lstStyle>
          <a:p xmlns:a="http://schemas.openxmlformats.org/drawingml/2006/main">
            <a:pPr algn="ctr">
              <a:lnSpc>
                <a:spcPct val="100000"/>
              </a:lnSpc>
              <a:buNone/>
              <a:defRPr sz="2500" b="1">
                <a:solidFill>
                  <a:srgbClr val="00355F"/>
                </a:solidFill>
                <a:latin typeface="Arial Unicode MS"/>
                <a:ea typeface="Arial Unicode MS"/>
                <a:cs typeface="Arial Unicode MS"/>
              </a:defRPr>
            </a:pPr>
            <a:r>
              <a:rPr sz="2500" b="1">
                <a:solidFill>
                  <a:srgbClr val="00355F"/>
                </a:solidFill>
                <a:latin typeface="Arial Unicode MS"/>
                <a:ea typeface="Arial Unicode MS"/>
                <a:cs typeface="Arial Unicode MS"/>
              </a:rPr>
              <a:t>7.7</a:t>
            </a:r>
          </a:p>
        </p:txBody>
      </p:sp>
      <p:sp>
        <p:nvSpPr>
          <p:cNvPr id="16" name="Figure 2 label 15 line 1">
            <a:extLst xmlns:a="http://schemas.openxmlformats.org/drawingml/2006/main">
              <a:ext uri="{FF2B5EF4-FFF2-40B4-BE49-F238E27FC236}">
                <a16:creationId xmlns:a16="http://schemas.microsoft.com/office/drawing/2014/main" id="{EED19EC2-13EE-4C8B-AD3B-3FD830B8ACD7}"/>
              </a:ext>
            </a:extLst>
          </p:cNvPr>
          <p:cNvSpPr>
            <a:spLocks xmlns:a="http://schemas.openxmlformats.org/drawingml/2006/main" noGrp="1"/>
          </p:cNvSpPr>
          <p:nvPr/>
        </p:nvSpPr>
        <p:spPr>
          <a:xfrm xmlns:a="http://schemas.openxmlformats.org/drawingml/2006/main" rot="0">
            <a:off x="2438876" y="2096130"/>
            <a:ext cx="2258169"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0000"/>
                </a:solidFill>
                <a:latin typeface="Arial Unicode MS"/>
                <a:ea typeface="Arial Unicode MS"/>
                <a:cs typeface="Arial Unicode MS"/>
              </a:defRPr>
            </a:defPPr>
          </a:lstStyle>
          <a:p xmlns:a="http://schemas.openxmlformats.org/drawingml/2006/main">
            <a:pPr algn="l">
              <a:lnSpc>
                <a:spcPct val="100000"/>
              </a:lnSpc>
              <a:buNone/>
              <a:defRPr sz="1313" b="0">
                <a:solidFill>
                  <a:srgbClr val="000000"/>
                </a:solidFill>
                <a:latin typeface="Arial Unicode MS"/>
                <a:ea typeface="Arial Unicode MS"/>
                <a:cs typeface="Arial Unicode MS"/>
              </a:defRPr>
            </a:pPr>
            <a:r>
              <a:rPr sz="1313" b="0">
                <a:solidFill>
                  <a:srgbClr val="000000"/>
                </a:solidFill>
                <a:latin typeface="Arial Unicode MS"/>
                <a:ea typeface="Arial Unicode MS"/>
                <a:cs typeface="Arial Unicode MS"/>
              </a:rPr>
              <a:t>Research biological reagents</a:t>
            </a:r>
          </a:p>
        </p:txBody>
      </p:sp>
      <p:sp>
        <p:nvSpPr>
          <p:cNvPr id="17" name="Figure 2 label 16 line 1">
            <a:extLst xmlns:a="http://schemas.openxmlformats.org/drawingml/2006/main">
              <a:ext uri="{FF2B5EF4-FFF2-40B4-BE49-F238E27FC236}">
                <a16:creationId xmlns:a16="http://schemas.microsoft.com/office/drawing/2014/main" id="{FD26979C-3BE6-4136-84A3-2BDD6D23B698}"/>
              </a:ext>
            </a:extLst>
          </p:cNvPr>
          <p:cNvSpPr>
            <a:spLocks xmlns:a="http://schemas.openxmlformats.org/drawingml/2006/main" noGrp="1"/>
          </p:cNvSpPr>
          <p:nvPr/>
        </p:nvSpPr>
        <p:spPr>
          <a:xfrm xmlns:a="http://schemas.openxmlformats.org/drawingml/2006/main" rot="0">
            <a:off x="5388516" y="2096130"/>
            <a:ext cx="3049935"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0000"/>
                </a:solidFill>
                <a:latin typeface="Arial Unicode MS"/>
                <a:ea typeface="Arial Unicode MS"/>
                <a:cs typeface="Arial Unicode MS"/>
              </a:defRPr>
            </a:defPPr>
          </a:lstStyle>
          <a:p xmlns:a="http://schemas.openxmlformats.org/drawingml/2006/main">
            <a:pPr algn="l">
              <a:lnSpc>
                <a:spcPct val="100000"/>
              </a:lnSpc>
              <a:buNone/>
              <a:defRPr sz="1313" b="0">
                <a:solidFill>
                  <a:srgbClr val="000000"/>
                </a:solidFill>
                <a:latin typeface="Arial Unicode MS"/>
                <a:ea typeface="Arial Unicode MS"/>
                <a:cs typeface="Arial Unicode MS"/>
              </a:defRPr>
            </a:pPr>
            <a:r>
              <a:rPr sz="1313" b="0">
                <a:solidFill>
                  <a:srgbClr val="000000"/>
                </a:solidFill>
                <a:latin typeface="Arial Unicode MS"/>
                <a:ea typeface="Arial Unicode MS"/>
                <a:cs typeface="Arial Unicode MS"/>
              </a:rPr>
              <a:t>Other tools: instruments + consumables</a:t>
            </a:r>
          </a:p>
        </p:txBody>
      </p:sp>
      <p:sp>
        <p:nvSpPr>
          <p:cNvPr id="18" name="Figure 2 label 17 line 1">
            <a:extLst xmlns:a="http://schemas.openxmlformats.org/drawingml/2006/main">
              <a:ext uri="{FF2B5EF4-FFF2-40B4-BE49-F238E27FC236}">
                <a16:creationId xmlns:a16="http://schemas.microsoft.com/office/drawing/2014/main" id="{9F2817FE-D15F-4901-96A6-56D75770FBA2}"/>
              </a:ext>
            </a:extLst>
          </p:cNvPr>
          <p:cNvSpPr>
            <a:spLocks xmlns:a="http://schemas.openxmlformats.org/drawingml/2006/main" noGrp="1"/>
          </p:cNvSpPr>
          <p:nvPr/>
        </p:nvSpPr>
        <p:spPr>
          <a:xfrm xmlns:a="http://schemas.openxmlformats.org/drawingml/2006/main" rot="0">
            <a:off x="991870" y="421920"/>
            <a:ext cx="5409654" cy="436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750" b="1">
                <a:solidFill>
                  <a:srgbClr val="00355F"/>
                </a:solidFill>
                <a:latin typeface="Arial Unicode MS"/>
                <a:ea typeface="Arial Unicode MS"/>
                <a:cs typeface="Arial Unicode MS"/>
              </a:defRPr>
            </a:defPPr>
          </a:lstStyle>
          <a:p xmlns:a="http://schemas.openxmlformats.org/drawingml/2006/main">
            <a:pPr algn="l">
              <a:lnSpc>
                <a:spcPct val="100000"/>
              </a:lnSpc>
              <a:buNone/>
              <a:defRPr sz="2750" b="1">
                <a:solidFill>
                  <a:srgbClr val="00355F"/>
                </a:solidFill>
                <a:latin typeface="Arial Unicode MS"/>
                <a:ea typeface="Arial Unicode MS"/>
                <a:cs typeface="Arial Unicode MS"/>
              </a:defRPr>
            </a:pPr>
            <a:r>
              <a:rPr sz="2750" b="1">
                <a:solidFill>
                  <a:srgbClr val="00355F"/>
                </a:solidFill>
                <a:latin typeface="Arial Unicode MS"/>
                <a:ea typeface="Arial Unicode MS"/>
                <a:cs typeface="Arial Unicode MS"/>
              </a:rPr>
              <a:t>02  China and global LST markets</a:t>
            </a:r>
          </a:p>
        </p:txBody>
      </p:sp>
      <p:sp>
        <p:nvSpPr>
          <p:cNvPr id="19" name="Figure 2 label 18 line 1">
            <a:extLst xmlns:a="http://schemas.openxmlformats.org/drawingml/2006/main">
              <a:ext uri="{FF2B5EF4-FFF2-40B4-BE49-F238E27FC236}">
                <a16:creationId xmlns:a16="http://schemas.microsoft.com/office/drawing/2014/main" id="{22E5A607-CEB3-4558-81DA-8F0240FA794D}"/>
              </a:ext>
            </a:extLst>
          </p:cNvPr>
          <p:cNvSpPr>
            <a:spLocks xmlns:a="http://schemas.openxmlformats.org/drawingml/2006/main" noGrp="1"/>
          </p:cNvSpPr>
          <p:nvPr/>
        </p:nvSpPr>
        <p:spPr>
          <a:xfrm xmlns:a="http://schemas.openxmlformats.org/drawingml/2006/main" rot="0">
            <a:off x="15729149" y="661601"/>
            <a:ext cx="1002903" cy="188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188"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188" b="0">
                <a:solidFill>
                  <a:srgbClr val="00355F"/>
                </a:solidFill>
                <a:latin typeface="Arial Unicode MS"/>
                <a:ea typeface="Arial Unicode MS"/>
                <a:cs typeface="Arial Unicode MS"/>
              </a:defRPr>
            </a:pPr>
            <a:r>
              <a:rPr sz="1188" b="0">
                <a:solidFill>
                  <a:srgbClr val="00355F"/>
                </a:solidFill>
                <a:latin typeface="Arial Unicode MS"/>
                <a:ea typeface="Arial Unicode MS"/>
                <a:cs typeface="Arial Unicode MS"/>
              </a:rPr>
              <a:t>HISTORICAL</a:t>
            </a:r>
          </a:p>
        </p:txBody>
      </p:sp>
      <p:sp>
        <p:nvSpPr>
          <p:cNvPr id="20" name="Figure 2 label 19 line 1">
            <a:extLst xmlns:a="http://schemas.openxmlformats.org/drawingml/2006/main">
              <a:ext uri="{FF2B5EF4-FFF2-40B4-BE49-F238E27FC236}">
                <a16:creationId xmlns:a16="http://schemas.microsoft.com/office/drawing/2014/main" id="{7F108B75-96F7-4DC1-951C-6F6795F1B79B}"/>
              </a:ext>
            </a:extLst>
          </p:cNvPr>
          <p:cNvSpPr>
            <a:spLocks xmlns:a="http://schemas.openxmlformats.org/drawingml/2006/main" noGrp="1"/>
          </p:cNvSpPr>
          <p:nvPr/>
        </p:nvSpPr>
        <p:spPr>
          <a:xfrm xmlns:a="http://schemas.openxmlformats.org/drawingml/2006/main" rot="0">
            <a:off x="998220" y="1249487"/>
            <a:ext cx="883786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2025 historical estimates from one F&amp;S study; this is a defined market scope, not a universal LST TAM.</a:t>
            </a:r>
          </a:p>
        </p:txBody>
      </p:sp>
      <p:sp>
        <p:nvSpPr>
          <p:cNvPr id="21" name="Figure 2 label 20 line 1">
            <a:extLst xmlns:a="http://schemas.openxmlformats.org/drawingml/2006/main">
              <a:ext uri="{FF2B5EF4-FFF2-40B4-BE49-F238E27FC236}">
                <a16:creationId xmlns:a16="http://schemas.microsoft.com/office/drawing/2014/main" id="{1BD3EF0F-CDEC-470B-975B-33CCF96D8F5E}"/>
              </a:ext>
            </a:extLst>
          </p:cNvPr>
          <p:cNvSpPr>
            <a:spLocks xmlns:a="http://schemas.openxmlformats.org/drawingml/2006/main" noGrp="1"/>
          </p:cNvSpPr>
          <p:nvPr/>
        </p:nvSpPr>
        <p:spPr>
          <a:xfrm xmlns:a="http://schemas.openxmlformats.org/drawingml/2006/main" rot="0">
            <a:off x="999173" y="9256035"/>
            <a:ext cx="7891314"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Other tools are the residual. Comparable instrument and consumable splits were not separately available.</a:t>
            </a:r>
          </a:p>
        </p:txBody>
      </p:sp>
      <p:sp>
        <p:nvSpPr>
          <p:cNvPr id="22" name="Figure 2 label 21 line 1">
            <a:extLst xmlns:a="http://schemas.openxmlformats.org/drawingml/2006/main">
              <a:ext uri="{FF2B5EF4-FFF2-40B4-BE49-F238E27FC236}">
                <a16:creationId xmlns:a16="http://schemas.microsoft.com/office/drawing/2014/main" id="{DED7D318-5089-45E2-992C-F4DA2C074C5B}"/>
              </a:ext>
            </a:extLst>
          </p:cNvPr>
          <p:cNvSpPr>
            <a:spLocks xmlns:a="http://schemas.openxmlformats.org/drawingml/2006/main" noGrp="1"/>
          </p:cNvSpPr>
          <p:nvPr/>
        </p:nvSpPr>
        <p:spPr>
          <a:xfrm xmlns:a="http://schemas.openxmlformats.org/drawingml/2006/main" rot="0">
            <a:off x="1000316" y="9675546"/>
            <a:ext cx="6549212" cy="1726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88" b="0">
                <a:solidFill>
                  <a:srgbClr val="00355F"/>
                </a:solidFill>
                <a:latin typeface="Arial Unicode MS"/>
                <a:ea typeface="Arial Unicode MS"/>
                <a:cs typeface="Arial Unicode MS"/>
              </a:defRPr>
            </a:defPPr>
          </a:lstStyle>
          <a:p xmlns:a="http://schemas.openxmlformats.org/drawingml/2006/main">
            <a:pPr algn="l">
              <a:lnSpc>
                <a:spcPct val="100000"/>
              </a:lnSpc>
              <a:buNone/>
              <a:defRPr sz="1088" b="0">
                <a:solidFill>
                  <a:srgbClr val="00355F"/>
                </a:solidFill>
                <a:latin typeface="Arial Unicode MS"/>
                <a:ea typeface="Arial Unicode MS"/>
                <a:cs typeface="Arial Unicode MS"/>
              </a:defRPr>
            </a:pPr>
            <a:r>
              <a:rPr sz="1088" b="0">
                <a:solidFill>
                  <a:srgbClr val="00355F"/>
                </a:solidFill>
                <a:latin typeface="Arial Unicode MS"/>
                <a:ea typeface="Arial Unicode MS"/>
                <a:cs typeface="Arial Unicode MS"/>
              </a:rPr>
              <a:t>Source: ACROBiosystems HKEX application, 30 Sep 2026, printed pp. 65 and 67; links in SOURCES.md.</a:t>
            </a:r>
          </a:p>
        </p:txBody>
      </p:sp>
      <p:sp>
        <p:nvSpPr>
          <p:cNvPr id="23" name="Figure 2 label 22 line 1">
            <a:extLst xmlns:a="http://schemas.openxmlformats.org/drawingml/2006/main">
              <a:ext uri="{FF2B5EF4-FFF2-40B4-BE49-F238E27FC236}">
                <a16:creationId xmlns:a16="http://schemas.microsoft.com/office/drawing/2014/main" id="{91DE1EF2-6934-464F-9A80-B20C19F2A150}"/>
              </a:ext>
            </a:extLst>
          </p:cNvPr>
          <p:cNvSpPr>
            <a:spLocks xmlns:a="http://schemas.openxmlformats.org/drawingml/2006/main" noGrp="1"/>
          </p:cNvSpPr>
          <p:nvPr/>
        </p:nvSpPr>
        <p:spPr>
          <a:xfrm xmlns:a="http://schemas.openxmlformats.org/drawingml/2006/main" rot="0">
            <a:off x="16440260" y="9667497"/>
            <a:ext cx="841901" cy="1825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150" b="0">
                <a:solidFill>
                  <a:srgbClr val="00355F"/>
                </a:solidFill>
                <a:latin typeface="Arial Unicode MS"/>
                <a:ea typeface="Arial Unicode MS"/>
                <a:cs typeface="Arial Unicode MS"/>
              </a:defRPr>
            </a:defPPr>
          </a:lstStyle>
          <a:p xmlns:a="http://schemas.openxmlformats.org/drawingml/2006/main">
            <a:pPr algn="r">
              <a:lnSpc>
                <a:spcPct val="100000"/>
              </a:lnSpc>
              <a:buNone/>
              <a:defRPr sz="1150" b="0">
                <a:solidFill>
                  <a:srgbClr val="00355F"/>
                </a:solidFill>
                <a:latin typeface="Arial Unicode MS"/>
                <a:ea typeface="Arial Unicode MS"/>
                <a:cs typeface="Arial Unicode MS"/>
              </a:defRPr>
            </a:pPr>
            <a:r>
              <a:rPr sz="1150" b="0">
                <a:solidFill>
                  <a:srgbClr val="00355F"/>
                </a:solidFill>
                <a:latin typeface="Arial Unicode MS"/>
                <a:ea typeface="Arial Unicode MS"/>
                <a:cs typeface="Arial Unicode MS"/>
              </a:rPr>
              <a:t>2026-10-12</a:t>
            </a:r>
          </a:p>
        </p:txBody>
      </p:sp>
      <p:sp>
        <p:nvSpPr>
          <p:cNvPr id="24" name="Figure 2 label 23 line 1">
            <a:extLst xmlns:a="http://schemas.openxmlformats.org/drawingml/2006/main">
              <a:ext uri="{FF2B5EF4-FFF2-40B4-BE49-F238E27FC236}">
                <a16:creationId xmlns:a16="http://schemas.microsoft.com/office/drawing/2014/main" id="{4AB18730-4809-4BA8-8474-390C6FCAAAFE}"/>
              </a:ext>
            </a:extLst>
          </p:cNvPr>
          <p:cNvSpPr>
            <a:spLocks xmlns:a="http://schemas.openxmlformats.org/drawingml/2006/main" noGrp="1"/>
          </p:cNvSpPr>
          <p:nvPr/>
        </p:nvSpPr>
        <p:spPr>
          <a:xfrm xmlns:a="http://schemas.openxmlformats.org/drawingml/2006/main" rot="0">
            <a:off x="13159106" y="3177838"/>
            <a:ext cx="2083643" cy="257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25" b="0">
                <a:solidFill>
                  <a:srgbClr val="00355F"/>
                </a:solidFill>
                <a:latin typeface="Arial Unicode MS"/>
                <a:ea typeface="Arial Unicode MS"/>
                <a:cs typeface="Arial Unicode MS"/>
              </a:defRPr>
            </a:defPPr>
          </a:lstStyle>
          <a:p xmlns:a="http://schemas.openxmlformats.org/drawingml/2006/main">
            <a:pPr algn="l">
              <a:lnSpc>
                <a:spcPct val="100000"/>
              </a:lnSpc>
              <a:buNone/>
              <a:defRPr sz="1625" b="0">
                <a:solidFill>
                  <a:srgbClr val="00355F"/>
                </a:solidFill>
                <a:latin typeface="Arial Unicode MS"/>
                <a:ea typeface="Arial Unicode MS"/>
                <a:cs typeface="Arial Unicode MS"/>
              </a:defRPr>
            </a:pPr>
            <a:r>
              <a:rPr sz="1625" b="0">
                <a:solidFill>
                  <a:srgbClr val="00355F"/>
                </a:solidFill>
                <a:latin typeface="Arial Unicode MS"/>
                <a:ea typeface="Arial Unicode MS"/>
                <a:cs typeface="Arial Unicode MS"/>
              </a:rPr>
              <a:t>China / global market</a:t>
            </a:r>
          </a:p>
        </p:txBody>
      </p:sp>
      <p:sp>
        <p:nvSpPr>
          <p:cNvPr id="25" name="Figure 2 label 24 line 1">
            <a:extLst xmlns:a="http://schemas.openxmlformats.org/drawingml/2006/main">
              <a:ext uri="{FF2B5EF4-FFF2-40B4-BE49-F238E27FC236}">
                <a16:creationId xmlns:a16="http://schemas.microsoft.com/office/drawing/2014/main" id="{0CE6DC00-B6A9-4668-84E3-C698D37C0551}"/>
              </a:ext>
            </a:extLst>
          </p:cNvPr>
          <p:cNvSpPr>
            <a:spLocks xmlns:a="http://schemas.openxmlformats.org/drawingml/2006/main" noGrp="1"/>
          </p:cNvSpPr>
          <p:nvPr/>
        </p:nvSpPr>
        <p:spPr>
          <a:xfrm xmlns:a="http://schemas.openxmlformats.org/drawingml/2006/main" rot="0">
            <a:off x="13143866" y="3660147"/>
            <a:ext cx="2047180" cy="73421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4625" b="1">
                <a:solidFill>
                  <a:srgbClr val="00355F"/>
                </a:solidFill>
                <a:latin typeface="Arial Unicode MS"/>
                <a:ea typeface="Arial Unicode MS"/>
                <a:cs typeface="Arial Unicode MS"/>
              </a:defRPr>
            </a:defPPr>
          </a:lstStyle>
          <a:p xmlns:a="http://schemas.openxmlformats.org/drawingml/2006/main">
            <a:pPr algn="l">
              <a:lnSpc>
                <a:spcPct val="100000"/>
              </a:lnSpc>
              <a:buNone/>
              <a:defRPr sz="4625" b="1">
                <a:solidFill>
                  <a:srgbClr val="00355F"/>
                </a:solidFill>
                <a:latin typeface="Arial Unicode MS"/>
                <a:ea typeface="Arial Unicode MS"/>
                <a:cs typeface="Arial Unicode MS"/>
              </a:defRPr>
            </a:pPr>
            <a:r>
              <a:rPr sz="4625" b="1">
                <a:solidFill>
                  <a:srgbClr val="00355F"/>
                </a:solidFill>
                <a:latin typeface="Arial Unicode MS"/>
                <a:ea typeface="Arial Unicode MS"/>
                <a:cs typeface="Arial Unicode MS"/>
              </a:rPr>
              <a:t>18.6%</a:t>
            </a:r>
          </a:p>
        </p:txBody>
      </p:sp>
      <p:sp>
        <p:nvSpPr>
          <p:cNvPr id="26" name="Figure 2 label 25 line 1">
            <a:extLst xmlns:a="http://schemas.openxmlformats.org/drawingml/2006/main">
              <a:ext uri="{FF2B5EF4-FFF2-40B4-BE49-F238E27FC236}">
                <a16:creationId xmlns:a16="http://schemas.microsoft.com/office/drawing/2014/main" id="{F2312245-16A6-49A3-BF23-CFDE867AFA97}"/>
              </a:ext>
            </a:extLst>
          </p:cNvPr>
          <p:cNvSpPr>
            <a:spLocks xmlns:a="http://schemas.openxmlformats.org/drawingml/2006/main" noGrp="1"/>
          </p:cNvSpPr>
          <p:nvPr/>
        </p:nvSpPr>
        <p:spPr>
          <a:xfrm xmlns:a="http://schemas.openxmlformats.org/drawingml/2006/main" rot="0">
            <a:off x="13159740" y="4881351"/>
            <a:ext cx="91827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7.7 / 41.5</a:t>
            </a:r>
          </a:p>
        </p:txBody>
      </p:sp>
      <p:sp>
        <p:nvSpPr>
          <p:cNvPr id="27" name="Figure 2 label 26 line 1">
            <a:extLst xmlns:a="http://schemas.openxmlformats.org/drawingml/2006/main">
              <a:ext uri="{FF2B5EF4-FFF2-40B4-BE49-F238E27FC236}">
                <a16:creationId xmlns:a16="http://schemas.microsoft.com/office/drawing/2014/main" id="{8C49D090-9F42-403A-B0D3-6227819A0D6C}"/>
              </a:ext>
            </a:extLst>
          </p:cNvPr>
          <p:cNvSpPr>
            <a:spLocks xmlns:a="http://schemas.openxmlformats.org/drawingml/2006/main" noGrp="1"/>
          </p:cNvSpPr>
          <p:nvPr/>
        </p:nvSpPr>
        <p:spPr>
          <a:xfrm xmlns:a="http://schemas.openxmlformats.org/drawingml/2006/main" rot="0">
            <a:off x="13159740" y="5085716"/>
            <a:ext cx="2770733"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Same-scope historical estimate</a:t>
            </a:r>
          </a:p>
        </p:txBody>
      </p:sp>
      <p:sp>
        <p:nvSpPr>
          <p:cNvPr id="28" name="Figure 2 label 27 line 1">
            <a:extLst xmlns:a="http://schemas.openxmlformats.org/drawingml/2006/main">
              <a:ext uri="{FF2B5EF4-FFF2-40B4-BE49-F238E27FC236}">
                <a16:creationId xmlns:a16="http://schemas.microsoft.com/office/drawing/2014/main" id="{0F17E198-F072-426C-BC93-A87E9B1A10EC}"/>
              </a:ext>
            </a:extLst>
          </p:cNvPr>
          <p:cNvSpPr>
            <a:spLocks xmlns:a="http://schemas.openxmlformats.org/drawingml/2006/main" noGrp="1"/>
          </p:cNvSpPr>
          <p:nvPr/>
        </p:nvSpPr>
        <p:spPr>
          <a:xfrm xmlns:a="http://schemas.openxmlformats.org/drawingml/2006/main" rot="0">
            <a:off x="12885420" y="6438162"/>
            <a:ext cx="196646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Broader research and</a:t>
            </a:r>
          </a:p>
        </p:txBody>
      </p:sp>
      <p:sp>
        <p:nvSpPr>
          <p:cNvPr id="29" name="Figure 2 label 28 line 1">
            <a:extLst xmlns:a="http://schemas.openxmlformats.org/drawingml/2006/main">
              <a:ext uri="{FF2B5EF4-FFF2-40B4-BE49-F238E27FC236}">
                <a16:creationId xmlns:a16="http://schemas.microsoft.com/office/drawing/2014/main" id="{762EE218-3449-4D8E-B1C6-753B2C0BE7A8}"/>
              </a:ext>
            </a:extLst>
          </p:cNvPr>
          <p:cNvSpPr>
            <a:spLocks xmlns:a="http://schemas.openxmlformats.org/drawingml/2006/main" noGrp="1"/>
          </p:cNvSpPr>
          <p:nvPr/>
        </p:nvSpPr>
        <p:spPr>
          <a:xfrm xmlns:a="http://schemas.openxmlformats.org/drawingml/2006/main" rot="0">
            <a:off x="12885420" y="6639740"/>
            <a:ext cx="2389733"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production markets require</a:t>
            </a:r>
          </a:p>
        </p:txBody>
      </p:sp>
      <p:sp>
        <p:nvSpPr>
          <p:cNvPr id="30" name="Figure 2 label 29 line 1">
            <a:extLst xmlns:a="http://schemas.openxmlformats.org/drawingml/2006/main">
              <a:ext uri="{FF2B5EF4-FFF2-40B4-BE49-F238E27FC236}">
                <a16:creationId xmlns:a16="http://schemas.microsoft.com/office/drawing/2014/main" id="{EB236510-18D4-4624-873F-8782B199D61C}"/>
              </a:ext>
            </a:extLst>
          </p:cNvPr>
          <p:cNvSpPr>
            <a:spLocks xmlns:a="http://schemas.openxmlformats.org/drawingml/2006/main" noGrp="1"/>
          </p:cNvSpPr>
          <p:nvPr/>
        </p:nvSpPr>
        <p:spPr>
          <a:xfrm xmlns:a="http://schemas.openxmlformats.org/drawingml/2006/main" rot="0">
            <a:off x="12885420" y="6841319"/>
            <a:ext cx="280302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a separate scope reconciliation.</a:t>
            </a:r>
          </a:p>
        </p:txBody>
      </p:sp>
    </p:spTree>
    <p:extLst>
      <p:ext uri="{BB962C8B-B14F-4D97-AF65-F5344CB8AC3E}">
        <p14:creationId xmlns:p14="http://schemas.microsoft.com/office/powerpoint/2010/main" val="112015378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9" name="">
            <a:extLst xmlns:a="http://schemas.openxmlformats.org/drawingml/2006/main">
              <a:ext uri="{FF2B5EF4-FFF2-40B4-BE49-F238E27FC236}">
                <a16:creationId xmlns:a16="http://schemas.microsoft.com/office/drawing/2014/main" id="{DC0E4966-8831-433F-A532-86243377F983}"/>
              </a:ext>
            </a:extLst>
          </p:cNvPr>
          <p:cNvPicPr>
            <a:picLocks xmlns:a="http://schemas.openxmlformats.org/drawingml/2006/main" noChangeAspect="1"/>
          </p:cNvPicPr>
          <p:nvPr/>
        </p:nvPicPr>
        <p:blipFill>
          <a:blip xmlns:r="http://schemas.openxmlformats.org/officeDocument/2006/relationships" xmlns:a="http://schemas.openxmlformats.org/drawingml/2006/main" r:embed="R44145fe313dd484d"/>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Figure 3 label 1 line 1">
            <a:extLst xmlns:a="http://schemas.openxmlformats.org/drawingml/2006/main">
              <a:ext uri="{FF2B5EF4-FFF2-40B4-BE49-F238E27FC236}">
                <a16:creationId xmlns:a16="http://schemas.microsoft.com/office/drawing/2014/main" id="{F274684E-0243-40F1-9C8E-5AE1074D66CD}"/>
              </a:ext>
            </a:extLst>
          </p:cNvPr>
          <p:cNvSpPr>
            <a:spLocks xmlns:a="http://schemas.openxmlformats.org/drawingml/2006/main" noGrp="1"/>
          </p:cNvSpPr>
          <p:nvPr/>
        </p:nvSpPr>
        <p:spPr>
          <a:xfrm xmlns:a="http://schemas.openxmlformats.org/drawingml/2006/main" rot="0">
            <a:off x="1994982" y="7255976"/>
            <a:ext cx="399157"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0%</a:t>
            </a:r>
          </a:p>
        </p:txBody>
      </p:sp>
      <p:sp>
        <p:nvSpPr>
          <p:cNvPr id="3" name="Figure 3 label 2 line 1">
            <a:extLst xmlns:a="http://schemas.openxmlformats.org/drawingml/2006/main">
              <a:ext uri="{FF2B5EF4-FFF2-40B4-BE49-F238E27FC236}">
                <a16:creationId xmlns:a16="http://schemas.microsoft.com/office/drawing/2014/main" id="{479172B7-5EFD-455E-AAAD-6375EDCDFC71}"/>
              </a:ext>
            </a:extLst>
          </p:cNvPr>
          <p:cNvSpPr>
            <a:spLocks xmlns:a="http://schemas.openxmlformats.org/drawingml/2006/main" noGrp="1"/>
          </p:cNvSpPr>
          <p:nvPr/>
        </p:nvSpPr>
        <p:spPr>
          <a:xfrm xmlns:a="http://schemas.openxmlformats.org/drawingml/2006/main" rot="0">
            <a:off x="5599599" y="7255976"/>
            <a:ext cx="505123"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25%</a:t>
            </a:r>
          </a:p>
        </p:txBody>
      </p:sp>
      <p:sp>
        <p:nvSpPr>
          <p:cNvPr id="4" name="Figure 3 label 3 line 1">
            <a:extLst xmlns:a="http://schemas.openxmlformats.org/drawingml/2006/main">
              <a:ext uri="{FF2B5EF4-FFF2-40B4-BE49-F238E27FC236}">
                <a16:creationId xmlns:a16="http://schemas.microsoft.com/office/drawing/2014/main" id="{97916C70-961B-4C52-8209-4BD477260C0E}"/>
              </a:ext>
            </a:extLst>
          </p:cNvPr>
          <p:cNvSpPr>
            <a:spLocks xmlns:a="http://schemas.openxmlformats.org/drawingml/2006/main" noGrp="1"/>
          </p:cNvSpPr>
          <p:nvPr/>
        </p:nvSpPr>
        <p:spPr>
          <a:xfrm xmlns:a="http://schemas.openxmlformats.org/drawingml/2006/main" rot="0">
            <a:off x="9257199" y="7255976"/>
            <a:ext cx="505123"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50%</a:t>
            </a:r>
          </a:p>
        </p:txBody>
      </p:sp>
      <p:sp>
        <p:nvSpPr>
          <p:cNvPr id="5" name="Figure 3 label 4 line 1">
            <a:extLst xmlns:a="http://schemas.openxmlformats.org/drawingml/2006/main">
              <a:ext uri="{FF2B5EF4-FFF2-40B4-BE49-F238E27FC236}">
                <a16:creationId xmlns:a16="http://schemas.microsoft.com/office/drawing/2014/main" id="{E515372F-DFAB-4F49-AD51-F91CF37B4EAE}"/>
              </a:ext>
            </a:extLst>
          </p:cNvPr>
          <p:cNvSpPr>
            <a:spLocks xmlns:a="http://schemas.openxmlformats.org/drawingml/2006/main" noGrp="1"/>
          </p:cNvSpPr>
          <p:nvPr/>
        </p:nvSpPr>
        <p:spPr>
          <a:xfrm xmlns:a="http://schemas.openxmlformats.org/drawingml/2006/main" rot="0">
            <a:off x="12914799" y="7255976"/>
            <a:ext cx="505123"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75%</a:t>
            </a:r>
          </a:p>
        </p:txBody>
      </p:sp>
      <p:sp>
        <p:nvSpPr>
          <p:cNvPr id="6" name="Figure 3 label 5 line 1">
            <a:extLst xmlns:a="http://schemas.openxmlformats.org/drawingml/2006/main">
              <a:ext uri="{FF2B5EF4-FFF2-40B4-BE49-F238E27FC236}">
                <a16:creationId xmlns:a16="http://schemas.microsoft.com/office/drawing/2014/main" id="{833D7556-2898-4D3C-AA5A-FDAC395F80E5}"/>
              </a:ext>
            </a:extLst>
          </p:cNvPr>
          <p:cNvSpPr>
            <a:spLocks xmlns:a="http://schemas.openxmlformats.org/drawingml/2006/main" noGrp="1"/>
          </p:cNvSpPr>
          <p:nvPr/>
        </p:nvSpPr>
        <p:spPr>
          <a:xfrm xmlns:a="http://schemas.openxmlformats.org/drawingml/2006/main" rot="0">
            <a:off x="16519416" y="7255976"/>
            <a:ext cx="611088"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100%</a:t>
            </a:r>
          </a:p>
        </p:txBody>
      </p:sp>
      <p:sp>
        <p:nvSpPr>
          <p:cNvPr id="7" name="Figure 3 label 6 line 1">
            <a:extLst xmlns:a="http://schemas.openxmlformats.org/drawingml/2006/main">
              <a:ext uri="{FF2B5EF4-FFF2-40B4-BE49-F238E27FC236}">
                <a16:creationId xmlns:a16="http://schemas.microsoft.com/office/drawing/2014/main" id="{27FF003C-20F4-4A0C-9505-8E80994CBDA0}"/>
              </a:ext>
            </a:extLst>
          </p:cNvPr>
          <p:cNvSpPr>
            <a:spLocks xmlns:a="http://schemas.openxmlformats.org/drawingml/2006/main" noGrp="1"/>
          </p:cNvSpPr>
          <p:nvPr/>
        </p:nvSpPr>
        <p:spPr>
          <a:xfrm xmlns:a="http://schemas.openxmlformats.org/drawingml/2006/main" rot="0">
            <a:off x="7901747" y="7623105"/>
            <a:ext cx="3216027"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Assumed share of purchasing spend</a:t>
            </a:r>
          </a:p>
        </p:txBody>
      </p:sp>
      <p:sp>
        <p:nvSpPr>
          <p:cNvPr id="8" name="Figure 3 label 7 line 1">
            <a:extLst xmlns:a="http://schemas.openxmlformats.org/drawingml/2006/main">
              <a:ext uri="{FF2B5EF4-FFF2-40B4-BE49-F238E27FC236}">
                <a16:creationId xmlns:a16="http://schemas.microsoft.com/office/drawing/2014/main" id="{68DD9128-E8CF-44A3-8C80-7FE8EEDD00F8}"/>
              </a:ext>
            </a:extLst>
          </p:cNvPr>
          <p:cNvSpPr>
            <a:spLocks xmlns:a="http://schemas.openxmlformats.org/drawingml/2006/main" noGrp="1"/>
          </p:cNvSpPr>
          <p:nvPr/>
        </p:nvSpPr>
        <p:spPr>
          <a:xfrm xmlns:a="http://schemas.openxmlformats.org/drawingml/2006/main" rot="0">
            <a:off x="705187" y="3900957"/>
            <a:ext cx="1330623" cy="3373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2125" b="0">
                <a:solidFill>
                  <a:srgbClr val="00355F"/>
                </a:solidFill>
                <a:latin typeface="Arial Unicode MS"/>
                <a:ea typeface="Arial Unicode MS"/>
                <a:cs typeface="Arial Unicode MS"/>
              </a:defRPr>
            </a:defPPr>
          </a:lstStyle>
          <a:p xmlns:a="http://schemas.openxmlformats.org/drawingml/2006/main">
            <a:pPr algn="r">
              <a:lnSpc>
                <a:spcPct val="100000"/>
              </a:lnSpc>
              <a:buNone/>
              <a:defRPr sz="2125" b="0">
                <a:solidFill>
                  <a:srgbClr val="00355F"/>
                </a:solidFill>
                <a:latin typeface="Arial Unicode MS"/>
                <a:ea typeface="Arial Unicode MS"/>
                <a:cs typeface="Arial Unicode MS"/>
              </a:defRPr>
            </a:pPr>
            <a:r>
              <a:rPr sz="2125" b="0">
                <a:solidFill>
                  <a:srgbClr val="00355F"/>
                </a:solidFill>
                <a:latin typeface="Arial Unicode MS"/>
                <a:ea typeface="Arial Unicode MS"/>
                <a:cs typeface="Arial Unicode MS"/>
              </a:rPr>
              <a:t>Reagents</a:t>
            </a:r>
          </a:p>
        </p:txBody>
      </p:sp>
      <p:sp>
        <p:nvSpPr>
          <p:cNvPr id="9" name="Figure 3 label 8 line 1">
            <a:extLst xmlns:a="http://schemas.openxmlformats.org/drawingml/2006/main">
              <a:ext uri="{FF2B5EF4-FFF2-40B4-BE49-F238E27FC236}">
                <a16:creationId xmlns:a16="http://schemas.microsoft.com/office/drawing/2014/main" id="{476BA9DF-1322-4A50-8BB6-D933C875435C}"/>
              </a:ext>
            </a:extLst>
          </p:cNvPr>
          <p:cNvSpPr>
            <a:spLocks xmlns:a="http://schemas.openxmlformats.org/drawingml/2006/main" noGrp="1"/>
          </p:cNvSpPr>
          <p:nvPr/>
        </p:nvSpPr>
        <p:spPr>
          <a:xfrm xmlns:a="http://schemas.openxmlformats.org/drawingml/2006/main" rot="0">
            <a:off x="210483" y="5054348"/>
            <a:ext cx="1825327" cy="3373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2125" b="0">
                <a:solidFill>
                  <a:srgbClr val="00355F"/>
                </a:solidFill>
                <a:latin typeface="Arial Unicode MS"/>
                <a:ea typeface="Arial Unicode MS"/>
                <a:cs typeface="Arial Unicode MS"/>
              </a:defRPr>
            </a:defPPr>
          </a:lstStyle>
          <a:p xmlns:a="http://schemas.openxmlformats.org/drawingml/2006/main">
            <a:pPr algn="r">
              <a:lnSpc>
                <a:spcPct val="100000"/>
              </a:lnSpc>
              <a:buNone/>
              <a:defRPr sz="2125" b="0">
                <a:solidFill>
                  <a:srgbClr val="00355F"/>
                </a:solidFill>
                <a:latin typeface="Arial Unicode MS"/>
                <a:ea typeface="Arial Unicode MS"/>
                <a:cs typeface="Arial Unicode MS"/>
              </a:defRPr>
            </a:pPr>
            <a:r>
              <a:rPr sz="2125" b="0">
                <a:solidFill>
                  <a:srgbClr val="00355F"/>
                </a:solidFill>
                <a:latin typeface="Arial Unicode MS"/>
                <a:ea typeface="Arial Unicode MS"/>
                <a:cs typeface="Arial Unicode MS"/>
              </a:rPr>
              <a:t>Consumables</a:t>
            </a:r>
          </a:p>
        </p:txBody>
      </p:sp>
      <p:sp>
        <p:nvSpPr>
          <p:cNvPr id="10" name="Figure 3 label 9 line 1">
            <a:extLst xmlns:a="http://schemas.openxmlformats.org/drawingml/2006/main">
              <a:ext uri="{FF2B5EF4-FFF2-40B4-BE49-F238E27FC236}">
                <a16:creationId xmlns:a16="http://schemas.microsoft.com/office/drawing/2014/main" id="{C0652A9F-EA46-4741-AE0A-1D2346F3EE27}"/>
              </a:ext>
            </a:extLst>
          </p:cNvPr>
          <p:cNvSpPr>
            <a:spLocks xmlns:a="http://schemas.openxmlformats.org/drawingml/2006/main" noGrp="1"/>
          </p:cNvSpPr>
          <p:nvPr/>
        </p:nvSpPr>
        <p:spPr>
          <a:xfrm xmlns:a="http://schemas.openxmlformats.org/drawingml/2006/main" rot="0">
            <a:off x="450691" y="6207739"/>
            <a:ext cx="1585119" cy="3373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2125" b="0">
                <a:solidFill>
                  <a:srgbClr val="00355F"/>
                </a:solidFill>
                <a:latin typeface="Arial Unicode MS"/>
                <a:ea typeface="Arial Unicode MS"/>
                <a:cs typeface="Arial Unicode MS"/>
              </a:defRPr>
            </a:defPPr>
          </a:lstStyle>
          <a:p xmlns:a="http://schemas.openxmlformats.org/drawingml/2006/main">
            <a:pPr algn="r">
              <a:lnSpc>
                <a:spcPct val="100000"/>
              </a:lnSpc>
              <a:buNone/>
              <a:defRPr sz="2125" b="0">
                <a:solidFill>
                  <a:srgbClr val="00355F"/>
                </a:solidFill>
                <a:latin typeface="Arial Unicode MS"/>
                <a:ea typeface="Arial Unicode MS"/>
                <a:cs typeface="Arial Unicode MS"/>
              </a:defRPr>
            </a:pPr>
            <a:r>
              <a:rPr sz="2125" b="0">
                <a:solidFill>
                  <a:srgbClr val="00355F"/>
                </a:solidFill>
                <a:latin typeface="Arial Unicode MS"/>
                <a:ea typeface="Arial Unicode MS"/>
                <a:cs typeface="Arial Unicode MS"/>
              </a:rPr>
              <a:t>Instruments</a:t>
            </a:r>
          </a:p>
        </p:txBody>
      </p:sp>
      <p:sp>
        <p:nvSpPr>
          <p:cNvPr id="11" name="Figure 3 label 10 line 1">
            <a:extLst xmlns:a="http://schemas.openxmlformats.org/drawingml/2006/main">
              <a:ext uri="{FF2B5EF4-FFF2-40B4-BE49-F238E27FC236}">
                <a16:creationId xmlns:a16="http://schemas.microsoft.com/office/drawing/2014/main" id="{6C5650EF-F5F4-40CF-8CA8-DDBB18C02691}"/>
              </a:ext>
            </a:extLst>
          </p:cNvPr>
          <p:cNvSpPr>
            <a:spLocks xmlns:a="http://schemas.openxmlformats.org/drawingml/2006/main" noGrp="1"/>
          </p:cNvSpPr>
          <p:nvPr/>
        </p:nvSpPr>
        <p:spPr>
          <a:xfrm xmlns:a="http://schemas.openxmlformats.org/drawingml/2006/main" rot="0">
            <a:off x="4073382" y="3905880"/>
            <a:ext cx="631478"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75" b="0">
                <a:solidFill>
                  <a:srgbClr val="FFFFFF"/>
                </a:solidFill>
                <a:latin typeface="Arial Unicode MS"/>
                <a:ea typeface="Arial Unicode MS"/>
                <a:cs typeface="Arial Unicode MS"/>
              </a:defRPr>
            </a:defPPr>
          </a:lstStyle>
          <a:p xmlns:a="http://schemas.openxmlformats.org/drawingml/2006/main">
            <a:pPr algn="ctr">
              <a:lnSpc>
                <a:spcPct val="100000"/>
              </a:lnSpc>
              <a:buNone/>
              <a:defRPr sz="1875" b="0">
                <a:solidFill>
                  <a:srgbClr val="FFFFFF"/>
                </a:solidFill>
                <a:latin typeface="Arial Unicode MS"/>
                <a:ea typeface="Arial Unicode MS"/>
                <a:cs typeface="Arial Unicode MS"/>
              </a:defRPr>
            </a:pPr>
            <a:r>
              <a:rPr sz="1875" b="0">
                <a:solidFill>
                  <a:srgbClr val="FFFFFF"/>
                </a:solidFill>
                <a:latin typeface="Arial Unicode MS"/>
                <a:ea typeface="Arial Unicode MS"/>
                <a:cs typeface="Arial Unicode MS"/>
              </a:rPr>
              <a:t>30%</a:t>
            </a:r>
          </a:p>
        </p:txBody>
      </p:sp>
      <p:sp>
        <p:nvSpPr>
          <p:cNvPr id="12" name="Figure 3 label 11 line 1">
            <a:extLst xmlns:a="http://schemas.openxmlformats.org/drawingml/2006/main">
              <a:ext uri="{FF2B5EF4-FFF2-40B4-BE49-F238E27FC236}">
                <a16:creationId xmlns:a16="http://schemas.microsoft.com/office/drawing/2014/main" id="{63AD3A82-9E3C-47B5-9DC5-E2CE046EE97D}"/>
              </a:ext>
            </a:extLst>
          </p:cNvPr>
          <p:cNvSpPr>
            <a:spLocks xmlns:a="http://schemas.openxmlformats.org/drawingml/2006/main" noGrp="1"/>
          </p:cNvSpPr>
          <p:nvPr/>
        </p:nvSpPr>
        <p:spPr>
          <a:xfrm xmlns:a="http://schemas.openxmlformats.org/drawingml/2006/main" rot="0">
            <a:off x="3341861" y="5059271"/>
            <a:ext cx="631478"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75" b="0">
                <a:solidFill>
                  <a:srgbClr val="FFFFFF"/>
                </a:solidFill>
                <a:latin typeface="Arial Unicode MS"/>
                <a:ea typeface="Arial Unicode MS"/>
                <a:cs typeface="Arial Unicode MS"/>
              </a:defRPr>
            </a:defPPr>
          </a:lstStyle>
          <a:p xmlns:a="http://schemas.openxmlformats.org/drawingml/2006/main">
            <a:pPr algn="ctr">
              <a:lnSpc>
                <a:spcPct val="100000"/>
              </a:lnSpc>
              <a:buNone/>
              <a:defRPr sz="1875" b="0">
                <a:solidFill>
                  <a:srgbClr val="FFFFFF"/>
                </a:solidFill>
                <a:latin typeface="Arial Unicode MS"/>
                <a:ea typeface="Arial Unicode MS"/>
                <a:cs typeface="Arial Unicode MS"/>
              </a:defRPr>
            </a:pPr>
            <a:r>
              <a:rPr sz="1875" b="0">
                <a:solidFill>
                  <a:srgbClr val="FFFFFF"/>
                </a:solidFill>
                <a:latin typeface="Arial Unicode MS"/>
                <a:ea typeface="Arial Unicode MS"/>
                <a:cs typeface="Arial Unicode MS"/>
              </a:rPr>
              <a:t>20%</a:t>
            </a:r>
          </a:p>
        </p:txBody>
      </p:sp>
      <p:sp>
        <p:nvSpPr>
          <p:cNvPr id="13" name="Figure 3 label 12 line 1">
            <a:extLst xmlns:a="http://schemas.openxmlformats.org/drawingml/2006/main">
              <a:ext uri="{FF2B5EF4-FFF2-40B4-BE49-F238E27FC236}">
                <a16:creationId xmlns:a16="http://schemas.microsoft.com/office/drawing/2014/main" id="{2B2D664C-08A7-415C-8188-B26720904C8A}"/>
              </a:ext>
            </a:extLst>
          </p:cNvPr>
          <p:cNvSpPr>
            <a:spLocks xmlns:a="http://schemas.openxmlformats.org/drawingml/2006/main" noGrp="1"/>
          </p:cNvSpPr>
          <p:nvPr/>
        </p:nvSpPr>
        <p:spPr>
          <a:xfrm xmlns:a="http://schemas.openxmlformats.org/drawingml/2006/main" rot="0">
            <a:off x="3707621" y="6212662"/>
            <a:ext cx="631478"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75" b="0">
                <a:solidFill>
                  <a:srgbClr val="FFFFFF"/>
                </a:solidFill>
                <a:latin typeface="Arial Unicode MS"/>
                <a:ea typeface="Arial Unicode MS"/>
                <a:cs typeface="Arial Unicode MS"/>
              </a:defRPr>
            </a:defPPr>
          </a:lstStyle>
          <a:p xmlns:a="http://schemas.openxmlformats.org/drawingml/2006/main">
            <a:pPr algn="ctr">
              <a:lnSpc>
                <a:spcPct val="100000"/>
              </a:lnSpc>
              <a:buNone/>
              <a:defRPr sz="1875" b="0">
                <a:solidFill>
                  <a:srgbClr val="FFFFFF"/>
                </a:solidFill>
                <a:latin typeface="Arial Unicode MS"/>
                <a:ea typeface="Arial Unicode MS"/>
                <a:cs typeface="Arial Unicode MS"/>
              </a:defRPr>
            </a:pPr>
            <a:r>
              <a:rPr sz="1875" b="0">
                <a:solidFill>
                  <a:srgbClr val="FFFFFF"/>
                </a:solidFill>
                <a:latin typeface="Arial Unicode MS"/>
                <a:ea typeface="Arial Unicode MS"/>
                <a:cs typeface="Arial Unicode MS"/>
              </a:rPr>
              <a:t>25%</a:t>
            </a:r>
          </a:p>
        </p:txBody>
      </p:sp>
      <p:sp>
        <p:nvSpPr>
          <p:cNvPr id="14" name="Figure 3 label 13 line 1">
            <a:extLst xmlns:a="http://schemas.openxmlformats.org/drawingml/2006/main">
              <a:ext uri="{FF2B5EF4-FFF2-40B4-BE49-F238E27FC236}">
                <a16:creationId xmlns:a16="http://schemas.microsoft.com/office/drawing/2014/main" id="{AE2DA91D-1F95-4F00-B1AA-DCA1C0C8C001}"/>
              </a:ext>
            </a:extLst>
          </p:cNvPr>
          <p:cNvSpPr>
            <a:spLocks xmlns:a="http://schemas.openxmlformats.org/drawingml/2006/main" noGrp="1"/>
          </p:cNvSpPr>
          <p:nvPr/>
        </p:nvSpPr>
        <p:spPr>
          <a:xfrm xmlns:a="http://schemas.openxmlformats.org/drawingml/2006/main" rot="0">
            <a:off x="8096741" y="3905880"/>
            <a:ext cx="631478"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7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875" b="0">
                <a:solidFill>
                  <a:srgbClr val="00355F"/>
                </a:solidFill>
                <a:latin typeface="Arial Unicode MS"/>
                <a:ea typeface="Arial Unicode MS"/>
                <a:cs typeface="Arial Unicode MS"/>
              </a:defRPr>
            </a:pPr>
            <a:r>
              <a:rPr sz="1875" b="0">
                <a:solidFill>
                  <a:srgbClr val="00355F"/>
                </a:solidFill>
                <a:latin typeface="Arial Unicode MS"/>
                <a:ea typeface="Arial Unicode MS"/>
                <a:cs typeface="Arial Unicode MS"/>
              </a:rPr>
              <a:t>25%</a:t>
            </a:r>
          </a:p>
        </p:txBody>
      </p:sp>
      <p:sp>
        <p:nvSpPr>
          <p:cNvPr id="15" name="Figure 3 label 14 line 1">
            <a:extLst xmlns:a="http://schemas.openxmlformats.org/drawingml/2006/main">
              <a:ext uri="{FF2B5EF4-FFF2-40B4-BE49-F238E27FC236}">
                <a16:creationId xmlns:a16="http://schemas.microsoft.com/office/drawing/2014/main" id="{103A61D6-DCB9-4BE0-BCD4-507AF7A59EC1}"/>
              </a:ext>
            </a:extLst>
          </p:cNvPr>
          <p:cNvSpPr>
            <a:spLocks xmlns:a="http://schemas.openxmlformats.org/drawingml/2006/main" noGrp="1"/>
          </p:cNvSpPr>
          <p:nvPr/>
        </p:nvSpPr>
        <p:spPr>
          <a:xfrm xmlns:a="http://schemas.openxmlformats.org/drawingml/2006/main" rot="0">
            <a:off x="6267942" y="5059271"/>
            <a:ext cx="631478"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7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875" b="0">
                <a:solidFill>
                  <a:srgbClr val="00355F"/>
                </a:solidFill>
                <a:latin typeface="Arial Unicode MS"/>
                <a:ea typeface="Arial Unicode MS"/>
                <a:cs typeface="Arial Unicode MS"/>
              </a:defRPr>
            </a:pPr>
            <a:r>
              <a:rPr sz="1875" b="0">
                <a:solidFill>
                  <a:srgbClr val="00355F"/>
                </a:solidFill>
                <a:latin typeface="Arial Unicode MS"/>
                <a:ea typeface="Arial Unicode MS"/>
                <a:cs typeface="Arial Unicode MS"/>
              </a:rPr>
              <a:t>20%</a:t>
            </a:r>
          </a:p>
        </p:txBody>
      </p:sp>
      <p:sp>
        <p:nvSpPr>
          <p:cNvPr id="16" name="Figure 3 label 15 line 1">
            <a:extLst xmlns:a="http://schemas.openxmlformats.org/drawingml/2006/main">
              <a:ext uri="{FF2B5EF4-FFF2-40B4-BE49-F238E27FC236}">
                <a16:creationId xmlns:a16="http://schemas.microsoft.com/office/drawing/2014/main" id="{4CE8D5FF-65ED-4F16-AC17-FAE54AEDD097}"/>
              </a:ext>
            </a:extLst>
          </p:cNvPr>
          <p:cNvSpPr>
            <a:spLocks xmlns:a="http://schemas.openxmlformats.org/drawingml/2006/main" noGrp="1"/>
          </p:cNvSpPr>
          <p:nvPr/>
        </p:nvSpPr>
        <p:spPr>
          <a:xfrm xmlns:a="http://schemas.openxmlformats.org/drawingml/2006/main" rot="0">
            <a:off x="6999461" y="6212662"/>
            <a:ext cx="631478"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7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875" b="0">
                <a:solidFill>
                  <a:srgbClr val="00355F"/>
                </a:solidFill>
                <a:latin typeface="Arial Unicode MS"/>
                <a:ea typeface="Arial Unicode MS"/>
                <a:cs typeface="Arial Unicode MS"/>
              </a:defRPr>
            </a:pPr>
            <a:r>
              <a:rPr sz="1875" b="0">
                <a:solidFill>
                  <a:srgbClr val="00355F"/>
                </a:solidFill>
                <a:latin typeface="Arial Unicode MS"/>
                <a:ea typeface="Arial Unicode MS"/>
                <a:cs typeface="Arial Unicode MS"/>
              </a:rPr>
              <a:t>20%</a:t>
            </a:r>
          </a:p>
        </p:txBody>
      </p:sp>
      <p:sp>
        <p:nvSpPr>
          <p:cNvPr id="17" name="Figure 3 label 16 line 1">
            <a:extLst xmlns:a="http://schemas.openxmlformats.org/drawingml/2006/main">
              <a:ext uri="{FF2B5EF4-FFF2-40B4-BE49-F238E27FC236}">
                <a16:creationId xmlns:a16="http://schemas.microsoft.com/office/drawing/2014/main" id="{6EC523E1-4443-415A-B89F-F048A5907B63}"/>
              </a:ext>
            </a:extLst>
          </p:cNvPr>
          <p:cNvSpPr>
            <a:spLocks xmlns:a="http://schemas.openxmlformats.org/drawingml/2006/main" noGrp="1"/>
          </p:cNvSpPr>
          <p:nvPr/>
        </p:nvSpPr>
        <p:spPr>
          <a:xfrm xmlns:a="http://schemas.openxmlformats.org/drawingml/2006/main" rot="0">
            <a:off x="11022820" y="3905880"/>
            <a:ext cx="631478"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7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875" b="0">
                <a:solidFill>
                  <a:srgbClr val="00355F"/>
                </a:solidFill>
                <a:latin typeface="Arial Unicode MS"/>
                <a:ea typeface="Arial Unicode MS"/>
                <a:cs typeface="Arial Unicode MS"/>
              </a:defRPr>
            </a:pPr>
            <a:r>
              <a:rPr sz="1875" b="0">
                <a:solidFill>
                  <a:srgbClr val="00355F"/>
                </a:solidFill>
                <a:latin typeface="Arial Unicode MS"/>
                <a:ea typeface="Arial Unicode MS"/>
                <a:cs typeface="Arial Unicode MS"/>
              </a:rPr>
              <a:t>15%</a:t>
            </a:r>
          </a:p>
        </p:txBody>
      </p:sp>
      <p:sp>
        <p:nvSpPr>
          <p:cNvPr id="18" name="Figure 3 label 17 line 1">
            <a:extLst xmlns:a="http://schemas.openxmlformats.org/drawingml/2006/main">
              <a:ext uri="{FF2B5EF4-FFF2-40B4-BE49-F238E27FC236}">
                <a16:creationId xmlns:a16="http://schemas.microsoft.com/office/drawing/2014/main" id="{A7D184D8-C0FD-455C-9765-25A28AD2704C}"/>
              </a:ext>
            </a:extLst>
          </p:cNvPr>
          <p:cNvSpPr>
            <a:spLocks xmlns:a="http://schemas.openxmlformats.org/drawingml/2006/main" noGrp="1"/>
          </p:cNvSpPr>
          <p:nvPr/>
        </p:nvSpPr>
        <p:spPr>
          <a:xfrm xmlns:a="http://schemas.openxmlformats.org/drawingml/2006/main" rot="0">
            <a:off x="8828262" y="5059271"/>
            <a:ext cx="631478"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7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875" b="0">
                <a:solidFill>
                  <a:srgbClr val="00355F"/>
                </a:solidFill>
                <a:latin typeface="Arial Unicode MS"/>
                <a:ea typeface="Arial Unicode MS"/>
                <a:cs typeface="Arial Unicode MS"/>
              </a:defRPr>
            </a:pPr>
            <a:r>
              <a:rPr sz="1875" b="0">
                <a:solidFill>
                  <a:srgbClr val="00355F"/>
                </a:solidFill>
                <a:latin typeface="Arial Unicode MS"/>
                <a:ea typeface="Arial Unicode MS"/>
                <a:cs typeface="Arial Unicode MS"/>
              </a:rPr>
              <a:t>15%</a:t>
            </a:r>
          </a:p>
        </p:txBody>
      </p:sp>
      <p:sp>
        <p:nvSpPr>
          <p:cNvPr id="19" name="Figure 3 label 18 line 1">
            <a:extLst xmlns:a="http://schemas.openxmlformats.org/drawingml/2006/main">
              <a:ext uri="{FF2B5EF4-FFF2-40B4-BE49-F238E27FC236}">
                <a16:creationId xmlns:a16="http://schemas.microsoft.com/office/drawing/2014/main" id="{62D0E6DE-F489-456E-8356-7B598D09A6A8}"/>
              </a:ext>
            </a:extLst>
          </p:cNvPr>
          <p:cNvSpPr>
            <a:spLocks xmlns:a="http://schemas.openxmlformats.org/drawingml/2006/main" noGrp="1"/>
          </p:cNvSpPr>
          <p:nvPr/>
        </p:nvSpPr>
        <p:spPr>
          <a:xfrm xmlns:a="http://schemas.openxmlformats.org/drawingml/2006/main" rot="0">
            <a:off x="9194022" y="6212662"/>
            <a:ext cx="631478"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7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875" b="0">
                <a:solidFill>
                  <a:srgbClr val="00355F"/>
                </a:solidFill>
                <a:latin typeface="Arial Unicode MS"/>
                <a:ea typeface="Arial Unicode MS"/>
                <a:cs typeface="Arial Unicode MS"/>
              </a:defRPr>
            </a:pPr>
            <a:r>
              <a:rPr sz="1875" b="0">
                <a:solidFill>
                  <a:srgbClr val="00355F"/>
                </a:solidFill>
                <a:latin typeface="Arial Unicode MS"/>
                <a:ea typeface="Arial Unicode MS"/>
                <a:cs typeface="Arial Unicode MS"/>
              </a:rPr>
              <a:t>10%</a:t>
            </a:r>
          </a:p>
        </p:txBody>
      </p:sp>
      <p:sp>
        <p:nvSpPr>
          <p:cNvPr id="20" name="Figure 3 label 19 line 1">
            <a:extLst xmlns:a="http://schemas.openxmlformats.org/drawingml/2006/main">
              <a:ext uri="{FF2B5EF4-FFF2-40B4-BE49-F238E27FC236}">
                <a16:creationId xmlns:a16="http://schemas.microsoft.com/office/drawing/2014/main" id="{95392F59-7685-49C2-8984-7BB27882A980}"/>
              </a:ext>
            </a:extLst>
          </p:cNvPr>
          <p:cNvSpPr>
            <a:spLocks xmlns:a="http://schemas.openxmlformats.org/drawingml/2006/main" noGrp="1"/>
          </p:cNvSpPr>
          <p:nvPr/>
        </p:nvSpPr>
        <p:spPr>
          <a:xfrm xmlns:a="http://schemas.openxmlformats.org/drawingml/2006/main" rot="0">
            <a:off x="12851622" y="3905880"/>
            <a:ext cx="631478"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7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875" b="0">
                <a:solidFill>
                  <a:srgbClr val="00355F"/>
                </a:solidFill>
                <a:latin typeface="Arial Unicode MS"/>
                <a:ea typeface="Arial Unicode MS"/>
                <a:cs typeface="Arial Unicode MS"/>
              </a:defRPr>
            </a:pPr>
            <a:r>
              <a:rPr sz="1875" b="0">
                <a:solidFill>
                  <a:srgbClr val="00355F"/>
                </a:solidFill>
                <a:latin typeface="Arial Unicode MS"/>
                <a:ea typeface="Arial Unicode MS"/>
                <a:cs typeface="Arial Unicode MS"/>
              </a:rPr>
              <a:t>10%</a:t>
            </a:r>
          </a:p>
        </p:txBody>
      </p:sp>
      <p:sp>
        <p:nvSpPr>
          <p:cNvPr id="21" name="Figure 3 label 20 line 1">
            <a:extLst xmlns:a="http://schemas.openxmlformats.org/drawingml/2006/main">
              <a:ext uri="{FF2B5EF4-FFF2-40B4-BE49-F238E27FC236}">
                <a16:creationId xmlns:a16="http://schemas.microsoft.com/office/drawing/2014/main" id="{0AAEAB5B-E841-4D19-9256-B9E645D58700}"/>
              </a:ext>
            </a:extLst>
          </p:cNvPr>
          <p:cNvSpPr>
            <a:spLocks xmlns:a="http://schemas.openxmlformats.org/drawingml/2006/main" noGrp="1"/>
          </p:cNvSpPr>
          <p:nvPr/>
        </p:nvSpPr>
        <p:spPr>
          <a:xfrm xmlns:a="http://schemas.openxmlformats.org/drawingml/2006/main" rot="0">
            <a:off x="12120101" y="5059271"/>
            <a:ext cx="631478"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7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875" b="0">
                <a:solidFill>
                  <a:srgbClr val="00355F"/>
                </a:solidFill>
                <a:latin typeface="Arial Unicode MS"/>
                <a:ea typeface="Arial Unicode MS"/>
                <a:cs typeface="Arial Unicode MS"/>
              </a:defRPr>
            </a:pPr>
            <a:r>
              <a:rPr sz="1875" b="0">
                <a:solidFill>
                  <a:srgbClr val="00355F"/>
                </a:solidFill>
                <a:latin typeface="Arial Unicode MS"/>
                <a:ea typeface="Arial Unicode MS"/>
                <a:cs typeface="Arial Unicode MS"/>
              </a:rPr>
              <a:t>30%</a:t>
            </a:r>
          </a:p>
        </p:txBody>
      </p:sp>
      <p:sp>
        <p:nvSpPr>
          <p:cNvPr id="22" name="Figure 3 label 21 line 1">
            <a:extLst xmlns:a="http://schemas.openxmlformats.org/drawingml/2006/main">
              <a:ext uri="{FF2B5EF4-FFF2-40B4-BE49-F238E27FC236}">
                <a16:creationId xmlns:a16="http://schemas.microsoft.com/office/drawing/2014/main" id="{396EB392-56C3-4060-BF94-4C5CCF2D4ED3}"/>
              </a:ext>
            </a:extLst>
          </p:cNvPr>
          <p:cNvSpPr>
            <a:spLocks xmlns:a="http://schemas.openxmlformats.org/drawingml/2006/main" noGrp="1"/>
          </p:cNvSpPr>
          <p:nvPr/>
        </p:nvSpPr>
        <p:spPr>
          <a:xfrm xmlns:a="http://schemas.openxmlformats.org/drawingml/2006/main" rot="0">
            <a:off x="11022820" y="6212662"/>
            <a:ext cx="631478"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7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875" b="0">
                <a:solidFill>
                  <a:srgbClr val="00355F"/>
                </a:solidFill>
                <a:latin typeface="Arial Unicode MS"/>
                <a:ea typeface="Arial Unicode MS"/>
                <a:cs typeface="Arial Unicode MS"/>
              </a:defRPr>
            </a:pPr>
            <a:r>
              <a:rPr sz="1875" b="0">
                <a:solidFill>
                  <a:srgbClr val="00355F"/>
                </a:solidFill>
                <a:latin typeface="Arial Unicode MS"/>
                <a:ea typeface="Arial Unicode MS"/>
                <a:cs typeface="Arial Unicode MS"/>
              </a:rPr>
              <a:t>15%</a:t>
            </a:r>
          </a:p>
        </p:txBody>
      </p:sp>
      <p:sp>
        <p:nvSpPr>
          <p:cNvPr id="23" name="Figure 3 label 22 line 1">
            <a:extLst xmlns:a="http://schemas.openxmlformats.org/drawingml/2006/main">
              <a:ext uri="{FF2B5EF4-FFF2-40B4-BE49-F238E27FC236}">
                <a16:creationId xmlns:a16="http://schemas.microsoft.com/office/drawing/2014/main" id="{D39442C5-E69E-4806-81B0-4E3E80BA82C1}"/>
              </a:ext>
            </a:extLst>
          </p:cNvPr>
          <p:cNvSpPr>
            <a:spLocks xmlns:a="http://schemas.openxmlformats.org/drawingml/2006/main" noGrp="1"/>
          </p:cNvSpPr>
          <p:nvPr/>
        </p:nvSpPr>
        <p:spPr>
          <a:xfrm xmlns:a="http://schemas.openxmlformats.org/drawingml/2006/main" rot="0">
            <a:off x="15046181" y="3905880"/>
            <a:ext cx="631478"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75" b="0">
                <a:solidFill>
                  <a:srgbClr val="FFFFFF"/>
                </a:solidFill>
                <a:latin typeface="Arial Unicode MS"/>
                <a:ea typeface="Arial Unicode MS"/>
                <a:cs typeface="Arial Unicode MS"/>
              </a:defRPr>
            </a:defPPr>
          </a:lstStyle>
          <a:p xmlns:a="http://schemas.openxmlformats.org/drawingml/2006/main">
            <a:pPr algn="ctr">
              <a:lnSpc>
                <a:spcPct val="100000"/>
              </a:lnSpc>
              <a:buNone/>
              <a:defRPr sz="1875" b="0">
                <a:solidFill>
                  <a:srgbClr val="FFFFFF"/>
                </a:solidFill>
                <a:latin typeface="Arial Unicode MS"/>
                <a:ea typeface="Arial Unicode MS"/>
                <a:cs typeface="Arial Unicode MS"/>
              </a:defRPr>
            </a:pPr>
            <a:r>
              <a:rPr sz="1875" b="0">
                <a:solidFill>
                  <a:srgbClr val="FFFFFF"/>
                </a:solidFill>
                <a:latin typeface="Arial Unicode MS"/>
                <a:ea typeface="Arial Unicode MS"/>
                <a:cs typeface="Arial Unicode MS"/>
              </a:rPr>
              <a:t>20%</a:t>
            </a:r>
          </a:p>
        </p:txBody>
      </p:sp>
      <p:sp>
        <p:nvSpPr>
          <p:cNvPr id="24" name="Figure 3 label 23 line 1">
            <a:extLst xmlns:a="http://schemas.openxmlformats.org/drawingml/2006/main">
              <a:ext uri="{FF2B5EF4-FFF2-40B4-BE49-F238E27FC236}">
                <a16:creationId xmlns:a16="http://schemas.microsoft.com/office/drawing/2014/main" id="{58CC873C-6043-40B4-92F3-44AB0EF97C19}"/>
              </a:ext>
            </a:extLst>
          </p:cNvPr>
          <p:cNvSpPr>
            <a:spLocks xmlns:a="http://schemas.openxmlformats.org/drawingml/2006/main" noGrp="1"/>
          </p:cNvSpPr>
          <p:nvPr/>
        </p:nvSpPr>
        <p:spPr>
          <a:xfrm xmlns:a="http://schemas.openxmlformats.org/drawingml/2006/main" rot="0">
            <a:off x="15411941" y="5059271"/>
            <a:ext cx="631478"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75" b="0">
                <a:solidFill>
                  <a:srgbClr val="FFFFFF"/>
                </a:solidFill>
                <a:latin typeface="Arial Unicode MS"/>
                <a:ea typeface="Arial Unicode MS"/>
                <a:cs typeface="Arial Unicode MS"/>
              </a:defRPr>
            </a:defPPr>
          </a:lstStyle>
          <a:p xmlns:a="http://schemas.openxmlformats.org/drawingml/2006/main">
            <a:pPr algn="ctr">
              <a:lnSpc>
                <a:spcPct val="100000"/>
              </a:lnSpc>
              <a:buNone/>
              <a:defRPr sz="1875" b="0">
                <a:solidFill>
                  <a:srgbClr val="FFFFFF"/>
                </a:solidFill>
                <a:latin typeface="Arial Unicode MS"/>
                <a:ea typeface="Arial Unicode MS"/>
                <a:cs typeface="Arial Unicode MS"/>
              </a:defRPr>
            </a:pPr>
            <a:r>
              <a:rPr sz="1875" b="0">
                <a:solidFill>
                  <a:srgbClr val="FFFFFF"/>
                </a:solidFill>
                <a:latin typeface="Arial Unicode MS"/>
                <a:ea typeface="Arial Unicode MS"/>
                <a:cs typeface="Arial Unicode MS"/>
              </a:rPr>
              <a:t>15%</a:t>
            </a:r>
          </a:p>
        </p:txBody>
      </p:sp>
      <p:sp>
        <p:nvSpPr>
          <p:cNvPr id="25" name="Figure 3 label 24 line 1">
            <a:extLst xmlns:a="http://schemas.openxmlformats.org/drawingml/2006/main">
              <a:ext uri="{FF2B5EF4-FFF2-40B4-BE49-F238E27FC236}">
                <a16:creationId xmlns:a16="http://schemas.microsoft.com/office/drawing/2014/main" id="{D91E3DC5-5885-495A-AC3D-D0195FD313CC}"/>
              </a:ext>
            </a:extLst>
          </p:cNvPr>
          <p:cNvSpPr>
            <a:spLocks xmlns:a="http://schemas.openxmlformats.org/drawingml/2006/main" noGrp="1"/>
          </p:cNvSpPr>
          <p:nvPr/>
        </p:nvSpPr>
        <p:spPr>
          <a:xfrm xmlns:a="http://schemas.openxmlformats.org/drawingml/2006/main" rot="0">
            <a:off x="14314660" y="6212662"/>
            <a:ext cx="631478"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75" b="0">
                <a:solidFill>
                  <a:srgbClr val="FFFFFF"/>
                </a:solidFill>
                <a:latin typeface="Arial Unicode MS"/>
                <a:ea typeface="Arial Unicode MS"/>
                <a:cs typeface="Arial Unicode MS"/>
              </a:defRPr>
            </a:defPPr>
          </a:lstStyle>
          <a:p xmlns:a="http://schemas.openxmlformats.org/drawingml/2006/main">
            <a:pPr algn="ctr">
              <a:lnSpc>
                <a:spcPct val="100000"/>
              </a:lnSpc>
              <a:buNone/>
              <a:defRPr sz="1875" b="0">
                <a:solidFill>
                  <a:srgbClr val="FFFFFF"/>
                </a:solidFill>
                <a:latin typeface="Arial Unicode MS"/>
                <a:ea typeface="Arial Unicode MS"/>
                <a:cs typeface="Arial Unicode MS"/>
              </a:defRPr>
            </a:pPr>
            <a:r>
              <a:rPr sz="1875" b="0">
                <a:solidFill>
                  <a:srgbClr val="FFFFFF"/>
                </a:solidFill>
                <a:latin typeface="Arial Unicode MS"/>
                <a:ea typeface="Arial Unicode MS"/>
                <a:cs typeface="Arial Unicode MS"/>
              </a:rPr>
              <a:t>30%</a:t>
            </a:r>
          </a:p>
        </p:txBody>
      </p:sp>
      <p:sp>
        <p:nvSpPr>
          <p:cNvPr id="26" name="Figure 3 label 25 line 1">
            <a:extLst xmlns:a="http://schemas.openxmlformats.org/drawingml/2006/main">
              <a:ext uri="{FF2B5EF4-FFF2-40B4-BE49-F238E27FC236}">
                <a16:creationId xmlns:a16="http://schemas.microsoft.com/office/drawing/2014/main" id="{D9AC6997-54D9-43A6-AD7F-FE19D83B5229}"/>
              </a:ext>
            </a:extLst>
          </p:cNvPr>
          <p:cNvSpPr>
            <a:spLocks xmlns:a="http://schemas.openxmlformats.org/drawingml/2006/main" noGrp="1"/>
          </p:cNvSpPr>
          <p:nvPr/>
        </p:nvSpPr>
        <p:spPr>
          <a:xfrm xmlns:a="http://schemas.openxmlformats.org/drawingml/2006/main" rot="0">
            <a:off x="991870" y="421675"/>
            <a:ext cx="5816848" cy="436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750" b="1">
                <a:solidFill>
                  <a:srgbClr val="00355F"/>
                </a:solidFill>
                <a:latin typeface="Arial Unicode MS"/>
                <a:ea typeface="Arial Unicode MS"/>
                <a:cs typeface="Arial Unicode MS"/>
              </a:defRPr>
            </a:defPPr>
          </a:lstStyle>
          <a:p xmlns:a="http://schemas.openxmlformats.org/drawingml/2006/main">
            <a:pPr algn="l">
              <a:lnSpc>
                <a:spcPct val="100000"/>
              </a:lnSpc>
              <a:buNone/>
              <a:defRPr sz="2750" b="1">
                <a:solidFill>
                  <a:srgbClr val="00355F"/>
                </a:solidFill>
                <a:latin typeface="Arial Unicode MS"/>
                <a:ea typeface="Arial Unicode MS"/>
                <a:cs typeface="Arial Unicode MS"/>
              </a:defRPr>
            </a:pPr>
            <a:r>
              <a:rPr sz="2750" b="1">
                <a:solidFill>
                  <a:srgbClr val="00355F"/>
                </a:solidFill>
                <a:latin typeface="Arial Unicode MS"/>
                <a:ea typeface="Arial Unicode MS"/>
                <a:cs typeface="Arial Unicode MS"/>
              </a:rPr>
              <a:t>03  How downstream demand differs</a:t>
            </a:r>
          </a:p>
        </p:txBody>
      </p:sp>
      <p:sp>
        <p:nvSpPr>
          <p:cNvPr id="27" name="Figure 3 label 26 line 1">
            <a:extLst xmlns:a="http://schemas.openxmlformats.org/drawingml/2006/main">
              <a:ext uri="{FF2B5EF4-FFF2-40B4-BE49-F238E27FC236}">
                <a16:creationId xmlns:a16="http://schemas.microsoft.com/office/drawing/2014/main" id="{4940D251-3A0E-4F24-B5E1-4CD0082024AC}"/>
              </a:ext>
            </a:extLst>
          </p:cNvPr>
          <p:cNvSpPr>
            <a:spLocks xmlns:a="http://schemas.openxmlformats.org/drawingml/2006/main" noGrp="1"/>
          </p:cNvSpPr>
          <p:nvPr/>
        </p:nvSpPr>
        <p:spPr>
          <a:xfrm xmlns:a="http://schemas.openxmlformats.org/drawingml/2006/main" rot="0">
            <a:off x="15653693" y="661601"/>
            <a:ext cx="1153815" cy="188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188"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188" b="0">
                <a:solidFill>
                  <a:srgbClr val="00355F"/>
                </a:solidFill>
                <a:latin typeface="Arial Unicode MS"/>
                <a:ea typeface="Arial Unicode MS"/>
                <a:cs typeface="Arial Unicode MS"/>
              </a:defRPr>
            </a:pPr>
            <a:r>
              <a:rPr sz="1188" b="0">
                <a:solidFill>
                  <a:srgbClr val="00355F"/>
                </a:solidFill>
                <a:latin typeface="Arial Unicode MS"/>
                <a:ea typeface="Arial Unicode MS"/>
                <a:cs typeface="Arial Unicode MS"/>
              </a:rPr>
              <a:t>ILLUSTRATIVE</a:t>
            </a:r>
          </a:p>
        </p:txBody>
      </p:sp>
      <p:sp>
        <p:nvSpPr>
          <p:cNvPr id="28" name="Figure 3 label 27 line 1">
            <a:extLst xmlns:a="http://schemas.openxmlformats.org/drawingml/2006/main">
              <a:ext uri="{FF2B5EF4-FFF2-40B4-BE49-F238E27FC236}">
                <a16:creationId xmlns:a16="http://schemas.microsoft.com/office/drawing/2014/main" id="{F272434E-A069-4FF0-BCAD-CC4F1BF3060E}"/>
              </a:ext>
            </a:extLst>
          </p:cNvPr>
          <p:cNvSpPr>
            <a:spLocks xmlns:a="http://schemas.openxmlformats.org/drawingml/2006/main" noGrp="1"/>
          </p:cNvSpPr>
          <p:nvPr/>
        </p:nvSpPr>
        <p:spPr>
          <a:xfrm xmlns:a="http://schemas.openxmlformats.org/drawingml/2006/main" rot="0">
            <a:off x="998220" y="1249487"/>
            <a:ext cx="8573542"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Direct purchasing differs by product basket. These supplied assumptions sum to 100% for each row.</a:t>
            </a:r>
          </a:p>
        </p:txBody>
      </p:sp>
      <p:sp>
        <p:nvSpPr>
          <p:cNvPr id="29" name="Figure 3 label 28 line 1">
            <a:extLst xmlns:a="http://schemas.openxmlformats.org/drawingml/2006/main">
              <a:ext uri="{FF2B5EF4-FFF2-40B4-BE49-F238E27FC236}">
                <a16:creationId xmlns:a16="http://schemas.microsoft.com/office/drawing/2014/main" id="{9564D7A7-62D7-4512-8579-F3B2F7CFE4C6}"/>
              </a:ext>
            </a:extLst>
          </p:cNvPr>
          <p:cNvSpPr>
            <a:spLocks xmlns:a="http://schemas.openxmlformats.org/drawingml/2006/main" noGrp="1"/>
          </p:cNvSpPr>
          <p:nvPr/>
        </p:nvSpPr>
        <p:spPr>
          <a:xfrm xmlns:a="http://schemas.openxmlformats.org/drawingml/2006/main" rot="0">
            <a:off x="999173" y="9256035"/>
            <a:ext cx="8085386"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CRO/CDMO purchases are separate from pharma-owned production. Hospitals are not separately modeled.</a:t>
            </a:r>
          </a:p>
        </p:txBody>
      </p:sp>
      <p:sp>
        <p:nvSpPr>
          <p:cNvPr id="30" name="Figure 3 label 29 line 1">
            <a:extLst xmlns:a="http://schemas.openxmlformats.org/drawingml/2006/main">
              <a:ext uri="{FF2B5EF4-FFF2-40B4-BE49-F238E27FC236}">
                <a16:creationId xmlns:a16="http://schemas.microsoft.com/office/drawing/2014/main" id="{7D3A7750-7CAD-4766-A22C-6E867F478716}"/>
              </a:ext>
            </a:extLst>
          </p:cNvPr>
          <p:cNvSpPr>
            <a:spLocks xmlns:a="http://schemas.openxmlformats.org/drawingml/2006/main" noGrp="1"/>
          </p:cNvSpPr>
          <p:nvPr/>
        </p:nvSpPr>
        <p:spPr>
          <a:xfrm xmlns:a="http://schemas.openxmlformats.org/drawingml/2006/main" rot="0">
            <a:off x="1000316" y="9676290"/>
            <a:ext cx="5943035" cy="1726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88" b="0">
                <a:solidFill>
                  <a:srgbClr val="00355F"/>
                </a:solidFill>
                <a:latin typeface="Arial Unicode MS"/>
                <a:ea typeface="Arial Unicode MS"/>
                <a:cs typeface="Arial Unicode MS"/>
              </a:defRPr>
            </a:defPPr>
          </a:lstStyle>
          <a:p xmlns:a="http://schemas.openxmlformats.org/drawingml/2006/main">
            <a:pPr algn="l">
              <a:lnSpc>
                <a:spcPct val="100000"/>
              </a:lnSpc>
              <a:buNone/>
              <a:defRPr sz="1088" b="0">
                <a:solidFill>
                  <a:srgbClr val="00355F"/>
                </a:solidFill>
                <a:latin typeface="Arial Unicode MS"/>
                <a:ea typeface="Arial Unicode MS"/>
                <a:cs typeface="Arial Unicode MS"/>
              </a:defRPr>
            </a:pPr>
            <a:r>
              <a:rPr sz="1088" b="0">
                <a:solidFill>
                  <a:srgbClr val="00355F"/>
                </a:solidFill>
                <a:latin typeface="Arial Unicode MS"/>
                <a:ea typeface="Arial Unicode MS"/>
                <a:cs typeface="Arial Unicode MS"/>
              </a:rPr>
              <a:t>Source: illustrative shares in the supplied manuscript; these are not measured customer shares.</a:t>
            </a:r>
          </a:p>
        </p:txBody>
      </p:sp>
      <p:sp>
        <p:nvSpPr>
          <p:cNvPr id="31" name="Figure 3 label 30 line 1">
            <a:extLst xmlns:a="http://schemas.openxmlformats.org/drawingml/2006/main">
              <a:ext uri="{FF2B5EF4-FFF2-40B4-BE49-F238E27FC236}">
                <a16:creationId xmlns:a16="http://schemas.microsoft.com/office/drawing/2014/main" id="{C08F2162-24B5-4EC4-9E8A-F0EC42AC97D5}"/>
              </a:ext>
            </a:extLst>
          </p:cNvPr>
          <p:cNvSpPr>
            <a:spLocks xmlns:a="http://schemas.openxmlformats.org/drawingml/2006/main" noGrp="1"/>
          </p:cNvSpPr>
          <p:nvPr/>
        </p:nvSpPr>
        <p:spPr>
          <a:xfrm xmlns:a="http://schemas.openxmlformats.org/drawingml/2006/main" rot="0">
            <a:off x="16440260" y="9667497"/>
            <a:ext cx="841901" cy="1825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150" b="0">
                <a:solidFill>
                  <a:srgbClr val="00355F"/>
                </a:solidFill>
                <a:latin typeface="Arial Unicode MS"/>
                <a:ea typeface="Arial Unicode MS"/>
                <a:cs typeface="Arial Unicode MS"/>
              </a:defRPr>
            </a:defPPr>
          </a:lstStyle>
          <a:p xmlns:a="http://schemas.openxmlformats.org/drawingml/2006/main">
            <a:pPr algn="r">
              <a:lnSpc>
                <a:spcPct val="100000"/>
              </a:lnSpc>
              <a:buNone/>
              <a:defRPr sz="1150" b="0">
                <a:solidFill>
                  <a:srgbClr val="00355F"/>
                </a:solidFill>
                <a:latin typeface="Arial Unicode MS"/>
                <a:ea typeface="Arial Unicode MS"/>
                <a:cs typeface="Arial Unicode MS"/>
              </a:defRPr>
            </a:pPr>
            <a:r>
              <a:rPr sz="1150" b="0">
                <a:solidFill>
                  <a:srgbClr val="00355F"/>
                </a:solidFill>
                <a:latin typeface="Arial Unicode MS"/>
                <a:ea typeface="Arial Unicode MS"/>
                <a:cs typeface="Arial Unicode MS"/>
              </a:rPr>
              <a:t>2026-10-12</a:t>
            </a:r>
          </a:p>
        </p:txBody>
      </p:sp>
      <p:sp>
        <p:nvSpPr>
          <p:cNvPr id="32" name="Figure 3 label 31 line 1">
            <a:extLst xmlns:a="http://schemas.openxmlformats.org/drawingml/2006/main">
              <a:ext uri="{FF2B5EF4-FFF2-40B4-BE49-F238E27FC236}">
                <a16:creationId xmlns:a16="http://schemas.microsoft.com/office/drawing/2014/main" id="{21F9D0E8-30BD-4E3B-9337-7ABA6B7FE8D1}"/>
              </a:ext>
            </a:extLst>
          </p:cNvPr>
          <p:cNvSpPr>
            <a:spLocks xmlns:a="http://schemas.openxmlformats.org/drawingml/2006/main" noGrp="1"/>
          </p:cNvSpPr>
          <p:nvPr/>
        </p:nvSpPr>
        <p:spPr>
          <a:xfrm xmlns:a="http://schemas.openxmlformats.org/drawingml/2006/main" rot="0">
            <a:off x="2552700" y="8161190"/>
            <a:ext cx="443344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Reagents: more research exposure in this scenario</a:t>
            </a:r>
          </a:p>
        </p:txBody>
      </p:sp>
      <p:sp>
        <p:nvSpPr>
          <p:cNvPr id="33" name="Figure 3 label 32 line 1">
            <a:extLst xmlns:a="http://schemas.openxmlformats.org/drawingml/2006/main">
              <a:ext uri="{FF2B5EF4-FFF2-40B4-BE49-F238E27FC236}">
                <a16:creationId xmlns:a16="http://schemas.microsoft.com/office/drawing/2014/main" id="{27B584B0-2882-4958-BCC3-0D7A62B6716D}"/>
              </a:ext>
            </a:extLst>
          </p:cNvPr>
          <p:cNvSpPr>
            <a:spLocks xmlns:a="http://schemas.openxmlformats.org/drawingml/2006/main" noGrp="1"/>
          </p:cNvSpPr>
          <p:nvPr/>
        </p:nvSpPr>
        <p:spPr>
          <a:xfrm xmlns:a="http://schemas.openxmlformats.org/drawingml/2006/main" rot="0">
            <a:off x="10599421" y="8163378"/>
            <a:ext cx="3607743"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Consumables: more production exposure</a:t>
            </a:r>
          </a:p>
        </p:txBody>
      </p:sp>
      <p:sp>
        <p:nvSpPr>
          <p:cNvPr id="34" name="Figure 3 label 33 line 1">
            <a:extLst xmlns:a="http://schemas.openxmlformats.org/drawingml/2006/main">
              <a:ext uri="{FF2B5EF4-FFF2-40B4-BE49-F238E27FC236}">
                <a16:creationId xmlns:a16="http://schemas.microsoft.com/office/drawing/2014/main" id="{AC4D5C11-2331-46B7-867D-7F71DF16F39D}"/>
              </a:ext>
            </a:extLst>
          </p:cNvPr>
          <p:cNvSpPr>
            <a:spLocks xmlns:a="http://schemas.openxmlformats.org/drawingml/2006/main" noGrp="1"/>
          </p:cNvSpPr>
          <p:nvPr/>
        </p:nvSpPr>
        <p:spPr>
          <a:xfrm xmlns:a="http://schemas.openxmlformats.org/drawingml/2006/main" rot="0">
            <a:off x="5075317" y="2353584"/>
            <a:ext cx="825431" cy="202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0000"/>
                </a:solidFill>
                <a:latin typeface="Arial Unicode MS"/>
                <a:ea typeface="Arial Unicode MS"/>
                <a:cs typeface="Arial Unicode MS"/>
              </a:defRPr>
            </a:defPPr>
          </a:lstStyle>
          <a:p xmlns:a="http://schemas.openxmlformats.org/drawingml/2006/main">
            <a:pPr algn="l">
              <a:lnSpc>
                <a:spcPct val="100000"/>
              </a:lnSpc>
              <a:buNone/>
              <a:defRPr sz="1275" b="0">
                <a:solidFill>
                  <a:srgbClr val="000000"/>
                </a:solidFill>
                <a:latin typeface="Arial Unicode MS"/>
                <a:ea typeface="Arial Unicode MS"/>
                <a:cs typeface="Arial Unicode MS"/>
              </a:defRPr>
            </a:pPr>
            <a:r>
              <a:rPr sz="1275" b="0">
                <a:solidFill>
                  <a:srgbClr val="000000"/>
                </a:solidFill>
                <a:latin typeface="Arial Unicode MS"/>
                <a:ea typeface="Arial Unicode MS"/>
                <a:cs typeface="Arial Unicode MS"/>
              </a:rPr>
              <a:t>Academia</a:t>
            </a:r>
          </a:p>
        </p:txBody>
      </p:sp>
      <p:sp>
        <p:nvSpPr>
          <p:cNvPr id="35" name="Figure 3 label 34 line 1">
            <a:extLst xmlns:a="http://schemas.openxmlformats.org/drawingml/2006/main">
              <a:ext uri="{FF2B5EF4-FFF2-40B4-BE49-F238E27FC236}">
                <a16:creationId xmlns:a16="http://schemas.microsoft.com/office/drawing/2014/main" id="{6D0B0FBA-D5F0-4624-A2C6-98967BF2D515}"/>
              </a:ext>
            </a:extLst>
          </p:cNvPr>
          <p:cNvSpPr>
            <a:spLocks xmlns:a="http://schemas.openxmlformats.org/drawingml/2006/main" noGrp="1"/>
          </p:cNvSpPr>
          <p:nvPr/>
        </p:nvSpPr>
        <p:spPr>
          <a:xfrm xmlns:a="http://schemas.openxmlformats.org/drawingml/2006/main" rot="0">
            <a:off x="6572567" y="2353584"/>
            <a:ext cx="1716316" cy="202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0000"/>
                </a:solidFill>
                <a:latin typeface="Arial Unicode MS"/>
                <a:ea typeface="Arial Unicode MS"/>
                <a:cs typeface="Arial Unicode MS"/>
              </a:defRPr>
            </a:defPPr>
          </a:lstStyle>
          <a:p xmlns:a="http://schemas.openxmlformats.org/drawingml/2006/main">
            <a:pPr algn="l">
              <a:lnSpc>
                <a:spcPct val="100000"/>
              </a:lnSpc>
              <a:buNone/>
              <a:defRPr sz="1275" b="0">
                <a:solidFill>
                  <a:srgbClr val="000000"/>
                </a:solidFill>
                <a:latin typeface="Arial Unicode MS"/>
                <a:ea typeface="Arial Unicode MS"/>
                <a:cs typeface="Arial Unicode MS"/>
              </a:defRPr>
            </a:pPr>
            <a:r>
              <a:rPr sz="1275" b="0">
                <a:solidFill>
                  <a:srgbClr val="000000"/>
                </a:solidFill>
                <a:latin typeface="Arial Unicode MS"/>
                <a:ea typeface="Arial Unicode MS"/>
                <a:cs typeface="Arial Unicode MS"/>
              </a:rPr>
              <a:t>Biotech / pharma R&amp;D</a:t>
            </a:r>
          </a:p>
        </p:txBody>
      </p:sp>
      <p:sp>
        <p:nvSpPr>
          <p:cNvPr id="36" name="Figure 3 label 35 line 1">
            <a:extLst xmlns:a="http://schemas.openxmlformats.org/drawingml/2006/main">
              <a:ext uri="{FF2B5EF4-FFF2-40B4-BE49-F238E27FC236}">
                <a16:creationId xmlns:a16="http://schemas.microsoft.com/office/drawing/2014/main" id="{C96A2F1D-F75F-4657-BA98-A0E0EE0B2491}"/>
              </a:ext>
            </a:extLst>
          </p:cNvPr>
          <p:cNvSpPr>
            <a:spLocks xmlns:a="http://schemas.openxmlformats.org/drawingml/2006/main" noGrp="1"/>
          </p:cNvSpPr>
          <p:nvPr/>
        </p:nvSpPr>
        <p:spPr>
          <a:xfrm xmlns:a="http://schemas.openxmlformats.org/drawingml/2006/main" rot="0">
            <a:off x="8960682" y="2353584"/>
            <a:ext cx="1094809" cy="202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0000"/>
                </a:solidFill>
                <a:latin typeface="Arial Unicode MS"/>
                <a:ea typeface="Arial Unicode MS"/>
                <a:cs typeface="Arial Unicode MS"/>
              </a:defRPr>
            </a:defPPr>
          </a:lstStyle>
          <a:p xmlns:a="http://schemas.openxmlformats.org/drawingml/2006/main">
            <a:pPr algn="l">
              <a:lnSpc>
                <a:spcPct val="100000"/>
              </a:lnSpc>
              <a:buNone/>
              <a:defRPr sz="1275" b="0">
                <a:solidFill>
                  <a:srgbClr val="000000"/>
                </a:solidFill>
                <a:latin typeface="Arial Unicode MS"/>
                <a:ea typeface="Arial Unicode MS"/>
                <a:cs typeface="Arial Unicode MS"/>
              </a:defRPr>
            </a:pPr>
            <a:r>
              <a:rPr sz="1275" b="0">
                <a:solidFill>
                  <a:srgbClr val="000000"/>
                </a:solidFill>
                <a:latin typeface="Arial Unicode MS"/>
                <a:ea typeface="Arial Unicode MS"/>
                <a:cs typeface="Arial Unicode MS"/>
              </a:rPr>
              <a:t>CRO / CDMO</a:t>
            </a:r>
          </a:p>
        </p:txBody>
      </p:sp>
      <p:sp>
        <p:nvSpPr>
          <p:cNvPr id="37" name="Figure 3 label 36 line 1">
            <a:extLst xmlns:a="http://schemas.openxmlformats.org/drawingml/2006/main">
              <a:ext uri="{FF2B5EF4-FFF2-40B4-BE49-F238E27FC236}">
                <a16:creationId xmlns:a16="http://schemas.microsoft.com/office/drawing/2014/main" id="{500AB780-65CA-4D4E-BB86-DA537D2625D9}"/>
              </a:ext>
            </a:extLst>
          </p:cNvPr>
          <p:cNvSpPr>
            <a:spLocks xmlns:a="http://schemas.openxmlformats.org/drawingml/2006/main" noGrp="1"/>
          </p:cNvSpPr>
          <p:nvPr/>
        </p:nvSpPr>
        <p:spPr>
          <a:xfrm xmlns:a="http://schemas.openxmlformats.org/drawingml/2006/main" rot="0">
            <a:off x="10727410" y="2353584"/>
            <a:ext cx="1743402" cy="202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0000"/>
                </a:solidFill>
                <a:latin typeface="Arial Unicode MS"/>
                <a:ea typeface="Arial Unicode MS"/>
                <a:cs typeface="Arial Unicode MS"/>
              </a:defRPr>
            </a:defPPr>
          </a:lstStyle>
          <a:p xmlns:a="http://schemas.openxmlformats.org/drawingml/2006/main">
            <a:pPr algn="l">
              <a:lnSpc>
                <a:spcPct val="100000"/>
              </a:lnSpc>
              <a:buNone/>
              <a:defRPr sz="1275" b="0">
                <a:solidFill>
                  <a:srgbClr val="000000"/>
                </a:solidFill>
                <a:latin typeface="Arial Unicode MS"/>
                <a:ea typeface="Arial Unicode MS"/>
                <a:cs typeface="Arial Unicode MS"/>
              </a:defRPr>
            </a:pPr>
            <a:r>
              <a:rPr sz="1275" b="0">
                <a:solidFill>
                  <a:srgbClr val="000000"/>
                </a:solidFill>
                <a:latin typeface="Arial Unicode MS"/>
                <a:ea typeface="Arial Unicode MS"/>
                <a:cs typeface="Arial Unicode MS"/>
              </a:rPr>
              <a:t>Pharma manufacturing</a:t>
            </a:r>
          </a:p>
        </p:txBody>
      </p:sp>
      <p:sp>
        <p:nvSpPr>
          <p:cNvPr id="38" name="Figure 3 label 37 line 1">
            <a:extLst xmlns:a="http://schemas.openxmlformats.org/drawingml/2006/main">
              <a:ext uri="{FF2B5EF4-FFF2-40B4-BE49-F238E27FC236}">
                <a16:creationId xmlns:a16="http://schemas.microsoft.com/office/drawing/2014/main" id="{052C159A-F1C7-413C-B927-AA82B2F4FCCF}"/>
              </a:ext>
            </a:extLst>
          </p:cNvPr>
          <p:cNvSpPr>
            <a:spLocks xmlns:a="http://schemas.openxmlformats.org/drawingml/2006/main" noGrp="1"/>
          </p:cNvSpPr>
          <p:nvPr/>
        </p:nvSpPr>
        <p:spPr>
          <a:xfrm xmlns:a="http://schemas.openxmlformats.org/drawingml/2006/main" rot="0">
            <a:off x="13142599" y="2353584"/>
            <a:ext cx="1347371" cy="202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0000"/>
                </a:solidFill>
                <a:latin typeface="Arial Unicode MS"/>
                <a:ea typeface="Arial Unicode MS"/>
                <a:cs typeface="Arial Unicode MS"/>
              </a:defRPr>
            </a:defPPr>
          </a:lstStyle>
          <a:p xmlns:a="http://schemas.openxmlformats.org/drawingml/2006/main">
            <a:pPr algn="l">
              <a:lnSpc>
                <a:spcPct val="100000"/>
              </a:lnSpc>
              <a:buNone/>
              <a:defRPr sz="1275" b="0">
                <a:solidFill>
                  <a:srgbClr val="000000"/>
                </a:solidFill>
                <a:latin typeface="Arial Unicode MS"/>
                <a:ea typeface="Arial Unicode MS"/>
                <a:cs typeface="Arial Unicode MS"/>
              </a:defRPr>
            </a:pPr>
            <a:r>
              <a:rPr sz="1275" b="0">
                <a:solidFill>
                  <a:srgbClr val="000000"/>
                </a:solidFill>
                <a:latin typeface="Arial Unicode MS"/>
                <a:ea typeface="Arial Unicode MS"/>
                <a:cs typeface="Arial Unicode MS"/>
              </a:rPr>
              <a:t>IVD development</a:t>
            </a:r>
          </a:p>
        </p:txBody>
      </p:sp>
    </p:spTree>
    <p:extLst>
      <p:ext uri="{BB962C8B-B14F-4D97-AF65-F5344CB8AC3E}">
        <p14:creationId xmlns:p14="http://schemas.microsoft.com/office/powerpoint/2010/main" val="1963133623"/>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7" name="">
            <a:extLst xmlns:a="http://schemas.openxmlformats.org/drawingml/2006/main">
              <a:ext uri="{FF2B5EF4-FFF2-40B4-BE49-F238E27FC236}">
                <a16:creationId xmlns:a16="http://schemas.microsoft.com/office/drawing/2014/main" id="{BE3CB206-D235-4682-ACDE-DE2C7D6C9A76}"/>
              </a:ext>
            </a:extLst>
          </p:cNvPr>
          <p:cNvPicPr>
            <a:picLocks xmlns:a="http://schemas.openxmlformats.org/drawingml/2006/main" noChangeAspect="1"/>
          </p:cNvPicPr>
          <p:nvPr/>
        </p:nvPicPr>
        <p:blipFill>
          <a:blip xmlns:r="http://schemas.openxmlformats.org/officeDocument/2006/relationships" xmlns:a="http://schemas.openxmlformats.org/drawingml/2006/main" r:embed="R21337d2f32234cf4"/>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Figure 4 label 1 line 1">
            <a:extLst xmlns:a="http://schemas.openxmlformats.org/drawingml/2006/main">
              <a:ext uri="{FF2B5EF4-FFF2-40B4-BE49-F238E27FC236}">
                <a16:creationId xmlns:a16="http://schemas.microsoft.com/office/drawing/2014/main" id="{848DB097-B4B4-42F4-826D-22F7C9547BD8}"/>
              </a:ext>
            </a:extLst>
          </p:cNvPr>
          <p:cNvSpPr>
            <a:spLocks xmlns:a="http://schemas.openxmlformats.org/drawingml/2006/main" noGrp="1"/>
          </p:cNvSpPr>
          <p:nvPr/>
        </p:nvSpPr>
        <p:spPr>
          <a:xfrm xmlns:a="http://schemas.openxmlformats.org/drawingml/2006/main" rot="0">
            <a:off x="991870" y="421920"/>
            <a:ext cx="6360517" cy="436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750" b="1">
                <a:solidFill>
                  <a:srgbClr val="00355F"/>
                </a:solidFill>
                <a:latin typeface="Arial Unicode MS"/>
                <a:ea typeface="Arial Unicode MS"/>
                <a:cs typeface="Arial Unicode MS"/>
              </a:defRPr>
            </a:defPPr>
          </a:lstStyle>
          <a:p xmlns:a="http://schemas.openxmlformats.org/drawingml/2006/main">
            <a:pPr algn="l">
              <a:lnSpc>
                <a:spcPct val="100000"/>
              </a:lnSpc>
              <a:buNone/>
              <a:defRPr sz="2750" b="1">
                <a:solidFill>
                  <a:srgbClr val="00355F"/>
                </a:solidFill>
                <a:latin typeface="Arial Unicode MS"/>
                <a:ea typeface="Arial Unicode MS"/>
                <a:cs typeface="Arial Unicode MS"/>
              </a:defRPr>
            </a:pPr>
            <a:r>
              <a:rPr sz="2750" b="1">
                <a:solidFill>
                  <a:srgbClr val="00355F"/>
                </a:solidFill>
                <a:latin typeface="Arial Unicode MS"/>
                <a:ea typeface="Arial Unicode MS"/>
                <a:cs typeface="Arial Unicode MS"/>
              </a:rPr>
              <a:t>04  AI discovery and its LST touchpoints</a:t>
            </a:r>
          </a:p>
        </p:txBody>
      </p:sp>
      <p:sp>
        <p:nvSpPr>
          <p:cNvPr id="3" name="Figure 4 label 2 line 1">
            <a:extLst xmlns:a="http://schemas.openxmlformats.org/drawingml/2006/main">
              <a:ext uri="{FF2B5EF4-FFF2-40B4-BE49-F238E27FC236}">
                <a16:creationId xmlns:a16="http://schemas.microsoft.com/office/drawing/2014/main" id="{26F6CB33-B206-49AB-A27E-0F119F29C76D}"/>
              </a:ext>
            </a:extLst>
          </p:cNvPr>
          <p:cNvSpPr>
            <a:spLocks xmlns:a="http://schemas.openxmlformats.org/drawingml/2006/main" noGrp="1"/>
          </p:cNvSpPr>
          <p:nvPr/>
        </p:nvSpPr>
        <p:spPr>
          <a:xfrm xmlns:a="http://schemas.openxmlformats.org/drawingml/2006/main" rot="0">
            <a:off x="15720815" y="661601"/>
            <a:ext cx="1019572" cy="188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188"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188" b="0">
                <a:solidFill>
                  <a:srgbClr val="00355F"/>
                </a:solidFill>
                <a:latin typeface="Arial Unicode MS"/>
                <a:ea typeface="Arial Unicode MS"/>
                <a:cs typeface="Arial Unicode MS"/>
              </a:defRPr>
            </a:pPr>
            <a:r>
              <a:rPr sz="1188" b="0">
                <a:solidFill>
                  <a:srgbClr val="00355F"/>
                </a:solidFill>
                <a:latin typeface="Arial Unicode MS"/>
                <a:ea typeface="Arial Unicode MS"/>
                <a:cs typeface="Arial Unicode MS"/>
              </a:rPr>
              <a:t>MECHANISM</a:t>
            </a:r>
          </a:p>
        </p:txBody>
      </p:sp>
      <p:sp>
        <p:nvSpPr>
          <p:cNvPr id="4" name="Figure 4 label 3 line 1">
            <a:extLst xmlns:a="http://schemas.openxmlformats.org/drawingml/2006/main">
              <a:ext uri="{FF2B5EF4-FFF2-40B4-BE49-F238E27FC236}">
                <a16:creationId xmlns:a16="http://schemas.microsoft.com/office/drawing/2014/main" id="{34870BD8-5267-44BE-8C76-DE5850058486}"/>
              </a:ext>
            </a:extLst>
          </p:cNvPr>
          <p:cNvSpPr>
            <a:spLocks xmlns:a="http://schemas.openxmlformats.org/drawingml/2006/main" noGrp="1"/>
          </p:cNvSpPr>
          <p:nvPr/>
        </p:nvSpPr>
        <p:spPr>
          <a:xfrm xmlns:a="http://schemas.openxmlformats.org/drawingml/2006/main" rot="0">
            <a:off x="998220" y="1249487"/>
            <a:ext cx="8966448"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AI candidates need physical construction and experimental feedback. Orders depend on funded projects.</a:t>
            </a:r>
          </a:p>
        </p:txBody>
      </p:sp>
      <p:sp>
        <p:nvSpPr>
          <p:cNvPr id="5" name="Figure 4 label 4 line 1">
            <a:extLst xmlns:a="http://schemas.openxmlformats.org/drawingml/2006/main">
              <a:ext uri="{FF2B5EF4-FFF2-40B4-BE49-F238E27FC236}">
                <a16:creationId xmlns:a16="http://schemas.microsoft.com/office/drawing/2014/main" id="{D1ECAB38-A7B2-4473-994D-58E01DAD2933}"/>
              </a:ext>
            </a:extLst>
          </p:cNvPr>
          <p:cNvSpPr>
            <a:spLocks xmlns:a="http://schemas.openxmlformats.org/drawingml/2006/main" noGrp="1"/>
          </p:cNvSpPr>
          <p:nvPr/>
        </p:nvSpPr>
        <p:spPr>
          <a:xfrm xmlns:a="http://schemas.openxmlformats.org/drawingml/2006/main" rot="0">
            <a:off x="999173" y="9256035"/>
            <a:ext cx="7706172"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Stages 2–3 have more direct exposure. Clinical and manufacturing demand face attrition and time lags.</a:t>
            </a:r>
          </a:p>
        </p:txBody>
      </p:sp>
      <p:sp>
        <p:nvSpPr>
          <p:cNvPr id="6" name="Figure 4 label 5 line 1">
            <a:extLst xmlns:a="http://schemas.openxmlformats.org/drawingml/2006/main">
              <a:ext uri="{FF2B5EF4-FFF2-40B4-BE49-F238E27FC236}">
                <a16:creationId xmlns:a16="http://schemas.microsoft.com/office/drawing/2014/main" id="{24271B04-9B20-49C5-B447-3B59420415A1}"/>
              </a:ext>
            </a:extLst>
          </p:cNvPr>
          <p:cNvSpPr>
            <a:spLocks xmlns:a="http://schemas.openxmlformats.org/drawingml/2006/main" noGrp="1"/>
          </p:cNvSpPr>
          <p:nvPr/>
        </p:nvSpPr>
        <p:spPr>
          <a:xfrm xmlns:a="http://schemas.openxmlformats.org/drawingml/2006/main" rot="0">
            <a:off x="1000316" y="9676290"/>
            <a:ext cx="6595050" cy="1726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88" b="0">
                <a:solidFill>
                  <a:srgbClr val="00355F"/>
                </a:solidFill>
                <a:latin typeface="Arial Unicode MS"/>
                <a:ea typeface="Arial Unicode MS"/>
                <a:cs typeface="Arial Unicode MS"/>
              </a:defRPr>
            </a:defPPr>
          </a:lstStyle>
          <a:p xmlns:a="http://schemas.openxmlformats.org/drawingml/2006/main">
            <a:pPr algn="l">
              <a:lnSpc>
                <a:spcPct val="100000"/>
              </a:lnSpc>
              <a:buNone/>
              <a:defRPr sz="1088" b="0">
                <a:solidFill>
                  <a:srgbClr val="00355F"/>
                </a:solidFill>
                <a:latin typeface="Arial Unicode MS"/>
                <a:ea typeface="Arial Unicode MS"/>
                <a:cs typeface="Arial Unicode MS"/>
              </a:defRPr>
            </a:pPr>
            <a:r>
              <a:rPr sz="1088" b="0">
                <a:solidFill>
                  <a:srgbClr val="00355F"/>
                </a:solidFill>
                <a:latin typeface="Arial Unicode MS"/>
                <a:ea typeface="Arial Unicode MS"/>
                <a:cs typeface="Arial Unicode MS"/>
              </a:rPr>
              <a:t>Source: supplied framework and product-use research. Arrows describe a mechanism, not realized orders.</a:t>
            </a:r>
          </a:p>
        </p:txBody>
      </p:sp>
      <p:sp>
        <p:nvSpPr>
          <p:cNvPr id="7" name="Figure 4 label 6 line 1">
            <a:extLst xmlns:a="http://schemas.openxmlformats.org/drawingml/2006/main">
              <a:ext uri="{FF2B5EF4-FFF2-40B4-BE49-F238E27FC236}">
                <a16:creationId xmlns:a16="http://schemas.microsoft.com/office/drawing/2014/main" id="{D016B91E-CF68-4CA3-AD9F-D47918417A10}"/>
              </a:ext>
            </a:extLst>
          </p:cNvPr>
          <p:cNvSpPr>
            <a:spLocks xmlns:a="http://schemas.openxmlformats.org/drawingml/2006/main" noGrp="1"/>
          </p:cNvSpPr>
          <p:nvPr/>
        </p:nvSpPr>
        <p:spPr>
          <a:xfrm xmlns:a="http://schemas.openxmlformats.org/drawingml/2006/main" rot="0">
            <a:off x="16440260" y="9667497"/>
            <a:ext cx="841901" cy="1825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150" b="0">
                <a:solidFill>
                  <a:srgbClr val="00355F"/>
                </a:solidFill>
                <a:latin typeface="Arial Unicode MS"/>
                <a:ea typeface="Arial Unicode MS"/>
                <a:cs typeface="Arial Unicode MS"/>
              </a:defRPr>
            </a:defPPr>
          </a:lstStyle>
          <a:p xmlns:a="http://schemas.openxmlformats.org/drawingml/2006/main">
            <a:pPr algn="r">
              <a:lnSpc>
                <a:spcPct val="100000"/>
              </a:lnSpc>
              <a:buNone/>
              <a:defRPr sz="1150" b="0">
                <a:solidFill>
                  <a:srgbClr val="00355F"/>
                </a:solidFill>
                <a:latin typeface="Arial Unicode MS"/>
                <a:ea typeface="Arial Unicode MS"/>
                <a:cs typeface="Arial Unicode MS"/>
              </a:defRPr>
            </a:pPr>
            <a:r>
              <a:rPr sz="1150" b="0">
                <a:solidFill>
                  <a:srgbClr val="00355F"/>
                </a:solidFill>
                <a:latin typeface="Arial Unicode MS"/>
                <a:ea typeface="Arial Unicode MS"/>
                <a:cs typeface="Arial Unicode MS"/>
              </a:rPr>
              <a:t>2026-10-12</a:t>
            </a:r>
          </a:p>
        </p:txBody>
      </p:sp>
      <p:sp>
        <p:nvSpPr>
          <p:cNvPr id="8" name="Figure 4 label 7 line 1">
            <a:extLst xmlns:a="http://schemas.openxmlformats.org/drawingml/2006/main">
              <a:ext uri="{FF2B5EF4-FFF2-40B4-BE49-F238E27FC236}">
                <a16:creationId xmlns:a16="http://schemas.microsoft.com/office/drawing/2014/main" id="{41AD7155-FB34-4894-AB34-A3E97A77B653}"/>
              </a:ext>
            </a:extLst>
          </p:cNvPr>
          <p:cNvSpPr>
            <a:spLocks xmlns:a="http://schemas.openxmlformats.org/drawingml/2006/main" noGrp="1"/>
          </p:cNvSpPr>
          <p:nvPr/>
        </p:nvSpPr>
        <p:spPr>
          <a:xfrm xmlns:a="http://schemas.openxmlformats.org/drawingml/2006/main" rot="0">
            <a:off x="1054227" y="2923897"/>
            <a:ext cx="789265" cy="202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Unicode MS"/>
                <a:ea typeface="Arial Unicode MS"/>
                <a:cs typeface="Arial Unicode MS"/>
              </a:defRPr>
            </a:defPPr>
          </a:lstStyle>
          <a:p xmlns:a="http://schemas.openxmlformats.org/drawingml/2006/main">
            <a:pPr algn="l">
              <a:lnSpc>
                <a:spcPct val="100000"/>
              </a:lnSpc>
              <a:buNone/>
              <a:defRPr sz="1275" b="0">
                <a:solidFill>
                  <a:srgbClr val="00355F"/>
                </a:solidFill>
                <a:latin typeface="Arial Unicode MS"/>
                <a:ea typeface="Arial Unicode MS"/>
                <a:cs typeface="Arial Unicode MS"/>
              </a:defRPr>
            </a:pPr>
            <a:r>
              <a:rPr sz="1275" b="0">
                <a:solidFill>
                  <a:srgbClr val="00355F"/>
                </a:solidFill>
                <a:latin typeface="Arial Unicode MS"/>
                <a:ea typeface="Arial Unicode MS"/>
                <a:cs typeface="Arial Unicode MS"/>
              </a:rPr>
              <a:t>STAGE 0</a:t>
            </a:r>
          </a:p>
        </p:txBody>
      </p:sp>
      <p:sp>
        <p:nvSpPr>
          <p:cNvPr id="9" name="Figure 4 label 8 line 1">
            <a:extLst xmlns:a="http://schemas.openxmlformats.org/drawingml/2006/main">
              <a:ext uri="{FF2B5EF4-FFF2-40B4-BE49-F238E27FC236}">
                <a16:creationId xmlns:a16="http://schemas.microsoft.com/office/drawing/2014/main" id="{63DCDA6F-90BF-4933-97CB-04F049AD33DB}"/>
              </a:ext>
            </a:extLst>
          </p:cNvPr>
          <p:cNvSpPr>
            <a:spLocks xmlns:a="http://schemas.openxmlformats.org/drawingml/2006/main" noGrp="1"/>
          </p:cNvSpPr>
          <p:nvPr/>
        </p:nvSpPr>
        <p:spPr>
          <a:xfrm xmlns:a="http://schemas.openxmlformats.org/drawingml/2006/main" rot="0">
            <a:off x="1372985" y="3438342"/>
            <a:ext cx="1478558" cy="277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750" b="1">
                <a:solidFill>
                  <a:srgbClr val="00355F"/>
                </a:solidFill>
                <a:latin typeface="Arial Unicode MS"/>
                <a:ea typeface="Arial Unicode MS"/>
                <a:cs typeface="Arial Unicode MS"/>
              </a:defRPr>
            </a:defPPr>
          </a:lstStyle>
          <a:p xmlns:a="http://schemas.openxmlformats.org/drawingml/2006/main">
            <a:pPr algn="ctr">
              <a:lnSpc>
                <a:spcPct val="100000"/>
              </a:lnSpc>
              <a:buNone/>
              <a:defRPr sz="1750" b="1">
                <a:solidFill>
                  <a:srgbClr val="00355F"/>
                </a:solidFill>
                <a:latin typeface="Arial Unicode MS"/>
                <a:ea typeface="Arial Unicode MS"/>
                <a:cs typeface="Arial Unicode MS"/>
              </a:defRPr>
            </a:pPr>
            <a:r>
              <a:rPr sz="1750" b="1">
                <a:solidFill>
                  <a:srgbClr val="00355F"/>
                </a:solidFill>
                <a:latin typeface="Arial Unicode MS"/>
                <a:ea typeface="Arial Unicode MS"/>
                <a:cs typeface="Arial Unicode MS"/>
              </a:rPr>
              <a:t>Data / targets</a:t>
            </a:r>
          </a:p>
        </p:txBody>
      </p:sp>
      <p:sp>
        <p:nvSpPr>
          <p:cNvPr id="10" name="Figure 4 label 9 line 1">
            <a:extLst xmlns:a="http://schemas.openxmlformats.org/drawingml/2006/main">
              <a:ext uri="{FF2B5EF4-FFF2-40B4-BE49-F238E27FC236}">
                <a16:creationId xmlns:a16="http://schemas.microsoft.com/office/drawing/2014/main" id="{437481A6-82FE-4A11-A88E-DC41150DA913}"/>
              </a:ext>
            </a:extLst>
          </p:cNvPr>
          <p:cNvSpPr>
            <a:spLocks xmlns:a="http://schemas.openxmlformats.org/drawingml/2006/main" noGrp="1"/>
          </p:cNvSpPr>
          <p:nvPr/>
        </p:nvSpPr>
        <p:spPr>
          <a:xfrm xmlns:a="http://schemas.openxmlformats.org/drawingml/2006/main" rot="0">
            <a:off x="998982" y="5252960"/>
            <a:ext cx="1998583"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Sequencing / proteomics</a:t>
            </a:r>
          </a:p>
        </p:txBody>
      </p:sp>
      <p:sp>
        <p:nvSpPr>
          <p:cNvPr id="11" name="Figure 4 label 10 line 1">
            <a:extLst xmlns:a="http://schemas.openxmlformats.org/drawingml/2006/main">
              <a:ext uri="{FF2B5EF4-FFF2-40B4-BE49-F238E27FC236}">
                <a16:creationId xmlns:a16="http://schemas.microsoft.com/office/drawing/2014/main" id="{FC684936-FA92-40AD-9855-7AFACD86FCF0}"/>
              </a:ext>
            </a:extLst>
          </p:cNvPr>
          <p:cNvSpPr>
            <a:spLocks xmlns:a="http://schemas.openxmlformats.org/drawingml/2006/main" noGrp="1"/>
          </p:cNvSpPr>
          <p:nvPr/>
        </p:nvSpPr>
        <p:spPr>
          <a:xfrm xmlns:a="http://schemas.openxmlformats.org/drawingml/2006/main" rot="0">
            <a:off x="998982" y="5551066"/>
            <a:ext cx="1550313"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CRISPR screening</a:t>
            </a:r>
          </a:p>
        </p:txBody>
      </p:sp>
      <p:sp>
        <p:nvSpPr>
          <p:cNvPr id="12" name="Figure 4 label 11 line 1">
            <a:extLst xmlns:a="http://schemas.openxmlformats.org/drawingml/2006/main">
              <a:ext uri="{FF2B5EF4-FFF2-40B4-BE49-F238E27FC236}">
                <a16:creationId xmlns:a16="http://schemas.microsoft.com/office/drawing/2014/main" id="{474B27C1-8DD9-478C-A24C-0CE8A03027CD}"/>
              </a:ext>
            </a:extLst>
          </p:cNvPr>
          <p:cNvSpPr>
            <a:spLocks xmlns:a="http://schemas.openxmlformats.org/drawingml/2006/main" noGrp="1"/>
          </p:cNvSpPr>
          <p:nvPr/>
        </p:nvSpPr>
        <p:spPr>
          <a:xfrm xmlns:a="http://schemas.openxmlformats.org/drawingml/2006/main" rot="0">
            <a:off x="998982" y="5844784"/>
            <a:ext cx="2027009"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Research data resources</a:t>
            </a:r>
          </a:p>
        </p:txBody>
      </p:sp>
      <p:sp>
        <p:nvSpPr>
          <p:cNvPr id="13" name="Figure 4 label 12 line 1">
            <a:extLst xmlns:a="http://schemas.openxmlformats.org/drawingml/2006/main">
              <a:ext uri="{FF2B5EF4-FFF2-40B4-BE49-F238E27FC236}">
                <a16:creationId xmlns:a16="http://schemas.microsoft.com/office/drawing/2014/main" id="{A8360F78-C44A-4B6C-86A5-12129F71D529}"/>
              </a:ext>
            </a:extLst>
          </p:cNvPr>
          <p:cNvSpPr>
            <a:spLocks xmlns:a="http://schemas.openxmlformats.org/drawingml/2006/main" noGrp="1"/>
          </p:cNvSpPr>
          <p:nvPr/>
        </p:nvSpPr>
        <p:spPr>
          <a:xfrm xmlns:a="http://schemas.openxmlformats.org/drawingml/2006/main" rot="0">
            <a:off x="1581196" y="6998393"/>
            <a:ext cx="1062137" cy="188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188"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188" b="0">
                <a:solidFill>
                  <a:srgbClr val="00355F"/>
                </a:solidFill>
                <a:latin typeface="Arial Unicode MS"/>
                <a:ea typeface="Arial Unicode MS"/>
                <a:cs typeface="Arial Unicode MS"/>
              </a:defRPr>
            </a:pPr>
            <a:r>
              <a:rPr sz="1188" b="0">
                <a:solidFill>
                  <a:srgbClr val="00355F"/>
                </a:solidFill>
                <a:latin typeface="Arial Unicode MS"/>
                <a:ea typeface="Arial Unicode MS"/>
                <a:cs typeface="Arial Unicode MS"/>
              </a:rPr>
              <a:t>Generate data</a:t>
            </a:r>
          </a:p>
        </p:txBody>
      </p:sp>
      <p:sp>
        <p:nvSpPr>
          <p:cNvPr id="14" name="Figure 4 label 13 line 1">
            <a:extLst xmlns:a="http://schemas.openxmlformats.org/drawingml/2006/main">
              <a:ext uri="{FF2B5EF4-FFF2-40B4-BE49-F238E27FC236}">
                <a16:creationId xmlns:a16="http://schemas.microsoft.com/office/drawing/2014/main" id="{DE8ADB52-8B82-4BE3-A65C-8371E69E453D}"/>
              </a:ext>
            </a:extLst>
          </p:cNvPr>
          <p:cNvSpPr>
            <a:spLocks xmlns:a="http://schemas.openxmlformats.org/drawingml/2006/main" noGrp="1"/>
          </p:cNvSpPr>
          <p:nvPr/>
        </p:nvSpPr>
        <p:spPr>
          <a:xfrm xmlns:a="http://schemas.openxmlformats.org/drawingml/2006/main" rot="0">
            <a:off x="3870579" y="2923897"/>
            <a:ext cx="789265" cy="202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Unicode MS"/>
                <a:ea typeface="Arial Unicode MS"/>
                <a:cs typeface="Arial Unicode MS"/>
              </a:defRPr>
            </a:defPPr>
          </a:lstStyle>
          <a:p xmlns:a="http://schemas.openxmlformats.org/drawingml/2006/main">
            <a:pPr algn="l">
              <a:lnSpc>
                <a:spcPct val="100000"/>
              </a:lnSpc>
              <a:buNone/>
              <a:defRPr sz="1275" b="0">
                <a:solidFill>
                  <a:srgbClr val="00355F"/>
                </a:solidFill>
                <a:latin typeface="Arial Unicode MS"/>
                <a:ea typeface="Arial Unicode MS"/>
                <a:cs typeface="Arial Unicode MS"/>
              </a:defRPr>
            </a:pPr>
            <a:r>
              <a:rPr sz="1275" b="0">
                <a:solidFill>
                  <a:srgbClr val="00355F"/>
                </a:solidFill>
                <a:latin typeface="Arial Unicode MS"/>
                <a:ea typeface="Arial Unicode MS"/>
                <a:cs typeface="Arial Unicode MS"/>
              </a:rPr>
              <a:t>STAGE 1</a:t>
            </a:r>
          </a:p>
        </p:txBody>
      </p:sp>
      <p:sp>
        <p:nvSpPr>
          <p:cNvPr id="15" name="Figure 4 label 14 line 1">
            <a:extLst xmlns:a="http://schemas.openxmlformats.org/drawingml/2006/main">
              <a:ext uri="{FF2B5EF4-FFF2-40B4-BE49-F238E27FC236}">
                <a16:creationId xmlns:a16="http://schemas.microsoft.com/office/drawing/2014/main" id="{49BE2DB8-597C-41DC-94BA-200C762E3AC4}"/>
              </a:ext>
            </a:extLst>
          </p:cNvPr>
          <p:cNvSpPr>
            <a:spLocks xmlns:a="http://schemas.openxmlformats.org/drawingml/2006/main" noGrp="1"/>
          </p:cNvSpPr>
          <p:nvPr/>
        </p:nvSpPr>
        <p:spPr>
          <a:xfrm xmlns:a="http://schemas.openxmlformats.org/drawingml/2006/main" rot="0">
            <a:off x="4183160" y="3438342"/>
            <a:ext cx="1490911" cy="277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750" b="1">
                <a:solidFill>
                  <a:srgbClr val="00355F"/>
                </a:solidFill>
                <a:latin typeface="Arial Unicode MS"/>
                <a:ea typeface="Arial Unicode MS"/>
                <a:cs typeface="Arial Unicode MS"/>
              </a:defRPr>
            </a:defPPr>
          </a:lstStyle>
          <a:p xmlns:a="http://schemas.openxmlformats.org/drawingml/2006/main">
            <a:pPr algn="ctr">
              <a:lnSpc>
                <a:spcPct val="100000"/>
              </a:lnSpc>
              <a:buNone/>
              <a:defRPr sz="1750" b="1">
                <a:solidFill>
                  <a:srgbClr val="00355F"/>
                </a:solidFill>
                <a:latin typeface="Arial Unicode MS"/>
                <a:ea typeface="Arial Unicode MS"/>
                <a:cs typeface="Arial Unicode MS"/>
              </a:defRPr>
            </a:pPr>
            <a:r>
              <a:rPr sz="1750" b="1">
                <a:solidFill>
                  <a:srgbClr val="00355F"/>
                </a:solidFill>
                <a:latin typeface="Arial Unicode MS"/>
                <a:ea typeface="Arial Unicode MS"/>
                <a:cs typeface="Arial Unicode MS"/>
              </a:rPr>
              <a:t>Virtual design</a:t>
            </a:r>
          </a:p>
        </p:txBody>
      </p:sp>
      <p:sp>
        <p:nvSpPr>
          <p:cNvPr id="16" name="Figure 4 label 15 line 1">
            <a:extLst xmlns:a="http://schemas.openxmlformats.org/drawingml/2006/main">
              <a:ext uri="{FF2B5EF4-FFF2-40B4-BE49-F238E27FC236}">
                <a16:creationId xmlns:a16="http://schemas.microsoft.com/office/drawing/2014/main" id="{09307BAD-6DA2-4C68-B06C-D03353A8FC07}"/>
              </a:ext>
            </a:extLst>
          </p:cNvPr>
          <p:cNvSpPr>
            <a:spLocks xmlns:a="http://schemas.openxmlformats.org/drawingml/2006/main" noGrp="1"/>
          </p:cNvSpPr>
          <p:nvPr/>
        </p:nvSpPr>
        <p:spPr>
          <a:xfrm xmlns:a="http://schemas.openxmlformats.org/drawingml/2006/main" rot="0">
            <a:off x="3815334" y="5251915"/>
            <a:ext cx="2169884"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Models / compute / ranking</a:t>
            </a:r>
          </a:p>
        </p:txBody>
      </p:sp>
      <p:sp>
        <p:nvSpPr>
          <p:cNvPr id="17" name="Figure 4 label 16 line 1">
            <a:extLst xmlns:a="http://schemas.openxmlformats.org/drawingml/2006/main">
              <a:ext uri="{FF2B5EF4-FFF2-40B4-BE49-F238E27FC236}">
                <a16:creationId xmlns:a16="http://schemas.microsoft.com/office/drawing/2014/main" id="{B915CEB1-3792-47A2-BEA6-DABD17CE1373}"/>
              </a:ext>
            </a:extLst>
          </p:cNvPr>
          <p:cNvSpPr>
            <a:spLocks xmlns:a="http://schemas.openxmlformats.org/drawingml/2006/main" noGrp="1"/>
          </p:cNvSpPr>
          <p:nvPr/>
        </p:nvSpPr>
        <p:spPr>
          <a:xfrm xmlns:a="http://schemas.openxmlformats.org/drawingml/2006/main" rot="0">
            <a:off x="3815334" y="5545633"/>
            <a:ext cx="1969859"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Less direct LST demand</a:t>
            </a:r>
          </a:p>
        </p:txBody>
      </p:sp>
      <p:sp>
        <p:nvSpPr>
          <p:cNvPr id="18" name="Figure 4 label 17 line 1">
            <a:extLst xmlns:a="http://schemas.openxmlformats.org/drawingml/2006/main">
              <a:ext uri="{FF2B5EF4-FFF2-40B4-BE49-F238E27FC236}">
                <a16:creationId xmlns:a16="http://schemas.microsoft.com/office/drawing/2014/main" id="{30EF87F0-2F44-4AD5-B432-9B74D5387F75}"/>
              </a:ext>
            </a:extLst>
          </p:cNvPr>
          <p:cNvSpPr>
            <a:spLocks xmlns:a="http://schemas.openxmlformats.org/drawingml/2006/main" noGrp="1"/>
          </p:cNvSpPr>
          <p:nvPr/>
        </p:nvSpPr>
        <p:spPr>
          <a:xfrm xmlns:a="http://schemas.openxmlformats.org/drawingml/2006/main" rot="0">
            <a:off x="3815334" y="5841891"/>
            <a:ext cx="1369635"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Candidate triage</a:t>
            </a:r>
          </a:p>
        </p:txBody>
      </p:sp>
      <p:sp>
        <p:nvSpPr>
          <p:cNvPr id="19" name="Figure 4 label 18 line 1">
            <a:extLst xmlns:a="http://schemas.openxmlformats.org/drawingml/2006/main">
              <a:ext uri="{FF2B5EF4-FFF2-40B4-BE49-F238E27FC236}">
                <a16:creationId xmlns:a16="http://schemas.microsoft.com/office/drawing/2014/main" id="{B80BEAC5-646F-476E-97F0-547ECD1B222E}"/>
              </a:ext>
            </a:extLst>
          </p:cNvPr>
          <p:cNvSpPr>
            <a:spLocks xmlns:a="http://schemas.openxmlformats.org/drawingml/2006/main" noGrp="1"/>
          </p:cNvSpPr>
          <p:nvPr/>
        </p:nvSpPr>
        <p:spPr>
          <a:xfrm xmlns:a="http://schemas.openxmlformats.org/drawingml/2006/main" rot="0">
            <a:off x="4259286" y="6997580"/>
            <a:ext cx="1338659" cy="188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188"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188" b="0">
                <a:solidFill>
                  <a:srgbClr val="00355F"/>
                </a:solidFill>
                <a:latin typeface="Arial Unicode MS"/>
                <a:ea typeface="Arial Unicode MS"/>
                <a:cs typeface="Arial Unicode MS"/>
              </a:defRPr>
            </a:pPr>
            <a:r>
              <a:rPr sz="1188" b="0">
                <a:solidFill>
                  <a:srgbClr val="00355F"/>
                </a:solidFill>
                <a:latin typeface="Arial Unicode MS"/>
                <a:ea typeface="Arial Unicode MS"/>
                <a:cs typeface="Arial Unicode MS"/>
              </a:rPr>
              <a:t>Design candidates</a:t>
            </a:r>
          </a:p>
        </p:txBody>
      </p:sp>
      <p:sp>
        <p:nvSpPr>
          <p:cNvPr id="20" name="Figure 4 label 19 line 1">
            <a:extLst xmlns:a="http://schemas.openxmlformats.org/drawingml/2006/main">
              <a:ext uri="{FF2B5EF4-FFF2-40B4-BE49-F238E27FC236}">
                <a16:creationId xmlns:a16="http://schemas.microsoft.com/office/drawing/2014/main" id="{74D30BB1-781D-4FBC-B7E2-C3244399005A}"/>
              </a:ext>
            </a:extLst>
          </p:cNvPr>
          <p:cNvSpPr>
            <a:spLocks xmlns:a="http://schemas.openxmlformats.org/drawingml/2006/main" noGrp="1"/>
          </p:cNvSpPr>
          <p:nvPr/>
        </p:nvSpPr>
        <p:spPr>
          <a:xfrm xmlns:a="http://schemas.openxmlformats.org/drawingml/2006/main" rot="0">
            <a:off x="6686931" y="2923897"/>
            <a:ext cx="789265" cy="202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Unicode MS"/>
                <a:ea typeface="Arial Unicode MS"/>
                <a:cs typeface="Arial Unicode MS"/>
              </a:defRPr>
            </a:defPPr>
          </a:lstStyle>
          <a:p xmlns:a="http://schemas.openxmlformats.org/drawingml/2006/main">
            <a:pPr algn="l">
              <a:lnSpc>
                <a:spcPct val="100000"/>
              </a:lnSpc>
              <a:buNone/>
              <a:defRPr sz="1275" b="0">
                <a:solidFill>
                  <a:srgbClr val="00355F"/>
                </a:solidFill>
                <a:latin typeface="Arial Unicode MS"/>
                <a:ea typeface="Arial Unicode MS"/>
                <a:cs typeface="Arial Unicode MS"/>
              </a:defRPr>
            </a:pPr>
            <a:r>
              <a:rPr sz="1275" b="0">
                <a:solidFill>
                  <a:srgbClr val="00355F"/>
                </a:solidFill>
                <a:latin typeface="Arial Unicode MS"/>
                <a:ea typeface="Arial Unicode MS"/>
                <a:cs typeface="Arial Unicode MS"/>
              </a:rPr>
              <a:t>STAGE 2</a:t>
            </a:r>
          </a:p>
        </p:txBody>
      </p:sp>
      <p:sp>
        <p:nvSpPr>
          <p:cNvPr id="21" name="Figure 4 label 20 line 1">
            <a:extLst xmlns:a="http://schemas.openxmlformats.org/drawingml/2006/main">
              <a:ext uri="{FF2B5EF4-FFF2-40B4-BE49-F238E27FC236}">
                <a16:creationId xmlns:a16="http://schemas.microsoft.com/office/drawing/2014/main" id="{47EF2CCA-13B0-48C3-B065-CD3F4A3147C0}"/>
              </a:ext>
            </a:extLst>
          </p:cNvPr>
          <p:cNvSpPr>
            <a:spLocks xmlns:a="http://schemas.openxmlformats.org/drawingml/2006/main" noGrp="1"/>
          </p:cNvSpPr>
          <p:nvPr/>
        </p:nvSpPr>
        <p:spPr>
          <a:xfrm xmlns:a="http://schemas.openxmlformats.org/drawingml/2006/main" rot="0">
            <a:off x="6993337" y="3438342"/>
            <a:ext cx="1503263" cy="277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750" b="1">
                <a:solidFill>
                  <a:srgbClr val="00355F"/>
                </a:solidFill>
                <a:latin typeface="Arial Unicode MS"/>
                <a:ea typeface="Arial Unicode MS"/>
                <a:cs typeface="Arial Unicode MS"/>
              </a:defRPr>
            </a:defPPr>
          </a:lstStyle>
          <a:p xmlns:a="http://schemas.openxmlformats.org/drawingml/2006/main">
            <a:pPr algn="ctr">
              <a:lnSpc>
                <a:spcPct val="100000"/>
              </a:lnSpc>
              <a:buNone/>
              <a:defRPr sz="1750" b="1">
                <a:solidFill>
                  <a:srgbClr val="00355F"/>
                </a:solidFill>
                <a:latin typeface="Arial Unicode MS"/>
                <a:ea typeface="Arial Unicode MS"/>
                <a:cs typeface="Arial Unicode MS"/>
              </a:defRPr>
            </a:pPr>
            <a:r>
              <a:rPr sz="1750" b="1">
                <a:solidFill>
                  <a:srgbClr val="00355F"/>
                </a:solidFill>
                <a:latin typeface="Arial Unicode MS"/>
                <a:ea typeface="Arial Unicode MS"/>
                <a:cs typeface="Arial Unicode MS"/>
              </a:rPr>
              <a:t>Physical build</a:t>
            </a:r>
          </a:p>
        </p:txBody>
      </p:sp>
      <p:sp>
        <p:nvSpPr>
          <p:cNvPr id="22" name="Figure 4 label 21 line 1">
            <a:extLst xmlns:a="http://schemas.openxmlformats.org/drawingml/2006/main">
              <a:ext uri="{FF2B5EF4-FFF2-40B4-BE49-F238E27FC236}">
                <a16:creationId xmlns:a16="http://schemas.microsoft.com/office/drawing/2014/main" id="{A72304F2-2B7E-4971-968C-951D3D007F3A}"/>
              </a:ext>
            </a:extLst>
          </p:cNvPr>
          <p:cNvSpPr>
            <a:spLocks xmlns:a="http://schemas.openxmlformats.org/drawingml/2006/main" noGrp="1"/>
          </p:cNvSpPr>
          <p:nvPr/>
        </p:nvSpPr>
        <p:spPr>
          <a:xfrm xmlns:a="http://schemas.openxmlformats.org/drawingml/2006/main" rot="0">
            <a:off x="6631686" y="5253185"/>
            <a:ext cx="1760012"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Building blocks / DNA</a:t>
            </a:r>
          </a:p>
        </p:txBody>
      </p:sp>
      <p:sp>
        <p:nvSpPr>
          <p:cNvPr id="23" name="Figure 4 label 22 line 1">
            <a:extLst xmlns:a="http://schemas.openxmlformats.org/drawingml/2006/main">
              <a:ext uri="{FF2B5EF4-FFF2-40B4-BE49-F238E27FC236}">
                <a16:creationId xmlns:a16="http://schemas.microsoft.com/office/drawing/2014/main" id="{64BEFC9D-BC08-4FED-8E4C-C04A2AB1499E}"/>
              </a:ext>
            </a:extLst>
          </p:cNvPr>
          <p:cNvSpPr>
            <a:spLocks xmlns:a="http://schemas.openxmlformats.org/drawingml/2006/main" noGrp="1"/>
          </p:cNvSpPr>
          <p:nvPr/>
        </p:nvSpPr>
        <p:spPr>
          <a:xfrm xmlns:a="http://schemas.openxmlformats.org/drawingml/2006/main" rot="0">
            <a:off x="6631686" y="5546903"/>
            <a:ext cx="1569363"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Enzymes / proteins</a:t>
            </a:r>
          </a:p>
        </p:txBody>
      </p:sp>
      <p:sp>
        <p:nvSpPr>
          <p:cNvPr id="24" name="Figure 4 label 23 line 1">
            <a:extLst xmlns:a="http://schemas.openxmlformats.org/drawingml/2006/main">
              <a:ext uri="{FF2B5EF4-FFF2-40B4-BE49-F238E27FC236}">
                <a16:creationId xmlns:a16="http://schemas.microsoft.com/office/drawing/2014/main" id="{E2A0F4C8-97B3-4E89-8B3F-B86FDCAB1AC3}"/>
              </a:ext>
            </a:extLst>
          </p:cNvPr>
          <p:cNvSpPr>
            <a:spLocks xmlns:a="http://schemas.openxmlformats.org/drawingml/2006/main" noGrp="1"/>
          </p:cNvSpPr>
          <p:nvPr/>
        </p:nvSpPr>
        <p:spPr>
          <a:xfrm xmlns:a="http://schemas.openxmlformats.org/drawingml/2006/main" rot="0">
            <a:off x="6631686" y="5840621"/>
            <a:ext cx="2131784"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Analytical chromatography</a:t>
            </a:r>
          </a:p>
        </p:txBody>
      </p:sp>
      <p:sp>
        <p:nvSpPr>
          <p:cNvPr id="25" name="Figure 4 label 24 line 1">
            <a:extLst xmlns:a="http://schemas.openxmlformats.org/drawingml/2006/main">
              <a:ext uri="{FF2B5EF4-FFF2-40B4-BE49-F238E27FC236}">
                <a16:creationId xmlns:a16="http://schemas.microsoft.com/office/drawing/2014/main" id="{EC3A31C8-B3C4-4656-8991-FFAAAB282952}"/>
              </a:ext>
            </a:extLst>
          </p:cNvPr>
          <p:cNvSpPr>
            <a:spLocks xmlns:a="http://schemas.openxmlformats.org/drawingml/2006/main" noGrp="1"/>
          </p:cNvSpPr>
          <p:nvPr/>
        </p:nvSpPr>
        <p:spPr>
          <a:xfrm xmlns:a="http://schemas.openxmlformats.org/drawingml/2006/main" rot="0">
            <a:off x="7142686" y="6998393"/>
            <a:ext cx="1204565" cy="188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188"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188" b="0">
                <a:solidFill>
                  <a:srgbClr val="00355F"/>
                </a:solidFill>
                <a:latin typeface="Arial Unicode MS"/>
                <a:ea typeface="Arial Unicode MS"/>
                <a:cs typeface="Arial Unicode MS"/>
              </a:defRPr>
            </a:pPr>
            <a:r>
              <a:rPr sz="1188" b="0">
                <a:solidFill>
                  <a:srgbClr val="00355F"/>
                </a:solidFill>
                <a:latin typeface="Arial Unicode MS"/>
                <a:ea typeface="Arial Unicode MS"/>
                <a:cs typeface="Arial Unicode MS"/>
              </a:rPr>
              <a:t>Build candidates</a:t>
            </a:r>
          </a:p>
        </p:txBody>
      </p:sp>
      <p:sp>
        <p:nvSpPr>
          <p:cNvPr id="26" name="Figure 4 label 25 line 1">
            <a:extLst xmlns:a="http://schemas.openxmlformats.org/drawingml/2006/main">
              <a:ext uri="{FF2B5EF4-FFF2-40B4-BE49-F238E27FC236}">
                <a16:creationId xmlns:a16="http://schemas.microsoft.com/office/drawing/2014/main" id="{B8C87E8F-69C4-4715-A9F8-1071A3E73B9E}"/>
              </a:ext>
            </a:extLst>
          </p:cNvPr>
          <p:cNvSpPr>
            <a:spLocks xmlns:a="http://schemas.openxmlformats.org/drawingml/2006/main" noGrp="1"/>
          </p:cNvSpPr>
          <p:nvPr/>
        </p:nvSpPr>
        <p:spPr>
          <a:xfrm xmlns:a="http://schemas.openxmlformats.org/drawingml/2006/main" rot="0">
            <a:off x="9503283" y="2923897"/>
            <a:ext cx="789265" cy="202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Unicode MS"/>
                <a:ea typeface="Arial Unicode MS"/>
                <a:cs typeface="Arial Unicode MS"/>
              </a:defRPr>
            </a:defPPr>
          </a:lstStyle>
          <a:p xmlns:a="http://schemas.openxmlformats.org/drawingml/2006/main">
            <a:pPr algn="l">
              <a:lnSpc>
                <a:spcPct val="100000"/>
              </a:lnSpc>
              <a:buNone/>
              <a:defRPr sz="1275" b="0">
                <a:solidFill>
                  <a:srgbClr val="00355F"/>
                </a:solidFill>
                <a:latin typeface="Arial Unicode MS"/>
                <a:ea typeface="Arial Unicode MS"/>
                <a:cs typeface="Arial Unicode MS"/>
              </a:defRPr>
            </a:pPr>
            <a:r>
              <a:rPr sz="1275" b="0">
                <a:solidFill>
                  <a:srgbClr val="00355F"/>
                </a:solidFill>
                <a:latin typeface="Arial Unicode MS"/>
                <a:ea typeface="Arial Unicode MS"/>
                <a:cs typeface="Arial Unicode MS"/>
              </a:rPr>
              <a:t>STAGE 3</a:t>
            </a:r>
          </a:p>
        </p:txBody>
      </p:sp>
      <p:sp>
        <p:nvSpPr>
          <p:cNvPr id="27" name="Figure 4 label 26 line 1">
            <a:extLst xmlns:a="http://schemas.openxmlformats.org/drawingml/2006/main">
              <a:ext uri="{FF2B5EF4-FFF2-40B4-BE49-F238E27FC236}">
                <a16:creationId xmlns:a16="http://schemas.microsoft.com/office/drawing/2014/main" id="{63D6E282-61B3-4873-9115-3B5ED4085D71}"/>
              </a:ext>
            </a:extLst>
          </p:cNvPr>
          <p:cNvSpPr>
            <a:spLocks xmlns:a="http://schemas.openxmlformats.org/drawingml/2006/main" noGrp="1"/>
          </p:cNvSpPr>
          <p:nvPr/>
        </p:nvSpPr>
        <p:spPr>
          <a:xfrm xmlns:a="http://schemas.openxmlformats.org/drawingml/2006/main" rot="0">
            <a:off x="9840720" y="3439540"/>
            <a:ext cx="1441202" cy="277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750" b="1">
                <a:solidFill>
                  <a:srgbClr val="00355F"/>
                </a:solidFill>
                <a:latin typeface="Arial Unicode MS"/>
                <a:ea typeface="Arial Unicode MS"/>
                <a:cs typeface="Arial Unicode MS"/>
              </a:defRPr>
            </a:defPPr>
          </a:lstStyle>
          <a:p xmlns:a="http://schemas.openxmlformats.org/drawingml/2006/main">
            <a:pPr algn="ctr">
              <a:lnSpc>
                <a:spcPct val="100000"/>
              </a:lnSpc>
              <a:buNone/>
              <a:defRPr sz="1750" b="1">
                <a:solidFill>
                  <a:srgbClr val="00355F"/>
                </a:solidFill>
                <a:latin typeface="Arial Unicode MS"/>
                <a:ea typeface="Arial Unicode MS"/>
                <a:cs typeface="Arial Unicode MS"/>
              </a:defRPr>
            </a:pPr>
            <a:r>
              <a:rPr sz="1750" b="1">
                <a:solidFill>
                  <a:srgbClr val="00355F"/>
                </a:solidFill>
                <a:latin typeface="Arial Unicode MS"/>
                <a:ea typeface="Arial Unicode MS"/>
                <a:cs typeface="Arial Unicode MS"/>
              </a:rPr>
              <a:t>Wet-lab tests</a:t>
            </a:r>
          </a:p>
        </p:txBody>
      </p:sp>
      <p:sp>
        <p:nvSpPr>
          <p:cNvPr id="28" name="Figure 4 label 27 line 1">
            <a:extLst xmlns:a="http://schemas.openxmlformats.org/drawingml/2006/main">
              <a:ext uri="{FF2B5EF4-FFF2-40B4-BE49-F238E27FC236}">
                <a16:creationId xmlns:a16="http://schemas.microsoft.com/office/drawing/2014/main" id="{A54F1C6B-D644-4D8D-B135-5B638DE70E89}"/>
              </a:ext>
            </a:extLst>
          </p:cNvPr>
          <p:cNvSpPr>
            <a:spLocks xmlns:a="http://schemas.openxmlformats.org/drawingml/2006/main" noGrp="1"/>
          </p:cNvSpPr>
          <p:nvPr/>
        </p:nvSpPr>
        <p:spPr>
          <a:xfrm xmlns:a="http://schemas.openxmlformats.org/drawingml/2006/main" rot="0">
            <a:off x="9448038" y="5254230"/>
            <a:ext cx="1778913"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Cells / media / assays</a:t>
            </a:r>
          </a:p>
        </p:txBody>
      </p:sp>
      <p:sp>
        <p:nvSpPr>
          <p:cNvPr id="29" name="Figure 4 label 28 line 1">
            <a:extLst xmlns:a="http://schemas.openxmlformats.org/drawingml/2006/main">
              <a:ext uri="{FF2B5EF4-FFF2-40B4-BE49-F238E27FC236}">
                <a16:creationId xmlns:a16="http://schemas.microsoft.com/office/drawing/2014/main" id="{32371494-6BC7-4014-9945-BD2B375F7DB7}"/>
              </a:ext>
            </a:extLst>
          </p:cNvPr>
          <p:cNvSpPr>
            <a:spLocks xmlns:a="http://schemas.openxmlformats.org/drawingml/2006/main" noGrp="1"/>
          </p:cNvSpPr>
          <p:nvPr/>
        </p:nvSpPr>
        <p:spPr>
          <a:xfrm xmlns:a="http://schemas.openxmlformats.org/drawingml/2006/main" rot="0">
            <a:off x="9448038" y="5547948"/>
            <a:ext cx="1827133"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Plates / liquid handling</a:t>
            </a:r>
          </a:p>
        </p:txBody>
      </p:sp>
      <p:sp>
        <p:nvSpPr>
          <p:cNvPr id="30" name="Figure 4 label 29 line 1">
            <a:extLst xmlns:a="http://schemas.openxmlformats.org/drawingml/2006/main">
              <a:ext uri="{FF2B5EF4-FFF2-40B4-BE49-F238E27FC236}">
                <a16:creationId xmlns:a16="http://schemas.microsoft.com/office/drawing/2014/main" id="{ED58D88E-9AE1-4F80-9ACB-E69558864DD4}"/>
              </a:ext>
            </a:extLst>
          </p:cNvPr>
          <p:cNvSpPr>
            <a:spLocks xmlns:a="http://schemas.openxmlformats.org/drawingml/2006/main" noGrp="1"/>
          </p:cNvSpPr>
          <p:nvPr/>
        </p:nvSpPr>
        <p:spPr>
          <a:xfrm xmlns:a="http://schemas.openxmlformats.org/drawingml/2006/main" rot="0">
            <a:off x="9448038" y="5841666"/>
            <a:ext cx="1989058"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High-throughput imaging</a:t>
            </a:r>
          </a:p>
        </p:txBody>
      </p:sp>
      <p:sp>
        <p:nvSpPr>
          <p:cNvPr id="31" name="Figure 4 label 30 line 1">
            <a:extLst xmlns:a="http://schemas.openxmlformats.org/drawingml/2006/main">
              <a:ext uri="{FF2B5EF4-FFF2-40B4-BE49-F238E27FC236}">
                <a16:creationId xmlns:a16="http://schemas.microsoft.com/office/drawing/2014/main" id="{0B4CA02F-1632-46F7-8DBD-90D825AF00BE}"/>
              </a:ext>
            </a:extLst>
          </p:cNvPr>
          <p:cNvSpPr>
            <a:spLocks xmlns:a="http://schemas.openxmlformats.org/drawingml/2006/main" noGrp="1"/>
          </p:cNvSpPr>
          <p:nvPr/>
        </p:nvSpPr>
        <p:spPr>
          <a:xfrm xmlns:a="http://schemas.openxmlformats.org/drawingml/2006/main" rot="0">
            <a:off x="9959038" y="6998393"/>
            <a:ext cx="1204565" cy="188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188"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188" b="0">
                <a:solidFill>
                  <a:srgbClr val="00355F"/>
                </a:solidFill>
                <a:latin typeface="Arial Unicode MS"/>
                <a:ea typeface="Arial Unicode MS"/>
                <a:cs typeface="Arial Unicode MS"/>
              </a:defRPr>
            </a:pPr>
            <a:r>
              <a:rPr sz="1188" b="0">
                <a:solidFill>
                  <a:srgbClr val="00355F"/>
                </a:solidFill>
                <a:latin typeface="Arial Unicode MS"/>
                <a:ea typeface="Arial Unicode MS"/>
                <a:cs typeface="Arial Unicode MS"/>
              </a:rPr>
              <a:t>Create feedback</a:t>
            </a:r>
          </a:p>
        </p:txBody>
      </p:sp>
      <p:sp>
        <p:nvSpPr>
          <p:cNvPr id="32" name="Figure 4 label 31 line 1">
            <a:extLst xmlns:a="http://schemas.openxmlformats.org/drawingml/2006/main">
              <a:ext uri="{FF2B5EF4-FFF2-40B4-BE49-F238E27FC236}">
                <a16:creationId xmlns:a16="http://schemas.microsoft.com/office/drawing/2014/main" id="{9A5A3E77-4AA2-4D41-A7AC-4F2868D7D7B5}"/>
              </a:ext>
            </a:extLst>
          </p:cNvPr>
          <p:cNvSpPr>
            <a:spLocks xmlns:a="http://schemas.openxmlformats.org/drawingml/2006/main" noGrp="1"/>
          </p:cNvSpPr>
          <p:nvPr/>
        </p:nvSpPr>
        <p:spPr>
          <a:xfrm xmlns:a="http://schemas.openxmlformats.org/drawingml/2006/main" rot="0">
            <a:off x="12319635" y="2923897"/>
            <a:ext cx="789265" cy="202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Unicode MS"/>
                <a:ea typeface="Arial Unicode MS"/>
                <a:cs typeface="Arial Unicode MS"/>
              </a:defRPr>
            </a:defPPr>
          </a:lstStyle>
          <a:p xmlns:a="http://schemas.openxmlformats.org/drawingml/2006/main">
            <a:pPr algn="l">
              <a:lnSpc>
                <a:spcPct val="100000"/>
              </a:lnSpc>
              <a:buNone/>
              <a:defRPr sz="1275" b="0">
                <a:solidFill>
                  <a:srgbClr val="00355F"/>
                </a:solidFill>
                <a:latin typeface="Arial Unicode MS"/>
                <a:ea typeface="Arial Unicode MS"/>
                <a:cs typeface="Arial Unicode MS"/>
              </a:defRPr>
            </a:pPr>
            <a:r>
              <a:rPr sz="1275" b="0">
                <a:solidFill>
                  <a:srgbClr val="00355F"/>
                </a:solidFill>
                <a:latin typeface="Arial Unicode MS"/>
                <a:ea typeface="Arial Unicode MS"/>
                <a:cs typeface="Arial Unicode MS"/>
              </a:rPr>
              <a:t>STAGE 4</a:t>
            </a:r>
          </a:p>
        </p:txBody>
      </p:sp>
      <p:sp>
        <p:nvSpPr>
          <p:cNvPr id="33" name="Figure 4 label 32 line 1">
            <a:extLst xmlns:a="http://schemas.openxmlformats.org/drawingml/2006/main">
              <a:ext uri="{FF2B5EF4-FFF2-40B4-BE49-F238E27FC236}">
                <a16:creationId xmlns:a16="http://schemas.microsoft.com/office/drawing/2014/main" id="{79EF3545-D984-41C7-868D-08FAFA950CEB}"/>
              </a:ext>
            </a:extLst>
          </p:cNvPr>
          <p:cNvSpPr>
            <a:spLocks xmlns:a="http://schemas.openxmlformats.org/drawingml/2006/main" noGrp="1"/>
          </p:cNvSpPr>
          <p:nvPr/>
        </p:nvSpPr>
        <p:spPr>
          <a:xfrm xmlns:a="http://schemas.openxmlformats.org/drawingml/2006/main" rot="0">
            <a:off x="12447001" y="3439540"/>
            <a:ext cx="1861344" cy="277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750" b="1">
                <a:solidFill>
                  <a:srgbClr val="00355F"/>
                </a:solidFill>
                <a:latin typeface="Arial Unicode MS"/>
                <a:ea typeface="Arial Unicode MS"/>
                <a:cs typeface="Arial Unicode MS"/>
              </a:defRPr>
            </a:defPPr>
          </a:lstStyle>
          <a:p xmlns:a="http://schemas.openxmlformats.org/drawingml/2006/main">
            <a:pPr algn="ctr">
              <a:lnSpc>
                <a:spcPct val="100000"/>
              </a:lnSpc>
              <a:buNone/>
              <a:defRPr sz="1750" b="1">
                <a:solidFill>
                  <a:srgbClr val="00355F"/>
                </a:solidFill>
                <a:latin typeface="Arial Unicode MS"/>
                <a:ea typeface="Arial Unicode MS"/>
                <a:cs typeface="Arial Unicode MS"/>
              </a:defRPr>
            </a:pPr>
            <a:r>
              <a:rPr sz="1750" b="1">
                <a:solidFill>
                  <a:srgbClr val="00355F"/>
                </a:solidFill>
                <a:latin typeface="Arial Unicode MS"/>
                <a:ea typeface="Arial Unicode MS"/>
                <a:cs typeface="Arial Unicode MS"/>
              </a:rPr>
              <a:t>Clinical validation</a:t>
            </a:r>
          </a:p>
        </p:txBody>
      </p:sp>
      <p:sp>
        <p:nvSpPr>
          <p:cNvPr id="34" name="Figure 4 label 33 line 1">
            <a:extLst xmlns:a="http://schemas.openxmlformats.org/drawingml/2006/main">
              <a:ext uri="{FF2B5EF4-FFF2-40B4-BE49-F238E27FC236}">
                <a16:creationId xmlns:a16="http://schemas.microsoft.com/office/drawing/2014/main" id="{1632EFFF-08E7-42A1-9391-DC7FC58C545F}"/>
              </a:ext>
            </a:extLst>
          </p:cNvPr>
          <p:cNvSpPr>
            <a:spLocks xmlns:a="http://schemas.openxmlformats.org/drawingml/2006/main" noGrp="1"/>
          </p:cNvSpPr>
          <p:nvPr/>
        </p:nvSpPr>
        <p:spPr>
          <a:xfrm xmlns:a="http://schemas.openxmlformats.org/drawingml/2006/main" rot="0">
            <a:off x="12264390" y="5252036"/>
            <a:ext cx="1855411"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Sequencing / IVD R&amp;D</a:t>
            </a:r>
          </a:p>
        </p:txBody>
      </p:sp>
      <p:sp>
        <p:nvSpPr>
          <p:cNvPr id="35" name="Figure 4 label 34 line 1">
            <a:extLst xmlns:a="http://schemas.openxmlformats.org/drawingml/2006/main">
              <a:ext uri="{FF2B5EF4-FFF2-40B4-BE49-F238E27FC236}">
                <a16:creationId xmlns:a16="http://schemas.microsoft.com/office/drawing/2014/main" id="{33A3FEB8-06A3-4EEA-89F7-FFE5E085C03C}"/>
              </a:ext>
            </a:extLst>
          </p:cNvPr>
          <p:cNvSpPr>
            <a:spLocks xmlns:a="http://schemas.openxmlformats.org/drawingml/2006/main" noGrp="1"/>
          </p:cNvSpPr>
          <p:nvPr/>
        </p:nvSpPr>
        <p:spPr>
          <a:xfrm xmlns:a="http://schemas.openxmlformats.org/drawingml/2006/main" rot="0">
            <a:off x="12264390" y="5550142"/>
            <a:ext cx="1960334"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Clinical sample handling</a:t>
            </a:r>
          </a:p>
        </p:txBody>
      </p:sp>
      <p:sp>
        <p:nvSpPr>
          <p:cNvPr id="36" name="Figure 4 label 35 line 1">
            <a:extLst xmlns:a="http://schemas.openxmlformats.org/drawingml/2006/main">
              <a:ext uri="{FF2B5EF4-FFF2-40B4-BE49-F238E27FC236}">
                <a16:creationId xmlns:a16="http://schemas.microsoft.com/office/drawing/2014/main" id="{7B6B4D61-5877-4C94-A7E8-175AF48B3B1B}"/>
              </a:ext>
            </a:extLst>
          </p:cNvPr>
          <p:cNvSpPr>
            <a:spLocks xmlns:a="http://schemas.openxmlformats.org/drawingml/2006/main" noGrp="1"/>
          </p:cNvSpPr>
          <p:nvPr/>
        </p:nvSpPr>
        <p:spPr>
          <a:xfrm xmlns:a="http://schemas.openxmlformats.org/drawingml/2006/main" rot="0">
            <a:off x="12264390" y="5843860"/>
            <a:ext cx="1493460"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Automated testing</a:t>
            </a:r>
          </a:p>
        </p:txBody>
      </p:sp>
      <p:sp>
        <p:nvSpPr>
          <p:cNvPr id="37" name="Figure 4 label 36 line 1">
            <a:extLst xmlns:a="http://schemas.openxmlformats.org/drawingml/2006/main">
              <a:ext uri="{FF2B5EF4-FFF2-40B4-BE49-F238E27FC236}">
                <a16:creationId xmlns:a16="http://schemas.microsoft.com/office/drawing/2014/main" id="{D3BB7A26-D555-4382-AD07-2E1AB4FE5D92}"/>
              </a:ext>
            </a:extLst>
          </p:cNvPr>
          <p:cNvSpPr>
            <a:spLocks xmlns:a="http://schemas.openxmlformats.org/drawingml/2006/main" noGrp="1"/>
          </p:cNvSpPr>
          <p:nvPr/>
        </p:nvSpPr>
        <p:spPr>
          <a:xfrm xmlns:a="http://schemas.openxmlformats.org/drawingml/2006/main" rot="0">
            <a:off x="12863496" y="6997580"/>
            <a:ext cx="1028353" cy="188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188"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188" b="0">
                <a:solidFill>
                  <a:srgbClr val="00355F"/>
                </a:solidFill>
                <a:latin typeface="Arial Unicode MS"/>
                <a:ea typeface="Arial Unicode MS"/>
                <a:cs typeface="Arial Unicode MS"/>
              </a:defRPr>
            </a:pPr>
            <a:r>
              <a:rPr sz="1188" b="0">
                <a:solidFill>
                  <a:srgbClr val="00355F"/>
                </a:solidFill>
                <a:latin typeface="Arial Unicode MS"/>
                <a:ea typeface="Arial Unicode MS"/>
                <a:cs typeface="Arial Unicode MS"/>
              </a:rPr>
              <a:t>Validate utility</a:t>
            </a:r>
          </a:p>
        </p:txBody>
      </p:sp>
      <p:sp>
        <p:nvSpPr>
          <p:cNvPr id="38" name="Figure 4 label 37 line 1">
            <a:extLst xmlns:a="http://schemas.openxmlformats.org/drawingml/2006/main">
              <a:ext uri="{FF2B5EF4-FFF2-40B4-BE49-F238E27FC236}">
                <a16:creationId xmlns:a16="http://schemas.microsoft.com/office/drawing/2014/main" id="{A74A3C21-B7C1-44A8-9AB8-30BF9A066453}"/>
              </a:ext>
            </a:extLst>
          </p:cNvPr>
          <p:cNvSpPr>
            <a:spLocks xmlns:a="http://schemas.openxmlformats.org/drawingml/2006/main" noGrp="1"/>
          </p:cNvSpPr>
          <p:nvPr/>
        </p:nvSpPr>
        <p:spPr>
          <a:xfrm xmlns:a="http://schemas.openxmlformats.org/drawingml/2006/main" rot="0">
            <a:off x="15135987" y="2923897"/>
            <a:ext cx="789265" cy="202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Unicode MS"/>
                <a:ea typeface="Arial Unicode MS"/>
                <a:cs typeface="Arial Unicode MS"/>
              </a:defRPr>
            </a:defPPr>
          </a:lstStyle>
          <a:p xmlns:a="http://schemas.openxmlformats.org/drawingml/2006/main">
            <a:pPr algn="l">
              <a:lnSpc>
                <a:spcPct val="100000"/>
              </a:lnSpc>
              <a:buNone/>
              <a:defRPr sz="1275" b="0">
                <a:solidFill>
                  <a:srgbClr val="00355F"/>
                </a:solidFill>
                <a:latin typeface="Arial Unicode MS"/>
                <a:ea typeface="Arial Unicode MS"/>
                <a:cs typeface="Arial Unicode MS"/>
              </a:defRPr>
            </a:pPr>
            <a:r>
              <a:rPr sz="1275" b="0">
                <a:solidFill>
                  <a:srgbClr val="00355F"/>
                </a:solidFill>
                <a:latin typeface="Arial Unicode MS"/>
                <a:ea typeface="Arial Unicode MS"/>
                <a:cs typeface="Arial Unicode MS"/>
              </a:rPr>
              <a:t>STAGE 5</a:t>
            </a:r>
          </a:p>
        </p:txBody>
      </p:sp>
      <p:sp>
        <p:nvSpPr>
          <p:cNvPr id="39" name="Figure 4 label 38 line 1">
            <a:extLst xmlns:a="http://schemas.openxmlformats.org/drawingml/2006/main">
              <a:ext uri="{FF2B5EF4-FFF2-40B4-BE49-F238E27FC236}">
                <a16:creationId xmlns:a16="http://schemas.microsoft.com/office/drawing/2014/main" id="{5B52CD42-05CC-48B1-AE33-F87078200E65}"/>
              </a:ext>
            </a:extLst>
          </p:cNvPr>
          <p:cNvSpPr>
            <a:spLocks xmlns:a="http://schemas.openxmlformats.org/drawingml/2006/main" noGrp="1"/>
          </p:cNvSpPr>
          <p:nvPr/>
        </p:nvSpPr>
        <p:spPr>
          <a:xfrm xmlns:a="http://schemas.openxmlformats.org/drawingml/2006/main" rot="0">
            <a:off x="15481001" y="3319286"/>
            <a:ext cx="1552674" cy="277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750" b="1">
                <a:solidFill>
                  <a:srgbClr val="00355F"/>
                </a:solidFill>
                <a:latin typeface="Arial Unicode MS"/>
                <a:ea typeface="Arial Unicode MS"/>
                <a:cs typeface="Arial Unicode MS"/>
              </a:defRPr>
            </a:defPPr>
          </a:lstStyle>
          <a:p xmlns:a="http://schemas.openxmlformats.org/drawingml/2006/main">
            <a:pPr algn="l">
              <a:lnSpc>
                <a:spcPct val="100000"/>
              </a:lnSpc>
              <a:buNone/>
              <a:defRPr sz="1750" b="1">
                <a:solidFill>
                  <a:srgbClr val="00355F"/>
                </a:solidFill>
                <a:latin typeface="Arial Unicode MS"/>
                <a:ea typeface="Arial Unicode MS"/>
                <a:cs typeface="Arial Unicode MS"/>
              </a:defRPr>
            </a:pPr>
            <a:r>
              <a:rPr sz="1750" b="1">
                <a:solidFill>
                  <a:srgbClr val="00355F"/>
                </a:solidFill>
                <a:latin typeface="Arial Unicode MS"/>
                <a:ea typeface="Arial Unicode MS"/>
                <a:cs typeface="Arial Unicode MS"/>
              </a:rPr>
              <a:t>Manufacturing</a:t>
            </a:r>
          </a:p>
        </p:txBody>
      </p:sp>
      <p:sp>
        <p:nvSpPr>
          <p:cNvPr id="40" name="Figure 4 label 39 line 1">
            <a:extLst xmlns:a="http://schemas.openxmlformats.org/drawingml/2006/main">
              <a:ext uri="{FF2B5EF4-FFF2-40B4-BE49-F238E27FC236}">
                <a16:creationId xmlns:a16="http://schemas.microsoft.com/office/drawing/2014/main" id="{CD860180-5C48-46B7-ABB9-97CD9CDB6031}"/>
              </a:ext>
            </a:extLst>
          </p:cNvPr>
          <p:cNvSpPr>
            <a:spLocks xmlns:a="http://schemas.openxmlformats.org/drawingml/2006/main" noGrp="1"/>
          </p:cNvSpPr>
          <p:nvPr/>
        </p:nvSpPr>
        <p:spPr>
          <a:xfrm xmlns:a="http://schemas.openxmlformats.org/drawingml/2006/main" rot="0">
            <a:off x="15505934" y="3560107"/>
            <a:ext cx="1502817" cy="277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750" b="1">
                <a:solidFill>
                  <a:srgbClr val="00355F"/>
                </a:solidFill>
                <a:latin typeface="Arial Unicode MS"/>
                <a:ea typeface="Arial Unicode MS"/>
                <a:cs typeface="Arial Unicode MS"/>
              </a:defRPr>
            </a:defPPr>
          </a:lstStyle>
          <a:p xmlns:a="http://schemas.openxmlformats.org/drawingml/2006/main">
            <a:pPr algn="l">
              <a:lnSpc>
                <a:spcPct val="100000"/>
              </a:lnSpc>
              <a:buNone/>
              <a:defRPr sz="1750" b="1">
                <a:solidFill>
                  <a:srgbClr val="00355F"/>
                </a:solidFill>
                <a:latin typeface="Arial Unicode MS"/>
                <a:ea typeface="Arial Unicode MS"/>
                <a:cs typeface="Arial Unicode MS"/>
              </a:defRPr>
            </a:pPr>
            <a:r>
              <a:rPr sz="1750" b="1">
                <a:solidFill>
                  <a:srgbClr val="00355F"/>
                </a:solidFill>
                <a:latin typeface="Arial Unicode MS"/>
                <a:ea typeface="Arial Unicode MS"/>
                <a:cs typeface="Arial Unicode MS"/>
              </a:rPr>
              <a:t>(if successful)</a:t>
            </a:r>
          </a:p>
        </p:txBody>
      </p:sp>
      <p:sp>
        <p:nvSpPr>
          <p:cNvPr id="41" name="Figure 4 label 40 line 1">
            <a:extLst xmlns:a="http://schemas.openxmlformats.org/drawingml/2006/main">
              <a:ext uri="{FF2B5EF4-FFF2-40B4-BE49-F238E27FC236}">
                <a16:creationId xmlns:a16="http://schemas.microsoft.com/office/drawing/2014/main" id="{C3474753-D925-438A-8319-2478DDB4C139}"/>
              </a:ext>
            </a:extLst>
          </p:cNvPr>
          <p:cNvSpPr>
            <a:spLocks xmlns:a="http://schemas.openxmlformats.org/drawingml/2006/main" noGrp="1"/>
          </p:cNvSpPr>
          <p:nvPr/>
        </p:nvSpPr>
        <p:spPr>
          <a:xfrm xmlns:a="http://schemas.openxmlformats.org/drawingml/2006/main" rot="0">
            <a:off x="15080742" y="5252840"/>
            <a:ext cx="1178689"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Media / resins</a:t>
            </a:r>
          </a:p>
        </p:txBody>
      </p:sp>
      <p:sp>
        <p:nvSpPr>
          <p:cNvPr id="42" name="Figure 4 label 41 line 1">
            <a:extLst xmlns:a="http://schemas.openxmlformats.org/drawingml/2006/main">
              <a:ext uri="{FF2B5EF4-FFF2-40B4-BE49-F238E27FC236}">
                <a16:creationId xmlns:a16="http://schemas.microsoft.com/office/drawing/2014/main" id="{9D34C636-9EE3-4787-8E7F-0EDB1A750177}"/>
              </a:ext>
            </a:extLst>
          </p:cNvPr>
          <p:cNvSpPr>
            <a:spLocks xmlns:a="http://schemas.openxmlformats.org/drawingml/2006/main" noGrp="1"/>
          </p:cNvSpPr>
          <p:nvPr/>
        </p:nvSpPr>
        <p:spPr>
          <a:xfrm xmlns:a="http://schemas.openxmlformats.org/drawingml/2006/main" rot="0">
            <a:off x="15080742" y="5544709"/>
            <a:ext cx="2160211"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Filtration / process labware</a:t>
            </a:r>
          </a:p>
        </p:txBody>
      </p:sp>
      <p:sp>
        <p:nvSpPr>
          <p:cNvPr id="43" name="Figure 4 label 42 line 1">
            <a:extLst xmlns:a="http://schemas.openxmlformats.org/drawingml/2006/main">
              <a:ext uri="{FF2B5EF4-FFF2-40B4-BE49-F238E27FC236}">
                <a16:creationId xmlns:a16="http://schemas.microsoft.com/office/drawing/2014/main" id="{9A2C6330-8541-4753-B537-451C6EDEC76E}"/>
              </a:ext>
            </a:extLst>
          </p:cNvPr>
          <p:cNvSpPr>
            <a:spLocks xmlns:a="http://schemas.openxmlformats.org/drawingml/2006/main" noGrp="1"/>
          </p:cNvSpPr>
          <p:nvPr/>
        </p:nvSpPr>
        <p:spPr>
          <a:xfrm xmlns:a="http://schemas.openxmlformats.org/drawingml/2006/main" rot="0">
            <a:off x="15080742" y="5840967"/>
            <a:ext cx="2208133"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Single-use bioprocess tools</a:t>
            </a:r>
          </a:p>
        </p:txBody>
      </p:sp>
      <p:sp>
        <p:nvSpPr>
          <p:cNvPr id="44" name="Figure 4 label 43 line 1">
            <a:extLst xmlns:a="http://schemas.openxmlformats.org/drawingml/2006/main">
              <a:ext uri="{FF2B5EF4-FFF2-40B4-BE49-F238E27FC236}">
                <a16:creationId xmlns:a16="http://schemas.microsoft.com/office/drawing/2014/main" id="{F5A92AD5-502F-49CB-9793-055B3475084A}"/>
              </a:ext>
            </a:extLst>
          </p:cNvPr>
          <p:cNvSpPr>
            <a:spLocks xmlns:a="http://schemas.openxmlformats.org/drawingml/2006/main" noGrp="1"/>
          </p:cNvSpPr>
          <p:nvPr/>
        </p:nvSpPr>
        <p:spPr>
          <a:xfrm xmlns:a="http://schemas.openxmlformats.org/drawingml/2006/main" rot="0">
            <a:off x="15654622" y="6997580"/>
            <a:ext cx="1078805" cy="188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188"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188" b="0">
                <a:solidFill>
                  <a:srgbClr val="00355F"/>
                </a:solidFill>
                <a:latin typeface="Arial Unicode MS"/>
                <a:ea typeface="Arial Unicode MS"/>
                <a:cs typeface="Arial Unicode MS"/>
              </a:defRPr>
            </a:pPr>
            <a:r>
              <a:rPr sz="1188" b="0">
                <a:solidFill>
                  <a:srgbClr val="00355F"/>
                </a:solidFill>
                <a:latin typeface="Arial Unicode MS"/>
                <a:ea typeface="Arial Unicode MS"/>
                <a:cs typeface="Arial Unicode MS"/>
              </a:rPr>
              <a:t>Produce drugs</a:t>
            </a:r>
          </a:p>
        </p:txBody>
      </p:sp>
      <p:sp>
        <p:nvSpPr>
          <p:cNvPr id="45" name="Figure 4 label 44 line 1">
            <a:extLst xmlns:a="http://schemas.openxmlformats.org/drawingml/2006/main">
              <a:ext uri="{FF2B5EF4-FFF2-40B4-BE49-F238E27FC236}">
                <a16:creationId xmlns:a16="http://schemas.microsoft.com/office/drawing/2014/main" id="{CED50691-A20D-4A54-B620-494F8D0C2533}"/>
              </a:ext>
            </a:extLst>
          </p:cNvPr>
          <p:cNvSpPr>
            <a:spLocks xmlns:a="http://schemas.openxmlformats.org/drawingml/2006/main" noGrp="1"/>
          </p:cNvSpPr>
          <p:nvPr/>
        </p:nvSpPr>
        <p:spPr>
          <a:xfrm xmlns:a="http://schemas.openxmlformats.org/drawingml/2006/main" rot="0">
            <a:off x="5851000" y="2044848"/>
            <a:ext cx="3294162"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13"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Experimental feedback → next design cycle</a:t>
            </a:r>
          </a:p>
        </p:txBody>
      </p:sp>
      <p:sp>
        <p:nvSpPr>
          <p:cNvPr id="46" name="Figure 4 label 45 line 1">
            <a:extLst xmlns:a="http://schemas.openxmlformats.org/drawingml/2006/main">
              <a:ext uri="{FF2B5EF4-FFF2-40B4-BE49-F238E27FC236}">
                <a16:creationId xmlns:a16="http://schemas.microsoft.com/office/drawing/2014/main" id="{7FC5FF9B-AD08-4BA0-A534-F4F1A46E5E98}"/>
              </a:ext>
            </a:extLst>
          </p:cNvPr>
          <p:cNvSpPr>
            <a:spLocks xmlns:a="http://schemas.openxmlformats.org/drawingml/2006/main" noGrp="1"/>
          </p:cNvSpPr>
          <p:nvPr/>
        </p:nvSpPr>
        <p:spPr>
          <a:xfrm xmlns:a="http://schemas.openxmlformats.org/drawingml/2006/main" rot="0">
            <a:off x="5122143" y="8227834"/>
            <a:ext cx="8043714"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75" b="1">
                <a:solidFill>
                  <a:srgbClr val="00355F"/>
                </a:solidFill>
                <a:latin typeface="Arial Unicode MS"/>
                <a:ea typeface="Arial Unicode MS"/>
                <a:cs typeface="Arial Unicode MS"/>
              </a:defRPr>
            </a:defPPr>
          </a:lstStyle>
          <a:p xmlns:a="http://schemas.openxmlformats.org/drawingml/2006/main">
            <a:pPr algn="ctr">
              <a:lnSpc>
                <a:spcPct val="100000"/>
              </a:lnSpc>
              <a:buNone/>
              <a:defRPr sz="1875" b="1">
                <a:solidFill>
                  <a:srgbClr val="00355F"/>
                </a:solidFill>
                <a:latin typeface="Arial Unicode MS"/>
                <a:ea typeface="Arial Unicode MS"/>
                <a:cs typeface="Arial Unicode MS"/>
              </a:defRPr>
            </a:pPr>
            <a:r>
              <a:rPr sz="1875" b="1">
                <a:solidFill>
                  <a:srgbClr val="00355F"/>
                </a:solidFill>
                <a:latin typeface="Arial Unicode MS"/>
                <a:ea typeface="Arial Unicode MS"/>
                <a:cs typeface="Arial Unicode MS"/>
              </a:rPr>
              <a:t>The most direct potential uplift comes from building and testing candidates.</a:t>
            </a:r>
          </a:p>
        </p:txBody>
      </p:sp>
    </p:spTree>
    <p:extLst>
      <p:ext uri="{BB962C8B-B14F-4D97-AF65-F5344CB8AC3E}">
        <p14:creationId xmlns:p14="http://schemas.microsoft.com/office/powerpoint/2010/main" val="79562091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4" name="">
            <a:extLst xmlns:a="http://schemas.openxmlformats.org/drawingml/2006/main">
              <a:ext uri="{FF2B5EF4-FFF2-40B4-BE49-F238E27FC236}">
                <a16:creationId xmlns:a16="http://schemas.microsoft.com/office/drawing/2014/main" id="{68A4C0C0-DE48-4E95-8B26-7589F7518F19}"/>
              </a:ext>
            </a:extLst>
          </p:cNvPr>
          <p:cNvPicPr>
            <a:picLocks xmlns:a="http://schemas.openxmlformats.org/drawingml/2006/main" noChangeAspect="1"/>
          </p:cNvPicPr>
          <p:nvPr/>
        </p:nvPicPr>
        <p:blipFill>
          <a:blip xmlns:r="http://schemas.openxmlformats.org/officeDocument/2006/relationships" xmlns:a="http://schemas.openxmlformats.org/drawingml/2006/main" r:embed="R74698971c9e34439"/>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Figure 5 label 1 line 1">
            <a:extLst xmlns:a="http://schemas.openxmlformats.org/drawingml/2006/main">
              <a:ext uri="{FF2B5EF4-FFF2-40B4-BE49-F238E27FC236}">
                <a16:creationId xmlns:a16="http://schemas.microsoft.com/office/drawing/2014/main" id="{40C15F34-602A-4615-A54B-4468BE74317D}"/>
              </a:ext>
            </a:extLst>
          </p:cNvPr>
          <p:cNvSpPr>
            <a:spLocks xmlns:a="http://schemas.openxmlformats.org/drawingml/2006/main" noGrp="1"/>
          </p:cNvSpPr>
          <p:nvPr/>
        </p:nvSpPr>
        <p:spPr>
          <a:xfrm xmlns:a="http://schemas.openxmlformats.org/drawingml/2006/main" rot="0">
            <a:off x="2616217" y="7924632"/>
            <a:ext cx="473422"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Low</a:t>
            </a:r>
          </a:p>
        </p:txBody>
      </p:sp>
      <p:sp>
        <p:nvSpPr>
          <p:cNvPr id="3" name="Figure 5 label 2 line 1">
            <a:extLst xmlns:a="http://schemas.openxmlformats.org/drawingml/2006/main">
              <a:ext uri="{FF2B5EF4-FFF2-40B4-BE49-F238E27FC236}">
                <a16:creationId xmlns:a16="http://schemas.microsoft.com/office/drawing/2014/main" id="{AC2A9944-C3D7-444D-9F40-E65599E53357}"/>
              </a:ext>
            </a:extLst>
          </p:cNvPr>
          <p:cNvSpPr>
            <a:spLocks xmlns:a="http://schemas.openxmlformats.org/drawingml/2006/main" noGrp="1"/>
          </p:cNvSpPr>
          <p:nvPr/>
        </p:nvSpPr>
        <p:spPr>
          <a:xfrm xmlns:a="http://schemas.openxmlformats.org/drawingml/2006/main" rot="0">
            <a:off x="8011760" y="7924632"/>
            <a:ext cx="80143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Medium</a:t>
            </a:r>
          </a:p>
        </p:txBody>
      </p:sp>
      <p:sp>
        <p:nvSpPr>
          <p:cNvPr id="4" name="Figure 5 label 3 line 1">
            <a:extLst xmlns:a="http://schemas.openxmlformats.org/drawingml/2006/main">
              <a:ext uri="{FF2B5EF4-FFF2-40B4-BE49-F238E27FC236}">
                <a16:creationId xmlns:a16="http://schemas.microsoft.com/office/drawing/2014/main" id="{6D499C7E-0B2B-485C-B514-657BAEC7E9DC}"/>
              </a:ext>
            </a:extLst>
          </p:cNvPr>
          <p:cNvSpPr>
            <a:spLocks xmlns:a="http://schemas.openxmlformats.org/drawingml/2006/main" noGrp="1"/>
          </p:cNvSpPr>
          <p:nvPr/>
        </p:nvSpPr>
        <p:spPr>
          <a:xfrm xmlns:a="http://schemas.openxmlformats.org/drawingml/2006/main" rot="0">
            <a:off x="13714188" y="7924632"/>
            <a:ext cx="51568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High</a:t>
            </a:r>
          </a:p>
        </p:txBody>
      </p:sp>
      <p:sp>
        <p:nvSpPr>
          <p:cNvPr id="5" name="Figure 5 label 4 line 1">
            <a:extLst xmlns:a="http://schemas.openxmlformats.org/drawingml/2006/main">
              <a:ext uri="{FF2B5EF4-FFF2-40B4-BE49-F238E27FC236}">
                <a16:creationId xmlns:a16="http://schemas.microsoft.com/office/drawing/2014/main" id="{70F0F067-10C2-4362-BE5B-5BF4F06B6E93}"/>
              </a:ext>
            </a:extLst>
          </p:cNvPr>
          <p:cNvSpPr>
            <a:spLocks xmlns:a="http://schemas.openxmlformats.org/drawingml/2006/main" noGrp="1"/>
          </p:cNvSpPr>
          <p:nvPr/>
        </p:nvSpPr>
        <p:spPr>
          <a:xfrm xmlns:a="http://schemas.openxmlformats.org/drawingml/2006/main" rot="0">
            <a:off x="7276772" y="8291493"/>
            <a:ext cx="227141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Experimental necessity →</a:t>
            </a:r>
          </a:p>
        </p:txBody>
      </p:sp>
      <p:sp>
        <p:nvSpPr>
          <p:cNvPr id="6" name="Figure 5 label 5 line 1">
            <a:extLst xmlns:a="http://schemas.openxmlformats.org/drawingml/2006/main">
              <a:ext uri="{FF2B5EF4-FFF2-40B4-BE49-F238E27FC236}">
                <a16:creationId xmlns:a16="http://schemas.microsoft.com/office/drawing/2014/main" id="{7D7BF0DF-06FA-409E-A29A-BD08F5309C4D}"/>
              </a:ext>
            </a:extLst>
          </p:cNvPr>
          <p:cNvSpPr>
            <a:spLocks xmlns:a="http://schemas.openxmlformats.org/drawingml/2006/main" noGrp="1"/>
          </p:cNvSpPr>
          <p:nvPr/>
        </p:nvSpPr>
        <p:spPr>
          <a:xfrm xmlns:a="http://schemas.openxmlformats.org/drawingml/2006/main" rot="0">
            <a:off x="830868" y="7147349"/>
            <a:ext cx="473422"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Low</a:t>
            </a:r>
          </a:p>
        </p:txBody>
      </p:sp>
      <p:sp>
        <p:nvSpPr>
          <p:cNvPr id="7" name="Figure 5 label 6 line 1">
            <a:extLst xmlns:a="http://schemas.openxmlformats.org/drawingml/2006/main">
              <a:ext uri="{FF2B5EF4-FFF2-40B4-BE49-F238E27FC236}">
                <a16:creationId xmlns:a16="http://schemas.microsoft.com/office/drawing/2014/main" id="{800D3D06-FFB9-49AE-9D14-7BD609005D13}"/>
              </a:ext>
            </a:extLst>
          </p:cNvPr>
          <p:cNvSpPr>
            <a:spLocks xmlns:a="http://schemas.openxmlformats.org/drawingml/2006/main" noGrp="1"/>
          </p:cNvSpPr>
          <p:nvPr/>
        </p:nvSpPr>
        <p:spPr>
          <a:xfrm xmlns:a="http://schemas.openxmlformats.org/drawingml/2006/main" rot="0">
            <a:off x="502851" y="4945931"/>
            <a:ext cx="80143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Medium</a:t>
            </a:r>
          </a:p>
        </p:txBody>
      </p:sp>
      <p:sp>
        <p:nvSpPr>
          <p:cNvPr id="8" name="Figure 5 label 7 line 1">
            <a:extLst xmlns:a="http://schemas.openxmlformats.org/drawingml/2006/main">
              <a:ext uri="{FF2B5EF4-FFF2-40B4-BE49-F238E27FC236}">
                <a16:creationId xmlns:a16="http://schemas.microsoft.com/office/drawing/2014/main" id="{53BEFA40-7506-4CFC-91C3-D03A2E11B99C}"/>
              </a:ext>
            </a:extLst>
          </p:cNvPr>
          <p:cNvSpPr>
            <a:spLocks xmlns:a="http://schemas.openxmlformats.org/drawingml/2006/main" noGrp="1"/>
          </p:cNvSpPr>
          <p:nvPr/>
        </p:nvSpPr>
        <p:spPr>
          <a:xfrm xmlns:a="http://schemas.openxmlformats.org/drawingml/2006/main" rot="0">
            <a:off x="788601" y="2744513"/>
            <a:ext cx="51568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High</a:t>
            </a:r>
          </a:p>
        </p:txBody>
      </p:sp>
      <p:sp>
        <p:nvSpPr>
          <p:cNvPr id="9" name="Figure 5 label 8 line 1">
            <a:extLst xmlns:a="http://schemas.openxmlformats.org/drawingml/2006/main">
              <a:ext uri="{FF2B5EF4-FFF2-40B4-BE49-F238E27FC236}">
                <a16:creationId xmlns:a16="http://schemas.microsoft.com/office/drawing/2014/main" id="{33196B56-C8A7-4D78-9825-608357BEBC46}"/>
              </a:ext>
            </a:extLst>
          </p:cNvPr>
          <p:cNvSpPr>
            <a:spLocks xmlns:a="http://schemas.openxmlformats.org/drawingml/2006/main" noGrp="1"/>
          </p:cNvSpPr>
          <p:nvPr/>
        </p:nvSpPr>
        <p:spPr>
          <a:xfrm xmlns:a="http://schemas.openxmlformats.org/drawingml/2006/main" rot="16200000">
            <a:off x="-1479297" y="4918710"/>
            <a:ext cx="3732758"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Revenue elasticity to experiment volume →</a:t>
            </a:r>
          </a:p>
        </p:txBody>
      </p:sp>
      <p:sp>
        <p:nvSpPr>
          <p:cNvPr id="10" name="Figure 5 label 9 line 1">
            <a:extLst xmlns:a="http://schemas.openxmlformats.org/drawingml/2006/main">
              <a:ext uri="{FF2B5EF4-FFF2-40B4-BE49-F238E27FC236}">
                <a16:creationId xmlns:a16="http://schemas.microsoft.com/office/drawing/2014/main" id="{08B2FAA7-BE48-4FC8-A278-08E5BCC954CF}"/>
              </a:ext>
            </a:extLst>
          </p:cNvPr>
          <p:cNvSpPr>
            <a:spLocks xmlns:a="http://schemas.openxmlformats.org/drawingml/2006/main" noGrp="1"/>
          </p:cNvSpPr>
          <p:nvPr/>
        </p:nvSpPr>
        <p:spPr>
          <a:xfrm xmlns:a="http://schemas.openxmlformats.org/drawingml/2006/main" rot="0">
            <a:off x="2012455" y="2407644"/>
            <a:ext cx="3468162" cy="2043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88" b="0">
                <a:solidFill>
                  <a:srgbClr val="00355F"/>
                </a:solidFill>
                <a:latin typeface="Arial Unicode MS"/>
                <a:ea typeface="Arial Unicode MS"/>
                <a:cs typeface="Arial Unicode MS"/>
              </a:defRPr>
            </a:defPPr>
          </a:lstStyle>
          <a:p xmlns:a="http://schemas.openxmlformats.org/drawingml/2006/main">
            <a:pPr algn="l">
              <a:lnSpc>
                <a:spcPct val="100000"/>
              </a:lnSpc>
              <a:buNone/>
              <a:defRPr sz="1288" b="0">
                <a:solidFill>
                  <a:srgbClr val="00355F"/>
                </a:solidFill>
                <a:latin typeface="Arial Unicode MS"/>
                <a:ea typeface="Arial Unicode MS"/>
                <a:cs typeface="Arial Unicode MS"/>
              </a:defRPr>
            </a:pPr>
            <a:r>
              <a:rPr sz="1288" b="0">
                <a:solidFill>
                  <a:srgbClr val="00355F"/>
                </a:solidFill>
                <a:latin typeface="Arial Unicode MS"/>
                <a:ea typeface="Arial Unicode MS"/>
                <a:cs typeface="Arial Unicode MS"/>
              </a:rPr>
              <a:t>Project expansion and substitution both matter</a:t>
            </a:r>
          </a:p>
        </p:txBody>
      </p:sp>
      <p:sp>
        <p:nvSpPr>
          <p:cNvPr id="11" name="Figure 5 label 10 line 1">
            <a:extLst xmlns:a="http://schemas.openxmlformats.org/drawingml/2006/main">
              <a:ext uri="{FF2B5EF4-FFF2-40B4-BE49-F238E27FC236}">
                <a16:creationId xmlns:a16="http://schemas.microsoft.com/office/drawing/2014/main" id="{ACC4414A-4946-438A-B112-F76BD9175EC8}"/>
              </a:ext>
            </a:extLst>
          </p:cNvPr>
          <p:cNvSpPr>
            <a:spLocks xmlns:a="http://schemas.openxmlformats.org/drawingml/2006/main" noGrp="1"/>
          </p:cNvSpPr>
          <p:nvPr/>
        </p:nvSpPr>
        <p:spPr>
          <a:xfrm xmlns:a="http://schemas.openxmlformats.org/drawingml/2006/main" rot="0">
            <a:off x="11880532" y="2274154"/>
            <a:ext cx="1303734"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High-throughput</a:t>
            </a:r>
          </a:p>
        </p:txBody>
      </p:sp>
      <p:sp>
        <p:nvSpPr>
          <p:cNvPr id="12" name="Figure 5 label 11 line 1">
            <a:extLst xmlns:a="http://schemas.openxmlformats.org/drawingml/2006/main">
              <a:ext uri="{FF2B5EF4-FFF2-40B4-BE49-F238E27FC236}">
                <a16:creationId xmlns:a16="http://schemas.microsoft.com/office/drawing/2014/main" id="{F0294937-B4A7-4128-AEC1-8308F8CEEB8C}"/>
              </a:ext>
            </a:extLst>
          </p:cNvPr>
          <p:cNvSpPr>
            <a:spLocks xmlns:a="http://schemas.openxmlformats.org/drawingml/2006/main" noGrp="1"/>
          </p:cNvSpPr>
          <p:nvPr/>
        </p:nvSpPr>
        <p:spPr>
          <a:xfrm xmlns:a="http://schemas.openxmlformats.org/drawingml/2006/main" rot="0">
            <a:off x="11880532" y="2452333"/>
            <a:ext cx="627162"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assays</a:t>
            </a:r>
          </a:p>
        </p:txBody>
      </p:sp>
      <p:sp>
        <p:nvSpPr>
          <p:cNvPr id="13" name="Figure 5 label 12 line 1">
            <a:extLst xmlns:a="http://schemas.openxmlformats.org/drawingml/2006/main">
              <a:ext uri="{FF2B5EF4-FFF2-40B4-BE49-F238E27FC236}">
                <a16:creationId xmlns:a16="http://schemas.microsoft.com/office/drawing/2014/main" id="{DD3EB41F-759D-494A-90F3-EE322FC82648}"/>
              </a:ext>
            </a:extLst>
          </p:cNvPr>
          <p:cNvSpPr>
            <a:spLocks xmlns:a="http://schemas.openxmlformats.org/drawingml/2006/main" noGrp="1"/>
          </p:cNvSpPr>
          <p:nvPr/>
        </p:nvSpPr>
        <p:spPr>
          <a:xfrm xmlns:a="http://schemas.openxmlformats.org/drawingml/2006/main" rot="0">
            <a:off x="13752695" y="4146375"/>
            <a:ext cx="1294061"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Enzymes / NGS</a:t>
            </a:r>
          </a:p>
        </p:txBody>
      </p:sp>
      <p:sp>
        <p:nvSpPr>
          <p:cNvPr id="14" name="Figure 5 label 13 line 1">
            <a:extLst xmlns:a="http://schemas.openxmlformats.org/drawingml/2006/main">
              <a:ext uri="{FF2B5EF4-FFF2-40B4-BE49-F238E27FC236}">
                <a16:creationId xmlns:a16="http://schemas.microsoft.com/office/drawing/2014/main" id="{7B48C45E-5FC7-4FBC-ADC1-2725707C3697}"/>
              </a:ext>
            </a:extLst>
          </p:cNvPr>
          <p:cNvSpPr>
            <a:spLocks xmlns:a="http://schemas.openxmlformats.org/drawingml/2006/main" noGrp="1"/>
          </p:cNvSpPr>
          <p:nvPr/>
        </p:nvSpPr>
        <p:spPr>
          <a:xfrm xmlns:a="http://schemas.openxmlformats.org/drawingml/2006/main" rot="0">
            <a:off x="14104588" y="4324554"/>
            <a:ext cx="942231"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library prep</a:t>
            </a:r>
          </a:p>
        </p:txBody>
      </p:sp>
      <p:sp>
        <p:nvSpPr>
          <p:cNvPr id="15" name="Figure 5 label 14 line 1">
            <a:extLst xmlns:a="http://schemas.openxmlformats.org/drawingml/2006/main">
              <a:ext uri="{FF2B5EF4-FFF2-40B4-BE49-F238E27FC236}">
                <a16:creationId xmlns:a16="http://schemas.microsoft.com/office/drawing/2014/main" id="{557FB6FE-BB69-465D-81D9-44C40D920E52}"/>
              </a:ext>
            </a:extLst>
          </p:cNvPr>
          <p:cNvSpPr>
            <a:spLocks xmlns:a="http://schemas.openxmlformats.org/drawingml/2006/main" noGrp="1"/>
          </p:cNvSpPr>
          <p:nvPr/>
        </p:nvSpPr>
        <p:spPr>
          <a:xfrm xmlns:a="http://schemas.openxmlformats.org/drawingml/2006/main" rot="0">
            <a:off x="10351656" y="3156519"/>
            <a:ext cx="1090613"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Recombinant</a:t>
            </a:r>
          </a:p>
        </p:txBody>
      </p:sp>
      <p:sp>
        <p:nvSpPr>
          <p:cNvPr id="16" name="Figure 5 label 15 line 1">
            <a:extLst xmlns:a="http://schemas.openxmlformats.org/drawingml/2006/main">
              <a:ext uri="{FF2B5EF4-FFF2-40B4-BE49-F238E27FC236}">
                <a16:creationId xmlns:a16="http://schemas.microsoft.com/office/drawing/2014/main" id="{0F63003C-5DEC-45CE-BBE0-DFE83BB192E0}"/>
              </a:ext>
            </a:extLst>
          </p:cNvPr>
          <p:cNvSpPr>
            <a:spLocks xmlns:a="http://schemas.openxmlformats.org/drawingml/2006/main" noGrp="1"/>
          </p:cNvSpPr>
          <p:nvPr/>
        </p:nvSpPr>
        <p:spPr>
          <a:xfrm xmlns:a="http://schemas.openxmlformats.org/drawingml/2006/main" rot="0">
            <a:off x="10351656" y="3332900"/>
            <a:ext cx="70142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proteins</a:t>
            </a:r>
          </a:p>
        </p:txBody>
      </p:sp>
      <p:sp>
        <p:nvSpPr>
          <p:cNvPr id="17" name="Figure 5 label 16 line 1">
            <a:extLst xmlns:a="http://schemas.openxmlformats.org/drawingml/2006/main">
              <a:ext uri="{FF2B5EF4-FFF2-40B4-BE49-F238E27FC236}">
                <a16:creationId xmlns:a16="http://schemas.microsoft.com/office/drawing/2014/main" id="{FC9393D9-5AEC-4290-8F92-E837E5606B39}"/>
              </a:ext>
            </a:extLst>
          </p:cNvPr>
          <p:cNvSpPr>
            <a:spLocks xmlns:a="http://schemas.openxmlformats.org/drawingml/2006/main" noGrp="1"/>
          </p:cNvSpPr>
          <p:nvPr/>
        </p:nvSpPr>
        <p:spPr>
          <a:xfrm xmlns:a="http://schemas.openxmlformats.org/drawingml/2006/main" rot="0">
            <a:off x="8822779" y="2577748"/>
            <a:ext cx="803225"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Chemical</a:t>
            </a:r>
          </a:p>
        </p:txBody>
      </p:sp>
      <p:sp>
        <p:nvSpPr>
          <p:cNvPr id="18" name="Figure 5 label 17 line 1">
            <a:extLst xmlns:a="http://schemas.openxmlformats.org/drawingml/2006/main">
              <a:ext uri="{FF2B5EF4-FFF2-40B4-BE49-F238E27FC236}">
                <a16:creationId xmlns:a16="http://schemas.microsoft.com/office/drawing/2014/main" id="{7060E1AD-47A7-426B-968A-91668C829D3A}"/>
              </a:ext>
            </a:extLst>
          </p:cNvPr>
          <p:cNvSpPr>
            <a:spLocks xmlns:a="http://schemas.openxmlformats.org/drawingml/2006/main" noGrp="1"/>
          </p:cNvSpPr>
          <p:nvPr/>
        </p:nvSpPr>
        <p:spPr>
          <a:xfrm xmlns:a="http://schemas.openxmlformats.org/drawingml/2006/main" rot="0">
            <a:off x="8822779" y="2754130"/>
            <a:ext cx="120178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building blocks</a:t>
            </a:r>
          </a:p>
        </p:txBody>
      </p:sp>
      <p:sp>
        <p:nvSpPr>
          <p:cNvPr id="19" name="Figure 5 label 18 line 1">
            <a:extLst xmlns:a="http://schemas.openxmlformats.org/drawingml/2006/main">
              <a:ext uri="{FF2B5EF4-FFF2-40B4-BE49-F238E27FC236}">
                <a16:creationId xmlns:a16="http://schemas.microsoft.com/office/drawing/2014/main" id="{685963B3-0635-42EA-BFB6-12A5FDB1912B}"/>
              </a:ext>
            </a:extLst>
          </p:cNvPr>
          <p:cNvSpPr>
            <a:spLocks xmlns:a="http://schemas.openxmlformats.org/drawingml/2006/main" noGrp="1"/>
          </p:cNvSpPr>
          <p:nvPr/>
        </p:nvSpPr>
        <p:spPr>
          <a:xfrm xmlns:a="http://schemas.openxmlformats.org/drawingml/2006/main" rot="0">
            <a:off x="12366993" y="3431696"/>
            <a:ext cx="95160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Automation</a:t>
            </a:r>
          </a:p>
        </p:txBody>
      </p:sp>
      <p:sp>
        <p:nvSpPr>
          <p:cNvPr id="20" name="Figure 5 label 19 line 1">
            <a:extLst xmlns:a="http://schemas.openxmlformats.org/drawingml/2006/main">
              <a:ext uri="{FF2B5EF4-FFF2-40B4-BE49-F238E27FC236}">
                <a16:creationId xmlns:a16="http://schemas.microsoft.com/office/drawing/2014/main" id="{4BF45274-AEFA-477A-B248-4C399DA0EF9D}"/>
              </a:ext>
            </a:extLst>
          </p:cNvPr>
          <p:cNvSpPr>
            <a:spLocks xmlns:a="http://schemas.openxmlformats.org/drawingml/2006/main" noGrp="1"/>
          </p:cNvSpPr>
          <p:nvPr/>
        </p:nvSpPr>
        <p:spPr>
          <a:xfrm xmlns:a="http://schemas.openxmlformats.org/drawingml/2006/main" rot="0">
            <a:off x="12366993" y="3608077"/>
            <a:ext cx="95160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plates / tips</a:t>
            </a:r>
          </a:p>
        </p:txBody>
      </p:sp>
      <p:sp>
        <p:nvSpPr>
          <p:cNvPr id="21" name="Figure 5 label 20 line 1">
            <a:extLst xmlns:a="http://schemas.openxmlformats.org/drawingml/2006/main">
              <a:ext uri="{FF2B5EF4-FFF2-40B4-BE49-F238E27FC236}">
                <a16:creationId xmlns:a16="http://schemas.microsoft.com/office/drawing/2014/main" id="{B6AD7BA1-2529-4C1D-8513-ACD494C78277}"/>
              </a:ext>
            </a:extLst>
          </p:cNvPr>
          <p:cNvSpPr>
            <a:spLocks xmlns:a="http://schemas.openxmlformats.org/drawingml/2006/main" noGrp="1"/>
          </p:cNvSpPr>
          <p:nvPr/>
        </p:nvSpPr>
        <p:spPr>
          <a:xfrm xmlns:a="http://schemas.openxmlformats.org/drawingml/2006/main" rot="0">
            <a:off x="6043003" y="6073398"/>
            <a:ext cx="692051"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Generic</a:t>
            </a:r>
          </a:p>
        </p:txBody>
      </p:sp>
      <p:sp>
        <p:nvSpPr>
          <p:cNvPr id="22" name="Figure 5 label 21 line 1">
            <a:extLst xmlns:a="http://schemas.openxmlformats.org/drawingml/2006/main">
              <a:ext uri="{FF2B5EF4-FFF2-40B4-BE49-F238E27FC236}">
                <a16:creationId xmlns:a16="http://schemas.microsoft.com/office/drawing/2014/main" id="{85351444-953A-4446-A925-4D1063C6511A}"/>
              </a:ext>
            </a:extLst>
          </p:cNvPr>
          <p:cNvSpPr>
            <a:spLocks xmlns:a="http://schemas.openxmlformats.org/drawingml/2006/main" noGrp="1"/>
          </p:cNvSpPr>
          <p:nvPr/>
        </p:nvSpPr>
        <p:spPr>
          <a:xfrm xmlns:a="http://schemas.openxmlformats.org/drawingml/2006/main" rot="0">
            <a:off x="6043003" y="6249779"/>
            <a:ext cx="1210866"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plastic labware</a:t>
            </a:r>
          </a:p>
        </p:txBody>
      </p:sp>
      <p:sp>
        <p:nvSpPr>
          <p:cNvPr id="23" name="Figure 5 label 22 line 1">
            <a:extLst xmlns:a="http://schemas.openxmlformats.org/drawingml/2006/main">
              <a:ext uri="{FF2B5EF4-FFF2-40B4-BE49-F238E27FC236}">
                <a16:creationId xmlns:a16="http://schemas.microsoft.com/office/drawing/2014/main" id="{1AFE8A87-ACCC-4715-800D-57BA02F5B673}"/>
              </a:ext>
            </a:extLst>
          </p:cNvPr>
          <p:cNvSpPr>
            <a:spLocks xmlns:a="http://schemas.openxmlformats.org/drawingml/2006/main" noGrp="1"/>
          </p:cNvSpPr>
          <p:nvPr/>
        </p:nvSpPr>
        <p:spPr>
          <a:xfrm xmlns:a="http://schemas.openxmlformats.org/drawingml/2006/main" rot="0">
            <a:off x="9517723" y="4724130"/>
            <a:ext cx="821829"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Analytical</a:t>
            </a:r>
          </a:p>
        </p:txBody>
      </p:sp>
      <p:sp>
        <p:nvSpPr>
          <p:cNvPr id="24" name="Figure 5 label 23 line 1">
            <a:extLst xmlns:a="http://schemas.openxmlformats.org/drawingml/2006/main">
              <a:ext uri="{FF2B5EF4-FFF2-40B4-BE49-F238E27FC236}">
                <a16:creationId xmlns:a16="http://schemas.microsoft.com/office/drawing/2014/main" id="{7BFB11F0-021A-4F19-9467-7911998AD704}"/>
              </a:ext>
            </a:extLst>
          </p:cNvPr>
          <p:cNvSpPr>
            <a:spLocks xmlns:a="http://schemas.openxmlformats.org/drawingml/2006/main" noGrp="1"/>
          </p:cNvSpPr>
          <p:nvPr/>
        </p:nvSpPr>
        <p:spPr>
          <a:xfrm xmlns:a="http://schemas.openxmlformats.org/drawingml/2006/main" rot="0">
            <a:off x="9517723" y="4902309"/>
            <a:ext cx="729109"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columns</a:t>
            </a:r>
          </a:p>
        </p:txBody>
      </p:sp>
      <p:sp>
        <p:nvSpPr>
          <p:cNvPr id="25" name="Figure 5 label 24 line 1">
            <a:extLst xmlns:a="http://schemas.openxmlformats.org/drawingml/2006/main">
              <a:ext uri="{FF2B5EF4-FFF2-40B4-BE49-F238E27FC236}">
                <a16:creationId xmlns:a16="http://schemas.microsoft.com/office/drawing/2014/main" id="{05821C50-BB82-48F1-A8EA-AE9FF76597B4}"/>
              </a:ext>
            </a:extLst>
          </p:cNvPr>
          <p:cNvSpPr>
            <a:spLocks xmlns:a="http://schemas.openxmlformats.org/drawingml/2006/main" noGrp="1"/>
          </p:cNvSpPr>
          <p:nvPr/>
        </p:nvSpPr>
        <p:spPr>
          <a:xfrm xmlns:a="http://schemas.openxmlformats.org/drawingml/2006/main" rot="0">
            <a:off x="11741544" y="5963444"/>
            <a:ext cx="1164729"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Manufacturing</a:t>
            </a:r>
          </a:p>
        </p:txBody>
      </p:sp>
      <p:sp>
        <p:nvSpPr>
          <p:cNvPr id="26" name="Figure 5 label 25 line 1">
            <a:extLst xmlns:a="http://schemas.openxmlformats.org/drawingml/2006/main">
              <a:ext uri="{FF2B5EF4-FFF2-40B4-BE49-F238E27FC236}">
                <a16:creationId xmlns:a16="http://schemas.microsoft.com/office/drawing/2014/main" id="{56F7980F-3E3F-4D5A-ABB0-E74DF07DE86E}"/>
              </a:ext>
            </a:extLst>
          </p:cNvPr>
          <p:cNvSpPr>
            <a:spLocks xmlns:a="http://schemas.openxmlformats.org/drawingml/2006/main" noGrp="1"/>
          </p:cNvSpPr>
          <p:nvPr/>
        </p:nvSpPr>
        <p:spPr>
          <a:xfrm xmlns:a="http://schemas.openxmlformats.org/drawingml/2006/main" rot="0">
            <a:off x="11741544" y="6141622"/>
            <a:ext cx="553045"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resins</a:t>
            </a:r>
          </a:p>
        </p:txBody>
      </p:sp>
      <p:sp>
        <p:nvSpPr>
          <p:cNvPr id="27" name="Figure 5 label 26 line 1">
            <a:extLst xmlns:a="http://schemas.openxmlformats.org/drawingml/2006/main">
              <a:ext uri="{FF2B5EF4-FFF2-40B4-BE49-F238E27FC236}">
                <a16:creationId xmlns:a16="http://schemas.microsoft.com/office/drawing/2014/main" id="{95AF5F93-9A2F-4BDB-A8DD-F4812FF13F0A}"/>
              </a:ext>
            </a:extLst>
          </p:cNvPr>
          <p:cNvSpPr>
            <a:spLocks xmlns:a="http://schemas.openxmlformats.org/drawingml/2006/main" noGrp="1"/>
          </p:cNvSpPr>
          <p:nvPr/>
        </p:nvSpPr>
        <p:spPr>
          <a:xfrm xmlns:a="http://schemas.openxmlformats.org/drawingml/2006/main" rot="0">
            <a:off x="6529464" y="3982168"/>
            <a:ext cx="988963"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Sequencing</a:t>
            </a:r>
          </a:p>
        </p:txBody>
      </p:sp>
      <p:sp>
        <p:nvSpPr>
          <p:cNvPr id="28" name="Figure 5 label 27 line 1">
            <a:extLst xmlns:a="http://schemas.openxmlformats.org/drawingml/2006/main">
              <a:ext uri="{FF2B5EF4-FFF2-40B4-BE49-F238E27FC236}">
                <a16:creationId xmlns:a16="http://schemas.microsoft.com/office/drawing/2014/main" id="{6A0F21D9-441F-4491-BC2F-FE89BA5C6D97}"/>
              </a:ext>
            </a:extLst>
          </p:cNvPr>
          <p:cNvSpPr>
            <a:spLocks xmlns:a="http://schemas.openxmlformats.org/drawingml/2006/main" noGrp="1"/>
          </p:cNvSpPr>
          <p:nvPr/>
        </p:nvSpPr>
        <p:spPr>
          <a:xfrm xmlns:a="http://schemas.openxmlformats.org/drawingml/2006/main" rot="0">
            <a:off x="6529464" y="4160347"/>
            <a:ext cx="460474"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tools</a:t>
            </a:r>
          </a:p>
        </p:txBody>
      </p:sp>
      <p:sp>
        <p:nvSpPr>
          <p:cNvPr id="29" name="Figure 5 label 28 line 1">
            <a:extLst xmlns:a="http://schemas.openxmlformats.org/drawingml/2006/main">
              <a:ext uri="{FF2B5EF4-FFF2-40B4-BE49-F238E27FC236}">
                <a16:creationId xmlns:a16="http://schemas.microsoft.com/office/drawing/2014/main" id="{F4A3B3BE-CD5C-4B11-8E73-4E7FCC50F70A}"/>
              </a:ext>
            </a:extLst>
          </p:cNvPr>
          <p:cNvSpPr>
            <a:spLocks xmlns:a="http://schemas.openxmlformats.org/drawingml/2006/main" noGrp="1"/>
          </p:cNvSpPr>
          <p:nvPr/>
        </p:nvSpPr>
        <p:spPr>
          <a:xfrm xmlns:a="http://schemas.openxmlformats.org/drawingml/2006/main" rot="0">
            <a:off x="5973509" y="3376661"/>
            <a:ext cx="553343"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Liquid</a:t>
            </a:r>
          </a:p>
        </p:txBody>
      </p:sp>
      <p:sp>
        <p:nvSpPr>
          <p:cNvPr id="30" name="Figure 5 label 29 line 1">
            <a:extLst xmlns:a="http://schemas.openxmlformats.org/drawingml/2006/main">
              <a:ext uri="{FF2B5EF4-FFF2-40B4-BE49-F238E27FC236}">
                <a16:creationId xmlns:a16="http://schemas.microsoft.com/office/drawing/2014/main" id="{FCA88447-81B8-4AF0-A5FF-1C7F265460CF}"/>
              </a:ext>
            </a:extLst>
          </p:cNvPr>
          <p:cNvSpPr>
            <a:spLocks xmlns:a="http://schemas.openxmlformats.org/drawingml/2006/main" noGrp="1"/>
          </p:cNvSpPr>
          <p:nvPr/>
        </p:nvSpPr>
        <p:spPr>
          <a:xfrm xmlns:a="http://schemas.openxmlformats.org/drawingml/2006/main" rot="0">
            <a:off x="5973509" y="3553042"/>
            <a:ext cx="747861"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handlers</a:t>
            </a:r>
          </a:p>
        </p:txBody>
      </p:sp>
      <p:sp>
        <p:nvSpPr>
          <p:cNvPr id="31" name="Figure 5 label 30 line 1">
            <a:extLst xmlns:a="http://schemas.openxmlformats.org/drawingml/2006/main">
              <a:ext uri="{FF2B5EF4-FFF2-40B4-BE49-F238E27FC236}">
                <a16:creationId xmlns:a16="http://schemas.microsoft.com/office/drawing/2014/main" id="{8C7A9982-96F1-428C-861F-7DF512055FAE}"/>
              </a:ext>
            </a:extLst>
          </p:cNvPr>
          <p:cNvSpPr>
            <a:spLocks xmlns:a="http://schemas.openxmlformats.org/drawingml/2006/main" noGrp="1"/>
          </p:cNvSpPr>
          <p:nvPr/>
        </p:nvSpPr>
        <p:spPr>
          <a:xfrm xmlns:a="http://schemas.openxmlformats.org/drawingml/2006/main" rot="0">
            <a:off x="991870" y="421920"/>
            <a:ext cx="7253040" cy="436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750" b="1">
                <a:solidFill>
                  <a:srgbClr val="00355F"/>
                </a:solidFill>
                <a:latin typeface="Arial Unicode MS"/>
                <a:ea typeface="Arial Unicode MS"/>
                <a:cs typeface="Arial Unicode MS"/>
              </a:defRPr>
            </a:defPPr>
          </a:lstStyle>
          <a:p xmlns:a="http://schemas.openxmlformats.org/drawingml/2006/main">
            <a:pPr algn="l">
              <a:lnSpc>
                <a:spcPct val="100000"/>
              </a:lnSpc>
              <a:buNone/>
              <a:defRPr sz="2750" b="1">
                <a:solidFill>
                  <a:srgbClr val="00355F"/>
                </a:solidFill>
                <a:latin typeface="Arial Unicode MS"/>
                <a:ea typeface="Arial Unicode MS"/>
                <a:cs typeface="Arial Unicode MS"/>
              </a:defRPr>
            </a:pPr>
            <a:r>
              <a:rPr sz="2750" b="1">
                <a:solidFill>
                  <a:srgbClr val="00355F"/>
                </a:solidFill>
                <a:latin typeface="Arial Unicode MS"/>
                <a:ea typeface="Arial Unicode MS"/>
                <a:cs typeface="Arial Unicode MS"/>
              </a:rPr>
              <a:t>05  Which tools have more demand elasticity?</a:t>
            </a:r>
          </a:p>
        </p:txBody>
      </p:sp>
      <p:sp>
        <p:nvSpPr>
          <p:cNvPr id="32" name="Figure 5 label 31 line 1">
            <a:extLst xmlns:a="http://schemas.openxmlformats.org/drawingml/2006/main">
              <a:ext uri="{FF2B5EF4-FFF2-40B4-BE49-F238E27FC236}">
                <a16:creationId xmlns:a16="http://schemas.microsoft.com/office/drawing/2014/main" id="{5AA800A7-CFBB-4CA4-84CC-946861B300BC}"/>
              </a:ext>
            </a:extLst>
          </p:cNvPr>
          <p:cNvSpPr>
            <a:spLocks xmlns:a="http://schemas.openxmlformats.org/drawingml/2006/main" noGrp="1"/>
          </p:cNvSpPr>
          <p:nvPr/>
        </p:nvSpPr>
        <p:spPr>
          <a:xfrm xmlns:a="http://schemas.openxmlformats.org/drawingml/2006/main" rot="0">
            <a:off x="15695588" y="661601"/>
            <a:ext cx="1070025" cy="188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188"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188" b="0">
                <a:solidFill>
                  <a:srgbClr val="00355F"/>
                </a:solidFill>
                <a:latin typeface="Arial Unicode MS"/>
                <a:ea typeface="Arial Unicode MS"/>
                <a:cs typeface="Arial Unicode MS"/>
              </a:defRPr>
            </a:pPr>
            <a:r>
              <a:rPr sz="1188" b="0">
                <a:solidFill>
                  <a:srgbClr val="00355F"/>
                </a:solidFill>
                <a:latin typeface="Arial Unicode MS"/>
                <a:ea typeface="Arial Unicode MS"/>
                <a:cs typeface="Arial Unicode MS"/>
              </a:rPr>
              <a:t>HYPOTHESIS</a:t>
            </a:r>
          </a:p>
        </p:txBody>
      </p:sp>
      <p:sp>
        <p:nvSpPr>
          <p:cNvPr id="33" name="Figure 5 label 32 line 1">
            <a:extLst xmlns:a="http://schemas.openxmlformats.org/drawingml/2006/main">
              <a:ext uri="{FF2B5EF4-FFF2-40B4-BE49-F238E27FC236}">
                <a16:creationId xmlns:a16="http://schemas.microsoft.com/office/drawing/2014/main" id="{3DB0EB4F-A28C-406F-9E4D-DCCC4878906F}"/>
              </a:ext>
            </a:extLst>
          </p:cNvPr>
          <p:cNvSpPr>
            <a:spLocks xmlns:a="http://schemas.openxmlformats.org/drawingml/2006/main" noGrp="1"/>
          </p:cNvSpPr>
          <p:nvPr/>
        </p:nvSpPr>
        <p:spPr>
          <a:xfrm xmlns:a="http://schemas.openxmlformats.org/drawingml/2006/main" rot="0">
            <a:off x="998220" y="1248326"/>
            <a:ext cx="880675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Positions and bubble areas are qualitative research judgments, not measured scores or additive TAMs.</a:t>
            </a:r>
          </a:p>
        </p:txBody>
      </p:sp>
      <p:sp>
        <p:nvSpPr>
          <p:cNvPr id="34" name="Figure 5 label 33 line 1">
            <a:extLst xmlns:a="http://schemas.openxmlformats.org/drawingml/2006/main">
              <a:ext uri="{FF2B5EF4-FFF2-40B4-BE49-F238E27FC236}">
                <a16:creationId xmlns:a16="http://schemas.microsoft.com/office/drawing/2014/main" id="{A87B750D-FCDD-4625-BA71-BDCFBE990EFF}"/>
              </a:ext>
            </a:extLst>
          </p:cNvPr>
          <p:cNvSpPr>
            <a:spLocks xmlns:a="http://schemas.openxmlformats.org/drawingml/2006/main" noGrp="1"/>
          </p:cNvSpPr>
          <p:nvPr/>
        </p:nvSpPr>
        <p:spPr>
          <a:xfrm xmlns:a="http://schemas.openxmlformats.org/drawingml/2006/main" rot="0">
            <a:off x="999173" y="9255019"/>
            <a:ext cx="762297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Net demand also depends on consumption intensity, prices, project attrition and technical substitution.</a:t>
            </a:r>
          </a:p>
        </p:txBody>
      </p:sp>
      <p:sp>
        <p:nvSpPr>
          <p:cNvPr id="35" name="Figure 5 label 34 line 1">
            <a:extLst xmlns:a="http://schemas.openxmlformats.org/drawingml/2006/main">
              <a:ext uri="{FF2B5EF4-FFF2-40B4-BE49-F238E27FC236}">
                <a16:creationId xmlns:a16="http://schemas.microsoft.com/office/drawing/2014/main" id="{653BFB41-7996-4EE6-B229-1C3CF29B02A2}"/>
              </a:ext>
            </a:extLst>
          </p:cNvPr>
          <p:cNvSpPr>
            <a:spLocks xmlns:a="http://schemas.openxmlformats.org/drawingml/2006/main" noGrp="1"/>
          </p:cNvSpPr>
          <p:nvPr/>
        </p:nvSpPr>
        <p:spPr>
          <a:xfrm xmlns:a="http://schemas.openxmlformats.org/drawingml/2006/main" rot="0">
            <a:off x="1000316" y="9675546"/>
            <a:ext cx="6173569" cy="1726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88" b="0">
                <a:solidFill>
                  <a:srgbClr val="00355F"/>
                </a:solidFill>
                <a:latin typeface="Arial Unicode MS"/>
                <a:ea typeface="Arial Unicode MS"/>
                <a:cs typeface="Arial Unicode MS"/>
              </a:defRPr>
            </a:defPPr>
          </a:lstStyle>
          <a:p xmlns:a="http://schemas.openxmlformats.org/drawingml/2006/main">
            <a:pPr algn="l">
              <a:lnSpc>
                <a:spcPct val="100000"/>
              </a:lnSpc>
              <a:buNone/>
              <a:defRPr sz="1088" b="0">
                <a:solidFill>
                  <a:srgbClr val="00355F"/>
                </a:solidFill>
                <a:latin typeface="Arial Unicode MS"/>
                <a:ea typeface="Arial Unicode MS"/>
                <a:cs typeface="Arial Unicode MS"/>
              </a:defRPr>
            </a:pPr>
            <a:r>
              <a:rPr sz="1088" b="0">
                <a:solidFill>
                  <a:srgbClr val="00355F"/>
                </a:solidFill>
                <a:latin typeface="Arial Unicode MS"/>
                <a:ea typeface="Arial Unicode MS"/>
                <a:cs typeface="Arial Unicode MS"/>
              </a:rPr>
              <a:t>Source: supplied framework and analyst assumptions. Edit positions and relative areas in data.json.</a:t>
            </a:r>
          </a:p>
        </p:txBody>
      </p:sp>
      <p:sp>
        <p:nvSpPr>
          <p:cNvPr id="36" name="Figure 5 label 35 line 1">
            <a:extLst xmlns:a="http://schemas.openxmlformats.org/drawingml/2006/main">
              <a:ext uri="{FF2B5EF4-FFF2-40B4-BE49-F238E27FC236}">
                <a16:creationId xmlns:a16="http://schemas.microsoft.com/office/drawing/2014/main" id="{DA355296-15B7-48A2-BA30-EB5481867A2A}"/>
              </a:ext>
            </a:extLst>
          </p:cNvPr>
          <p:cNvSpPr>
            <a:spLocks xmlns:a="http://schemas.openxmlformats.org/drawingml/2006/main" noGrp="1"/>
          </p:cNvSpPr>
          <p:nvPr/>
        </p:nvSpPr>
        <p:spPr>
          <a:xfrm xmlns:a="http://schemas.openxmlformats.org/drawingml/2006/main" rot="0">
            <a:off x="16440260" y="9667497"/>
            <a:ext cx="841901" cy="1825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150" b="0">
                <a:solidFill>
                  <a:srgbClr val="00355F"/>
                </a:solidFill>
                <a:latin typeface="Arial Unicode MS"/>
                <a:ea typeface="Arial Unicode MS"/>
                <a:cs typeface="Arial Unicode MS"/>
              </a:defRPr>
            </a:defPPr>
          </a:lstStyle>
          <a:p xmlns:a="http://schemas.openxmlformats.org/drawingml/2006/main">
            <a:pPr algn="r">
              <a:lnSpc>
                <a:spcPct val="100000"/>
              </a:lnSpc>
              <a:buNone/>
              <a:defRPr sz="1150" b="0">
                <a:solidFill>
                  <a:srgbClr val="00355F"/>
                </a:solidFill>
                <a:latin typeface="Arial Unicode MS"/>
                <a:ea typeface="Arial Unicode MS"/>
                <a:cs typeface="Arial Unicode MS"/>
              </a:defRPr>
            </a:pPr>
            <a:r>
              <a:rPr sz="1150" b="0">
                <a:solidFill>
                  <a:srgbClr val="00355F"/>
                </a:solidFill>
                <a:latin typeface="Arial Unicode MS"/>
                <a:ea typeface="Arial Unicode MS"/>
                <a:cs typeface="Arial Unicode MS"/>
              </a:rPr>
              <a:t>2026-10-12</a:t>
            </a:r>
          </a:p>
        </p:txBody>
      </p:sp>
      <p:sp>
        <p:nvSpPr>
          <p:cNvPr id="37" name="Figure 5 label 36 line 1">
            <a:extLst xmlns:a="http://schemas.openxmlformats.org/drawingml/2006/main">
              <a:ext uri="{FF2B5EF4-FFF2-40B4-BE49-F238E27FC236}">
                <a16:creationId xmlns:a16="http://schemas.microsoft.com/office/drawing/2014/main" id="{6E395F7E-947B-43B3-80E3-E1A30EFDEFAF}"/>
              </a:ext>
            </a:extLst>
          </p:cNvPr>
          <p:cNvSpPr>
            <a:spLocks xmlns:a="http://schemas.openxmlformats.org/drawingml/2006/main" noGrp="1"/>
          </p:cNvSpPr>
          <p:nvPr/>
        </p:nvSpPr>
        <p:spPr>
          <a:xfrm xmlns:a="http://schemas.openxmlformats.org/drawingml/2006/main" rot="0">
            <a:off x="15812135" y="3271220"/>
            <a:ext cx="1055142" cy="2182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75" b="0">
                <a:solidFill>
                  <a:srgbClr val="00355F"/>
                </a:solidFill>
                <a:latin typeface="Arial Unicode MS"/>
                <a:ea typeface="Arial Unicode MS"/>
                <a:cs typeface="Arial Unicode MS"/>
              </a:defRPr>
            </a:defPPr>
          </a:lstStyle>
          <a:p xmlns:a="http://schemas.openxmlformats.org/drawingml/2006/main">
            <a:pPr algn="l">
              <a:lnSpc>
                <a:spcPct val="100000"/>
              </a:lnSpc>
              <a:buNone/>
              <a:defRPr sz="1375" b="0">
                <a:solidFill>
                  <a:srgbClr val="00355F"/>
                </a:solidFill>
                <a:latin typeface="Arial Unicode MS"/>
                <a:ea typeface="Arial Unicode MS"/>
                <a:cs typeface="Arial Unicode MS"/>
              </a:defRPr>
            </a:pPr>
            <a:r>
              <a:rPr sz="1375" b="0">
                <a:solidFill>
                  <a:srgbClr val="00355F"/>
                </a:solidFill>
                <a:latin typeface="Arial Unicode MS"/>
                <a:ea typeface="Arial Unicode MS"/>
                <a:cs typeface="Arial Unicode MS"/>
              </a:rPr>
              <a:t>Bubble area</a:t>
            </a:r>
          </a:p>
        </p:txBody>
      </p:sp>
      <p:sp>
        <p:nvSpPr>
          <p:cNvPr id="38" name="Figure 5 label 37 line 1">
            <a:extLst xmlns:a="http://schemas.openxmlformats.org/drawingml/2006/main">
              <a:ext uri="{FF2B5EF4-FFF2-40B4-BE49-F238E27FC236}">
                <a16:creationId xmlns:a16="http://schemas.microsoft.com/office/drawing/2014/main" id="{A65A26FE-1901-4754-AA04-88B21D172C9E}"/>
              </a:ext>
            </a:extLst>
          </p:cNvPr>
          <p:cNvSpPr>
            <a:spLocks xmlns:a="http://schemas.openxmlformats.org/drawingml/2006/main" noGrp="1"/>
          </p:cNvSpPr>
          <p:nvPr/>
        </p:nvSpPr>
        <p:spPr>
          <a:xfrm xmlns:a="http://schemas.openxmlformats.org/drawingml/2006/main" rot="0">
            <a:off x="15812325" y="3764919"/>
            <a:ext cx="1611491" cy="2123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38" b="0">
                <a:solidFill>
                  <a:srgbClr val="00355F"/>
                </a:solidFill>
                <a:latin typeface="Arial Unicode MS"/>
                <a:ea typeface="Arial Unicode MS"/>
                <a:cs typeface="Arial Unicode MS"/>
              </a:defRPr>
            </a:defPPr>
          </a:lstStyle>
          <a:p xmlns:a="http://schemas.openxmlformats.org/drawingml/2006/main">
            <a:pPr algn="l">
              <a:lnSpc>
                <a:spcPct val="100000"/>
              </a:lnSpc>
              <a:buNone/>
              <a:defRPr sz="1338" b="0">
                <a:solidFill>
                  <a:srgbClr val="00355F"/>
                </a:solidFill>
                <a:latin typeface="Arial Unicode MS"/>
                <a:ea typeface="Arial Unicode MS"/>
                <a:cs typeface="Arial Unicode MS"/>
              </a:defRPr>
            </a:pPr>
            <a:r>
              <a:rPr sz="1338" b="0">
                <a:solidFill>
                  <a:srgbClr val="00355F"/>
                </a:solidFill>
                <a:latin typeface="Arial Unicode MS"/>
                <a:ea typeface="Arial Unicode MS"/>
                <a:cs typeface="Arial Unicode MS"/>
              </a:rPr>
              <a:t>Relative opportunity</a:t>
            </a:r>
          </a:p>
        </p:txBody>
      </p:sp>
      <p:sp>
        <p:nvSpPr>
          <p:cNvPr id="39" name="Figure 5 label 38 line 1">
            <a:extLst xmlns:a="http://schemas.openxmlformats.org/drawingml/2006/main">
              <a:ext uri="{FF2B5EF4-FFF2-40B4-BE49-F238E27FC236}">
                <a16:creationId xmlns:a16="http://schemas.microsoft.com/office/drawing/2014/main" id="{F38D87AB-EB7C-4A7A-AED3-2E55633AC668}"/>
              </a:ext>
            </a:extLst>
          </p:cNvPr>
          <p:cNvSpPr>
            <a:spLocks xmlns:a="http://schemas.openxmlformats.org/drawingml/2006/main" noGrp="1"/>
          </p:cNvSpPr>
          <p:nvPr/>
        </p:nvSpPr>
        <p:spPr>
          <a:xfrm xmlns:a="http://schemas.openxmlformats.org/drawingml/2006/main" rot="0">
            <a:off x="15812325" y="4007283"/>
            <a:ext cx="1205488" cy="2123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38" b="0">
                <a:solidFill>
                  <a:srgbClr val="00355F"/>
                </a:solidFill>
                <a:latin typeface="Arial Unicode MS"/>
                <a:ea typeface="Arial Unicode MS"/>
                <a:cs typeface="Arial Unicode MS"/>
              </a:defRPr>
            </a:defPPr>
          </a:lstStyle>
          <a:p xmlns:a="http://schemas.openxmlformats.org/drawingml/2006/main">
            <a:pPr algn="l">
              <a:lnSpc>
                <a:spcPct val="100000"/>
              </a:lnSpc>
              <a:buNone/>
              <a:defRPr sz="1338" b="0">
                <a:solidFill>
                  <a:srgbClr val="00355F"/>
                </a:solidFill>
                <a:latin typeface="Arial Unicode MS"/>
                <a:ea typeface="Arial Unicode MS"/>
                <a:cs typeface="Arial Unicode MS"/>
              </a:defRPr>
            </a:pPr>
            <a:r>
              <a:rPr sz="1338" b="0">
                <a:solidFill>
                  <a:srgbClr val="00355F"/>
                </a:solidFill>
                <a:latin typeface="Arial Unicode MS"/>
                <a:ea typeface="Arial Unicode MS"/>
                <a:cs typeface="Arial Unicode MS"/>
              </a:rPr>
              <a:t>illustration; not</a:t>
            </a:r>
          </a:p>
        </p:txBody>
      </p:sp>
      <p:sp>
        <p:nvSpPr>
          <p:cNvPr id="40" name="Figure 5 label 39 line 1">
            <a:extLst xmlns:a="http://schemas.openxmlformats.org/drawingml/2006/main">
              <a:ext uri="{FF2B5EF4-FFF2-40B4-BE49-F238E27FC236}">
                <a16:creationId xmlns:a16="http://schemas.microsoft.com/office/drawing/2014/main" id="{A29931D3-6069-4776-B144-0DC668AA48B6}"/>
              </a:ext>
            </a:extLst>
          </p:cNvPr>
          <p:cNvSpPr>
            <a:spLocks xmlns:a="http://schemas.openxmlformats.org/drawingml/2006/main" noGrp="1"/>
          </p:cNvSpPr>
          <p:nvPr/>
        </p:nvSpPr>
        <p:spPr>
          <a:xfrm xmlns:a="http://schemas.openxmlformats.org/drawingml/2006/main" rot="0">
            <a:off x="15812325" y="4247817"/>
            <a:ext cx="1271419" cy="2123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38" b="0">
                <a:solidFill>
                  <a:srgbClr val="00355F"/>
                </a:solidFill>
                <a:latin typeface="Arial Unicode MS"/>
                <a:ea typeface="Arial Unicode MS"/>
                <a:cs typeface="Arial Unicode MS"/>
              </a:defRPr>
            </a:defPPr>
          </a:lstStyle>
          <a:p xmlns:a="http://schemas.openxmlformats.org/drawingml/2006/main">
            <a:pPr algn="l">
              <a:lnSpc>
                <a:spcPct val="100000"/>
              </a:lnSpc>
              <a:buNone/>
              <a:defRPr sz="1338" b="0">
                <a:solidFill>
                  <a:srgbClr val="00355F"/>
                </a:solidFill>
                <a:latin typeface="Arial Unicode MS"/>
                <a:ea typeface="Arial Unicode MS"/>
                <a:cs typeface="Arial Unicode MS"/>
              </a:defRPr>
            </a:pPr>
            <a:r>
              <a:rPr sz="1338" b="0">
                <a:solidFill>
                  <a:srgbClr val="00355F"/>
                </a:solidFill>
                <a:latin typeface="Arial Unicode MS"/>
                <a:ea typeface="Arial Unicode MS"/>
                <a:cs typeface="Arial Unicode MS"/>
              </a:rPr>
              <a:t>measured TAM</a:t>
            </a:r>
          </a:p>
        </p:txBody>
      </p:sp>
      <p:sp>
        <p:nvSpPr>
          <p:cNvPr id="41" name="Figure 5 label 40 line 1">
            <a:extLst xmlns:a="http://schemas.openxmlformats.org/drawingml/2006/main">
              <a:ext uri="{FF2B5EF4-FFF2-40B4-BE49-F238E27FC236}">
                <a16:creationId xmlns:a16="http://schemas.microsoft.com/office/drawing/2014/main" id="{EB2E0C27-183F-4F00-BDD4-C1FC58A0CEE9}"/>
              </a:ext>
            </a:extLst>
          </p:cNvPr>
          <p:cNvSpPr>
            <a:spLocks xmlns:a="http://schemas.openxmlformats.org/drawingml/2006/main" noGrp="1"/>
          </p:cNvSpPr>
          <p:nvPr/>
        </p:nvSpPr>
        <p:spPr>
          <a:xfrm xmlns:a="http://schemas.openxmlformats.org/drawingml/2006/main" rot="0">
            <a:off x="15812325" y="6254373"/>
            <a:ext cx="1469807" cy="2123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38" b="0">
                <a:solidFill>
                  <a:srgbClr val="00355F"/>
                </a:solidFill>
                <a:latin typeface="Arial Unicode MS"/>
                <a:ea typeface="Arial Unicode MS"/>
                <a:cs typeface="Arial Unicode MS"/>
              </a:defRPr>
            </a:defPPr>
          </a:lstStyle>
          <a:p xmlns:a="http://schemas.openxmlformats.org/drawingml/2006/main">
            <a:pPr algn="l">
              <a:lnSpc>
                <a:spcPct val="100000"/>
              </a:lnSpc>
              <a:buNone/>
              <a:defRPr sz="1338" b="0">
                <a:solidFill>
                  <a:srgbClr val="00355F"/>
                </a:solidFill>
                <a:latin typeface="Arial Unicode MS"/>
                <a:ea typeface="Arial Unicode MS"/>
                <a:cs typeface="Arial Unicode MS"/>
              </a:defRPr>
            </a:pPr>
            <a:r>
              <a:rPr sz="1338" b="0">
                <a:solidFill>
                  <a:srgbClr val="00355F"/>
                </a:solidFill>
                <a:latin typeface="Arial Unicode MS"/>
                <a:ea typeface="Arial Unicode MS"/>
                <a:cs typeface="Arial Unicode MS"/>
              </a:rPr>
              <a:t>Potential elasticity</a:t>
            </a:r>
          </a:p>
        </p:txBody>
      </p:sp>
      <p:sp>
        <p:nvSpPr>
          <p:cNvPr id="42" name="Figure 5 label 41 line 1">
            <a:extLst xmlns:a="http://schemas.openxmlformats.org/drawingml/2006/main">
              <a:ext uri="{FF2B5EF4-FFF2-40B4-BE49-F238E27FC236}">
                <a16:creationId xmlns:a16="http://schemas.microsoft.com/office/drawing/2014/main" id="{B6EA25DB-7193-4EC7-9162-3F399E5E52F1}"/>
              </a:ext>
            </a:extLst>
          </p:cNvPr>
          <p:cNvSpPr>
            <a:spLocks xmlns:a="http://schemas.openxmlformats.org/drawingml/2006/main" noGrp="1"/>
          </p:cNvSpPr>
          <p:nvPr/>
        </p:nvSpPr>
        <p:spPr>
          <a:xfrm xmlns:a="http://schemas.openxmlformats.org/drawingml/2006/main" rot="0">
            <a:off x="15812325" y="6496737"/>
            <a:ext cx="1602413" cy="2123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38" b="0">
                <a:solidFill>
                  <a:srgbClr val="00355F"/>
                </a:solidFill>
                <a:latin typeface="Arial Unicode MS"/>
                <a:ea typeface="Arial Unicode MS"/>
                <a:cs typeface="Arial Unicode MS"/>
              </a:defRPr>
            </a:defPPr>
          </a:lstStyle>
          <a:p xmlns:a="http://schemas.openxmlformats.org/drawingml/2006/main">
            <a:pPr algn="l">
              <a:lnSpc>
                <a:spcPct val="100000"/>
              </a:lnSpc>
              <a:buNone/>
              <a:defRPr sz="1338" b="0">
                <a:solidFill>
                  <a:srgbClr val="00355F"/>
                </a:solidFill>
                <a:latin typeface="Arial Unicode MS"/>
                <a:ea typeface="Arial Unicode MS"/>
                <a:cs typeface="Arial Unicode MS"/>
              </a:defRPr>
            </a:pPr>
            <a:r>
              <a:rPr sz="1338" b="0">
                <a:solidFill>
                  <a:srgbClr val="00355F"/>
                </a:solidFill>
                <a:latin typeface="Arial Unicode MS"/>
                <a:ea typeface="Arial Unicode MS"/>
                <a:cs typeface="Arial Unicode MS"/>
              </a:rPr>
              <a:t>needs paid demand</a:t>
            </a:r>
          </a:p>
        </p:txBody>
      </p:sp>
      <p:sp>
        <p:nvSpPr>
          <p:cNvPr id="43" name="Figure 5 label 42 line 1">
            <a:extLst xmlns:a="http://schemas.openxmlformats.org/drawingml/2006/main">
              <a:ext uri="{FF2B5EF4-FFF2-40B4-BE49-F238E27FC236}">
                <a16:creationId xmlns:a16="http://schemas.microsoft.com/office/drawing/2014/main" id="{0924A3E0-A046-4FF6-A9E4-B409BB7A2361}"/>
              </a:ext>
            </a:extLst>
          </p:cNvPr>
          <p:cNvSpPr>
            <a:spLocks xmlns:a="http://schemas.openxmlformats.org/drawingml/2006/main" noGrp="1"/>
          </p:cNvSpPr>
          <p:nvPr/>
        </p:nvSpPr>
        <p:spPr>
          <a:xfrm xmlns:a="http://schemas.openxmlformats.org/drawingml/2006/main" rot="0">
            <a:off x="15812325" y="6737270"/>
            <a:ext cx="1451203" cy="2123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38" b="0">
                <a:solidFill>
                  <a:srgbClr val="00355F"/>
                </a:solidFill>
                <a:latin typeface="Arial Unicode MS"/>
                <a:ea typeface="Arial Unicode MS"/>
                <a:cs typeface="Arial Unicode MS"/>
              </a:defRPr>
            </a:defPPr>
          </a:lstStyle>
          <a:p xmlns:a="http://schemas.openxmlformats.org/drawingml/2006/main">
            <a:pPr algn="l">
              <a:lnSpc>
                <a:spcPct val="100000"/>
              </a:lnSpc>
              <a:buNone/>
              <a:defRPr sz="1338" b="0">
                <a:solidFill>
                  <a:srgbClr val="00355F"/>
                </a:solidFill>
                <a:latin typeface="Arial Unicode MS"/>
                <a:ea typeface="Arial Unicode MS"/>
                <a:cs typeface="Arial Unicode MS"/>
              </a:defRPr>
            </a:pPr>
            <a:r>
              <a:rPr sz="1338" b="0">
                <a:solidFill>
                  <a:srgbClr val="00355F"/>
                </a:solidFill>
                <a:latin typeface="Arial Unicode MS"/>
                <a:ea typeface="Arial Unicode MS"/>
                <a:cs typeface="Arial Unicode MS"/>
              </a:rPr>
              <a:t>and repeat orders</a:t>
            </a:r>
          </a:p>
        </p:txBody>
      </p:sp>
    </p:spTree>
    <p:extLst>
      <p:ext uri="{BB962C8B-B14F-4D97-AF65-F5344CB8AC3E}">
        <p14:creationId xmlns:p14="http://schemas.microsoft.com/office/powerpoint/2010/main" val="150397261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42" name="">
            <a:extLst xmlns:a="http://schemas.openxmlformats.org/drawingml/2006/main">
              <a:ext uri="{FF2B5EF4-FFF2-40B4-BE49-F238E27FC236}">
                <a16:creationId xmlns:a16="http://schemas.microsoft.com/office/drawing/2014/main" id="{6875458A-A8F6-47B3-8C51-319C8BD4C8CA}"/>
              </a:ext>
            </a:extLst>
          </p:cNvPr>
          <p:cNvPicPr>
            <a:picLocks xmlns:a="http://schemas.openxmlformats.org/drawingml/2006/main" noChangeAspect="1"/>
          </p:cNvPicPr>
          <p:nvPr/>
        </p:nvPicPr>
        <p:blipFill>
          <a:blip xmlns:r="http://schemas.openxmlformats.org/officeDocument/2006/relationships" xmlns:a="http://schemas.openxmlformats.org/drawingml/2006/main" r:embed="Ref37667f3dd24410"/>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Figure 6 label 1 line 1">
            <a:extLst xmlns:a="http://schemas.openxmlformats.org/drawingml/2006/main">
              <a:ext uri="{FF2B5EF4-FFF2-40B4-BE49-F238E27FC236}">
                <a16:creationId xmlns:a16="http://schemas.microsoft.com/office/drawing/2014/main" id="{436FD404-B3E5-4155-BAA7-133423623C08}"/>
              </a:ext>
            </a:extLst>
          </p:cNvPr>
          <p:cNvSpPr>
            <a:spLocks xmlns:a="http://schemas.openxmlformats.org/drawingml/2006/main" noGrp="1"/>
          </p:cNvSpPr>
          <p:nvPr/>
        </p:nvSpPr>
        <p:spPr>
          <a:xfrm xmlns:a="http://schemas.openxmlformats.org/drawingml/2006/main" rot="0">
            <a:off x="2047400" y="7595447"/>
            <a:ext cx="101337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Traditional</a:t>
            </a:r>
          </a:p>
        </p:txBody>
      </p:sp>
      <p:sp>
        <p:nvSpPr>
          <p:cNvPr id="3" name="Figure 6 label 2 line 1">
            <a:extLst xmlns:a="http://schemas.openxmlformats.org/drawingml/2006/main">
              <a:ext uri="{FF2B5EF4-FFF2-40B4-BE49-F238E27FC236}">
                <a16:creationId xmlns:a16="http://schemas.microsoft.com/office/drawing/2014/main" id="{F2C5E928-6452-45E7-82C1-E644BB7B789D}"/>
              </a:ext>
            </a:extLst>
          </p:cNvPr>
          <p:cNvSpPr>
            <a:spLocks xmlns:a="http://schemas.openxmlformats.org/drawingml/2006/main" noGrp="1"/>
          </p:cNvSpPr>
          <p:nvPr/>
        </p:nvSpPr>
        <p:spPr>
          <a:xfrm xmlns:a="http://schemas.openxmlformats.org/drawingml/2006/main" rot="0">
            <a:off x="4421385" y="7595447"/>
            <a:ext cx="104522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Automated</a:t>
            </a:r>
          </a:p>
        </p:txBody>
      </p:sp>
      <p:sp>
        <p:nvSpPr>
          <p:cNvPr id="4" name="Figure 6 label 3 line 1">
            <a:extLst xmlns:a="http://schemas.openxmlformats.org/drawingml/2006/main">
              <a:ext uri="{FF2B5EF4-FFF2-40B4-BE49-F238E27FC236}">
                <a16:creationId xmlns:a16="http://schemas.microsoft.com/office/drawing/2014/main" id="{F93CEF66-A376-4CB3-952C-D847187D4991}"/>
              </a:ext>
            </a:extLst>
          </p:cNvPr>
          <p:cNvSpPr>
            <a:spLocks xmlns:a="http://schemas.openxmlformats.org/drawingml/2006/main" noGrp="1"/>
          </p:cNvSpPr>
          <p:nvPr/>
        </p:nvSpPr>
        <p:spPr>
          <a:xfrm xmlns:a="http://schemas.openxmlformats.org/drawingml/2006/main" rot="0">
            <a:off x="1257379" y="7368519"/>
            <a:ext cx="22979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0</a:t>
            </a:r>
          </a:p>
        </p:txBody>
      </p:sp>
      <p:sp>
        <p:nvSpPr>
          <p:cNvPr id="5" name="Figure 6 label 4 line 1">
            <a:extLst xmlns:a="http://schemas.openxmlformats.org/drawingml/2006/main">
              <a:ext uri="{FF2B5EF4-FFF2-40B4-BE49-F238E27FC236}">
                <a16:creationId xmlns:a16="http://schemas.microsoft.com/office/drawing/2014/main" id="{09FCCBF3-ADA0-42D6-A20F-F652019AD27F}"/>
              </a:ext>
            </a:extLst>
          </p:cNvPr>
          <p:cNvSpPr>
            <a:spLocks xmlns:a="http://schemas.openxmlformats.org/drawingml/2006/main" noGrp="1"/>
          </p:cNvSpPr>
          <p:nvPr/>
        </p:nvSpPr>
        <p:spPr>
          <a:xfrm xmlns:a="http://schemas.openxmlformats.org/drawingml/2006/main" rot="0">
            <a:off x="1045448" y="6699864"/>
            <a:ext cx="441722"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200</a:t>
            </a:r>
          </a:p>
        </p:txBody>
      </p:sp>
      <p:sp>
        <p:nvSpPr>
          <p:cNvPr id="6" name="Figure 6 label 5 line 1">
            <a:extLst xmlns:a="http://schemas.openxmlformats.org/drawingml/2006/main">
              <a:ext uri="{FF2B5EF4-FFF2-40B4-BE49-F238E27FC236}">
                <a16:creationId xmlns:a16="http://schemas.microsoft.com/office/drawing/2014/main" id="{81CC93D9-FE31-40F8-80FC-909DEAF9EE3A}"/>
              </a:ext>
            </a:extLst>
          </p:cNvPr>
          <p:cNvSpPr>
            <a:spLocks xmlns:a="http://schemas.openxmlformats.org/drawingml/2006/main" noGrp="1"/>
          </p:cNvSpPr>
          <p:nvPr/>
        </p:nvSpPr>
        <p:spPr>
          <a:xfrm xmlns:a="http://schemas.openxmlformats.org/drawingml/2006/main" rot="0">
            <a:off x="1045448" y="6031210"/>
            <a:ext cx="441722"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400</a:t>
            </a:r>
          </a:p>
        </p:txBody>
      </p:sp>
      <p:sp>
        <p:nvSpPr>
          <p:cNvPr id="7" name="Figure 6 label 6 line 1">
            <a:extLst xmlns:a="http://schemas.openxmlformats.org/drawingml/2006/main">
              <a:ext uri="{FF2B5EF4-FFF2-40B4-BE49-F238E27FC236}">
                <a16:creationId xmlns:a16="http://schemas.microsoft.com/office/drawing/2014/main" id="{EFACEC0B-95F7-46A6-9DCF-8079F3CE26BE}"/>
              </a:ext>
            </a:extLst>
          </p:cNvPr>
          <p:cNvSpPr>
            <a:spLocks xmlns:a="http://schemas.openxmlformats.org/drawingml/2006/main" noGrp="1"/>
          </p:cNvSpPr>
          <p:nvPr/>
        </p:nvSpPr>
        <p:spPr>
          <a:xfrm xmlns:a="http://schemas.openxmlformats.org/drawingml/2006/main" rot="0">
            <a:off x="1045448" y="5362554"/>
            <a:ext cx="441722"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600</a:t>
            </a:r>
          </a:p>
        </p:txBody>
      </p:sp>
      <p:sp>
        <p:nvSpPr>
          <p:cNvPr id="8" name="Figure 6 label 7 line 1">
            <a:extLst xmlns:a="http://schemas.openxmlformats.org/drawingml/2006/main">
              <a:ext uri="{FF2B5EF4-FFF2-40B4-BE49-F238E27FC236}">
                <a16:creationId xmlns:a16="http://schemas.microsoft.com/office/drawing/2014/main" id="{51949B71-1D91-4164-8639-EC3A28F5C9BC}"/>
              </a:ext>
            </a:extLst>
          </p:cNvPr>
          <p:cNvSpPr>
            <a:spLocks xmlns:a="http://schemas.openxmlformats.org/drawingml/2006/main" noGrp="1"/>
          </p:cNvSpPr>
          <p:nvPr/>
        </p:nvSpPr>
        <p:spPr>
          <a:xfrm xmlns:a="http://schemas.openxmlformats.org/drawingml/2006/main" rot="0">
            <a:off x="1045448" y="4693899"/>
            <a:ext cx="441722"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800</a:t>
            </a:r>
          </a:p>
        </p:txBody>
      </p:sp>
      <p:sp>
        <p:nvSpPr>
          <p:cNvPr id="9" name="Figure 6 label 8 line 1">
            <a:extLst xmlns:a="http://schemas.openxmlformats.org/drawingml/2006/main">
              <a:ext uri="{FF2B5EF4-FFF2-40B4-BE49-F238E27FC236}">
                <a16:creationId xmlns:a16="http://schemas.microsoft.com/office/drawing/2014/main" id="{74485792-E73B-4DE8-8BE3-7D9E6696E7B8}"/>
              </a:ext>
            </a:extLst>
          </p:cNvPr>
          <p:cNvSpPr>
            <a:spLocks xmlns:a="http://schemas.openxmlformats.org/drawingml/2006/main" noGrp="1"/>
          </p:cNvSpPr>
          <p:nvPr/>
        </p:nvSpPr>
        <p:spPr>
          <a:xfrm xmlns:a="http://schemas.openxmlformats.org/drawingml/2006/main" rot="0">
            <a:off x="939483" y="4025244"/>
            <a:ext cx="547688"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1000</a:t>
            </a:r>
          </a:p>
        </p:txBody>
      </p:sp>
      <p:sp>
        <p:nvSpPr>
          <p:cNvPr id="10" name="Figure 6 label 9 line 1">
            <a:extLst xmlns:a="http://schemas.openxmlformats.org/drawingml/2006/main">
              <a:ext uri="{FF2B5EF4-FFF2-40B4-BE49-F238E27FC236}">
                <a16:creationId xmlns:a16="http://schemas.microsoft.com/office/drawing/2014/main" id="{569BA127-3BC7-4F34-81D5-4CFF64FD169B}"/>
              </a:ext>
            </a:extLst>
          </p:cNvPr>
          <p:cNvSpPr>
            <a:spLocks xmlns:a="http://schemas.openxmlformats.org/drawingml/2006/main" noGrp="1"/>
          </p:cNvSpPr>
          <p:nvPr/>
        </p:nvSpPr>
        <p:spPr>
          <a:xfrm xmlns:a="http://schemas.openxmlformats.org/drawingml/2006/main" rot="0">
            <a:off x="939483" y="3356589"/>
            <a:ext cx="547688"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1200</a:t>
            </a:r>
          </a:p>
        </p:txBody>
      </p:sp>
      <p:sp>
        <p:nvSpPr>
          <p:cNvPr id="11" name="Figure 6 label 10 line 1">
            <a:extLst xmlns:a="http://schemas.openxmlformats.org/drawingml/2006/main">
              <a:ext uri="{FF2B5EF4-FFF2-40B4-BE49-F238E27FC236}">
                <a16:creationId xmlns:a16="http://schemas.microsoft.com/office/drawing/2014/main" id="{330D15AC-460F-4419-AB3D-80EBE7B839D8}"/>
              </a:ext>
            </a:extLst>
          </p:cNvPr>
          <p:cNvSpPr>
            <a:spLocks xmlns:a="http://schemas.openxmlformats.org/drawingml/2006/main" noGrp="1"/>
          </p:cNvSpPr>
          <p:nvPr/>
        </p:nvSpPr>
        <p:spPr>
          <a:xfrm xmlns:a="http://schemas.openxmlformats.org/drawingml/2006/main" rot="16200000">
            <a:off x="-210374" y="5335333"/>
            <a:ext cx="2262783"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Experiment volume index</a:t>
            </a:r>
          </a:p>
        </p:txBody>
      </p:sp>
      <p:sp>
        <p:nvSpPr>
          <p:cNvPr id="12" name="Figure 6 label 11 line 1">
            <a:extLst xmlns:a="http://schemas.openxmlformats.org/drawingml/2006/main">
              <a:ext uri="{FF2B5EF4-FFF2-40B4-BE49-F238E27FC236}">
                <a16:creationId xmlns:a16="http://schemas.microsoft.com/office/drawing/2014/main" id="{68ED9381-2E64-4DE3-AF3F-87032C8366AC}"/>
              </a:ext>
            </a:extLst>
          </p:cNvPr>
          <p:cNvSpPr>
            <a:spLocks xmlns:a="http://schemas.openxmlformats.org/drawingml/2006/main" noGrp="1"/>
          </p:cNvSpPr>
          <p:nvPr/>
        </p:nvSpPr>
        <p:spPr>
          <a:xfrm xmlns:a="http://schemas.openxmlformats.org/drawingml/2006/main" rot="0">
            <a:off x="2241199" y="6782419"/>
            <a:ext cx="625773" cy="3373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125" b="1">
                <a:solidFill>
                  <a:srgbClr val="00355F"/>
                </a:solidFill>
                <a:latin typeface="Arial Unicode MS"/>
                <a:ea typeface="Arial Unicode MS"/>
                <a:cs typeface="Arial Unicode MS"/>
              </a:defRPr>
            </a:defPPr>
          </a:lstStyle>
          <a:p xmlns:a="http://schemas.openxmlformats.org/drawingml/2006/main">
            <a:pPr algn="ctr">
              <a:lnSpc>
                <a:spcPct val="100000"/>
              </a:lnSpc>
              <a:buNone/>
              <a:defRPr sz="2125" b="1">
                <a:solidFill>
                  <a:srgbClr val="00355F"/>
                </a:solidFill>
                <a:latin typeface="Arial Unicode MS"/>
                <a:ea typeface="Arial Unicode MS"/>
                <a:cs typeface="Arial Unicode MS"/>
              </a:defRPr>
            </a:pPr>
            <a:r>
              <a:rPr sz="2125" b="1">
                <a:solidFill>
                  <a:srgbClr val="00355F"/>
                </a:solidFill>
                <a:latin typeface="Arial Unicode MS"/>
                <a:ea typeface="Arial Unicode MS"/>
                <a:cs typeface="Arial Unicode MS"/>
              </a:rPr>
              <a:t>100</a:t>
            </a:r>
          </a:p>
        </p:txBody>
      </p:sp>
      <p:sp>
        <p:nvSpPr>
          <p:cNvPr id="13" name="Figure 6 label 12 line 1">
            <a:extLst xmlns:a="http://schemas.openxmlformats.org/drawingml/2006/main">
              <a:ext uri="{FF2B5EF4-FFF2-40B4-BE49-F238E27FC236}">
                <a16:creationId xmlns:a16="http://schemas.microsoft.com/office/drawing/2014/main" id="{BCFD7828-C823-4850-B08D-7EBC0E0A7B6D}"/>
              </a:ext>
            </a:extLst>
          </p:cNvPr>
          <p:cNvSpPr>
            <a:spLocks xmlns:a="http://schemas.openxmlformats.org/drawingml/2006/main" noGrp="1"/>
          </p:cNvSpPr>
          <p:nvPr/>
        </p:nvSpPr>
        <p:spPr>
          <a:xfrm xmlns:a="http://schemas.openxmlformats.org/drawingml/2006/main" rot="0">
            <a:off x="4518595" y="3773471"/>
            <a:ext cx="850801" cy="3373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125" b="1">
                <a:solidFill>
                  <a:srgbClr val="00355F"/>
                </a:solidFill>
                <a:latin typeface="Arial Unicode MS"/>
                <a:ea typeface="Arial Unicode MS"/>
                <a:cs typeface="Arial Unicode MS"/>
              </a:defRPr>
            </a:defPPr>
          </a:lstStyle>
          <a:p xmlns:a="http://schemas.openxmlformats.org/drawingml/2006/main">
            <a:pPr algn="ctr">
              <a:lnSpc>
                <a:spcPct val="100000"/>
              </a:lnSpc>
              <a:buNone/>
              <a:defRPr sz="2125" b="1">
                <a:solidFill>
                  <a:srgbClr val="00355F"/>
                </a:solidFill>
                <a:latin typeface="Arial Unicode MS"/>
                <a:ea typeface="Arial Unicode MS"/>
                <a:cs typeface="Arial Unicode MS"/>
              </a:defRPr>
            </a:pPr>
            <a:r>
              <a:rPr sz="2125" b="1">
                <a:solidFill>
                  <a:srgbClr val="00355F"/>
                </a:solidFill>
                <a:latin typeface="Arial Unicode MS"/>
                <a:ea typeface="Arial Unicode MS"/>
                <a:cs typeface="Arial Unicode MS"/>
              </a:rPr>
              <a:t>1,000</a:t>
            </a:r>
          </a:p>
        </p:txBody>
      </p:sp>
      <p:sp>
        <p:nvSpPr>
          <p:cNvPr id="14" name="Figure 6 label 13 line 1">
            <a:extLst xmlns:a="http://schemas.openxmlformats.org/drawingml/2006/main">
              <a:ext uri="{FF2B5EF4-FFF2-40B4-BE49-F238E27FC236}">
                <a16:creationId xmlns:a16="http://schemas.microsoft.com/office/drawing/2014/main" id="{51485816-BCF1-413D-903A-9A5E3B43BD84}"/>
              </a:ext>
            </a:extLst>
          </p:cNvPr>
          <p:cNvSpPr>
            <a:spLocks xmlns:a="http://schemas.openxmlformats.org/drawingml/2006/main" noGrp="1"/>
          </p:cNvSpPr>
          <p:nvPr/>
        </p:nvSpPr>
        <p:spPr>
          <a:xfrm xmlns:a="http://schemas.openxmlformats.org/drawingml/2006/main" rot="0">
            <a:off x="2293774" y="2970276"/>
            <a:ext cx="2910532"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0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2000" b="0">
                <a:solidFill>
                  <a:srgbClr val="00355F"/>
                </a:solidFill>
                <a:latin typeface="Arial Unicode MS"/>
                <a:ea typeface="Arial Unicode MS"/>
                <a:cs typeface="Arial Unicode MS"/>
              </a:defRPr>
            </a:pPr>
            <a:r>
              <a:rPr sz="2000" b="0">
                <a:solidFill>
                  <a:srgbClr val="00355F"/>
                </a:solidFill>
                <a:latin typeface="Arial Unicode MS"/>
                <a:ea typeface="Arial Unicode MS"/>
                <a:cs typeface="Arial Unicode MS"/>
              </a:rPr>
              <a:t>Experiment volume: 10×</a:t>
            </a:r>
          </a:p>
        </p:txBody>
      </p:sp>
      <p:sp>
        <p:nvSpPr>
          <p:cNvPr id="15" name="Figure 6 label 14 line 1">
            <a:extLst xmlns:a="http://schemas.openxmlformats.org/drawingml/2006/main">
              <a:ext uri="{FF2B5EF4-FFF2-40B4-BE49-F238E27FC236}">
                <a16:creationId xmlns:a16="http://schemas.microsoft.com/office/drawing/2014/main" id="{C78F37B9-68D5-4AA0-B7A5-71F48DA34759}"/>
              </a:ext>
            </a:extLst>
          </p:cNvPr>
          <p:cNvSpPr>
            <a:spLocks xmlns:a="http://schemas.openxmlformats.org/drawingml/2006/main" noGrp="1"/>
          </p:cNvSpPr>
          <p:nvPr/>
        </p:nvSpPr>
        <p:spPr>
          <a:xfrm xmlns:a="http://schemas.openxmlformats.org/drawingml/2006/main" rot="0">
            <a:off x="8480147" y="7595447"/>
            <a:ext cx="151120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Reagent volume</a:t>
            </a:r>
          </a:p>
        </p:txBody>
      </p:sp>
      <p:sp>
        <p:nvSpPr>
          <p:cNvPr id="16" name="Figure 6 label 15 line 1">
            <a:extLst xmlns:a="http://schemas.openxmlformats.org/drawingml/2006/main">
              <a:ext uri="{FF2B5EF4-FFF2-40B4-BE49-F238E27FC236}">
                <a16:creationId xmlns:a16="http://schemas.microsoft.com/office/drawing/2014/main" id="{5E58760B-10F4-467C-974D-B83B9E6B1924}"/>
              </a:ext>
            </a:extLst>
          </p:cNvPr>
          <p:cNvSpPr>
            <a:spLocks xmlns:a="http://schemas.openxmlformats.org/drawingml/2006/main" noGrp="1"/>
          </p:cNvSpPr>
          <p:nvPr/>
        </p:nvSpPr>
        <p:spPr>
          <a:xfrm xmlns:a="http://schemas.openxmlformats.org/drawingml/2006/main" rot="0">
            <a:off x="11714426" y="7595447"/>
            <a:ext cx="107706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Plate count</a:t>
            </a:r>
          </a:p>
        </p:txBody>
      </p:sp>
      <p:sp>
        <p:nvSpPr>
          <p:cNvPr id="17" name="Figure 6 label 16 line 1">
            <a:extLst xmlns:a="http://schemas.openxmlformats.org/drawingml/2006/main">
              <a:ext uri="{FF2B5EF4-FFF2-40B4-BE49-F238E27FC236}">
                <a16:creationId xmlns:a16="http://schemas.microsoft.com/office/drawing/2014/main" id="{5BE42A6C-4906-48C2-B898-3FBAA4F6E7EE}"/>
              </a:ext>
            </a:extLst>
          </p:cNvPr>
          <p:cNvSpPr>
            <a:spLocks xmlns:a="http://schemas.openxmlformats.org/drawingml/2006/main" noGrp="1"/>
          </p:cNvSpPr>
          <p:nvPr/>
        </p:nvSpPr>
        <p:spPr>
          <a:xfrm xmlns:a="http://schemas.openxmlformats.org/drawingml/2006/main" rot="0">
            <a:off x="14816471" y="7595447"/>
            <a:ext cx="90740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Tip count</a:t>
            </a:r>
          </a:p>
        </p:txBody>
      </p:sp>
      <p:sp>
        <p:nvSpPr>
          <p:cNvPr id="18" name="Figure 6 label 17 line 1">
            <a:extLst xmlns:a="http://schemas.openxmlformats.org/drawingml/2006/main">
              <a:ext uri="{FF2B5EF4-FFF2-40B4-BE49-F238E27FC236}">
                <a16:creationId xmlns:a16="http://schemas.microsoft.com/office/drawing/2014/main" id="{74BDC541-BF4D-4C87-8130-D7461EE75B8A}"/>
              </a:ext>
            </a:extLst>
          </p:cNvPr>
          <p:cNvSpPr>
            <a:spLocks xmlns:a="http://schemas.openxmlformats.org/drawingml/2006/main" noGrp="1"/>
          </p:cNvSpPr>
          <p:nvPr/>
        </p:nvSpPr>
        <p:spPr>
          <a:xfrm xmlns:a="http://schemas.openxmlformats.org/drawingml/2006/main" rot="0">
            <a:off x="7383860" y="7368519"/>
            <a:ext cx="22979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0</a:t>
            </a:r>
          </a:p>
        </p:txBody>
      </p:sp>
      <p:sp>
        <p:nvSpPr>
          <p:cNvPr id="19" name="Figure 6 label 18 line 1">
            <a:extLst xmlns:a="http://schemas.openxmlformats.org/drawingml/2006/main">
              <a:ext uri="{FF2B5EF4-FFF2-40B4-BE49-F238E27FC236}">
                <a16:creationId xmlns:a16="http://schemas.microsoft.com/office/drawing/2014/main" id="{4C7A6666-AA20-4CD6-958F-085298BD0985}"/>
              </a:ext>
            </a:extLst>
          </p:cNvPr>
          <p:cNvSpPr>
            <a:spLocks xmlns:a="http://schemas.openxmlformats.org/drawingml/2006/main" noGrp="1"/>
          </p:cNvSpPr>
          <p:nvPr/>
        </p:nvSpPr>
        <p:spPr>
          <a:xfrm xmlns:a="http://schemas.openxmlformats.org/drawingml/2006/main" rot="0">
            <a:off x="7277894" y="6833595"/>
            <a:ext cx="33575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20</a:t>
            </a:r>
          </a:p>
        </p:txBody>
      </p:sp>
      <p:sp>
        <p:nvSpPr>
          <p:cNvPr id="20" name="Figure 6 label 19 line 1">
            <a:extLst xmlns:a="http://schemas.openxmlformats.org/drawingml/2006/main">
              <a:ext uri="{FF2B5EF4-FFF2-40B4-BE49-F238E27FC236}">
                <a16:creationId xmlns:a16="http://schemas.microsoft.com/office/drawing/2014/main" id="{F1508091-B167-4D83-BB5B-D2E899513F4A}"/>
              </a:ext>
            </a:extLst>
          </p:cNvPr>
          <p:cNvSpPr>
            <a:spLocks xmlns:a="http://schemas.openxmlformats.org/drawingml/2006/main" noGrp="1"/>
          </p:cNvSpPr>
          <p:nvPr/>
        </p:nvSpPr>
        <p:spPr>
          <a:xfrm xmlns:a="http://schemas.openxmlformats.org/drawingml/2006/main" rot="0">
            <a:off x="7277894" y="6298671"/>
            <a:ext cx="33575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40</a:t>
            </a:r>
          </a:p>
        </p:txBody>
      </p:sp>
      <p:sp>
        <p:nvSpPr>
          <p:cNvPr id="21" name="Figure 6 label 20 line 1">
            <a:extLst xmlns:a="http://schemas.openxmlformats.org/drawingml/2006/main">
              <a:ext uri="{FF2B5EF4-FFF2-40B4-BE49-F238E27FC236}">
                <a16:creationId xmlns:a16="http://schemas.microsoft.com/office/drawing/2014/main" id="{1CB46F3A-F005-4DAF-849A-EF8E924A8E19}"/>
              </a:ext>
            </a:extLst>
          </p:cNvPr>
          <p:cNvSpPr>
            <a:spLocks xmlns:a="http://schemas.openxmlformats.org/drawingml/2006/main" noGrp="1"/>
          </p:cNvSpPr>
          <p:nvPr/>
        </p:nvSpPr>
        <p:spPr>
          <a:xfrm xmlns:a="http://schemas.openxmlformats.org/drawingml/2006/main" rot="0">
            <a:off x="7277894" y="5763747"/>
            <a:ext cx="33575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60</a:t>
            </a:r>
          </a:p>
        </p:txBody>
      </p:sp>
      <p:sp>
        <p:nvSpPr>
          <p:cNvPr id="22" name="Figure 6 label 21 line 1">
            <a:extLst xmlns:a="http://schemas.openxmlformats.org/drawingml/2006/main">
              <a:ext uri="{FF2B5EF4-FFF2-40B4-BE49-F238E27FC236}">
                <a16:creationId xmlns:a16="http://schemas.microsoft.com/office/drawing/2014/main" id="{7BEDFD8E-8D6A-4351-B46F-B396DA685351}"/>
              </a:ext>
            </a:extLst>
          </p:cNvPr>
          <p:cNvSpPr>
            <a:spLocks xmlns:a="http://schemas.openxmlformats.org/drawingml/2006/main" noGrp="1"/>
          </p:cNvSpPr>
          <p:nvPr/>
        </p:nvSpPr>
        <p:spPr>
          <a:xfrm xmlns:a="http://schemas.openxmlformats.org/drawingml/2006/main" rot="0">
            <a:off x="7277894" y="5228823"/>
            <a:ext cx="33575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80</a:t>
            </a:r>
          </a:p>
        </p:txBody>
      </p:sp>
      <p:sp>
        <p:nvSpPr>
          <p:cNvPr id="23" name="Figure 6 label 22 line 1">
            <a:extLst xmlns:a="http://schemas.openxmlformats.org/drawingml/2006/main">
              <a:ext uri="{FF2B5EF4-FFF2-40B4-BE49-F238E27FC236}">
                <a16:creationId xmlns:a16="http://schemas.microsoft.com/office/drawing/2014/main" id="{9F36E6F5-BE1D-424A-86C8-76B883703634}"/>
              </a:ext>
            </a:extLst>
          </p:cNvPr>
          <p:cNvSpPr>
            <a:spLocks xmlns:a="http://schemas.openxmlformats.org/drawingml/2006/main" noGrp="1"/>
          </p:cNvSpPr>
          <p:nvPr/>
        </p:nvSpPr>
        <p:spPr>
          <a:xfrm xmlns:a="http://schemas.openxmlformats.org/drawingml/2006/main" rot="0">
            <a:off x="7171928" y="4693899"/>
            <a:ext cx="441722"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100</a:t>
            </a:r>
          </a:p>
        </p:txBody>
      </p:sp>
      <p:sp>
        <p:nvSpPr>
          <p:cNvPr id="24" name="Figure 6 label 23 line 1">
            <a:extLst xmlns:a="http://schemas.openxmlformats.org/drawingml/2006/main">
              <a:ext uri="{FF2B5EF4-FFF2-40B4-BE49-F238E27FC236}">
                <a16:creationId xmlns:a16="http://schemas.microsoft.com/office/drawing/2014/main" id="{C4D659DA-F76B-479D-A08B-D5BCB5C14941}"/>
              </a:ext>
            </a:extLst>
          </p:cNvPr>
          <p:cNvSpPr>
            <a:spLocks xmlns:a="http://schemas.openxmlformats.org/drawingml/2006/main" noGrp="1"/>
          </p:cNvSpPr>
          <p:nvPr/>
        </p:nvSpPr>
        <p:spPr>
          <a:xfrm xmlns:a="http://schemas.openxmlformats.org/drawingml/2006/main" rot="0">
            <a:off x="7171928" y="4158975"/>
            <a:ext cx="441722"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120</a:t>
            </a:r>
          </a:p>
        </p:txBody>
      </p:sp>
      <p:sp>
        <p:nvSpPr>
          <p:cNvPr id="25" name="Figure 6 label 24 line 1">
            <a:extLst xmlns:a="http://schemas.openxmlformats.org/drawingml/2006/main">
              <a:ext uri="{FF2B5EF4-FFF2-40B4-BE49-F238E27FC236}">
                <a16:creationId xmlns:a16="http://schemas.microsoft.com/office/drawing/2014/main" id="{E505E306-6D96-4FC3-9AFD-E923D13F557B}"/>
              </a:ext>
            </a:extLst>
          </p:cNvPr>
          <p:cNvSpPr>
            <a:spLocks xmlns:a="http://schemas.openxmlformats.org/drawingml/2006/main" noGrp="1"/>
          </p:cNvSpPr>
          <p:nvPr/>
        </p:nvSpPr>
        <p:spPr>
          <a:xfrm xmlns:a="http://schemas.openxmlformats.org/drawingml/2006/main" rot="0">
            <a:off x="7171928" y="3624051"/>
            <a:ext cx="441722"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140</a:t>
            </a:r>
          </a:p>
        </p:txBody>
      </p:sp>
      <p:sp>
        <p:nvSpPr>
          <p:cNvPr id="26" name="Figure 6 label 25 line 1">
            <a:extLst xmlns:a="http://schemas.openxmlformats.org/drawingml/2006/main">
              <a:ext uri="{FF2B5EF4-FFF2-40B4-BE49-F238E27FC236}">
                <a16:creationId xmlns:a16="http://schemas.microsoft.com/office/drawing/2014/main" id="{B8DDF682-2C20-49E0-BE2F-DB9FDDD60934}"/>
              </a:ext>
            </a:extLst>
          </p:cNvPr>
          <p:cNvSpPr>
            <a:spLocks xmlns:a="http://schemas.openxmlformats.org/drawingml/2006/main" noGrp="1"/>
          </p:cNvSpPr>
          <p:nvPr/>
        </p:nvSpPr>
        <p:spPr>
          <a:xfrm xmlns:a="http://schemas.openxmlformats.org/drawingml/2006/main" rot="16200000">
            <a:off x="6276092" y="5335333"/>
            <a:ext cx="1754684"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Consumption index</a:t>
            </a:r>
          </a:p>
        </p:txBody>
      </p:sp>
      <p:sp>
        <p:nvSpPr>
          <p:cNvPr id="27" name="Figure 6 label 26 line 1">
            <a:extLst xmlns:a="http://schemas.openxmlformats.org/drawingml/2006/main">
              <a:ext uri="{FF2B5EF4-FFF2-40B4-BE49-F238E27FC236}">
                <a16:creationId xmlns:a16="http://schemas.microsoft.com/office/drawing/2014/main" id="{F0B398F8-31DB-468D-B313-E74D60E6D297}"/>
              </a:ext>
            </a:extLst>
          </p:cNvPr>
          <p:cNvSpPr>
            <a:spLocks xmlns:a="http://schemas.openxmlformats.org/drawingml/2006/main" noGrp="1"/>
          </p:cNvSpPr>
          <p:nvPr/>
        </p:nvSpPr>
        <p:spPr>
          <a:xfrm xmlns:a="http://schemas.openxmlformats.org/drawingml/2006/main" rot="0">
            <a:off x="9469656" y="5796039"/>
            <a:ext cx="618381"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75" b="1">
                <a:solidFill>
                  <a:srgbClr val="00355F"/>
                </a:solidFill>
                <a:latin typeface="Arial Unicode MS"/>
                <a:ea typeface="Arial Unicode MS"/>
                <a:cs typeface="Arial Unicode MS"/>
              </a:defRPr>
            </a:defPPr>
          </a:lstStyle>
          <a:p xmlns:a="http://schemas.openxmlformats.org/drawingml/2006/main">
            <a:pPr algn="ctr">
              <a:lnSpc>
                <a:spcPct val="100000"/>
              </a:lnSpc>
              <a:buNone/>
              <a:defRPr sz="1875" b="1">
                <a:solidFill>
                  <a:srgbClr val="00355F"/>
                </a:solidFill>
                <a:latin typeface="Arial Unicode MS"/>
                <a:ea typeface="Arial Unicode MS"/>
                <a:cs typeface="Arial Unicode MS"/>
              </a:defRPr>
            </a:pPr>
            <a:r>
              <a:rPr sz="1875" b="1">
                <a:solidFill>
                  <a:srgbClr val="00355F"/>
                </a:solidFill>
                <a:latin typeface="Arial Unicode MS"/>
                <a:ea typeface="Arial Unicode MS"/>
                <a:cs typeface="Arial Unicode MS"/>
              </a:rPr>
              <a:t>50.0</a:t>
            </a:r>
          </a:p>
        </p:txBody>
      </p:sp>
      <p:sp>
        <p:nvSpPr>
          <p:cNvPr id="28" name="Figure 6 label 27 line 1">
            <a:extLst xmlns:a="http://schemas.openxmlformats.org/drawingml/2006/main">
              <a:ext uri="{FF2B5EF4-FFF2-40B4-BE49-F238E27FC236}">
                <a16:creationId xmlns:a16="http://schemas.microsoft.com/office/drawing/2014/main" id="{B7C1367E-98BA-42BC-A14B-DD232CA3DBE3}"/>
              </a:ext>
            </a:extLst>
          </p:cNvPr>
          <p:cNvSpPr>
            <a:spLocks xmlns:a="http://schemas.openxmlformats.org/drawingml/2006/main" noGrp="1"/>
          </p:cNvSpPr>
          <p:nvPr/>
        </p:nvSpPr>
        <p:spPr>
          <a:xfrm xmlns:a="http://schemas.openxmlformats.org/drawingml/2006/main" rot="0">
            <a:off x="12486868" y="5459786"/>
            <a:ext cx="618381"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75" b="1">
                <a:solidFill>
                  <a:srgbClr val="00355F"/>
                </a:solidFill>
                <a:latin typeface="Arial Unicode MS"/>
                <a:ea typeface="Arial Unicode MS"/>
                <a:cs typeface="Arial Unicode MS"/>
              </a:defRPr>
            </a:defPPr>
          </a:lstStyle>
          <a:p xmlns:a="http://schemas.openxmlformats.org/drawingml/2006/main">
            <a:pPr algn="ctr">
              <a:lnSpc>
                <a:spcPct val="100000"/>
              </a:lnSpc>
              <a:buNone/>
              <a:defRPr sz="1875" b="1">
                <a:solidFill>
                  <a:srgbClr val="00355F"/>
                </a:solidFill>
                <a:latin typeface="Arial Unicode MS"/>
                <a:ea typeface="Arial Unicode MS"/>
                <a:cs typeface="Arial Unicode MS"/>
              </a:defRPr>
            </a:pPr>
            <a:r>
              <a:rPr sz="1875" b="1">
                <a:solidFill>
                  <a:srgbClr val="00355F"/>
                </a:solidFill>
                <a:latin typeface="Arial Unicode MS"/>
                <a:ea typeface="Arial Unicode MS"/>
                <a:cs typeface="Arial Unicode MS"/>
              </a:rPr>
              <a:t>62.6</a:t>
            </a:r>
          </a:p>
        </p:txBody>
      </p:sp>
      <p:sp>
        <p:nvSpPr>
          <p:cNvPr id="29" name="Figure 6 label 28 line 1">
            <a:extLst xmlns:a="http://schemas.openxmlformats.org/drawingml/2006/main">
              <a:ext uri="{FF2B5EF4-FFF2-40B4-BE49-F238E27FC236}">
                <a16:creationId xmlns:a16="http://schemas.microsoft.com/office/drawing/2014/main" id="{6E82583B-DDD6-477D-A2FD-FA01DFE72D98}"/>
              </a:ext>
            </a:extLst>
          </p:cNvPr>
          <p:cNvSpPr>
            <a:spLocks xmlns:a="http://schemas.openxmlformats.org/drawingml/2006/main" noGrp="1"/>
          </p:cNvSpPr>
          <p:nvPr/>
        </p:nvSpPr>
        <p:spPr>
          <a:xfrm xmlns:a="http://schemas.openxmlformats.org/drawingml/2006/main" rot="0">
            <a:off x="15437926" y="4458729"/>
            <a:ext cx="750689"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75" b="1">
                <a:solidFill>
                  <a:srgbClr val="00355F"/>
                </a:solidFill>
                <a:latin typeface="Arial Unicode MS"/>
                <a:ea typeface="Arial Unicode MS"/>
                <a:cs typeface="Arial Unicode MS"/>
              </a:defRPr>
            </a:defPPr>
          </a:lstStyle>
          <a:p xmlns:a="http://schemas.openxmlformats.org/drawingml/2006/main">
            <a:pPr algn="ctr">
              <a:lnSpc>
                <a:spcPct val="100000"/>
              </a:lnSpc>
              <a:buNone/>
              <a:defRPr sz="1875" b="1">
                <a:solidFill>
                  <a:srgbClr val="00355F"/>
                </a:solidFill>
                <a:latin typeface="Arial Unicode MS"/>
                <a:ea typeface="Arial Unicode MS"/>
                <a:cs typeface="Arial Unicode MS"/>
              </a:defRPr>
            </a:pPr>
            <a:r>
              <a:rPr sz="1875" b="1">
                <a:solidFill>
                  <a:srgbClr val="00355F"/>
                </a:solidFill>
                <a:latin typeface="Arial Unicode MS"/>
                <a:ea typeface="Arial Unicode MS"/>
                <a:cs typeface="Arial Unicode MS"/>
              </a:rPr>
              <a:t>100.0</a:t>
            </a:r>
          </a:p>
        </p:txBody>
      </p:sp>
      <p:sp>
        <p:nvSpPr>
          <p:cNvPr id="30" name="Figure 6 label 29 line 1">
            <a:extLst xmlns:a="http://schemas.openxmlformats.org/drawingml/2006/main">
              <a:ext uri="{FF2B5EF4-FFF2-40B4-BE49-F238E27FC236}">
                <a16:creationId xmlns:a16="http://schemas.microsoft.com/office/drawing/2014/main" id="{020842F0-7CE5-4CBB-ABF7-06D55D669B8A}"/>
              </a:ext>
            </a:extLst>
          </p:cNvPr>
          <p:cNvSpPr>
            <a:spLocks xmlns:a="http://schemas.openxmlformats.org/drawingml/2006/main" noGrp="1"/>
          </p:cNvSpPr>
          <p:nvPr/>
        </p:nvSpPr>
        <p:spPr>
          <a:xfrm xmlns:a="http://schemas.openxmlformats.org/drawingml/2006/main" rot="0">
            <a:off x="10208484" y="2970276"/>
            <a:ext cx="4088954"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0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2000" b="0">
                <a:solidFill>
                  <a:srgbClr val="00355F"/>
                </a:solidFill>
                <a:latin typeface="Arial Unicode MS"/>
                <a:ea typeface="Arial Unicode MS"/>
                <a:cs typeface="Arial Unicode MS"/>
              </a:defRPr>
            </a:pPr>
            <a:r>
              <a:rPr sz="2000" b="0">
                <a:solidFill>
                  <a:srgbClr val="00355F"/>
                </a:solidFill>
                <a:latin typeface="Arial Unicode MS"/>
                <a:ea typeface="Arial Unicode MS"/>
                <a:cs typeface="Arial Unicode MS"/>
              </a:rPr>
              <a:t>Consumption can fall or remain flat</a:t>
            </a:r>
          </a:p>
        </p:txBody>
      </p:sp>
      <p:sp>
        <p:nvSpPr>
          <p:cNvPr id="31" name="Figure 6 label 30 line 1">
            <a:extLst xmlns:a="http://schemas.openxmlformats.org/drawingml/2006/main">
              <a:ext uri="{FF2B5EF4-FFF2-40B4-BE49-F238E27FC236}">
                <a16:creationId xmlns:a16="http://schemas.microsoft.com/office/drawing/2014/main" id="{71CD8A3A-E790-4C8B-8817-BA0D893C644C}"/>
              </a:ext>
            </a:extLst>
          </p:cNvPr>
          <p:cNvSpPr>
            <a:spLocks xmlns:a="http://schemas.openxmlformats.org/drawingml/2006/main" noGrp="1"/>
          </p:cNvSpPr>
          <p:nvPr/>
        </p:nvSpPr>
        <p:spPr>
          <a:xfrm xmlns:a="http://schemas.openxmlformats.org/drawingml/2006/main" rot="0">
            <a:off x="13724368" y="3587745"/>
            <a:ext cx="1354782"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0000"/>
                </a:solidFill>
                <a:latin typeface="Arial Unicode MS"/>
                <a:ea typeface="Arial Unicode MS"/>
                <a:cs typeface="Arial Unicode MS"/>
              </a:defRPr>
            </a:defPPr>
          </a:lstStyle>
          <a:p xmlns:a="http://schemas.openxmlformats.org/drawingml/2006/main">
            <a:pPr algn="l">
              <a:lnSpc>
                <a:spcPct val="100000"/>
              </a:lnSpc>
              <a:buNone/>
              <a:defRPr sz="1313" b="0">
                <a:solidFill>
                  <a:srgbClr val="000000"/>
                </a:solidFill>
                <a:latin typeface="Arial Unicode MS"/>
                <a:ea typeface="Arial Unicode MS"/>
                <a:cs typeface="Arial Unicode MS"/>
              </a:defRPr>
            </a:pPr>
            <a:r>
              <a:rPr sz="1313" b="0">
                <a:solidFill>
                  <a:srgbClr val="000000"/>
                </a:solidFill>
                <a:latin typeface="Arial Unicode MS"/>
                <a:ea typeface="Arial Unicode MS"/>
                <a:cs typeface="Arial Unicode MS"/>
              </a:rPr>
              <a:t>Traditional = 100</a:t>
            </a:r>
          </a:p>
        </p:txBody>
      </p:sp>
      <p:sp>
        <p:nvSpPr>
          <p:cNvPr id="32" name="Figure 6 label 31 line 1">
            <a:extLst xmlns:a="http://schemas.openxmlformats.org/drawingml/2006/main">
              <a:ext uri="{FF2B5EF4-FFF2-40B4-BE49-F238E27FC236}">
                <a16:creationId xmlns:a16="http://schemas.microsoft.com/office/drawing/2014/main" id="{838F55E5-2A12-4528-B2BC-64B857990108}"/>
              </a:ext>
            </a:extLst>
          </p:cNvPr>
          <p:cNvSpPr>
            <a:spLocks xmlns:a="http://schemas.openxmlformats.org/drawingml/2006/main" noGrp="1"/>
          </p:cNvSpPr>
          <p:nvPr/>
        </p:nvSpPr>
        <p:spPr>
          <a:xfrm xmlns:a="http://schemas.openxmlformats.org/drawingml/2006/main" rot="0">
            <a:off x="15770717" y="3587745"/>
            <a:ext cx="914549"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0000"/>
                </a:solidFill>
                <a:latin typeface="Arial Unicode MS"/>
                <a:ea typeface="Arial Unicode MS"/>
                <a:cs typeface="Arial Unicode MS"/>
              </a:defRPr>
            </a:defPPr>
          </a:lstStyle>
          <a:p xmlns:a="http://schemas.openxmlformats.org/drawingml/2006/main">
            <a:pPr algn="l">
              <a:lnSpc>
                <a:spcPct val="100000"/>
              </a:lnSpc>
              <a:buNone/>
              <a:defRPr sz="1313" b="0">
                <a:solidFill>
                  <a:srgbClr val="000000"/>
                </a:solidFill>
                <a:latin typeface="Arial Unicode MS"/>
                <a:ea typeface="Arial Unicode MS"/>
                <a:cs typeface="Arial Unicode MS"/>
              </a:defRPr>
            </a:pPr>
            <a:r>
              <a:rPr sz="1313" b="0">
                <a:solidFill>
                  <a:srgbClr val="000000"/>
                </a:solidFill>
                <a:latin typeface="Arial Unicode MS"/>
                <a:ea typeface="Arial Unicode MS"/>
                <a:cs typeface="Arial Unicode MS"/>
              </a:rPr>
              <a:t>Automated</a:t>
            </a:r>
          </a:p>
        </p:txBody>
      </p:sp>
      <p:sp>
        <p:nvSpPr>
          <p:cNvPr id="33" name="Figure 6 label 32 line 1">
            <a:extLst xmlns:a="http://schemas.openxmlformats.org/drawingml/2006/main">
              <a:ext uri="{FF2B5EF4-FFF2-40B4-BE49-F238E27FC236}">
                <a16:creationId xmlns:a16="http://schemas.microsoft.com/office/drawing/2014/main" id="{166DB7B4-5142-4E03-B397-371339E80858}"/>
              </a:ext>
            </a:extLst>
          </p:cNvPr>
          <p:cNvSpPr>
            <a:spLocks xmlns:a="http://schemas.openxmlformats.org/drawingml/2006/main" noGrp="1"/>
          </p:cNvSpPr>
          <p:nvPr/>
        </p:nvSpPr>
        <p:spPr>
          <a:xfrm xmlns:a="http://schemas.openxmlformats.org/drawingml/2006/main" rot="0">
            <a:off x="991870" y="422275"/>
            <a:ext cx="8087072" cy="436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750" b="1">
                <a:solidFill>
                  <a:srgbClr val="00355F"/>
                </a:solidFill>
                <a:latin typeface="Arial Unicode MS"/>
                <a:ea typeface="Arial Unicode MS"/>
                <a:cs typeface="Arial Unicode MS"/>
              </a:defRPr>
            </a:defPPr>
          </a:lstStyle>
          <a:p xmlns:a="http://schemas.openxmlformats.org/drawingml/2006/main">
            <a:pPr algn="l">
              <a:lnSpc>
                <a:spcPct val="100000"/>
              </a:lnSpc>
              <a:buNone/>
              <a:defRPr sz="2750" b="1">
                <a:solidFill>
                  <a:srgbClr val="00355F"/>
                </a:solidFill>
                <a:latin typeface="Arial Unicode MS"/>
                <a:ea typeface="Arial Unicode MS"/>
                <a:cs typeface="Arial Unicode MS"/>
              </a:defRPr>
            </a:pPr>
            <a:r>
              <a:rPr sz="2750" b="1">
                <a:solidFill>
                  <a:srgbClr val="00355F"/>
                </a:solidFill>
                <a:latin typeface="Arial Unicode MS"/>
                <a:ea typeface="Arial Unicode MS"/>
                <a:cs typeface="Arial Unicode MS"/>
              </a:rPr>
              <a:t>06  More experiments, less material per experiment</a:t>
            </a:r>
          </a:p>
        </p:txBody>
      </p:sp>
      <p:sp>
        <p:nvSpPr>
          <p:cNvPr id="34" name="Figure 6 label 33 line 1">
            <a:extLst xmlns:a="http://schemas.openxmlformats.org/drawingml/2006/main">
              <a:ext uri="{FF2B5EF4-FFF2-40B4-BE49-F238E27FC236}">
                <a16:creationId xmlns:a16="http://schemas.microsoft.com/office/drawing/2014/main" id="{8C8126EB-5BF8-4766-970D-B2CC39FE7392}"/>
              </a:ext>
            </a:extLst>
          </p:cNvPr>
          <p:cNvSpPr>
            <a:spLocks xmlns:a="http://schemas.openxmlformats.org/drawingml/2006/main" noGrp="1"/>
          </p:cNvSpPr>
          <p:nvPr/>
        </p:nvSpPr>
        <p:spPr>
          <a:xfrm xmlns:a="http://schemas.openxmlformats.org/drawingml/2006/main" rot="0">
            <a:off x="15787788" y="661601"/>
            <a:ext cx="885627" cy="188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188"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188" b="0">
                <a:solidFill>
                  <a:srgbClr val="00355F"/>
                </a:solidFill>
                <a:latin typeface="Arial Unicode MS"/>
                <a:ea typeface="Arial Unicode MS"/>
                <a:cs typeface="Arial Unicode MS"/>
              </a:defRPr>
            </a:pPr>
            <a:r>
              <a:rPr sz="1188" b="0">
                <a:solidFill>
                  <a:srgbClr val="00355F"/>
                </a:solidFill>
                <a:latin typeface="Arial Unicode MS"/>
                <a:ea typeface="Arial Unicode MS"/>
                <a:cs typeface="Arial Unicode MS"/>
              </a:rPr>
              <a:t>SCENARIO</a:t>
            </a:r>
          </a:p>
        </p:txBody>
      </p:sp>
      <p:sp>
        <p:nvSpPr>
          <p:cNvPr id="35" name="Figure 6 label 34 line 1">
            <a:extLst xmlns:a="http://schemas.openxmlformats.org/drawingml/2006/main">
              <a:ext uri="{FF2B5EF4-FFF2-40B4-BE49-F238E27FC236}">
                <a16:creationId xmlns:a16="http://schemas.microsoft.com/office/drawing/2014/main" id="{31AF4D63-EBAE-40C3-B295-B27EC1E7FF20}"/>
              </a:ext>
            </a:extLst>
          </p:cNvPr>
          <p:cNvSpPr>
            <a:spLocks xmlns:a="http://schemas.openxmlformats.org/drawingml/2006/main" noGrp="1"/>
          </p:cNvSpPr>
          <p:nvPr/>
        </p:nvSpPr>
        <p:spPr>
          <a:xfrm xmlns:a="http://schemas.openxmlformats.org/drawingml/2006/main" rot="0">
            <a:off x="998220" y="1249680"/>
            <a:ext cx="870644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Traditional: 100k tests, 96 wells, 100 µL/test. Automated: 1m tests, 1,536 wells, 5 µL/test. Base = 100.</a:t>
            </a:r>
          </a:p>
        </p:txBody>
      </p:sp>
      <p:sp>
        <p:nvSpPr>
          <p:cNvPr id="36" name="Figure 6 label 35 line 1">
            <a:extLst xmlns:a="http://schemas.openxmlformats.org/drawingml/2006/main">
              <a:ext uri="{FF2B5EF4-FFF2-40B4-BE49-F238E27FC236}">
                <a16:creationId xmlns:a16="http://schemas.microsoft.com/office/drawing/2014/main" id="{278A4847-760C-44B3-A83C-E01DD62EC218}"/>
              </a:ext>
            </a:extLst>
          </p:cNvPr>
          <p:cNvSpPr>
            <a:spLocks xmlns:a="http://schemas.openxmlformats.org/drawingml/2006/main" noGrp="1"/>
          </p:cNvSpPr>
          <p:nvPr/>
        </p:nvSpPr>
        <p:spPr>
          <a:xfrm xmlns:a="http://schemas.openxmlformats.org/drawingml/2006/main" rot="0">
            <a:off x="999173" y="9256934"/>
            <a:ext cx="817795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Y-axis scales differ. Full plates, no dead volume or control wells; tips fall from 1 to 0.1 per test. ASP excluded.</a:t>
            </a:r>
          </a:p>
        </p:txBody>
      </p:sp>
      <p:sp>
        <p:nvSpPr>
          <p:cNvPr id="37" name="Figure 6 label 36 line 1">
            <a:extLst xmlns:a="http://schemas.openxmlformats.org/drawingml/2006/main">
              <a:ext uri="{FF2B5EF4-FFF2-40B4-BE49-F238E27FC236}">
                <a16:creationId xmlns:a16="http://schemas.microsoft.com/office/drawing/2014/main" id="{C63A4A28-84EA-4174-8850-BE98907DF931}"/>
              </a:ext>
            </a:extLst>
          </p:cNvPr>
          <p:cNvSpPr>
            <a:spLocks xmlns:a="http://schemas.openxmlformats.org/drawingml/2006/main" noGrp="1"/>
          </p:cNvSpPr>
          <p:nvPr/>
        </p:nvSpPr>
        <p:spPr>
          <a:xfrm xmlns:a="http://schemas.openxmlformats.org/drawingml/2006/main" rot="0">
            <a:off x="1000316" y="9675546"/>
            <a:ext cx="6288911" cy="1726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88" b="0">
                <a:solidFill>
                  <a:srgbClr val="00355F"/>
                </a:solidFill>
                <a:latin typeface="Arial Unicode MS"/>
                <a:ea typeface="Arial Unicode MS"/>
                <a:cs typeface="Arial Unicode MS"/>
              </a:defRPr>
            </a:defPPr>
          </a:lstStyle>
          <a:p xmlns:a="http://schemas.openxmlformats.org/drawingml/2006/main">
            <a:pPr algn="l">
              <a:lnSpc>
                <a:spcPct val="100000"/>
              </a:lnSpc>
              <a:buNone/>
              <a:defRPr sz="1088" b="0">
                <a:solidFill>
                  <a:srgbClr val="00355F"/>
                </a:solidFill>
                <a:latin typeface="Arial Unicode MS"/>
                <a:ea typeface="Arial Unicode MS"/>
                <a:cs typeface="Arial Unicode MS"/>
              </a:defRPr>
            </a:pPr>
            <a:r>
              <a:rPr sz="1088" b="0">
                <a:solidFill>
                  <a:srgbClr val="00355F"/>
                </a:solidFill>
                <a:latin typeface="Arial Unicode MS"/>
                <a:ea typeface="Arial Unicode MS"/>
                <a:cs typeface="Arial Unicode MS"/>
              </a:rPr>
              <a:t>Source: supplied scenario and analyst calculation. Test definition and plate utilization affect the result.</a:t>
            </a:r>
          </a:p>
        </p:txBody>
      </p:sp>
      <p:sp>
        <p:nvSpPr>
          <p:cNvPr id="38" name="Figure 6 label 37 line 1">
            <a:extLst xmlns:a="http://schemas.openxmlformats.org/drawingml/2006/main">
              <a:ext uri="{FF2B5EF4-FFF2-40B4-BE49-F238E27FC236}">
                <a16:creationId xmlns:a16="http://schemas.microsoft.com/office/drawing/2014/main" id="{8E0120F9-FDB5-408F-A428-0F775D1B970F}"/>
              </a:ext>
            </a:extLst>
          </p:cNvPr>
          <p:cNvSpPr>
            <a:spLocks xmlns:a="http://schemas.openxmlformats.org/drawingml/2006/main" noGrp="1"/>
          </p:cNvSpPr>
          <p:nvPr/>
        </p:nvSpPr>
        <p:spPr>
          <a:xfrm xmlns:a="http://schemas.openxmlformats.org/drawingml/2006/main" rot="0">
            <a:off x="16440260" y="9667497"/>
            <a:ext cx="841901" cy="1825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150" b="0">
                <a:solidFill>
                  <a:srgbClr val="00355F"/>
                </a:solidFill>
                <a:latin typeface="Arial Unicode MS"/>
                <a:ea typeface="Arial Unicode MS"/>
                <a:cs typeface="Arial Unicode MS"/>
              </a:defRPr>
            </a:defPPr>
          </a:lstStyle>
          <a:p xmlns:a="http://schemas.openxmlformats.org/drawingml/2006/main">
            <a:pPr algn="r">
              <a:lnSpc>
                <a:spcPct val="100000"/>
              </a:lnSpc>
              <a:buNone/>
              <a:defRPr sz="1150" b="0">
                <a:solidFill>
                  <a:srgbClr val="00355F"/>
                </a:solidFill>
                <a:latin typeface="Arial Unicode MS"/>
                <a:ea typeface="Arial Unicode MS"/>
                <a:cs typeface="Arial Unicode MS"/>
              </a:defRPr>
            </a:pPr>
            <a:r>
              <a:rPr sz="1150" b="0">
                <a:solidFill>
                  <a:srgbClr val="00355F"/>
                </a:solidFill>
                <a:latin typeface="Arial Unicode MS"/>
                <a:ea typeface="Arial Unicode MS"/>
                <a:cs typeface="Arial Unicode MS"/>
              </a:rPr>
              <a:t>2026-10-12</a:t>
            </a:r>
          </a:p>
        </p:txBody>
      </p:sp>
      <p:sp>
        <p:nvSpPr>
          <p:cNvPr id="39" name="Figure 6 label 38 line 1">
            <a:extLst xmlns:a="http://schemas.openxmlformats.org/drawingml/2006/main">
              <a:ext uri="{FF2B5EF4-FFF2-40B4-BE49-F238E27FC236}">
                <a16:creationId xmlns:a16="http://schemas.microsoft.com/office/drawing/2014/main" id="{CD730FB0-85D7-4E3B-846E-94F594EC3988}"/>
              </a:ext>
            </a:extLst>
          </p:cNvPr>
          <p:cNvSpPr>
            <a:spLocks xmlns:a="http://schemas.openxmlformats.org/drawingml/2006/main" noGrp="1"/>
          </p:cNvSpPr>
          <p:nvPr/>
        </p:nvSpPr>
        <p:spPr>
          <a:xfrm xmlns:a="http://schemas.openxmlformats.org/drawingml/2006/main" rot="0">
            <a:off x="1453515" y="2395347"/>
            <a:ext cx="2667298"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75" b="1">
                <a:solidFill>
                  <a:srgbClr val="00355F"/>
                </a:solidFill>
                <a:latin typeface="Arial Unicode MS"/>
                <a:ea typeface="Arial Unicode MS"/>
                <a:cs typeface="Arial Unicode MS"/>
              </a:defRPr>
            </a:defPPr>
          </a:lstStyle>
          <a:p xmlns:a="http://schemas.openxmlformats.org/drawingml/2006/main">
            <a:pPr algn="l">
              <a:lnSpc>
                <a:spcPct val="100000"/>
              </a:lnSpc>
              <a:buNone/>
              <a:defRPr sz="1875" b="1">
                <a:solidFill>
                  <a:srgbClr val="00355F"/>
                </a:solidFill>
                <a:latin typeface="Arial Unicode MS"/>
                <a:ea typeface="Arial Unicode MS"/>
                <a:cs typeface="Arial Unicode MS"/>
              </a:defRPr>
            </a:pPr>
            <a:r>
              <a:rPr sz="1875" b="1">
                <a:solidFill>
                  <a:srgbClr val="00355F"/>
                </a:solidFill>
                <a:latin typeface="Arial Unicode MS"/>
                <a:ea typeface="Arial Unicode MS"/>
                <a:cs typeface="Arial Unicode MS"/>
              </a:rPr>
              <a:t>100k → 1m experiments</a:t>
            </a:r>
          </a:p>
        </p:txBody>
      </p:sp>
      <p:sp>
        <p:nvSpPr>
          <p:cNvPr id="40" name="Figure 6 label 39 line 1">
            <a:extLst xmlns:a="http://schemas.openxmlformats.org/drawingml/2006/main">
              <a:ext uri="{FF2B5EF4-FFF2-40B4-BE49-F238E27FC236}">
                <a16:creationId xmlns:a16="http://schemas.microsoft.com/office/drawing/2014/main" id="{F068A870-8E70-413A-88CB-F56554BA9B47}"/>
              </a:ext>
            </a:extLst>
          </p:cNvPr>
          <p:cNvSpPr>
            <a:spLocks xmlns:a="http://schemas.openxmlformats.org/drawingml/2006/main" noGrp="1"/>
          </p:cNvSpPr>
          <p:nvPr/>
        </p:nvSpPr>
        <p:spPr>
          <a:xfrm xmlns:a="http://schemas.openxmlformats.org/drawingml/2006/main" rot="0">
            <a:off x="7306945" y="2426887"/>
            <a:ext cx="6929041" cy="257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25" b="0">
                <a:solidFill>
                  <a:srgbClr val="00355F"/>
                </a:solidFill>
                <a:latin typeface="Arial Unicode MS"/>
                <a:ea typeface="Arial Unicode MS"/>
                <a:cs typeface="Arial Unicode MS"/>
              </a:defRPr>
            </a:defPPr>
          </a:lstStyle>
          <a:p xmlns:a="http://schemas.openxmlformats.org/drawingml/2006/main">
            <a:pPr algn="l">
              <a:lnSpc>
                <a:spcPct val="100000"/>
              </a:lnSpc>
              <a:buNone/>
              <a:defRPr sz="1625" b="0">
                <a:solidFill>
                  <a:srgbClr val="00355F"/>
                </a:solidFill>
                <a:latin typeface="Arial Unicode MS"/>
                <a:ea typeface="Arial Unicode MS"/>
                <a:cs typeface="Arial Unicode MS"/>
              </a:defRPr>
            </a:pPr>
            <a:r>
              <a:rPr sz="1625" b="0">
                <a:solidFill>
                  <a:srgbClr val="00355F"/>
                </a:solidFill>
                <a:latin typeface="Arial Unicode MS"/>
                <a:ea typeface="Arial Unicode MS"/>
                <a:cs typeface="Arial Unicode MS"/>
              </a:rPr>
              <a:t>Reagents: 10 L → 5 L  ·  Plates: 1,042 → 652  ·  Tips: 100k → 100k (assumed)</a:t>
            </a:r>
          </a:p>
        </p:txBody>
      </p:sp>
      <p:sp>
        <p:nvSpPr>
          <p:cNvPr id="41" name="Figure 6 label 40 line 1">
            <a:extLst xmlns:a="http://schemas.openxmlformats.org/drawingml/2006/main">
              <a:ext uri="{FF2B5EF4-FFF2-40B4-BE49-F238E27FC236}">
                <a16:creationId xmlns:a16="http://schemas.microsoft.com/office/drawing/2014/main" id="{7F631C19-8FE2-45C4-B78C-E0A63EB6741A}"/>
              </a:ext>
            </a:extLst>
          </p:cNvPr>
          <p:cNvSpPr>
            <a:spLocks xmlns:a="http://schemas.openxmlformats.org/drawingml/2006/main" noGrp="1"/>
          </p:cNvSpPr>
          <p:nvPr/>
        </p:nvSpPr>
        <p:spPr>
          <a:xfrm xmlns:a="http://schemas.openxmlformats.org/drawingml/2006/main" rot="0">
            <a:off x="4857899" y="8343012"/>
            <a:ext cx="8572202"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250" b="1">
                <a:solidFill>
                  <a:srgbClr val="00355F"/>
                </a:solidFill>
                <a:latin typeface="Arial Unicode MS"/>
                <a:ea typeface="Arial Unicode MS"/>
                <a:cs typeface="Arial Unicode MS"/>
              </a:defRPr>
            </a:defPPr>
          </a:lstStyle>
          <a:p xmlns:a="http://schemas.openxmlformats.org/drawingml/2006/main">
            <a:pPr algn="ctr">
              <a:lnSpc>
                <a:spcPct val="100000"/>
              </a:lnSpc>
              <a:buNone/>
              <a:defRPr sz="2250" b="1">
                <a:solidFill>
                  <a:srgbClr val="00355F"/>
                </a:solidFill>
                <a:latin typeface="Arial Unicode MS"/>
                <a:ea typeface="Arial Unicode MS"/>
                <a:cs typeface="Arial Unicode MS"/>
              </a:defRPr>
            </a:pPr>
            <a:r>
              <a:rPr sz="2250" b="1">
                <a:solidFill>
                  <a:srgbClr val="00355F"/>
                </a:solidFill>
                <a:latin typeface="Arial Unicode MS"/>
                <a:ea typeface="Arial Unicode MS"/>
                <a:cs typeface="Arial Unicode MS"/>
              </a:rPr>
              <a:t>Experiment growth does not imply proportional purchasing growth.</a:t>
            </a:r>
          </a:p>
        </p:txBody>
      </p:sp>
    </p:spTree>
    <p:extLst>
      <p:ext uri="{BB962C8B-B14F-4D97-AF65-F5344CB8AC3E}">
        <p14:creationId xmlns:p14="http://schemas.microsoft.com/office/powerpoint/2010/main" val="59748445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51" name="">
            <a:extLst xmlns:a="http://schemas.openxmlformats.org/drawingml/2006/main">
              <a:ext uri="{FF2B5EF4-FFF2-40B4-BE49-F238E27FC236}">
                <a16:creationId xmlns:a16="http://schemas.microsoft.com/office/drawing/2014/main" id="{AE28526B-076A-42AD-974D-1BFAA7899B78}"/>
              </a:ext>
            </a:extLst>
          </p:cNvPr>
          <p:cNvPicPr>
            <a:picLocks xmlns:a="http://schemas.openxmlformats.org/drawingml/2006/main" noChangeAspect="1"/>
          </p:cNvPicPr>
          <p:nvPr/>
        </p:nvPicPr>
        <p:blipFill>
          <a:blip xmlns:r="http://schemas.openxmlformats.org/officeDocument/2006/relationships" xmlns:a="http://schemas.openxmlformats.org/drawingml/2006/main" r:embed="R963ab0a0bb634d4f"/>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Figure 7 label 1 line 1">
            <a:extLst xmlns:a="http://schemas.openxmlformats.org/drawingml/2006/main">
              <a:ext uri="{FF2B5EF4-FFF2-40B4-BE49-F238E27FC236}">
                <a16:creationId xmlns:a16="http://schemas.microsoft.com/office/drawing/2014/main" id="{A9BB4A43-A2D4-4902-9C2F-36F492AC06C3}"/>
              </a:ext>
            </a:extLst>
          </p:cNvPr>
          <p:cNvSpPr>
            <a:spLocks xmlns:a="http://schemas.openxmlformats.org/drawingml/2006/main" noGrp="1"/>
          </p:cNvSpPr>
          <p:nvPr/>
        </p:nvSpPr>
        <p:spPr>
          <a:xfrm xmlns:a="http://schemas.openxmlformats.org/drawingml/2006/main" rot="0">
            <a:off x="2746180" y="7924632"/>
            <a:ext cx="1055787"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Scenario A</a:t>
            </a:r>
          </a:p>
        </p:txBody>
      </p:sp>
      <p:sp>
        <p:nvSpPr>
          <p:cNvPr id="3" name="Figure 7 label 2 line 1">
            <a:extLst xmlns:a="http://schemas.openxmlformats.org/drawingml/2006/main">
              <a:ext uri="{FF2B5EF4-FFF2-40B4-BE49-F238E27FC236}">
                <a16:creationId xmlns:a16="http://schemas.microsoft.com/office/drawing/2014/main" id="{5F4B854A-9A0F-41B8-B1F9-38F38BDEABD8}"/>
              </a:ext>
            </a:extLst>
          </p:cNvPr>
          <p:cNvSpPr>
            <a:spLocks xmlns:a="http://schemas.openxmlformats.org/drawingml/2006/main" noGrp="1"/>
          </p:cNvSpPr>
          <p:nvPr/>
        </p:nvSpPr>
        <p:spPr>
          <a:xfrm xmlns:a="http://schemas.openxmlformats.org/drawingml/2006/main" rot="0">
            <a:off x="2814924" y="8126210"/>
            <a:ext cx="91827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US$50bn</a:t>
            </a:r>
          </a:p>
        </p:txBody>
      </p:sp>
      <p:sp>
        <p:nvSpPr>
          <p:cNvPr id="4" name="Figure 7 label 3 line 1">
            <a:extLst xmlns:a="http://schemas.openxmlformats.org/drawingml/2006/main">
              <a:ext uri="{FF2B5EF4-FFF2-40B4-BE49-F238E27FC236}">
                <a16:creationId xmlns:a16="http://schemas.microsoft.com/office/drawing/2014/main" id="{E00C5009-336C-4A5D-821D-3C373F4AE1C7}"/>
              </a:ext>
            </a:extLst>
          </p:cNvPr>
          <p:cNvSpPr>
            <a:spLocks xmlns:a="http://schemas.openxmlformats.org/drawingml/2006/main" noGrp="1"/>
          </p:cNvSpPr>
          <p:nvPr/>
        </p:nvSpPr>
        <p:spPr>
          <a:xfrm xmlns:a="http://schemas.openxmlformats.org/drawingml/2006/main" rot="0">
            <a:off x="6567354" y="7924632"/>
            <a:ext cx="1055787"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Scenario B</a:t>
            </a:r>
          </a:p>
        </p:txBody>
      </p:sp>
      <p:sp>
        <p:nvSpPr>
          <p:cNvPr id="5" name="Figure 7 label 4 line 1">
            <a:extLst xmlns:a="http://schemas.openxmlformats.org/drawingml/2006/main">
              <a:ext uri="{FF2B5EF4-FFF2-40B4-BE49-F238E27FC236}">
                <a16:creationId xmlns:a16="http://schemas.microsoft.com/office/drawing/2014/main" id="{DAD99560-3D5C-4B18-B3F6-9D1F8F905A34}"/>
              </a:ext>
            </a:extLst>
          </p:cNvPr>
          <p:cNvSpPr>
            <a:spLocks xmlns:a="http://schemas.openxmlformats.org/drawingml/2006/main" noGrp="1"/>
          </p:cNvSpPr>
          <p:nvPr/>
        </p:nvSpPr>
        <p:spPr>
          <a:xfrm xmlns:a="http://schemas.openxmlformats.org/drawingml/2006/main" rot="0">
            <a:off x="6583129" y="8126210"/>
            <a:ext cx="102423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US$100bn</a:t>
            </a:r>
          </a:p>
        </p:txBody>
      </p:sp>
      <p:sp>
        <p:nvSpPr>
          <p:cNvPr id="6" name="Figure 7 label 5 line 1">
            <a:extLst xmlns:a="http://schemas.openxmlformats.org/drawingml/2006/main">
              <a:ext uri="{FF2B5EF4-FFF2-40B4-BE49-F238E27FC236}">
                <a16:creationId xmlns:a16="http://schemas.microsoft.com/office/drawing/2014/main" id="{B802D374-466D-40EF-B7D7-3C28F4E5ED61}"/>
              </a:ext>
            </a:extLst>
          </p:cNvPr>
          <p:cNvSpPr>
            <a:spLocks xmlns:a="http://schemas.openxmlformats.org/drawingml/2006/main" noGrp="1"/>
          </p:cNvSpPr>
          <p:nvPr/>
        </p:nvSpPr>
        <p:spPr>
          <a:xfrm xmlns:a="http://schemas.openxmlformats.org/drawingml/2006/main" rot="0">
            <a:off x="10383273" y="7924632"/>
            <a:ext cx="106620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Scenario C</a:t>
            </a:r>
          </a:p>
        </p:txBody>
      </p:sp>
      <p:sp>
        <p:nvSpPr>
          <p:cNvPr id="7" name="Figure 7 label 6 line 1">
            <a:extLst xmlns:a="http://schemas.openxmlformats.org/drawingml/2006/main">
              <a:ext uri="{FF2B5EF4-FFF2-40B4-BE49-F238E27FC236}">
                <a16:creationId xmlns:a16="http://schemas.microsoft.com/office/drawing/2014/main" id="{E6449490-DB15-4A1E-B109-B2A9A35E1E15}"/>
              </a:ext>
            </a:extLst>
          </p:cNvPr>
          <p:cNvSpPr>
            <a:spLocks xmlns:a="http://schemas.openxmlformats.org/drawingml/2006/main" noGrp="1"/>
          </p:cNvSpPr>
          <p:nvPr/>
        </p:nvSpPr>
        <p:spPr>
          <a:xfrm xmlns:a="http://schemas.openxmlformats.org/drawingml/2006/main" rot="0">
            <a:off x="10404303" y="8126210"/>
            <a:ext cx="102423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US$200bn</a:t>
            </a:r>
          </a:p>
        </p:txBody>
      </p:sp>
      <p:sp>
        <p:nvSpPr>
          <p:cNvPr id="8" name="Figure 7 label 7 line 1">
            <a:extLst xmlns:a="http://schemas.openxmlformats.org/drawingml/2006/main">
              <a:ext uri="{FF2B5EF4-FFF2-40B4-BE49-F238E27FC236}">
                <a16:creationId xmlns:a16="http://schemas.microsoft.com/office/drawing/2014/main" id="{A10ED092-788A-4EE4-8520-C0B5E766F0D6}"/>
              </a:ext>
            </a:extLst>
          </p:cNvPr>
          <p:cNvSpPr>
            <a:spLocks xmlns:a="http://schemas.openxmlformats.org/drawingml/2006/main" noGrp="1"/>
          </p:cNvSpPr>
          <p:nvPr/>
        </p:nvSpPr>
        <p:spPr>
          <a:xfrm xmlns:a="http://schemas.openxmlformats.org/drawingml/2006/main" rot="0">
            <a:off x="1440259" y="7697703"/>
            <a:ext cx="22979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0</a:t>
            </a:r>
          </a:p>
        </p:txBody>
      </p:sp>
      <p:sp>
        <p:nvSpPr>
          <p:cNvPr id="9" name="Figure 7 label 8 line 1">
            <a:extLst xmlns:a="http://schemas.openxmlformats.org/drawingml/2006/main">
              <a:ext uri="{FF2B5EF4-FFF2-40B4-BE49-F238E27FC236}">
                <a16:creationId xmlns:a16="http://schemas.microsoft.com/office/drawing/2014/main" id="{B703E685-2939-4E41-B618-C40E0CEE5549}"/>
              </a:ext>
            </a:extLst>
          </p:cNvPr>
          <p:cNvSpPr>
            <a:spLocks xmlns:a="http://schemas.openxmlformats.org/drawingml/2006/main" noGrp="1"/>
          </p:cNvSpPr>
          <p:nvPr/>
        </p:nvSpPr>
        <p:spPr>
          <a:xfrm xmlns:a="http://schemas.openxmlformats.org/drawingml/2006/main" rot="0">
            <a:off x="1334294" y="7114773"/>
            <a:ext cx="33575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25</a:t>
            </a:r>
          </a:p>
        </p:txBody>
      </p:sp>
      <p:sp>
        <p:nvSpPr>
          <p:cNvPr id="10" name="Figure 7 label 9 line 1">
            <a:extLst xmlns:a="http://schemas.openxmlformats.org/drawingml/2006/main">
              <a:ext uri="{FF2B5EF4-FFF2-40B4-BE49-F238E27FC236}">
                <a16:creationId xmlns:a16="http://schemas.microsoft.com/office/drawing/2014/main" id="{3C4D0CAB-A7C5-4620-9F30-B61CE04C3968}"/>
              </a:ext>
            </a:extLst>
          </p:cNvPr>
          <p:cNvSpPr>
            <a:spLocks xmlns:a="http://schemas.openxmlformats.org/drawingml/2006/main" noGrp="1"/>
          </p:cNvSpPr>
          <p:nvPr/>
        </p:nvSpPr>
        <p:spPr>
          <a:xfrm xmlns:a="http://schemas.openxmlformats.org/drawingml/2006/main" rot="0">
            <a:off x="1334294" y="6531843"/>
            <a:ext cx="33575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50</a:t>
            </a:r>
          </a:p>
        </p:txBody>
      </p:sp>
      <p:sp>
        <p:nvSpPr>
          <p:cNvPr id="11" name="Figure 7 label 10 line 1">
            <a:extLst xmlns:a="http://schemas.openxmlformats.org/drawingml/2006/main">
              <a:ext uri="{FF2B5EF4-FFF2-40B4-BE49-F238E27FC236}">
                <a16:creationId xmlns:a16="http://schemas.microsoft.com/office/drawing/2014/main" id="{C6DC8D62-AC7C-4945-AF73-CA7A12B17E66}"/>
              </a:ext>
            </a:extLst>
          </p:cNvPr>
          <p:cNvSpPr>
            <a:spLocks xmlns:a="http://schemas.openxmlformats.org/drawingml/2006/main" noGrp="1"/>
          </p:cNvSpPr>
          <p:nvPr/>
        </p:nvSpPr>
        <p:spPr>
          <a:xfrm xmlns:a="http://schemas.openxmlformats.org/drawingml/2006/main" rot="0">
            <a:off x="1334294" y="5948913"/>
            <a:ext cx="33575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75</a:t>
            </a:r>
          </a:p>
        </p:txBody>
      </p:sp>
      <p:sp>
        <p:nvSpPr>
          <p:cNvPr id="12" name="Figure 7 label 11 line 1">
            <a:extLst xmlns:a="http://schemas.openxmlformats.org/drawingml/2006/main">
              <a:ext uri="{FF2B5EF4-FFF2-40B4-BE49-F238E27FC236}">
                <a16:creationId xmlns:a16="http://schemas.microsoft.com/office/drawing/2014/main" id="{44060D75-2DBB-4013-9125-FB791C028942}"/>
              </a:ext>
            </a:extLst>
          </p:cNvPr>
          <p:cNvSpPr>
            <a:spLocks xmlns:a="http://schemas.openxmlformats.org/drawingml/2006/main" noGrp="1"/>
          </p:cNvSpPr>
          <p:nvPr/>
        </p:nvSpPr>
        <p:spPr>
          <a:xfrm xmlns:a="http://schemas.openxmlformats.org/drawingml/2006/main" rot="0">
            <a:off x="1228328" y="5365983"/>
            <a:ext cx="441722"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100</a:t>
            </a:r>
          </a:p>
        </p:txBody>
      </p:sp>
      <p:sp>
        <p:nvSpPr>
          <p:cNvPr id="13" name="Figure 7 label 12 line 1">
            <a:extLst xmlns:a="http://schemas.openxmlformats.org/drawingml/2006/main">
              <a:ext uri="{FF2B5EF4-FFF2-40B4-BE49-F238E27FC236}">
                <a16:creationId xmlns:a16="http://schemas.microsoft.com/office/drawing/2014/main" id="{01C36F69-C465-4961-B68D-7587E131EF8B}"/>
              </a:ext>
            </a:extLst>
          </p:cNvPr>
          <p:cNvSpPr>
            <a:spLocks xmlns:a="http://schemas.openxmlformats.org/drawingml/2006/main" noGrp="1"/>
          </p:cNvSpPr>
          <p:nvPr/>
        </p:nvSpPr>
        <p:spPr>
          <a:xfrm xmlns:a="http://schemas.openxmlformats.org/drawingml/2006/main" rot="0">
            <a:off x="1228328" y="4783053"/>
            <a:ext cx="441722"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125</a:t>
            </a:r>
          </a:p>
        </p:txBody>
      </p:sp>
      <p:sp>
        <p:nvSpPr>
          <p:cNvPr id="14" name="Figure 7 label 13 line 1">
            <a:extLst xmlns:a="http://schemas.openxmlformats.org/drawingml/2006/main">
              <a:ext uri="{FF2B5EF4-FFF2-40B4-BE49-F238E27FC236}">
                <a16:creationId xmlns:a16="http://schemas.microsoft.com/office/drawing/2014/main" id="{4F3BE996-0B5E-4EBC-BEDC-F2C2857F7F65}"/>
              </a:ext>
            </a:extLst>
          </p:cNvPr>
          <p:cNvSpPr>
            <a:spLocks xmlns:a="http://schemas.openxmlformats.org/drawingml/2006/main" noGrp="1"/>
          </p:cNvSpPr>
          <p:nvPr/>
        </p:nvSpPr>
        <p:spPr>
          <a:xfrm xmlns:a="http://schemas.openxmlformats.org/drawingml/2006/main" rot="0">
            <a:off x="1228328" y="4200123"/>
            <a:ext cx="441722"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150</a:t>
            </a:r>
          </a:p>
        </p:txBody>
      </p:sp>
      <p:sp>
        <p:nvSpPr>
          <p:cNvPr id="15" name="Figure 7 label 14 line 1">
            <a:extLst xmlns:a="http://schemas.openxmlformats.org/drawingml/2006/main">
              <a:ext uri="{FF2B5EF4-FFF2-40B4-BE49-F238E27FC236}">
                <a16:creationId xmlns:a16="http://schemas.microsoft.com/office/drawing/2014/main" id="{CF8FEC95-02F2-447E-9EF1-5A84FEC1D40E}"/>
              </a:ext>
            </a:extLst>
          </p:cNvPr>
          <p:cNvSpPr>
            <a:spLocks xmlns:a="http://schemas.openxmlformats.org/drawingml/2006/main" noGrp="1"/>
          </p:cNvSpPr>
          <p:nvPr/>
        </p:nvSpPr>
        <p:spPr>
          <a:xfrm xmlns:a="http://schemas.openxmlformats.org/drawingml/2006/main" rot="0">
            <a:off x="1228328" y="3617193"/>
            <a:ext cx="441722"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175</a:t>
            </a:r>
          </a:p>
        </p:txBody>
      </p:sp>
      <p:sp>
        <p:nvSpPr>
          <p:cNvPr id="16" name="Figure 7 label 15 line 1">
            <a:extLst xmlns:a="http://schemas.openxmlformats.org/drawingml/2006/main">
              <a:ext uri="{FF2B5EF4-FFF2-40B4-BE49-F238E27FC236}">
                <a16:creationId xmlns:a16="http://schemas.microsoft.com/office/drawing/2014/main" id="{A1F97339-99BF-4F0C-BA05-DD0645F813AE}"/>
              </a:ext>
            </a:extLst>
          </p:cNvPr>
          <p:cNvSpPr>
            <a:spLocks xmlns:a="http://schemas.openxmlformats.org/drawingml/2006/main" noGrp="1"/>
          </p:cNvSpPr>
          <p:nvPr/>
        </p:nvSpPr>
        <p:spPr>
          <a:xfrm xmlns:a="http://schemas.openxmlformats.org/drawingml/2006/main" rot="0">
            <a:off x="1228328" y="3034263"/>
            <a:ext cx="441722"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200</a:t>
            </a:r>
          </a:p>
        </p:txBody>
      </p:sp>
      <p:sp>
        <p:nvSpPr>
          <p:cNvPr id="17" name="Figure 7 label 16 line 1">
            <a:extLst xmlns:a="http://schemas.openxmlformats.org/drawingml/2006/main">
              <a:ext uri="{FF2B5EF4-FFF2-40B4-BE49-F238E27FC236}">
                <a16:creationId xmlns:a16="http://schemas.microsoft.com/office/drawing/2014/main" id="{A7200827-BD36-4052-8247-1ADBA99C133F}"/>
              </a:ext>
            </a:extLst>
          </p:cNvPr>
          <p:cNvSpPr>
            <a:spLocks xmlns:a="http://schemas.openxmlformats.org/drawingml/2006/main" noGrp="1"/>
          </p:cNvSpPr>
          <p:nvPr/>
        </p:nvSpPr>
        <p:spPr>
          <a:xfrm xmlns:a="http://schemas.openxmlformats.org/drawingml/2006/main" rot="0">
            <a:off x="1228328" y="2451333"/>
            <a:ext cx="441722"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225</a:t>
            </a:r>
          </a:p>
        </p:txBody>
      </p:sp>
      <p:sp>
        <p:nvSpPr>
          <p:cNvPr id="18" name="Figure 7 label 17 line 1">
            <a:extLst xmlns:a="http://schemas.openxmlformats.org/drawingml/2006/main">
              <a:ext uri="{FF2B5EF4-FFF2-40B4-BE49-F238E27FC236}">
                <a16:creationId xmlns:a16="http://schemas.microsoft.com/office/drawing/2014/main" id="{94F9D29A-97AA-4B5C-8BB0-1A668421D8E0}"/>
              </a:ext>
            </a:extLst>
          </p:cNvPr>
          <p:cNvSpPr>
            <a:spLocks xmlns:a="http://schemas.openxmlformats.org/drawingml/2006/main" noGrp="1"/>
          </p:cNvSpPr>
          <p:nvPr/>
        </p:nvSpPr>
        <p:spPr>
          <a:xfrm xmlns:a="http://schemas.openxmlformats.org/drawingml/2006/main" rot="16200000">
            <a:off x="-717610" y="5047298"/>
            <a:ext cx="385077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Cumulative incremental investment (US$bn)</a:t>
            </a:r>
          </a:p>
        </p:txBody>
      </p:sp>
      <p:sp>
        <p:nvSpPr>
          <p:cNvPr id="19" name="Figure 7 label 18 line 1">
            <a:extLst xmlns:a="http://schemas.openxmlformats.org/drawingml/2006/main">
              <a:ext uri="{FF2B5EF4-FFF2-40B4-BE49-F238E27FC236}">
                <a16:creationId xmlns:a16="http://schemas.microsoft.com/office/drawing/2014/main" id="{B363DA1D-73D9-4F78-B1BC-7E2A0DD2579E}"/>
              </a:ext>
            </a:extLst>
          </p:cNvPr>
          <p:cNvSpPr>
            <a:spLocks xmlns:a="http://schemas.openxmlformats.org/drawingml/2006/main" noGrp="1"/>
          </p:cNvSpPr>
          <p:nvPr/>
        </p:nvSpPr>
        <p:spPr>
          <a:xfrm xmlns:a="http://schemas.openxmlformats.org/drawingml/2006/main" rot="0">
            <a:off x="3037889" y="7487946"/>
            <a:ext cx="363637" cy="257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25" b="0">
                <a:solidFill>
                  <a:srgbClr val="FFFFFF"/>
                </a:solidFill>
                <a:latin typeface="Arial Unicode MS"/>
                <a:ea typeface="Arial Unicode MS"/>
                <a:cs typeface="Arial Unicode MS"/>
              </a:defRPr>
            </a:defPPr>
          </a:lstStyle>
          <a:p xmlns:a="http://schemas.openxmlformats.org/drawingml/2006/main">
            <a:pPr algn="ctr">
              <a:lnSpc>
                <a:spcPct val="100000"/>
              </a:lnSpc>
              <a:buNone/>
              <a:defRPr sz="1625" b="0">
                <a:solidFill>
                  <a:srgbClr val="FFFFFF"/>
                </a:solidFill>
                <a:latin typeface="Arial Unicode MS"/>
                <a:ea typeface="Arial Unicode MS"/>
                <a:cs typeface="Arial Unicode MS"/>
              </a:defRPr>
            </a:pPr>
            <a:r>
              <a:rPr sz="1625" b="0">
                <a:solidFill>
                  <a:srgbClr val="FFFFFF"/>
                </a:solidFill>
                <a:latin typeface="Arial Unicode MS"/>
                <a:ea typeface="Arial Unicode MS"/>
                <a:cs typeface="Arial Unicode MS"/>
              </a:rPr>
              <a:t>15</a:t>
            </a:r>
          </a:p>
        </p:txBody>
      </p:sp>
      <p:sp>
        <p:nvSpPr>
          <p:cNvPr id="20" name="Figure 7 label 19 line 1">
            <a:extLst xmlns:a="http://schemas.openxmlformats.org/drawingml/2006/main">
              <a:ext uri="{FF2B5EF4-FFF2-40B4-BE49-F238E27FC236}">
                <a16:creationId xmlns:a16="http://schemas.microsoft.com/office/drawing/2014/main" id="{3892084D-36AE-434A-956B-4728EF6B2DA0}"/>
              </a:ext>
            </a:extLst>
          </p:cNvPr>
          <p:cNvSpPr>
            <a:spLocks xmlns:a="http://schemas.openxmlformats.org/drawingml/2006/main" noGrp="1"/>
          </p:cNvSpPr>
          <p:nvPr/>
        </p:nvSpPr>
        <p:spPr>
          <a:xfrm xmlns:a="http://schemas.openxmlformats.org/drawingml/2006/main" rot="0">
            <a:off x="6859062" y="7313067"/>
            <a:ext cx="363637" cy="257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25" b="0">
                <a:solidFill>
                  <a:srgbClr val="FFFFFF"/>
                </a:solidFill>
                <a:latin typeface="Arial Unicode MS"/>
                <a:ea typeface="Arial Unicode MS"/>
                <a:cs typeface="Arial Unicode MS"/>
              </a:defRPr>
            </a:defPPr>
          </a:lstStyle>
          <a:p xmlns:a="http://schemas.openxmlformats.org/drawingml/2006/main">
            <a:pPr algn="ctr">
              <a:lnSpc>
                <a:spcPct val="100000"/>
              </a:lnSpc>
              <a:buNone/>
              <a:defRPr sz="1625" b="0">
                <a:solidFill>
                  <a:srgbClr val="FFFFFF"/>
                </a:solidFill>
                <a:latin typeface="Arial Unicode MS"/>
                <a:ea typeface="Arial Unicode MS"/>
                <a:cs typeface="Arial Unicode MS"/>
              </a:defRPr>
            </a:pPr>
            <a:r>
              <a:rPr sz="1625" b="0">
                <a:solidFill>
                  <a:srgbClr val="FFFFFF"/>
                </a:solidFill>
                <a:latin typeface="Arial Unicode MS"/>
                <a:ea typeface="Arial Unicode MS"/>
                <a:cs typeface="Arial Unicode MS"/>
              </a:rPr>
              <a:t>30</a:t>
            </a:r>
          </a:p>
        </p:txBody>
      </p:sp>
      <p:sp>
        <p:nvSpPr>
          <p:cNvPr id="21" name="Figure 7 label 20 line 1">
            <a:extLst xmlns:a="http://schemas.openxmlformats.org/drawingml/2006/main">
              <a:ext uri="{FF2B5EF4-FFF2-40B4-BE49-F238E27FC236}">
                <a16:creationId xmlns:a16="http://schemas.microsoft.com/office/drawing/2014/main" id="{3A5CD42D-27CE-4318-B7E3-ED64D2E9E138}"/>
              </a:ext>
            </a:extLst>
          </p:cNvPr>
          <p:cNvSpPr>
            <a:spLocks xmlns:a="http://schemas.openxmlformats.org/drawingml/2006/main" noGrp="1"/>
          </p:cNvSpPr>
          <p:nvPr/>
        </p:nvSpPr>
        <p:spPr>
          <a:xfrm xmlns:a="http://schemas.openxmlformats.org/drawingml/2006/main" rot="0">
            <a:off x="10680235" y="6963310"/>
            <a:ext cx="363637" cy="257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25" b="0">
                <a:solidFill>
                  <a:srgbClr val="FFFFFF"/>
                </a:solidFill>
                <a:latin typeface="Arial Unicode MS"/>
                <a:ea typeface="Arial Unicode MS"/>
                <a:cs typeface="Arial Unicode MS"/>
              </a:defRPr>
            </a:defPPr>
          </a:lstStyle>
          <a:p xmlns:a="http://schemas.openxmlformats.org/drawingml/2006/main">
            <a:pPr algn="ctr">
              <a:lnSpc>
                <a:spcPct val="100000"/>
              </a:lnSpc>
              <a:buNone/>
              <a:defRPr sz="1625" b="0">
                <a:solidFill>
                  <a:srgbClr val="FFFFFF"/>
                </a:solidFill>
                <a:latin typeface="Arial Unicode MS"/>
                <a:ea typeface="Arial Unicode MS"/>
                <a:cs typeface="Arial Unicode MS"/>
              </a:defRPr>
            </a:pPr>
            <a:r>
              <a:rPr sz="1625" b="0">
                <a:solidFill>
                  <a:srgbClr val="FFFFFF"/>
                </a:solidFill>
                <a:latin typeface="Arial Unicode MS"/>
                <a:ea typeface="Arial Unicode MS"/>
                <a:cs typeface="Arial Unicode MS"/>
              </a:rPr>
              <a:t>60</a:t>
            </a:r>
          </a:p>
        </p:txBody>
      </p:sp>
      <p:sp>
        <p:nvSpPr>
          <p:cNvPr id="22" name="Figure 7 label 21 line 1">
            <a:extLst xmlns:a="http://schemas.openxmlformats.org/drawingml/2006/main">
              <a:ext uri="{FF2B5EF4-FFF2-40B4-BE49-F238E27FC236}">
                <a16:creationId xmlns:a16="http://schemas.microsoft.com/office/drawing/2014/main" id="{82B20B7C-1A21-4942-B995-9E2CA5A0AA97}"/>
              </a:ext>
            </a:extLst>
          </p:cNvPr>
          <p:cNvSpPr>
            <a:spLocks xmlns:a="http://schemas.openxmlformats.org/drawingml/2006/main" noGrp="1"/>
          </p:cNvSpPr>
          <p:nvPr/>
        </p:nvSpPr>
        <p:spPr>
          <a:xfrm xmlns:a="http://schemas.openxmlformats.org/drawingml/2006/main" rot="0">
            <a:off x="2951792" y="7167335"/>
            <a:ext cx="535831" cy="257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2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625" b="0">
                <a:solidFill>
                  <a:srgbClr val="00355F"/>
                </a:solidFill>
                <a:latin typeface="Arial Unicode MS"/>
                <a:ea typeface="Arial Unicode MS"/>
                <a:cs typeface="Arial Unicode MS"/>
              </a:defRPr>
            </a:pPr>
            <a:r>
              <a:rPr sz="1625" b="0">
                <a:solidFill>
                  <a:srgbClr val="00355F"/>
                </a:solidFill>
                <a:latin typeface="Arial Unicode MS"/>
                <a:ea typeface="Arial Unicode MS"/>
                <a:cs typeface="Arial Unicode MS"/>
              </a:rPr>
              <a:t>12.5</a:t>
            </a:r>
          </a:p>
        </p:txBody>
      </p:sp>
      <p:sp>
        <p:nvSpPr>
          <p:cNvPr id="23" name="Figure 7 label 22 line 1">
            <a:extLst xmlns:a="http://schemas.openxmlformats.org/drawingml/2006/main">
              <a:ext uri="{FF2B5EF4-FFF2-40B4-BE49-F238E27FC236}">
                <a16:creationId xmlns:a16="http://schemas.microsoft.com/office/drawing/2014/main" id="{B823CD3F-318F-4BEC-A164-A551AD79DD54}"/>
              </a:ext>
            </a:extLst>
          </p:cNvPr>
          <p:cNvSpPr>
            <a:spLocks xmlns:a="http://schemas.openxmlformats.org/drawingml/2006/main" noGrp="1"/>
          </p:cNvSpPr>
          <p:nvPr/>
        </p:nvSpPr>
        <p:spPr>
          <a:xfrm xmlns:a="http://schemas.openxmlformats.org/drawingml/2006/main" rot="0">
            <a:off x="6859062" y="6671845"/>
            <a:ext cx="363637" cy="257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2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625" b="0">
                <a:solidFill>
                  <a:srgbClr val="00355F"/>
                </a:solidFill>
                <a:latin typeface="Arial Unicode MS"/>
                <a:ea typeface="Arial Unicode MS"/>
                <a:cs typeface="Arial Unicode MS"/>
              </a:defRPr>
            </a:pPr>
            <a:r>
              <a:rPr sz="1625" b="0">
                <a:solidFill>
                  <a:srgbClr val="00355F"/>
                </a:solidFill>
                <a:latin typeface="Arial Unicode MS"/>
                <a:ea typeface="Arial Unicode MS"/>
                <a:cs typeface="Arial Unicode MS"/>
              </a:rPr>
              <a:t>25</a:t>
            </a:r>
          </a:p>
        </p:txBody>
      </p:sp>
      <p:sp>
        <p:nvSpPr>
          <p:cNvPr id="24" name="Figure 7 label 23 line 1">
            <a:extLst xmlns:a="http://schemas.openxmlformats.org/drawingml/2006/main">
              <a:ext uri="{FF2B5EF4-FFF2-40B4-BE49-F238E27FC236}">
                <a16:creationId xmlns:a16="http://schemas.microsoft.com/office/drawing/2014/main" id="{102E3808-140F-4B35-9C4D-6C97BF015F9D}"/>
              </a:ext>
            </a:extLst>
          </p:cNvPr>
          <p:cNvSpPr>
            <a:spLocks xmlns:a="http://schemas.openxmlformats.org/drawingml/2006/main" noGrp="1"/>
          </p:cNvSpPr>
          <p:nvPr/>
        </p:nvSpPr>
        <p:spPr>
          <a:xfrm xmlns:a="http://schemas.openxmlformats.org/drawingml/2006/main" rot="0">
            <a:off x="10680235" y="5680863"/>
            <a:ext cx="363637" cy="257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2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625" b="0">
                <a:solidFill>
                  <a:srgbClr val="00355F"/>
                </a:solidFill>
                <a:latin typeface="Arial Unicode MS"/>
                <a:ea typeface="Arial Unicode MS"/>
                <a:cs typeface="Arial Unicode MS"/>
              </a:defRPr>
            </a:pPr>
            <a:r>
              <a:rPr sz="1625" b="0">
                <a:solidFill>
                  <a:srgbClr val="00355F"/>
                </a:solidFill>
                <a:latin typeface="Arial Unicode MS"/>
                <a:ea typeface="Arial Unicode MS"/>
                <a:cs typeface="Arial Unicode MS"/>
              </a:rPr>
              <a:t>50</a:t>
            </a:r>
          </a:p>
        </p:txBody>
      </p:sp>
      <p:sp>
        <p:nvSpPr>
          <p:cNvPr id="25" name="Figure 7 label 24 line 1">
            <a:extLst xmlns:a="http://schemas.openxmlformats.org/drawingml/2006/main">
              <a:ext uri="{FF2B5EF4-FFF2-40B4-BE49-F238E27FC236}">
                <a16:creationId xmlns:a16="http://schemas.microsoft.com/office/drawing/2014/main" id="{242D4EF0-4C6B-46CA-AC69-12C76132A8F8}"/>
              </a:ext>
            </a:extLst>
          </p:cNvPr>
          <p:cNvSpPr>
            <a:spLocks xmlns:a="http://schemas.openxmlformats.org/drawingml/2006/main" noGrp="1"/>
          </p:cNvSpPr>
          <p:nvPr/>
        </p:nvSpPr>
        <p:spPr>
          <a:xfrm xmlns:a="http://schemas.openxmlformats.org/drawingml/2006/main" rot="0">
            <a:off x="3037889" y="6905017"/>
            <a:ext cx="363637" cy="257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2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625" b="0">
                <a:solidFill>
                  <a:srgbClr val="00355F"/>
                </a:solidFill>
                <a:latin typeface="Arial Unicode MS"/>
                <a:ea typeface="Arial Unicode MS"/>
                <a:cs typeface="Arial Unicode MS"/>
              </a:defRPr>
            </a:pPr>
            <a:r>
              <a:rPr sz="1625" b="0">
                <a:solidFill>
                  <a:srgbClr val="00355F"/>
                </a:solidFill>
                <a:latin typeface="Arial Unicode MS"/>
                <a:ea typeface="Arial Unicode MS"/>
                <a:cs typeface="Arial Unicode MS"/>
              </a:rPr>
              <a:t>10</a:t>
            </a:r>
          </a:p>
        </p:txBody>
      </p:sp>
      <p:sp>
        <p:nvSpPr>
          <p:cNvPr id="26" name="Figure 7 label 25 line 1">
            <a:extLst xmlns:a="http://schemas.openxmlformats.org/drawingml/2006/main">
              <a:ext uri="{FF2B5EF4-FFF2-40B4-BE49-F238E27FC236}">
                <a16:creationId xmlns:a16="http://schemas.microsoft.com/office/drawing/2014/main" id="{F80E6B16-B45D-4A00-84A5-67646E0153DF}"/>
              </a:ext>
            </a:extLst>
          </p:cNvPr>
          <p:cNvSpPr>
            <a:spLocks xmlns:a="http://schemas.openxmlformats.org/drawingml/2006/main" noGrp="1"/>
          </p:cNvSpPr>
          <p:nvPr/>
        </p:nvSpPr>
        <p:spPr>
          <a:xfrm xmlns:a="http://schemas.openxmlformats.org/drawingml/2006/main" rot="0">
            <a:off x="6859062" y="6147208"/>
            <a:ext cx="363637" cy="257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2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625" b="0">
                <a:solidFill>
                  <a:srgbClr val="00355F"/>
                </a:solidFill>
                <a:latin typeface="Arial Unicode MS"/>
                <a:ea typeface="Arial Unicode MS"/>
                <a:cs typeface="Arial Unicode MS"/>
              </a:defRPr>
            </a:pPr>
            <a:r>
              <a:rPr sz="1625" b="0">
                <a:solidFill>
                  <a:srgbClr val="00355F"/>
                </a:solidFill>
                <a:latin typeface="Arial Unicode MS"/>
                <a:ea typeface="Arial Unicode MS"/>
                <a:cs typeface="Arial Unicode MS"/>
              </a:rPr>
              <a:t>20</a:t>
            </a:r>
          </a:p>
        </p:txBody>
      </p:sp>
      <p:sp>
        <p:nvSpPr>
          <p:cNvPr id="27" name="Figure 7 label 26 line 1">
            <a:extLst xmlns:a="http://schemas.openxmlformats.org/drawingml/2006/main">
              <a:ext uri="{FF2B5EF4-FFF2-40B4-BE49-F238E27FC236}">
                <a16:creationId xmlns:a16="http://schemas.microsoft.com/office/drawing/2014/main" id="{0754D3D2-FFAF-4A35-BBF1-3E1FEC6FDA5D}"/>
              </a:ext>
            </a:extLst>
          </p:cNvPr>
          <p:cNvSpPr>
            <a:spLocks xmlns:a="http://schemas.openxmlformats.org/drawingml/2006/main" noGrp="1"/>
          </p:cNvSpPr>
          <p:nvPr/>
        </p:nvSpPr>
        <p:spPr>
          <a:xfrm xmlns:a="http://schemas.openxmlformats.org/drawingml/2006/main" rot="0">
            <a:off x="10680235" y="4631589"/>
            <a:ext cx="363637" cy="257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2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625" b="0">
                <a:solidFill>
                  <a:srgbClr val="00355F"/>
                </a:solidFill>
                <a:latin typeface="Arial Unicode MS"/>
                <a:ea typeface="Arial Unicode MS"/>
                <a:cs typeface="Arial Unicode MS"/>
              </a:defRPr>
            </a:pPr>
            <a:r>
              <a:rPr sz="1625" b="0">
                <a:solidFill>
                  <a:srgbClr val="00355F"/>
                </a:solidFill>
                <a:latin typeface="Arial Unicode MS"/>
                <a:ea typeface="Arial Unicode MS"/>
                <a:cs typeface="Arial Unicode MS"/>
              </a:rPr>
              <a:t>40</a:t>
            </a:r>
          </a:p>
        </p:txBody>
      </p:sp>
      <p:sp>
        <p:nvSpPr>
          <p:cNvPr id="28" name="Figure 7 label 27 line 1">
            <a:extLst xmlns:a="http://schemas.openxmlformats.org/drawingml/2006/main">
              <a:ext uri="{FF2B5EF4-FFF2-40B4-BE49-F238E27FC236}">
                <a16:creationId xmlns:a16="http://schemas.microsoft.com/office/drawing/2014/main" id="{B789E5E4-2F0D-4EB7-9C75-8B2BB41757C9}"/>
              </a:ext>
            </a:extLst>
          </p:cNvPr>
          <p:cNvSpPr>
            <a:spLocks xmlns:a="http://schemas.openxmlformats.org/drawingml/2006/main" noGrp="1"/>
          </p:cNvSpPr>
          <p:nvPr/>
        </p:nvSpPr>
        <p:spPr>
          <a:xfrm xmlns:a="http://schemas.openxmlformats.org/drawingml/2006/main" rot="0">
            <a:off x="4892768" y="6788431"/>
            <a:ext cx="421084" cy="257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25" b="0">
                <a:solidFill>
                  <a:srgbClr val="00355F"/>
                </a:solidFill>
                <a:latin typeface="Arial Unicode MS"/>
                <a:ea typeface="Arial Unicode MS"/>
                <a:cs typeface="Arial Unicode MS"/>
              </a:defRPr>
            </a:defPPr>
          </a:lstStyle>
          <a:p xmlns:a="http://schemas.openxmlformats.org/drawingml/2006/main">
            <a:pPr algn="l">
              <a:lnSpc>
                <a:spcPct val="100000"/>
              </a:lnSpc>
              <a:buNone/>
              <a:defRPr sz="1625" b="0">
                <a:solidFill>
                  <a:srgbClr val="00355F"/>
                </a:solidFill>
                <a:latin typeface="Arial Unicode MS"/>
                <a:ea typeface="Arial Unicode MS"/>
                <a:cs typeface="Arial Unicode MS"/>
              </a:defRPr>
            </a:pPr>
            <a:r>
              <a:rPr sz="1625" b="0">
                <a:solidFill>
                  <a:srgbClr val="00355F"/>
                </a:solidFill>
                <a:latin typeface="Arial Unicode MS"/>
                <a:ea typeface="Arial Unicode MS"/>
                <a:cs typeface="Arial Unicode MS"/>
              </a:rPr>
              <a:t>7.5</a:t>
            </a:r>
          </a:p>
        </p:txBody>
      </p:sp>
      <p:sp>
        <p:nvSpPr>
          <p:cNvPr id="29" name="Figure 7 label 28 line 1">
            <a:extLst xmlns:a="http://schemas.openxmlformats.org/drawingml/2006/main">
              <a:ext uri="{FF2B5EF4-FFF2-40B4-BE49-F238E27FC236}">
                <a16:creationId xmlns:a16="http://schemas.microsoft.com/office/drawing/2014/main" id="{CA7B6BF0-9263-4522-9496-E28524684E36}"/>
              </a:ext>
            </a:extLst>
          </p:cNvPr>
          <p:cNvSpPr>
            <a:spLocks xmlns:a="http://schemas.openxmlformats.org/drawingml/2006/main" noGrp="1"/>
          </p:cNvSpPr>
          <p:nvPr/>
        </p:nvSpPr>
        <p:spPr>
          <a:xfrm xmlns:a="http://schemas.openxmlformats.org/drawingml/2006/main" rot="0">
            <a:off x="6859062" y="5739156"/>
            <a:ext cx="363637" cy="257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2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625" b="0">
                <a:solidFill>
                  <a:srgbClr val="00355F"/>
                </a:solidFill>
                <a:latin typeface="Arial Unicode MS"/>
                <a:ea typeface="Arial Unicode MS"/>
                <a:cs typeface="Arial Unicode MS"/>
              </a:defRPr>
            </a:pPr>
            <a:r>
              <a:rPr sz="1625" b="0">
                <a:solidFill>
                  <a:srgbClr val="00355F"/>
                </a:solidFill>
                <a:latin typeface="Arial Unicode MS"/>
                <a:ea typeface="Arial Unicode MS"/>
                <a:cs typeface="Arial Unicode MS"/>
              </a:rPr>
              <a:t>15</a:t>
            </a:r>
          </a:p>
        </p:txBody>
      </p:sp>
      <p:sp>
        <p:nvSpPr>
          <p:cNvPr id="30" name="Figure 7 label 29 line 1">
            <a:extLst xmlns:a="http://schemas.openxmlformats.org/drawingml/2006/main">
              <a:ext uri="{FF2B5EF4-FFF2-40B4-BE49-F238E27FC236}">
                <a16:creationId xmlns:a16="http://schemas.microsoft.com/office/drawing/2014/main" id="{72898605-427E-49FA-88A9-B2DBFC19E997}"/>
              </a:ext>
            </a:extLst>
          </p:cNvPr>
          <p:cNvSpPr>
            <a:spLocks xmlns:a="http://schemas.openxmlformats.org/drawingml/2006/main" noGrp="1"/>
          </p:cNvSpPr>
          <p:nvPr/>
        </p:nvSpPr>
        <p:spPr>
          <a:xfrm xmlns:a="http://schemas.openxmlformats.org/drawingml/2006/main" rot="0">
            <a:off x="10680235" y="3815487"/>
            <a:ext cx="363637" cy="257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2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625" b="0">
                <a:solidFill>
                  <a:srgbClr val="00355F"/>
                </a:solidFill>
                <a:latin typeface="Arial Unicode MS"/>
                <a:ea typeface="Arial Unicode MS"/>
                <a:cs typeface="Arial Unicode MS"/>
              </a:defRPr>
            </a:pPr>
            <a:r>
              <a:rPr sz="1625" b="0">
                <a:solidFill>
                  <a:srgbClr val="00355F"/>
                </a:solidFill>
                <a:latin typeface="Arial Unicode MS"/>
                <a:ea typeface="Arial Unicode MS"/>
                <a:cs typeface="Arial Unicode MS"/>
              </a:rPr>
              <a:t>30</a:t>
            </a:r>
          </a:p>
        </p:txBody>
      </p:sp>
      <p:sp>
        <p:nvSpPr>
          <p:cNvPr id="31" name="Figure 7 label 30 line 1">
            <a:extLst xmlns:a="http://schemas.openxmlformats.org/drawingml/2006/main">
              <a:ext uri="{FF2B5EF4-FFF2-40B4-BE49-F238E27FC236}">
                <a16:creationId xmlns:a16="http://schemas.microsoft.com/office/drawing/2014/main" id="{097EA6AD-D601-4907-B987-5BB45404F340}"/>
              </a:ext>
            </a:extLst>
          </p:cNvPr>
          <p:cNvSpPr>
            <a:spLocks xmlns:a="http://schemas.openxmlformats.org/drawingml/2006/main" noGrp="1"/>
          </p:cNvSpPr>
          <p:nvPr/>
        </p:nvSpPr>
        <p:spPr>
          <a:xfrm xmlns:a="http://schemas.openxmlformats.org/drawingml/2006/main" rot="0">
            <a:off x="4892768" y="6427014"/>
            <a:ext cx="248890" cy="257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25" b="0">
                <a:solidFill>
                  <a:srgbClr val="00355F"/>
                </a:solidFill>
                <a:latin typeface="Arial Unicode MS"/>
                <a:ea typeface="Arial Unicode MS"/>
                <a:cs typeface="Arial Unicode MS"/>
              </a:defRPr>
            </a:defPPr>
          </a:lstStyle>
          <a:p xmlns:a="http://schemas.openxmlformats.org/drawingml/2006/main">
            <a:pPr algn="l">
              <a:lnSpc>
                <a:spcPct val="100000"/>
              </a:lnSpc>
              <a:buNone/>
              <a:defRPr sz="1625" b="0">
                <a:solidFill>
                  <a:srgbClr val="00355F"/>
                </a:solidFill>
                <a:latin typeface="Arial Unicode MS"/>
                <a:ea typeface="Arial Unicode MS"/>
                <a:cs typeface="Arial Unicode MS"/>
              </a:defRPr>
            </a:pPr>
            <a:r>
              <a:rPr sz="1625" b="0">
                <a:solidFill>
                  <a:srgbClr val="00355F"/>
                </a:solidFill>
                <a:latin typeface="Arial Unicode MS"/>
                <a:ea typeface="Arial Unicode MS"/>
                <a:cs typeface="Arial Unicode MS"/>
              </a:rPr>
              <a:t>5</a:t>
            </a:r>
          </a:p>
        </p:txBody>
      </p:sp>
      <p:sp>
        <p:nvSpPr>
          <p:cNvPr id="32" name="Figure 7 label 31 line 1">
            <a:extLst xmlns:a="http://schemas.openxmlformats.org/drawingml/2006/main">
              <a:ext uri="{FF2B5EF4-FFF2-40B4-BE49-F238E27FC236}">
                <a16:creationId xmlns:a16="http://schemas.microsoft.com/office/drawing/2014/main" id="{14752515-6EA0-46B8-ABA5-EAE899656BFA}"/>
              </a:ext>
            </a:extLst>
          </p:cNvPr>
          <p:cNvSpPr>
            <a:spLocks xmlns:a="http://schemas.openxmlformats.org/drawingml/2006/main" noGrp="1"/>
          </p:cNvSpPr>
          <p:nvPr/>
        </p:nvSpPr>
        <p:spPr>
          <a:xfrm xmlns:a="http://schemas.openxmlformats.org/drawingml/2006/main" rot="0">
            <a:off x="6859062" y="5447691"/>
            <a:ext cx="363637" cy="257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25" b="0">
                <a:solidFill>
                  <a:srgbClr val="FFFFFF"/>
                </a:solidFill>
                <a:latin typeface="Arial Unicode MS"/>
                <a:ea typeface="Arial Unicode MS"/>
                <a:cs typeface="Arial Unicode MS"/>
              </a:defRPr>
            </a:defPPr>
          </a:lstStyle>
          <a:p xmlns:a="http://schemas.openxmlformats.org/drawingml/2006/main">
            <a:pPr algn="ctr">
              <a:lnSpc>
                <a:spcPct val="100000"/>
              </a:lnSpc>
              <a:buNone/>
              <a:defRPr sz="1625" b="0">
                <a:solidFill>
                  <a:srgbClr val="FFFFFF"/>
                </a:solidFill>
                <a:latin typeface="Arial Unicode MS"/>
                <a:ea typeface="Arial Unicode MS"/>
                <a:cs typeface="Arial Unicode MS"/>
              </a:defRPr>
            </a:pPr>
            <a:r>
              <a:rPr sz="1625" b="0">
                <a:solidFill>
                  <a:srgbClr val="FFFFFF"/>
                </a:solidFill>
                <a:latin typeface="Arial Unicode MS"/>
                <a:ea typeface="Arial Unicode MS"/>
                <a:cs typeface="Arial Unicode MS"/>
              </a:rPr>
              <a:t>10</a:t>
            </a:r>
          </a:p>
        </p:txBody>
      </p:sp>
      <p:sp>
        <p:nvSpPr>
          <p:cNvPr id="33" name="Figure 7 label 32 line 1">
            <a:extLst xmlns:a="http://schemas.openxmlformats.org/drawingml/2006/main">
              <a:ext uri="{FF2B5EF4-FFF2-40B4-BE49-F238E27FC236}">
                <a16:creationId xmlns:a16="http://schemas.microsoft.com/office/drawing/2014/main" id="{41285F24-B942-4747-89D4-F00CCB44CB9D}"/>
              </a:ext>
            </a:extLst>
          </p:cNvPr>
          <p:cNvSpPr>
            <a:spLocks xmlns:a="http://schemas.openxmlformats.org/drawingml/2006/main" noGrp="1"/>
          </p:cNvSpPr>
          <p:nvPr/>
        </p:nvSpPr>
        <p:spPr>
          <a:xfrm xmlns:a="http://schemas.openxmlformats.org/drawingml/2006/main" rot="0">
            <a:off x="10680235" y="3232557"/>
            <a:ext cx="363637" cy="257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25" b="0">
                <a:solidFill>
                  <a:srgbClr val="FFFFFF"/>
                </a:solidFill>
                <a:latin typeface="Arial Unicode MS"/>
                <a:ea typeface="Arial Unicode MS"/>
                <a:cs typeface="Arial Unicode MS"/>
              </a:defRPr>
            </a:defPPr>
          </a:lstStyle>
          <a:p xmlns:a="http://schemas.openxmlformats.org/drawingml/2006/main">
            <a:pPr algn="ctr">
              <a:lnSpc>
                <a:spcPct val="100000"/>
              </a:lnSpc>
              <a:buNone/>
              <a:defRPr sz="1625" b="0">
                <a:solidFill>
                  <a:srgbClr val="FFFFFF"/>
                </a:solidFill>
                <a:latin typeface="Arial Unicode MS"/>
                <a:ea typeface="Arial Unicode MS"/>
                <a:cs typeface="Arial Unicode MS"/>
              </a:defRPr>
            </a:pPr>
            <a:r>
              <a:rPr sz="1625" b="0">
                <a:solidFill>
                  <a:srgbClr val="FFFFFF"/>
                </a:solidFill>
                <a:latin typeface="Arial Unicode MS"/>
                <a:ea typeface="Arial Unicode MS"/>
                <a:cs typeface="Arial Unicode MS"/>
              </a:rPr>
              <a:t>20</a:t>
            </a:r>
          </a:p>
        </p:txBody>
      </p:sp>
      <p:sp>
        <p:nvSpPr>
          <p:cNvPr id="34" name="Figure 7 label 33 line 1">
            <a:extLst xmlns:a="http://schemas.openxmlformats.org/drawingml/2006/main">
              <a:ext uri="{FF2B5EF4-FFF2-40B4-BE49-F238E27FC236}">
                <a16:creationId xmlns:a16="http://schemas.microsoft.com/office/drawing/2014/main" id="{B3EC58B6-6FFC-4FAA-8BA0-6A5D4882A677}"/>
              </a:ext>
            </a:extLst>
          </p:cNvPr>
          <p:cNvSpPr>
            <a:spLocks xmlns:a="http://schemas.openxmlformats.org/drawingml/2006/main" noGrp="1"/>
          </p:cNvSpPr>
          <p:nvPr/>
        </p:nvSpPr>
        <p:spPr>
          <a:xfrm xmlns:a="http://schemas.openxmlformats.org/drawingml/2006/main" rot="0">
            <a:off x="2967890" y="6250381"/>
            <a:ext cx="503634"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250" b="1">
                <a:solidFill>
                  <a:srgbClr val="00355F"/>
                </a:solidFill>
                <a:latin typeface="Arial Unicode MS"/>
                <a:ea typeface="Arial Unicode MS"/>
                <a:cs typeface="Arial Unicode MS"/>
              </a:defRPr>
            </a:defPPr>
          </a:lstStyle>
          <a:p xmlns:a="http://schemas.openxmlformats.org/drawingml/2006/main">
            <a:pPr algn="ctr">
              <a:lnSpc>
                <a:spcPct val="100000"/>
              </a:lnSpc>
              <a:buNone/>
              <a:defRPr sz="2250" b="1">
                <a:solidFill>
                  <a:srgbClr val="00355F"/>
                </a:solidFill>
                <a:latin typeface="Arial Unicode MS"/>
                <a:ea typeface="Arial Unicode MS"/>
                <a:cs typeface="Arial Unicode MS"/>
              </a:defRPr>
            </a:pPr>
            <a:r>
              <a:rPr sz="2250" b="1">
                <a:solidFill>
                  <a:srgbClr val="00355F"/>
                </a:solidFill>
                <a:latin typeface="Arial Unicode MS"/>
                <a:ea typeface="Arial Unicode MS"/>
                <a:cs typeface="Arial Unicode MS"/>
              </a:rPr>
              <a:t>50</a:t>
            </a:r>
          </a:p>
        </p:txBody>
      </p:sp>
      <p:sp>
        <p:nvSpPr>
          <p:cNvPr id="35" name="Figure 7 label 34 line 1">
            <a:extLst xmlns:a="http://schemas.openxmlformats.org/drawingml/2006/main">
              <a:ext uri="{FF2B5EF4-FFF2-40B4-BE49-F238E27FC236}">
                <a16:creationId xmlns:a16="http://schemas.microsoft.com/office/drawing/2014/main" id="{0BFC12AB-F801-4163-B46A-B3A888A3D7DC}"/>
              </a:ext>
            </a:extLst>
          </p:cNvPr>
          <p:cNvSpPr>
            <a:spLocks xmlns:a="http://schemas.openxmlformats.org/drawingml/2006/main" noGrp="1"/>
          </p:cNvSpPr>
          <p:nvPr/>
        </p:nvSpPr>
        <p:spPr>
          <a:xfrm xmlns:a="http://schemas.openxmlformats.org/drawingml/2006/main" rot="0">
            <a:off x="6709589" y="5084522"/>
            <a:ext cx="662583"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250" b="1">
                <a:solidFill>
                  <a:srgbClr val="00355F"/>
                </a:solidFill>
                <a:latin typeface="Arial Unicode MS"/>
                <a:ea typeface="Arial Unicode MS"/>
                <a:cs typeface="Arial Unicode MS"/>
              </a:defRPr>
            </a:defPPr>
          </a:lstStyle>
          <a:p xmlns:a="http://schemas.openxmlformats.org/drawingml/2006/main">
            <a:pPr algn="ctr">
              <a:lnSpc>
                <a:spcPct val="100000"/>
              </a:lnSpc>
              <a:buNone/>
              <a:defRPr sz="2250" b="1">
                <a:solidFill>
                  <a:srgbClr val="00355F"/>
                </a:solidFill>
                <a:latin typeface="Arial Unicode MS"/>
                <a:ea typeface="Arial Unicode MS"/>
                <a:cs typeface="Arial Unicode MS"/>
              </a:defRPr>
            </a:pPr>
            <a:r>
              <a:rPr sz="2250" b="1">
                <a:solidFill>
                  <a:srgbClr val="00355F"/>
                </a:solidFill>
                <a:latin typeface="Arial Unicode MS"/>
                <a:ea typeface="Arial Unicode MS"/>
                <a:cs typeface="Arial Unicode MS"/>
              </a:rPr>
              <a:t>100</a:t>
            </a:r>
          </a:p>
        </p:txBody>
      </p:sp>
      <p:sp>
        <p:nvSpPr>
          <p:cNvPr id="36" name="Figure 7 label 35 line 1">
            <a:extLst xmlns:a="http://schemas.openxmlformats.org/drawingml/2006/main">
              <a:ext uri="{FF2B5EF4-FFF2-40B4-BE49-F238E27FC236}">
                <a16:creationId xmlns:a16="http://schemas.microsoft.com/office/drawing/2014/main" id="{944313B1-C6BC-4503-AA54-6899A678226A}"/>
              </a:ext>
            </a:extLst>
          </p:cNvPr>
          <p:cNvSpPr>
            <a:spLocks xmlns:a="http://schemas.openxmlformats.org/drawingml/2006/main" noGrp="1"/>
          </p:cNvSpPr>
          <p:nvPr/>
        </p:nvSpPr>
        <p:spPr>
          <a:xfrm xmlns:a="http://schemas.openxmlformats.org/drawingml/2006/main" rot="0">
            <a:off x="10530762" y="2752801"/>
            <a:ext cx="662583" cy="3571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250" b="1">
                <a:solidFill>
                  <a:srgbClr val="00355F"/>
                </a:solidFill>
                <a:latin typeface="Arial Unicode MS"/>
                <a:ea typeface="Arial Unicode MS"/>
                <a:cs typeface="Arial Unicode MS"/>
              </a:defRPr>
            </a:defPPr>
          </a:lstStyle>
          <a:p xmlns:a="http://schemas.openxmlformats.org/drawingml/2006/main">
            <a:pPr algn="ctr">
              <a:lnSpc>
                <a:spcPct val="100000"/>
              </a:lnSpc>
              <a:buNone/>
              <a:defRPr sz="2250" b="1">
                <a:solidFill>
                  <a:srgbClr val="00355F"/>
                </a:solidFill>
                <a:latin typeface="Arial Unicode MS"/>
                <a:ea typeface="Arial Unicode MS"/>
                <a:cs typeface="Arial Unicode MS"/>
              </a:defRPr>
            </a:pPr>
            <a:r>
              <a:rPr sz="2250" b="1">
                <a:solidFill>
                  <a:srgbClr val="00355F"/>
                </a:solidFill>
                <a:latin typeface="Arial Unicode MS"/>
                <a:ea typeface="Arial Unicode MS"/>
                <a:cs typeface="Arial Unicode MS"/>
              </a:rPr>
              <a:t>200</a:t>
            </a:r>
          </a:p>
        </p:txBody>
      </p:sp>
      <p:sp>
        <p:nvSpPr>
          <p:cNvPr id="37" name="Figure 7 label 36 line 1">
            <a:extLst xmlns:a="http://schemas.openxmlformats.org/drawingml/2006/main">
              <a:ext uri="{FF2B5EF4-FFF2-40B4-BE49-F238E27FC236}">
                <a16:creationId xmlns:a16="http://schemas.microsoft.com/office/drawing/2014/main" id="{186E0189-D0DE-4F69-BF3E-D71AF1544268}"/>
              </a:ext>
            </a:extLst>
          </p:cNvPr>
          <p:cNvSpPr>
            <a:spLocks xmlns:a="http://schemas.openxmlformats.org/drawingml/2006/main" noGrp="1"/>
          </p:cNvSpPr>
          <p:nvPr/>
        </p:nvSpPr>
        <p:spPr>
          <a:xfrm xmlns:a="http://schemas.openxmlformats.org/drawingml/2006/main" rot="0">
            <a:off x="991870" y="421675"/>
            <a:ext cx="7155557" cy="436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750" b="1">
                <a:solidFill>
                  <a:srgbClr val="00355F"/>
                </a:solidFill>
                <a:latin typeface="Arial Unicode MS"/>
                <a:ea typeface="Arial Unicode MS"/>
                <a:cs typeface="Arial Unicode MS"/>
              </a:defRPr>
            </a:defPPr>
          </a:lstStyle>
          <a:p xmlns:a="http://schemas.openxmlformats.org/drawingml/2006/main">
            <a:pPr algn="l">
              <a:lnSpc>
                <a:spcPct val="100000"/>
              </a:lnSpc>
              <a:buNone/>
              <a:defRPr sz="2750" b="1">
                <a:solidFill>
                  <a:srgbClr val="00355F"/>
                </a:solidFill>
                <a:latin typeface="Arial Unicode MS"/>
                <a:ea typeface="Arial Unicode MS"/>
                <a:cs typeface="Arial Unicode MS"/>
              </a:defRPr>
            </a:pPr>
            <a:r>
              <a:rPr sz="2750" b="1">
                <a:solidFill>
                  <a:srgbClr val="00355F"/>
                </a:solidFill>
                <a:latin typeface="Arial Unicode MS"/>
                <a:ea typeface="Arial Unicode MS"/>
                <a:cs typeface="Arial Unicode MS"/>
              </a:rPr>
              <a:t>07  Illustrative AI-driven investment scenarios</a:t>
            </a:r>
          </a:p>
        </p:txBody>
      </p:sp>
      <p:sp>
        <p:nvSpPr>
          <p:cNvPr id="38" name="Figure 7 label 37 line 1">
            <a:extLst xmlns:a="http://schemas.openxmlformats.org/drawingml/2006/main">
              <a:ext uri="{FF2B5EF4-FFF2-40B4-BE49-F238E27FC236}">
                <a16:creationId xmlns:a16="http://schemas.microsoft.com/office/drawing/2014/main" id="{A22F1FC7-CE4B-42BA-822C-4A2EB240775E}"/>
              </a:ext>
            </a:extLst>
          </p:cNvPr>
          <p:cNvSpPr>
            <a:spLocks xmlns:a="http://schemas.openxmlformats.org/drawingml/2006/main" noGrp="1"/>
          </p:cNvSpPr>
          <p:nvPr/>
        </p:nvSpPr>
        <p:spPr>
          <a:xfrm xmlns:a="http://schemas.openxmlformats.org/drawingml/2006/main" rot="0">
            <a:off x="15787788" y="661601"/>
            <a:ext cx="885627" cy="188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188"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188" b="0">
                <a:solidFill>
                  <a:srgbClr val="00355F"/>
                </a:solidFill>
                <a:latin typeface="Arial Unicode MS"/>
                <a:ea typeface="Arial Unicode MS"/>
                <a:cs typeface="Arial Unicode MS"/>
              </a:defRPr>
            </a:pPr>
            <a:r>
              <a:rPr sz="1188" b="0">
                <a:solidFill>
                  <a:srgbClr val="00355F"/>
                </a:solidFill>
                <a:latin typeface="Arial Unicode MS"/>
                <a:ea typeface="Arial Unicode MS"/>
                <a:cs typeface="Arial Unicode MS"/>
              </a:rPr>
              <a:t>SCENARIO</a:t>
            </a:r>
          </a:p>
        </p:txBody>
      </p:sp>
      <p:sp>
        <p:nvSpPr>
          <p:cNvPr id="39" name="Figure 7 label 38 line 1">
            <a:extLst xmlns:a="http://schemas.openxmlformats.org/drawingml/2006/main">
              <a:ext uri="{FF2B5EF4-FFF2-40B4-BE49-F238E27FC236}">
                <a16:creationId xmlns:a16="http://schemas.microsoft.com/office/drawing/2014/main" id="{4517D7A7-A30E-4FBA-9915-05133F4BC571}"/>
              </a:ext>
            </a:extLst>
          </p:cNvPr>
          <p:cNvSpPr>
            <a:spLocks xmlns:a="http://schemas.openxmlformats.org/drawingml/2006/main" noGrp="1"/>
          </p:cNvSpPr>
          <p:nvPr/>
        </p:nvSpPr>
        <p:spPr>
          <a:xfrm xmlns:a="http://schemas.openxmlformats.org/drawingml/2006/main" rot="0">
            <a:off x="998220" y="1255678"/>
            <a:ext cx="842575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US$50bn / 100bn / 200bn are illustrative cumulative investment pools; no time horizon is specified.</a:t>
            </a:r>
          </a:p>
        </p:txBody>
      </p:sp>
      <p:sp>
        <p:nvSpPr>
          <p:cNvPr id="40" name="Figure 7 label 39 line 1">
            <a:extLst xmlns:a="http://schemas.openxmlformats.org/drawingml/2006/main">
              <a:ext uri="{FF2B5EF4-FFF2-40B4-BE49-F238E27FC236}">
                <a16:creationId xmlns:a16="http://schemas.microsoft.com/office/drawing/2014/main" id="{EBC42F64-4D2A-4D74-A0A3-060AAFD64FFD}"/>
              </a:ext>
            </a:extLst>
          </p:cNvPr>
          <p:cNvSpPr>
            <a:spLocks xmlns:a="http://schemas.openxmlformats.org/drawingml/2006/main" noGrp="1"/>
          </p:cNvSpPr>
          <p:nvPr/>
        </p:nvSpPr>
        <p:spPr>
          <a:xfrm xmlns:a="http://schemas.openxmlformats.org/drawingml/2006/main" rot="0">
            <a:off x="999173" y="9256035"/>
            <a:ext cx="7817198"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Allocations: 30% / 25% / 20% / 15% / 10%. Research and manufacturing buckets are mutually exclusive.</a:t>
            </a:r>
          </a:p>
        </p:txBody>
      </p:sp>
      <p:sp>
        <p:nvSpPr>
          <p:cNvPr id="41" name="Figure 7 label 40 line 1">
            <a:extLst xmlns:a="http://schemas.openxmlformats.org/drawingml/2006/main">
              <a:ext uri="{FF2B5EF4-FFF2-40B4-BE49-F238E27FC236}">
                <a16:creationId xmlns:a16="http://schemas.microsoft.com/office/drawing/2014/main" id="{B9F4E22A-D047-4973-A281-107E1A6C8755}"/>
              </a:ext>
            </a:extLst>
          </p:cNvPr>
          <p:cNvSpPr>
            <a:spLocks xmlns:a="http://schemas.openxmlformats.org/drawingml/2006/main" noGrp="1"/>
          </p:cNvSpPr>
          <p:nvPr/>
        </p:nvSpPr>
        <p:spPr>
          <a:xfrm xmlns:a="http://schemas.openxmlformats.org/drawingml/2006/main" rot="0">
            <a:off x="1000316" y="9675546"/>
            <a:ext cx="6841212" cy="1726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88" b="0">
                <a:solidFill>
                  <a:srgbClr val="00355F"/>
                </a:solidFill>
                <a:latin typeface="Arial Unicode MS"/>
                <a:ea typeface="Arial Unicode MS"/>
                <a:cs typeface="Arial Unicode MS"/>
              </a:defRPr>
            </a:defPPr>
          </a:lstStyle>
          <a:p xmlns:a="http://schemas.openxmlformats.org/drawingml/2006/main">
            <a:pPr algn="l">
              <a:lnSpc>
                <a:spcPct val="100000"/>
              </a:lnSpc>
              <a:buNone/>
              <a:defRPr sz="1088" b="0">
                <a:solidFill>
                  <a:srgbClr val="00355F"/>
                </a:solidFill>
                <a:latin typeface="Arial Unicode MS"/>
                <a:ea typeface="Arial Unicode MS"/>
                <a:cs typeface="Arial Unicode MS"/>
              </a:defRPr>
            </a:pPr>
            <a:r>
              <a:rPr sz="1088" b="0">
                <a:solidFill>
                  <a:srgbClr val="00355F"/>
                </a:solidFill>
                <a:latin typeface="Arial Unicode MS"/>
                <a:ea typeface="Arial Unicode MS"/>
                <a:cs typeface="Arial Unicode MS"/>
              </a:rPr>
              <a:t>Source: supplied scenario and allocation assumptions. These are not realized funding, orders or annual TAMs.</a:t>
            </a:r>
          </a:p>
        </p:txBody>
      </p:sp>
      <p:sp>
        <p:nvSpPr>
          <p:cNvPr id="42" name="Figure 7 label 41 line 1">
            <a:extLst xmlns:a="http://schemas.openxmlformats.org/drawingml/2006/main">
              <a:ext uri="{FF2B5EF4-FFF2-40B4-BE49-F238E27FC236}">
                <a16:creationId xmlns:a16="http://schemas.microsoft.com/office/drawing/2014/main" id="{19CA830A-75E7-4B5D-A3AE-F99B6293C602}"/>
              </a:ext>
            </a:extLst>
          </p:cNvPr>
          <p:cNvSpPr>
            <a:spLocks xmlns:a="http://schemas.openxmlformats.org/drawingml/2006/main" noGrp="1"/>
          </p:cNvSpPr>
          <p:nvPr/>
        </p:nvSpPr>
        <p:spPr>
          <a:xfrm xmlns:a="http://schemas.openxmlformats.org/drawingml/2006/main" rot="0">
            <a:off x="16440260" y="9667497"/>
            <a:ext cx="841901" cy="1825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150" b="0">
                <a:solidFill>
                  <a:srgbClr val="00355F"/>
                </a:solidFill>
                <a:latin typeface="Arial Unicode MS"/>
                <a:ea typeface="Arial Unicode MS"/>
                <a:cs typeface="Arial Unicode MS"/>
              </a:defRPr>
            </a:defPPr>
          </a:lstStyle>
          <a:p xmlns:a="http://schemas.openxmlformats.org/drawingml/2006/main">
            <a:pPr algn="r">
              <a:lnSpc>
                <a:spcPct val="100000"/>
              </a:lnSpc>
              <a:buNone/>
              <a:defRPr sz="1150" b="0">
                <a:solidFill>
                  <a:srgbClr val="00355F"/>
                </a:solidFill>
                <a:latin typeface="Arial Unicode MS"/>
                <a:ea typeface="Arial Unicode MS"/>
                <a:cs typeface="Arial Unicode MS"/>
              </a:defRPr>
            </a:pPr>
            <a:r>
              <a:rPr sz="1150" b="0">
                <a:solidFill>
                  <a:srgbClr val="00355F"/>
                </a:solidFill>
                <a:latin typeface="Arial Unicode MS"/>
                <a:ea typeface="Arial Unicode MS"/>
                <a:cs typeface="Arial Unicode MS"/>
              </a:rPr>
              <a:t>2026-10-12</a:t>
            </a:r>
          </a:p>
        </p:txBody>
      </p:sp>
      <p:sp>
        <p:nvSpPr>
          <p:cNvPr id="43" name="Figure 7 label 42 line 1">
            <a:extLst xmlns:a="http://schemas.openxmlformats.org/drawingml/2006/main">
              <a:ext uri="{FF2B5EF4-FFF2-40B4-BE49-F238E27FC236}">
                <a16:creationId xmlns:a16="http://schemas.microsoft.com/office/drawing/2014/main" id="{4D9BD1BB-1002-4743-8859-7F43E2E7FA69}"/>
              </a:ext>
            </a:extLst>
          </p:cNvPr>
          <p:cNvSpPr>
            <a:spLocks xmlns:a="http://schemas.openxmlformats.org/drawingml/2006/main" noGrp="1"/>
          </p:cNvSpPr>
          <p:nvPr/>
        </p:nvSpPr>
        <p:spPr>
          <a:xfrm xmlns:a="http://schemas.openxmlformats.org/drawingml/2006/main" rot="0">
            <a:off x="13597382" y="5630671"/>
            <a:ext cx="3502620" cy="277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750" b="1">
                <a:solidFill>
                  <a:srgbClr val="00355F"/>
                </a:solidFill>
                <a:latin typeface="Arial Unicode MS"/>
                <a:ea typeface="Arial Unicode MS"/>
                <a:cs typeface="Arial Unicode MS"/>
              </a:defRPr>
            </a:defPPr>
          </a:lstStyle>
          <a:p xmlns:a="http://schemas.openxmlformats.org/drawingml/2006/main">
            <a:pPr algn="l">
              <a:lnSpc>
                <a:spcPct val="100000"/>
              </a:lnSpc>
              <a:buNone/>
              <a:defRPr sz="1750" b="1">
                <a:solidFill>
                  <a:srgbClr val="00355F"/>
                </a:solidFill>
                <a:latin typeface="Arial Unicode MS"/>
                <a:ea typeface="Arial Unicode MS"/>
                <a:cs typeface="Arial Unicode MS"/>
              </a:defRPr>
            </a:pPr>
            <a:r>
              <a:rPr sz="1750" b="1">
                <a:solidFill>
                  <a:srgbClr val="00355F"/>
                </a:solidFill>
                <a:latin typeface="Arial Unicode MS"/>
                <a:ea typeface="Arial Unicode MS"/>
                <a:cs typeface="Arial Unicode MS"/>
              </a:rPr>
              <a:t>Build phase → installed equipment</a:t>
            </a:r>
          </a:p>
        </p:txBody>
      </p:sp>
      <p:sp>
        <p:nvSpPr>
          <p:cNvPr id="44" name="Figure 7 label 43 line 1">
            <a:extLst xmlns:a="http://schemas.openxmlformats.org/drawingml/2006/main">
              <a:ext uri="{FF2B5EF4-FFF2-40B4-BE49-F238E27FC236}">
                <a16:creationId xmlns:a16="http://schemas.microsoft.com/office/drawing/2014/main" id="{60CD9ECF-78BA-425B-9BD8-32C1286D9522}"/>
              </a:ext>
            </a:extLst>
          </p:cNvPr>
          <p:cNvSpPr>
            <a:spLocks xmlns:a="http://schemas.openxmlformats.org/drawingml/2006/main" noGrp="1"/>
          </p:cNvSpPr>
          <p:nvPr/>
        </p:nvSpPr>
        <p:spPr>
          <a:xfrm xmlns:a="http://schemas.openxmlformats.org/drawingml/2006/main" rot="0">
            <a:off x="13598017" y="6356521"/>
            <a:ext cx="2964706" cy="257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25" b="1">
                <a:solidFill>
                  <a:srgbClr val="00355F"/>
                </a:solidFill>
                <a:latin typeface="Arial Unicode MS"/>
                <a:ea typeface="Arial Unicode MS"/>
                <a:cs typeface="Arial Unicode MS"/>
              </a:defRPr>
            </a:defPPr>
          </a:lstStyle>
          <a:p xmlns:a="http://schemas.openxmlformats.org/drawingml/2006/main">
            <a:pPr algn="l">
              <a:lnSpc>
                <a:spcPct val="100000"/>
              </a:lnSpc>
              <a:buNone/>
              <a:defRPr sz="1625" b="1">
                <a:solidFill>
                  <a:srgbClr val="00355F"/>
                </a:solidFill>
                <a:latin typeface="Arial Unicode MS"/>
                <a:ea typeface="Arial Unicode MS"/>
                <a:cs typeface="Arial Unicode MS"/>
              </a:defRPr>
            </a:pPr>
            <a:r>
              <a:rPr sz="1625" b="1">
                <a:solidFill>
                  <a:srgbClr val="00355F"/>
                </a:solidFill>
                <a:latin typeface="Arial Unicode MS"/>
                <a:ea typeface="Arial Unicode MS"/>
                <a:cs typeface="Arial Unicode MS"/>
              </a:rPr>
              <a:t>Operate → recurring purchases</a:t>
            </a:r>
          </a:p>
        </p:txBody>
      </p:sp>
      <p:sp>
        <p:nvSpPr>
          <p:cNvPr id="45" name="Figure 7 label 44 line 1">
            <a:extLst xmlns:a="http://schemas.openxmlformats.org/drawingml/2006/main">
              <a:ext uri="{FF2B5EF4-FFF2-40B4-BE49-F238E27FC236}">
                <a16:creationId xmlns:a16="http://schemas.microsoft.com/office/drawing/2014/main" id="{F4452D84-BB50-4E9D-873D-FD04252B56B2}"/>
              </a:ext>
            </a:extLst>
          </p:cNvPr>
          <p:cNvSpPr>
            <a:spLocks xmlns:a="http://schemas.openxmlformats.org/drawingml/2006/main" noGrp="1"/>
          </p:cNvSpPr>
          <p:nvPr/>
        </p:nvSpPr>
        <p:spPr>
          <a:xfrm xmlns:a="http://schemas.openxmlformats.org/drawingml/2006/main" rot="0">
            <a:off x="13599414" y="7029276"/>
            <a:ext cx="2675453"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Manufacturing needs drug output.</a:t>
            </a:r>
          </a:p>
        </p:txBody>
      </p:sp>
      <p:sp>
        <p:nvSpPr>
          <p:cNvPr id="46" name="Figure 7 label 45 line 1">
            <a:extLst xmlns:a="http://schemas.openxmlformats.org/drawingml/2006/main">
              <a:ext uri="{FF2B5EF4-FFF2-40B4-BE49-F238E27FC236}">
                <a16:creationId xmlns:a16="http://schemas.microsoft.com/office/drawing/2014/main" id="{B63BD20A-2DAB-479E-906A-1C8149414825}"/>
              </a:ext>
            </a:extLst>
          </p:cNvPr>
          <p:cNvSpPr>
            <a:spLocks xmlns:a="http://schemas.openxmlformats.org/drawingml/2006/main" noGrp="1"/>
          </p:cNvSpPr>
          <p:nvPr/>
        </p:nvSpPr>
        <p:spPr>
          <a:xfrm xmlns:a="http://schemas.openxmlformats.org/drawingml/2006/main" rot="0">
            <a:off x="13631132" y="2528184"/>
            <a:ext cx="2610148"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0000"/>
                </a:solidFill>
                <a:latin typeface="Arial Unicode MS"/>
                <a:ea typeface="Arial Unicode MS"/>
                <a:cs typeface="Arial Unicode MS"/>
              </a:defRPr>
            </a:defPPr>
          </a:lstStyle>
          <a:p xmlns:a="http://schemas.openxmlformats.org/drawingml/2006/main">
            <a:pPr algn="l">
              <a:lnSpc>
                <a:spcPct val="100000"/>
              </a:lnSpc>
              <a:buNone/>
              <a:defRPr sz="1313" b="0">
                <a:solidFill>
                  <a:srgbClr val="000000"/>
                </a:solidFill>
                <a:latin typeface="Arial Unicode MS"/>
                <a:ea typeface="Arial Unicode MS"/>
                <a:cs typeface="Arial Unicode MS"/>
              </a:defRPr>
            </a:pPr>
            <a:r>
              <a:rPr sz="1313" b="0">
                <a:solidFill>
                  <a:srgbClr val="000000"/>
                </a:solidFill>
                <a:latin typeface="Arial Unicode MS"/>
                <a:ea typeface="Arial Unicode MS"/>
                <a:cs typeface="Arial Unicode MS"/>
              </a:rPr>
              <a:t>Research equipment / automation</a:t>
            </a:r>
          </a:p>
        </p:txBody>
      </p:sp>
      <p:sp>
        <p:nvSpPr>
          <p:cNvPr id="47" name="Figure 7 label 46 line 1">
            <a:extLst xmlns:a="http://schemas.openxmlformats.org/drawingml/2006/main">
              <a:ext uri="{FF2B5EF4-FFF2-40B4-BE49-F238E27FC236}">
                <a16:creationId xmlns:a16="http://schemas.microsoft.com/office/drawing/2014/main" id="{9A91C263-95A8-4712-B0FF-5EEB9CE3474D}"/>
              </a:ext>
            </a:extLst>
          </p:cNvPr>
          <p:cNvSpPr>
            <a:spLocks xmlns:a="http://schemas.openxmlformats.org/drawingml/2006/main" noGrp="1"/>
          </p:cNvSpPr>
          <p:nvPr/>
        </p:nvSpPr>
        <p:spPr>
          <a:xfrm xmlns:a="http://schemas.openxmlformats.org/drawingml/2006/main" rot="0">
            <a:off x="13631132" y="2864060"/>
            <a:ext cx="1516856"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0000"/>
                </a:solidFill>
                <a:latin typeface="Arial Unicode MS"/>
                <a:ea typeface="Arial Unicode MS"/>
                <a:cs typeface="Arial Unicode MS"/>
              </a:defRPr>
            </a:defPPr>
          </a:lstStyle>
          <a:p xmlns:a="http://schemas.openxmlformats.org/drawingml/2006/main">
            <a:pPr algn="l">
              <a:lnSpc>
                <a:spcPct val="100000"/>
              </a:lnSpc>
              <a:buNone/>
              <a:defRPr sz="1313" b="0">
                <a:solidFill>
                  <a:srgbClr val="000000"/>
                </a:solidFill>
                <a:latin typeface="Arial Unicode MS"/>
                <a:ea typeface="Arial Unicode MS"/>
                <a:cs typeface="Arial Unicode MS"/>
              </a:defRPr>
            </a:pPr>
            <a:r>
              <a:rPr sz="1313" b="0">
                <a:solidFill>
                  <a:srgbClr val="000000"/>
                </a:solidFill>
                <a:latin typeface="Arial Unicode MS"/>
                <a:ea typeface="Arial Unicode MS"/>
                <a:cs typeface="Arial Unicode MS"/>
              </a:rPr>
              <a:t>Research reagents</a:t>
            </a:r>
          </a:p>
        </p:txBody>
      </p:sp>
      <p:sp>
        <p:nvSpPr>
          <p:cNvPr id="48" name="Figure 7 label 47 line 1">
            <a:extLst xmlns:a="http://schemas.openxmlformats.org/drawingml/2006/main">
              <a:ext uri="{FF2B5EF4-FFF2-40B4-BE49-F238E27FC236}">
                <a16:creationId xmlns:a16="http://schemas.microsoft.com/office/drawing/2014/main" id="{68B28313-4A94-43D2-AD68-13A9C924B462}"/>
              </a:ext>
            </a:extLst>
          </p:cNvPr>
          <p:cNvSpPr>
            <a:spLocks xmlns:a="http://schemas.openxmlformats.org/drawingml/2006/main" noGrp="1"/>
          </p:cNvSpPr>
          <p:nvPr/>
        </p:nvSpPr>
        <p:spPr>
          <a:xfrm xmlns:a="http://schemas.openxmlformats.org/drawingml/2006/main" rot="0">
            <a:off x="13631132" y="3201732"/>
            <a:ext cx="1850231"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0000"/>
                </a:solidFill>
                <a:latin typeface="Arial Unicode MS"/>
                <a:ea typeface="Arial Unicode MS"/>
                <a:cs typeface="Arial Unicode MS"/>
              </a:defRPr>
            </a:defPPr>
          </a:lstStyle>
          <a:p xmlns:a="http://schemas.openxmlformats.org/drawingml/2006/main">
            <a:pPr algn="l">
              <a:lnSpc>
                <a:spcPct val="100000"/>
              </a:lnSpc>
              <a:buNone/>
              <a:defRPr sz="1313" b="0">
                <a:solidFill>
                  <a:srgbClr val="000000"/>
                </a:solidFill>
                <a:latin typeface="Arial Unicode MS"/>
                <a:ea typeface="Arial Unicode MS"/>
                <a:cs typeface="Arial Unicode MS"/>
              </a:defRPr>
            </a:pPr>
            <a:r>
              <a:rPr sz="1313" b="0">
                <a:solidFill>
                  <a:srgbClr val="000000"/>
                </a:solidFill>
                <a:latin typeface="Arial Unicode MS"/>
                <a:ea typeface="Arial Unicode MS"/>
                <a:cs typeface="Arial Unicode MS"/>
              </a:rPr>
              <a:t>Research consumables</a:t>
            </a:r>
          </a:p>
        </p:txBody>
      </p:sp>
      <p:sp>
        <p:nvSpPr>
          <p:cNvPr id="49" name="Figure 7 label 48 line 1">
            <a:extLst xmlns:a="http://schemas.openxmlformats.org/drawingml/2006/main">
              <a:ext uri="{FF2B5EF4-FFF2-40B4-BE49-F238E27FC236}">
                <a16:creationId xmlns:a16="http://schemas.microsoft.com/office/drawing/2014/main" id="{4E8616BF-6C3E-4B53-ABC2-F20DE727A23F}"/>
              </a:ext>
            </a:extLst>
          </p:cNvPr>
          <p:cNvSpPr>
            <a:spLocks xmlns:a="http://schemas.openxmlformats.org/drawingml/2006/main" noGrp="1"/>
          </p:cNvSpPr>
          <p:nvPr/>
        </p:nvSpPr>
        <p:spPr>
          <a:xfrm xmlns:a="http://schemas.openxmlformats.org/drawingml/2006/main" rot="0">
            <a:off x="13631132" y="3539639"/>
            <a:ext cx="2415481"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0000"/>
                </a:solidFill>
                <a:latin typeface="Arial Unicode MS"/>
                <a:ea typeface="Arial Unicode MS"/>
                <a:cs typeface="Arial Unicode MS"/>
              </a:defRPr>
            </a:defPPr>
          </a:lstStyle>
          <a:p xmlns:a="http://schemas.openxmlformats.org/drawingml/2006/main">
            <a:pPr algn="l">
              <a:lnSpc>
                <a:spcPct val="100000"/>
              </a:lnSpc>
              <a:buNone/>
              <a:defRPr sz="1313" b="0">
                <a:solidFill>
                  <a:srgbClr val="000000"/>
                </a:solidFill>
                <a:latin typeface="Arial Unicode MS"/>
                <a:ea typeface="Arial Unicode MS"/>
                <a:cs typeface="Arial Unicode MS"/>
              </a:defRPr>
            </a:pPr>
            <a:r>
              <a:rPr sz="1313" b="0">
                <a:solidFill>
                  <a:srgbClr val="000000"/>
                </a:solidFill>
                <a:latin typeface="Arial Unicode MS"/>
                <a:ea typeface="Arial Unicode MS"/>
                <a:cs typeface="Arial Unicode MS"/>
              </a:rPr>
              <a:t>Manufacturing bioprocess tools</a:t>
            </a:r>
          </a:p>
        </p:txBody>
      </p:sp>
      <p:sp>
        <p:nvSpPr>
          <p:cNvPr id="50" name="Figure 7 label 49 line 1">
            <a:extLst xmlns:a="http://schemas.openxmlformats.org/drawingml/2006/main">
              <a:ext uri="{FF2B5EF4-FFF2-40B4-BE49-F238E27FC236}">
                <a16:creationId xmlns:a16="http://schemas.microsoft.com/office/drawing/2014/main" id="{74E7144A-3E42-4186-B8C8-4A8107FD068F}"/>
              </a:ext>
            </a:extLst>
          </p:cNvPr>
          <p:cNvSpPr>
            <a:spLocks xmlns:a="http://schemas.openxmlformats.org/drawingml/2006/main" noGrp="1"/>
          </p:cNvSpPr>
          <p:nvPr/>
        </p:nvSpPr>
        <p:spPr>
          <a:xfrm xmlns:a="http://schemas.openxmlformats.org/drawingml/2006/main" rot="0">
            <a:off x="13631132" y="3877311"/>
            <a:ext cx="1266379"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0000"/>
                </a:solidFill>
                <a:latin typeface="Arial Unicode MS"/>
                <a:ea typeface="Arial Unicode MS"/>
                <a:cs typeface="Arial Unicode MS"/>
              </a:defRPr>
            </a:defPPr>
          </a:lstStyle>
          <a:p xmlns:a="http://schemas.openxmlformats.org/drawingml/2006/main">
            <a:pPr algn="l">
              <a:lnSpc>
                <a:spcPct val="100000"/>
              </a:lnSpc>
              <a:buNone/>
              <a:defRPr sz="1313" b="0">
                <a:solidFill>
                  <a:srgbClr val="000000"/>
                </a:solidFill>
                <a:latin typeface="Arial Unicode MS"/>
                <a:ea typeface="Arial Unicode MS"/>
                <a:cs typeface="Arial Unicode MS"/>
              </a:defRPr>
            </a:pPr>
            <a:r>
              <a:rPr sz="1313" b="0">
                <a:solidFill>
                  <a:srgbClr val="000000"/>
                </a:solidFill>
                <a:latin typeface="Arial Unicode MS"/>
                <a:ea typeface="Arial Unicode MS"/>
                <a:cs typeface="Arial Unicode MS"/>
              </a:rPr>
              <a:t>Services / other</a:t>
            </a:r>
          </a:p>
        </p:txBody>
      </p:sp>
    </p:spTree>
    <p:extLst>
      <p:ext uri="{BB962C8B-B14F-4D97-AF65-F5344CB8AC3E}">
        <p14:creationId xmlns:p14="http://schemas.microsoft.com/office/powerpoint/2010/main" val="13644566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4" name="">
            <a:extLst xmlns:a="http://schemas.openxmlformats.org/drawingml/2006/main">
              <a:ext uri="{FF2B5EF4-FFF2-40B4-BE49-F238E27FC236}">
                <a16:creationId xmlns:a16="http://schemas.microsoft.com/office/drawing/2014/main" id="{36DF3DD4-2AB5-49F1-8434-4FC68FF74048}"/>
              </a:ext>
            </a:extLst>
          </p:cNvPr>
          <p:cNvPicPr>
            <a:picLocks xmlns:a="http://schemas.openxmlformats.org/drawingml/2006/main" noChangeAspect="1"/>
          </p:cNvPicPr>
          <p:nvPr/>
        </p:nvPicPr>
        <p:blipFill>
          <a:blip xmlns:r="http://schemas.openxmlformats.org/officeDocument/2006/relationships" xmlns:a="http://schemas.openxmlformats.org/drawingml/2006/main" r:embed="R743b36c5835b450a"/>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Figure 8 label 1 line 1">
            <a:extLst xmlns:a="http://schemas.openxmlformats.org/drawingml/2006/main">
              <a:ext uri="{FF2B5EF4-FFF2-40B4-BE49-F238E27FC236}">
                <a16:creationId xmlns:a16="http://schemas.microsoft.com/office/drawing/2014/main" id="{642C16FE-9E6C-49CF-9BD3-870EC199A760}"/>
              </a:ext>
            </a:extLst>
          </p:cNvPr>
          <p:cNvSpPr>
            <a:spLocks xmlns:a="http://schemas.openxmlformats.org/drawingml/2006/main" noGrp="1"/>
          </p:cNvSpPr>
          <p:nvPr/>
        </p:nvSpPr>
        <p:spPr>
          <a:xfrm xmlns:a="http://schemas.openxmlformats.org/drawingml/2006/main" rot="0">
            <a:off x="2616217" y="7924632"/>
            <a:ext cx="473422"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Low</a:t>
            </a:r>
          </a:p>
        </p:txBody>
      </p:sp>
      <p:sp>
        <p:nvSpPr>
          <p:cNvPr id="3" name="Figure 8 label 2 line 1">
            <a:extLst xmlns:a="http://schemas.openxmlformats.org/drawingml/2006/main">
              <a:ext uri="{FF2B5EF4-FFF2-40B4-BE49-F238E27FC236}">
                <a16:creationId xmlns:a16="http://schemas.microsoft.com/office/drawing/2014/main" id="{3F07CA67-BA70-46F3-AC22-84C2C2837A2A}"/>
              </a:ext>
            </a:extLst>
          </p:cNvPr>
          <p:cNvSpPr>
            <a:spLocks xmlns:a="http://schemas.openxmlformats.org/drawingml/2006/main" noGrp="1"/>
          </p:cNvSpPr>
          <p:nvPr/>
        </p:nvSpPr>
        <p:spPr>
          <a:xfrm xmlns:a="http://schemas.openxmlformats.org/drawingml/2006/main" rot="0">
            <a:off x="8011760" y="7924632"/>
            <a:ext cx="80143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Medium</a:t>
            </a:r>
          </a:p>
        </p:txBody>
      </p:sp>
      <p:sp>
        <p:nvSpPr>
          <p:cNvPr id="4" name="Figure 8 label 3 line 1">
            <a:extLst xmlns:a="http://schemas.openxmlformats.org/drawingml/2006/main">
              <a:ext uri="{FF2B5EF4-FFF2-40B4-BE49-F238E27FC236}">
                <a16:creationId xmlns:a16="http://schemas.microsoft.com/office/drawing/2014/main" id="{B7B8FC70-7553-4FBF-83F6-6908778051AC}"/>
              </a:ext>
            </a:extLst>
          </p:cNvPr>
          <p:cNvSpPr>
            <a:spLocks xmlns:a="http://schemas.openxmlformats.org/drawingml/2006/main" noGrp="1"/>
          </p:cNvSpPr>
          <p:nvPr/>
        </p:nvSpPr>
        <p:spPr>
          <a:xfrm xmlns:a="http://schemas.openxmlformats.org/drawingml/2006/main" rot="0">
            <a:off x="13714188" y="7924632"/>
            <a:ext cx="51568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High</a:t>
            </a:r>
          </a:p>
        </p:txBody>
      </p:sp>
      <p:sp>
        <p:nvSpPr>
          <p:cNvPr id="5" name="Figure 8 label 4 line 1">
            <a:extLst xmlns:a="http://schemas.openxmlformats.org/drawingml/2006/main">
              <a:ext uri="{FF2B5EF4-FFF2-40B4-BE49-F238E27FC236}">
                <a16:creationId xmlns:a16="http://schemas.microsoft.com/office/drawing/2014/main" id="{9E572552-2674-464C-928D-187B71D819D8}"/>
              </a:ext>
            </a:extLst>
          </p:cNvPr>
          <p:cNvSpPr>
            <a:spLocks xmlns:a="http://schemas.openxmlformats.org/drawingml/2006/main" noGrp="1"/>
          </p:cNvSpPr>
          <p:nvPr/>
        </p:nvSpPr>
        <p:spPr>
          <a:xfrm xmlns:a="http://schemas.openxmlformats.org/drawingml/2006/main" rot="0">
            <a:off x="6651992" y="8293814"/>
            <a:ext cx="352097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Expansion difficulty / qualification time →</a:t>
            </a:r>
          </a:p>
        </p:txBody>
      </p:sp>
      <p:sp>
        <p:nvSpPr>
          <p:cNvPr id="6" name="Figure 8 label 5 line 1">
            <a:extLst xmlns:a="http://schemas.openxmlformats.org/drawingml/2006/main">
              <a:ext uri="{FF2B5EF4-FFF2-40B4-BE49-F238E27FC236}">
                <a16:creationId xmlns:a16="http://schemas.microsoft.com/office/drawing/2014/main" id="{00E19738-BFE3-457B-858F-66B934BE38B6}"/>
              </a:ext>
            </a:extLst>
          </p:cNvPr>
          <p:cNvSpPr>
            <a:spLocks xmlns:a="http://schemas.openxmlformats.org/drawingml/2006/main" noGrp="1"/>
          </p:cNvSpPr>
          <p:nvPr/>
        </p:nvSpPr>
        <p:spPr>
          <a:xfrm xmlns:a="http://schemas.openxmlformats.org/drawingml/2006/main" rot="0">
            <a:off x="830868" y="7147349"/>
            <a:ext cx="473422"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Low</a:t>
            </a:r>
          </a:p>
        </p:txBody>
      </p:sp>
      <p:sp>
        <p:nvSpPr>
          <p:cNvPr id="7" name="Figure 8 label 6 line 1">
            <a:extLst xmlns:a="http://schemas.openxmlformats.org/drawingml/2006/main">
              <a:ext uri="{FF2B5EF4-FFF2-40B4-BE49-F238E27FC236}">
                <a16:creationId xmlns:a16="http://schemas.microsoft.com/office/drawing/2014/main" id="{ACD7FF30-1E79-451E-99EA-1DC5657134CF}"/>
              </a:ext>
            </a:extLst>
          </p:cNvPr>
          <p:cNvSpPr>
            <a:spLocks xmlns:a="http://schemas.openxmlformats.org/drawingml/2006/main" noGrp="1"/>
          </p:cNvSpPr>
          <p:nvPr/>
        </p:nvSpPr>
        <p:spPr>
          <a:xfrm xmlns:a="http://schemas.openxmlformats.org/drawingml/2006/main" rot="0">
            <a:off x="502851" y="4945931"/>
            <a:ext cx="80143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Medium</a:t>
            </a:r>
          </a:p>
        </p:txBody>
      </p:sp>
      <p:sp>
        <p:nvSpPr>
          <p:cNvPr id="8" name="Figure 8 label 7 line 1">
            <a:extLst xmlns:a="http://schemas.openxmlformats.org/drawingml/2006/main">
              <a:ext uri="{FF2B5EF4-FFF2-40B4-BE49-F238E27FC236}">
                <a16:creationId xmlns:a16="http://schemas.microsoft.com/office/drawing/2014/main" id="{4A415D7C-62F9-4396-9DC4-614CF9873294}"/>
              </a:ext>
            </a:extLst>
          </p:cNvPr>
          <p:cNvSpPr>
            <a:spLocks xmlns:a="http://schemas.openxmlformats.org/drawingml/2006/main" noGrp="1"/>
          </p:cNvSpPr>
          <p:nvPr/>
        </p:nvSpPr>
        <p:spPr>
          <a:xfrm xmlns:a="http://schemas.openxmlformats.org/drawingml/2006/main" rot="0">
            <a:off x="788601" y="2744513"/>
            <a:ext cx="51568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High</a:t>
            </a:r>
          </a:p>
        </p:txBody>
      </p:sp>
      <p:sp>
        <p:nvSpPr>
          <p:cNvPr id="9" name="Figure 8 label 8 line 1">
            <a:extLst xmlns:a="http://schemas.openxmlformats.org/drawingml/2006/main">
              <a:ext uri="{FF2B5EF4-FFF2-40B4-BE49-F238E27FC236}">
                <a16:creationId xmlns:a16="http://schemas.microsoft.com/office/drawing/2014/main" id="{C6CC32D9-342F-46CA-9064-4E92D561C821}"/>
              </a:ext>
            </a:extLst>
          </p:cNvPr>
          <p:cNvSpPr>
            <a:spLocks xmlns:a="http://schemas.openxmlformats.org/drawingml/2006/main" noGrp="1"/>
          </p:cNvSpPr>
          <p:nvPr/>
        </p:nvSpPr>
        <p:spPr>
          <a:xfrm xmlns:a="http://schemas.openxmlformats.org/drawingml/2006/main" rot="16200000">
            <a:off x="-1498674" y="4918710"/>
            <a:ext cx="3775621"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Potential benefit from demand expansion →</a:t>
            </a:r>
          </a:p>
        </p:txBody>
      </p:sp>
      <p:sp>
        <p:nvSpPr>
          <p:cNvPr id="10" name="Figure 8 label 9 line 1">
            <a:extLst xmlns:a="http://schemas.openxmlformats.org/drawingml/2006/main">
              <a:ext uri="{FF2B5EF4-FFF2-40B4-BE49-F238E27FC236}">
                <a16:creationId xmlns:a16="http://schemas.microsoft.com/office/drawing/2014/main" id="{192AF8D0-D8A1-494D-8618-9228D90A6823}"/>
              </a:ext>
            </a:extLst>
          </p:cNvPr>
          <p:cNvSpPr>
            <a:spLocks xmlns:a="http://schemas.openxmlformats.org/drawingml/2006/main" noGrp="1"/>
          </p:cNvSpPr>
          <p:nvPr/>
        </p:nvSpPr>
        <p:spPr>
          <a:xfrm xmlns:a="http://schemas.openxmlformats.org/drawingml/2006/main" rot="0">
            <a:off x="2012455" y="2407644"/>
            <a:ext cx="3477240" cy="2043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88" b="0">
                <a:solidFill>
                  <a:srgbClr val="00355F"/>
                </a:solidFill>
                <a:latin typeface="Arial Unicode MS"/>
                <a:ea typeface="Arial Unicode MS"/>
                <a:cs typeface="Arial Unicode MS"/>
              </a:defRPr>
            </a:defPPr>
          </a:lstStyle>
          <a:p xmlns:a="http://schemas.openxmlformats.org/drawingml/2006/main">
            <a:pPr algn="l">
              <a:lnSpc>
                <a:spcPct val="100000"/>
              </a:lnSpc>
              <a:buNone/>
              <a:defRPr sz="1288" b="0">
                <a:solidFill>
                  <a:srgbClr val="00355F"/>
                </a:solidFill>
                <a:latin typeface="Arial Unicode MS"/>
                <a:ea typeface="Arial Unicode MS"/>
                <a:cs typeface="Arial Unicode MS"/>
              </a:defRPr>
            </a:pPr>
            <a:r>
              <a:rPr sz="1288" b="0">
                <a:solidFill>
                  <a:srgbClr val="00355F"/>
                </a:solidFill>
                <a:latin typeface="Arial Unicode MS"/>
                <a:ea typeface="Arial Unicode MS"/>
                <a:cs typeface="Arial Unicode MS"/>
              </a:rPr>
              <a:t>Verify demand and supply constraints together</a:t>
            </a:r>
          </a:p>
        </p:txBody>
      </p:sp>
      <p:sp>
        <p:nvSpPr>
          <p:cNvPr id="11" name="Figure 8 label 10 line 1">
            <a:extLst xmlns:a="http://schemas.openxmlformats.org/drawingml/2006/main">
              <a:ext uri="{FF2B5EF4-FFF2-40B4-BE49-F238E27FC236}">
                <a16:creationId xmlns:a16="http://schemas.microsoft.com/office/drawing/2014/main" id="{ACC9AE07-198F-4733-8ACC-CC23E8E8F257}"/>
              </a:ext>
            </a:extLst>
          </p:cNvPr>
          <p:cNvSpPr>
            <a:spLocks xmlns:a="http://schemas.openxmlformats.org/drawingml/2006/main" noGrp="1"/>
          </p:cNvSpPr>
          <p:nvPr/>
        </p:nvSpPr>
        <p:spPr>
          <a:xfrm xmlns:a="http://schemas.openxmlformats.org/drawingml/2006/main" rot="0">
            <a:off x="11185779" y="2671608"/>
            <a:ext cx="1221462" cy="202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Unicode MS"/>
                <a:ea typeface="Arial Unicode MS"/>
                <a:cs typeface="Arial Unicode MS"/>
              </a:defRPr>
            </a:defPPr>
          </a:lstStyle>
          <a:p xmlns:a="http://schemas.openxmlformats.org/drawingml/2006/main">
            <a:pPr algn="l">
              <a:lnSpc>
                <a:spcPct val="100000"/>
              </a:lnSpc>
              <a:buNone/>
              <a:defRPr sz="1275" b="0">
                <a:solidFill>
                  <a:srgbClr val="00355F"/>
                </a:solidFill>
                <a:latin typeface="Arial Unicode MS"/>
                <a:ea typeface="Arial Unicode MS"/>
                <a:cs typeface="Arial Unicode MS"/>
              </a:defRPr>
            </a:pPr>
            <a:r>
              <a:rPr sz="1275" b="0">
                <a:solidFill>
                  <a:srgbClr val="00355F"/>
                </a:solidFill>
                <a:latin typeface="Arial Unicode MS"/>
                <a:ea typeface="Arial Unicode MS"/>
                <a:cs typeface="Arial Unicode MS"/>
              </a:rPr>
              <a:t>Automation tips</a:t>
            </a:r>
          </a:p>
        </p:txBody>
      </p:sp>
      <p:sp>
        <p:nvSpPr>
          <p:cNvPr id="12" name="Figure 8 label 11 line 1">
            <a:extLst xmlns:a="http://schemas.openxmlformats.org/drawingml/2006/main">
              <a:ext uri="{FF2B5EF4-FFF2-40B4-BE49-F238E27FC236}">
                <a16:creationId xmlns:a16="http://schemas.microsoft.com/office/drawing/2014/main" id="{77B54BED-6C3B-484C-BE01-FFB46EEDD33A}"/>
              </a:ext>
            </a:extLst>
          </p:cNvPr>
          <p:cNvSpPr>
            <a:spLocks xmlns:a="http://schemas.openxmlformats.org/drawingml/2006/main" noGrp="1"/>
          </p:cNvSpPr>
          <p:nvPr/>
        </p:nvSpPr>
        <p:spPr>
          <a:xfrm xmlns:a="http://schemas.openxmlformats.org/drawingml/2006/main" rot="0">
            <a:off x="8128026" y="3359665"/>
            <a:ext cx="1239470" cy="202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Unicode MS"/>
                <a:ea typeface="Arial Unicode MS"/>
                <a:cs typeface="Arial Unicode MS"/>
              </a:defRPr>
            </a:defPPr>
          </a:lstStyle>
          <a:p xmlns:a="http://schemas.openxmlformats.org/drawingml/2006/main">
            <a:pPr algn="l">
              <a:lnSpc>
                <a:spcPct val="100000"/>
              </a:lnSpc>
              <a:buNone/>
              <a:defRPr sz="1275" b="0">
                <a:solidFill>
                  <a:srgbClr val="00355F"/>
                </a:solidFill>
                <a:latin typeface="Arial Unicode MS"/>
                <a:ea typeface="Arial Unicode MS"/>
                <a:cs typeface="Arial Unicode MS"/>
              </a:defRPr>
            </a:pPr>
            <a:r>
              <a:rPr sz="1275" b="0">
                <a:solidFill>
                  <a:srgbClr val="00355F"/>
                </a:solidFill>
                <a:latin typeface="Arial Unicode MS"/>
                <a:ea typeface="Arial Unicode MS"/>
                <a:cs typeface="Arial Unicode MS"/>
              </a:rPr>
              <a:t>Specialty plates</a:t>
            </a:r>
          </a:p>
        </p:txBody>
      </p:sp>
      <p:sp>
        <p:nvSpPr>
          <p:cNvPr id="13" name="Figure 8 label 12 line 1">
            <a:extLst xmlns:a="http://schemas.openxmlformats.org/drawingml/2006/main">
              <a:ext uri="{FF2B5EF4-FFF2-40B4-BE49-F238E27FC236}">
                <a16:creationId xmlns:a16="http://schemas.microsoft.com/office/drawing/2014/main" id="{7D700ECF-B4B0-456C-8C05-C83DA524BEE7}"/>
              </a:ext>
            </a:extLst>
          </p:cNvPr>
          <p:cNvSpPr>
            <a:spLocks xmlns:a="http://schemas.openxmlformats.org/drawingml/2006/main" noGrp="1"/>
          </p:cNvSpPr>
          <p:nvPr/>
        </p:nvSpPr>
        <p:spPr>
          <a:xfrm xmlns:a="http://schemas.openxmlformats.org/drawingml/2006/main" rot="0">
            <a:off x="11741734" y="3965928"/>
            <a:ext cx="1590258" cy="202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Unicode MS"/>
                <a:ea typeface="Arial Unicode MS"/>
                <a:cs typeface="Arial Unicode MS"/>
              </a:defRPr>
            </a:defPPr>
          </a:lstStyle>
          <a:p xmlns:a="http://schemas.openxmlformats.org/drawingml/2006/main">
            <a:pPr algn="l">
              <a:lnSpc>
                <a:spcPct val="100000"/>
              </a:lnSpc>
              <a:buNone/>
              <a:defRPr sz="1275" b="0">
                <a:solidFill>
                  <a:srgbClr val="00355F"/>
                </a:solidFill>
                <a:latin typeface="Arial Unicode MS"/>
                <a:ea typeface="Arial Unicode MS"/>
                <a:cs typeface="Arial Unicode MS"/>
              </a:defRPr>
            </a:pPr>
            <a:r>
              <a:rPr sz="1275" b="0">
                <a:solidFill>
                  <a:srgbClr val="00355F"/>
                </a:solidFill>
                <a:latin typeface="Arial Unicode MS"/>
                <a:ea typeface="Arial Unicode MS"/>
                <a:cs typeface="Arial Unicode MS"/>
              </a:rPr>
              <a:t>Custom components</a:t>
            </a:r>
          </a:p>
        </p:txBody>
      </p:sp>
      <p:sp>
        <p:nvSpPr>
          <p:cNvPr id="14" name="Figure 8 label 13 line 1">
            <a:extLst xmlns:a="http://schemas.openxmlformats.org/drawingml/2006/main">
              <a:ext uri="{FF2B5EF4-FFF2-40B4-BE49-F238E27FC236}">
                <a16:creationId xmlns:a16="http://schemas.microsoft.com/office/drawing/2014/main" id="{DD5627B4-2A19-42F7-AF73-25171E237B4C}"/>
              </a:ext>
            </a:extLst>
          </p:cNvPr>
          <p:cNvSpPr>
            <a:spLocks xmlns:a="http://schemas.openxmlformats.org/drawingml/2006/main" noGrp="1"/>
          </p:cNvSpPr>
          <p:nvPr/>
        </p:nvSpPr>
        <p:spPr>
          <a:xfrm xmlns:a="http://schemas.openxmlformats.org/drawingml/2006/main" rot="0">
            <a:off x="9517914" y="4515295"/>
            <a:ext cx="1338590" cy="202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Unicode MS"/>
                <a:ea typeface="Arial Unicode MS"/>
                <a:cs typeface="Arial Unicode MS"/>
              </a:defRPr>
            </a:defPPr>
          </a:lstStyle>
          <a:p xmlns:a="http://schemas.openxmlformats.org/drawingml/2006/main">
            <a:pPr algn="l">
              <a:lnSpc>
                <a:spcPct val="100000"/>
              </a:lnSpc>
              <a:buNone/>
              <a:defRPr sz="1275" b="0">
                <a:solidFill>
                  <a:srgbClr val="00355F"/>
                </a:solidFill>
                <a:latin typeface="Arial Unicode MS"/>
                <a:ea typeface="Arial Unicode MS"/>
                <a:cs typeface="Arial Unicode MS"/>
              </a:defRPr>
            </a:pPr>
            <a:r>
              <a:rPr sz="1275" b="0">
                <a:solidFill>
                  <a:srgbClr val="00355F"/>
                </a:solidFill>
                <a:latin typeface="Arial Unicode MS"/>
                <a:ea typeface="Arial Unicode MS"/>
                <a:cs typeface="Arial Unicode MS"/>
              </a:rPr>
              <a:t>Functional beads</a:t>
            </a:r>
          </a:p>
        </p:txBody>
      </p:sp>
      <p:sp>
        <p:nvSpPr>
          <p:cNvPr id="15" name="Figure 8 label 14 line 1">
            <a:extLst xmlns:a="http://schemas.openxmlformats.org/drawingml/2006/main">
              <a:ext uri="{FF2B5EF4-FFF2-40B4-BE49-F238E27FC236}">
                <a16:creationId xmlns:a16="http://schemas.microsoft.com/office/drawing/2014/main" id="{10D37FEC-81E3-43E1-8D9B-B698A5237098}"/>
              </a:ext>
            </a:extLst>
          </p:cNvPr>
          <p:cNvSpPr>
            <a:spLocks xmlns:a="http://schemas.openxmlformats.org/drawingml/2006/main" noGrp="1"/>
          </p:cNvSpPr>
          <p:nvPr/>
        </p:nvSpPr>
        <p:spPr>
          <a:xfrm xmlns:a="http://schemas.openxmlformats.org/drawingml/2006/main" rot="0">
            <a:off x="7850048" y="2670735"/>
            <a:ext cx="1815435" cy="202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Unicode MS"/>
                <a:ea typeface="Arial Unicode MS"/>
                <a:cs typeface="Arial Unicode MS"/>
              </a:defRPr>
            </a:defPPr>
          </a:lstStyle>
          <a:p xmlns:a="http://schemas.openxmlformats.org/drawingml/2006/main">
            <a:pPr algn="l">
              <a:lnSpc>
                <a:spcPct val="100000"/>
              </a:lnSpc>
              <a:buNone/>
              <a:defRPr sz="1275" b="0">
                <a:solidFill>
                  <a:srgbClr val="00355F"/>
                </a:solidFill>
                <a:latin typeface="Arial Unicode MS"/>
                <a:ea typeface="Arial Unicode MS"/>
                <a:cs typeface="Arial Unicode MS"/>
              </a:defRPr>
            </a:pPr>
            <a:r>
              <a:rPr sz="1275" b="0">
                <a:solidFill>
                  <a:srgbClr val="00355F"/>
                </a:solidFill>
                <a:latin typeface="Arial Unicode MS"/>
                <a:ea typeface="Arial Unicode MS"/>
                <a:cs typeface="Arial Unicode MS"/>
              </a:rPr>
              <a:t>High-throughput assays</a:t>
            </a:r>
          </a:p>
        </p:txBody>
      </p:sp>
      <p:sp>
        <p:nvSpPr>
          <p:cNvPr id="16" name="Figure 8 label 15 line 1">
            <a:extLst xmlns:a="http://schemas.openxmlformats.org/drawingml/2006/main">
              <a:ext uri="{FF2B5EF4-FFF2-40B4-BE49-F238E27FC236}">
                <a16:creationId xmlns:a16="http://schemas.microsoft.com/office/drawing/2014/main" id="{C4A87D70-0C7F-4184-A78D-E18B5A1A5B30}"/>
              </a:ext>
            </a:extLst>
          </p:cNvPr>
          <p:cNvSpPr>
            <a:spLocks xmlns:a="http://schemas.openxmlformats.org/drawingml/2006/main" noGrp="1"/>
          </p:cNvSpPr>
          <p:nvPr/>
        </p:nvSpPr>
        <p:spPr>
          <a:xfrm xmlns:a="http://schemas.openxmlformats.org/drawingml/2006/main" rot="0">
            <a:off x="6251677" y="4157679"/>
            <a:ext cx="1869460" cy="202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Unicode MS"/>
                <a:ea typeface="Arial Unicode MS"/>
                <a:cs typeface="Arial Unicode MS"/>
              </a:defRPr>
            </a:defPPr>
          </a:lstStyle>
          <a:p xmlns:a="http://schemas.openxmlformats.org/drawingml/2006/main">
            <a:pPr algn="l">
              <a:lnSpc>
                <a:spcPct val="100000"/>
              </a:lnSpc>
              <a:buNone/>
              <a:defRPr sz="1275" b="0">
                <a:solidFill>
                  <a:srgbClr val="00355F"/>
                </a:solidFill>
                <a:latin typeface="Arial Unicode MS"/>
                <a:ea typeface="Arial Unicode MS"/>
                <a:cs typeface="Arial Unicode MS"/>
              </a:defRPr>
            </a:pPr>
            <a:r>
              <a:rPr sz="1275" b="0">
                <a:solidFill>
                  <a:srgbClr val="00355F"/>
                </a:solidFill>
                <a:latin typeface="Arial Unicode MS"/>
                <a:ea typeface="Arial Unicode MS"/>
                <a:cs typeface="Arial Unicode MS"/>
              </a:rPr>
              <a:t>Specialty building blocks</a:t>
            </a:r>
          </a:p>
        </p:txBody>
      </p:sp>
      <p:sp>
        <p:nvSpPr>
          <p:cNvPr id="17" name="Figure 8 label 16 line 1">
            <a:extLst xmlns:a="http://schemas.openxmlformats.org/drawingml/2006/main">
              <a:ext uri="{FF2B5EF4-FFF2-40B4-BE49-F238E27FC236}">
                <a16:creationId xmlns:a16="http://schemas.microsoft.com/office/drawing/2014/main" id="{DECD74E0-9BD1-4859-912F-CB2939DF987D}"/>
              </a:ext>
            </a:extLst>
          </p:cNvPr>
          <p:cNvSpPr>
            <a:spLocks xmlns:a="http://schemas.openxmlformats.org/drawingml/2006/main" noGrp="1"/>
          </p:cNvSpPr>
          <p:nvPr/>
        </p:nvSpPr>
        <p:spPr>
          <a:xfrm xmlns:a="http://schemas.openxmlformats.org/drawingml/2006/main" rot="0">
            <a:off x="3124429" y="6193877"/>
            <a:ext cx="1284268" cy="202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Unicode MS"/>
                <a:ea typeface="Arial Unicode MS"/>
                <a:cs typeface="Arial Unicode MS"/>
              </a:defRPr>
            </a:defPPr>
          </a:lstStyle>
          <a:p xmlns:a="http://schemas.openxmlformats.org/drawingml/2006/main">
            <a:pPr algn="l">
              <a:lnSpc>
                <a:spcPct val="100000"/>
              </a:lnSpc>
              <a:buNone/>
              <a:defRPr sz="1275" b="0">
                <a:solidFill>
                  <a:srgbClr val="00355F"/>
                </a:solidFill>
                <a:latin typeface="Arial Unicode MS"/>
                <a:ea typeface="Arial Unicode MS"/>
                <a:cs typeface="Arial Unicode MS"/>
              </a:defRPr>
            </a:pPr>
            <a:r>
              <a:rPr sz="1275" b="0">
                <a:solidFill>
                  <a:srgbClr val="00355F"/>
                </a:solidFill>
                <a:latin typeface="Arial Unicode MS"/>
                <a:ea typeface="Arial Unicode MS"/>
                <a:cs typeface="Arial Unicode MS"/>
              </a:rPr>
              <a:t>Generic labware</a:t>
            </a:r>
          </a:p>
        </p:txBody>
      </p:sp>
      <p:sp>
        <p:nvSpPr>
          <p:cNvPr id="18" name="Figure 8 label 17 line 1">
            <a:extLst xmlns:a="http://schemas.openxmlformats.org/drawingml/2006/main">
              <a:ext uri="{FF2B5EF4-FFF2-40B4-BE49-F238E27FC236}">
                <a16:creationId xmlns:a16="http://schemas.microsoft.com/office/drawing/2014/main" id="{7D8AAA37-6627-4E31-A341-980499CA08B0}"/>
              </a:ext>
            </a:extLst>
          </p:cNvPr>
          <p:cNvSpPr>
            <a:spLocks xmlns:a="http://schemas.openxmlformats.org/drawingml/2006/main" noGrp="1"/>
          </p:cNvSpPr>
          <p:nvPr/>
        </p:nvSpPr>
        <p:spPr>
          <a:xfrm xmlns:a="http://schemas.openxmlformats.org/drawingml/2006/main" rot="0">
            <a:off x="12575667" y="5203353"/>
            <a:ext cx="1635800" cy="202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Unicode MS"/>
                <a:ea typeface="Arial Unicode MS"/>
                <a:cs typeface="Arial Unicode MS"/>
              </a:defRPr>
            </a:defPPr>
          </a:lstStyle>
          <a:p xmlns:a="http://schemas.openxmlformats.org/drawingml/2006/main">
            <a:pPr algn="l">
              <a:lnSpc>
                <a:spcPct val="100000"/>
              </a:lnSpc>
              <a:buNone/>
              <a:defRPr sz="1275" b="0">
                <a:solidFill>
                  <a:srgbClr val="00355F"/>
                </a:solidFill>
                <a:latin typeface="Arial Unicode MS"/>
                <a:ea typeface="Arial Unicode MS"/>
                <a:cs typeface="Arial Unicode MS"/>
              </a:defRPr>
            </a:pPr>
            <a:r>
              <a:rPr sz="1275" b="0">
                <a:solidFill>
                  <a:srgbClr val="00355F"/>
                </a:solidFill>
                <a:latin typeface="Arial Unicode MS"/>
                <a:ea typeface="Arial Unicode MS"/>
                <a:cs typeface="Arial Unicode MS"/>
              </a:rPr>
              <a:t>Sequencing reagents</a:t>
            </a:r>
          </a:p>
        </p:txBody>
      </p:sp>
      <p:sp>
        <p:nvSpPr>
          <p:cNvPr id="19" name="Figure 8 label 18 line 1">
            <a:extLst xmlns:a="http://schemas.openxmlformats.org/drawingml/2006/main">
              <a:ext uri="{FF2B5EF4-FFF2-40B4-BE49-F238E27FC236}">
                <a16:creationId xmlns:a16="http://schemas.microsoft.com/office/drawing/2014/main" id="{16F1EE30-9FA2-4CB3-AA27-2C279C285FD6}"/>
              </a:ext>
            </a:extLst>
          </p:cNvPr>
          <p:cNvSpPr>
            <a:spLocks xmlns:a="http://schemas.openxmlformats.org/drawingml/2006/main" noGrp="1"/>
          </p:cNvSpPr>
          <p:nvPr/>
        </p:nvSpPr>
        <p:spPr>
          <a:xfrm xmlns:a="http://schemas.openxmlformats.org/drawingml/2006/main" rot="0">
            <a:off x="12089206" y="6056402"/>
            <a:ext cx="1608415" cy="202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Unicode MS"/>
                <a:ea typeface="Arial Unicode MS"/>
                <a:cs typeface="Arial Unicode MS"/>
              </a:defRPr>
            </a:defPPr>
          </a:lstStyle>
          <a:p xmlns:a="http://schemas.openxmlformats.org/drawingml/2006/main">
            <a:pPr algn="l">
              <a:lnSpc>
                <a:spcPct val="100000"/>
              </a:lnSpc>
              <a:buNone/>
              <a:defRPr sz="1275" b="0">
                <a:solidFill>
                  <a:srgbClr val="00355F"/>
                </a:solidFill>
                <a:latin typeface="Arial Unicode MS"/>
                <a:ea typeface="Arial Unicode MS"/>
                <a:cs typeface="Arial Unicode MS"/>
              </a:defRPr>
            </a:pPr>
            <a:r>
              <a:rPr sz="1275" b="0">
                <a:solidFill>
                  <a:srgbClr val="00355F"/>
                </a:solidFill>
                <a:latin typeface="Arial Unicode MS"/>
                <a:ea typeface="Arial Unicode MS"/>
                <a:cs typeface="Arial Unicode MS"/>
              </a:rPr>
              <a:t>Manufacturing resins</a:t>
            </a:r>
          </a:p>
        </p:txBody>
      </p:sp>
      <p:sp>
        <p:nvSpPr>
          <p:cNvPr id="20" name="Figure 8 label 19 line 1">
            <a:extLst xmlns:a="http://schemas.openxmlformats.org/drawingml/2006/main">
              <a:ext uri="{FF2B5EF4-FFF2-40B4-BE49-F238E27FC236}">
                <a16:creationId xmlns:a16="http://schemas.microsoft.com/office/drawing/2014/main" id="{8DB6C3F7-0F3C-493B-85BB-F6AC492D1717}"/>
              </a:ext>
            </a:extLst>
          </p:cNvPr>
          <p:cNvSpPr>
            <a:spLocks xmlns:a="http://schemas.openxmlformats.org/drawingml/2006/main" noGrp="1"/>
          </p:cNvSpPr>
          <p:nvPr/>
        </p:nvSpPr>
        <p:spPr>
          <a:xfrm xmlns:a="http://schemas.openxmlformats.org/drawingml/2006/main" rot="0">
            <a:off x="991870" y="420392"/>
            <a:ext cx="8030071" cy="436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750" b="1">
                <a:solidFill>
                  <a:srgbClr val="00355F"/>
                </a:solidFill>
                <a:latin typeface="Arial Unicode MS"/>
                <a:ea typeface="Arial Unicode MS"/>
                <a:cs typeface="Arial Unicode MS"/>
              </a:defRPr>
            </a:defPPr>
          </a:lstStyle>
          <a:p xmlns:a="http://schemas.openxmlformats.org/drawingml/2006/main">
            <a:pPr algn="l">
              <a:lnSpc>
                <a:spcPct val="100000"/>
              </a:lnSpc>
              <a:buNone/>
              <a:defRPr sz="2750" b="1">
                <a:solidFill>
                  <a:srgbClr val="00355F"/>
                </a:solidFill>
                <a:latin typeface="Arial Unicode MS"/>
                <a:ea typeface="Arial Unicode MS"/>
                <a:cs typeface="Arial Unicode MS"/>
              </a:defRPr>
            </a:pPr>
            <a:r>
              <a:rPr sz="2750" b="1">
                <a:solidFill>
                  <a:srgbClr val="00355F"/>
                </a:solidFill>
                <a:latin typeface="Arial Unicode MS"/>
                <a:ea typeface="Arial Unicode MS"/>
                <a:cs typeface="Arial Unicode MS"/>
              </a:rPr>
              <a:t>08  Potential supply constraints over 12–24 months</a:t>
            </a:r>
          </a:p>
        </p:txBody>
      </p:sp>
      <p:sp>
        <p:nvSpPr>
          <p:cNvPr id="21" name="Figure 8 label 20 line 1">
            <a:extLst xmlns:a="http://schemas.openxmlformats.org/drawingml/2006/main">
              <a:ext uri="{FF2B5EF4-FFF2-40B4-BE49-F238E27FC236}">
                <a16:creationId xmlns:a16="http://schemas.microsoft.com/office/drawing/2014/main" id="{32E04789-CBDE-4003-A018-887A105CC1DD}"/>
              </a:ext>
            </a:extLst>
          </p:cNvPr>
          <p:cNvSpPr>
            <a:spLocks xmlns:a="http://schemas.openxmlformats.org/drawingml/2006/main" noGrp="1"/>
          </p:cNvSpPr>
          <p:nvPr/>
        </p:nvSpPr>
        <p:spPr>
          <a:xfrm xmlns:a="http://schemas.openxmlformats.org/drawingml/2006/main" rot="0">
            <a:off x="15695588" y="661601"/>
            <a:ext cx="1070025" cy="188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188"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188" b="0">
                <a:solidFill>
                  <a:srgbClr val="00355F"/>
                </a:solidFill>
                <a:latin typeface="Arial Unicode MS"/>
                <a:ea typeface="Arial Unicode MS"/>
                <a:cs typeface="Arial Unicode MS"/>
              </a:defRPr>
            </a:pPr>
            <a:r>
              <a:rPr sz="1188" b="0">
                <a:solidFill>
                  <a:srgbClr val="00355F"/>
                </a:solidFill>
                <a:latin typeface="Arial Unicode MS"/>
                <a:ea typeface="Arial Unicode MS"/>
                <a:cs typeface="Arial Unicode MS"/>
              </a:rPr>
              <a:t>HYPOTHESIS</a:t>
            </a:r>
          </a:p>
        </p:txBody>
      </p:sp>
      <p:sp>
        <p:nvSpPr>
          <p:cNvPr id="22" name="Figure 8 label 21 line 1">
            <a:extLst xmlns:a="http://schemas.openxmlformats.org/drawingml/2006/main">
              <a:ext uri="{FF2B5EF4-FFF2-40B4-BE49-F238E27FC236}">
                <a16:creationId xmlns:a16="http://schemas.microsoft.com/office/drawing/2014/main" id="{C84A3145-0E65-421D-A9F9-35BE67FB3012}"/>
              </a:ext>
            </a:extLst>
          </p:cNvPr>
          <p:cNvSpPr>
            <a:spLocks xmlns:a="http://schemas.openxmlformats.org/drawingml/2006/main" noGrp="1"/>
          </p:cNvSpPr>
          <p:nvPr/>
        </p:nvSpPr>
        <p:spPr>
          <a:xfrm xmlns:a="http://schemas.openxmlformats.org/drawingml/2006/main" rot="0">
            <a:off x="998220" y="1249487"/>
            <a:ext cx="9114384"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Relative expansion and qualification constraints over 12–24 months; current shortages are not established.</a:t>
            </a:r>
          </a:p>
        </p:txBody>
      </p:sp>
      <p:sp>
        <p:nvSpPr>
          <p:cNvPr id="23" name="Figure 8 label 22 line 1">
            <a:extLst xmlns:a="http://schemas.openxmlformats.org/drawingml/2006/main">
              <a:ext uri="{FF2B5EF4-FFF2-40B4-BE49-F238E27FC236}">
                <a16:creationId xmlns:a16="http://schemas.microsoft.com/office/drawing/2014/main" id="{031C8863-226F-4FDA-8187-A8B11DCA65A1}"/>
              </a:ext>
            </a:extLst>
          </p:cNvPr>
          <p:cNvSpPr>
            <a:spLocks xmlns:a="http://schemas.openxmlformats.org/drawingml/2006/main" noGrp="1"/>
          </p:cNvSpPr>
          <p:nvPr/>
        </p:nvSpPr>
        <p:spPr>
          <a:xfrm xmlns:a="http://schemas.openxmlformats.org/drawingml/2006/main" rot="0">
            <a:off x="999173" y="9256035"/>
            <a:ext cx="8095059"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Track lead times, stockouts, qualification, yields and prices. Manufacturing resins have a longer demand lag.</a:t>
            </a:r>
          </a:p>
        </p:txBody>
      </p:sp>
      <p:sp>
        <p:nvSpPr>
          <p:cNvPr id="24" name="Figure 8 label 23 line 1">
            <a:extLst xmlns:a="http://schemas.openxmlformats.org/drawingml/2006/main">
              <a:ext uri="{FF2B5EF4-FFF2-40B4-BE49-F238E27FC236}">
                <a16:creationId xmlns:a16="http://schemas.microsoft.com/office/drawing/2014/main" id="{40899E9B-69D5-45C5-ABC5-778A16B9E3A1}"/>
              </a:ext>
            </a:extLst>
          </p:cNvPr>
          <p:cNvSpPr>
            <a:spLocks xmlns:a="http://schemas.openxmlformats.org/drawingml/2006/main" noGrp="1"/>
          </p:cNvSpPr>
          <p:nvPr/>
        </p:nvSpPr>
        <p:spPr>
          <a:xfrm xmlns:a="http://schemas.openxmlformats.org/drawingml/2006/main" rot="0">
            <a:off x="1000316" y="9675546"/>
            <a:ext cx="6633895" cy="1726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88" b="0">
                <a:solidFill>
                  <a:srgbClr val="00355F"/>
                </a:solidFill>
                <a:latin typeface="Arial Unicode MS"/>
                <a:ea typeface="Arial Unicode MS"/>
                <a:cs typeface="Arial Unicode MS"/>
              </a:defRPr>
            </a:defPPr>
          </a:lstStyle>
          <a:p xmlns:a="http://schemas.openxmlformats.org/drawingml/2006/main">
            <a:pPr algn="l">
              <a:lnSpc>
                <a:spcPct val="100000"/>
              </a:lnSpc>
              <a:buNone/>
              <a:defRPr sz="1088" b="0">
                <a:solidFill>
                  <a:srgbClr val="00355F"/>
                </a:solidFill>
                <a:latin typeface="Arial Unicode MS"/>
                <a:ea typeface="Arial Unicode MS"/>
                <a:cs typeface="Arial Unicode MS"/>
              </a:defRPr>
            </a:pPr>
            <a:r>
              <a:rPr sz="1088" b="0">
                <a:solidFill>
                  <a:srgbClr val="00355F"/>
                </a:solidFill>
                <a:latin typeface="Arial Unicode MS"/>
                <a:ea typeface="Arial Unicode MS"/>
                <a:cs typeface="Arial Unicode MS"/>
              </a:rPr>
              <a:t>Source: supplied framework and analyst hypotheses. Technical barriers do not prove a capacity bottleneck.</a:t>
            </a:r>
          </a:p>
        </p:txBody>
      </p:sp>
      <p:sp>
        <p:nvSpPr>
          <p:cNvPr id="25" name="Figure 8 label 24 line 1">
            <a:extLst xmlns:a="http://schemas.openxmlformats.org/drawingml/2006/main">
              <a:ext uri="{FF2B5EF4-FFF2-40B4-BE49-F238E27FC236}">
                <a16:creationId xmlns:a16="http://schemas.microsoft.com/office/drawing/2014/main" id="{3FFF3635-1D78-4A1E-8855-C487AF132095}"/>
              </a:ext>
            </a:extLst>
          </p:cNvPr>
          <p:cNvSpPr>
            <a:spLocks xmlns:a="http://schemas.openxmlformats.org/drawingml/2006/main" noGrp="1"/>
          </p:cNvSpPr>
          <p:nvPr/>
        </p:nvSpPr>
        <p:spPr>
          <a:xfrm xmlns:a="http://schemas.openxmlformats.org/drawingml/2006/main" rot="0">
            <a:off x="16440260" y="9667497"/>
            <a:ext cx="841901" cy="1825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150" b="0">
                <a:solidFill>
                  <a:srgbClr val="00355F"/>
                </a:solidFill>
                <a:latin typeface="Arial Unicode MS"/>
                <a:ea typeface="Arial Unicode MS"/>
                <a:cs typeface="Arial Unicode MS"/>
              </a:defRPr>
            </a:defPPr>
          </a:lstStyle>
          <a:p xmlns:a="http://schemas.openxmlformats.org/drawingml/2006/main">
            <a:pPr algn="r">
              <a:lnSpc>
                <a:spcPct val="100000"/>
              </a:lnSpc>
              <a:buNone/>
              <a:defRPr sz="1150" b="0">
                <a:solidFill>
                  <a:srgbClr val="00355F"/>
                </a:solidFill>
                <a:latin typeface="Arial Unicode MS"/>
                <a:ea typeface="Arial Unicode MS"/>
                <a:cs typeface="Arial Unicode MS"/>
              </a:defRPr>
            </a:pPr>
            <a:r>
              <a:rPr sz="1150" b="0">
                <a:solidFill>
                  <a:srgbClr val="00355F"/>
                </a:solidFill>
                <a:latin typeface="Arial Unicode MS"/>
                <a:ea typeface="Arial Unicode MS"/>
                <a:cs typeface="Arial Unicode MS"/>
              </a:rPr>
              <a:t>2026-10-12</a:t>
            </a:r>
          </a:p>
        </p:txBody>
      </p:sp>
      <p:sp>
        <p:nvSpPr>
          <p:cNvPr id="26" name="Figure 8 label 25 line 1">
            <a:extLst xmlns:a="http://schemas.openxmlformats.org/drawingml/2006/main">
              <a:ext uri="{FF2B5EF4-FFF2-40B4-BE49-F238E27FC236}">
                <a16:creationId xmlns:a16="http://schemas.microsoft.com/office/drawing/2014/main" id="{1C9EABEB-1743-474F-8AFA-301A165D6F0D}"/>
              </a:ext>
            </a:extLst>
          </p:cNvPr>
          <p:cNvSpPr>
            <a:spLocks xmlns:a="http://schemas.openxmlformats.org/drawingml/2006/main" noGrp="1"/>
          </p:cNvSpPr>
          <p:nvPr/>
        </p:nvSpPr>
        <p:spPr>
          <a:xfrm xmlns:a="http://schemas.openxmlformats.org/drawingml/2006/main" rot="0">
            <a:off x="15811500" y="3274865"/>
            <a:ext cx="186064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1">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1">
                <a:solidFill>
                  <a:srgbClr val="00355F"/>
                </a:solidFill>
                <a:latin typeface="Arial Unicode MS"/>
                <a:ea typeface="Arial Unicode MS"/>
                <a:cs typeface="Arial Unicode MS"/>
              </a:defRPr>
            </a:pPr>
            <a:r>
              <a:rPr sz="1500" b="1">
                <a:solidFill>
                  <a:srgbClr val="00355F"/>
                </a:solidFill>
                <a:latin typeface="Arial Unicode MS"/>
                <a:ea typeface="Arial Unicode MS"/>
                <a:cs typeface="Arial Unicode MS"/>
              </a:rPr>
              <a:t>Potential opportunity</a:t>
            </a:r>
          </a:p>
        </p:txBody>
      </p:sp>
      <p:sp>
        <p:nvSpPr>
          <p:cNvPr id="27" name="Figure 8 label 26 line 1">
            <a:extLst xmlns:a="http://schemas.openxmlformats.org/drawingml/2006/main">
              <a:ext uri="{FF2B5EF4-FFF2-40B4-BE49-F238E27FC236}">
                <a16:creationId xmlns:a16="http://schemas.microsoft.com/office/drawing/2014/main" id="{58FC9E2A-4C7D-4182-BC41-55BA1B4C4498}"/>
              </a:ext>
            </a:extLst>
          </p:cNvPr>
          <p:cNvSpPr>
            <a:spLocks xmlns:a="http://schemas.openxmlformats.org/drawingml/2006/main" noGrp="1"/>
          </p:cNvSpPr>
          <p:nvPr/>
        </p:nvSpPr>
        <p:spPr>
          <a:xfrm xmlns:a="http://schemas.openxmlformats.org/drawingml/2006/main" rot="0">
            <a:off x="15812135" y="4388424"/>
            <a:ext cx="1307406" cy="2182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75" b="0">
                <a:solidFill>
                  <a:srgbClr val="00355F"/>
                </a:solidFill>
                <a:latin typeface="Arial Unicode MS"/>
                <a:ea typeface="Arial Unicode MS"/>
                <a:cs typeface="Arial Unicode MS"/>
              </a:defRPr>
            </a:defPPr>
          </a:lstStyle>
          <a:p xmlns:a="http://schemas.openxmlformats.org/drawingml/2006/main">
            <a:pPr algn="l">
              <a:lnSpc>
                <a:spcPct val="100000"/>
              </a:lnSpc>
              <a:buNone/>
              <a:defRPr sz="1375" b="0">
                <a:solidFill>
                  <a:srgbClr val="00355F"/>
                </a:solidFill>
                <a:latin typeface="Arial Unicode MS"/>
                <a:ea typeface="Arial Unicode MS"/>
                <a:cs typeface="Arial Unicode MS"/>
              </a:defRPr>
            </a:pPr>
            <a:r>
              <a:rPr sz="1375" b="0">
                <a:solidFill>
                  <a:srgbClr val="00355F"/>
                </a:solidFill>
                <a:latin typeface="Arial Unicode MS"/>
                <a:ea typeface="Arial Unicode MS"/>
                <a:cs typeface="Arial Unicode MS"/>
              </a:rPr>
              <a:t>Strong demand</a:t>
            </a:r>
          </a:p>
        </p:txBody>
      </p:sp>
      <p:sp>
        <p:nvSpPr>
          <p:cNvPr id="28" name="Figure 8 label 27 line 1">
            <a:extLst xmlns:a="http://schemas.openxmlformats.org/drawingml/2006/main">
              <a:ext uri="{FF2B5EF4-FFF2-40B4-BE49-F238E27FC236}">
                <a16:creationId xmlns:a16="http://schemas.microsoft.com/office/drawing/2014/main" id="{F1C1F5E8-0E9A-4636-9A92-749F386789A4}"/>
              </a:ext>
            </a:extLst>
          </p:cNvPr>
          <p:cNvSpPr>
            <a:spLocks xmlns:a="http://schemas.openxmlformats.org/drawingml/2006/main" noGrp="1"/>
          </p:cNvSpPr>
          <p:nvPr/>
        </p:nvSpPr>
        <p:spPr>
          <a:xfrm xmlns:a="http://schemas.openxmlformats.org/drawingml/2006/main" rot="0">
            <a:off x="15812135" y="4641202"/>
            <a:ext cx="1336427" cy="2182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75" b="0">
                <a:solidFill>
                  <a:srgbClr val="00355F"/>
                </a:solidFill>
                <a:latin typeface="Arial Unicode MS"/>
                <a:ea typeface="Arial Unicode MS"/>
                <a:cs typeface="Arial Unicode MS"/>
              </a:defRPr>
            </a:defPPr>
          </a:lstStyle>
          <a:p xmlns:a="http://schemas.openxmlformats.org/drawingml/2006/main">
            <a:pPr algn="l">
              <a:lnSpc>
                <a:spcPct val="100000"/>
              </a:lnSpc>
              <a:buNone/>
              <a:defRPr sz="1375" b="0">
                <a:solidFill>
                  <a:srgbClr val="00355F"/>
                </a:solidFill>
                <a:latin typeface="Arial Unicode MS"/>
                <a:ea typeface="Arial Unicode MS"/>
                <a:cs typeface="Arial Unicode MS"/>
              </a:defRPr>
            </a:pPr>
            <a:r>
              <a:rPr sz="1375" b="0">
                <a:solidFill>
                  <a:srgbClr val="00355F"/>
                </a:solidFill>
                <a:latin typeface="Arial Unicode MS"/>
                <a:ea typeface="Arial Unicode MS"/>
                <a:cs typeface="Arial Unicode MS"/>
              </a:rPr>
              <a:t>Slow expansion</a:t>
            </a:r>
          </a:p>
        </p:txBody>
      </p:sp>
      <p:sp>
        <p:nvSpPr>
          <p:cNvPr id="29" name="Figure 8 label 28 line 1">
            <a:extLst xmlns:a="http://schemas.openxmlformats.org/drawingml/2006/main">
              <a:ext uri="{FF2B5EF4-FFF2-40B4-BE49-F238E27FC236}">
                <a16:creationId xmlns:a16="http://schemas.microsoft.com/office/drawing/2014/main" id="{33773A9A-345C-4626-AE33-A98BEB83B88B}"/>
              </a:ext>
            </a:extLst>
          </p:cNvPr>
          <p:cNvSpPr>
            <a:spLocks xmlns:a="http://schemas.openxmlformats.org/drawingml/2006/main" noGrp="1"/>
          </p:cNvSpPr>
          <p:nvPr/>
        </p:nvSpPr>
        <p:spPr>
          <a:xfrm xmlns:a="http://schemas.openxmlformats.org/drawingml/2006/main" rot="0">
            <a:off x="15812135" y="4892097"/>
            <a:ext cx="1462633" cy="2182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75" b="0">
                <a:solidFill>
                  <a:srgbClr val="00355F"/>
                </a:solidFill>
                <a:latin typeface="Arial Unicode MS"/>
                <a:ea typeface="Arial Unicode MS"/>
                <a:cs typeface="Arial Unicode MS"/>
              </a:defRPr>
            </a:defPPr>
          </a:lstStyle>
          <a:p xmlns:a="http://schemas.openxmlformats.org/drawingml/2006/main">
            <a:pPr algn="l">
              <a:lnSpc>
                <a:spcPct val="100000"/>
              </a:lnSpc>
              <a:buNone/>
              <a:defRPr sz="1375" b="0">
                <a:solidFill>
                  <a:srgbClr val="00355F"/>
                </a:solidFill>
                <a:latin typeface="Arial Unicode MS"/>
                <a:ea typeface="Arial Unicode MS"/>
                <a:cs typeface="Arial Unicode MS"/>
              </a:defRPr>
            </a:pPr>
            <a:r>
              <a:rPr sz="1375" b="0">
                <a:solidFill>
                  <a:srgbClr val="00355F"/>
                </a:solidFill>
                <a:latin typeface="Arial Unicode MS"/>
                <a:ea typeface="Arial Unicode MS"/>
                <a:cs typeface="Arial Unicode MS"/>
              </a:rPr>
              <a:t>Slow qualification</a:t>
            </a:r>
          </a:p>
        </p:txBody>
      </p:sp>
      <p:sp>
        <p:nvSpPr>
          <p:cNvPr id="30" name="Figure 8 label 29 line 1">
            <a:extLst xmlns:a="http://schemas.openxmlformats.org/drawingml/2006/main">
              <a:ext uri="{FF2B5EF4-FFF2-40B4-BE49-F238E27FC236}">
                <a16:creationId xmlns:a16="http://schemas.microsoft.com/office/drawing/2014/main" id="{55394A30-669F-481D-9CF1-1F4000256371}"/>
              </a:ext>
            </a:extLst>
          </p:cNvPr>
          <p:cNvSpPr>
            <a:spLocks xmlns:a="http://schemas.openxmlformats.org/drawingml/2006/main" noGrp="1"/>
          </p:cNvSpPr>
          <p:nvPr/>
        </p:nvSpPr>
        <p:spPr>
          <a:xfrm xmlns:a="http://schemas.openxmlformats.org/drawingml/2006/main" rot="0">
            <a:off x="15812135" y="5139374"/>
            <a:ext cx="1491952" cy="21828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75" b="0">
                <a:solidFill>
                  <a:srgbClr val="00355F"/>
                </a:solidFill>
                <a:latin typeface="Arial Unicode MS"/>
                <a:ea typeface="Arial Unicode MS"/>
                <a:cs typeface="Arial Unicode MS"/>
              </a:defRPr>
            </a:defPPr>
          </a:lstStyle>
          <a:p xmlns:a="http://schemas.openxmlformats.org/drawingml/2006/main">
            <a:pPr algn="l">
              <a:lnSpc>
                <a:spcPct val="100000"/>
              </a:lnSpc>
              <a:buNone/>
              <a:defRPr sz="1375" b="0">
                <a:solidFill>
                  <a:srgbClr val="00355F"/>
                </a:solidFill>
                <a:latin typeface="Arial Unicode MS"/>
                <a:ea typeface="Arial Unicode MS"/>
                <a:cs typeface="Arial Unicode MS"/>
              </a:defRPr>
            </a:pPr>
            <a:r>
              <a:rPr sz="1375" b="0">
                <a:solidFill>
                  <a:srgbClr val="00355F"/>
                </a:solidFill>
                <a:latin typeface="Arial Unicode MS"/>
                <a:ea typeface="Arial Unicode MS"/>
                <a:cs typeface="Arial Unicode MS"/>
              </a:rPr>
              <a:t>All need evidence</a:t>
            </a:r>
          </a:p>
        </p:txBody>
      </p:sp>
      <p:sp>
        <p:nvSpPr>
          <p:cNvPr id="31" name="Figure 8 label 30 line 1">
            <a:extLst xmlns:a="http://schemas.openxmlformats.org/drawingml/2006/main">
              <a:ext uri="{FF2B5EF4-FFF2-40B4-BE49-F238E27FC236}">
                <a16:creationId xmlns:a16="http://schemas.microsoft.com/office/drawing/2014/main" id="{7928AA2E-4773-4BA3-A486-3CB628E0241A}"/>
              </a:ext>
            </a:extLst>
          </p:cNvPr>
          <p:cNvSpPr>
            <a:spLocks xmlns:a="http://schemas.openxmlformats.org/drawingml/2006/main" noGrp="1"/>
          </p:cNvSpPr>
          <p:nvPr/>
        </p:nvSpPr>
        <p:spPr>
          <a:xfrm xmlns:a="http://schemas.openxmlformats.org/drawingml/2006/main" rot="0">
            <a:off x="15812262" y="6652643"/>
            <a:ext cx="1521887"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Check inventories,</a:t>
            </a:r>
          </a:p>
        </p:txBody>
      </p:sp>
      <p:sp>
        <p:nvSpPr>
          <p:cNvPr id="32" name="Figure 8 label 31 line 1">
            <a:extLst xmlns:a="http://schemas.openxmlformats.org/drawingml/2006/main">
              <a:ext uri="{FF2B5EF4-FFF2-40B4-BE49-F238E27FC236}">
                <a16:creationId xmlns:a16="http://schemas.microsoft.com/office/drawing/2014/main" id="{7A42A5D6-CB9C-4C11-A423-02AB73FD9C56}"/>
              </a:ext>
            </a:extLst>
          </p:cNvPr>
          <p:cNvSpPr>
            <a:spLocks xmlns:a="http://schemas.openxmlformats.org/drawingml/2006/main" noGrp="1"/>
          </p:cNvSpPr>
          <p:nvPr/>
        </p:nvSpPr>
        <p:spPr>
          <a:xfrm xmlns:a="http://schemas.openxmlformats.org/drawingml/2006/main" rot="0">
            <a:off x="15812262" y="6895424"/>
            <a:ext cx="931188"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orders and</a:t>
            </a:r>
          </a:p>
        </p:txBody>
      </p:sp>
      <p:sp>
        <p:nvSpPr>
          <p:cNvPr id="33" name="Figure 8 label 32 line 1">
            <a:extLst xmlns:a="http://schemas.openxmlformats.org/drawingml/2006/main">
              <a:ext uri="{FF2B5EF4-FFF2-40B4-BE49-F238E27FC236}">
                <a16:creationId xmlns:a16="http://schemas.microsoft.com/office/drawing/2014/main" id="{14481CD9-AC3E-4806-8165-7436FAFE9017}"/>
              </a:ext>
            </a:extLst>
          </p:cNvPr>
          <p:cNvSpPr>
            <a:spLocks xmlns:a="http://schemas.openxmlformats.org/drawingml/2006/main" noGrp="1"/>
          </p:cNvSpPr>
          <p:nvPr/>
        </p:nvSpPr>
        <p:spPr>
          <a:xfrm xmlns:a="http://schemas.openxmlformats.org/drawingml/2006/main" rot="0">
            <a:off x="15812262" y="7138206"/>
            <a:ext cx="892939"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lead times</a:t>
            </a:r>
          </a:p>
        </p:txBody>
      </p:sp>
    </p:spTree>
    <p:extLst>
      <p:ext uri="{BB962C8B-B14F-4D97-AF65-F5344CB8AC3E}">
        <p14:creationId xmlns:p14="http://schemas.microsoft.com/office/powerpoint/2010/main" val="39856472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7" name="">
            <a:extLst xmlns:a="http://schemas.openxmlformats.org/drawingml/2006/main">
              <a:ext uri="{FF2B5EF4-FFF2-40B4-BE49-F238E27FC236}">
                <a16:creationId xmlns:a16="http://schemas.microsoft.com/office/drawing/2014/main" id="{52016049-DD05-497A-BC36-202844B2038B}"/>
              </a:ext>
            </a:extLst>
          </p:cNvPr>
          <p:cNvPicPr>
            <a:picLocks xmlns:a="http://schemas.openxmlformats.org/drawingml/2006/main" noChangeAspect="1"/>
          </p:cNvPicPr>
          <p:nvPr/>
        </p:nvPicPr>
        <p:blipFill>
          <a:blip xmlns:r="http://schemas.openxmlformats.org/officeDocument/2006/relationships" xmlns:a="http://schemas.openxmlformats.org/drawingml/2006/main" r:embed="Rbbedcac87a934290"/>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Figure 9 label 1 line 1">
            <a:extLst xmlns:a="http://schemas.openxmlformats.org/drawingml/2006/main">
              <a:ext uri="{FF2B5EF4-FFF2-40B4-BE49-F238E27FC236}">
                <a16:creationId xmlns:a16="http://schemas.microsoft.com/office/drawing/2014/main" id="{56C9E050-E570-4287-893A-E6DA7350A7BA}"/>
              </a:ext>
            </a:extLst>
          </p:cNvPr>
          <p:cNvSpPr>
            <a:spLocks xmlns:a="http://schemas.openxmlformats.org/drawingml/2006/main" noGrp="1"/>
          </p:cNvSpPr>
          <p:nvPr/>
        </p:nvSpPr>
        <p:spPr>
          <a:xfrm xmlns:a="http://schemas.openxmlformats.org/drawingml/2006/main" rot="0">
            <a:off x="2387617" y="7924632"/>
            <a:ext cx="473422"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Low</a:t>
            </a:r>
          </a:p>
        </p:txBody>
      </p:sp>
      <p:sp>
        <p:nvSpPr>
          <p:cNvPr id="3" name="Figure 9 label 2 line 1">
            <a:extLst xmlns:a="http://schemas.openxmlformats.org/drawingml/2006/main">
              <a:ext uri="{FF2B5EF4-FFF2-40B4-BE49-F238E27FC236}">
                <a16:creationId xmlns:a16="http://schemas.microsoft.com/office/drawing/2014/main" id="{754E776B-9877-4C5D-94F2-9755E3FFA298}"/>
              </a:ext>
            </a:extLst>
          </p:cNvPr>
          <p:cNvSpPr>
            <a:spLocks xmlns:a="http://schemas.openxmlformats.org/drawingml/2006/main" noGrp="1"/>
          </p:cNvSpPr>
          <p:nvPr/>
        </p:nvSpPr>
        <p:spPr>
          <a:xfrm xmlns:a="http://schemas.openxmlformats.org/drawingml/2006/main" rot="0">
            <a:off x="6503000" y="7924632"/>
            <a:ext cx="80143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Medium</a:t>
            </a:r>
          </a:p>
        </p:txBody>
      </p:sp>
      <p:sp>
        <p:nvSpPr>
          <p:cNvPr id="4" name="Figure 9 label 3 line 1">
            <a:extLst xmlns:a="http://schemas.openxmlformats.org/drawingml/2006/main">
              <a:ext uri="{FF2B5EF4-FFF2-40B4-BE49-F238E27FC236}">
                <a16:creationId xmlns:a16="http://schemas.microsoft.com/office/drawing/2014/main" id="{DCB9A7C6-1847-48D2-8269-FCED2A15A4DC}"/>
              </a:ext>
            </a:extLst>
          </p:cNvPr>
          <p:cNvSpPr>
            <a:spLocks xmlns:a="http://schemas.openxmlformats.org/drawingml/2006/main" noGrp="1"/>
          </p:cNvSpPr>
          <p:nvPr/>
        </p:nvSpPr>
        <p:spPr>
          <a:xfrm xmlns:a="http://schemas.openxmlformats.org/drawingml/2006/main" rot="0">
            <a:off x="10925268" y="7924632"/>
            <a:ext cx="51568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High</a:t>
            </a:r>
          </a:p>
        </p:txBody>
      </p:sp>
      <p:sp>
        <p:nvSpPr>
          <p:cNvPr id="5" name="Figure 9 label 4 line 1">
            <a:extLst xmlns:a="http://schemas.openxmlformats.org/drawingml/2006/main">
              <a:ext uri="{FF2B5EF4-FFF2-40B4-BE49-F238E27FC236}">
                <a16:creationId xmlns:a16="http://schemas.microsoft.com/office/drawing/2014/main" id="{A572E7FA-3F5C-4219-A511-DF6C26DDDEB4}"/>
              </a:ext>
            </a:extLst>
          </p:cNvPr>
          <p:cNvSpPr>
            <a:spLocks xmlns:a="http://schemas.openxmlformats.org/drawingml/2006/main" noGrp="1"/>
          </p:cNvSpPr>
          <p:nvPr/>
        </p:nvSpPr>
        <p:spPr>
          <a:xfrm xmlns:a="http://schemas.openxmlformats.org/drawingml/2006/main" rot="0">
            <a:off x="4883750" y="8291493"/>
            <a:ext cx="403994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Direct exposure to AI build-and-test demand →</a:t>
            </a:r>
          </a:p>
        </p:txBody>
      </p:sp>
      <p:sp>
        <p:nvSpPr>
          <p:cNvPr id="6" name="Figure 9 label 5 line 1">
            <a:extLst xmlns:a="http://schemas.openxmlformats.org/drawingml/2006/main">
              <a:ext uri="{FF2B5EF4-FFF2-40B4-BE49-F238E27FC236}">
                <a16:creationId xmlns:a16="http://schemas.microsoft.com/office/drawing/2014/main" id="{C5BE9C43-4DF0-4252-B87D-DAAA50A90A44}"/>
              </a:ext>
            </a:extLst>
          </p:cNvPr>
          <p:cNvSpPr>
            <a:spLocks xmlns:a="http://schemas.openxmlformats.org/drawingml/2006/main" noGrp="1"/>
          </p:cNvSpPr>
          <p:nvPr/>
        </p:nvSpPr>
        <p:spPr>
          <a:xfrm xmlns:a="http://schemas.openxmlformats.org/drawingml/2006/main" rot="0">
            <a:off x="922308" y="7147349"/>
            <a:ext cx="473422"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Low</a:t>
            </a:r>
          </a:p>
        </p:txBody>
      </p:sp>
      <p:sp>
        <p:nvSpPr>
          <p:cNvPr id="7" name="Figure 9 label 6 line 1">
            <a:extLst xmlns:a="http://schemas.openxmlformats.org/drawingml/2006/main">
              <a:ext uri="{FF2B5EF4-FFF2-40B4-BE49-F238E27FC236}">
                <a16:creationId xmlns:a16="http://schemas.microsoft.com/office/drawing/2014/main" id="{505A2ED2-B0C0-47DC-90F7-37BA7DB15443}"/>
              </a:ext>
            </a:extLst>
          </p:cNvPr>
          <p:cNvSpPr>
            <a:spLocks xmlns:a="http://schemas.openxmlformats.org/drawingml/2006/main" noGrp="1"/>
          </p:cNvSpPr>
          <p:nvPr/>
        </p:nvSpPr>
        <p:spPr>
          <a:xfrm xmlns:a="http://schemas.openxmlformats.org/drawingml/2006/main" rot="0">
            <a:off x="594291" y="4945931"/>
            <a:ext cx="80143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Medium</a:t>
            </a:r>
          </a:p>
        </p:txBody>
      </p:sp>
      <p:sp>
        <p:nvSpPr>
          <p:cNvPr id="8" name="Figure 9 label 7 line 1">
            <a:extLst xmlns:a="http://schemas.openxmlformats.org/drawingml/2006/main">
              <a:ext uri="{FF2B5EF4-FFF2-40B4-BE49-F238E27FC236}">
                <a16:creationId xmlns:a16="http://schemas.microsoft.com/office/drawing/2014/main" id="{48E9FAB6-FD84-4F1F-BE6F-FD47BC639614}"/>
              </a:ext>
            </a:extLst>
          </p:cNvPr>
          <p:cNvSpPr>
            <a:spLocks xmlns:a="http://schemas.openxmlformats.org/drawingml/2006/main" noGrp="1"/>
          </p:cNvSpPr>
          <p:nvPr/>
        </p:nvSpPr>
        <p:spPr>
          <a:xfrm xmlns:a="http://schemas.openxmlformats.org/drawingml/2006/main" rot="0">
            <a:off x="880041" y="2744513"/>
            <a:ext cx="51568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500" b="0">
                <a:solidFill>
                  <a:srgbClr val="00355F"/>
                </a:solidFill>
                <a:latin typeface="Arial Unicode MS"/>
                <a:ea typeface="Arial Unicode MS"/>
                <a:cs typeface="Arial Unicode MS"/>
              </a:defRPr>
            </a:defPPr>
          </a:lstStyle>
          <a:p xmlns:a="http://schemas.openxmlformats.org/drawingml/2006/main">
            <a:pPr algn="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High</a:t>
            </a:r>
          </a:p>
        </p:txBody>
      </p:sp>
      <p:sp>
        <p:nvSpPr>
          <p:cNvPr id="9" name="Figure 9 label 8 line 1">
            <a:extLst xmlns:a="http://schemas.openxmlformats.org/drawingml/2006/main">
              <a:ext uri="{FF2B5EF4-FFF2-40B4-BE49-F238E27FC236}">
                <a16:creationId xmlns:a16="http://schemas.microsoft.com/office/drawing/2014/main" id="{BB61C4C3-3CB4-42DB-A468-F729CF5BD7DA}"/>
              </a:ext>
            </a:extLst>
          </p:cNvPr>
          <p:cNvSpPr>
            <a:spLocks xmlns:a="http://schemas.openxmlformats.org/drawingml/2006/main" noGrp="1"/>
          </p:cNvSpPr>
          <p:nvPr/>
        </p:nvSpPr>
        <p:spPr>
          <a:xfrm xmlns:a="http://schemas.openxmlformats.org/drawingml/2006/main" rot="16200000">
            <a:off x="-1393066" y="4918710"/>
            <a:ext cx="3743176"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Supply barriers / global customer access →</a:t>
            </a:r>
          </a:p>
        </p:txBody>
      </p:sp>
      <p:sp>
        <p:nvSpPr>
          <p:cNvPr id="10" name="Figure 9 label 9 line 1">
            <a:extLst xmlns:a="http://schemas.openxmlformats.org/drawingml/2006/main">
              <a:ext uri="{FF2B5EF4-FFF2-40B4-BE49-F238E27FC236}">
                <a16:creationId xmlns:a16="http://schemas.microsoft.com/office/drawing/2014/main" id="{1DFC7F07-1FC7-4382-BAAB-01D83FDA3CB3}"/>
              </a:ext>
            </a:extLst>
          </p:cNvPr>
          <p:cNvSpPr>
            <a:spLocks xmlns:a="http://schemas.openxmlformats.org/drawingml/2006/main" noGrp="1"/>
          </p:cNvSpPr>
          <p:nvPr/>
        </p:nvSpPr>
        <p:spPr>
          <a:xfrm xmlns:a="http://schemas.openxmlformats.org/drawingml/2006/main" rot="0">
            <a:off x="9366521" y="2832061"/>
            <a:ext cx="1442145"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313" b="0">
                <a:solidFill>
                  <a:srgbClr val="00355F"/>
                </a:solidFill>
                <a:latin typeface="Arial Unicode MS"/>
                <a:ea typeface="Arial Unicode MS"/>
                <a:cs typeface="Arial Unicode MS"/>
              </a:defRPr>
            </a:defPPr>
          </a:lstStyle>
          <a:p xmlns:a="http://schemas.openxmlformats.org/drawingml/2006/main">
            <a:pPr algn="r">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ACROBiosystems</a:t>
            </a:r>
          </a:p>
        </p:txBody>
      </p:sp>
      <p:sp>
        <p:nvSpPr>
          <p:cNvPr id="11" name="Figure 9 label 10 line 1">
            <a:extLst xmlns:a="http://schemas.openxmlformats.org/drawingml/2006/main">
              <a:ext uri="{FF2B5EF4-FFF2-40B4-BE49-F238E27FC236}">
                <a16:creationId xmlns:a16="http://schemas.microsoft.com/office/drawing/2014/main" id="{95C8B614-ECD8-4240-8260-D07DEAFA9014}"/>
              </a:ext>
            </a:extLst>
          </p:cNvPr>
          <p:cNvSpPr>
            <a:spLocks xmlns:a="http://schemas.openxmlformats.org/drawingml/2006/main" noGrp="1"/>
          </p:cNvSpPr>
          <p:nvPr/>
        </p:nvSpPr>
        <p:spPr>
          <a:xfrm xmlns:a="http://schemas.openxmlformats.org/drawingml/2006/main" rot="0">
            <a:off x="11007531" y="3656577"/>
            <a:ext cx="710505"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313" b="0">
                <a:solidFill>
                  <a:srgbClr val="00355F"/>
                </a:solidFill>
                <a:latin typeface="Arial Unicode MS"/>
                <a:ea typeface="Arial Unicode MS"/>
                <a:cs typeface="Arial Unicode MS"/>
              </a:defRPr>
            </a:defPPr>
          </a:lstStyle>
          <a:p xmlns:a="http://schemas.openxmlformats.org/drawingml/2006/main">
            <a:pPr algn="r">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Vazyme</a:t>
            </a:r>
          </a:p>
        </p:txBody>
      </p:sp>
      <p:sp>
        <p:nvSpPr>
          <p:cNvPr id="12" name="Figure 9 label 11 line 1">
            <a:extLst xmlns:a="http://schemas.openxmlformats.org/drawingml/2006/main">
              <a:ext uri="{FF2B5EF4-FFF2-40B4-BE49-F238E27FC236}">
                <a16:creationId xmlns:a16="http://schemas.microsoft.com/office/drawing/2014/main" id="{E81610D7-7226-4450-AE68-736BA64514C8}"/>
              </a:ext>
            </a:extLst>
          </p:cNvPr>
          <p:cNvSpPr>
            <a:spLocks xmlns:a="http://schemas.openxmlformats.org/drawingml/2006/main" noGrp="1"/>
          </p:cNvSpPr>
          <p:nvPr/>
        </p:nvSpPr>
        <p:spPr>
          <a:xfrm xmlns:a="http://schemas.openxmlformats.org/drawingml/2006/main" rot="0">
            <a:off x="8394840" y="3492487"/>
            <a:ext cx="120178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Sino Biological</a:t>
            </a:r>
          </a:p>
        </p:txBody>
      </p:sp>
      <p:sp>
        <p:nvSpPr>
          <p:cNvPr id="13" name="Figure 9 label 12 line 1">
            <a:extLst xmlns:a="http://schemas.openxmlformats.org/drawingml/2006/main">
              <a:ext uri="{FF2B5EF4-FFF2-40B4-BE49-F238E27FC236}">
                <a16:creationId xmlns:a16="http://schemas.microsoft.com/office/drawing/2014/main" id="{B43D4464-0474-4172-A41C-91ADD7CBE65E}"/>
              </a:ext>
            </a:extLst>
          </p:cNvPr>
          <p:cNvSpPr>
            <a:spLocks xmlns:a="http://schemas.openxmlformats.org/drawingml/2006/main" noGrp="1"/>
          </p:cNvSpPr>
          <p:nvPr/>
        </p:nvSpPr>
        <p:spPr>
          <a:xfrm xmlns:a="http://schemas.openxmlformats.org/drawingml/2006/main" rot="0">
            <a:off x="8180871" y="4400454"/>
            <a:ext cx="1007269"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Novoprotein</a:t>
            </a:r>
          </a:p>
        </p:txBody>
      </p:sp>
      <p:sp>
        <p:nvSpPr>
          <p:cNvPr id="14" name="Figure 9 label 13 line 1">
            <a:extLst xmlns:a="http://schemas.openxmlformats.org/drawingml/2006/main">
              <a:ext uri="{FF2B5EF4-FFF2-40B4-BE49-F238E27FC236}">
                <a16:creationId xmlns:a16="http://schemas.microsoft.com/office/drawing/2014/main" id="{0080B61A-194A-476C-A1D3-7CE364A6E193}"/>
              </a:ext>
            </a:extLst>
          </p:cNvPr>
          <p:cNvSpPr>
            <a:spLocks xmlns:a="http://schemas.openxmlformats.org/drawingml/2006/main" noGrp="1"/>
          </p:cNvSpPr>
          <p:nvPr/>
        </p:nvSpPr>
        <p:spPr>
          <a:xfrm xmlns:a="http://schemas.openxmlformats.org/drawingml/2006/main" rot="0">
            <a:off x="5238788" y="3409816"/>
            <a:ext cx="914400"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NanoMicro</a:t>
            </a:r>
          </a:p>
        </p:txBody>
      </p:sp>
      <p:sp>
        <p:nvSpPr>
          <p:cNvPr id="15" name="Figure 9 label 14 line 1">
            <a:extLst xmlns:a="http://schemas.openxmlformats.org/drawingml/2006/main">
              <a:ext uri="{FF2B5EF4-FFF2-40B4-BE49-F238E27FC236}">
                <a16:creationId xmlns:a16="http://schemas.microsoft.com/office/drawing/2014/main" id="{305B1EF7-EB22-4831-A42D-5E34AFCBE88D}"/>
              </a:ext>
            </a:extLst>
          </p:cNvPr>
          <p:cNvSpPr>
            <a:spLocks xmlns:a="http://schemas.openxmlformats.org/drawingml/2006/main" noGrp="1"/>
          </p:cNvSpPr>
          <p:nvPr/>
        </p:nvSpPr>
        <p:spPr>
          <a:xfrm xmlns:a="http://schemas.openxmlformats.org/drawingml/2006/main" rot="0">
            <a:off x="5773712" y="4153810"/>
            <a:ext cx="581025"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Sepax</a:t>
            </a:r>
          </a:p>
        </p:txBody>
      </p:sp>
      <p:sp>
        <p:nvSpPr>
          <p:cNvPr id="16" name="Figure 9 label 15 line 1">
            <a:extLst xmlns:a="http://schemas.openxmlformats.org/drawingml/2006/main">
              <a:ext uri="{FF2B5EF4-FFF2-40B4-BE49-F238E27FC236}">
                <a16:creationId xmlns:a16="http://schemas.microsoft.com/office/drawing/2014/main" id="{31855DBA-B211-4884-885E-65C27D81A713}"/>
              </a:ext>
            </a:extLst>
          </p:cNvPr>
          <p:cNvSpPr>
            <a:spLocks xmlns:a="http://schemas.openxmlformats.org/drawingml/2006/main" noGrp="1"/>
          </p:cNvSpPr>
          <p:nvPr/>
        </p:nvSpPr>
        <p:spPr>
          <a:xfrm xmlns:a="http://schemas.openxmlformats.org/drawingml/2006/main" rot="0">
            <a:off x="8662301" y="5336057"/>
            <a:ext cx="812304"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JET Biofil</a:t>
            </a:r>
          </a:p>
        </p:txBody>
      </p:sp>
      <p:sp>
        <p:nvSpPr>
          <p:cNvPr id="17" name="Figure 9 label 16 line 1">
            <a:extLst xmlns:a="http://schemas.openxmlformats.org/drawingml/2006/main">
              <a:ext uri="{FF2B5EF4-FFF2-40B4-BE49-F238E27FC236}">
                <a16:creationId xmlns:a16="http://schemas.microsoft.com/office/drawing/2014/main" id="{8232F924-3001-45F5-BA3B-8F632394AA66}"/>
              </a:ext>
            </a:extLst>
          </p:cNvPr>
          <p:cNvSpPr>
            <a:spLocks xmlns:a="http://schemas.openxmlformats.org/drawingml/2006/main" noGrp="1"/>
          </p:cNvSpPr>
          <p:nvPr/>
        </p:nvSpPr>
        <p:spPr>
          <a:xfrm xmlns:a="http://schemas.openxmlformats.org/drawingml/2006/main" rot="0">
            <a:off x="7271500" y="3795182"/>
            <a:ext cx="970359"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Changhong</a:t>
            </a:r>
          </a:p>
        </p:txBody>
      </p:sp>
      <p:sp>
        <p:nvSpPr>
          <p:cNvPr id="18" name="Figure 9 label 17 line 1">
            <a:extLst xmlns:a="http://schemas.openxmlformats.org/drawingml/2006/main">
              <a:ext uri="{FF2B5EF4-FFF2-40B4-BE49-F238E27FC236}">
                <a16:creationId xmlns:a16="http://schemas.microsoft.com/office/drawing/2014/main" id="{83359A45-E441-4427-891C-24D3C8D6BA0E}"/>
              </a:ext>
            </a:extLst>
          </p:cNvPr>
          <p:cNvSpPr>
            <a:spLocks xmlns:a="http://schemas.openxmlformats.org/drawingml/2006/main" noGrp="1"/>
          </p:cNvSpPr>
          <p:nvPr/>
        </p:nvSpPr>
        <p:spPr>
          <a:xfrm xmlns:a="http://schemas.openxmlformats.org/drawingml/2006/main" rot="0">
            <a:off x="9732150" y="4593078"/>
            <a:ext cx="1387078"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Bide Pharmatech</a:t>
            </a:r>
          </a:p>
        </p:txBody>
      </p:sp>
      <p:sp>
        <p:nvSpPr>
          <p:cNvPr id="19" name="Figure 9 label 18 line 1">
            <a:extLst xmlns:a="http://schemas.openxmlformats.org/drawingml/2006/main">
              <a:ext uri="{FF2B5EF4-FFF2-40B4-BE49-F238E27FC236}">
                <a16:creationId xmlns:a16="http://schemas.microsoft.com/office/drawing/2014/main" id="{EBBFCB4D-8263-4238-A1D7-94AC206C4BEC}"/>
              </a:ext>
            </a:extLst>
          </p:cNvPr>
          <p:cNvSpPr>
            <a:spLocks xmlns:a="http://schemas.openxmlformats.org/drawingml/2006/main" noGrp="1"/>
          </p:cNvSpPr>
          <p:nvPr/>
        </p:nvSpPr>
        <p:spPr>
          <a:xfrm xmlns:a="http://schemas.openxmlformats.org/drawingml/2006/main" rot="0">
            <a:off x="10669817" y="5337072"/>
            <a:ext cx="1155204"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313" b="0">
                <a:solidFill>
                  <a:srgbClr val="00355F"/>
                </a:solidFill>
                <a:latin typeface="Arial Unicode MS"/>
                <a:ea typeface="Arial Unicode MS"/>
                <a:cs typeface="Arial Unicode MS"/>
              </a:defRPr>
            </a:defPPr>
          </a:lstStyle>
          <a:p xmlns:a="http://schemas.openxmlformats.org/drawingml/2006/main">
            <a:pPr algn="r">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ChemExpress</a:t>
            </a:r>
          </a:p>
        </p:txBody>
      </p:sp>
      <p:sp>
        <p:nvSpPr>
          <p:cNvPr id="20" name="Figure 9 label 19 line 1">
            <a:extLst xmlns:a="http://schemas.openxmlformats.org/drawingml/2006/main">
              <a:ext uri="{FF2B5EF4-FFF2-40B4-BE49-F238E27FC236}">
                <a16:creationId xmlns:a16="http://schemas.microsoft.com/office/drawing/2014/main" id="{399A2147-B842-4110-BC4A-0A4C299526ED}"/>
              </a:ext>
            </a:extLst>
          </p:cNvPr>
          <p:cNvSpPr>
            <a:spLocks xmlns:a="http://schemas.openxmlformats.org/drawingml/2006/main" noGrp="1"/>
          </p:cNvSpPr>
          <p:nvPr/>
        </p:nvSpPr>
        <p:spPr>
          <a:xfrm xmlns:a="http://schemas.openxmlformats.org/drawingml/2006/main" rot="0">
            <a:off x="6041174" y="2721873"/>
            <a:ext cx="42326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MGI</a:t>
            </a:r>
          </a:p>
        </p:txBody>
      </p:sp>
      <p:sp>
        <p:nvSpPr>
          <p:cNvPr id="21" name="Figure 9 label 20 line 1">
            <a:extLst xmlns:a="http://schemas.openxmlformats.org/drawingml/2006/main">
              <a:ext uri="{FF2B5EF4-FFF2-40B4-BE49-F238E27FC236}">
                <a16:creationId xmlns:a16="http://schemas.microsoft.com/office/drawing/2014/main" id="{86D161CF-1EAC-420B-A960-EC7301928802}"/>
              </a:ext>
            </a:extLst>
          </p:cNvPr>
          <p:cNvSpPr>
            <a:spLocks xmlns:a="http://schemas.openxmlformats.org/drawingml/2006/main" noGrp="1"/>
          </p:cNvSpPr>
          <p:nvPr/>
        </p:nvSpPr>
        <p:spPr>
          <a:xfrm xmlns:a="http://schemas.openxmlformats.org/drawingml/2006/main" rot="0">
            <a:off x="4757357" y="4868255"/>
            <a:ext cx="1423839"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OPM Biosciences</a:t>
            </a:r>
          </a:p>
        </p:txBody>
      </p:sp>
      <p:sp>
        <p:nvSpPr>
          <p:cNvPr id="22" name="Figure 9 label 21 line 1">
            <a:extLst xmlns:a="http://schemas.openxmlformats.org/drawingml/2006/main">
              <a:ext uri="{FF2B5EF4-FFF2-40B4-BE49-F238E27FC236}">
                <a16:creationId xmlns:a16="http://schemas.microsoft.com/office/drawing/2014/main" id="{F714502B-C034-4A94-9B13-FF7ED40234F5}"/>
              </a:ext>
            </a:extLst>
          </p:cNvPr>
          <p:cNvSpPr>
            <a:spLocks xmlns:a="http://schemas.openxmlformats.org/drawingml/2006/main" noGrp="1"/>
          </p:cNvSpPr>
          <p:nvPr/>
        </p:nvSpPr>
        <p:spPr>
          <a:xfrm xmlns:a="http://schemas.openxmlformats.org/drawingml/2006/main" rot="0">
            <a:off x="991870" y="421920"/>
            <a:ext cx="6574235" cy="436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750" b="1">
                <a:solidFill>
                  <a:srgbClr val="00355F"/>
                </a:solidFill>
                <a:latin typeface="Arial Unicode MS"/>
                <a:ea typeface="Arial Unicode MS"/>
                <a:cs typeface="Arial Unicode MS"/>
              </a:defRPr>
            </a:defPPr>
          </a:lstStyle>
          <a:p xmlns:a="http://schemas.openxmlformats.org/drawingml/2006/main">
            <a:pPr algn="l">
              <a:lnSpc>
                <a:spcPct val="100000"/>
              </a:lnSpc>
              <a:buNone/>
              <a:defRPr sz="2750" b="1">
                <a:solidFill>
                  <a:srgbClr val="00355F"/>
                </a:solidFill>
                <a:latin typeface="Arial Unicode MS"/>
                <a:ea typeface="Arial Unicode MS"/>
                <a:cs typeface="Arial Unicode MS"/>
              </a:defRPr>
            </a:pPr>
            <a:r>
              <a:rPr sz="2750" b="1">
                <a:solidFill>
                  <a:srgbClr val="00355F"/>
                </a:solidFill>
                <a:latin typeface="Arial Unicode MS"/>
                <a:ea typeface="Arial Unicode MS"/>
                <a:cs typeface="Arial Unicode MS"/>
              </a:rPr>
              <a:t>09  Mapping Chinese listed LST suppliers</a:t>
            </a:r>
          </a:p>
        </p:txBody>
      </p:sp>
      <p:sp>
        <p:nvSpPr>
          <p:cNvPr id="23" name="Figure 9 label 22 line 1">
            <a:extLst xmlns:a="http://schemas.openxmlformats.org/drawingml/2006/main">
              <a:ext uri="{FF2B5EF4-FFF2-40B4-BE49-F238E27FC236}">
                <a16:creationId xmlns:a16="http://schemas.microsoft.com/office/drawing/2014/main" id="{2A4D54E3-A033-4BB8-9F9D-541FEA3CA755}"/>
              </a:ext>
            </a:extLst>
          </p:cNvPr>
          <p:cNvSpPr>
            <a:spLocks xmlns:a="http://schemas.openxmlformats.org/drawingml/2006/main" noGrp="1"/>
          </p:cNvSpPr>
          <p:nvPr/>
        </p:nvSpPr>
        <p:spPr>
          <a:xfrm xmlns:a="http://schemas.openxmlformats.org/drawingml/2006/main" rot="0">
            <a:off x="15695588" y="661601"/>
            <a:ext cx="1070025" cy="188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188"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188" b="0">
                <a:solidFill>
                  <a:srgbClr val="00355F"/>
                </a:solidFill>
                <a:latin typeface="Arial Unicode MS"/>
                <a:ea typeface="Arial Unicode MS"/>
                <a:cs typeface="Arial Unicode MS"/>
              </a:defRPr>
            </a:pPr>
            <a:r>
              <a:rPr sz="1188" b="0">
                <a:solidFill>
                  <a:srgbClr val="00355F"/>
                </a:solidFill>
                <a:latin typeface="Arial Unicode MS"/>
                <a:ea typeface="Arial Unicode MS"/>
                <a:cs typeface="Arial Unicode MS"/>
              </a:rPr>
              <a:t>HYPOTHESIS</a:t>
            </a:r>
          </a:p>
        </p:txBody>
      </p:sp>
      <p:sp>
        <p:nvSpPr>
          <p:cNvPr id="24" name="Figure 9 label 23 line 1">
            <a:extLst xmlns:a="http://schemas.openxmlformats.org/drawingml/2006/main">
              <a:ext uri="{FF2B5EF4-FFF2-40B4-BE49-F238E27FC236}">
                <a16:creationId xmlns:a16="http://schemas.microsoft.com/office/drawing/2014/main" id="{97C49737-64F6-4042-9F3C-CA958B07713C}"/>
              </a:ext>
            </a:extLst>
          </p:cNvPr>
          <p:cNvSpPr>
            <a:spLocks xmlns:a="http://schemas.openxmlformats.org/drawingml/2006/main" noGrp="1"/>
          </p:cNvSpPr>
          <p:nvPr/>
        </p:nvSpPr>
        <p:spPr>
          <a:xfrm xmlns:a="http://schemas.openxmlformats.org/drawingml/2006/main" rot="0">
            <a:off x="998220" y="1248326"/>
            <a:ext cx="9294019"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Product exposure to AI build-and-test stages; positions do not measure AI revenue share or investment rank.</a:t>
            </a:r>
          </a:p>
        </p:txBody>
      </p:sp>
      <p:sp>
        <p:nvSpPr>
          <p:cNvPr id="25" name="Figure 9 label 24 line 1">
            <a:extLst xmlns:a="http://schemas.openxmlformats.org/drawingml/2006/main">
              <a:ext uri="{FF2B5EF4-FFF2-40B4-BE49-F238E27FC236}">
                <a16:creationId xmlns:a16="http://schemas.microsoft.com/office/drawing/2014/main" id="{5F42D610-01EF-457B-8517-4327A6029FB9}"/>
              </a:ext>
            </a:extLst>
          </p:cNvPr>
          <p:cNvSpPr>
            <a:spLocks xmlns:a="http://schemas.openxmlformats.org/drawingml/2006/main" noGrp="1"/>
          </p:cNvSpPr>
          <p:nvPr/>
        </p:nvSpPr>
        <p:spPr>
          <a:xfrm xmlns:a="http://schemas.openxmlformats.org/drawingml/2006/main" rot="0">
            <a:off x="999173" y="9256035"/>
            <a:ext cx="8039547"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Axes are qualitative judgments. Qualification, global customer access and paid orders still require evidence.</a:t>
            </a:r>
          </a:p>
        </p:txBody>
      </p:sp>
      <p:sp>
        <p:nvSpPr>
          <p:cNvPr id="26" name="Figure 9 label 25 line 1">
            <a:extLst xmlns:a="http://schemas.openxmlformats.org/drawingml/2006/main">
              <a:ext uri="{FF2B5EF4-FFF2-40B4-BE49-F238E27FC236}">
                <a16:creationId xmlns:a16="http://schemas.microsoft.com/office/drawing/2014/main" id="{E95F8A3C-7B45-47F6-BAE5-DDF51681FB75}"/>
              </a:ext>
            </a:extLst>
          </p:cNvPr>
          <p:cNvSpPr>
            <a:spLocks xmlns:a="http://schemas.openxmlformats.org/drawingml/2006/main" noGrp="1"/>
          </p:cNvSpPr>
          <p:nvPr/>
        </p:nvSpPr>
        <p:spPr>
          <a:xfrm xmlns:a="http://schemas.openxmlformats.org/drawingml/2006/main" rot="0">
            <a:off x="1000316" y="9675546"/>
            <a:ext cx="6595646" cy="1726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88" b="0">
                <a:solidFill>
                  <a:srgbClr val="00355F"/>
                </a:solidFill>
                <a:latin typeface="Arial Unicode MS"/>
                <a:ea typeface="Arial Unicode MS"/>
                <a:cs typeface="Arial Unicode MS"/>
              </a:defRPr>
            </a:defPPr>
          </a:lstStyle>
          <a:p xmlns:a="http://schemas.openxmlformats.org/drawingml/2006/main">
            <a:pPr algn="l">
              <a:lnSpc>
                <a:spcPct val="100000"/>
              </a:lnSpc>
              <a:buNone/>
              <a:defRPr sz="1088" b="0">
                <a:solidFill>
                  <a:srgbClr val="00355F"/>
                </a:solidFill>
                <a:latin typeface="Arial Unicode MS"/>
                <a:ea typeface="Arial Unicode MS"/>
                <a:cs typeface="Arial Unicode MS"/>
              </a:defRPr>
            </a:pPr>
            <a:r>
              <a:rPr sz="1088" b="0">
                <a:solidFill>
                  <a:srgbClr val="00355F"/>
                </a:solidFill>
                <a:latin typeface="Arial Unicode MS"/>
                <a:ea typeface="Arial Unicode MS"/>
                <a:cs typeface="Arial Unicode MS"/>
              </a:rPr>
              <a:t>Sources: company filings and official product catalogs. Product rationale and assumptions are in data.json.</a:t>
            </a:r>
          </a:p>
        </p:txBody>
      </p:sp>
      <p:sp>
        <p:nvSpPr>
          <p:cNvPr id="27" name="Figure 9 label 26 line 1">
            <a:extLst xmlns:a="http://schemas.openxmlformats.org/drawingml/2006/main">
              <a:ext uri="{FF2B5EF4-FFF2-40B4-BE49-F238E27FC236}">
                <a16:creationId xmlns:a16="http://schemas.microsoft.com/office/drawing/2014/main" id="{A76FC060-E1CF-4338-A320-F5139A2D6F6C}"/>
              </a:ext>
            </a:extLst>
          </p:cNvPr>
          <p:cNvSpPr>
            <a:spLocks xmlns:a="http://schemas.openxmlformats.org/drawingml/2006/main" noGrp="1"/>
          </p:cNvSpPr>
          <p:nvPr/>
        </p:nvSpPr>
        <p:spPr>
          <a:xfrm xmlns:a="http://schemas.openxmlformats.org/drawingml/2006/main" rot="0">
            <a:off x="16440260" y="9667497"/>
            <a:ext cx="841901" cy="1825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150" b="0">
                <a:solidFill>
                  <a:srgbClr val="00355F"/>
                </a:solidFill>
                <a:latin typeface="Arial Unicode MS"/>
                <a:ea typeface="Arial Unicode MS"/>
                <a:cs typeface="Arial Unicode MS"/>
              </a:defRPr>
            </a:defPPr>
          </a:lstStyle>
          <a:p xmlns:a="http://schemas.openxmlformats.org/drawingml/2006/main">
            <a:pPr algn="r">
              <a:lnSpc>
                <a:spcPct val="100000"/>
              </a:lnSpc>
              <a:buNone/>
              <a:defRPr sz="1150" b="0">
                <a:solidFill>
                  <a:srgbClr val="00355F"/>
                </a:solidFill>
                <a:latin typeface="Arial Unicode MS"/>
                <a:ea typeface="Arial Unicode MS"/>
                <a:cs typeface="Arial Unicode MS"/>
              </a:defRPr>
            </a:pPr>
            <a:r>
              <a:rPr sz="1150" b="0">
                <a:solidFill>
                  <a:srgbClr val="00355F"/>
                </a:solidFill>
                <a:latin typeface="Arial Unicode MS"/>
                <a:ea typeface="Arial Unicode MS"/>
                <a:cs typeface="Arial Unicode MS"/>
              </a:rPr>
              <a:t>2026-10-12</a:t>
            </a:r>
          </a:p>
        </p:txBody>
      </p:sp>
      <p:sp>
        <p:nvSpPr>
          <p:cNvPr id="28" name="Figure 9 label 27 line 1">
            <a:extLst xmlns:a="http://schemas.openxmlformats.org/drawingml/2006/main">
              <a:ext uri="{FF2B5EF4-FFF2-40B4-BE49-F238E27FC236}">
                <a16:creationId xmlns:a16="http://schemas.microsoft.com/office/drawing/2014/main" id="{5A29ACE5-8F76-4978-A7C6-ECFEF52E38BB}"/>
              </a:ext>
            </a:extLst>
          </p:cNvPr>
          <p:cNvSpPr>
            <a:spLocks xmlns:a="http://schemas.openxmlformats.org/drawingml/2006/main" noGrp="1"/>
          </p:cNvSpPr>
          <p:nvPr/>
        </p:nvSpPr>
        <p:spPr>
          <a:xfrm xmlns:a="http://schemas.openxmlformats.org/drawingml/2006/main" rot="0">
            <a:off x="13250545" y="2538787"/>
            <a:ext cx="1017439" cy="257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25" b="1">
                <a:solidFill>
                  <a:srgbClr val="00355F"/>
                </a:solidFill>
                <a:latin typeface="Arial Unicode MS"/>
                <a:ea typeface="Arial Unicode MS"/>
                <a:cs typeface="Arial Unicode MS"/>
              </a:defRPr>
            </a:defPPr>
          </a:lstStyle>
          <a:p xmlns:a="http://schemas.openxmlformats.org/drawingml/2006/main">
            <a:pPr algn="l">
              <a:lnSpc>
                <a:spcPct val="100000"/>
              </a:lnSpc>
              <a:buNone/>
              <a:defRPr sz="1625" b="1">
                <a:solidFill>
                  <a:srgbClr val="00355F"/>
                </a:solidFill>
                <a:latin typeface="Arial Unicode MS"/>
                <a:ea typeface="Arial Unicode MS"/>
                <a:cs typeface="Arial Unicode MS"/>
              </a:defRPr>
            </a:pPr>
            <a:r>
              <a:rPr sz="1625" b="1">
                <a:solidFill>
                  <a:srgbClr val="00355F"/>
                </a:solidFill>
                <a:latin typeface="Arial Unicode MS"/>
                <a:ea typeface="Arial Unicode MS"/>
                <a:cs typeface="Arial Unicode MS"/>
              </a:rPr>
              <a:t>Reagents</a:t>
            </a:r>
          </a:p>
        </p:txBody>
      </p:sp>
      <p:sp>
        <p:nvSpPr>
          <p:cNvPr id="29" name="Figure 9 label 28 line 1">
            <a:extLst xmlns:a="http://schemas.openxmlformats.org/drawingml/2006/main">
              <a:ext uri="{FF2B5EF4-FFF2-40B4-BE49-F238E27FC236}">
                <a16:creationId xmlns:a16="http://schemas.microsoft.com/office/drawing/2014/main" id="{E666DE9D-6486-4273-B6F6-CFD2C892B6DB}"/>
              </a:ext>
            </a:extLst>
          </p:cNvPr>
          <p:cNvSpPr>
            <a:spLocks xmlns:a="http://schemas.openxmlformats.org/drawingml/2006/main" noGrp="1"/>
          </p:cNvSpPr>
          <p:nvPr/>
        </p:nvSpPr>
        <p:spPr>
          <a:xfrm xmlns:a="http://schemas.openxmlformats.org/drawingml/2006/main" rot="0">
            <a:off x="13252133" y="3010811"/>
            <a:ext cx="2591246"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Proteins, enzymes, blocks, media</a:t>
            </a:r>
          </a:p>
        </p:txBody>
      </p:sp>
      <p:sp>
        <p:nvSpPr>
          <p:cNvPr id="30" name="Figure 9 label 29 line 1">
            <a:extLst xmlns:a="http://schemas.openxmlformats.org/drawingml/2006/main">
              <a:ext uri="{FF2B5EF4-FFF2-40B4-BE49-F238E27FC236}">
                <a16:creationId xmlns:a16="http://schemas.microsoft.com/office/drawing/2014/main" id="{34112B8D-260D-4092-8BEB-978D13EDB248}"/>
              </a:ext>
            </a:extLst>
          </p:cNvPr>
          <p:cNvSpPr>
            <a:spLocks xmlns:a="http://schemas.openxmlformats.org/drawingml/2006/main" noGrp="1"/>
          </p:cNvSpPr>
          <p:nvPr/>
        </p:nvSpPr>
        <p:spPr>
          <a:xfrm xmlns:a="http://schemas.openxmlformats.org/drawingml/2006/main" rot="0">
            <a:off x="13250545" y="3620034"/>
            <a:ext cx="1395611" cy="257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25" b="1">
                <a:solidFill>
                  <a:srgbClr val="00355F"/>
                </a:solidFill>
                <a:latin typeface="Arial Unicode MS"/>
                <a:ea typeface="Arial Unicode MS"/>
                <a:cs typeface="Arial Unicode MS"/>
              </a:defRPr>
            </a:defPPr>
          </a:lstStyle>
          <a:p xmlns:a="http://schemas.openxmlformats.org/drawingml/2006/main">
            <a:pPr algn="l">
              <a:lnSpc>
                <a:spcPct val="100000"/>
              </a:lnSpc>
              <a:buNone/>
              <a:defRPr sz="1625" b="1">
                <a:solidFill>
                  <a:srgbClr val="00355F"/>
                </a:solidFill>
                <a:latin typeface="Arial Unicode MS"/>
                <a:ea typeface="Arial Unicode MS"/>
                <a:cs typeface="Arial Unicode MS"/>
              </a:defRPr>
            </a:pPr>
            <a:r>
              <a:rPr sz="1625" b="1">
                <a:solidFill>
                  <a:srgbClr val="00355F"/>
                </a:solidFill>
                <a:latin typeface="Arial Unicode MS"/>
                <a:ea typeface="Arial Unicode MS"/>
                <a:cs typeface="Arial Unicode MS"/>
              </a:rPr>
              <a:t>Consumables</a:t>
            </a:r>
          </a:p>
        </p:txBody>
      </p:sp>
      <p:sp>
        <p:nvSpPr>
          <p:cNvPr id="31" name="Figure 9 label 30 line 1">
            <a:extLst xmlns:a="http://schemas.openxmlformats.org/drawingml/2006/main">
              <a:ext uri="{FF2B5EF4-FFF2-40B4-BE49-F238E27FC236}">
                <a16:creationId xmlns:a16="http://schemas.microsoft.com/office/drawing/2014/main" id="{F22960A1-5474-46EA-BF85-9FD2CF691C0D}"/>
              </a:ext>
            </a:extLst>
          </p:cNvPr>
          <p:cNvSpPr>
            <a:spLocks xmlns:a="http://schemas.openxmlformats.org/drawingml/2006/main" noGrp="1"/>
          </p:cNvSpPr>
          <p:nvPr/>
        </p:nvSpPr>
        <p:spPr>
          <a:xfrm xmlns:a="http://schemas.openxmlformats.org/drawingml/2006/main" rot="0">
            <a:off x="13252133" y="4091844"/>
            <a:ext cx="1998315"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Labware, columns, resins</a:t>
            </a:r>
          </a:p>
        </p:txBody>
      </p:sp>
      <p:sp>
        <p:nvSpPr>
          <p:cNvPr id="32" name="Figure 9 label 31 line 1">
            <a:extLst xmlns:a="http://schemas.openxmlformats.org/drawingml/2006/main">
              <a:ext uri="{FF2B5EF4-FFF2-40B4-BE49-F238E27FC236}">
                <a16:creationId xmlns:a16="http://schemas.microsoft.com/office/drawing/2014/main" id="{90243019-A1AC-4A01-BC4C-97704BC53A5B}"/>
              </a:ext>
            </a:extLst>
          </p:cNvPr>
          <p:cNvSpPr>
            <a:spLocks xmlns:a="http://schemas.openxmlformats.org/drawingml/2006/main" noGrp="1"/>
          </p:cNvSpPr>
          <p:nvPr/>
        </p:nvSpPr>
        <p:spPr>
          <a:xfrm xmlns:a="http://schemas.openxmlformats.org/drawingml/2006/main" rot="0">
            <a:off x="13250545" y="4701427"/>
            <a:ext cx="2232323" cy="25796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25" b="1">
                <a:solidFill>
                  <a:srgbClr val="00355F"/>
                </a:solidFill>
                <a:latin typeface="Arial Unicode MS"/>
                <a:ea typeface="Arial Unicode MS"/>
                <a:cs typeface="Arial Unicode MS"/>
              </a:defRPr>
            </a:defPPr>
          </a:lstStyle>
          <a:p xmlns:a="http://schemas.openxmlformats.org/drawingml/2006/main">
            <a:pPr algn="l">
              <a:lnSpc>
                <a:spcPct val="100000"/>
              </a:lnSpc>
              <a:buNone/>
              <a:defRPr sz="1625" b="1">
                <a:solidFill>
                  <a:srgbClr val="00355F"/>
                </a:solidFill>
                <a:latin typeface="Arial Unicode MS"/>
                <a:ea typeface="Arial Unicode MS"/>
                <a:cs typeface="Arial Unicode MS"/>
              </a:defRPr>
            </a:pPr>
            <a:r>
              <a:rPr sz="1625" b="1">
                <a:solidFill>
                  <a:srgbClr val="00355F"/>
                </a:solidFill>
                <a:latin typeface="Arial Unicode MS"/>
                <a:ea typeface="Arial Unicode MS"/>
                <a:cs typeface="Arial Unicode MS"/>
              </a:rPr>
              <a:t>Instruments / platforms</a:t>
            </a:r>
          </a:p>
        </p:txBody>
      </p:sp>
      <p:sp>
        <p:nvSpPr>
          <p:cNvPr id="33" name="Figure 9 label 32 line 1">
            <a:extLst xmlns:a="http://schemas.openxmlformats.org/drawingml/2006/main">
              <a:ext uri="{FF2B5EF4-FFF2-40B4-BE49-F238E27FC236}">
                <a16:creationId xmlns:a16="http://schemas.microsoft.com/office/drawing/2014/main" id="{FFE2F8EB-4C7E-4938-8853-5E6F7AC9F255}"/>
              </a:ext>
            </a:extLst>
          </p:cNvPr>
          <p:cNvSpPr>
            <a:spLocks xmlns:a="http://schemas.openxmlformats.org/drawingml/2006/main" noGrp="1"/>
          </p:cNvSpPr>
          <p:nvPr/>
        </p:nvSpPr>
        <p:spPr>
          <a:xfrm xmlns:a="http://schemas.openxmlformats.org/drawingml/2006/main" rot="0">
            <a:off x="13252133" y="5172097"/>
            <a:ext cx="2184350"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Sequencing and automation</a:t>
            </a:r>
          </a:p>
        </p:txBody>
      </p:sp>
      <p:sp>
        <p:nvSpPr>
          <p:cNvPr id="34" name="Figure 9 label 33 line 1">
            <a:extLst xmlns:a="http://schemas.openxmlformats.org/drawingml/2006/main">
              <a:ext uri="{FF2B5EF4-FFF2-40B4-BE49-F238E27FC236}">
                <a16:creationId xmlns:a16="http://schemas.microsoft.com/office/drawing/2014/main" id="{A4105EAE-E44E-4B7A-9816-78FBE1DCD360}"/>
              </a:ext>
            </a:extLst>
          </p:cNvPr>
          <p:cNvSpPr>
            <a:spLocks xmlns:a="http://schemas.openxmlformats.org/drawingml/2006/main" noGrp="1"/>
          </p:cNvSpPr>
          <p:nvPr/>
        </p:nvSpPr>
        <p:spPr>
          <a:xfrm xmlns:a="http://schemas.openxmlformats.org/drawingml/2006/main" rot="0">
            <a:off x="13342620" y="6238682"/>
            <a:ext cx="2824163"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1">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1">
                <a:solidFill>
                  <a:srgbClr val="00355F"/>
                </a:solidFill>
                <a:latin typeface="Arial Unicode MS"/>
                <a:ea typeface="Arial Unicode MS"/>
                <a:cs typeface="Arial Unicode MS"/>
              </a:defRPr>
            </a:pPr>
            <a:r>
              <a:rPr sz="1500" b="1">
                <a:solidFill>
                  <a:srgbClr val="00355F"/>
                </a:solidFill>
                <a:latin typeface="Arial Unicode MS"/>
                <a:ea typeface="Arial Unicode MS"/>
                <a:cs typeface="Arial Unicode MS"/>
              </a:rPr>
              <a:t>Two different demand pathways</a:t>
            </a:r>
          </a:p>
        </p:txBody>
      </p:sp>
      <p:sp>
        <p:nvSpPr>
          <p:cNvPr id="35" name="Figure 9 label 34 line 1">
            <a:extLst xmlns:a="http://schemas.openxmlformats.org/drawingml/2006/main">
              <a:ext uri="{FF2B5EF4-FFF2-40B4-BE49-F238E27FC236}">
                <a16:creationId xmlns:a16="http://schemas.microsoft.com/office/drawing/2014/main" id="{94900ACC-F14B-45FD-ACA2-8E73974FA158}"/>
              </a:ext>
            </a:extLst>
          </p:cNvPr>
          <p:cNvSpPr>
            <a:spLocks xmlns:a="http://schemas.openxmlformats.org/drawingml/2006/main" noGrp="1"/>
          </p:cNvSpPr>
          <p:nvPr/>
        </p:nvSpPr>
        <p:spPr>
          <a:xfrm xmlns:a="http://schemas.openxmlformats.org/drawingml/2006/main" rot="0">
            <a:off x="13343446" y="6645481"/>
            <a:ext cx="2961065" cy="2123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38" b="0">
                <a:solidFill>
                  <a:srgbClr val="00355F"/>
                </a:solidFill>
                <a:latin typeface="Arial Unicode MS"/>
                <a:ea typeface="Arial Unicode MS"/>
                <a:cs typeface="Arial Unicode MS"/>
              </a:defRPr>
            </a:defPPr>
          </a:lstStyle>
          <a:p xmlns:a="http://schemas.openxmlformats.org/drawingml/2006/main">
            <a:pPr algn="l">
              <a:lnSpc>
                <a:spcPct val="100000"/>
              </a:lnSpc>
              <a:buNone/>
              <a:defRPr sz="1338" b="0">
                <a:solidFill>
                  <a:srgbClr val="00355F"/>
                </a:solidFill>
                <a:latin typeface="Arial Unicode MS"/>
                <a:ea typeface="Arial Unicode MS"/>
                <a:cs typeface="Arial Unicode MS"/>
              </a:defRPr>
            </a:pPr>
            <a:r>
              <a:rPr sz="1338" b="0">
                <a:solidFill>
                  <a:srgbClr val="00355F"/>
                </a:solidFill>
                <a:latin typeface="Arial Unicode MS"/>
                <a:ea typeface="Arial Unicode MS"/>
                <a:cs typeface="Arial Unicode MS"/>
              </a:rPr>
              <a:t>ACRO: expression / functional assays</a:t>
            </a:r>
          </a:p>
        </p:txBody>
      </p:sp>
      <p:sp>
        <p:nvSpPr>
          <p:cNvPr id="36" name="Figure 9 label 35 line 1">
            <a:extLst xmlns:a="http://schemas.openxmlformats.org/drawingml/2006/main">
              <a:ext uri="{FF2B5EF4-FFF2-40B4-BE49-F238E27FC236}">
                <a16:creationId xmlns:a16="http://schemas.microsoft.com/office/drawing/2014/main" id="{0CCB7F78-D202-4215-B831-1D4E1993ADEC}"/>
              </a:ext>
            </a:extLst>
          </p:cNvPr>
          <p:cNvSpPr>
            <a:spLocks xmlns:a="http://schemas.openxmlformats.org/drawingml/2006/main" noGrp="1"/>
          </p:cNvSpPr>
          <p:nvPr/>
        </p:nvSpPr>
        <p:spPr>
          <a:xfrm xmlns:a="http://schemas.openxmlformats.org/drawingml/2006/main" rot="0">
            <a:off x="13343446" y="6903730"/>
            <a:ext cx="2682756" cy="2123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38" b="0">
                <a:solidFill>
                  <a:srgbClr val="00355F"/>
                </a:solidFill>
                <a:latin typeface="Arial Unicode MS"/>
                <a:ea typeface="Arial Unicode MS"/>
                <a:cs typeface="Arial Unicode MS"/>
              </a:defRPr>
            </a:defPPr>
          </a:lstStyle>
          <a:p xmlns:a="http://schemas.openxmlformats.org/drawingml/2006/main">
            <a:pPr algn="l">
              <a:lnSpc>
                <a:spcPct val="100000"/>
              </a:lnSpc>
              <a:buNone/>
              <a:defRPr sz="1338" b="0">
                <a:solidFill>
                  <a:srgbClr val="00355F"/>
                </a:solidFill>
                <a:latin typeface="Arial Unicode MS"/>
                <a:ea typeface="Arial Unicode MS"/>
                <a:cs typeface="Arial Unicode MS"/>
              </a:defRPr>
            </a:pPr>
            <a:r>
              <a:rPr sz="1338" b="0">
                <a:solidFill>
                  <a:srgbClr val="00355F"/>
                </a:solidFill>
                <a:latin typeface="Arial Unicode MS"/>
                <a:ea typeface="Arial Unicode MS"/>
                <a:cs typeface="Arial Unicode MS"/>
              </a:rPr>
              <a:t>NanoMicro: purification + scale-up</a:t>
            </a:r>
          </a:p>
        </p:txBody>
      </p:sp>
    </p:spTree>
    <p:extLst>
      <p:ext uri="{BB962C8B-B14F-4D97-AF65-F5344CB8AC3E}">
        <p14:creationId xmlns:p14="http://schemas.microsoft.com/office/powerpoint/2010/main" val="11716945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29" name="">
            <a:extLst xmlns:a="http://schemas.openxmlformats.org/drawingml/2006/main">
              <a:ext uri="{FF2B5EF4-FFF2-40B4-BE49-F238E27FC236}">
                <a16:creationId xmlns:a16="http://schemas.microsoft.com/office/drawing/2014/main" id="{5BB0B881-638C-4D80-8CC0-5C7BB6751D98}"/>
              </a:ext>
            </a:extLst>
          </p:cNvPr>
          <p:cNvPicPr>
            <a:picLocks xmlns:a="http://schemas.openxmlformats.org/drawingml/2006/main" noChangeAspect="1"/>
          </p:cNvPicPr>
          <p:nvPr/>
        </p:nvPicPr>
        <p:blipFill>
          <a:blip xmlns:r="http://schemas.openxmlformats.org/officeDocument/2006/relationships" xmlns:a="http://schemas.openxmlformats.org/drawingml/2006/main" r:embed="R875d7fbf977e49ff"/>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Figure 10 label 1 line 1">
            <a:extLst xmlns:a="http://schemas.openxmlformats.org/drawingml/2006/main">
              <a:ext uri="{FF2B5EF4-FFF2-40B4-BE49-F238E27FC236}">
                <a16:creationId xmlns:a16="http://schemas.microsoft.com/office/drawing/2014/main" id="{895FE3D4-EE41-47FE-80EE-639638E7A3B1}"/>
              </a:ext>
            </a:extLst>
          </p:cNvPr>
          <p:cNvSpPr>
            <a:spLocks xmlns:a="http://schemas.openxmlformats.org/drawingml/2006/main" noGrp="1"/>
          </p:cNvSpPr>
          <p:nvPr/>
        </p:nvSpPr>
        <p:spPr>
          <a:xfrm xmlns:a="http://schemas.openxmlformats.org/drawingml/2006/main" rot="0">
            <a:off x="991870" y="421920"/>
            <a:ext cx="7447260" cy="4365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750" b="1">
                <a:solidFill>
                  <a:srgbClr val="00355F"/>
                </a:solidFill>
                <a:latin typeface="Arial Unicode MS"/>
                <a:ea typeface="Arial Unicode MS"/>
                <a:cs typeface="Arial Unicode MS"/>
              </a:defRPr>
            </a:defPPr>
          </a:lstStyle>
          <a:p xmlns:a="http://schemas.openxmlformats.org/drawingml/2006/main">
            <a:pPr algn="l">
              <a:lnSpc>
                <a:spcPct val="100000"/>
              </a:lnSpc>
              <a:buNone/>
              <a:defRPr sz="2750" b="1">
                <a:solidFill>
                  <a:srgbClr val="00355F"/>
                </a:solidFill>
                <a:latin typeface="Arial Unicode MS"/>
                <a:ea typeface="Arial Unicode MS"/>
                <a:cs typeface="Arial Unicode MS"/>
              </a:defRPr>
            </a:pPr>
            <a:r>
              <a:rPr sz="2750" b="1">
                <a:solidFill>
                  <a:srgbClr val="00355F"/>
                </a:solidFill>
                <a:latin typeface="Arial Unicode MS"/>
                <a:ea typeface="Arial Unicode MS"/>
                <a:cs typeface="Arial Unicode MS"/>
              </a:rPr>
              <a:t>10  From AI funding to LST shareholder returns</a:t>
            </a:r>
          </a:p>
        </p:txBody>
      </p:sp>
      <p:sp>
        <p:nvSpPr>
          <p:cNvPr id="3" name="Figure 10 label 2 line 1">
            <a:extLst xmlns:a="http://schemas.openxmlformats.org/drawingml/2006/main">
              <a:ext uri="{FF2B5EF4-FFF2-40B4-BE49-F238E27FC236}">
                <a16:creationId xmlns:a16="http://schemas.microsoft.com/office/drawing/2014/main" id="{93BE2BAA-43B2-4DA6-85B6-E4E3C7E7470F}"/>
              </a:ext>
            </a:extLst>
          </p:cNvPr>
          <p:cNvSpPr>
            <a:spLocks xmlns:a="http://schemas.openxmlformats.org/drawingml/2006/main" noGrp="1"/>
          </p:cNvSpPr>
          <p:nvPr/>
        </p:nvSpPr>
        <p:spPr>
          <a:xfrm xmlns:a="http://schemas.openxmlformats.org/drawingml/2006/main" rot="0">
            <a:off x="15909231" y="661601"/>
            <a:ext cx="642739" cy="1885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188"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188" b="0">
                <a:solidFill>
                  <a:srgbClr val="00355F"/>
                </a:solidFill>
                <a:latin typeface="Arial Unicode MS"/>
                <a:ea typeface="Arial Unicode MS"/>
                <a:cs typeface="Arial Unicode MS"/>
              </a:defRPr>
            </a:pPr>
            <a:r>
              <a:rPr sz="1188" b="0">
                <a:solidFill>
                  <a:srgbClr val="00355F"/>
                </a:solidFill>
                <a:latin typeface="Arial Unicode MS"/>
                <a:ea typeface="Arial Unicode MS"/>
                <a:cs typeface="Arial Unicode MS"/>
              </a:rPr>
              <a:t>THESIS</a:t>
            </a:r>
          </a:p>
        </p:txBody>
      </p:sp>
      <p:sp>
        <p:nvSpPr>
          <p:cNvPr id="4" name="Figure 10 label 3 line 1">
            <a:extLst xmlns:a="http://schemas.openxmlformats.org/drawingml/2006/main">
              <a:ext uri="{FF2B5EF4-FFF2-40B4-BE49-F238E27FC236}">
                <a16:creationId xmlns:a16="http://schemas.microsoft.com/office/drawing/2014/main" id="{BAF310ED-29EA-412C-8836-5D3E03E87D7D}"/>
              </a:ext>
            </a:extLst>
          </p:cNvPr>
          <p:cNvSpPr>
            <a:spLocks xmlns:a="http://schemas.openxmlformats.org/drawingml/2006/main" noGrp="1"/>
          </p:cNvSpPr>
          <p:nvPr/>
        </p:nvSpPr>
        <p:spPr>
          <a:xfrm xmlns:a="http://schemas.openxmlformats.org/drawingml/2006/main" rot="0">
            <a:off x="998220" y="1248326"/>
            <a:ext cx="9537204"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Funding starts the chain. Projects, consumption, supply, market share and cash returns determine the outcome.</a:t>
            </a:r>
          </a:p>
        </p:txBody>
      </p:sp>
      <p:sp>
        <p:nvSpPr>
          <p:cNvPr id="5" name="Figure 10 label 4 line 1">
            <a:extLst xmlns:a="http://schemas.openxmlformats.org/drawingml/2006/main">
              <a:ext uri="{FF2B5EF4-FFF2-40B4-BE49-F238E27FC236}">
                <a16:creationId xmlns:a16="http://schemas.microsoft.com/office/drawing/2014/main" id="{A0C0F11A-7BD3-420C-9910-B936FEEEBF4C}"/>
              </a:ext>
            </a:extLst>
          </p:cNvPr>
          <p:cNvSpPr>
            <a:spLocks xmlns:a="http://schemas.openxmlformats.org/drawingml/2006/main" noGrp="1"/>
          </p:cNvSpPr>
          <p:nvPr/>
        </p:nvSpPr>
        <p:spPr>
          <a:xfrm xmlns:a="http://schemas.openxmlformats.org/drawingml/2006/main" rot="0">
            <a:off x="999173" y="9256035"/>
            <a:ext cx="7780586" cy="2083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13" b="0">
                <a:solidFill>
                  <a:srgbClr val="00355F"/>
                </a:solidFill>
                <a:latin typeface="Arial Unicode MS"/>
                <a:ea typeface="Arial Unicode MS"/>
                <a:cs typeface="Arial Unicode MS"/>
              </a:defRPr>
            </a:defPPr>
          </a:lstStyle>
          <a:p xmlns:a="http://schemas.openxmlformats.org/drawingml/2006/main">
            <a:pPr algn="l">
              <a:lnSpc>
                <a:spcPct val="100000"/>
              </a:lnSpc>
              <a:buNone/>
              <a:defRPr sz="1313" b="0">
                <a:solidFill>
                  <a:srgbClr val="00355F"/>
                </a:solidFill>
                <a:latin typeface="Arial Unicode MS"/>
                <a:ea typeface="Arial Unicode MS"/>
                <a:cs typeface="Arial Unicode MS"/>
              </a:defRPr>
            </a:pPr>
            <a:r>
              <a:rPr sz="1313" b="0">
                <a:solidFill>
                  <a:srgbClr val="00355F"/>
                </a:solidFill>
                <a:latin typeface="Arial Unicode MS"/>
                <a:ea typeface="Arial Unicode MS"/>
                <a:cs typeface="Arial Unicode MS"/>
              </a:rPr>
              <a:t>Seek experimental relevance, evidenced supply constraints and global access; test the valuation hurdle.</a:t>
            </a:r>
          </a:p>
        </p:txBody>
      </p:sp>
      <p:sp>
        <p:nvSpPr>
          <p:cNvPr id="6" name="Figure 10 label 5 line 1">
            <a:extLst xmlns:a="http://schemas.openxmlformats.org/drawingml/2006/main">
              <a:ext uri="{FF2B5EF4-FFF2-40B4-BE49-F238E27FC236}">
                <a16:creationId xmlns:a16="http://schemas.microsoft.com/office/drawing/2014/main" id="{5EE2A2E7-3AFA-4C13-9D2B-501C181E3E53}"/>
              </a:ext>
            </a:extLst>
          </p:cNvPr>
          <p:cNvSpPr>
            <a:spLocks xmlns:a="http://schemas.openxmlformats.org/drawingml/2006/main" noGrp="1"/>
          </p:cNvSpPr>
          <p:nvPr/>
        </p:nvSpPr>
        <p:spPr>
          <a:xfrm xmlns:a="http://schemas.openxmlformats.org/drawingml/2006/main" rot="0">
            <a:off x="1000316" y="9675546"/>
            <a:ext cx="6311533" cy="1726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88" b="0">
                <a:solidFill>
                  <a:srgbClr val="00355F"/>
                </a:solidFill>
                <a:latin typeface="Arial Unicode MS"/>
                <a:ea typeface="Arial Unicode MS"/>
                <a:cs typeface="Arial Unicode MS"/>
              </a:defRPr>
            </a:defPPr>
          </a:lstStyle>
          <a:p xmlns:a="http://schemas.openxmlformats.org/drawingml/2006/main">
            <a:pPr algn="l">
              <a:lnSpc>
                <a:spcPct val="100000"/>
              </a:lnSpc>
              <a:buNone/>
              <a:defRPr sz="1088" b="0">
                <a:solidFill>
                  <a:srgbClr val="00355F"/>
                </a:solidFill>
                <a:latin typeface="Arial Unicode MS"/>
                <a:ea typeface="Arial Unicode MS"/>
                <a:cs typeface="Arial Unicode MS"/>
              </a:defRPr>
            </a:pPr>
            <a:r>
              <a:rPr sz="1088" b="0">
                <a:solidFill>
                  <a:srgbClr val="00355F"/>
                </a:solidFill>
                <a:latin typeface="Arial Unicode MS"/>
                <a:ea typeface="Arial Unicode MS"/>
                <a:cs typeface="Arial Unicode MS"/>
              </a:rPr>
              <a:t>Source: supplied framework and prior company research. Capital announcements are not LST orders.</a:t>
            </a:r>
          </a:p>
        </p:txBody>
      </p:sp>
      <p:sp>
        <p:nvSpPr>
          <p:cNvPr id="7" name="Figure 10 label 6 line 1">
            <a:extLst xmlns:a="http://schemas.openxmlformats.org/drawingml/2006/main">
              <a:ext uri="{FF2B5EF4-FFF2-40B4-BE49-F238E27FC236}">
                <a16:creationId xmlns:a16="http://schemas.microsoft.com/office/drawing/2014/main" id="{7AA13B9B-BF49-4526-913A-AF2C67CE5735}"/>
              </a:ext>
            </a:extLst>
          </p:cNvPr>
          <p:cNvSpPr>
            <a:spLocks xmlns:a="http://schemas.openxmlformats.org/drawingml/2006/main" noGrp="1"/>
          </p:cNvSpPr>
          <p:nvPr/>
        </p:nvSpPr>
        <p:spPr>
          <a:xfrm xmlns:a="http://schemas.openxmlformats.org/drawingml/2006/main" rot="0">
            <a:off x="16440260" y="9667497"/>
            <a:ext cx="841901" cy="1825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r">
              <a:defRPr sz="1150" b="0">
                <a:solidFill>
                  <a:srgbClr val="00355F"/>
                </a:solidFill>
                <a:latin typeface="Arial Unicode MS"/>
                <a:ea typeface="Arial Unicode MS"/>
                <a:cs typeface="Arial Unicode MS"/>
              </a:defRPr>
            </a:defPPr>
          </a:lstStyle>
          <a:p xmlns:a="http://schemas.openxmlformats.org/drawingml/2006/main">
            <a:pPr algn="r">
              <a:lnSpc>
                <a:spcPct val="100000"/>
              </a:lnSpc>
              <a:buNone/>
              <a:defRPr sz="1150" b="0">
                <a:solidFill>
                  <a:srgbClr val="00355F"/>
                </a:solidFill>
                <a:latin typeface="Arial Unicode MS"/>
                <a:ea typeface="Arial Unicode MS"/>
                <a:cs typeface="Arial Unicode MS"/>
              </a:defRPr>
            </a:pPr>
            <a:r>
              <a:rPr sz="1150" b="0">
                <a:solidFill>
                  <a:srgbClr val="00355F"/>
                </a:solidFill>
                <a:latin typeface="Arial Unicode MS"/>
                <a:ea typeface="Arial Unicode MS"/>
                <a:cs typeface="Arial Unicode MS"/>
              </a:rPr>
              <a:t>2026-10-12</a:t>
            </a:r>
          </a:p>
        </p:txBody>
      </p:sp>
      <p:sp>
        <p:nvSpPr>
          <p:cNvPr id="8" name="Figure 10 label 7 line 1">
            <a:extLst xmlns:a="http://schemas.openxmlformats.org/drawingml/2006/main">
              <a:ext uri="{FF2B5EF4-FFF2-40B4-BE49-F238E27FC236}">
                <a16:creationId xmlns:a16="http://schemas.microsoft.com/office/drawing/2014/main" id="{B9DA28B1-3E71-478F-AD9D-6709570BEF5A}"/>
              </a:ext>
            </a:extLst>
          </p:cNvPr>
          <p:cNvSpPr>
            <a:spLocks xmlns:a="http://schemas.openxmlformats.org/drawingml/2006/main" noGrp="1"/>
          </p:cNvSpPr>
          <p:nvPr/>
        </p:nvSpPr>
        <p:spPr>
          <a:xfrm xmlns:a="http://schemas.openxmlformats.org/drawingml/2006/main" rot="0">
            <a:off x="1372389" y="2964153"/>
            <a:ext cx="1735782" cy="2678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88" b="1">
                <a:solidFill>
                  <a:srgbClr val="00355F"/>
                </a:solidFill>
                <a:latin typeface="Arial Unicode MS"/>
                <a:ea typeface="Arial Unicode MS"/>
                <a:cs typeface="Arial Unicode MS"/>
              </a:defRPr>
            </a:defPPr>
          </a:lstStyle>
          <a:p xmlns:a="http://schemas.openxmlformats.org/drawingml/2006/main">
            <a:pPr algn="ctr">
              <a:lnSpc>
                <a:spcPct val="100000"/>
              </a:lnSpc>
              <a:buNone/>
              <a:defRPr sz="1688" b="1">
                <a:solidFill>
                  <a:srgbClr val="00355F"/>
                </a:solidFill>
                <a:latin typeface="Arial Unicode MS"/>
                <a:ea typeface="Arial Unicode MS"/>
                <a:cs typeface="Arial Unicode MS"/>
              </a:defRPr>
            </a:pPr>
            <a:r>
              <a:rPr sz="1688" b="1">
                <a:solidFill>
                  <a:srgbClr val="00355F"/>
                </a:solidFill>
                <a:latin typeface="Arial Unicode MS"/>
                <a:ea typeface="Arial Unicode MS"/>
                <a:cs typeface="Arial Unicode MS"/>
              </a:rPr>
              <a:t>AI funding grows</a:t>
            </a:r>
          </a:p>
        </p:txBody>
      </p:sp>
      <p:sp>
        <p:nvSpPr>
          <p:cNvPr id="9" name="Figure 10 label 8 line 1">
            <a:extLst xmlns:a="http://schemas.openxmlformats.org/drawingml/2006/main">
              <a:ext uri="{FF2B5EF4-FFF2-40B4-BE49-F238E27FC236}">
                <a16:creationId xmlns:a16="http://schemas.microsoft.com/office/drawing/2014/main" id="{6C99059E-FD1A-4E17-8A6A-E2DB0876DCE6}"/>
              </a:ext>
            </a:extLst>
          </p:cNvPr>
          <p:cNvSpPr>
            <a:spLocks xmlns:a="http://schemas.openxmlformats.org/drawingml/2006/main" noGrp="1"/>
          </p:cNvSpPr>
          <p:nvPr/>
        </p:nvSpPr>
        <p:spPr>
          <a:xfrm xmlns:a="http://schemas.openxmlformats.org/drawingml/2006/main" rot="0">
            <a:off x="1255340" y="3750783"/>
            <a:ext cx="1969879" cy="2103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2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325" b="0">
                <a:solidFill>
                  <a:srgbClr val="00355F"/>
                </a:solidFill>
                <a:latin typeface="Arial Unicode MS"/>
                <a:ea typeface="Arial Unicode MS"/>
                <a:cs typeface="Arial Unicode MS"/>
              </a:defRPr>
            </a:pPr>
            <a:r>
              <a:rPr sz="1325" b="0">
                <a:solidFill>
                  <a:srgbClr val="00355F"/>
                </a:solidFill>
                <a:latin typeface="Arial Unicode MS"/>
                <a:ea typeface="Arial Unicode MS"/>
                <a:cs typeface="Arial Unicode MS"/>
              </a:rPr>
              <a:t>Cash reaches customers</a:t>
            </a:r>
          </a:p>
        </p:txBody>
      </p:sp>
      <p:sp>
        <p:nvSpPr>
          <p:cNvPr id="10" name="Figure 10 label 9 line 1">
            <a:extLst xmlns:a="http://schemas.openxmlformats.org/drawingml/2006/main">
              <a:ext uri="{FF2B5EF4-FFF2-40B4-BE49-F238E27FC236}">
                <a16:creationId xmlns:a16="http://schemas.microsoft.com/office/drawing/2014/main" id="{34D0D4B5-6822-4C62-A17B-BB288B7A6EBB}"/>
              </a:ext>
            </a:extLst>
          </p:cNvPr>
          <p:cNvSpPr>
            <a:spLocks xmlns:a="http://schemas.openxmlformats.org/drawingml/2006/main" noGrp="1"/>
          </p:cNvSpPr>
          <p:nvPr/>
        </p:nvSpPr>
        <p:spPr>
          <a:xfrm xmlns:a="http://schemas.openxmlformats.org/drawingml/2006/main" rot="0">
            <a:off x="4485941" y="2964002"/>
            <a:ext cx="1616869" cy="2678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88" b="1">
                <a:solidFill>
                  <a:srgbClr val="00355F"/>
                </a:solidFill>
                <a:latin typeface="Arial Unicode MS"/>
                <a:ea typeface="Arial Unicode MS"/>
                <a:cs typeface="Arial Unicode MS"/>
              </a:defRPr>
            </a:defPPr>
          </a:lstStyle>
          <a:p xmlns:a="http://schemas.openxmlformats.org/drawingml/2006/main">
            <a:pPr algn="ctr">
              <a:lnSpc>
                <a:spcPct val="100000"/>
              </a:lnSpc>
              <a:buNone/>
              <a:defRPr sz="1688" b="1">
                <a:solidFill>
                  <a:srgbClr val="00355F"/>
                </a:solidFill>
                <a:latin typeface="Arial Unicode MS"/>
                <a:ea typeface="Arial Unicode MS"/>
                <a:cs typeface="Arial Unicode MS"/>
              </a:defRPr>
            </a:pPr>
            <a:r>
              <a:rPr sz="1688" b="1">
                <a:solidFill>
                  <a:srgbClr val="00355F"/>
                </a:solidFill>
                <a:latin typeface="Arial Unicode MS"/>
                <a:ea typeface="Arial Unicode MS"/>
                <a:cs typeface="Arial Unicode MS"/>
              </a:rPr>
              <a:t>Lab automation</a:t>
            </a:r>
          </a:p>
        </p:txBody>
      </p:sp>
      <p:sp>
        <p:nvSpPr>
          <p:cNvPr id="11" name="Figure 10 label 10 line 1">
            <a:extLst xmlns:a="http://schemas.openxmlformats.org/drawingml/2006/main">
              <a:ext uri="{FF2B5EF4-FFF2-40B4-BE49-F238E27FC236}">
                <a16:creationId xmlns:a16="http://schemas.microsoft.com/office/drawing/2014/main" id="{7529DDEC-0343-4B2D-940B-4E1B3832301F}"/>
              </a:ext>
            </a:extLst>
          </p:cNvPr>
          <p:cNvSpPr>
            <a:spLocks xmlns:a="http://schemas.openxmlformats.org/drawingml/2006/main" noGrp="1"/>
          </p:cNvSpPr>
          <p:nvPr/>
        </p:nvSpPr>
        <p:spPr>
          <a:xfrm xmlns:a="http://schemas.openxmlformats.org/drawingml/2006/main" rot="0">
            <a:off x="4505592" y="3750783"/>
            <a:ext cx="1577568" cy="2103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2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325" b="0">
                <a:solidFill>
                  <a:srgbClr val="00355F"/>
                </a:solidFill>
                <a:latin typeface="Arial Unicode MS"/>
                <a:ea typeface="Arial Unicode MS"/>
                <a:cs typeface="Arial Unicode MS"/>
              </a:defRPr>
            </a:pPr>
            <a:r>
              <a:rPr sz="1325" b="0">
                <a:solidFill>
                  <a:srgbClr val="00355F"/>
                </a:solidFill>
                <a:latin typeface="Arial Unicode MS"/>
                <a:ea typeface="Arial Unicode MS"/>
                <a:cs typeface="Arial Unicode MS"/>
              </a:rPr>
              <a:t>Equipment installed</a:t>
            </a:r>
          </a:p>
        </p:txBody>
      </p:sp>
      <p:sp>
        <p:nvSpPr>
          <p:cNvPr id="12" name="Figure 10 label 11 line 1">
            <a:extLst xmlns:a="http://schemas.openxmlformats.org/drawingml/2006/main">
              <a:ext uri="{FF2B5EF4-FFF2-40B4-BE49-F238E27FC236}">
                <a16:creationId xmlns:a16="http://schemas.microsoft.com/office/drawing/2014/main" id="{F6739ABA-02A7-4A9C-879D-EAA58A016006}"/>
              </a:ext>
            </a:extLst>
          </p:cNvPr>
          <p:cNvSpPr>
            <a:spLocks xmlns:a="http://schemas.openxmlformats.org/drawingml/2006/main" noGrp="1"/>
          </p:cNvSpPr>
          <p:nvPr/>
        </p:nvSpPr>
        <p:spPr>
          <a:xfrm xmlns:a="http://schemas.openxmlformats.org/drawingml/2006/main" rot="0">
            <a:off x="7242456" y="2964002"/>
            <a:ext cx="2212032" cy="2678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88" b="1">
                <a:solidFill>
                  <a:srgbClr val="00355F"/>
                </a:solidFill>
                <a:latin typeface="Arial Unicode MS"/>
                <a:ea typeface="Arial Unicode MS"/>
                <a:cs typeface="Arial Unicode MS"/>
              </a:defRPr>
            </a:defPPr>
          </a:lstStyle>
          <a:p xmlns:a="http://schemas.openxmlformats.org/drawingml/2006/main">
            <a:pPr algn="ctr">
              <a:lnSpc>
                <a:spcPct val="100000"/>
              </a:lnSpc>
              <a:buNone/>
              <a:defRPr sz="1688" b="1">
                <a:solidFill>
                  <a:srgbClr val="00355F"/>
                </a:solidFill>
                <a:latin typeface="Arial Unicode MS"/>
                <a:ea typeface="Arial Unicode MS"/>
                <a:cs typeface="Arial Unicode MS"/>
              </a:defRPr>
            </a:pPr>
            <a:r>
              <a:rPr sz="1688" b="1">
                <a:solidFill>
                  <a:srgbClr val="00355F"/>
                </a:solidFill>
                <a:latin typeface="Arial Unicode MS"/>
                <a:ea typeface="Arial Unicode MS"/>
                <a:cs typeface="Arial Unicode MS"/>
              </a:rPr>
              <a:t>Build-and-test volume</a:t>
            </a:r>
          </a:p>
        </p:txBody>
      </p:sp>
      <p:sp>
        <p:nvSpPr>
          <p:cNvPr id="13" name="Figure 10 label 12 line 1">
            <a:extLst xmlns:a="http://schemas.openxmlformats.org/drawingml/2006/main">
              <a:ext uri="{FF2B5EF4-FFF2-40B4-BE49-F238E27FC236}">
                <a16:creationId xmlns:a16="http://schemas.microsoft.com/office/drawing/2014/main" id="{B4823FD0-4094-49AC-BD4C-BC846E4F4ED2}"/>
              </a:ext>
            </a:extLst>
          </p:cNvPr>
          <p:cNvSpPr>
            <a:spLocks xmlns:a="http://schemas.openxmlformats.org/drawingml/2006/main" noGrp="1"/>
          </p:cNvSpPr>
          <p:nvPr/>
        </p:nvSpPr>
        <p:spPr>
          <a:xfrm xmlns:a="http://schemas.openxmlformats.org/drawingml/2006/main" rot="0">
            <a:off x="7503654" y="3750980"/>
            <a:ext cx="1689636" cy="2103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25" b="0">
                <a:solidFill>
                  <a:srgbClr val="00355F"/>
                </a:solidFill>
                <a:latin typeface="Arial Unicode MS"/>
                <a:ea typeface="Arial Unicode MS"/>
                <a:cs typeface="Arial Unicode MS"/>
              </a:defRPr>
            </a:defPPr>
          </a:lstStyle>
          <a:p xmlns:a="http://schemas.openxmlformats.org/drawingml/2006/main">
            <a:pPr algn="ctr">
              <a:lnSpc>
                <a:spcPct val="100000"/>
              </a:lnSpc>
              <a:buNone/>
              <a:defRPr sz="1325" b="0">
                <a:solidFill>
                  <a:srgbClr val="00355F"/>
                </a:solidFill>
                <a:latin typeface="Arial Unicode MS"/>
                <a:ea typeface="Arial Unicode MS"/>
                <a:cs typeface="Arial Unicode MS"/>
              </a:defRPr>
            </a:pPr>
            <a:r>
              <a:rPr sz="1325" b="0">
                <a:solidFill>
                  <a:srgbClr val="00355F"/>
                </a:solidFill>
                <a:latin typeface="Arial Unicode MS"/>
                <a:ea typeface="Arial Unicode MS"/>
                <a:cs typeface="Arial Unicode MS"/>
              </a:rPr>
              <a:t>More funded projects</a:t>
            </a:r>
          </a:p>
        </p:txBody>
      </p:sp>
      <p:sp>
        <p:nvSpPr>
          <p:cNvPr id="14" name="Figure 10 label 13 line 1">
            <a:extLst xmlns:a="http://schemas.openxmlformats.org/drawingml/2006/main">
              <a:ext uri="{FF2B5EF4-FFF2-40B4-BE49-F238E27FC236}">
                <a16:creationId xmlns:a16="http://schemas.microsoft.com/office/drawing/2014/main" id="{87A33549-F065-42DF-B897-782C8F2EFF84}"/>
              </a:ext>
            </a:extLst>
          </p:cNvPr>
          <p:cNvSpPr>
            <a:spLocks xmlns:a="http://schemas.openxmlformats.org/drawingml/2006/main" noGrp="1"/>
          </p:cNvSpPr>
          <p:nvPr/>
        </p:nvSpPr>
        <p:spPr>
          <a:xfrm xmlns:a="http://schemas.openxmlformats.org/drawingml/2006/main" rot="0">
            <a:off x="10522844" y="2964002"/>
            <a:ext cx="1759446" cy="2678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88" b="1">
                <a:solidFill>
                  <a:srgbClr val="FFFFFF"/>
                </a:solidFill>
                <a:latin typeface="Arial Unicode MS"/>
                <a:ea typeface="Arial Unicode MS"/>
                <a:cs typeface="Arial Unicode MS"/>
              </a:defRPr>
            </a:defPPr>
          </a:lstStyle>
          <a:p xmlns:a="http://schemas.openxmlformats.org/drawingml/2006/main">
            <a:pPr algn="ctr">
              <a:lnSpc>
                <a:spcPct val="100000"/>
              </a:lnSpc>
              <a:buNone/>
              <a:defRPr sz="1688" b="1">
                <a:solidFill>
                  <a:srgbClr val="FFFFFF"/>
                </a:solidFill>
                <a:latin typeface="Arial Unicode MS"/>
                <a:ea typeface="Arial Unicode MS"/>
                <a:cs typeface="Arial Unicode MS"/>
              </a:defRPr>
            </a:pPr>
            <a:r>
              <a:rPr sz="1688" b="1">
                <a:solidFill>
                  <a:srgbClr val="FFFFFF"/>
                </a:solidFill>
                <a:latin typeface="Arial Unicode MS"/>
                <a:ea typeface="Arial Unicode MS"/>
                <a:cs typeface="Arial Unicode MS"/>
              </a:rPr>
              <a:t>Net LST demand</a:t>
            </a:r>
          </a:p>
        </p:txBody>
      </p:sp>
      <p:sp>
        <p:nvSpPr>
          <p:cNvPr id="15" name="Figure 10 label 14 line 1">
            <a:extLst xmlns:a="http://schemas.openxmlformats.org/drawingml/2006/main">
              <a:ext uri="{FF2B5EF4-FFF2-40B4-BE49-F238E27FC236}">
                <a16:creationId xmlns:a16="http://schemas.microsoft.com/office/drawing/2014/main" id="{F9A75BBF-8B12-4CBA-BABB-52D9775FA02B}"/>
              </a:ext>
            </a:extLst>
          </p:cNvPr>
          <p:cNvSpPr>
            <a:spLocks xmlns:a="http://schemas.openxmlformats.org/drawingml/2006/main" noGrp="1"/>
          </p:cNvSpPr>
          <p:nvPr/>
        </p:nvSpPr>
        <p:spPr>
          <a:xfrm xmlns:a="http://schemas.openxmlformats.org/drawingml/2006/main" rot="0">
            <a:off x="10429162" y="3750901"/>
            <a:ext cx="1946811" cy="2103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25" b="0">
                <a:solidFill>
                  <a:srgbClr val="FFFFFF"/>
                </a:solidFill>
                <a:latin typeface="Arial Unicode MS"/>
                <a:ea typeface="Arial Unicode MS"/>
                <a:cs typeface="Arial Unicode MS"/>
              </a:defRPr>
            </a:defPPr>
          </a:lstStyle>
          <a:p xmlns:a="http://schemas.openxmlformats.org/drawingml/2006/main">
            <a:pPr algn="ctr">
              <a:lnSpc>
                <a:spcPct val="100000"/>
              </a:lnSpc>
              <a:buNone/>
              <a:defRPr sz="1325" b="0">
                <a:solidFill>
                  <a:srgbClr val="FFFFFF"/>
                </a:solidFill>
                <a:latin typeface="Arial Unicode MS"/>
                <a:ea typeface="Arial Unicode MS"/>
                <a:cs typeface="Arial Unicode MS"/>
              </a:defRPr>
            </a:pPr>
            <a:r>
              <a:rPr sz="1325" b="0">
                <a:solidFill>
                  <a:srgbClr val="FFFFFF"/>
                </a:solidFill>
                <a:latin typeface="Arial Unicode MS"/>
                <a:ea typeface="Arial Unicode MS"/>
                <a:cs typeface="Arial Unicode MS"/>
              </a:rPr>
              <a:t>Intensity + ASP adjusted</a:t>
            </a:r>
          </a:p>
        </p:txBody>
      </p:sp>
      <p:sp>
        <p:nvSpPr>
          <p:cNvPr id="16" name="Figure 10 label 15 line 1">
            <a:extLst xmlns:a="http://schemas.openxmlformats.org/drawingml/2006/main">
              <a:ext uri="{FF2B5EF4-FFF2-40B4-BE49-F238E27FC236}">
                <a16:creationId xmlns:a16="http://schemas.microsoft.com/office/drawing/2014/main" id="{782B670E-CEE8-4513-A0EE-4A98DACD4473}"/>
              </a:ext>
            </a:extLst>
          </p:cNvPr>
          <p:cNvSpPr>
            <a:spLocks xmlns:a="http://schemas.openxmlformats.org/drawingml/2006/main" noGrp="1"/>
          </p:cNvSpPr>
          <p:nvPr/>
        </p:nvSpPr>
        <p:spPr>
          <a:xfrm xmlns:a="http://schemas.openxmlformats.org/drawingml/2006/main" rot="0">
            <a:off x="13926566" y="2359405"/>
            <a:ext cx="1589584" cy="277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750" b="1">
                <a:solidFill>
                  <a:srgbClr val="00355F"/>
                </a:solidFill>
                <a:latin typeface="Arial Unicode MS"/>
                <a:ea typeface="Arial Unicode MS"/>
                <a:cs typeface="Arial Unicode MS"/>
              </a:defRPr>
            </a:defPPr>
          </a:lstStyle>
          <a:p xmlns:a="http://schemas.openxmlformats.org/drawingml/2006/main">
            <a:pPr algn="l">
              <a:lnSpc>
                <a:spcPct val="100000"/>
              </a:lnSpc>
              <a:buNone/>
              <a:defRPr sz="1750" b="1">
                <a:solidFill>
                  <a:srgbClr val="00355F"/>
                </a:solidFill>
                <a:latin typeface="Arial Unicode MS"/>
                <a:ea typeface="Arial Unicode MS"/>
                <a:cs typeface="Arial Unicode MS"/>
              </a:defRPr>
            </a:pPr>
            <a:r>
              <a:rPr sz="1750" b="1">
                <a:solidFill>
                  <a:srgbClr val="00355F"/>
                </a:solidFill>
                <a:latin typeface="Arial Unicode MS"/>
                <a:ea typeface="Arial Unicode MS"/>
                <a:cs typeface="Arial Unicode MS"/>
              </a:rPr>
              <a:t>Direct demand</a:t>
            </a:r>
          </a:p>
        </p:txBody>
      </p:sp>
      <p:sp>
        <p:nvSpPr>
          <p:cNvPr id="17" name="Figure 10 label 16 line 1">
            <a:extLst xmlns:a="http://schemas.openxmlformats.org/drawingml/2006/main">
              <a:ext uri="{FF2B5EF4-FFF2-40B4-BE49-F238E27FC236}">
                <a16:creationId xmlns:a16="http://schemas.microsoft.com/office/drawing/2014/main" id="{5C1C4526-944B-41CA-BF6F-852E07828546}"/>
              </a:ext>
            </a:extLst>
          </p:cNvPr>
          <p:cNvSpPr>
            <a:spLocks xmlns:a="http://schemas.openxmlformats.org/drawingml/2006/main" noGrp="1"/>
          </p:cNvSpPr>
          <p:nvPr/>
        </p:nvSpPr>
        <p:spPr>
          <a:xfrm xmlns:a="http://schemas.openxmlformats.org/drawingml/2006/main" rot="0">
            <a:off x="13928598" y="2863125"/>
            <a:ext cx="2255758"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Assays, automation labware</a:t>
            </a:r>
          </a:p>
        </p:txBody>
      </p:sp>
      <p:sp>
        <p:nvSpPr>
          <p:cNvPr id="18" name="Figure 10 label 17 line 1">
            <a:extLst xmlns:a="http://schemas.openxmlformats.org/drawingml/2006/main">
              <a:ext uri="{FF2B5EF4-FFF2-40B4-BE49-F238E27FC236}">
                <a16:creationId xmlns:a16="http://schemas.microsoft.com/office/drawing/2014/main" id="{2CD47BFF-EAE8-49EB-8414-2B3F35BEC01E}"/>
              </a:ext>
            </a:extLst>
          </p:cNvPr>
          <p:cNvSpPr>
            <a:spLocks xmlns:a="http://schemas.openxmlformats.org/drawingml/2006/main" noGrp="1"/>
          </p:cNvSpPr>
          <p:nvPr/>
        </p:nvSpPr>
        <p:spPr>
          <a:xfrm xmlns:a="http://schemas.openxmlformats.org/drawingml/2006/main" rot="0">
            <a:off x="13928598" y="3107755"/>
            <a:ext cx="2294007"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and chemical building blocks</a:t>
            </a:r>
          </a:p>
        </p:txBody>
      </p:sp>
      <p:sp>
        <p:nvSpPr>
          <p:cNvPr id="19" name="Figure 10 label 18 line 1">
            <a:extLst xmlns:a="http://schemas.openxmlformats.org/drawingml/2006/main">
              <a:ext uri="{FF2B5EF4-FFF2-40B4-BE49-F238E27FC236}">
                <a16:creationId xmlns:a16="http://schemas.microsoft.com/office/drawing/2014/main" id="{951434C3-1317-4C39-B5A8-5162C0376E68}"/>
              </a:ext>
            </a:extLst>
          </p:cNvPr>
          <p:cNvSpPr>
            <a:spLocks xmlns:a="http://schemas.openxmlformats.org/drawingml/2006/main" noGrp="1"/>
          </p:cNvSpPr>
          <p:nvPr/>
        </p:nvSpPr>
        <p:spPr>
          <a:xfrm xmlns:a="http://schemas.openxmlformats.org/drawingml/2006/main" rot="0">
            <a:off x="13926566" y="4416961"/>
            <a:ext cx="1960314" cy="277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750" b="1">
                <a:solidFill>
                  <a:srgbClr val="00355F"/>
                </a:solidFill>
                <a:latin typeface="Arial Unicode MS"/>
                <a:ea typeface="Arial Unicode MS"/>
                <a:cs typeface="Arial Unicode MS"/>
              </a:defRPr>
            </a:defPPr>
          </a:lstStyle>
          <a:p xmlns:a="http://schemas.openxmlformats.org/drawingml/2006/main">
            <a:pPr algn="l">
              <a:lnSpc>
                <a:spcPct val="100000"/>
              </a:lnSpc>
              <a:buNone/>
              <a:defRPr sz="1750" b="1">
                <a:solidFill>
                  <a:srgbClr val="00355F"/>
                </a:solidFill>
                <a:latin typeface="Arial Unicode MS"/>
                <a:ea typeface="Arial Unicode MS"/>
                <a:cs typeface="Arial Unicode MS"/>
              </a:defRPr>
            </a:pPr>
            <a:r>
              <a:rPr sz="1750" b="1">
                <a:solidFill>
                  <a:srgbClr val="00355F"/>
                </a:solidFill>
                <a:latin typeface="Arial Unicode MS"/>
                <a:ea typeface="Arial Unicode MS"/>
                <a:cs typeface="Arial Unicode MS"/>
              </a:rPr>
              <a:t>Supply constraints</a:t>
            </a:r>
          </a:p>
        </p:txBody>
      </p:sp>
      <p:sp>
        <p:nvSpPr>
          <p:cNvPr id="20" name="Figure 10 label 19 line 1">
            <a:extLst xmlns:a="http://schemas.openxmlformats.org/drawingml/2006/main">
              <a:ext uri="{FF2B5EF4-FFF2-40B4-BE49-F238E27FC236}">
                <a16:creationId xmlns:a16="http://schemas.microsoft.com/office/drawing/2014/main" id="{703242A4-23DA-4E8C-8DB9-6221BB22A186}"/>
              </a:ext>
            </a:extLst>
          </p:cNvPr>
          <p:cNvSpPr>
            <a:spLocks xmlns:a="http://schemas.openxmlformats.org/drawingml/2006/main" noGrp="1"/>
          </p:cNvSpPr>
          <p:nvPr/>
        </p:nvSpPr>
        <p:spPr>
          <a:xfrm xmlns:a="http://schemas.openxmlformats.org/drawingml/2006/main" rot="0">
            <a:off x="13928598" y="4922494"/>
            <a:ext cx="2389257"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Specialty plates / components</a:t>
            </a:r>
          </a:p>
        </p:txBody>
      </p:sp>
      <p:sp>
        <p:nvSpPr>
          <p:cNvPr id="21" name="Figure 10 label 20 line 1">
            <a:extLst xmlns:a="http://schemas.openxmlformats.org/drawingml/2006/main">
              <a:ext uri="{FF2B5EF4-FFF2-40B4-BE49-F238E27FC236}">
                <a16:creationId xmlns:a16="http://schemas.microsoft.com/office/drawing/2014/main" id="{5AF32F1D-1687-4084-851B-63DFCB9DE3D1}"/>
              </a:ext>
            </a:extLst>
          </p:cNvPr>
          <p:cNvSpPr>
            <a:spLocks xmlns:a="http://schemas.openxmlformats.org/drawingml/2006/main" noGrp="1"/>
          </p:cNvSpPr>
          <p:nvPr/>
        </p:nvSpPr>
        <p:spPr>
          <a:xfrm xmlns:a="http://schemas.openxmlformats.org/drawingml/2006/main" rot="0">
            <a:off x="13928598" y="5167124"/>
            <a:ext cx="2513231"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Expansion limits need evidence</a:t>
            </a:r>
          </a:p>
        </p:txBody>
      </p:sp>
      <p:sp>
        <p:nvSpPr>
          <p:cNvPr id="22" name="Figure 10 label 21 line 1">
            <a:extLst xmlns:a="http://schemas.openxmlformats.org/drawingml/2006/main">
              <a:ext uri="{FF2B5EF4-FFF2-40B4-BE49-F238E27FC236}">
                <a16:creationId xmlns:a16="http://schemas.microsoft.com/office/drawing/2014/main" id="{354905D7-E215-469A-BDA8-1C723D993FF2}"/>
              </a:ext>
            </a:extLst>
          </p:cNvPr>
          <p:cNvSpPr>
            <a:spLocks xmlns:a="http://schemas.openxmlformats.org/drawingml/2006/main" noGrp="1"/>
          </p:cNvSpPr>
          <p:nvPr/>
        </p:nvSpPr>
        <p:spPr>
          <a:xfrm xmlns:a="http://schemas.openxmlformats.org/drawingml/2006/main" rot="0">
            <a:off x="13926566" y="6474205"/>
            <a:ext cx="1874143" cy="277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750" b="1">
                <a:solidFill>
                  <a:srgbClr val="00355F"/>
                </a:solidFill>
                <a:latin typeface="Arial Unicode MS"/>
                <a:ea typeface="Arial Unicode MS"/>
                <a:cs typeface="Arial Unicode MS"/>
              </a:defRPr>
            </a:defPPr>
          </a:lstStyle>
          <a:p xmlns:a="http://schemas.openxmlformats.org/drawingml/2006/main">
            <a:pPr algn="l">
              <a:lnSpc>
                <a:spcPct val="100000"/>
              </a:lnSpc>
              <a:buNone/>
              <a:defRPr sz="1750" b="1">
                <a:solidFill>
                  <a:srgbClr val="00355F"/>
                </a:solidFill>
                <a:latin typeface="Arial Unicode MS"/>
                <a:ea typeface="Arial Unicode MS"/>
                <a:cs typeface="Arial Unicode MS"/>
              </a:defRPr>
            </a:pPr>
            <a:r>
              <a:rPr sz="1750" b="1">
                <a:solidFill>
                  <a:srgbClr val="00355F"/>
                </a:solidFill>
                <a:latin typeface="Arial Unicode MS"/>
                <a:ea typeface="Arial Unicode MS"/>
                <a:cs typeface="Arial Unicode MS"/>
              </a:rPr>
              <a:t>Listed candidates</a:t>
            </a:r>
          </a:p>
        </p:txBody>
      </p:sp>
      <p:sp>
        <p:nvSpPr>
          <p:cNvPr id="23" name="Figure 10 label 22 line 1">
            <a:extLst xmlns:a="http://schemas.openxmlformats.org/drawingml/2006/main">
              <a:ext uri="{FF2B5EF4-FFF2-40B4-BE49-F238E27FC236}">
                <a16:creationId xmlns:a16="http://schemas.microsoft.com/office/drawing/2014/main" id="{C8033455-7EF3-4864-845F-8A60FD643696}"/>
              </a:ext>
            </a:extLst>
          </p:cNvPr>
          <p:cNvSpPr>
            <a:spLocks xmlns:a="http://schemas.openxmlformats.org/drawingml/2006/main" noGrp="1"/>
          </p:cNvSpPr>
          <p:nvPr/>
        </p:nvSpPr>
        <p:spPr>
          <a:xfrm xmlns:a="http://schemas.openxmlformats.org/drawingml/2006/main" rot="0">
            <a:off x="13928598" y="6977194"/>
            <a:ext cx="2684086"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ACRO, Vazyme, Sino, NanoMicro</a:t>
            </a:r>
          </a:p>
        </p:txBody>
      </p:sp>
      <p:sp>
        <p:nvSpPr>
          <p:cNvPr id="24" name="Figure 10 label 23 line 1">
            <a:extLst xmlns:a="http://schemas.openxmlformats.org/drawingml/2006/main">
              <a:ext uri="{FF2B5EF4-FFF2-40B4-BE49-F238E27FC236}">
                <a16:creationId xmlns:a16="http://schemas.microsoft.com/office/drawing/2014/main" id="{3F959B62-F7CD-4011-83D0-AFA931748B5F}"/>
              </a:ext>
            </a:extLst>
          </p:cNvPr>
          <p:cNvSpPr>
            <a:spLocks xmlns:a="http://schemas.openxmlformats.org/drawingml/2006/main" noGrp="1"/>
          </p:cNvSpPr>
          <p:nvPr/>
        </p:nvSpPr>
        <p:spPr>
          <a:xfrm xmlns:a="http://schemas.openxmlformats.org/drawingml/2006/main" rot="0">
            <a:off x="13928598" y="7225376"/>
            <a:ext cx="2256056" cy="2143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50" b="0">
                <a:solidFill>
                  <a:srgbClr val="00355F"/>
                </a:solidFill>
                <a:latin typeface="Arial Unicode MS"/>
                <a:ea typeface="Arial Unicode MS"/>
                <a:cs typeface="Arial Unicode MS"/>
              </a:defRPr>
            </a:defPPr>
          </a:lstStyle>
          <a:p xmlns:a="http://schemas.openxmlformats.org/drawingml/2006/main">
            <a:pPr algn="l">
              <a:lnSpc>
                <a:spcPct val="100000"/>
              </a:lnSpc>
              <a:buNone/>
              <a:defRPr sz="1350" b="0">
                <a:solidFill>
                  <a:srgbClr val="00355F"/>
                </a:solidFill>
                <a:latin typeface="Arial Unicode MS"/>
                <a:ea typeface="Arial Unicode MS"/>
                <a:cs typeface="Arial Unicode MS"/>
              </a:defRPr>
            </a:pPr>
            <a:r>
              <a:rPr sz="1350" b="0">
                <a:solidFill>
                  <a:srgbClr val="00355F"/>
                </a:solidFill>
                <a:latin typeface="Arial Unicode MS"/>
                <a:ea typeface="Arial Unicode MS"/>
                <a:cs typeface="Arial Unicode MS"/>
              </a:rPr>
              <a:t>JET, Changhong and others</a:t>
            </a:r>
          </a:p>
        </p:txBody>
      </p:sp>
      <p:sp>
        <p:nvSpPr>
          <p:cNvPr id="25" name="Figure 10 label 24 line 1">
            <a:extLst xmlns:a="http://schemas.openxmlformats.org/drawingml/2006/main">
              <a:ext uri="{FF2B5EF4-FFF2-40B4-BE49-F238E27FC236}">
                <a16:creationId xmlns:a16="http://schemas.microsoft.com/office/drawing/2014/main" id="{8C66F058-9E65-475A-825D-748661812152}"/>
              </a:ext>
            </a:extLst>
          </p:cNvPr>
          <p:cNvSpPr>
            <a:spLocks xmlns:a="http://schemas.openxmlformats.org/drawingml/2006/main" noGrp="1"/>
          </p:cNvSpPr>
          <p:nvPr/>
        </p:nvSpPr>
        <p:spPr>
          <a:xfrm xmlns:a="http://schemas.openxmlformats.org/drawingml/2006/main" rot="0">
            <a:off x="1326134" y="5682106"/>
            <a:ext cx="3356620" cy="2778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750" b="1">
                <a:solidFill>
                  <a:srgbClr val="00355F"/>
                </a:solidFill>
                <a:latin typeface="Arial Unicode MS"/>
                <a:ea typeface="Arial Unicode MS"/>
                <a:cs typeface="Arial Unicode MS"/>
              </a:defRPr>
            </a:defPPr>
          </a:lstStyle>
          <a:p xmlns:a="http://schemas.openxmlformats.org/drawingml/2006/main">
            <a:pPr algn="l">
              <a:lnSpc>
                <a:spcPct val="100000"/>
              </a:lnSpc>
              <a:buNone/>
              <a:defRPr sz="1750" b="1">
                <a:solidFill>
                  <a:srgbClr val="00355F"/>
                </a:solidFill>
                <a:latin typeface="Arial Unicode MS"/>
                <a:ea typeface="Arial Unicode MS"/>
                <a:cs typeface="Arial Unicode MS"/>
              </a:defRPr>
            </a:pPr>
            <a:r>
              <a:rPr sz="1750" b="1">
                <a:solidFill>
                  <a:srgbClr val="00355F"/>
                </a:solidFill>
                <a:latin typeface="Arial Unicode MS"/>
                <a:ea typeface="Arial Unicode MS"/>
                <a:cs typeface="Arial Unicode MS"/>
              </a:rPr>
              <a:t>Evidence is needed at each step</a:t>
            </a:r>
          </a:p>
        </p:txBody>
      </p:sp>
      <p:sp>
        <p:nvSpPr>
          <p:cNvPr id="26" name="Figure 10 label 25 line 1">
            <a:extLst xmlns:a="http://schemas.openxmlformats.org/drawingml/2006/main">
              <a:ext uri="{FF2B5EF4-FFF2-40B4-BE49-F238E27FC236}">
                <a16:creationId xmlns:a16="http://schemas.microsoft.com/office/drawing/2014/main" id="{54FB9793-8E6C-4EDE-A4C3-DC0F20109DFF}"/>
              </a:ext>
            </a:extLst>
          </p:cNvPr>
          <p:cNvSpPr>
            <a:spLocks xmlns:a="http://schemas.openxmlformats.org/drawingml/2006/main" noGrp="1"/>
          </p:cNvSpPr>
          <p:nvPr/>
        </p:nvSpPr>
        <p:spPr>
          <a:xfrm xmlns:a="http://schemas.openxmlformats.org/drawingml/2006/main" rot="0">
            <a:off x="1327404" y="6158944"/>
            <a:ext cx="6768257"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Customer budgets → orders / repeat purchases → net consumption → utilization</a:t>
            </a:r>
          </a:p>
        </p:txBody>
      </p:sp>
      <p:sp>
        <p:nvSpPr>
          <p:cNvPr id="27" name="Figure 10 label 26 line 1">
            <a:extLst xmlns:a="http://schemas.openxmlformats.org/drawingml/2006/main">
              <a:ext uri="{FF2B5EF4-FFF2-40B4-BE49-F238E27FC236}">
                <a16:creationId xmlns:a16="http://schemas.microsoft.com/office/drawing/2014/main" id="{88246688-8E9E-4B55-9B3D-452854310028}"/>
              </a:ext>
            </a:extLst>
          </p:cNvPr>
          <p:cNvSpPr>
            <a:spLocks xmlns:a="http://schemas.openxmlformats.org/drawingml/2006/main" noGrp="1"/>
          </p:cNvSpPr>
          <p:nvPr/>
        </p:nvSpPr>
        <p:spPr>
          <a:xfrm xmlns:a="http://schemas.openxmlformats.org/drawingml/2006/main" rot="0">
            <a:off x="1327404" y="6462437"/>
            <a:ext cx="6979444"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0">
                <a:solidFill>
                  <a:srgbClr val="00355F"/>
                </a:solidFill>
                <a:latin typeface="Arial Unicode MS"/>
                <a:ea typeface="Arial Unicode MS"/>
                <a:cs typeface="Arial Unicode MS"/>
              </a:defRPr>
            </a:defPPr>
          </a:lstStyle>
          <a:p xmlns:a="http://schemas.openxmlformats.org/drawingml/2006/main">
            <a:pPr algn="l">
              <a:lnSpc>
                <a:spcPct val="100000"/>
              </a:lnSpc>
              <a:buNone/>
              <a:defRPr sz="1500" b="0">
                <a:solidFill>
                  <a:srgbClr val="00355F"/>
                </a:solidFill>
                <a:latin typeface="Arial Unicode MS"/>
                <a:ea typeface="Arial Unicode MS"/>
                <a:cs typeface="Arial Unicode MS"/>
              </a:defRPr>
            </a:pPr>
            <a:r>
              <a:rPr sz="1500" b="0">
                <a:solidFill>
                  <a:srgbClr val="00355F"/>
                </a:solidFill>
                <a:latin typeface="Arial Unicode MS"/>
                <a:ea typeface="Arial Unicode MS"/>
                <a:cs typeface="Arial Unicode MS"/>
              </a:rPr>
              <a:t>→ company share → recurring profit / free cash flow → growth priced into the stock</a:t>
            </a:r>
          </a:p>
        </p:txBody>
      </p:sp>
      <p:sp>
        <p:nvSpPr>
          <p:cNvPr id="28" name="Figure 10 label 27 line 1">
            <a:extLst xmlns:a="http://schemas.openxmlformats.org/drawingml/2006/main">
              <a:ext uri="{FF2B5EF4-FFF2-40B4-BE49-F238E27FC236}">
                <a16:creationId xmlns:a16="http://schemas.microsoft.com/office/drawing/2014/main" id="{B7E3F456-DC25-4D17-AED8-6697354393B8}"/>
              </a:ext>
            </a:extLst>
          </p:cNvPr>
          <p:cNvSpPr>
            <a:spLocks xmlns:a="http://schemas.openxmlformats.org/drawingml/2006/main" noGrp="1"/>
          </p:cNvSpPr>
          <p:nvPr/>
        </p:nvSpPr>
        <p:spPr>
          <a:xfrm xmlns:a="http://schemas.openxmlformats.org/drawingml/2006/main" rot="0">
            <a:off x="4743896" y="8371852"/>
            <a:ext cx="8800207"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875" b="1">
                <a:solidFill>
                  <a:srgbClr val="00355F"/>
                </a:solidFill>
                <a:latin typeface="Arial Unicode MS"/>
                <a:ea typeface="Arial Unicode MS"/>
                <a:cs typeface="Arial Unicode MS"/>
              </a:defRPr>
            </a:defPPr>
          </a:lstStyle>
          <a:p xmlns:a="http://schemas.openxmlformats.org/drawingml/2006/main">
            <a:pPr algn="ctr">
              <a:lnSpc>
                <a:spcPct val="100000"/>
              </a:lnSpc>
              <a:buNone/>
              <a:defRPr sz="1875" b="1">
                <a:solidFill>
                  <a:srgbClr val="00355F"/>
                </a:solidFill>
                <a:latin typeface="Arial Unicode MS"/>
                <a:ea typeface="Arial Unicode MS"/>
                <a:cs typeface="Arial Unicode MS"/>
              </a:defRPr>
            </a:pPr>
            <a:r>
              <a:rPr sz="1875" b="1">
                <a:solidFill>
                  <a:srgbClr val="00355F"/>
                </a:solidFill>
                <a:latin typeface="Arial Unicode MS"/>
                <a:ea typeface="Arial Unicode MS"/>
                <a:cs typeface="Arial Unicode MS"/>
              </a:rPr>
              <a:t>Experimental relevance  ∩  Evidenced supply constraints  ∩  Global customer access</a:t>
            </a:r>
          </a:p>
        </p:txBody>
      </p:sp>
    </p:spTree>
    <p:extLst>
      <p:ext uri="{BB962C8B-B14F-4D97-AF65-F5344CB8AC3E}">
        <p14:creationId xmlns:p14="http://schemas.microsoft.com/office/powerpoint/2010/main" val="99426363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36" name="">
            <a:extLst xmlns:a="http://schemas.openxmlformats.org/drawingml/2006/main">
              <a:ext uri="{FF2B5EF4-FFF2-40B4-BE49-F238E27FC236}">
                <a16:creationId xmlns:a16="http://schemas.microsoft.com/office/drawing/2014/main" id="{1DD09C7E-0B56-44B1-9B03-4389F457AB0A}"/>
              </a:ext>
            </a:extLst>
          </p:cNvPr>
          <p:cNvPicPr>
            <a:picLocks xmlns:a="http://schemas.openxmlformats.org/drawingml/2006/main" noChangeAspect="1"/>
          </p:cNvPicPr>
          <p:nvPr/>
        </p:nvPicPr>
        <p:blipFill>
          <a:blip xmlns:r="http://schemas.openxmlformats.org/officeDocument/2006/relationships" xmlns:a="http://schemas.openxmlformats.org/drawingml/2006/main" r:embed="Rd0ace436dbf249d9"/>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Figure 11 label 1 line 1">
            <a:extLst xmlns:a="http://schemas.openxmlformats.org/drawingml/2006/main">
              <a:ext uri="{FF2B5EF4-FFF2-40B4-BE49-F238E27FC236}">
                <a16:creationId xmlns:a16="http://schemas.microsoft.com/office/drawing/2014/main" id="{D7994D45-4C40-4DA0-9191-9A91A31D95AD}"/>
              </a:ext>
            </a:extLst>
          </p:cNvPr>
          <p:cNvSpPr>
            <a:spLocks xmlns:a="http://schemas.openxmlformats.org/drawingml/2006/main" noGrp="1"/>
          </p:cNvSpPr>
          <p:nvPr/>
        </p:nvSpPr>
        <p:spPr>
          <a:xfrm xmlns:a="http://schemas.openxmlformats.org/drawingml/2006/main" rot="0">
            <a:off x="982599" y="311277"/>
            <a:ext cx="10901005" cy="5476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3450" b="1">
                <a:solidFill>
                  <a:srgbClr val="00355F"/>
                </a:solidFill>
                <a:latin typeface="Arial"/>
                <a:ea typeface="Arial"/>
                <a:cs typeface="Arial"/>
              </a:defRPr>
            </a:defPPr>
          </a:lstStyle>
          <a:p xmlns:a="http://schemas.openxmlformats.org/drawingml/2006/main">
            <a:pPr algn="l">
              <a:lnSpc>
                <a:spcPct val="100000"/>
              </a:lnSpc>
              <a:buNone/>
              <a:defRPr sz="3450" b="1">
                <a:solidFill>
                  <a:srgbClr val="00355F"/>
                </a:solidFill>
                <a:latin typeface="Arial"/>
                <a:ea typeface="Arial"/>
                <a:cs typeface="Arial"/>
              </a:defRPr>
            </a:pPr>
            <a:r>
              <a:rPr sz="3450" b="1">
                <a:solidFill>
                  <a:srgbClr val="00355F"/>
                </a:solidFill>
                <a:latin typeface="Arial"/>
                <a:ea typeface="Arial"/>
                <a:cs typeface="Arial"/>
              </a:rPr>
              <a:t>Design capacity expands. Validation must keep up.</a:t>
            </a:r>
          </a:p>
        </p:txBody>
      </p:sp>
      <p:sp>
        <p:nvSpPr>
          <p:cNvPr id="3" name="Figure 11 label 2 line 1">
            <a:extLst xmlns:a="http://schemas.openxmlformats.org/drawingml/2006/main">
              <a:ext uri="{FF2B5EF4-FFF2-40B4-BE49-F238E27FC236}">
                <a16:creationId xmlns:a16="http://schemas.microsoft.com/office/drawing/2014/main" id="{E6890D9F-6AA8-4637-AB2D-5252794B262A}"/>
              </a:ext>
            </a:extLst>
          </p:cNvPr>
          <p:cNvSpPr>
            <a:spLocks xmlns:a="http://schemas.openxmlformats.org/drawingml/2006/main" noGrp="1"/>
          </p:cNvSpPr>
          <p:nvPr/>
        </p:nvSpPr>
        <p:spPr>
          <a:xfrm xmlns:a="http://schemas.openxmlformats.org/drawingml/2006/main" rot="0">
            <a:off x="1000887" y="1050989"/>
            <a:ext cx="10699819" cy="2738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725" b="0">
                <a:solidFill>
                  <a:srgbClr val="00355F"/>
                </a:solidFill>
                <a:latin typeface="Arial"/>
                <a:ea typeface="Arial"/>
                <a:cs typeface="Arial"/>
              </a:defRPr>
            </a:defPPr>
          </a:lstStyle>
          <a:p xmlns:a="http://schemas.openxmlformats.org/drawingml/2006/main">
            <a:pPr algn="l">
              <a:lnSpc>
                <a:spcPct val="100000"/>
              </a:lnSpc>
              <a:buNone/>
              <a:defRPr sz="1725" b="0">
                <a:solidFill>
                  <a:srgbClr val="00355F"/>
                </a:solidFill>
                <a:latin typeface="Arial"/>
                <a:ea typeface="Arial"/>
                <a:cs typeface="Arial"/>
              </a:defRPr>
            </a:pPr>
            <a:r>
              <a:rPr sz="1725" b="0">
                <a:solidFill>
                  <a:srgbClr val="00355F"/>
                </a:solidFill>
                <a:latin typeface="Arial"/>
                <a:ea typeface="Arial"/>
                <a:cs typeface="Arial"/>
              </a:rPr>
              <a:t>Illustrative stage comparison, normalized per one clinical entrant. Supplied assumptions, not cohort statistics.</a:t>
            </a:r>
          </a:p>
        </p:txBody>
      </p:sp>
      <p:sp>
        <p:nvSpPr>
          <p:cNvPr id="4" name="Figure 11 label 3 line 1">
            <a:extLst xmlns:a="http://schemas.openxmlformats.org/drawingml/2006/main">
              <a:ext uri="{FF2B5EF4-FFF2-40B4-BE49-F238E27FC236}">
                <a16:creationId xmlns:a16="http://schemas.microsoft.com/office/drawing/2014/main" id="{FF50E00A-7A7F-4E97-A6E4-4A2BFD514361}"/>
              </a:ext>
            </a:extLst>
          </p:cNvPr>
          <p:cNvSpPr>
            <a:spLocks xmlns:a="http://schemas.openxmlformats.org/drawingml/2006/main" noGrp="1"/>
          </p:cNvSpPr>
          <p:nvPr/>
        </p:nvSpPr>
        <p:spPr>
          <a:xfrm xmlns:a="http://schemas.openxmlformats.org/drawingml/2006/main" rot="0">
            <a:off x="887730" y="2355533"/>
            <a:ext cx="766018"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1">
                <a:solidFill>
                  <a:srgbClr val="FFFFFF"/>
                </a:solidFill>
                <a:latin typeface="Arial"/>
                <a:ea typeface="Arial"/>
                <a:cs typeface="Arial"/>
              </a:defRPr>
            </a:defPPr>
          </a:lstStyle>
          <a:p xmlns:a="http://schemas.openxmlformats.org/drawingml/2006/main">
            <a:pPr algn="l">
              <a:lnSpc>
                <a:spcPct val="100000"/>
              </a:lnSpc>
              <a:buNone/>
              <a:defRPr sz="1500" b="1">
                <a:solidFill>
                  <a:srgbClr val="FFFFFF"/>
                </a:solidFill>
                <a:latin typeface="Arial"/>
                <a:ea typeface="Arial"/>
                <a:cs typeface="Arial"/>
              </a:defRPr>
            </a:pPr>
            <a:r>
              <a:rPr sz="1500" b="1">
                <a:solidFill>
                  <a:srgbClr val="FFFFFF"/>
                </a:solidFill>
                <a:latin typeface="Arial"/>
                <a:ea typeface="Arial"/>
                <a:cs typeface="Arial"/>
              </a:rPr>
              <a:t>STAGE</a:t>
            </a:r>
          </a:p>
        </p:txBody>
      </p:sp>
      <p:sp>
        <p:nvSpPr>
          <p:cNvPr id="5" name="Figure 11 label 4 line 1">
            <a:extLst xmlns:a="http://schemas.openxmlformats.org/drawingml/2006/main">
              <a:ext uri="{FF2B5EF4-FFF2-40B4-BE49-F238E27FC236}">
                <a16:creationId xmlns:a16="http://schemas.microsoft.com/office/drawing/2014/main" id="{F3C40F07-707A-4BE8-88EC-4B457FC86C96}"/>
              </a:ext>
            </a:extLst>
          </p:cNvPr>
          <p:cNvSpPr>
            <a:spLocks xmlns:a="http://schemas.openxmlformats.org/drawingml/2006/main" noGrp="1"/>
          </p:cNvSpPr>
          <p:nvPr/>
        </p:nvSpPr>
        <p:spPr>
          <a:xfrm xmlns:a="http://schemas.openxmlformats.org/drawingml/2006/main" rot="0">
            <a:off x="6111255" y="2355533"/>
            <a:ext cx="76959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1">
                <a:solidFill>
                  <a:srgbClr val="FFFFFF"/>
                </a:solidFill>
                <a:latin typeface="Arial"/>
                <a:ea typeface="Arial"/>
                <a:cs typeface="Arial"/>
              </a:defRPr>
            </a:defPPr>
          </a:lstStyle>
          <a:p xmlns:a="http://schemas.openxmlformats.org/drawingml/2006/main">
            <a:pPr algn="ctr">
              <a:lnSpc>
                <a:spcPct val="100000"/>
              </a:lnSpc>
              <a:buNone/>
              <a:defRPr sz="1500" b="1">
                <a:solidFill>
                  <a:srgbClr val="FFFFFF"/>
                </a:solidFill>
                <a:latin typeface="Arial"/>
                <a:ea typeface="Arial"/>
                <a:cs typeface="Arial"/>
              </a:defRPr>
            </a:pPr>
            <a:r>
              <a:rPr sz="1500" b="1">
                <a:solidFill>
                  <a:srgbClr val="FFFFFF"/>
                </a:solidFill>
                <a:latin typeface="Arial"/>
                <a:ea typeface="Arial"/>
                <a:cs typeface="Arial"/>
              </a:rPr>
              <a:t>PRE-AI</a:t>
            </a:r>
          </a:p>
        </p:txBody>
      </p:sp>
      <p:sp>
        <p:nvSpPr>
          <p:cNvPr id="6" name="Figure 11 label 5 line 1">
            <a:extLst xmlns:a="http://schemas.openxmlformats.org/drawingml/2006/main">
              <a:ext uri="{FF2B5EF4-FFF2-40B4-BE49-F238E27FC236}">
                <a16:creationId xmlns:a16="http://schemas.microsoft.com/office/drawing/2014/main" id="{7656C8BD-F15C-429A-83CD-D2CA51D611FB}"/>
              </a:ext>
            </a:extLst>
          </p:cNvPr>
          <p:cNvSpPr>
            <a:spLocks xmlns:a="http://schemas.openxmlformats.org/drawingml/2006/main" noGrp="1"/>
          </p:cNvSpPr>
          <p:nvPr/>
        </p:nvSpPr>
        <p:spPr>
          <a:xfrm xmlns:a="http://schemas.openxmlformats.org/drawingml/2006/main" rot="0">
            <a:off x="8230567" y="2355533"/>
            <a:ext cx="76959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500" b="1">
                <a:solidFill>
                  <a:srgbClr val="FFFFFF"/>
                </a:solidFill>
                <a:latin typeface="Arial"/>
                <a:ea typeface="Arial"/>
                <a:cs typeface="Arial"/>
              </a:defRPr>
            </a:defPPr>
          </a:lstStyle>
          <a:p xmlns:a="http://schemas.openxmlformats.org/drawingml/2006/main">
            <a:pPr algn="ctr">
              <a:lnSpc>
                <a:spcPct val="100000"/>
              </a:lnSpc>
              <a:buNone/>
              <a:defRPr sz="1500" b="1">
                <a:solidFill>
                  <a:srgbClr val="FFFFFF"/>
                </a:solidFill>
                <a:latin typeface="Arial"/>
                <a:ea typeface="Arial"/>
                <a:cs typeface="Arial"/>
              </a:defRPr>
            </a:pPr>
            <a:r>
              <a:rPr sz="1500" b="1">
                <a:solidFill>
                  <a:srgbClr val="FFFFFF"/>
                </a:solidFill>
                <a:latin typeface="Arial"/>
                <a:ea typeface="Arial"/>
                <a:cs typeface="Arial"/>
              </a:rPr>
              <a:t>AI ERA</a:t>
            </a:r>
          </a:p>
        </p:txBody>
      </p:sp>
      <p:sp>
        <p:nvSpPr>
          <p:cNvPr id="7" name="Figure 11 label 6 line 1">
            <a:extLst xmlns:a="http://schemas.openxmlformats.org/drawingml/2006/main">
              <a:ext uri="{FF2B5EF4-FFF2-40B4-BE49-F238E27FC236}">
                <a16:creationId xmlns:a16="http://schemas.microsoft.com/office/drawing/2014/main" id="{F45B1447-C6A6-47E4-A08A-68613373E3BE}"/>
              </a:ext>
            </a:extLst>
          </p:cNvPr>
          <p:cNvSpPr>
            <a:spLocks xmlns:a="http://schemas.openxmlformats.org/drawingml/2006/main" noGrp="1"/>
          </p:cNvSpPr>
          <p:nvPr/>
        </p:nvSpPr>
        <p:spPr>
          <a:xfrm xmlns:a="http://schemas.openxmlformats.org/drawingml/2006/main" rot="0">
            <a:off x="10031730" y="2355533"/>
            <a:ext cx="168652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1">
                <a:solidFill>
                  <a:srgbClr val="FFFFFF"/>
                </a:solidFill>
                <a:latin typeface="Arial"/>
                <a:ea typeface="Arial"/>
                <a:cs typeface="Arial"/>
              </a:defRPr>
            </a:defPPr>
          </a:lstStyle>
          <a:p xmlns:a="http://schemas.openxmlformats.org/drawingml/2006/main">
            <a:pPr algn="l">
              <a:lnSpc>
                <a:spcPct val="100000"/>
              </a:lnSpc>
              <a:buNone/>
              <a:defRPr sz="1500" b="1">
                <a:solidFill>
                  <a:srgbClr val="FFFFFF"/>
                </a:solidFill>
                <a:latin typeface="Arial"/>
                <a:ea typeface="Arial"/>
                <a:cs typeface="Arial"/>
              </a:defRPr>
            </a:pPr>
            <a:r>
              <a:rPr sz="1500" b="1">
                <a:solidFill>
                  <a:srgbClr val="FFFFFF"/>
                </a:solidFill>
                <a:latin typeface="Arial"/>
                <a:ea typeface="Arial"/>
                <a:cs typeface="Arial"/>
              </a:rPr>
              <a:t>WHAT CHANGES</a:t>
            </a:r>
          </a:p>
        </p:txBody>
      </p:sp>
      <p:sp>
        <p:nvSpPr>
          <p:cNvPr id="8" name="Figure 11 label 7 line 1">
            <a:extLst xmlns:a="http://schemas.openxmlformats.org/drawingml/2006/main">
              <a:ext uri="{FF2B5EF4-FFF2-40B4-BE49-F238E27FC236}">
                <a16:creationId xmlns:a16="http://schemas.microsoft.com/office/drawing/2014/main" id="{BA142C47-6420-4BDB-8AAB-2CF294566D2A}"/>
              </a:ext>
            </a:extLst>
          </p:cNvPr>
          <p:cNvSpPr>
            <a:spLocks xmlns:a="http://schemas.openxmlformats.org/drawingml/2006/main" noGrp="1"/>
          </p:cNvSpPr>
          <p:nvPr/>
        </p:nvSpPr>
        <p:spPr>
          <a:xfrm xmlns:a="http://schemas.openxmlformats.org/drawingml/2006/main" rot="0">
            <a:off x="885825" y="3050381"/>
            <a:ext cx="2259657"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75" b="0">
                <a:solidFill>
                  <a:srgbClr val="00355F"/>
                </a:solidFill>
                <a:latin typeface="Arial"/>
                <a:ea typeface="Arial"/>
                <a:cs typeface="Arial"/>
              </a:defRPr>
            </a:defPPr>
          </a:lstStyle>
          <a:p xmlns:a="http://schemas.openxmlformats.org/drawingml/2006/main">
            <a:pPr algn="l">
              <a:lnSpc>
                <a:spcPct val="100000"/>
              </a:lnSpc>
              <a:buNone/>
              <a:defRPr sz="1875" b="0">
                <a:solidFill>
                  <a:srgbClr val="00355F"/>
                </a:solidFill>
                <a:latin typeface="Arial"/>
                <a:ea typeface="Arial"/>
                <a:cs typeface="Arial"/>
              </a:defRPr>
            </a:pPr>
            <a:r>
              <a:rPr sz="1875" b="0">
                <a:solidFill>
                  <a:srgbClr val="00355F"/>
                </a:solidFill>
                <a:latin typeface="Arial"/>
                <a:ea typeface="Arial"/>
                <a:cs typeface="Arial"/>
              </a:rPr>
              <a:t>Molecules designed</a:t>
            </a:r>
          </a:p>
        </p:txBody>
      </p:sp>
      <p:sp>
        <p:nvSpPr>
          <p:cNvPr id="9" name="Figure 11 label 7 line 2">
            <a:extLst xmlns:a="http://schemas.openxmlformats.org/drawingml/2006/main">
              <a:ext uri="{FF2B5EF4-FFF2-40B4-BE49-F238E27FC236}">
                <a16:creationId xmlns:a16="http://schemas.microsoft.com/office/drawing/2014/main" id="{F08C61E8-7EF9-4471-96A5-BA7CE57450EA}"/>
              </a:ext>
            </a:extLst>
          </p:cNvPr>
          <p:cNvSpPr>
            <a:spLocks xmlns:a="http://schemas.openxmlformats.org/drawingml/2006/main" noGrp="1"/>
          </p:cNvSpPr>
          <p:nvPr/>
        </p:nvSpPr>
        <p:spPr>
          <a:xfrm xmlns:a="http://schemas.openxmlformats.org/drawingml/2006/main" rot="0">
            <a:off x="885825" y="3348038"/>
            <a:ext cx="2259657"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75" b="0">
                <a:solidFill>
                  <a:srgbClr val="00355F"/>
                </a:solidFill>
                <a:latin typeface="Arial"/>
                <a:ea typeface="Arial"/>
                <a:cs typeface="Arial"/>
              </a:defRPr>
            </a:defPPr>
          </a:lstStyle>
          <a:p xmlns:a="http://schemas.openxmlformats.org/drawingml/2006/main">
            <a:pPr algn="l">
              <a:lnSpc>
                <a:spcPct val="100000"/>
              </a:lnSpc>
              <a:buNone/>
              <a:defRPr sz="1875" b="0">
                <a:solidFill>
                  <a:srgbClr val="00355F"/>
                </a:solidFill>
                <a:latin typeface="Arial"/>
                <a:ea typeface="Arial"/>
                <a:cs typeface="Arial"/>
              </a:defRPr>
            </a:pPr>
            <a:r>
              <a:rPr sz="1875" b="0">
                <a:solidFill>
                  <a:srgbClr val="00355F"/>
                </a:solidFill>
                <a:latin typeface="Arial"/>
                <a:ea typeface="Arial"/>
                <a:cs typeface="Arial"/>
              </a:rPr>
              <a:t>(virtual)</a:t>
            </a:r>
          </a:p>
        </p:txBody>
      </p:sp>
      <p:sp>
        <p:nvSpPr>
          <p:cNvPr id="10" name="Figure 11 label 8 line 1">
            <a:extLst xmlns:a="http://schemas.openxmlformats.org/drawingml/2006/main">
              <a:ext uri="{FF2B5EF4-FFF2-40B4-BE49-F238E27FC236}">
                <a16:creationId xmlns:a16="http://schemas.microsoft.com/office/drawing/2014/main" id="{F026FCCE-330E-47CA-B222-E304DBC01664}"/>
              </a:ext>
            </a:extLst>
          </p:cNvPr>
          <p:cNvSpPr>
            <a:spLocks xmlns:a="http://schemas.openxmlformats.org/drawingml/2006/main" noGrp="1"/>
          </p:cNvSpPr>
          <p:nvPr/>
        </p:nvSpPr>
        <p:spPr>
          <a:xfrm xmlns:a="http://schemas.openxmlformats.org/drawingml/2006/main" rot="0">
            <a:off x="6087725" y="3140202"/>
            <a:ext cx="816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400" b="0">
                <a:solidFill>
                  <a:srgbClr val="00355F"/>
                </a:solidFill>
                <a:latin typeface="Arial"/>
                <a:ea typeface="Arial"/>
                <a:cs typeface="Arial"/>
              </a:defRPr>
            </a:defPPr>
          </a:lstStyle>
          <a:p xmlns:a="http://schemas.openxmlformats.org/drawingml/2006/main">
            <a:pPr algn="ctr">
              <a:lnSpc>
                <a:spcPct val="100000"/>
              </a:lnSpc>
              <a:buNone/>
              <a:defRPr sz="2400" b="0">
                <a:solidFill>
                  <a:srgbClr val="00355F"/>
                </a:solidFill>
                <a:latin typeface="Arial"/>
                <a:ea typeface="Arial"/>
                <a:cs typeface="Arial"/>
              </a:defRPr>
            </a:pPr>
            <a:r>
              <a:rPr sz="2400" b="0">
                <a:solidFill>
                  <a:srgbClr val="00355F"/>
                </a:solidFill>
                <a:latin typeface="Arial"/>
                <a:ea typeface="Arial"/>
                <a:cs typeface="Arial"/>
              </a:rPr>
              <a:t>~10³</a:t>
            </a:r>
          </a:p>
        </p:txBody>
      </p:sp>
      <p:sp>
        <p:nvSpPr>
          <p:cNvPr id="11" name="Figure 11 label 9 line 1">
            <a:extLst xmlns:a="http://schemas.openxmlformats.org/drawingml/2006/main">
              <a:ext uri="{FF2B5EF4-FFF2-40B4-BE49-F238E27FC236}">
                <a16:creationId xmlns:a16="http://schemas.microsoft.com/office/drawing/2014/main" id="{A5AA1F2F-6337-4D4B-AF81-FAE25587FB03}"/>
              </a:ext>
            </a:extLst>
          </p:cNvPr>
          <p:cNvSpPr>
            <a:spLocks xmlns:a="http://schemas.openxmlformats.org/drawingml/2006/main" noGrp="1"/>
          </p:cNvSpPr>
          <p:nvPr/>
        </p:nvSpPr>
        <p:spPr>
          <a:xfrm xmlns:a="http://schemas.openxmlformats.org/drawingml/2006/main" rot="0">
            <a:off x="8007831" y="3140202"/>
            <a:ext cx="1215063"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400" b="0">
                <a:solidFill>
                  <a:srgbClr val="00355F"/>
                </a:solidFill>
                <a:latin typeface="Arial"/>
                <a:ea typeface="Arial"/>
                <a:cs typeface="Arial"/>
              </a:defRPr>
            </a:defPPr>
          </a:lstStyle>
          <a:p xmlns:a="http://schemas.openxmlformats.org/drawingml/2006/main">
            <a:pPr algn="ctr">
              <a:lnSpc>
                <a:spcPct val="100000"/>
              </a:lnSpc>
              <a:buNone/>
              <a:defRPr sz="2400" b="0">
                <a:solidFill>
                  <a:srgbClr val="00355F"/>
                </a:solidFill>
                <a:latin typeface="Arial"/>
                <a:ea typeface="Arial"/>
                <a:cs typeface="Arial"/>
              </a:defRPr>
            </a:pPr>
            <a:r>
              <a:rPr sz="2400" b="0">
                <a:solidFill>
                  <a:srgbClr val="00355F"/>
                </a:solidFill>
                <a:latin typeface="Arial"/>
                <a:ea typeface="Arial"/>
                <a:cs typeface="Arial"/>
              </a:rPr>
              <a:t>10⁵–10⁹</a:t>
            </a:r>
          </a:p>
        </p:txBody>
      </p:sp>
      <p:sp>
        <p:nvSpPr>
          <p:cNvPr id="12" name="Figure 11 label 10 line 1">
            <a:extLst xmlns:a="http://schemas.openxmlformats.org/drawingml/2006/main">
              <a:ext uri="{FF2B5EF4-FFF2-40B4-BE49-F238E27FC236}">
                <a16:creationId xmlns:a16="http://schemas.microsoft.com/office/drawing/2014/main" id="{3A864074-9636-4DBB-9447-17413375F024}"/>
              </a:ext>
            </a:extLst>
          </p:cNvPr>
          <p:cNvSpPr>
            <a:spLocks xmlns:a="http://schemas.openxmlformats.org/drawingml/2006/main" noGrp="1"/>
          </p:cNvSpPr>
          <p:nvPr/>
        </p:nvSpPr>
        <p:spPr>
          <a:xfrm xmlns:a="http://schemas.openxmlformats.org/drawingml/2006/main" rot="0">
            <a:off x="10029825" y="3050381"/>
            <a:ext cx="4814143"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75" b="0">
                <a:solidFill>
                  <a:srgbClr val="00355F"/>
                </a:solidFill>
                <a:latin typeface="Arial"/>
                <a:ea typeface="Arial"/>
                <a:cs typeface="Arial"/>
              </a:defRPr>
            </a:defPPr>
          </a:lstStyle>
          <a:p xmlns:a="http://schemas.openxmlformats.org/drawingml/2006/main">
            <a:pPr algn="l">
              <a:lnSpc>
                <a:spcPct val="100000"/>
              </a:lnSpc>
              <a:buNone/>
              <a:defRPr sz="1875" b="0">
                <a:solidFill>
                  <a:srgbClr val="00355F"/>
                </a:solidFill>
                <a:latin typeface="Arial"/>
                <a:ea typeface="Arial"/>
                <a:cs typeface="Arial"/>
              </a:defRPr>
            </a:pPr>
            <a:r>
              <a:rPr sz="1875" b="0">
                <a:solidFill>
                  <a:srgbClr val="00355F"/>
                </a:solidFill>
                <a:latin typeface="Arial"/>
                <a:ea typeface="Arial"/>
                <a:cs typeface="Arial"/>
              </a:rPr>
              <a:t>Generative models can expand</a:t>
            </a:r>
          </a:p>
        </p:txBody>
      </p:sp>
      <p:sp>
        <p:nvSpPr>
          <p:cNvPr id="13" name="Figure 11 label 10 line 2">
            <a:extLst xmlns:a="http://schemas.openxmlformats.org/drawingml/2006/main">
              <a:ext uri="{FF2B5EF4-FFF2-40B4-BE49-F238E27FC236}">
                <a16:creationId xmlns:a16="http://schemas.microsoft.com/office/drawing/2014/main" id="{9CA9C889-65E3-4CF6-A952-9983DF342B6F}"/>
              </a:ext>
            </a:extLst>
          </p:cNvPr>
          <p:cNvSpPr>
            <a:spLocks xmlns:a="http://schemas.openxmlformats.org/drawingml/2006/main" noGrp="1"/>
          </p:cNvSpPr>
          <p:nvPr/>
        </p:nvSpPr>
        <p:spPr>
          <a:xfrm xmlns:a="http://schemas.openxmlformats.org/drawingml/2006/main" rot="0">
            <a:off x="10029825" y="3348038"/>
            <a:ext cx="4814143"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75" b="0">
                <a:solidFill>
                  <a:srgbClr val="00355F"/>
                </a:solidFill>
                <a:latin typeface="Arial"/>
                <a:ea typeface="Arial"/>
                <a:cs typeface="Arial"/>
              </a:defRPr>
            </a:defPPr>
          </a:lstStyle>
          <a:p xmlns:a="http://schemas.openxmlformats.org/drawingml/2006/main">
            <a:pPr algn="l">
              <a:lnSpc>
                <a:spcPct val="100000"/>
              </a:lnSpc>
              <a:buNone/>
              <a:defRPr sz="1875" b="0">
                <a:solidFill>
                  <a:srgbClr val="00355F"/>
                </a:solidFill>
                <a:latin typeface="Arial"/>
                <a:ea typeface="Arial"/>
                <a:cs typeface="Arial"/>
              </a:defRPr>
            </a:pPr>
            <a:r>
              <a:rPr sz="1875" b="0">
                <a:solidFill>
                  <a:srgbClr val="00355F"/>
                </a:solidFill>
                <a:latin typeface="Arial"/>
                <a:ea typeface="Arial"/>
                <a:cs typeface="Arial"/>
              </a:rPr>
              <a:t>candidate enumeration at low marginal cost.</a:t>
            </a:r>
          </a:p>
        </p:txBody>
      </p:sp>
      <p:sp>
        <p:nvSpPr>
          <p:cNvPr id="14" name="Figure 11 label 11 line 1">
            <a:extLst xmlns:a="http://schemas.openxmlformats.org/drawingml/2006/main">
              <a:ext uri="{FF2B5EF4-FFF2-40B4-BE49-F238E27FC236}">
                <a16:creationId xmlns:a16="http://schemas.microsoft.com/office/drawing/2014/main" id="{F50BDDED-210A-4484-A1A1-5956ADECD3C5}"/>
              </a:ext>
            </a:extLst>
          </p:cNvPr>
          <p:cNvSpPr>
            <a:spLocks xmlns:a="http://schemas.openxmlformats.org/drawingml/2006/main" noGrp="1"/>
          </p:cNvSpPr>
          <p:nvPr/>
        </p:nvSpPr>
        <p:spPr>
          <a:xfrm xmlns:a="http://schemas.openxmlformats.org/drawingml/2006/main" rot="0">
            <a:off x="885825" y="4251722"/>
            <a:ext cx="2987129"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75" b="0">
                <a:solidFill>
                  <a:srgbClr val="00355F"/>
                </a:solidFill>
                <a:latin typeface="Arial"/>
                <a:ea typeface="Arial"/>
                <a:cs typeface="Arial"/>
              </a:defRPr>
            </a:defPPr>
          </a:lstStyle>
          <a:p xmlns:a="http://schemas.openxmlformats.org/drawingml/2006/main">
            <a:pPr algn="l">
              <a:lnSpc>
                <a:spcPct val="100000"/>
              </a:lnSpc>
              <a:buNone/>
              <a:defRPr sz="1875" b="0">
                <a:solidFill>
                  <a:srgbClr val="00355F"/>
                </a:solidFill>
                <a:latin typeface="Arial"/>
                <a:ea typeface="Arial"/>
                <a:cs typeface="Arial"/>
              </a:defRPr>
            </a:pPr>
            <a:r>
              <a:rPr sz="1875" b="0">
                <a:solidFill>
                  <a:srgbClr val="00355F"/>
                </a:solidFill>
                <a:latin typeface="Arial"/>
                <a:ea typeface="Arial"/>
                <a:cs typeface="Arial"/>
              </a:rPr>
              <a:t>Molecules physically made</a:t>
            </a:r>
          </a:p>
        </p:txBody>
      </p:sp>
      <p:sp>
        <p:nvSpPr>
          <p:cNvPr id="15" name="Figure 11 label 12 line 1">
            <a:extLst xmlns:a="http://schemas.openxmlformats.org/drawingml/2006/main">
              <a:ext uri="{FF2B5EF4-FFF2-40B4-BE49-F238E27FC236}">
                <a16:creationId xmlns:a16="http://schemas.microsoft.com/office/drawing/2014/main" id="{2FE0BA8A-60D0-4290-8E15-CC8E47E3B541}"/>
              </a:ext>
            </a:extLst>
          </p:cNvPr>
          <p:cNvSpPr>
            <a:spLocks xmlns:a="http://schemas.openxmlformats.org/drawingml/2006/main" noGrp="1"/>
          </p:cNvSpPr>
          <p:nvPr/>
        </p:nvSpPr>
        <p:spPr>
          <a:xfrm xmlns:a="http://schemas.openxmlformats.org/drawingml/2006/main" rot="0">
            <a:off x="6087725" y="4192715"/>
            <a:ext cx="8166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400" b="0">
                <a:solidFill>
                  <a:srgbClr val="00355F"/>
                </a:solidFill>
                <a:latin typeface="Arial"/>
                <a:ea typeface="Arial"/>
                <a:cs typeface="Arial"/>
              </a:defRPr>
            </a:defPPr>
          </a:lstStyle>
          <a:p xmlns:a="http://schemas.openxmlformats.org/drawingml/2006/main">
            <a:pPr algn="ctr">
              <a:lnSpc>
                <a:spcPct val="100000"/>
              </a:lnSpc>
              <a:buNone/>
              <a:defRPr sz="2400" b="0">
                <a:solidFill>
                  <a:srgbClr val="00355F"/>
                </a:solidFill>
                <a:latin typeface="Arial"/>
                <a:ea typeface="Arial"/>
                <a:cs typeface="Arial"/>
              </a:defRPr>
            </a:pPr>
            <a:r>
              <a:rPr sz="2400" b="0">
                <a:solidFill>
                  <a:srgbClr val="00355F"/>
                </a:solidFill>
                <a:latin typeface="Arial"/>
                <a:ea typeface="Arial"/>
                <a:cs typeface="Arial"/>
              </a:rPr>
              <a:t>~10³</a:t>
            </a:r>
          </a:p>
        </p:txBody>
      </p:sp>
      <p:sp>
        <p:nvSpPr>
          <p:cNvPr id="16" name="Figure 11 label 13 line 1">
            <a:extLst xmlns:a="http://schemas.openxmlformats.org/drawingml/2006/main">
              <a:ext uri="{FF2B5EF4-FFF2-40B4-BE49-F238E27FC236}">
                <a16:creationId xmlns:a16="http://schemas.microsoft.com/office/drawing/2014/main" id="{455ED29C-183C-4D6B-9B48-3D111BD22C8C}"/>
              </a:ext>
            </a:extLst>
          </p:cNvPr>
          <p:cNvSpPr>
            <a:spLocks xmlns:a="http://schemas.openxmlformats.org/drawingml/2006/main" noGrp="1"/>
          </p:cNvSpPr>
          <p:nvPr/>
        </p:nvSpPr>
        <p:spPr>
          <a:xfrm xmlns:a="http://schemas.openxmlformats.org/drawingml/2006/main" rot="0">
            <a:off x="7999422" y="4192715"/>
            <a:ext cx="123188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400" b="0">
                <a:solidFill>
                  <a:srgbClr val="00355F"/>
                </a:solidFill>
                <a:latin typeface="Arial"/>
                <a:ea typeface="Arial"/>
                <a:cs typeface="Arial"/>
              </a:defRPr>
            </a:defPPr>
          </a:lstStyle>
          <a:p xmlns:a="http://schemas.openxmlformats.org/drawingml/2006/main">
            <a:pPr algn="ctr">
              <a:lnSpc>
                <a:spcPct val="100000"/>
              </a:lnSpc>
              <a:buNone/>
              <a:defRPr sz="2400" b="0">
                <a:solidFill>
                  <a:srgbClr val="00355F"/>
                </a:solidFill>
                <a:latin typeface="Arial"/>
                <a:ea typeface="Arial"/>
                <a:cs typeface="Arial"/>
              </a:defRPr>
            </a:pPr>
            <a:r>
              <a:rPr sz="2400" b="0">
                <a:solidFill>
                  <a:srgbClr val="00355F"/>
                </a:solidFill>
                <a:latin typeface="Arial"/>
                <a:ea typeface="Arial"/>
                <a:cs typeface="Arial"/>
              </a:rPr>
              <a:t>10³–10⁴</a:t>
            </a:r>
          </a:p>
        </p:txBody>
      </p:sp>
      <p:sp>
        <p:nvSpPr>
          <p:cNvPr id="17" name="Figure 11 label 14 line 1">
            <a:extLst xmlns:a="http://schemas.openxmlformats.org/drawingml/2006/main">
              <a:ext uri="{FF2B5EF4-FFF2-40B4-BE49-F238E27FC236}">
                <a16:creationId xmlns:a16="http://schemas.microsoft.com/office/drawing/2014/main" id="{6A34EB5E-8F06-4678-A1FE-9E36C7738C20}"/>
              </a:ext>
            </a:extLst>
          </p:cNvPr>
          <p:cNvSpPr>
            <a:spLocks xmlns:a="http://schemas.openxmlformats.org/drawingml/2006/main" noGrp="1"/>
          </p:cNvSpPr>
          <p:nvPr/>
        </p:nvSpPr>
        <p:spPr>
          <a:xfrm xmlns:a="http://schemas.openxmlformats.org/drawingml/2006/main" rot="0">
            <a:off x="10029825" y="4102894"/>
            <a:ext cx="4284315"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75" b="0">
                <a:solidFill>
                  <a:srgbClr val="00355F"/>
                </a:solidFill>
                <a:latin typeface="Arial"/>
                <a:ea typeface="Arial"/>
                <a:cs typeface="Arial"/>
              </a:defRPr>
            </a:defPPr>
          </a:lstStyle>
          <a:p xmlns:a="http://schemas.openxmlformats.org/drawingml/2006/main">
            <a:pPr algn="l">
              <a:lnSpc>
                <a:spcPct val="100000"/>
              </a:lnSpc>
              <a:buNone/>
              <a:defRPr sz="1875" b="0">
                <a:solidFill>
                  <a:srgbClr val="00355F"/>
                </a:solidFill>
                <a:latin typeface="Arial"/>
                <a:ea typeface="Arial"/>
                <a:cs typeface="Arial"/>
              </a:defRPr>
            </a:pPr>
            <a:r>
              <a:rPr sz="1875" b="0">
                <a:solidFill>
                  <a:srgbClr val="00355F"/>
                </a:solidFill>
                <a:latin typeface="Arial"/>
                <a:ea typeface="Arial"/>
                <a:cs typeface="Arial"/>
              </a:rPr>
              <a:t>Automated synthesis and DNA libraries</a:t>
            </a:r>
          </a:p>
        </p:txBody>
      </p:sp>
      <p:sp>
        <p:nvSpPr>
          <p:cNvPr id="18" name="Figure 11 label 14 line 2">
            <a:extLst xmlns:a="http://schemas.openxmlformats.org/drawingml/2006/main">
              <a:ext uri="{FF2B5EF4-FFF2-40B4-BE49-F238E27FC236}">
                <a16:creationId xmlns:a16="http://schemas.microsoft.com/office/drawing/2014/main" id="{63D0D2DD-B587-4DF1-A772-122DC97CEF5D}"/>
              </a:ext>
            </a:extLst>
          </p:cNvPr>
          <p:cNvSpPr>
            <a:spLocks xmlns:a="http://schemas.openxmlformats.org/drawingml/2006/main" noGrp="1"/>
          </p:cNvSpPr>
          <p:nvPr/>
        </p:nvSpPr>
        <p:spPr>
          <a:xfrm xmlns:a="http://schemas.openxmlformats.org/drawingml/2006/main" rot="0">
            <a:off x="10029825" y="4400550"/>
            <a:ext cx="4284315"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75" b="0">
                <a:solidFill>
                  <a:srgbClr val="00355F"/>
                </a:solidFill>
                <a:latin typeface="Arial"/>
                <a:ea typeface="Arial"/>
                <a:cs typeface="Arial"/>
              </a:defRPr>
            </a:defPPr>
          </a:lstStyle>
          <a:p xmlns:a="http://schemas.openxmlformats.org/drawingml/2006/main">
            <a:pPr algn="l">
              <a:lnSpc>
                <a:spcPct val="100000"/>
              </a:lnSpc>
              <a:buNone/>
              <a:defRPr sz="1875" b="0">
                <a:solidFill>
                  <a:srgbClr val="00355F"/>
                </a:solidFill>
                <a:latin typeface="Arial"/>
                <a:ea typeface="Arial"/>
                <a:cs typeface="Arial"/>
              </a:defRPr>
            </a:pPr>
            <a:r>
              <a:rPr sz="1875" b="0">
                <a:solidFill>
                  <a:srgbClr val="00355F"/>
                </a:solidFill>
                <a:latin typeface="Arial"/>
                <a:ea typeface="Arial"/>
                <a:cs typeface="Arial"/>
              </a:rPr>
              <a:t>can expand construction capacity.</a:t>
            </a:r>
          </a:p>
        </p:txBody>
      </p:sp>
      <p:sp>
        <p:nvSpPr>
          <p:cNvPr id="19" name="Figure 11 label 15 line 1">
            <a:extLst xmlns:a="http://schemas.openxmlformats.org/drawingml/2006/main">
              <a:ext uri="{FF2B5EF4-FFF2-40B4-BE49-F238E27FC236}">
                <a16:creationId xmlns:a16="http://schemas.microsoft.com/office/drawing/2014/main" id="{9BF308DD-BD01-44AB-AA87-7F58FC54CEDF}"/>
              </a:ext>
            </a:extLst>
          </p:cNvPr>
          <p:cNvSpPr>
            <a:spLocks xmlns:a="http://schemas.openxmlformats.org/drawingml/2006/main" noGrp="1"/>
          </p:cNvSpPr>
          <p:nvPr/>
        </p:nvSpPr>
        <p:spPr>
          <a:xfrm xmlns:a="http://schemas.openxmlformats.org/drawingml/2006/main" rot="0">
            <a:off x="885825" y="5251847"/>
            <a:ext cx="2800796"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75" b="1">
                <a:solidFill>
                  <a:srgbClr val="00355F"/>
                </a:solidFill>
                <a:latin typeface="Arial"/>
                <a:ea typeface="Arial"/>
                <a:cs typeface="Arial"/>
              </a:defRPr>
            </a:defPPr>
          </a:lstStyle>
          <a:p xmlns:a="http://schemas.openxmlformats.org/drawingml/2006/main">
            <a:pPr algn="l">
              <a:lnSpc>
                <a:spcPct val="100000"/>
              </a:lnSpc>
              <a:buNone/>
              <a:defRPr sz="1875" b="1">
                <a:solidFill>
                  <a:srgbClr val="00355F"/>
                </a:solidFill>
                <a:latin typeface="Arial"/>
                <a:ea typeface="Arial"/>
                <a:cs typeface="Arial"/>
              </a:defRPr>
            </a:pPr>
            <a:r>
              <a:rPr sz="1875" b="1">
                <a:solidFill>
                  <a:srgbClr val="00355F"/>
                </a:solidFill>
                <a:latin typeface="Arial"/>
                <a:ea typeface="Arial"/>
                <a:cs typeface="Arial"/>
              </a:rPr>
              <a:t>Fully profiled in wet lab</a:t>
            </a:r>
          </a:p>
        </p:txBody>
      </p:sp>
      <p:sp>
        <p:nvSpPr>
          <p:cNvPr id="20" name="Figure 11 label 16 line 1">
            <a:extLst xmlns:a="http://schemas.openxmlformats.org/drawingml/2006/main">
              <a:ext uri="{FF2B5EF4-FFF2-40B4-BE49-F238E27FC236}">
                <a16:creationId xmlns:a16="http://schemas.microsoft.com/office/drawing/2014/main" id="{0B4D8E99-A543-4B07-8C7F-895E32D94D0A}"/>
              </a:ext>
            </a:extLst>
          </p:cNvPr>
          <p:cNvSpPr>
            <a:spLocks xmlns:a="http://schemas.openxmlformats.org/drawingml/2006/main" noGrp="1"/>
          </p:cNvSpPr>
          <p:nvPr/>
        </p:nvSpPr>
        <p:spPr>
          <a:xfrm xmlns:a="http://schemas.openxmlformats.org/drawingml/2006/main" rot="0">
            <a:off x="6138476" y="5192839"/>
            <a:ext cx="71514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400" b="1">
                <a:solidFill>
                  <a:srgbClr val="00355F"/>
                </a:solidFill>
                <a:latin typeface="Arial"/>
                <a:ea typeface="Arial"/>
                <a:cs typeface="Arial"/>
              </a:defRPr>
            </a:defPPr>
          </a:lstStyle>
          <a:p xmlns:a="http://schemas.openxmlformats.org/drawingml/2006/main">
            <a:pPr algn="ctr">
              <a:lnSpc>
                <a:spcPct val="100000"/>
              </a:lnSpc>
              <a:buNone/>
              <a:defRPr sz="2400" b="1">
                <a:solidFill>
                  <a:srgbClr val="00355F"/>
                </a:solidFill>
                <a:latin typeface="Arial"/>
                <a:ea typeface="Arial"/>
                <a:cs typeface="Arial"/>
              </a:defRPr>
            </a:pPr>
            <a:r>
              <a:rPr sz="2400" b="1">
                <a:solidFill>
                  <a:srgbClr val="00355F"/>
                </a:solidFill>
                <a:latin typeface="Arial"/>
                <a:ea typeface="Arial"/>
                <a:cs typeface="Arial"/>
              </a:rPr>
              <a:t>~50</a:t>
            </a:r>
          </a:p>
        </p:txBody>
      </p:sp>
      <p:sp>
        <p:nvSpPr>
          <p:cNvPr id="21" name="Figure 11 label 17 line 1">
            <a:extLst xmlns:a="http://schemas.openxmlformats.org/drawingml/2006/main">
              <a:ext uri="{FF2B5EF4-FFF2-40B4-BE49-F238E27FC236}">
                <a16:creationId xmlns:a16="http://schemas.microsoft.com/office/drawing/2014/main" id="{C9B28D56-3D62-42E0-AF86-7B04648E027A}"/>
              </a:ext>
            </a:extLst>
          </p:cNvPr>
          <p:cNvSpPr>
            <a:spLocks xmlns:a="http://schemas.openxmlformats.org/drawingml/2006/main" noGrp="1"/>
          </p:cNvSpPr>
          <p:nvPr/>
        </p:nvSpPr>
        <p:spPr>
          <a:xfrm xmlns:a="http://schemas.openxmlformats.org/drawingml/2006/main" rot="0">
            <a:off x="7855431" y="5192839"/>
            <a:ext cx="1519863"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400" b="1">
                <a:solidFill>
                  <a:srgbClr val="00355F"/>
                </a:solidFill>
                <a:latin typeface="Arial"/>
                <a:ea typeface="Arial"/>
                <a:cs typeface="Arial"/>
              </a:defRPr>
            </a:defPPr>
          </a:lstStyle>
          <a:p xmlns:a="http://schemas.openxmlformats.org/drawingml/2006/main">
            <a:pPr algn="ctr">
              <a:lnSpc>
                <a:spcPct val="100000"/>
              </a:lnSpc>
              <a:buNone/>
              <a:defRPr sz="2400" b="1">
                <a:solidFill>
                  <a:srgbClr val="00355F"/>
                </a:solidFill>
                <a:latin typeface="Arial"/>
                <a:ea typeface="Arial"/>
                <a:cs typeface="Arial"/>
              </a:defRPr>
            </a:pPr>
            <a:r>
              <a:rPr sz="2400" b="1">
                <a:solidFill>
                  <a:srgbClr val="00355F"/>
                </a:solidFill>
                <a:latin typeface="Arial"/>
                <a:ea typeface="Arial"/>
                <a:cs typeface="Arial"/>
              </a:rPr>
              <a:t>50 → 500</a:t>
            </a:r>
          </a:p>
        </p:txBody>
      </p:sp>
      <p:sp>
        <p:nvSpPr>
          <p:cNvPr id="22" name="Figure 11 label 18 line 1">
            <a:extLst xmlns:a="http://schemas.openxmlformats.org/drawingml/2006/main">
              <a:ext uri="{FF2B5EF4-FFF2-40B4-BE49-F238E27FC236}">
                <a16:creationId xmlns:a16="http://schemas.microsoft.com/office/drawing/2014/main" id="{459D1D54-E491-47F3-A0FA-76CBDABABD98}"/>
              </a:ext>
            </a:extLst>
          </p:cNvPr>
          <p:cNvSpPr>
            <a:spLocks xmlns:a="http://schemas.openxmlformats.org/drawingml/2006/main" noGrp="1"/>
          </p:cNvSpPr>
          <p:nvPr/>
        </p:nvSpPr>
        <p:spPr>
          <a:xfrm xmlns:a="http://schemas.openxmlformats.org/drawingml/2006/main" rot="0">
            <a:off x="10029825" y="5103019"/>
            <a:ext cx="4031010"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75" b="1">
                <a:solidFill>
                  <a:srgbClr val="00355F"/>
                </a:solidFill>
                <a:latin typeface="Arial"/>
                <a:ea typeface="Arial"/>
                <a:cs typeface="Arial"/>
              </a:defRPr>
            </a:defPPr>
          </a:lstStyle>
          <a:p xmlns:a="http://schemas.openxmlformats.org/drawingml/2006/main">
            <a:pPr algn="l">
              <a:lnSpc>
                <a:spcPct val="100000"/>
              </a:lnSpc>
              <a:buNone/>
              <a:defRPr sz="1875" b="1">
                <a:solidFill>
                  <a:srgbClr val="00355F"/>
                </a:solidFill>
                <a:latin typeface="Arial"/>
                <a:ea typeface="Arial"/>
                <a:cs typeface="Arial"/>
              </a:defRPr>
            </a:pPr>
            <a:r>
              <a:rPr sz="1875" b="1">
                <a:solidFill>
                  <a:srgbClr val="00355F"/>
                </a:solidFill>
                <a:latin typeface="Arial"/>
                <a:ea typeface="Arial"/>
                <a:cs typeface="Arial"/>
              </a:rPr>
              <a:t>Illustrative capacity expansion</a:t>
            </a:r>
          </a:p>
        </p:txBody>
      </p:sp>
      <p:sp>
        <p:nvSpPr>
          <p:cNvPr id="23" name="Figure 11 label 18 line 2">
            <a:extLst xmlns:a="http://schemas.openxmlformats.org/drawingml/2006/main">
              <a:ext uri="{FF2B5EF4-FFF2-40B4-BE49-F238E27FC236}">
                <a16:creationId xmlns:a16="http://schemas.microsoft.com/office/drawing/2014/main" id="{896D6974-77E4-4B5C-A30D-3EC1C4112C5D}"/>
              </a:ext>
            </a:extLst>
          </p:cNvPr>
          <p:cNvSpPr>
            <a:spLocks xmlns:a="http://schemas.openxmlformats.org/drawingml/2006/main" noGrp="1"/>
          </p:cNvSpPr>
          <p:nvPr/>
        </p:nvSpPr>
        <p:spPr>
          <a:xfrm xmlns:a="http://schemas.openxmlformats.org/drawingml/2006/main" rot="0">
            <a:off x="10029825" y="5400675"/>
            <a:ext cx="4031010"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75" b="1">
                <a:solidFill>
                  <a:srgbClr val="00355F"/>
                </a:solidFill>
                <a:latin typeface="Arial"/>
                <a:ea typeface="Arial"/>
                <a:cs typeface="Arial"/>
              </a:defRPr>
            </a:defPPr>
          </a:lstStyle>
          <a:p xmlns:a="http://schemas.openxmlformats.org/drawingml/2006/main">
            <a:pPr algn="l">
              <a:lnSpc>
                <a:spcPct val="100000"/>
              </a:lnSpc>
              <a:buNone/>
              <a:defRPr sz="1875" b="1">
                <a:solidFill>
                  <a:srgbClr val="00355F"/>
                </a:solidFill>
                <a:latin typeface="Arial"/>
                <a:ea typeface="Arial"/>
                <a:cs typeface="Arial"/>
              </a:defRPr>
            </a:pPr>
            <a:r>
              <a:rPr sz="1875" b="1">
                <a:solidFill>
                  <a:srgbClr val="00355F"/>
                </a:solidFill>
                <a:latin typeface="Arial"/>
                <a:ea typeface="Arial"/>
                <a:cs typeface="Arial"/>
              </a:rPr>
              <a:t>that investors would need to fund.</a:t>
            </a:r>
          </a:p>
        </p:txBody>
      </p:sp>
      <p:sp>
        <p:nvSpPr>
          <p:cNvPr id="24" name="Figure 11 label 19 line 1">
            <a:extLst xmlns:a="http://schemas.openxmlformats.org/drawingml/2006/main">
              <a:ext uri="{FF2B5EF4-FFF2-40B4-BE49-F238E27FC236}">
                <a16:creationId xmlns:a16="http://schemas.microsoft.com/office/drawing/2014/main" id="{46D6616B-1D64-41A5-AA3A-9B7C80407033}"/>
              </a:ext>
            </a:extLst>
          </p:cNvPr>
          <p:cNvSpPr>
            <a:spLocks xmlns:a="http://schemas.openxmlformats.org/drawingml/2006/main" noGrp="1"/>
          </p:cNvSpPr>
          <p:nvPr/>
        </p:nvSpPr>
        <p:spPr>
          <a:xfrm xmlns:a="http://schemas.openxmlformats.org/drawingml/2006/main" rot="0">
            <a:off x="885825" y="6251972"/>
            <a:ext cx="1517898"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75" b="0">
                <a:solidFill>
                  <a:srgbClr val="00355F"/>
                </a:solidFill>
                <a:latin typeface="Arial"/>
                <a:ea typeface="Arial"/>
                <a:cs typeface="Arial"/>
              </a:defRPr>
            </a:defPPr>
          </a:lstStyle>
          <a:p xmlns:a="http://schemas.openxmlformats.org/drawingml/2006/main">
            <a:pPr algn="l">
              <a:lnSpc>
                <a:spcPct val="100000"/>
              </a:lnSpc>
              <a:buNone/>
              <a:defRPr sz="1875" b="0">
                <a:solidFill>
                  <a:srgbClr val="00355F"/>
                </a:solidFill>
                <a:latin typeface="Arial"/>
                <a:ea typeface="Arial"/>
                <a:cs typeface="Arial"/>
              </a:defRPr>
            </a:pPr>
            <a:r>
              <a:rPr sz="1875" b="0">
                <a:solidFill>
                  <a:srgbClr val="00355F"/>
                </a:solidFill>
                <a:latin typeface="Arial"/>
                <a:ea typeface="Arial"/>
                <a:cs typeface="Arial"/>
              </a:rPr>
              <a:t>Clinical entry</a:t>
            </a:r>
          </a:p>
        </p:txBody>
      </p:sp>
      <p:sp>
        <p:nvSpPr>
          <p:cNvPr id="25" name="Figure 11 label 20 line 1">
            <a:extLst xmlns:a="http://schemas.openxmlformats.org/drawingml/2006/main">
              <a:ext uri="{FF2B5EF4-FFF2-40B4-BE49-F238E27FC236}">
                <a16:creationId xmlns:a16="http://schemas.microsoft.com/office/drawing/2014/main" id="{F3DBF714-A78C-41C6-8FF9-2DFE75656001}"/>
              </a:ext>
            </a:extLst>
          </p:cNvPr>
          <p:cNvSpPr>
            <a:spLocks xmlns:a="http://schemas.openxmlformats.org/drawingml/2006/main" noGrp="1"/>
          </p:cNvSpPr>
          <p:nvPr/>
        </p:nvSpPr>
        <p:spPr>
          <a:xfrm xmlns:a="http://schemas.openxmlformats.org/drawingml/2006/main" rot="0">
            <a:off x="6312232" y="6192964"/>
            <a:ext cx="36763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400" b="0">
                <a:solidFill>
                  <a:srgbClr val="00355F"/>
                </a:solidFill>
                <a:latin typeface="Arial"/>
                <a:ea typeface="Arial"/>
                <a:cs typeface="Arial"/>
              </a:defRPr>
            </a:defPPr>
          </a:lstStyle>
          <a:p xmlns:a="http://schemas.openxmlformats.org/drawingml/2006/main">
            <a:pPr algn="ctr">
              <a:lnSpc>
                <a:spcPct val="100000"/>
              </a:lnSpc>
              <a:buNone/>
              <a:defRPr sz="2400" b="0">
                <a:solidFill>
                  <a:srgbClr val="00355F"/>
                </a:solidFill>
                <a:latin typeface="Arial"/>
                <a:ea typeface="Arial"/>
                <a:cs typeface="Arial"/>
              </a:defRPr>
            </a:pPr>
            <a:r>
              <a:rPr sz="2400" b="0">
                <a:solidFill>
                  <a:srgbClr val="00355F"/>
                </a:solidFill>
                <a:latin typeface="Arial"/>
                <a:ea typeface="Arial"/>
                <a:cs typeface="Arial"/>
              </a:rPr>
              <a:t>1</a:t>
            </a:r>
          </a:p>
        </p:txBody>
      </p:sp>
      <p:sp>
        <p:nvSpPr>
          <p:cNvPr id="26" name="Figure 11 label 21 line 1">
            <a:extLst xmlns:a="http://schemas.openxmlformats.org/drawingml/2006/main">
              <a:ext uri="{FF2B5EF4-FFF2-40B4-BE49-F238E27FC236}">
                <a16:creationId xmlns:a16="http://schemas.microsoft.com/office/drawing/2014/main" id="{AD98A7F7-B35A-472C-8868-29654133433B}"/>
              </a:ext>
            </a:extLst>
          </p:cNvPr>
          <p:cNvSpPr>
            <a:spLocks xmlns:a="http://schemas.openxmlformats.org/drawingml/2006/main" noGrp="1"/>
          </p:cNvSpPr>
          <p:nvPr/>
        </p:nvSpPr>
        <p:spPr>
          <a:xfrm xmlns:a="http://schemas.openxmlformats.org/drawingml/2006/main" rot="0">
            <a:off x="8431545" y="6192964"/>
            <a:ext cx="36763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400" b="0">
                <a:solidFill>
                  <a:srgbClr val="00355F"/>
                </a:solidFill>
                <a:latin typeface="Arial"/>
                <a:ea typeface="Arial"/>
                <a:cs typeface="Arial"/>
              </a:defRPr>
            </a:defPPr>
          </a:lstStyle>
          <a:p xmlns:a="http://schemas.openxmlformats.org/drawingml/2006/main">
            <a:pPr algn="ctr">
              <a:lnSpc>
                <a:spcPct val="100000"/>
              </a:lnSpc>
              <a:buNone/>
              <a:defRPr sz="2400" b="0">
                <a:solidFill>
                  <a:srgbClr val="00355F"/>
                </a:solidFill>
                <a:latin typeface="Arial"/>
                <a:ea typeface="Arial"/>
                <a:cs typeface="Arial"/>
              </a:defRPr>
            </a:pPr>
            <a:r>
              <a:rPr sz="2400" b="0">
                <a:solidFill>
                  <a:srgbClr val="00355F"/>
                </a:solidFill>
                <a:latin typeface="Arial"/>
                <a:ea typeface="Arial"/>
                <a:cs typeface="Arial"/>
              </a:rPr>
              <a:t>1</a:t>
            </a:r>
          </a:p>
        </p:txBody>
      </p:sp>
      <p:sp>
        <p:nvSpPr>
          <p:cNvPr id="27" name="Figure 11 label 22 line 1">
            <a:extLst xmlns:a="http://schemas.openxmlformats.org/drawingml/2006/main">
              <a:ext uri="{FF2B5EF4-FFF2-40B4-BE49-F238E27FC236}">
                <a16:creationId xmlns:a16="http://schemas.microsoft.com/office/drawing/2014/main" id="{B02E0F44-B026-45A8-8774-11464E88AE9C}"/>
              </a:ext>
            </a:extLst>
          </p:cNvPr>
          <p:cNvSpPr>
            <a:spLocks xmlns:a="http://schemas.openxmlformats.org/drawingml/2006/main" noGrp="1"/>
          </p:cNvSpPr>
          <p:nvPr/>
        </p:nvSpPr>
        <p:spPr>
          <a:xfrm xmlns:a="http://schemas.openxmlformats.org/drawingml/2006/main" rot="0">
            <a:off x="10029825" y="6103144"/>
            <a:ext cx="3569791"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75" b="0">
                <a:solidFill>
                  <a:srgbClr val="00355F"/>
                </a:solidFill>
                <a:latin typeface="Arial"/>
                <a:ea typeface="Arial"/>
                <a:cs typeface="Arial"/>
              </a:defRPr>
            </a:defPPr>
          </a:lstStyle>
          <a:p xmlns:a="http://schemas.openxmlformats.org/drawingml/2006/main">
            <a:pPr algn="l">
              <a:lnSpc>
                <a:spcPct val="100000"/>
              </a:lnSpc>
              <a:buNone/>
              <a:defRPr sz="1875" b="0">
                <a:solidFill>
                  <a:srgbClr val="00355F"/>
                </a:solidFill>
                <a:latin typeface="Arial"/>
                <a:ea typeface="Arial"/>
                <a:cs typeface="Arial"/>
              </a:defRPr>
            </a:pPr>
            <a:r>
              <a:rPr sz="1875" b="0">
                <a:solidFill>
                  <a:srgbClr val="00355F"/>
                </a:solidFill>
                <a:latin typeface="Arial"/>
                <a:ea typeface="Arial"/>
                <a:cs typeface="Arial"/>
              </a:rPr>
              <a:t>Patients, ethics, capital and time</a:t>
            </a:r>
          </a:p>
        </p:txBody>
      </p:sp>
      <p:sp>
        <p:nvSpPr>
          <p:cNvPr id="28" name="Figure 11 label 22 line 2">
            <a:extLst xmlns:a="http://schemas.openxmlformats.org/drawingml/2006/main">
              <a:ext uri="{FF2B5EF4-FFF2-40B4-BE49-F238E27FC236}">
                <a16:creationId xmlns:a16="http://schemas.microsoft.com/office/drawing/2014/main" id="{2144CF5E-12E6-44FD-967B-1B4134CA54AB}"/>
              </a:ext>
            </a:extLst>
          </p:cNvPr>
          <p:cNvSpPr>
            <a:spLocks xmlns:a="http://schemas.openxmlformats.org/drawingml/2006/main" noGrp="1"/>
          </p:cNvSpPr>
          <p:nvPr/>
        </p:nvSpPr>
        <p:spPr>
          <a:xfrm xmlns:a="http://schemas.openxmlformats.org/drawingml/2006/main" rot="0">
            <a:off x="10029825" y="6400800"/>
            <a:ext cx="3569791"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75" b="0">
                <a:solidFill>
                  <a:srgbClr val="00355F"/>
                </a:solidFill>
                <a:latin typeface="Arial"/>
                <a:ea typeface="Arial"/>
                <a:cs typeface="Arial"/>
              </a:defRPr>
            </a:defPPr>
          </a:lstStyle>
          <a:p xmlns:a="http://schemas.openxmlformats.org/drawingml/2006/main">
            <a:pPr algn="l">
              <a:lnSpc>
                <a:spcPct val="100000"/>
              </a:lnSpc>
              <a:buNone/>
              <a:defRPr sz="1875" b="0">
                <a:solidFill>
                  <a:srgbClr val="00355F"/>
                </a:solidFill>
                <a:latin typeface="Arial"/>
                <a:ea typeface="Arial"/>
                <a:cs typeface="Arial"/>
              </a:defRPr>
            </a:pPr>
            <a:r>
              <a:rPr sz="1875" b="0">
                <a:solidFill>
                  <a:srgbClr val="00355F"/>
                </a:solidFill>
                <a:latin typeface="Arial"/>
                <a:ea typeface="Arial"/>
                <a:cs typeface="Arial"/>
              </a:rPr>
              <a:t>remain hard constraints.</a:t>
            </a:r>
          </a:p>
        </p:txBody>
      </p:sp>
      <p:sp>
        <p:nvSpPr>
          <p:cNvPr id="29" name="Figure 11 label 23 line 1">
            <a:extLst xmlns:a="http://schemas.openxmlformats.org/drawingml/2006/main">
              <a:ext uri="{FF2B5EF4-FFF2-40B4-BE49-F238E27FC236}">
                <a16:creationId xmlns:a16="http://schemas.microsoft.com/office/drawing/2014/main" id="{2ADB6936-805F-4447-A24E-4008882DCEBE}"/>
              </a:ext>
            </a:extLst>
          </p:cNvPr>
          <p:cNvSpPr>
            <a:spLocks xmlns:a="http://schemas.openxmlformats.org/drawingml/2006/main" noGrp="1"/>
          </p:cNvSpPr>
          <p:nvPr/>
        </p:nvSpPr>
        <p:spPr>
          <a:xfrm xmlns:a="http://schemas.openxmlformats.org/drawingml/2006/main" rot="0">
            <a:off x="885825" y="7252097"/>
            <a:ext cx="2246412"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75" b="0">
                <a:solidFill>
                  <a:srgbClr val="00355F"/>
                </a:solidFill>
                <a:latin typeface="Arial"/>
                <a:ea typeface="Arial"/>
                <a:cs typeface="Arial"/>
              </a:defRPr>
            </a:defPPr>
          </a:lstStyle>
          <a:p xmlns:a="http://schemas.openxmlformats.org/drawingml/2006/main">
            <a:pPr algn="l">
              <a:lnSpc>
                <a:spcPct val="100000"/>
              </a:lnSpc>
              <a:buNone/>
              <a:defRPr sz="1875" b="0">
                <a:solidFill>
                  <a:srgbClr val="00355F"/>
                </a:solidFill>
                <a:latin typeface="Arial"/>
                <a:ea typeface="Arial"/>
                <a:cs typeface="Arial"/>
              </a:defRPr>
            </a:pPr>
            <a:r>
              <a:rPr sz="1875" b="0">
                <a:solidFill>
                  <a:srgbClr val="00355F"/>
                </a:solidFill>
                <a:latin typeface="Arial"/>
                <a:ea typeface="Arial"/>
                <a:cs typeface="Arial"/>
              </a:rPr>
              <a:t>Expected approvals</a:t>
            </a:r>
          </a:p>
        </p:txBody>
      </p:sp>
      <p:sp>
        <p:nvSpPr>
          <p:cNvPr id="30" name="Figure 11 label 24 line 1">
            <a:extLst xmlns:a="http://schemas.openxmlformats.org/drawingml/2006/main">
              <a:ext uri="{FF2B5EF4-FFF2-40B4-BE49-F238E27FC236}">
                <a16:creationId xmlns:a16="http://schemas.microsoft.com/office/drawing/2014/main" id="{A4F396B5-A789-4A64-81DF-2B9ABDFE7E12}"/>
              </a:ext>
            </a:extLst>
          </p:cNvPr>
          <p:cNvSpPr>
            <a:spLocks xmlns:a="http://schemas.openxmlformats.org/drawingml/2006/main" noGrp="1"/>
          </p:cNvSpPr>
          <p:nvPr/>
        </p:nvSpPr>
        <p:spPr>
          <a:xfrm xmlns:a="http://schemas.openxmlformats.org/drawingml/2006/main" rot="0">
            <a:off x="6011376" y="7193089"/>
            <a:ext cx="969347"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400" b="0">
                <a:solidFill>
                  <a:srgbClr val="00355F"/>
                </a:solidFill>
                <a:latin typeface="Arial"/>
                <a:ea typeface="Arial"/>
                <a:cs typeface="Arial"/>
              </a:defRPr>
            </a:defPPr>
          </a:lstStyle>
          <a:p xmlns:a="http://schemas.openxmlformats.org/drawingml/2006/main">
            <a:pPr algn="ctr">
              <a:lnSpc>
                <a:spcPct val="100000"/>
              </a:lnSpc>
              <a:buNone/>
              <a:defRPr sz="2400" b="0">
                <a:solidFill>
                  <a:srgbClr val="00355F"/>
                </a:solidFill>
                <a:latin typeface="Arial"/>
                <a:ea typeface="Arial"/>
                <a:cs typeface="Arial"/>
              </a:defRPr>
            </a:pPr>
            <a:r>
              <a:rPr sz="2400" b="0">
                <a:solidFill>
                  <a:srgbClr val="00355F"/>
                </a:solidFill>
                <a:latin typeface="Arial"/>
                <a:ea typeface="Arial"/>
                <a:cs typeface="Arial"/>
              </a:rPr>
              <a:t>~0.14</a:t>
            </a:r>
          </a:p>
        </p:txBody>
      </p:sp>
      <p:sp>
        <p:nvSpPr>
          <p:cNvPr id="31" name="Figure 11 label 25 line 1">
            <a:extLst xmlns:a="http://schemas.openxmlformats.org/drawingml/2006/main">
              <a:ext uri="{FF2B5EF4-FFF2-40B4-BE49-F238E27FC236}">
                <a16:creationId xmlns:a16="http://schemas.microsoft.com/office/drawing/2014/main" id="{D0B1E85C-2A19-4ED7-A17D-C9F3CA58FDBF}"/>
              </a:ext>
            </a:extLst>
          </p:cNvPr>
          <p:cNvSpPr>
            <a:spLocks xmlns:a="http://schemas.openxmlformats.org/drawingml/2006/main" noGrp="1"/>
          </p:cNvSpPr>
          <p:nvPr/>
        </p:nvSpPr>
        <p:spPr>
          <a:xfrm xmlns:a="http://schemas.openxmlformats.org/drawingml/2006/main" rot="0">
            <a:off x="7880955" y="7193089"/>
            <a:ext cx="146881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400" b="0">
                <a:solidFill>
                  <a:srgbClr val="00355F"/>
                </a:solidFill>
                <a:latin typeface="Arial"/>
                <a:ea typeface="Arial"/>
                <a:cs typeface="Arial"/>
              </a:defRPr>
            </a:defPPr>
          </a:lstStyle>
          <a:p xmlns:a="http://schemas.openxmlformats.org/drawingml/2006/main">
            <a:pPr algn="ctr">
              <a:lnSpc>
                <a:spcPct val="100000"/>
              </a:lnSpc>
              <a:buNone/>
              <a:defRPr sz="2400" b="0">
                <a:solidFill>
                  <a:srgbClr val="00355F"/>
                </a:solidFill>
                <a:latin typeface="Arial"/>
                <a:ea typeface="Arial"/>
                <a:cs typeface="Arial"/>
              </a:defRPr>
            </a:pPr>
            <a:r>
              <a:rPr sz="2400" b="0">
                <a:solidFill>
                  <a:srgbClr val="00355F"/>
                </a:solidFill>
                <a:latin typeface="Arial"/>
                <a:ea typeface="Arial"/>
                <a:cs typeface="Arial"/>
              </a:rPr>
              <a:t>Unknown</a:t>
            </a:r>
          </a:p>
        </p:txBody>
      </p:sp>
      <p:sp>
        <p:nvSpPr>
          <p:cNvPr id="32" name="Figure 11 label 26 line 1">
            <a:extLst xmlns:a="http://schemas.openxmlformats.org/drawingml/2006/main">
              <a:ext uri="{FF2B5EF4-FFF2-40B4-BE49-F238E27FC236}">
                <a16:creationId xmlns:a16="http://schemas.microsoft.com/office/drawing/2014/main" id="{B1FFBF19-FB2F-4626-9090-F09C22925BF5}"/>
              </a:ext>
            </a:extLst>
          </p:cNvPr>
          <p:cNvSpPr>
            <a:spLocks xmlns:a="http://schemas.openxmlformats.org/drawingml/2006/main" noGrp="1"/>
          </p:cNvSpPr>
          <p:nvPr/>
        </p:nvSpPr>
        <p:spPr>
          <a:xfrm xmlns:a="http://schemas.openxmlformats.org/drawingml/2006/main" rot="0">
            <a:off x="10029825" y="7103269"/>
            <a:ext cx="4350246"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75" b="0">
                <a:solidFill>
                  <a:srgbClr val="00355F"/>
                </a:solidFill>
                <a:latin typeface="Arial"/>
                <a:ea typeface="Arial"/>
                <a:cs typeface="Arial"/>
              </a:defRPr>
            </a:defPPr>
          </a:lstStyle>
          <a:p xmlns:a="http://schemas.openxmlformats.org/drawingml/2006/main">
            <a:pPr algn="l">
              <a:lnSpc>
                <a:spcPct val="100000"/>
              </a:lnSpc>
              <a:buNone/>
              <a:defRPr sz="1875" b="0">
                <a:solidFill>
                  <a:srgbClr val="00355F"/>
                </a:solidFill>
                <a:latin typeface="Arial"/>
                <a:ea typeface="Arial"/>
                <a:cs typeface="Arial"/>
              </a:defRPr>
            </a:pPr>
            <a:r>
              <a:rPr sz="1875" b="0">
                <a:solidFill>
                  <a:srgbClr val="00355F"/>
                </a:solidFill>
                <a:latin typeface="Arial"/>
                <a:ea typeface="Arial"/>
                <a:cs typeface="Arial"/>
              </a:rPr>
              <a:t>Clinical success must be demonstrated;</a:t>
            </a:r>
          </a:p>
        </p:txBody>
      </p:sp>
      <p:sp>
        <p:nvSpPr>
          <p:cNvPr id="33" name="Figure 11 label 26 line 2">
            <a:extLst xmlns:a="http://schemas.openxmlformats.org/drawingml/2006/main">
              <a:ext uri="{FF2B5EF4-FFF2-40B4-BE49-F238E27FC236}">
                <a16:creationId xmlns:a16="http://schemas.microsoft.com/office/drawing/2014/main" id="{77662CD4-B64A-471A-9145-9F5D8A3D3806}"/>
              </a:ext>
            </a:extLst>
          </p:cNvPr>
          <p:cNvSpPr>
            <a:spLocks xmlns:a="http://schemas.openxmlformats.org/drawingml/2006/main" noGrp="1"/>
          </p:cNvSpPr>
          <p:nvPr/>
        </p:nvSpPr>
        <p:spPr>
          <a:xfrm xmlns:a="http://schemas.openxmlformats.org/drawingml/2006/main" rot="0">
            <a:off x="10029825" y="7400925"/>
            <a:ext cx="4350246" cy="2976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875" b="0">
                <a:solidFill>
                  <a:srgbClr val="00355F"/>
                </a:solidFill>
                <a:latin typeface="Arial"/>
                <a:ea typeface="Arial"/>
                <a:cs typeface="Arial"/>
              </a:defRPr>
            </a:defPPr>
          </a:lstStyle>
          <a:p xmlns:a="http://schemas.openxmlformats.org/drawingml/2006/main">
            <a:pPr algn="l">
              <a:lnSpc>
                <a:spcPct val="100000"/>
              </a:lnSpc>
              <a:buNone/>
              <a:defRPr sz="1875" b="0">
                <a:solidFill>
                  <a:srgbClr val="00355F"/>
                </a:solidFill>
                <a:latin typeface="Arial"/>
                <a:ea typeface="Arial"/>
                <a:cs typeface="Arial"/>
              </a:defRPr>
            </a:pPr>
            <a:r>
              <a:rPr sz="1875" b="0">
                <a:solidFill>
                  <a:srgbClr val="00355F"/>
                </a:solidFill>
                <a:latin typeface="Arial"/>
                <a:ea typeface="Arial"/>
                <a:cs typeface="Arial"/>
              </a:rPr>
              <a:t>AI does not establish an approval rate.</a:t>
            </a:r>
          </a:p>
        </p:txBody>
      </p:sp>
      <p:sp>
        <p:nvSpPr>
          <p:cNvPr id="34" name="Figure 11 label 27 line 1">
            <a:extLst xmlns:a="http://schemas.openxmlformats.org/drawingml/2006/main">
              <a:ext uri="{FF2B5EF4-FFF2-40B4-BE49-F238E27FC236}">
                <a16:creationId xmlns:a16="http://schemas.microsoft.com/office/drawing/2014/main" id="{87AF1094-47D9-4C40-A7FC-76217C2B7F41}"/>
              </a:ext>
            </a:extLst>
          </p:cNvPr>
          <p:cNvSpPr>
            <a:spLocks xmlns:a="http://schemas.openxmlformats.org/drawingml/2006/main" noGrp="1"/>
          </p:cNvSpPr>
          <p:nvPr/>
        </p:nvSpPr>
        <p:spPr>
          <a:xfrm xmlns:a="http://schemas.openxmlformats.org/drawingml/2006/main" rot="0">
            <a:off x="1618107" y="8450961"/>
            <a:ext cx="11743849"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100" b="1">
                <a:solidFill>
                  <a:srgbClr val="FFFFFF"/>
                </a:solidFill>
                <a:latin typeface="Arial"/>
                <a:ea typeface="Arial"/>
                <a:cs typeface="Arial"/>
              </a:defRPr>
            </a:defPPr>
          </a:lstStyle>
          <a:p xmlns:a="http://schemas.openxmlformats.org/drawingml/2006/main">
            <a:pPr algn="l">
              <a:lnSpc>
                <a:spcPct val="100000"/>
              </a:lnSpc>
              <a:buNone/>
              <a:defRPr sz="2100" b="1">
                <a:solidFill>
                  <a:srgbClr val="FFFFFF"/>
                </a:solidFill>
                <a:latin typeface="Arial"/>
                <a:ea typeface="Arial"/>
                <a:cs typeface="Arial"/>
              </a:defRPr>
            </a:pPr>
            <a:r>
              <a:rPr sz="2100" b="1">
                <a:solidFill>
                  <a:srgbClr val="FFFFFF"/>
                </a:solidFill>
                <a:latin typeface="Arial"/>
                <a:ea typeface="Arial"/>
                <a:cs typeface="Arial"/>
              </a:rPr>
              <a:t>Working thesis: experimental throughput becomes a capacity gate as virtual design scales.</a:t>
            </a:r>
          </a:p>
        </p:txBody>
      </p:sp>
      <p:sp>
        <p:nvSpPr>
          <p:cNvPr id="35" name="Figure 11 label 28 line 1">
            <a:extLst xmlns:a="http://schemas.openxmlformats.org/drawingml/2006/main">
              <a:ext uri="{FF2B5EF4-FFF2-40B4-BE49-F238E27FC236}">
                <a16:creationId xmlns:a16="http://schemas.microsoft.com/office/drawing/2014/main" id="{B1305E37-2C88-4378-87D8-D27DC5E58DFE}"/>
              </a:ext>
            </a:extLst>
          </p:cNvPr>
          <p:cNvSpPr>
            <a:spLocks xmlns:a="http://schemas.openxmlformats.org/drawingml/2006/main" noGrp="1"/>
          </p:cNvSpPr>
          <p:nvPr/>
        </p:nvSpPr>
        <p:spPr>
          <a:xfrm xmlns:a="http://schemas.openxmlformats.org/drawingml/2006/main" rot="0">
            <a:off x="679323" y="9533192"/>
            <a:ext cx="9740682" cy="20240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75" b="0">
                <a:solidFill>
                  <a:srgbClr val="00355F"/>
                </a:solidFill>
                <a:latin typeface="Arial"/>
                <a:ea typeface="Arial"/>
                <a:cs typeface="Arial"/>
              </a:defRPr>
            </a:defPPr>
          </a:lstStyle>
          <a:p xmlns:a="http://schemas.openxmlformats.org/drawingml/2006/main">
            <a:pPr algn="l">
              <a:lnSpc>
                <a:spcPct val="100000"/>
              </a:lnSpc>
              <a:buNone/>
              <a:defRPr sz="1275" b="0">
                <a:solidFill>
                  <a:srgbClr val="00355F"/>
                </a:solidFill>
                <a:latin typeface="Arial"/>
                <a:ea typeface="Arial"/>
                <a:cs typeface="Arial"/>
              </a:defRPr>
            </a:pPr>
            <a:r>
              <a:rPr sz="1275" b="0">
                <a:solidFill>
                  <a:srgbClr val="00355F"/>
                </a:solidFill>
                <a:latin typeface="Arial"/>
                <a:ea typeface="Arial"/>
                <a:cs typeface="Arial"/>
              </a:rPr>
              <a:t>Source: user-supplied comparison. ~0.14 is an illustrative expected approval count per clinical entrant; the AI-era outcome is unknown.</a:t>
            </a:r>
          </a:p>
        </p:txBody>
      </p:sp>
    </p:spTree>
    <p:extLst>
      <p:ext uri="{BB962C8B-B14F-4D97-AF65-F5344CB8AC3E}">
        <p14:creationId xmlns:p14="http://schemas.microsoft.com/office/powerpoint/2010/main" val="61631672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03" name="">
            <a:extLst xmlns:a="http://schemas.openxmlformats.org/drawingml/2006/main">
              <a:ext uri="{FF2B5EF4-FFF2-40B4-BE49-F238E27FC236}">
                <a16:creationId xmlns:a16="http://schemas.microsoft.com/office/drawing/2014/main" id="{1613D83E-92A0-4773-80B7-E92168CD3836}"/>
              </a:ext>
            </a:extLst>
          </p:cNvPr>
          <p:cNvPicPr>
            <a:picLocks xmlns:a="http://schemas.openxmlformats.org/drawingml/2006/main" noChangeAspect="1"/>
          </p:cNvPicPr>
          <p:nvPr/>
        </p:nvPicPr>
        <p:blipFill>
          <a:blip xmlns:r="http://schemas.openxmlformats.org/officeDocument/2006/relationships" xmlns:a="http://schemas.openxmlformats.org/drawingml/2006/main" r:embed="Rd07bc732059f4009"/>
          <a:stretch xmlns:a="http://schemas.openxmlformats.org/drawingml/2006/main"/>
        </p:blipFill>
        <p:spPr>
          <a:xfrm xmlns:a="http://schemas.openxmlformats.org/drawingml/2006/main">
            <a:off x="0" y="0"/>
            <a:ext cx="18288000" cy="10287000"/>
          </a:xfrm>
          <a:prstGeom xmlns:a="http://schemas.openxmlformats.org/drawingml/2006/main" prst="rect">
            <a:avLst/>
          </a:prstGeom>
        </p:spPr>
      </p:pic>
      <p:sp>
        <p:nvSpPr>
          <p:cNvPr id="2" name="Figure 12 label 1 line 1">
            <a:extLst xmlns:a="http://schemas.openxmlformats.org/drawingml/2006/main">
              <a:ext uri="{FF2B5EF4-FFF2-40B4-BE49-F238E27FC236}">
                <a16:creationId xmlns:a16="http://schemas.microsoft.com/office/drawing/2014/main" id="{32A7511A-CEB3-46EB-A190-F927E1AA78AB}"/>
              </a:ext>
            </a:extLst>
          </p:cNvPr>
          <p:cNvSpPr>
            <a:spLocks xmlns:a="http://schemas.openxmlformats.org/drawingml/2006/main" noGrp="1"/>
          </p:cNvSpPr>
          <p:nvPr/>
        </p:nvSpPr>
        <p:spPr>
          <a:xfrm xmlns:a="http://schemas.openxmlformats.org/drawingml/2006/main" rot="0">
            <a:off x="1057351" y="255118"/>
            <a:ext cx="10475369"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3360" b="1">
                <a:solidFill>
                  <a:srgbClr val="00355F"/>
                </a:solidFill>
                <a:latin typeface="Arial"/>
                <a:ea typeface="Arial"/>
                <a:cs typeface="Arial"/>
              </a:defRPr>
            </a:defPPr>
          </a:lstStyle>
          <a:p xmlns:a="http://schemas.openxmlformats.org/drawingml/2006/main">
            <a:pPr algn="l">
              <a:lnSpc>
                <a:spcPct val="100000"/>
              </a:lnSpc>
              <a:buNone/>
              <a:defRPr sz="3360" b="1">
                <a:solidFill>
                  <a:srgbClr val="00355F"/>
                </a:solidFill>
                <a:latin typeface="Arial"/>
                <a:ea typeface="Arial"/>
                <a:cs typeface="Arial"/>
              </a:defRPr>
            </a:pPr>
            <a:r>
              <a:rPr sz="3360" b="1">
                <a:solidFill>
                  <a:srgbClr val="00355F"/>
                </a:solidFill>
                <a:latin typeface="Arial"/>
                <a:ea typeface="Arial"/>
                <a:cs typeface="Arial"/>
              </a:rPr>
              <a:t>AI-scale design meets finite experimental capacity</a:t>
            </a:r>
          </a:p>
        </p:txBody>
      </p:sp>
      <p:sp>
        <p:nvSpPr>
          <p:cNvPr id="3" name="Figure 12 label 2 line 1">
            <a:extLst xmlns:a="http://schemas.openxmlformats.org/drawingml/2006/main">
              <a:ext uri="{FF2B5EF4-FFF2-40B4-BE49-F238E27FC236}">
                <a16:creationId xmlns:a16="http://schemas.microsoft.com/office/drawing/2014/main" id="{162951FB-2909-4BDC-93A9-870F3DFFC367}"/>
              </a:ext>
            </a:extLst>
          </p:cNvPr>
          <p:cNvSpPr>
            <a:spLocks xmlns:a="http://schemas.openxmlformats.org/drawingml/2006/main" noGrp="1"/>
          </p:cNvSpPr>
          <p:nvPr/>
        </p:nvSpPr>
        <p:spPr>
          <a:xfrm xmlns:a="http://schemas.openxmlformats.org/drawingml/2006/main" rot="0">
            <a:off x="1065581" y="951128"/>
            <a:ext cx="10618012"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740" b="0">
                <a:solidFill>
                  <a:srgbClr val="00355F"/>
                </a:solidFill>
                <a:latin typeface="Arial"/>
                <a:ea typeface="Arial"/>
                <a:cs typeface="Arial"/>
              </a:defRPr>
            </a:defPPr>
          </a:lstStyle>
          <a:p xmlns:a="http://schemas.openxmlformats.org/drawingml/2006/main">
            <a:pPr algn="l">
              <a:lnSpc>
                <a:spcPct val="100000"/>
              </a:lnSpc>
              <a:buNone/>
              <a:defRPr sz="1740" b="0">
                <a:solidFill>
                  <a:srgbClr val="00355F"/>
                </a:solidFill>
                <a:latin typeface="Arial"/>
                <a:ea typeface="Arial"/>
                <a:cs typeface="Arial"/>
              </a:defRPr>
            </a:pPr>
            <a:r>
              <a:rPr sz="1740" b="0">
                <a:solidFill>
                  <a:srgbClr val="00355F"/>
                </a:solidFill>
                <a:latin typeface="Arial"/>
                <a:ea typeface="Arial"/>
                <a:cs typeface="Arial"/>
              </a:rPr>
              <a:t>Working scenario: candidate generation expands faster than physical construction and biological validation.</a:t>
            </a:r>
          </a:p>
        </p:txBody>
      </p:sp>
      <p:sp>
        <p:nvSpPr>
          <p:cNvPr id="4" name="Figure 12 label 3 line 1">
            <a:extLst xmlns:a="http://schemas.openxmlformats.org/drawingml/2006/main">
              <a:ext uri="{FF2B5EF4-FFF2-40B4-BE49-F238E27FC236}">
                <a16:creationId xmlns:a16="http://schemas.microsoft.com/office/drawing/2014/main" id="{7AF29604-5B12-4DE2-870A-6C34C3636265}"/>
              </a:ext>
            </a:extLst>
          </p:cNvPr>
          <p:cNvSpPr>
            <a:spLocks xmlns:a="http://schemas.openxmlformats.org/drawingml/2006/main" noGrp="1"/>
          </p:cNvSpPr>
          <p:nvPr/>
        </p:nvSpPr>
        <p:spPr>
          <a:xfrm xmlns:a="http://schemas.openxmlformats.org/drawingml/2006/main" rot="0">
            <a:off x="753466" y="2013509"/>
            <a:ext cx="3094411"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680" b="1">
                <a:solidFill>
                  <a:srgbClr val="00355F"/>
                </a:solidFill>
                <a:latin typeface="Arial"/>
                <a:ea typeface="Arial"/>
                <a:cs typeface="Arial"/>
              </a:defRPr>
            </a:defPPr>
          </a:lstStyle>
          <a:p xmlns:a="http://schemas.openxmlformats.org/drawingml/2006/main">
            <a:pPr algn="l">
              <a:lnSpc>
                <a:spcPct val="100000"/>
              </a:lnSpc>
              <a:buNone/>
              <a:defRPr sz="1680" b="1">
                <a:solidFill>
                  <a:srgbClr val="00355F"/>
                </a:solidFill>
                <a:latin typeface="Arial"/>
                <a:ea typeface="Arial"/>
                <a:cs typeface="Arial"/>
              </a:defRPr>
            </a:pPr>
            <a:r>
              <a:rPr sz="1680" b="1">
                <a:solidFill>
                  <a:srgbClr val="00355F"/>
                </a:solidFill>
                <a:latin typeface="Arial"/>
                <a:ea typeface="Arial"/>
                <a:cs typeface="Arial"/>
              </a:rPr>
              <a:t>AI-ERA DISCOVERY FUNNEL</a:t>
            </a:r>
          </a:p>
        </p:txBody>
      </p:sp>
      <p:sp>
        <p:nvSpPr>
          <p:cNvPr id="5" name="Figure 12 label 4 line 1">
            <a:extLst xmlns:a="http://schemas.openxmlformats.org/drawingml/2006/main">
              <a:ext uri="{FF2B5EF4-FFF2-40B4-BE49-F238E27FC236}">
                <a16:creationId xmlns:a16="http://schemas.microsoft.com/office/drawing/2014/main" id="{B1B13957-2E3F-4FD3-92A0-75888D5AC660}"/>
              </a:ext>
            </a:extLst>
          </p:cNvPr>
          <p:cNvSpPr>
            <a:spLocks xmlns:a="http://schemas.openxmlformats.org/drawingml/2006/main" noGrp="1"/>
          </p:cNvSpPr>
          <p:nvPr/>
        </p:nvSpPr>
        <p:spPr>
          <a:xfrm xmlns:a="http://schemas.openxmlformats.org/drawingml/2006/main" rot="0">
            <a:off x="755294" y="2390852"/>
            <a:ext cx="313747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20" b="0">
                <a:solidFill>
                  <a:srgbClr val="00355F"/>
                </a:solidFill>
                <a:latin typeface="Arial"/>
                <a:ea typeface="Arial"/>
                <a:cs typeface="Arial"/>
              </a:defRPr>
            </a:defPPr>
          </a:lstStyle>
          <a:p xmlns:a="http://schemas.openxmlformats.org/drawingml/2006/main">
            <a:pPr algn="l">
              <a:lnSpc>
                <a:spcPct val="100000"/>
              </a:lnSpc>
              <a:buNone/>
              <a:defRPr sz="1320" b="0">
                <a:solidFill>
                  <a:srgbClr val="00355F"/>
                </a:solidFill>
                <a:latin typeface="Arial"/>
                <a:ea typeface="Arial"/>
                <a:cs typeface="Arial"/>
              </a:defRPr>
            </a:pPr>
            <a:r>
              <a:rPr sz="1320" b="0">
                <a:solidFill>
                  <a:srgbClr val="00355F"/>
                </a:solidFill>
                <a:latin typeface="Arial"/>
                <a:ea typeface="Arial"/>
                <a:cs typeface="Arial"/>
              </a:rPr>
              <a:t>Illustrative counts per one clinical entrant</a:t>
            </a:r>
          </a:p>
        </p:txBody>
      </p:sp>
      <p:sp>
        <p:nvSpPr>
          <p:cNvPr id="6" name="Figure 12 label 5 line 1">
            <a:extLst xmlns:a="http://schemas.openxmlformats.org/drawingml/2006/main">
              <a:ext uri="{FF2B5EF4-FFF2-40B4-BE49-F238E27FC236}">
                <a16:creationId xmlns:a16="http://schemas.microsoft.com/office/drawing/2014/main" id="{6A84B19D-2EDA-478D-A9BD-C97A1FE87F8E}"/>
              </a:ext>
            </a:extLst>
          </p:cNvPr>
          <p:cNvSpPr>
            <a:spLocks xmlns:a="http://schemas.openxmlformats.org/drawingml/2006/main" noGrp="1"/>
          </p:cNvSpPr>
          <p:nvPr/>
        </p:nvSpPr>
        <p:spPr>
          <a:xfrm xmlns:a="http://schemas.openxmlformats.org/drawingml/2006/main" rot="0">
            <a:off x="2490927" y="3039008"/>
            <a:ext cx="172374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740" b="1">
                <a:solidFill>
                  <a:srgbClr val="00355F"/>
                </a:solidFill>
                <a:latin typeface="Arial"/>
                <a:ea typeface="Arial"/>
                <a:cs typeface="Arial"/>
              </a:defRPr>
            </a:defPPr>
          </a:lstStyle>
          <a:p xmlns:a="http://schemas.openxmlformats.org/drawingml/2006/main">
            <a:pPr algn="ctr">
              <a:lnSpc>
                <a:spcPct val="100000"/>
              </a:lnSpc>
              <a:buNone/>
              <a:defRPr sz="1740" b="1">
                <a:solidFill>
                  <a:srgbClr val="00355F"/>
                </a:solidFill>
                <a:latin typeface="Arial"/>
                <a:ea typeface="Arial"/>
                <a:cs typeface="Arial"/>
              </a:defRPr>
            </a:pPr>
            <a:r>
              <a:rPr sz="1740" b="1">
                <a:solidFill>
                  <a:srgbClr val="00355F"/>
                </a:solidFill>
                <a:latin typeface="Arial"/>
                <a:ea typeface="Arial"/>
                <a:cs typeface="Arial"/>
              </a:rPr>
              <a:t>Virtual designs</a:t>
            </a:r>
          </a:p>
        </p:txBody>
      </p:sp>
      <p:sp>
        <p:nvSpPr>
          <p:cNvPr id="7" name="Figure 12 label 6 line 1">
            <a:extLst xmlns:a="http://schemas.openxmlformats.org/drawingml/2006/main">
              <a:ext uri="{FF2B5EF4-FFF2-40B4-BE49-F238E27FC236}">
                <a16:creationId xmlns:a16="http://schemas.microsoft.com/office/drawing/2014/main" id="{06C467FD-2218-48BD-95C6-52D041C0C4D9}"/>
              </a:ext>
            </a:extLst>
          </p:cNvPr>
          <p:cNvSpPr>
            <a:spLocks xmlns:a="http://schemas.openxmlformats.org/drawingml/2006/main" noGrp="1"/>
          </p:cNvSpPr>
          <p:nvPr/>
        </p:nvSpPr>
        <p:spPr>
          <a:xfrm xmlns:a="http://schemas.openxmlformats.org/drawingml/2006/main" rot="0">
            <a:off x="2699665" y="3352343"/>
            <a:ext cx="130627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580" b="1">
                <a:solidFill>
                  <a:srgbClr val="00355F"/>
                </a:solidFill>
                <a:latin typeface="Arial"/>
                <a:ea typeface="Arial"/>
                <a:cs typeface="Arial"/>
              </a:defRPr>
            </a:defPPr>
          </a:lstStyle>
          <a:p xmlns:a="http://schemas.openxmlformats.org/drawingml/2006/main">
            <a:pPr algn="ctr">
              <a:lnSpc>
                <a:spcPct val="100000"/>
              </a:lnSpc>
              <a:buNone/>
              <a:defRPr sz="2580" b="1">
                <a:solidFill>
                  <a:srgbClr val="00355F"/>
                </a:solidFill>
                <a:latin typeface="Arial"/>
                <a:ea typeface="Arial"/>
                <a:cs typeface="Arial"/>
              </a:defRPr>
            </a:pPr>
            <a:r>
              <a:rPr sz="2580" b="1">
                <a:solidFill>
                  <a:srgbClr val="00355F"/>
                </a:solidFill>
                <a:latin typeface="Arial"/>
                <a:ea typeface="Arial"/>
                <a:cs typeface="Arial"/>
              </a:rPr>
              <a:t>10⁵–10⁹</a:t>
            </a:r>
          </a:p>
        </p:txBody>
      </p:sp>
      <p:sp>
        <p:nvSpPr>
          <p:cNvPr id="8" name="Figure 12 label 7 line 1">
            <a:extLst xmlns:a="http://schemas.openxmlformats.org/drawingml/2006/main">
              <a:ext uri="{FF2B5EF4-FFF2-40B4-BE49-F238E27FC236}">
                <a16:creationId xmlns:a16="http://schemas.microsoft.com/office/drawing/2014/main" id="{31E5FE24-B54C-428E-AB0D-B95461EEA536}"/>
              </a:ext>
            </a:extLst>
          </p:cNvPr>
          <p:cNvSpPr>
            <a:spLocks xmlns:a="http://schemas.openxmlformats.org/drawingml/2006/main" noGrp="1"/>
          </p:cNvSpPr>
          <p:nvPr/>
        </p:nvSpPr>
        <p:spPr>
          <a:xfrm xmlns:a="http://schemas.openxmlformats.org/drawingml/2006/main" rot="0">
            <a:off x="2421053" y="4242968"/>
            <a:ext cx="186349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740" b="1">
                <a:solidFill>
                  <a:srgbClr val="00355F"/>
                </a:solidFill>
                <a:latin typeface="Arial"/>
                <a:ea typeface="Arial"/>
                <a:cs typeface="Arial"/>
              </a:defRPr>
            </a:defPPr>
          </a:lstStyle>
          <a:p xmlns:a="http://schemas.openxmlformats.org/drawingml/2006/main">
            <a:pPr algn="ctr">
              <a:lnSpc>
                <a:spcPct val="100000"/>
              </a:lnSpc>
              <a:buNone/>
              <a:defRPr sz="1740" b="1">
                <a:solidFill>
                  <a:srgbClr val="00355F"/>
                </a:solidFill>
                <a:latin typeface="Arial"/>
                <a:ea typeface="Arial"/>
                <a:cs typeface="Arial"/>
              </a:defRPr>
            </a:pPr>
            <a:r>
              <a:rPr sz="1740" b="1">
                <a:solidFill>
                  <a:srgbClr val="00355F"/>
                </a:solidFill>
                <a:latin typeface="Arial"/>
                <a:ea typeface="Arial"/>
                <a:cs typeface="Arial"/>
              </a:rPr>
              <a:t>Physically made</a:t>
            </a:r>
          </a:p>
        </p:txBody>
      </p:sp>
      <p:sp>
        <p:nvSpPr>
          <p:cNvPr id="9" name="Figure 12 label 8 line 1">
            <a:extLst xmlns:a="http://schemas.openxmlformats.org/drawingml/2006/main">
              <a:ext uri="{FF2B5EF4-FFF2-40B4-BE49-F238E27FC236}">
                <a16:creationId xmlns:a16="http://schemas.microsoft.com/office/drawing/2014/main" id="{7790DE96-2F1C-46D1-8F18-4DA7DEAEB209}"/>
              </a:ext>
            </a:extLst>
          </p:cNvPr>
          <p:cNvSpPr>
            <a:spLocks xmlns:a="http://schemas.openxmlformats.org/drawingml/2006/main" noGrp="1"/>
          </p:cNvSpPr>
          <p:nvPr/>
        </p:nvSpPr>
        <p:spPr>
          <a:xfrm xmlns:a="http://schemas.openxmlformats.org/drawingml/2006/main" rot="0">
            <a:off x="2690512" y="4556303"/>
            <a:ext cx="1324576"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580" b="1">
                <a:solidFill>
                  <a:srgbClr val="00355F"/>
                </a:solidFill>
                <a:latin typeface="Arial"/>
                <a:ea typeface="Arial"/>
                <a:cs typeface="Arial"/>
              </a:defRPr>
            </a:defPPr>
          </a:lstStyle>
          <a:p xmlns:a="http://schemas.openxmlformats.org/drawingml/2006/main">
            <a:pPr algn="ctr">
              <a:lnSpc>
                <a:spcPct val="100000"/>
              </a:lnSpc>
              <a:buNone/>
              <a:defRPr sz="2580" b="1">
                <a:solidFill>
                  <a:srgbClr val="00355F"/>
                </a:solidFill>
                <a:latin typeface="Arial"/>
                <a:ea typeface="Arial"/>
                <a:cs typeface="Arial"/>
              </a:defRPr>
            </a:pPr>
            <a:r>
              <a:rPr sz="2580" b="1">
                <a:solidFill>
                  <a:srgbClr val="00355F"/>
                </a:solidFill>
                <a:latin typeface="Arial"/>
                <a:ea typeface="Arial"/>
                <a:cs typeface="Arial"/>
              </a:rPr>
              <a:t>10³–10⁴</a:t>
            </a:r>
          </a:p>
        </p:txBody>
      </p:sp>
      <p:sp>
        <p:nvSpPr>
          <p:cNvPr id="10" name="Figure 12 label 9 line 1">
            <a:extLst xmlns:a="http://schemas.openxmlformats.org/drawingml/2006/main">
              <a:ext uri="{FF2B5EF4-FFF2-40B4-BE49-F238E27FC236}">
                <a16:creationId xmlns:a16="http://schemas.microsoft.com/office/drawing/2014/main" id="{78BEEC1F-190E-4CAC-8F7D-2FB4C147AC4F}"/>
              </a:ext>
            </a:extLst>
          </p:cNvPr>
          <p:cNvSpPr>
            <a:spLocks xmlns:a="http://schemas.openxmlformats.org/drawingml/2006/main" noGrp="1"/>
          </p:cNvSpPr>
          <p:nvPr/>
        </p:nvSpPr>
        <p:spPr>
          <a:xfrm xmlns:a="http://schemas.openxmlformats.org/drawingml/2006/main" rot="0">
            <a:off x="2587294" y="5340248"/>
            <a:ext cx="1531013"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740" b="1">
                <a:solidFill>
                  <a:srgbClr val="FFFFFF"/>
                </a:solidFill>
                <a:latin typeface="Arial"/>
                <a:ea typeface="Arial"/>
                <a:cs typeface="Arial"/>
              </a:defRPr>
            </a:defPPr>
          </a:lstStyle>
          <a:p xmlns:a="http://schemas.openxmlformats.org/drawingml/2006/main">
            <a:pPr algn="ctr">
              <a:lnSpc>
                <a:spcPct val="100000"/>
              </a:lnSpc>
              <a:buNone/>
              <a:defRPr sz="1740" b="1">
                <a:solidFill>
                  <a:srgbClr val="FFFFFF"/>
                </a:solidFill>
                <a:latin typeface="Arial"/>
                <a:ea typeface="Arial"/>
                <a:cs typeface="Arial"/>
              </a:defRPr>
            </a:pPr>
            <a:r>
              <a:rPr sz="1740" b="1">
                <a:solidFill>
                  <a:srgbClr val="FFFFFF"/>
                </a:solidFill>
                <a:latin typeface="Arial"/>
                <a:ea typeface="Arial"/>
                <a:cs typeface="Arial"/>
              </a:rPr>
              <a:t>Fully profiled</a:t>
            </a:r>
          </a:p>
        </p:txBody>
      </p:sp>
      <p:sp>
        <p:nvSpPr>
          <p:cNvPr id="11" name="Figure 12 label 10 line 1">
            <a:extLst xmlns:a="http://schemas.openxmlformats.org/drawingml/2006/main">
              <a:ext uri="{FF2B5EF4-FFF2-40B4-BE49-F238E27FC236}">
                <a16:creationId xmlns:a16="http://schemas.microsoft.com/office/drawing/2014/main" id="{8C0AC5D1-20A0-4CEC-B7E7-75DE7EE2D0FD}"/>
              </a:ext>
            </a:extLst>
          </p:cNvPr>
          <p:cNvSpPr>
            <a:spLocks xmlns:a="http://schemas.openxmlformats.org/drawingml/2006/main" noGrp="1"/>
          </p:cNvSpPr>
          <p:nvPr/>
        </p:nvSpPr>
        <p:spPr>
          <a:xfrm xmlns:a="http://schemas.openxmlformats.org/drawingml/2006/main" rot="0">
            <a:off x="2535805" y="5653583"/>
            <a:ext cx="163399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2580" b="1">
                <a:solidFill>
                  <a:srgbClr val="FFFFFF"/>
                </a:solidFill>
                <a:latin typeface="Arial"/>
                <a:ea typeface="Arial"/>
                <a:cs typeface="Arial"/>
              </a:defRPr>
            </a:defPPr>
          </a:lstStyle>
          <a:p xmlns:a="http://schemas.openxmlformats.org/drawingml/2006/main">
            <a:pPr algn="ctr">
              <a:lnSpc>
                <a:spcPct val="100000"/>
              </a:lnSpc>
              <a:buNone/>
              <a:defRPr sz="2580" b="1">
                <a:solidFill>
                  <a:srgbClr val="FFFFFF"/>
                </a:solidFill>
                <a:latin typeface="Arial"/>
                <a:ea typeface="Arial"/>
                <a:cs typeface="Arial"/>
              </a:defRPr>
            </a:pPr>
            <a:r>
              <a:rPr sz="2580" b="1">
                <a:solidFill>
                  <a:srgbClr val="FFFFFF"/>
                </a:solidFill>
                <a:latin typeface="Arial"/>
                <a:ea typeface="Arial"/>
                <a:cs typeface="Arial"/>
              </a:rPr>
              <a:t>50 → 500</a:t>
            </a:r>
          </a:p>
        </p:txBody>
      </p:sp>
      <p:sp>
        <p:nvSpPr>
          <p:cNvPr id="12" name="Figure 12 label 11 line 1">
            <a:extLst xmlns:a="http://schemas.openxmlformats.org/drawingml/2006/main">
              <a:ext uri="{FF2B5EF4-FFF2-40B4-BE49-F238E27FC236}">
                <a16:creationId xmlns:a16="http://schemas.microsoft.com/office/drawing/2014/main" id="{77523B1C-9E6A-4FD2-869E-6797994634B3}"/>
              </a:ext>
            </a:extLst>
          </p:cNvPr>
          <p:cNvSpPr>
            <a:spLocks xmlns:a="http://schemas.openxmlformats.org/drawingml/2006/main" noGrp="1"/>
          </p:cNvSpPr>
          <p:nvPr/>
        </p:nvSpPr>
        <p:spPr>
          <a:xfrm xmlns:a="http://schemas.openxmlformats.org/drawingml/2006/main" rot="0">
            <a:off x="2745474" y="6487211"/>
            <a:ext cx="1214652"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80" b="1">
                <a:solidFill>
                  <a:srgbClr val="00355F"/>
                </a:solidFill>
                <a:latin typeface="Arial"/>
                <a:ea typeface="Arial"/>
                <a:cs typeface="Arial"/>
              </a:defRPr>
            </a:defPPr>
          </a:lstStyle>
          <a:p xmlns:a="http://schemas.openxmlformats.org/drawingml/2006/main">
            <a:pPr algn="ctr">
              <a:lnSpc>
                <a:spcPct val="100000"/>
              </a:lnSpc>
              <a:buNone/>
              <a:defRPr sz="1380" b="1">
                <a:solidFill>
                  <a:srgbClr val="00355F"/>
                </a:solidFill>
                <a:latin typeface="Arial"/>
                <a:ea typeface="Arial"/>
                <a:cs typeface="Arial"/>
              </a:defRPr>
            </a:pPr>
            <a:r>
              <a:rPr sz="1380" b="1">
                <a:solidFill>
                  <a:srgbClr val="00355F"/>
                </a:solidFill>
                <a:latin typeface="Arial"/>
                <a:ea typeface="Arial"/>
                <a:cs typeface="Arial"/>
              </a:rPr>
              <a:t>Clinical entry</a:t>
            </a:r>
          </a:p>
        </p:txBody>
      </p:sp>
      <p:sp>
        <p:nvSpPr>
          <p:cNvPr id="13" name="Figure 12 label 12 line 1">
            <a:extLst xmlns:a="http://schemas.openxmlformats.org/drawingml/2006/main">
              <a:ext uri="{FF2B5EF4-FFF2-40B4-BE49-F238E27FC236}">
                <a16:creationId xmlns:a16="http://schemas.microsoft.com/office/drawing/2014/main" id="{A5C237B4-E461-4C5B-8F5D-15BD7F9F72CE}"/>
              </a:ext>
            </a:extLst>
          </p:cNvPr>
          <p:cNvSpPr>
            <a:spLocks xmlns:a="http://schemas.openxmlformats.org/drawingml/2006/main" noGrp="1"/>
          </p:cNvSpPr>
          <p:nvPr/>
        </p:nvSpPr>
        <p:spPr>
          <a:xfrm xmlns:a="http://schemas.openxmlformats.org/drawingml/2006/main" rot="0">
            <a:off x="3224076" y="6829349"/>
            <a:ext cx="257449"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80" b="1">
                <a:solidFill>
                  <a:srgbClr val="00355F"/>
                </a:solidFill>
                <a:latin typeface="Arial"/>
                <a:ea typeface="Arial"/>
                <a:cs typeface="Arial"/>
              </a:defRPr>
            </a:defPPr>
          </a:lstStyle>
          <a:p xmlns:a="http://schemas.openxmlformats.org/drawingml/2006/main">
            <a:pPr algn="ctr">
              <a:lnSpc>
                <a:spcPct val="100000"/>
              </a:lnSpc>
              <a:buNone/>
              <a:defRPr sz="1680" b="1">
                <a:solidFill>
                  <a:srgbClr val="00355F"/>
                </a:solidFill>
                <a:latin typeface="Arial"/>
                <a:ea typeface="Arial"/>
                <a:cs typeface="Arial"/>
              </a:defRPr>
            </a:pPr>
            <a:r>
              <a:rPr sz="1680" b="1">
                <a:solidFill>
                  <a:srgbClr val="00355F"/>
                </a:solidFill>
                <a:latin typeface="Arial"/>
                <a:ea typeface="Arial"/>
                <a:cs typeface="Arial"/>
              </a:rPr>
              <a:t>1</a:t>
            </a:r>
          </a:p>
        </p:txBody>
      </p:sp>
      <p:sp>
        <p:nvSpPr>
          <p:cNvPr id="14" name="Figure 12 label 13 line 1">
            <a:extLst xmlns:a="http://schemas.openxmlformats.org/drawingml/2006/main">
              <a:ext uri="{FF2B5EF4-FFF2-40B4-BE49-F238E27FC236}">
                <a16:creationId xmlns:a16="http://schemas.microsoft.com/office/drawing/2014/main" id="{0BF806B6-704A-4AC4-A4F6-6AC01CAF7922}"/>
              </a:ext>
            </a:extLst>
          </p:cNvPr>
          <p:cNvSpPr>
            <a:spLocks xmlns:a="http://schemas.openxmlformats.org/drawingml/2006/main" noGrp="1"/>
          </p:cNvSpPr>
          <p:nvPr/>
        </p:nvSpPr>
        <p:spPr>
          <a:xfrm xmlns:a="http://schemas.openxmlformats.org/drawingml/2006/main" rot="0">
            <a:off x="2867290" y="7424471"/>
            <a:ext cx="97102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380" b="1">
                <a:solidFill>
                  <a:srgbClr val="00355F"/>
                </a:solidFill>
                <a:latin typeface="Arial"/>
                <a:ea typeface="Arial"/>
                <a:cs typeface="Arial"/>
              </a:defRPr>
            </a:defPPr>
          </a:lstStyle>
          <a:p xmlns:a="http://schemas.openxmlformats.org/drawingml/2006/main">
            <a:pPr algn="ctr">
              <a:lnSpc>
                <a:spcPct val="100000"/>
              </a:lnSpc>
              <a:buNone/>
              <a:defRPr sz="1380" b="1">
                <a:solidFill>
                  <a:srgbClr val="00355F"/>
                </a:solidFill>
                <a:latin typeface="Arial"/>
                <a:ea typeface="Arial"/>
                <a:cs typeface="Arial"/>
              </a:defRPr>
            </a:pPr>
            <a:r>
              <a:rPr sz="1380" b="1">
                <a:solidFill>
                  <a:srgbClr val="00355F"/>
                </a:solidFill>
                <a:latin typeface="Arial"/>
                <a:ea typeface="Arial"/>
                <a:cs typeface="Arial"/>
              </a:rPr>
              <a:t>Approvals</a:t>
            </a:r>
          </a:p>
        </p:txBody>
      </p:sp>
      <p:sp>
        <p:nvSpPr>
          <p:cNvPr id="15" name="Figure 12 label 14 line 1">
            <a:extLst xmlns:a="http://schemas.openxmlformats.org/drawingml/2006/main">
              <a:ext uri="{FF2B5EF4-FFF2-40B4-BE49-F238E27FC236}">
                <a16:creationId xmlns:a16="http://schemas.microsoft.com/office/drawing/2014/main" id="{F00C6E69-2228-4264-94E3-F9577A393849}"/>
              </a:ext>
            </a:extLst>
          </p:cNvPr>
          <p:cNvSpPr>
            <a:spLocks xmlns:a="http://schemas.openxmlformats.org/drawingml/2006/main" noGrp="1"/>
          </p:cNvSpPr>
          <p:nvPr/>
        </p:nvSpPr>
        <p:spPr>
          <a:xfrm xmlns:a="http://schemas.openxmlformats.org/drawingml/2006/main" rot="0">
            <a:off x="2803413" y="7766609"/>
            <a:ext cx="1098774"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ctr">
              <a:defRPr sz="1680" b="1">
                <a:solidFill>
                  <a:srgbClr val="00355F"/>
                </a:solidFill>
                <a:latin typeface="Arial"/>
                <a:ea typeface="Arial"/>
                <a:cs typeface="Arial"/>
              </a:defRPr>
            </a:defPPr>
          </a:lstStyle>
          <a:p xmlns:a="http://schemas.openxmlformats.org/drawingml/2006/main">
            <a:pPr algn="ctr">
              <a:lnSpc>
                <a:spcPct val="100000"/>
              </a:lnSpc>
              <a:buNone/>
              <a:defRPr sz="1680" b="1">
                <a:solidFill>
                  <a:srgbClr val="00355F"/>
                </a:solidFill>
                <a:latin typeface="Arial"/>
                <a:ea typeface="Arial"/>
                <a:cs typeface="Arial"/>
              </a:defRPr>
            </a:pPr>
            <a:r>
              <a:rPr sz="1680" b="1">
                <a:solidFill>
                  <a:srgbClr val="00355F"/>
                </a:solidFill>
                <a:latin typeface="Arial"/>
                <a:ea typeface="Arial"/>
                <a:cs typeface="Arial"/>
              </a:rPr>
              <a:t>Unknown</a:t>
            </a:r>
          </a:p>
        </p:txBody>
      </p:sp>
      <p:sp>
        <p:nvSpPr>
          <p:cNvPr id="16" name="Figure 12 label 15 line 1">
            <a:extLst xmlns:a="http://schemas.openxmlformats.org/drawingml/2006/main">
              <a:ext uri="{FF2B5EF4-FFF2-40B4-BE49-F238E27FC236}">
                <a16:creationId xmlns:a16="http://schemas.microsoft.com/office/drawing/2014/main" id="{BE8AF261-2E56-40EE-B099-3CC7CD27B5C0}"/>
              </a:ext>
            </a:extLst>
          </p:cNvPr>
          <p:cNvSpPr>
            <a:spLocks xmlns:a="http://schemas.openxmlformats.org/drawingml/2006/main" noGrp="1"/>
          </p:cNvSpPr>
          <p:nvPr/>
        </p:nvSpPr>
        <p:spPr>
          <a:xfrm xmlns:a="http://schemas.openxmlformats.org/drawingml/2006/main" rot="0">
            <a:off x="1438961" y="8571128"/>
            <a:ext cx="2893832"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740" b="1">
                <a:solidFill>
                  <a:srgbClr val="00355F"/>
                </a:solidFill>
                <a:latin typeface="Arial"/>
                <a:ea typeface="Arial"/>
                <a:cs typeface="Arial"/>
              </a:defRPr>
            </a:defPPr>
          </a:lstStyle>
          <a:p xmlns:a="http://schemas.openxmlformats.org/drawingml/2006/main">
            <a:pPr algn="l">
              <a:lnSpc>
                <a:spcPct val="100000"/>
              </a:lnSpc>
              <a:buNone/>
              <a:defRPr sz="1740" b="1">
                <a:solidFill>
                  <a:srgbClr val="00355F"/>
                </a:solidFill>
                <a:latin typeface="Arial"/>
                <a:ea typeface="Arial"/>
                <a:cs typeface="Arial"/>
              </a:defRPr>
            </a:pPr>
            <a:r>
              <a:rPr sz="1740" b="1">
                <a:solidFill>
                  <a:srgbClr val="00355F"/>
                </a:solidFill>
                <a:latin typeface="Arial"/>
                <a:ea typeface="Arial"/>
                <a:cs typeface="Arial"/>
              </a:rPr>
              <a:t>WET LAB = BUILD + TEST</a:t>
            </a:r>
          </a:p>
        </p:txBody>
      </p:sp>
      <p:sp>
        <p:nvSpPr>
          <p:cNvPr id="17" name="Figure 12 label 16 line 1">
            <a:extLst xmlns:a="http://schemas.openxmlformats.org/drawingml/2006/main">
              <a:ext uri="{FF2B5EF4-FFF2-40B4-BE49-F238E27FC236}">
                <a16:creationId xmlns:a16="http://schemas.microsoft.com/office/drawing/2014/main" id="{74BC74F6-6309-4F0E-9F58-7FBACF15CEF7}"/>
              </a:ext>
            </a:extLst>
          </p:cNvPr>
          <p:cNvSpPr>
            <a:spLocks xmlns:a="http://schemas.openxmlformats.org/drawingml/2006/main" noGrp="1"/>
          </p:cNvSpPr>
          <p:nvPr/>
        </p:nvSpPr>
        <p:spPr>
          <a:xfrm xmlns:a="http://schemas.openxmlformats.org/drawingml/2006/main" rot="0">
            <a:off x="755599" y="9236812"/>
            <a:ext cx="2567714"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60" b="0">
                <a:solidFill>
                  <a:srgbClr val="00355F"/>
                </a:solidFill>
                <a:latin typeface="Arial"/>
                <a:ea typeface="Arial"/>
                <a:cs typeface="Arial"/>
              </a:defRPr>
            </a:defPPr>
          </a:lstStyle>
          <a:p xmlns:a="http://schemas.openxmlformats.org/drawingml/2006/main">
            <a:pPr algn="l">
              <a:lnSpc>
                <a:spcPct val="100000"/>
              </a:lnSpc>
              <a:buNone/>
              <a:defRPr sz="1260" b="0">
                <a:solidFill>
                  <a:srgbClr val="00355F"/>
                </a:solidFill>
                <a:latin typeface="Arial"/>
                <a:ea typeface="Arial"/>
                <a:cs typeface="Arial"/>
              </a:defRPr>
            </a:pPr>
            <a:r>
              <a:rPr sz="1260" b="0">
                <a:solidFill>
                  <a:srgbClr val="00355F"/>
                </a:solidFill>
                <a:latin typeface="Arial"/>
                <a:ea typeface="Arial"/>
                <a:cs typeface="Arial"/>
              </a:rPr>
              <a:t>Funnel widths are schematic.</a:t>
            </a:r>
          </a:p>
        </p:txBody>
      </p:sp>
      <p:sp>
        <p:nvSpPr>
          <p:cNvPr id="18" name="Figure 12 label 16 line 2">
            <a:extLst xmlns:a="http://schemas.openxmlformats.org/drawingml/2006/main">
              <a:ext uri="{FF2B5EF4-FFF2-40B4-BE49-F238E27FC236}">
                <a16:creationId xmlns:a16="http://schemas.microsoft.com/office/drawing/2014/main" id="{B6EE1192-622A-4043-8C86-9D61223848F3}"/>
              </a:ext>
            </a:extLst>
          </p:cNvPr>
          <p:cNvSpPr>
            <a:spLocks xmlns:a="http://schemas.openxmlformats.org/drawingml/2006/main" noGrp="1"/>
          </p:cNvSpPr>
          <p:nvPr/>
        </p:nvSpPr>
        <p:spPr>
          <a:xfrm xmlns:a="http://schemas.openxmlformats.org/drawingml/2006/main" rot="0">
            <a:off x="755599" y="9436837"/>
            <a:ext cx="2567714"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60" b="0">
                <a:solidFill>
                  <a:srgbClr val="00355F"/>
                </a:solidFill>
                <a:latin typeface="Arial"/>
                <a:ea typeface="Arial"/>
                <a:cs typeface="Arial"/>
              </a:defRPr>
            </a:defPPr>
          </a:lstStyle>
          <a:p xmlns:a="http://schemas.openxmlformats.org/drawingml/2006/main">
            <a:pPr algn="l">
              <a:lnSpc>
                <a:spcPct val="100000"/>
              </a:lnSpc>
              <a:buNone/>
              <a:defRPr sz="1260" b="0">
                <a:solidFill>
                  <a:srgbClr val="00355F"/>
                </a:solidFill>
                <a:latin typeface="Arial"/>
                <a:ea typeface="Arial"/>
                <a:cs typeface="Arial"/>
              </a:defRPr>
            </a:pPr>
            <a:r>
              <a:rPr sz="1260" b="0">
                <a:solidFill>
                  <a:srgbClr val="00355F"/>
                </a:solidFill>
                <a:latin typeface="Arial"/>
                <a:ea typeface="Arial"/>
                <a:cs typeface="Arial"/>
              </a:rPr>
              <a:t>Clinical success remains unproven</a:t>
            </a:r>
          </a:p>
        </p:txBody>
      </p:sp>
      <p:sp>
        <p:nvSpPr>
          <p:cNvPr id="19" name="Figure 12 label 16 line 3">
            <a:extLst xmlns:a="http://schemas.openxmlformats.org/drawingml/2006/main">
              <a:ext uri="{FF2B5EF4-FFF2-40B4-BE49-F238E27FC236}">
                <a16:creationId xmlns:a16="http://schemas.microsoft.com/office/drawing/2014/main" id="{DB8DE2FE-E15D-48F4-A59C-8E3D4C686F08}"/>
              </a:ext>
            </a:extLst>
          </p:cNvPr>
          <p:cNvSpPr>
            <a:spLocks xmlns:a="http://schemas.openxmlformats.org/drawingml/2006/main" noGrp="1"/>
          </p:cNvSpPr>
          <p:nvPr/>
        </p:nvSpPr>
        <p:spPr>
          <a:xfrm xmlns:a="http://schemas.openxmlformats.org/drawingml/2006/main" rot="0">
            <a:off x="755599" y="9636862"/>
            <a:ext cx="2567714"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60" b="0">
                <a:solidFill>
                  <a:srgbClr val="00355F"/>
                </a:solidFill>
                <a:latin typeface="Arial"/>
                <a:ea typeface="Arial"/>
                <a:cs typeface="Arial"/>
              </a:defRPr>
            </a:defPPr>
          </a:lstStyle>
          <a:p xmlns:a="http://schemas.openxmlformats.org/drawingml/2006/main">
            <a:pPr algn="l">
              <a:lnSpc>
                <a:spcPct val="100000"/>
              </a:lnSpc>
              <a:buNone/>
              <a:defRPr sz="1260" b="0">
                <a:solidFill>
                  <a:srgbClr val="00355F"/>
                </a:solidFill>
                <a:latin typeface="Arial"/>
                <a:ea typeface="Arial"/>
                <a:cs typeface="Arial"/>
              </a:defRPr>
            </a:pPr>
            <a:r>
              <a:rPr sz="1260" b="0">
                <a:solidFill>
                  <a:srgbClr val="00355F"/>
                </a:solidFill>
                <a:latin typeface="Arial"/>
                <a:ea typeface="Arial"/>
                <a:cs typeface="Arial"/>
              </a:rPr>
              <a:t>in this scenario.</a:t>
            </a:r>
          </a:p>
        </p:txBody>
      </p:sp>
      <p:sp>
        <p:nvSpPr>
          <p:cNvPr id="20" name="Figure 12 label 17 line 1">
            <a:extLst xmlns:a="http://schemas.openxmlformats.org/drawingml/2006/main">
              <a:ext uri="{FF2B5EF4-FFF2-40B4-BE49-F238E27FC236}">
                <a16:creationId xmlns:a16="http://schemas.microsoft.com/office/drawing/2014/main" id="{2109B3DF-D79D-4BC5-849A-4253095137D3}"/>
              </a:ext>
            </a:extLst>
          </p:cNvPr>
          <p:cNvSpPr>
            <a:spLocks xmlns:a="http://schemas.openxmlformats.org/drawingml/2006/main" noGrp="1"/>
          </p:cNvSpPr>
          <p:nvPr/>
        </p:nvSpPr>
        <p:spPr>
          <a:xfrm xmlns:a="http://schemas.openxmlformats.org/drawingml/2006/main" rot="0">
            <a:off x="6976568" y="1987906"/>
            <a:ext cx="603216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160" b="1">
                <a:solidFill>
                  <a:srgbClr val="00355F"/>
                </a:solidFill>
                <a:latin typeface="Arial"/>
                <a:ea typeface="Arial"/>
                <a:cs typeface="Arial"/>
              </a:defRPr>
            </a:defPPr>
          </a:lstStyle>
          <a:p xmlns:a="http://schemas.openxmlformats.org/drawingml/2006/main">
            <a:pPr algn="l">
              <a:lnSpc>
                <a:spcPct val="100000"/>
              </a:lnSpc>
              <a:buNone/>
              <a:defRPr sz="2160" b="1">
                <a:solidFill>
                  <a:srgbClr val="00355F"/>
                </a:solidFill>
                <a:latin typeface="Arial"/>
                <a:ea typeface="Arial"/>
                <a:cs typeface="Arial"/>
              </a:defRPr>
            </a:pPr>
            <a:r>
              <a:rPr sz="2160" b="1">
                <a:solidFill>
                  <a:srgbClr val="00355F"/>
                </a:solidFill>
                <a:latin typeface="Arial"/>
                <a:ea typeface="Arial"/>
                <a:cs typeface="Arial"/>
              </a:rPr>
              <a:t>The LST ecosystem behind the capacity gate</a:t>
            </a:r>
          </a:p>
        </p:txBody>
      </p:sp>
      <p:sp>
        <p:nvSpPr>
          <p:cNvPr id="21" name="Figure 12 label 18 line 1">
            <a:extLst xmlns:a="http://schemas.openxmlformats.org/drawingml/2006/main">
              <a:ext uri="{FF2B5EF4-FFF2-40B4-BE49-F238E27FC236}">
                <a16:creationId xmlns:a16="http://schemas.microsoft.com/office/drawing/2014/main" id="{53E07747-E700-4BE1-B0F3-DCF27BB81036}"/>
              </a:ext>
            </a:extLst>
          </p:cNvPr>
          <p:cNvSpPr>
            <a:spLocks xmlns:a="http://schemas.openxmlformats.org/drawingml/2006/main" noGrp="1"/>
          </p:cNvSpPr>
          <p:nvPr/>
        </p:nvSpPr>
        <p:spPr>
          <a:xfrm xmlns:a="http://schemas.openxmlformats.org/drawingml/2006/main" rot="0">
            <a:off x="6981445" y="2450592"/>
            <a:ext cx="5458807"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00" b="0">
                <a:solidFill>
                  <a:srgbClr val="00355F"/>
                </a:solidFill>
                <a:latin typeface="Arial"/>
                <a:ea typeface="Arial"/>
                <a:cs typeface="Arial"/>
              </a:defRPr>
            </a:defPPr>
          </a:lstStyle>
          <a:p xmlns:a="http://schemas.openxmlformats.org/drawingml/2006/main">
            <a:pPr algn="l">
              <a:lnSpc>
                <a:spcPct val="100000"/>
              </a:lnSpc>
              <a:buNone/>
              <a:defRPr sz="1200" b="0">
                <a:solidFill>
                  <a:srgbClr val="00355F"/>
                </a:solidFill>
                <a:latin typeface="Arial"/>
                <a:ea typeface="Arial"/>
                <a:cs typeface="Arial"/>
              </a:defRPr>
            </a:pPr>
            <a:r>
              <a:rPr sz="1200" b="0">
                <a:solidFill>
                  <a:srgbClr val="00355F"/>
                </a:solidFill>
                <a:latin typeface="Arial"/>
                <a:ea typeface="Arial"/>
                <a:cs typeface="Arial"/>
              </a:rPr>
              <a:t>Selected market anchors · different scopes and years · do not add these values</a:t>
            </a:r>
          </a:p>
        </p:txBody>
      </p:sp>
      <p:sp>
        <p:nvSpPr>
          <p:cNvPr id="22" name="Figure 12 label 19 line 1">
            <a:extLst xmlns:a="http://schemas.openxmlformats.org/drawingml/2006/main">
              <a:ext uri="{FF2B5EF4-FFF2-40B4-BE49-F238E27FC236}">
                <a16:creationId xmlns:a16="http://schemas.microsoft.com/office/drawing/2014/main" id="{D42B0DD3-512C-402E-9189-04B3C313CE16}"/>
              </a:ext>
            </a:extLst>
          </p:cNvPr>
          <p:cNvSpPr>
            <a:spLocks xmlns:a="http://schemas.openxmlformats.org/drawingml/2006/main" noGrp="1"/>
          </p:cNvSpPr>
          <p:nvPr/>
        </p:nvSpPr>
        <p:spPr>
          <a:xfrm xmlns:a="http://schemas.openxmlformats.org/drawingml/2006/main" rot="0">
            <a:off x="7543495" y="2934310"/>
            <a:ext cx="230851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60" b="1">
                <a:solidFill>
                  <a:srgbClr val="00355F"/>
                </a:solidFill>
                <a:latin typeface="Arial"/>
                <a:ea typeface="Arial"/>
                <a:cs typeface="Arial"/>
              </a:defRPr>
            </a:defPPr>
          </a:lstStyle>
          <a:p xmlns:a="http://schemas.openxmlformats.org/drawingml/2006/main">
            <a:pPr algn="l">
              <a:lnSpc>
                <a:spcPct val="100000"/>
              </a:lnSpc>
              <a:buNone/>
              <a:defRPr sz="1560" b="1">
                <a:solidFill>
                  <a:srgbClr val="00355F"/>
                </a:solidFill>
                <a:latin typeface="Arial"/>
                <a:ea typeface="Arial"/>
                <a:cs typeface="Arial"/>
              </a:defRPr>
            </a:pPr>
            <a:r>
              <a:rPr sz="1560" b="1">
                <a:solidFill>
                  <a:srgbClr val="00355F"/>
                </a:solidFill>
                <a:latin typeface="Arial"/>
                <a:ea typeface="Arial"/>
                <a:cs typeface="Arial"/>
              </a:rPr>
              <a:t>Molecular construction</a:t>
            </a:r>
          </a:p>
        </p:txBody>
      </p:sp>
      <p:sp>
        <p:nvSpPr>
          <p:cNvPr id="23" name="Figure 12 label 20 line 1">
            <a:extLst xmlns:a="http://schemas.openxmlformats.org/drawingml/2006/main">
              <a:ext uri="{FF2B5EF4-FFF2-40B4-BE49-F238E27FC236}">
                <a16:creationId xmlns:a16="http://schemas.microsoft.com/office/drawing/2014/main" id="{3595DF36-38BD-4717-AFB1-4FA3B7A897AA}"/>
              </a:ext>
            </a:extLst>
          </p:cNvPr>
          <p:cNvSpPr>
            <a:spLocks xmlns:a="http://schemas.openxmlformats.org/drawingml/2006/main" noGrp="1"/>
          </p:cNvSpPr>
          <p:nvPr/>
        </p:nvSpPr>
        <p:spPr>
          <a:xfrm xmlns:a="http://schemas.openxmlformats.org/drawingml/2006/main" rot="0">
            <a:off x="7133540" y="3323692"/>
            <a:ext cx="2336286"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60" b="0">
                <a:solidFill>
                  <a:srgbClr val="00355F"/>
                </a:solidFill>
                <a:latin typeface="Arial"/>
                <a:ea typeface="Arial"/>
                <a:cs typeface="Arial"/>
              </a:defRPr>
            </a:defPPr>
          </a:lstStyle>
          <a:p xmlns:a="http://schemas.openxmlformats.org/drawingml/2006/main">
            <a:pPr algn="l">
              <a:lnSpc>
                <a:spcPct val="100000"/>
              </a:lnSpc>
              <a:buNone/>
              <a:defRPr sz="1260" b="0">
                <a:solidFill>
                  <a:srgbClr val="00355F"/>
                </a:solidFill>
                <a:latin typeface="Arial"/>
                <a:ea typeface="Arial"/>
                <a:cs typeface="Arial"/>
              </a:defRPr>
            </a:pPr>
            <a:r>
              <a:rPr sz="1260" b="0">
                <a:solidFill>
                  <a:srgbClr val="00355F"/>
                </a:solidFill>
                <a:latin typeface="Arial"/>
                <a:ea typeface="Arial"/>
                <a:cs typeface="Arial"/>
              </a:rPr>
              <a:t>DNA / RNA synthesis, enzymes</a:t>
            </a:r>
          </a:p>
        </p:txBody>
      </p:sp>
      <p:sp>
        <p:nvSpPr>
          <p:cNvPr id="24" name="Figure 12 label 20 line 2">
            <a:extLst xmlns:a="http://schemas.openxmlformats.org/drawingml/2006/main">
              <a:ext uri="{FF2B5EF4-FFF2-40B4-BE49-F238E27FC236}">
                <a16:creationId xmlns:a16="http://schemas.microsoft.com/office/drawing/2014/main" id="{B291DA9A-7C5B-4526-9E17-6A77D148B1DE}"/>
              </a:ext>
            </a:extLst>
          </p:cNvPr>
          <p:cNvSpPr>
            <a:spLocks xmlns:a="http://schemas.openxmlformats.org/drawingml/2006/main" noGrp="1"/>
          </p:cNvSpPr>
          <p:nvPr/>
        </p:nvSpPr>
        <p:spPr>
          <a:xfrm xmlns:a="http://schemas.openxmlformats.org/drawingml/2006/main" rot="0">
            <a:off x="7133540" y="3523717"/>
            <a:ext cx="2336286"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60" b="0">
                <a:solidFill>
                  <a:srgbClr val="00355F"/>
                </a:solidFill>
                <a:latin typeface="Arial"/>
                <a:ea typeface="Arial"/>
                <a:cs typeface="Arial"/>
              </a:defRPr>
            </a:defPPr>
          </a:lstStyle>
          <a:p xmlns:a="http://schemas.openxmlformats.org/drawingml/2006/main">
            <a:pPr algn="l">
              <a:lnSpc>
                <a:spcPct val="100000"/>
              </a:lnSpc>
              <a:buNone/>
              <a:defRPr sz="1260" b="0">
                <a:solidFill>
                  <a:srgbClr val="00355F"/>
                </a:solidFill>
                <a:latin typeface="Arial"/>
                <a:ea typeface="Arial"/>
                <a:cs typeface="Arial"/>
              </a:defRPr>
            </a:pPr>
            <a:r>
              <a:rPr sz="1260" b="0">
                <a:solidFill>
                  <a:srgbClr val="00355F"/>
                </a:solidFill>
                <a:latin typeface="Arial"/>
                <a:ea typeface="Arial"/>
                <a:cs typeface="Arial"/>
              </a:rPr>
              <a:t>Chemical building blocks</a:t>
            </a:r>
          </a:p>
        </p:txBody>
      </p:sp>
      <p:sp>
        <p:nvSpPr>
          <p:cNvPr id="25" name="Figure 12 label 21 line 1">
            <a:extLst xmlns:a="http://schemas.openxmlformats.org/drawingml/2006/main">
              <a:ext uri="{FF2B5EF4-FFF2-40B4-BE49-F238E27FC236}">
                <a16:creationId xmlns:a16="http://schemas.microsoft.com/office/drawing/2014/main" id="{D0121D04-541C-47A6-AEAA-5CC2169D98D0}"/>
              </a:ext>
            </a:extLst>
          </p:cNvPr>
          <p:cNvSpPr>
            <a:spLocks xmlns:a="http://schemas.openxmlformats.org/drawingml/2006/main" noGrp="1"/>
          </p:cNvSpPr>
          <p:nvPr/>
        </p:nvSpPr>
        <p:spPr>
          <a:xfrm xmlns:a="http://schemas.openxmlformats.org/drawingml/2006/main" rot="0">
            <a:off x="7128663" y="3752545"/>
            <a:ext cx="1796856"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220" b="1">
                <a:solidFill>
                  <a:srgbClr val="00355F"/>
                </a:solidFill>
                <a:latin typeface="Arial"/>
                <a:ea typeface="Arial"/>
                <a:cs typeface="Arial"/>
              </a:defRPr>
            </a:defPPr>
          </a:lstStyle>
          <a:p xmlns:a="http://schemas.openxmlformats.org/drawingml/2006/main">
            <a:pPr algn="l">
              <a:lnSpc>
                <a:spcPct val="100000"/>
              </a:lnSpc>
              <a:buNone/>
              <a:defRPr sz="2220" b="1">
                <a:solidFill>
                  <a:srgbClr val="00355F"/>
                </a:solidFill>
                <a:latin typeface="Arial"/>
                <a:ea typeface="Arial"/>
                <a:cs typeface="Arial"/>
              </a:defRPr>
            </a:pPr>
            <a:r>
              <a:rPr sz="2220" b="1">
                <a:solidFill>
                  <a:srgbClr val="00355F"/>
                </a:solidFill>
                <a:latin typeface="Arial"/>
                <a:ea typeface="Arial"/>
                <a:cs typeface="Arial"/>
              </a:rPr>
              <a:t>RMB 1.33bn</a:t>
            </a:r>
          </a:p>
        </p:txBody>
      </p:sp>
      <p:sp>
        <p:nvSpPr>
          <p:cNvPr id="26" name="Figure 12 label 22 line 1">
            <a:extLst xmlns:a="http://schemas.openxmlformats.org/drawingml/2006/main">
              <a:ext uri="{FF2B5EF4-FFF2-40B4-BE49-F238E27FC236}">
                <a16:creationId xmlns:a16="http://schemas.microsoft.com/office/drawing/2014/main" id="{AAB983AC-C840-4CF9-AA3A-36812DC04F93}"/>
              </a:ext>
            </a:extLst>
          </p:cNvPr>
          <p:cNvSpPr>
            <a:spLocks xmlns:a="http://schemas.openxmlformats.org/drawingml/2006/main" noGrp="1"/>
          </p:cNvSpPr>
          <p:nvPr/>
        </p:nvSpPr>
        <p:spPr>
          <a:xfrm xmlns:a="http://schemas.openxmlformats.org/drawingml/2006/main" rot="0">
            <a:off x="7134607" y="4195953"/>
            <a:ext cx="2551867" cy="1666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50" b="0">
                <a:solidFill>
                  <a:srgbClr val="00355F"/>
                </a:solidFill>
                <a:latin typeface="Arial"/>
                <a:ea typeface="Arial"/>
                <a:cs typeface="Arial"/>
              </a:defRPr>
            </a:defPPr>
          </a:lstStyle>
          <a:p xmlns:a="http://schemas.openxmlformats.org/drawingml/2006/main">
            <a:pPr algn="l">
              <a:lnSpc>
                <a:spcPct val="100000"/>
              </a:lnSpc>
              <a:buNone/>
              <a:defRPr sz="1050" b="0">
                <a:solidFill>
                  <a:srgbClr val="00355F"/>
                </a:solidFill>
                <a:latin typeface="Arial"/>
                <a:ea typeface="Arial"/>
                <a:cs typeface="Arial"/>
              </a:defRPr>
            </a:pPr>
            <a:r>
              <a:rPr sz="1050" b="0">
                <a:solidFill>
                  <a:srgbClr val="00355F"/>
                </a:solidFill>
                <a:latin typeface="Arial"/>
                <a:ea typeface="Arial"/>
                <a:cs typeface="Arial"/>
              </a:rPr>
              <a:t>China • 2025 • DNA synthesis services [1]</a:t>
            </a:r>
          </a:p>
        </p:txBody>
      </p:sp>
      <p:sp>
        <p:nvSpPr>
          <p:cNvPr id="27" name="Figure 12 label 23 line 1">
            <a:extLst xmlns:a="http://schemas.openxmlformats.org/drawingml/2006/main">
              <a:ext uri="{FF2B5EF4-FFF2-40B4-BE49-F238E27FC236}">
                <a16:creationId xmlns:a16="http://schemas.microsoft.com/office/drawing/2014/main" id="{C08790A1-A42B-43D0-A6B7-395BB3185718}"/>
              </a:ext>
            </a:extLst>
          </p:cNvPr>
          <p:cNvSpPr>
            <a:spLocks xmlns:a="http://schemas.openxmlformats.org/drawingml/2006/main" noGrp="1"/>
          </p:cNvSpPr>
          <p:nvPr/>
        </p:nvSpPr>
        <p:spPr>
          <a:xfrm xmlns:a="http://schemas.openxmlformats.org/drawingml/2006/main" rot="0">
            <a:off x="7134911" y="4420133"/>
            <a:ext cx="1678650" cy="1571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90" b="0">
                <a:solidFill>
                  <a:srgbClr val="00355F"/>
                </a:solidFill>
                <a:latin typeface="Arial"/>
                <a:ea typeface="Arial"/>
                <a:cs typeface="Arial"/>
              </a:defRPr>
            </a:defPPr>
          </a:lstStyle>
          <a:p xmlns:a="http://schemas.openxmlformats.org/drawingml/2006/main">
            <a:pPr algn="l">
              <a:lnSpc>
                <a:spcPct val="100000"/>
              </a:lnSpc>
              <a:buNone/>
              <a:defRPr sz="990" b="0">
                <a:solidFill>
                  <a:srgbClr val="00355F"/>
                </a:solidFill>
                <a:latin typeface="Arial"/>
                <a:ea typeface="Arial"/>
                <a:cs typeface="Arial"/>
              </a:defRPr>
            </a:pPr>
            <a:r>
              <a:rPr sz="990" b="0">
                <a:solidFill>
                  <a:srgbClr val="00355F"/>
                </a:solidFill>
                <a:latin typeface="Arial"/>
                <a:ea typeface="Arial"/>
                <a:cs typeface="Arial"/>
              </a:rPr>
              <a:t>Oligos + long fragments only</a:t>
            </a:r>
          </a:p>
        </p:txBody>
      </p:sp>
      <p:sp>
        <p:nvSpPr>
          <p:cNvPr id="28" name="Figure 12 label 24 line 1">
            <a:extLst xmlns:a="http://schemas.openxmlformats.org/drawingml/2006/main">
              <a:ext uri="{FF2B5EF4-FFF2-40B4-BE49-F238E27FC236}">
                <a16:creationId xmlns:a16="http://schemas.microsoft.com/office/drawing/2014/main" id="{21860AC4-F2F5-443A-80D7-27F203254F4D}"/>
              </a:ext>
            </a:extLst>
          </p:cNvPr>
          <p:cNvSpPr>
            <a:spLocks xmlns:a="http://schemas.openxmlformats.org/drawingml/2006/main" noGrp="1"/>
          </p:cNvSpPr>
          <p:nvPr/>
        </p:nvSpPr>
        <p:spPr>
          <a:xfrm xmlns:a="http://schemas.openxmlformats.org/drawingml/2006/main" rot="0">
            <a:off x="7135521" y="5066614"/>
            <a:ext cx="1209610" cy="1381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870" b="1">
                <a:solidFill>
                  <a:srgbClr val="00355F"/>
                </a:solidFill>
                <a:latin typeface="Arial"/>
                <a:ea typeface="Arial"/>
                <a:cs typeface="Arial"/>
              </a:defRPr>
            </a:defPPr>
          </a:lstStyle>
          <a:p xmlns:a="http://schemas.openxmlformats.org/drawingml/2006/main">
            <a:pPr algn="l">
              <a:lnSpc>
                <a:spcPct val="100000"/>
              </a:lnSpc>
              <a:buNone/>
              <a:defRPr sz="870" b="1">
                <a:solidFill>
                  <a:srgbClr val="00355F"/>
                </a:solidFill>
                <a:latin typeface="Arial"/>
                <a:ea typeface="Arial"/>
                <a:cs typeface="Arial"/>
              </a:defRPr>
            </a:pPr>
            <a:r>
              <a:rPr sz="870" b="1">
                <a:solidFill>
                  <a:srgbClr val="00355F"/>
                </a:solidFill>
                <a:latin typeface="Arial"/>
                <a:ea typeface="Arial"/>
                <a:cs typeface="Arial"/>
              </a:rPr>
              <a:t>CHINA / HK LISTINGS</a:t>
            </a:r>
          </a:p>
        </p:txBody>
      </p:sp>
      <p:sp>
        <p:nvSpPr>
          <p:cNvPr id="29" name="Figure 12 label 25 line 1">
            <a:extLst xmlns:a="http://schemas.openxmlformats.org/drawingml/2006/main">
              <a:ext uri="{FF2B5EF4-FFF2-40B4-BE49-F238E27FC236}">
                <a16:creationId xmlns:a16="http://schemas.microsoft.com/office/drawing/2014/main" id="{4FCEFB29-9BAC-4627-B2BF-CBFCC534E6C6}"/>
              </a:ext>
            </a:extLst>
          </p:cNvPr>
          <p:cNvSpPr>
            <a:spLocks xmlns:a="http://schemas.openxmlformats.org/drawingml/2006/main" noGrp="1"/>
          </p:cNvSpPr>
          <p:nvPr/>
        </p:nvSpPr>
        <p:spPr>
          <a:xfrm xmlns:a="http://schemas.openxmlformats.org/drawingml/2006/main" rot="0">
            <a:off x="8773973" y="5068215"/>
            <a:ext cx="1329916"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840" b="1">
                <a:solidFill>
                  <a:srgbClr val="00355F"/>
                </a:solidFill>
                <a:latin typeface="Arial"/>
                <a:ea typeface="Arial"/>
                <a:cs typeface="Arial"/>
              </a:defRPr>
            </a:defPPr>
          </a:lstStyle>
          <a:p xmlns:a="http://schemas.openxmlformats.org/drawingml/2006/main">
            <a:pPr algn="l">
              <a:lnSpc>
                <a:spcPct val="100000"/>
              </a:lnSpc>
              <a:buNone/>
              <a:defRPr sz="840" b="1">
                <a:solidFill>
                  <a:srgbClr val="00355F"/>
                </a:solidFill>
                <a:latin typeface="Arial"/>
                <a:ea typeface="Arial"/>
                <a:cs typeface="Arial"/>
              </a:defRPr>
            </a:pPr>
            <a:r>
              <a:rPr sz="840" b="1">
                <a:solidFill>
                  <a:srgbClr val="00355F"/>
                </a:solidFill>
                <a:latin typeface="Arial"/>
                <a:ea typeface="Arial"/>
                <a:cs typeface="Arial"/>
              </a:rPr>
              <a:t>US LISTINGS / PARENTS</a:t>
            </a:r>
          </a:p>
        </p:txBody>
      </p:sp>
      <p:sp>
        <p:nvSpPr>
          <p:cNvPr id="30" name="Figure 12 label 26 line 1">
            <a:extLst xmlns:a="http://schemas.openxmlformats.org/drawingml/2006/main">
              <a:ext uri="{FF2B5EF4-FFF2-40B4-BE49-F238E27FC236}">
                <a16:creationId xmlns:a16="http://schemas.microsoft.com/office/drawing/2014/main" id="{E2BF0748-C356-4308-89B4-92B1845D16A2}"/>
              </a:ext>
            </a:extLst>
          </p:cNvPr>
          <p:cNvSpPr>
            <a:spLocks xmlns:a="http://schemas.openxmlformats.org/drawingml/2006/main" noGrp="1"/>
          </p:cNvSpPr>
          <p:nvPr/>
        </p:nvSpPr>
        <p:spPr>
          <a:xfrm xmlns:a="http://schemas.openxmlformats.org/drawingml/2006/main" rot="0">
            <a:off x="7134759" y="5279594"/>
            <a:ext cx="1473958"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20" b="0">
                <a:solidFill>
                  <a:srgbClr val="00355F"/>
                </a:solidFill>
                <a:latin typeface="Arial"/>
                <a:ea typeface="Arial"/>
                <a:cs typeface="Arial"/>
              </a:defRPr>
            </a:defPPr>
          </a:lstStyle>
          <a:p xmlns:a="http://schemas.openxmlformats.org/drawingml/2006/main">
            <a:pPr algn="l">
              <a:lnSpc>
                <a:spcPct val="100000"/>
              </a:lnSpc>
              <a:buNone/>
              <a:defRPr sz="1020" b="0">
                <a:solidFill>
                  <a:srgbClr val="00355F"/>
                </a:solidFill>
                <a:latin typeface="Arial"/>
                <a:ea typeface="Arial"/>
                <a:cs typeface="Arial"/>
              </a:defRPr>
            </a:pPr>
            <a:r>
              <a:rPr sz="1020" b="0">
                <a:solidFill>
                  <a:srgbClr val="00355F"/>
                </a:solidFill>
                <a:latin typeface="Arial"/>
                <a:ea typeface="Arial"/>
                <a:cs typeface="Arial"/>
              </a:rPr>
              <a:t>GenScript · 1548.HK</a:t>
            </a:r>
          </a:p>
        </p:txBody>
      </p:sp>
      <p:sp>
        <p:nvSpPr>
          <p:cNvPr id="31" name="Figure 12 label 26 line 2">
            <a:extLst xmlns:a="http://schemas.openxmlformats.org/drawingml/2006/main">
              <a:ext uri="{FF2B5EF4-FFF2-40B4-BE49-F238E27FC236}">
                <a16:creationId xmlns:a16="http://schemas.microsoft.com/office/drawing/2014/main" id="{1A43CF86-B763-4150-B9CC-A0AA5C7FE649}"/>
              </a:ext>
            </a:extLst>
          </p:cNvPr>
          <p:cNvSpPr>
            <a:spLocks xmlns:a="http://schemas.openxmlformats.org/drawingml/2006/main" noGrp="1"/>
          </p:cNvSpPr>
          <p:nvPr/>
        </p:nvSpPr>
        <p:spPr>
          <a:xfrm xmlns:a="http://schemas.openxmlformats.org/drawingml/2006/main" rot="0">
            <a:off x="7134759" y="5441519"/>
            <a:ext cx="1473958"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20" b="0">
                <a:solidFill>
                  <a:srgbClr val="00355F"/>
                </a:solidFill>
                <a:latin typeface="Arial"/>
                <a:ea typeface="Arial"/>
                <a:cs typeface="Arial"/>
              </a:defRPr>
            </a:defPPr>
          </a:lstStyle>
          <a:p xmlns:a="http://schemas.openxmlformats.org/drawingml/2006/main">
            <a:pPr algn="l">
              <a:lnSpc>
                <a:spcPct val="100000"/>
              </a:lnSpc>
              <a:buNone/>
              <a:defRPr sz="1020" b="0">
                <a:solidFill>
                  <a:srgbClr val="00355F"/>
                </a:solidFill>
                <a:latin typeface="Arial"/>
                <a:ea typeface="Arial"/>
                <a:cs typeface="Arial"/>
              </a:defRPr>
            </a:pPr>
            <a:r>
              <a:rPr sz="1020" b="0">
                <a:solidFill>
                  <a:srgbClr val="00355F"/>
                </a:solidFill>
                <a:latin typeface="Arial"/>
                <a:ea typeface="Arial"/>
                <a:cs typeface="Arial"/>
              </a:rPr>
              <a:t>Vazyme · 688105.SH</a:t>
            </a:r>
          </a:p>
        </p:txBody>
      </p:sp>
      <p:sp>
        <p:nvSpPr>
          <p:cNvPr id="32" name="Figure 12 label 26 line 3">
            <a:extLst xmlns:a="http://schemas.openxmlformats.org/drawingml/2006/main">
              <a:ext uri="{FF2B5EF4-FFF2-40B4-BE49-F238E27FC236}">
                <a16:creationId xmlns:a16="http://schemas.microsoft.com/office/drawing/2014/main" id="{F6397A29-BDF6-4A59-80CF-0EEF6363B4E4}"/>
              </a:ext>
            </a:extLst>
          </p:cNvPr>
          <p:cNvSpPr>
            <a:spLocks xmlns:a="http://schemas.openxmlformats.org/drawingml/2006/main" noGrp="1"/>
          </p:cNvSpPr>
          <p:nvPr/>
        </p:nvSpPr>
        <p:spPr>
          <a:xfrm xmlns:a="http://schemas.openxmlformats.org/drawingml/2006/main" rot="0">
            <a:off x="7134759" y="5603444"/>
            <a:ext cx="1473958"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20" b="0">
                <a:solidFill>
                  <a:srgbClr val="00355F"/>
                </a:solidFill>
                <a:latin typeface="Arial"/>
                <a:ea typeface="Arial"/>
                <a:cs typeface="Arial"/>
              </a:defRPr>
            </a:defPPr>
          </a:lstStyle>
          <a:p xmlns:a="http://schemas.openxmlformats.org/drawingml/2006/main">
            <a:pPr algn="l">
              <a:lnSpc>
                <a:spcPct val="100000"/>
              </a:lnSpc>
              <a:buNone/>
              <a:defRPr sz="1020" b="0">
                <a:solidFill>
                  <a:srgbClr val="00355F"/>
                </a:solidFill>
                <a:latin typeface="Arial"/>
                <a:ea typeface="Arial"/>
                <a:cs typeface="Arial"/>
              </a:defRPr>
            </a:pPr>
            <a:r>
              <a:rPr sz="1020" b="0">
                <a:solidFill>
                  <a:srgbClr val="00355F"/>
                </a:solidFill>
                <a:latin typeface="Arial"/>
                <a:ea typeface="Arial"/>
                <a:cs typeface="Arial"/>
              </a:rPr>
              <a:t>Tsingke · NEEQ:874813</a:t>
            </a:r>
          </a:p>
        </p:txBody>
      </p:sp>
      <p:sp>
        <p:nvSpPr>
          <p:cNvPr id="33" name="Figure 12 label 27 line 1">
            <a:extLst xmlns:a="http://schemas.openxmlformats.org/drawingml/2006/main">
              <a:ext uri="{FF2B5EF4-FFF2-40B4-BE49-F238E27FC236}">
                <a16:creationId xmlns:a16="http://schemas.microsoft.com/office/drawing/2014/main" id="{A87DB144-6300-42C9-9FFA-66DC3267CCED}"/>
              </a:ext>
            </a:extLst>
          </p:cNvPr>
          <p:cNvSpPr>
            <a:spLocks xmlns:a="http://schemas.openxmlformats.org/drawingml/2006/main" noGrp="1"/>
          </p:cNvSpPr>
          <p:nvPr/>
        </p:nvSpPr>
        <p:spPr>
          <a:xfrm xmlns:a="http://schemas.openxmlformats.org/drawingml/2006/main" rot="0">
            <a:off x="8773302" y="5282154"/>
            <a:ext cx="1264613" cy="1543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72" b="0">
                <a:solidFill>
                  <a:srgbClr val="00355F"/>
                </a:solidFill>
                <a:latin typeface="Arial"/>
                <a:ea typeface="Arial"/>
                <a:cs typeface="Arial"/>
              </a:defRPr>
            </a:defPPr>
          </a:lstStyle>
          <a:p xmlns:a="http://schemas.openxmlformats.org/drawingml/2006/main">
            <a:pPr algn="l">
              <a:lnSpc>
                <a:spcPct val="100000"/>
              </a:lnSpc>
              <a:buNone/>
              <a:defRPr sz="972" b="0">
                <a:solidFill>
                  <a:srgbClr val="00355F"/>
                </a:solidFill>
                <a:latin typeface="Arial"/>
                <a:ea typeface="Arial"/>
                <a:cs typeface="Arial"/>
              </a:defRPr>
            </a:pPr>
            <a:r>
              <a:rPr sz="972" b="0">
                <a:solidFill>
                  <a:srgbClr val="00355F"/>
                </a:solidFill>
                <a:latin typeface="Arial"/>
                <a:ea typeface="Arial"/>
                <a:cs typeface="Arial"/>
              </a:rPr>
              <a:t>Twist · TWST</a:t>
            </a:r>
          </a:p>
        </p:txBody>
      </p:sp>
      <p:sp>
        <p:nvSpPr>
          <p:cNvPr id="34" name="Figure 12 label 27 line 2">
            <a:extLst xmlns:a="http://schemas.openxmlformats.org/drawingml/2006/main">
              <a:ext uri="{FF2B5EF4-FFF2-40B4-BE49-F238E27FC236}">
                <a16:creationId xmlns:a16="http://schemas.microsoft.com/office/drawing/2014/main" id="{D0B71063-0E7D-4ADC-9D5C-EAB9CE038F6F}"/>
              </a:ext>
            </a:extLst>
          </p:cNvPr>
          <p:cNvSpPr>
            <a:spLocks xmlns:a="http://schemas.openxmlformats.org/drawingml/2006/main" noGrp="1"/>
          </p:cNvSpPr>
          <p:nvPr/>
        </p:nvSpPr>
        <p:spPr>
          <a:xfrm xmlns:a="http://schemas.openxmlformats.org/drawingml/2006/main" rot="0">
            <a:off x="8773302" y="5436459"/>
            <a:ext cx="1264613" cy="1543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72" b="0">
                <a:solidFill>
                  <a:srgbClr val="00355F"/>
                </a:solidFill>
                <a:latin typeface="Arial"/>
                <a:ea typeface="Arial"/>
                <a:cs typeface="Arial"/>
              </a:defRPr>
            </a:defPPr>
          </a:lstStyle>
          <a:p xmlns:a="http://schemas.openxmlformats.org/drawingml/2006/main">
            <a:pPr algn="l">
              <a:lnSpc>
                <a:spcPct val="100000"/>
              </a:lnSpc>
              <a:buNone/>
              <a:defRPr sz="972" b="0">
                <a:solidFill>
                  <a:srgbClr val="00355F"/>
                </a:solidFill>
                <a:latin typeface="Arial"/>
                <a:ea typeface="Arial"/>
                <a:cs typeface="Arial"/>
              </a:defRPr>
            </a:pPr>
            <a:r>
              <a:rPr sz="972" b="0">
                <a:solidFill>
                  <a:srgbClr val="00355F"/>
                </a:solidFill>
                <a:latin typeface="Arial"/>
                <a:ea typeface="Arial"/>
                <a:cs typeface="Arial"/>
              </a:rPr>
              <a:t>Thermo Fisher · TMO</a:t>
            </a:r>
          </a:p>
        </p:txBody>
      </p:sp>
      <p:sp>
        <p:nvSpPr>
          <p:cNvPr id="35" name="Figure 12 label 28 line 1">
            <a:extLst xmlns:a="http://schemas.openxmlformats.org/drawingml/2006/main">
              <a:ext uri="{FF2B5EF4-FFF2-40B4-BE49-F238E27FC236}">
                <a16:creationId xmlns:a16="http://schemas.microsoft.com/office/drawing/2014/main" id="{C3838712-7C6A-4463-B682-BFE87CE4A4AF}"/>
              </a:ext>
            </a:extLst>
          </p:cNvPr>
          <p:cNvSpPr>
            <a:spLocks xmlns:a="http://schemas.openxmlformats.org/drawingml/2006/main" noGrp="1"/>
          </p:cNvSpPr>
          <p:nvPr/>
        </p:nvSpPr>
        <p:spPr>
          <a:xfrm xmlns:a="http://schemas.openxmlformats.org/drawingml/2006/main" rot="0">
            <a:off x="11071556" y="2934310"/>
            <a:ext cx="2727168"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60" b="1">
                <a:solidFill>
                  <a:srgbClr val="00355F"/>
                </a:solidFill>
                <a:latin typeface="Arial"/>
                <a:ea typeface="Arial"/>
                <a:cs typeface="Arial"/>
              </a:defRPr>
            </a:defPPr>
          </a:lstStyle>
          <a:p xmlns:a="http://schemas.openxmlformats.org/drawingml/2006/main">
            <a:pPr algn="l">
              <a:lnSpc>
                <a:spcPct val="100000"/>
              </a:lnSpc>
              <a:buNone/>
              <a:defRPr sz="1560" b="1">
                <a:solidFill>
                  <a:srgbClr val="00355F"/>
                </a:solidFill>
                <a:latin typeface="Arial"/>
                <a:ea typeface="Arial"/>
                <a:cs typeface="Arial"/>
              </a:defRPr>
            </a:pPr>
            <a:r>
              <a:rPr sz="1560" b="1">
                <a:solidFill>
                  <a:srgbClr val="00355F"/>
                </a:solidFill>
                <a:latin typeface="Arial"/>
                <a:ea typeface="Arial"/>
                <a:cs typeface="Arial"/>
              </a:rPr>
              <a:t>Protein &amp; functional assays</a:t>
            </a:r>
          </a:p>
        </p:txBody>
      </p:sp>
      <p:sp>
        <p:nvSpPr>
          <p:cNvPr id="36" name="Figure 12 label 29 line 1">
            <a:extLst xmlns:a="http://schemas.openxmlformats.org/drawingml/2006/main">
              <a:ext uri="{FF2B5EF4-FFF2-40B4-BE49-F238E27FC236}">
                <a16:creationId xmlns:a16="http://schemas.microsoft.com/office/drawing/2014/main" id="{2B13548D-DB7C-401B-AEB3-A653A987425A}"/>
              </a:ext>
            </a:extLst>
          </p:cNvPr>
          <p:cNvSpPr>
            <a:spLocks xmlns:a="http://schemas.openxmlformats.org/drawingml/2006/main" noGrp="1"/>
          </p:cNvSpPr>
          <p:nvPr/>
        </p:nvSpPr>
        <p:spPr>
          <a:xfrm xmlns:a="http://schemas.openxmlformats.org/drawingml/2006/main" rot="0">
            <a:off x="10661599" y="3323692"/>
            <a:ext cx="2479161"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60" b="0">
                <a:solidFill>
                  <a:srgbClr val="00355F"/>
                </a:solidFill>
                <a:latin typeface="Arial"/>
                <a:ea typeface="Arial"/>
                <a:cs typeface="Arial"/>
              </a:defRPr>
            </a:defPPr>
          </a:lstStyle>
          <a:p xmlns:a="http://schemas.openxmlformats.org/drawingml/2006/main">
            <a:pPr algn="l">
              <a:lnSpc>
                <a:spcPct val="100000"/>
              </a:lnSpc>
              <a:buNone/>
              <a:defRPr sz="1260" b="0">
                <a:solidFill>
                  <a:srgbClr val="00355F"/>
                </a:solidFill>
                <a:latin typeface="Arial"/>
                <a:ea typeface="Arial"/>
                <a:cs typeface="Arial"/>
              </a:defRPr>
            </a:pPr>
            <a:r>
              <a:rPr sz="1260" b="0">
                <a:solidFill>
                  <a:srgbClr val="00355F"/>
                </a:solidFill>
                <a:latin typeface="Arial"/>
                <a:ea typeface="Arial"/>
                <a:cs typeface="Arial"/>
              </a:rPr>
              <a:t>Recombinant proteins, antibodies</a:t>
            </a:r>
          </a:p>
        </p:txBody>
      </p:sp>
      <p:sp>
        <p:nvSpPr>
          <p:cNvPr id="37" name="Figure 12 label 29 line 2">
            <a:extLst xmlns:a="http://schemas.openxmlformats.org/drawingml/2006/main">
              <a:ext uri="{FF2B5EF4-FFF2-40B4-BE49-F238E27FC236}">
                <a16:creationId xmlns:a16="http://schemas.microsoft.com/office/drawing/2014/main" id="{6C165672-D351-4A7A-9B8F-099951C45B81}"/>
              </a:ext>
            </a:extLst>
          </p:cNvPr>
          <p:cNvSpPr>
            <a:spLocks xmlns:a="http://schemas.openxmlformats.org/drawingml/2006/main" noGrp="1"/>
          </p:cNvSpPr>
          <p:nvPr/>
        </p:nvSpPr>
        <p:spPr>
          <a:xfrm xmlns:a="http://schemas.openxmlformats.org/drawingml/2006/main" rot="0">
            <a:off x="10661599" y="3523717"/>
            <a:ext cx="2479161"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60" b="0">
                <a:solidFill>
                  <a:srgbClr val="00355F"/>
                </a:solidFill>
                <a:latin typeface="Arial"/>
                <a:ea typeface="Arial"/>
                <a:cs typeface="Arial"/>
              </a:defRPr>
            </a:defPPr>
          </a:lstStyle>
          <a:p xmlns:a="http://schemas.openxmlformats.org/drawingml/2006/main">
            <a:pPr algn="l">
              <a:lnSpc>
                <a:spcPct val="100000"/>
              </a:lnSpc>
              <a:buNone/>
              <a:defRPr sz="1260" b="0">
                <a:solidFill>
                  <a:srgbClr val="00355F"/>
                </a:solidFill>
                <a:latin typeface="Arial"/>
                <a:ea typeface="Arial"/>
                <a:cs typeface="Arial"/>
              </a:defRPr>
            </a:pPr>
            <a:r>
              <a:rPr sz="1260" b="0">
                <a:solidFill>
                  <a:srgbClr val="00355F"/>
                </a:solidFill>
                <a:latin typeface="Arial"/>
                <a:ea typeface="Arial"/>
                <a:cs typeface="Arial"/>
              </a:rPr>
              <a:t>Binding and activity assays</a:t>
            </a:r>
          </a:p>
        </p:txBody>
      </p:sp>
      <p:sp>
        <p:nvSpPr>
          <p:cNvPr id="38" name="Figure 12 label 30 line 1">
            <a:extLst xmlns:a="http://schemas.openxmlformats.org/drawingml/2006/main">
              <a:ext uri="{FF2B5EF4-FFF2-40B4-BE49-F238E27FC236}">
                <a16:creationId xmlns:a16="http://schemas.microsoft.com/office/drawing/2014/main" id="{8EA9AB8F-4421-4947-B7C5-571356D0FB6C}"/>
              </a:ext>
            </a:extLst>
          </p:cNvPr>
          <p:cNvSpPr>
            <a:spLocks xmlns:a="http://schemas.openxmlformats.org/drawingml/2006/main" noGrp="1"/>
          </p:cNvSpPr>
          <p:nvPr/>
        </p:nvSpPr>
        <p:spPr>
          <a:xfrm xmlns:a="http://schemas.openxmlformats.org/drawingml/2006/main" rot="0">
            <a:off x="10656723" y="3752545"/>
            <a:ext cx="1468243"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220" b="1">
                <a:solidFill>
                  <a:srgbClr val="00355F"/>
                </a:solidFill>
                <a:latin typeface="Arial"/>
                <a:ea typeface="Arial"/>
                <a:cs typeface="Arial"/>
              </a:defRPr>
            </a:defPPr>
          </a:lstStyle>
          <a:p xmlns:a="http://schemas.openxmlformats.org/drawingml/2006/main">
            <a:pPr algn="l">
              <a:lnSpc>
                <a:spcPct val="100000"/>
              </a:lnSpc>
              <a:buNone/>
              <a:defRPr sz="2220" b="1">
                <a:solidFill>
                  <a:srgbClr val="00355F"/>
                </a:solidFill>
                <a:latin typeface="Arial"/>
                <a:ea typeface="Arial"/>
                <a:cs typeface="Arial"/>
              </a:defRPr>
            </a:pPr>
            <a:r>
              <a:rPr sz="2220" b="1">
                <a:solidFill>
                  <a:srgbClr val="00355F"/>
                </a:solidFill>
                <a:latin typeface="Arial"/>
                <a:ea typeface="Arial"/>
                <a:cs typeface="Arial"/>
              </a:rPr>
              <a:t>US$3.5bn</a:t>
            </a:r>
          </a:p>
        </p:txBody>
      </p:sp>
      <p:sp>
        <p:nvSpPr>
          <p:cNvPr id="39" name="Figure 12 label 31 line 1">
            <a:extLst xmlns:a="http://schemas.openxmlformats.org/drawingml/2006/main">
              <a:ext uri="{FF2B5EF4-FFF2-40B4-BE49-F238E27FC236}">
                <a16:creationId xmlns:a16="http://schemas.microsoft.com/office/drawing/2014/main" id="{923F1A07-1FC5-43B1-96D6-73726958B367}"/>
              </a:ext>
            </a:extLst>
          </p:cNvPr>
          <p:cNvSpPr>
            <a:spLocks xmlns:a="http://schemas.openxmlformats.org/drawingml/2006/main" noGrp="1"/>
          </p:cNvSpPr>
          <p:nvPr/>
        </p:nvSpPr>
        <p:spPr>
          <a:xfrm xmlns:a="http://schemas.openxmlformats.org/drawingml/2006/main" rot="0">
            <a:off x="10662666" y="4195953"/>
            <a:ext cx="2226082" cy="1666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50" b="0">
                <a:solidFill>
                  <a:srgbClr val="00355F"/>
                </a:solidFill>
                <a:latin typeface="Arial"/>
                <a:ea typeface="Arial"/>
                <a:cs typeface="Arial"/>
              </a:defRPr>
            </a:defPPr>
          </a:lstStyle>
          <a:p xmlns:a="http://schemas.openxmlformats.org/drawingml/2006/main">
            <a:pPr algn="l">
              <a:lnSpc>
                <a:spcPct val="100000"/>
              </a:lnSpc>
              <a:buNone/>
              <a:defRPr sz="1050" b="0">
                <a:solidFill>
                  <a:srgbClr val="00355F"/>
                </a:solidFill>
                <a:latin typeface="Arial"/>
                <a:ea typeface="Arial"/>
                <a:cs typeface="Arial"/>
              </a:defRPr>
            </a:pPr>
            <a:r>
              <a:rPr sz="1050" b="0">
                <a:solidFill>
                  <a:srgbClr val="00355F"/>
                </a:solidFill>
                <a:latin typeface="Arial"/>
                <a:ea typeface="Arial"/>
                <a:cs typeface="Arial"/>
              </a:rPr>
              <a:t>Global • 2025 • research proteins [2]</a:t>
            </a:r>
          </a:p>
        </p:txBody>
      </p:sp>
      <p:sp>
        <p:nvSpPr>
          <p:cNvPr id="40" name="Figure 12 label 32 line 1">
            <a:extLst xmlns:a="http://schemas.openxmlformats.org/drawingml/2006/main">
              <a:ext uri="{FF2B5EF4-FFF2-40B4-BE49-F238E27FC236}">
                <a16:creationId xmlns:a16="http://schemas.microsoft.com/office/drawing/2014/main" id="{738BDA36-D701-42A4-A63C-1F1E3A18F1D0}"/>
              </a:ext>
            </a:extLst>
          </p:cNvPr>
          <p:cNvSpPr>
            <a:spLocks xmlns:a="http://schemas.openxmlformats.org/drawingml/2006/main" noGrp="1"/>
          </p:cNvSpPr>
          <p:nvPr/>
        </p:nvSpPr>
        <p:spPr>
          <a:xfrm xmlns:a="http://schemas.openxmlformats.org/drawingml/2006/main" rot="0">
            <a:off x="10662971" y="4420133"/>
            <a:ext cx="1876592" cy="1571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90" b="0">
                <a:solidFill>
                  <a:srgbClr val="00355F"/>
                </a:solidFill>
                <a:latin typeface="Arial"/>
                <a:ea typeface="Arial"/>
                <a:cs typeface="Arial"/>
              </a:defRPr>
            </a:defPPr>
          </a:lstStyle>
          <a:p xmlns:a="http://schemas.openxmlformats.org/drawingml/2006/main">
            <a:pPr algn="l">
              <a:lnSpc>
                <a:spcPct val="100000"/>
              </a:lnSpc>
              <a:buNone/>
              <a:defRPr sz="990" b="0">
                <a:solidFill>
                  <a:srgbClr val="00355F"/>
                </a:solidFill>
                <a:latin typeface="Arial"/>
                <a:ea typeface="Arial"/>
                <a:cs typeface="Arial"/>
              </a:defRPr>
            </a:pPr>
            <a:r>
              <a:rPr sz="990" b="0">
                <a:solidFill>
                  <a:srgbClr val="00355F"/>
                </a:solidFill>
                <a:latin typeface="Arial"/>
                <a:ea typeface="Arial"/>
                <a:cs typeface="Arial"/>
              </a:rPr>
              <a:t>China: ~US$0.4bn • RUO scope</a:t>
            </a:r>
          </a:p>
        </p:txBody>
      </p:sp>
      <p:sp>
        <p:nvSpPr>
          <p:cNvPr id="41" name="Figure 12 label 33 line 1">
            <a:extLst xmlns:a="http://schemas.openxmlformats.org/drawingml/2006/main">
              <a:ext uri="{FF2B5EF4-FFF2-40B4-BE49-F238E27FC236}">
                <a16:creationId xmlns:a16="http://schemas.microsoft.com/office/drawing/2014/main" id="{F53E2F2A-897F-4EE3-9632-9F6359A5D1FD}"/>
              </a:ext>
            </a:extLst>
          </p:cNvPr>
          <p:cNvSpPr>
            <a:spLocks xmlns:a="http://schemas.openxmlformats.org/drawingml/2006/main" noGrp="1"/>
          </p:cNvSpPr>
          <p:nvPr/>
        </p:nvSpPr>
        <p:spPr>
          <a:xfrm xmlns:a="http://schemas.openxmlformats.org/drawingml/2006/main" rot="0">
            <a:off x="10663581" y="5066614"/>
            <a:ext cx="1209610" cy="1381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870" b="1">
                <a:solidFill>
                  <a:srgbClr val="00355F"/>
                </a:solidFill>
                <a:latin typeface="Arial"/>
                <a:ea typeface="Arial"/>
                <a:cs typeface="Arial"/>
              </a:defRPr>
            </a:defPPr>
          </a:lstStyle>
          <a:p xmlns:a="http://schemas.openxmlformats.org/drawingml/2006/main">
            <a:pPr algn="l">
              <a:lnSpc>
                <a:spcPct val="100000"/>
              </a:lnSpc>
              <a:buNone/>
              <a:defRPr sz="870" b="1">
                <a:solidFill>
                  <a:srgbClr val="00355F"/>
                </a:solidFill>
                <a:latin typeface="Arial"/>
                <a:ea typeface="Arial"/>
                <a:cs typeface="Arial"/>
              </a:defRPr>
            </a:pPr>
            <a:r>
              <a:rPr sz="870" b="1">
                <a:solidFill>
                  <a:srgbClr val="00355F"/>
                </a:solidFill>
                <a:latin typeface="Arial"/>
                <a:ea typeface="Arial"/>
                <a:cs typeface="Arial"/>
              </a:rPr>
              <a:t>CHINA / HK LISTINGS</a:t>
            </a:r>
          </a:p>
        </p:txBody>
      </p:sp>
      <p:sp>
        <p:nvSpPr>
          <p:cNvPr id="42" name="Figure 12 label 34 line 1">
            <a:extLst xmlns:a="http://schemas.openxmlformats.org/drawingml/2006/main">
              <a:ext uri="{FF2B5EF4-FFF2-40B4-BE49-F238E27FC236}">
                <a16:creationId xmlns:a16="http://schemas.microsoft.com/office/drawing/2014/main" id="{434EC868-4CAE-4ACF-9727-3B956D4456BB}"/>
              </a:ext>
            </a:extLst>
          </p:cNvPr>
          <p:cNvSpPr>
            <a:spLocks xmlns:a="http://schemas.openxmlformats.org/drawingml/2006/main" noGrp="1"/>
          </p:cNvSpPr>
          <p:nvPr/>
        </p:nvSpPr>
        <p:spPr>
          <a:xfrm xmlns:a="http://schemas.openxmlformats.org/drawingml/2006/main" rot="0">
            <a:off x="12302033" y="5068215"/>
            <a:ext cx="1329916"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840" b="1">
                <a:solidFill>
                  <a:srgbClr val="00355F"/>
                </a:solidFill>
                <a:latin typeface="Arial"/>
                <a:ea typeface="Arial"/>
                <a:cs typeface="Arial"/>
              </a:defRPr>
            </a:defPPr>
          </a:lstStyle>
          <a:p xmlns:a="http://schemas.openxmlformats.org/drawingml/2006/main">
            <a:pPr algn="l">
              <a:lnSpc>
                <a:spcPct val="100000"/>
              </a:lnSpc>
              <a:buNone/>
              <a:defRPr sz="840" b="1">
                <a:solidFill>
                  <a:srgbClr val="00355F"/>
                </a:solidFill>
                <a:latin typeface="Arial"/>
                <a:ea typeface="Arial"/>
                <a:cs typeface="Arial"/>
              </a:defRPr>
            </a:pPr>
            <a:r>
              <a:rPr sz="840" b="1">
                <a:solidFill>
                  <a:srgbClr val="00355F"/>
                </a:solidFill>
                <a:latin typeface="Arial"/>
                <a:ea typeface="Arial"/>
                <a:cs typeface="Arial"/>
              </a:rPr>
              <a:t>US LISTINGS / PARENTS</a:t>
            </a:r>
          </a:p>
        </p:txBody>
      </p:sp>
      <p:sp>
        <p:nvSpPr>
          <p:cNvPr id="43" name="Figure 12 label 35 line 1">
            <a:extLst xmlns:a="http://schemas.openxmlformats.org/drawingml/2006/main">
              <a:ext uri="{FF2B5EF4-FFF2-40B4-BE49-F238E27FC236}">
                <a16:creationId xmlns:a16="http://schemas.microsoft.com/office/drawing/2014/main" id="{8B3A01D6-B3B5-434E-A223-5F69B0B773B3}"/>
              </a:ext>
            </a:extLst>
          </p:cNvPr>
          <p:cNvSpPr>
            <a:spLocks xmlns:a="http://schemas.openxmlformats.org/drawingml/2006/main" noGrp="1"/>
          </p:cNvSpPr>
          <p:nvPr/>
        </p:nvSpPr>
        <p:spPr>
          <a:xfrm xmlns:a="http://schemas.openxmlformats.org/drawingml/2006/main" rot="0">
            <a:off x="10662819" y="5279594"/>
            <a:ext cx="1207407"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20" b="0">
                <a:solidFill>
                  <a:srgbClr val="00355F"/>
                </a:solidFill>
                <a:latin typeface="Arial"/>
                <a:ea typeface="Arial"/>
                <a:cs typeface="Arial"/>
              </a:defRPr>
            </a:defPPr>
          </a:lstStyle>
          <a:p xmlns:a="http://schemas.openxmlformats.org/drawingml/2006/main">
            <a:pPr algn="l">
              <a:lnSpc>
                <a:spcPct val="100000"/>
              </a:lnSpc>
              <a:buNone/>
              <a:defRPr sz="1020" b="0">
                <a:solidFill>
                  <a:srgbClr val="00355F"/>
                </a:solidFill>
                <a:latin typeface="Arial"/>
                <a:ea typeface="Arial"/>
                <a:cs typeface="Arial"/>
              </a:defRPr>
            </a:pPr>
            <a:r>
              <a:rPr sz="1020" b="0">
                <a:solidFill>
                  <a:srgbClr val="00355F"/>
                </a:solidFill>
                <a:latin typeface="Arial"/>
                <a:ea typeface="Arial"/>
                <a:cs typeface="Arial"/>
              </a:rPr>
              <a:t>ACRO · 301080.SZ</a:t>
            </a:r>
          </a:p>
        </p:txBody>
      </p:sp>
      <p:sp>
        <p:nvSpPr>
          <p:cNvPr id="44" name="Figure 12 label 35 line 2">
            <a:extLst xmlns:a="http://schemas.openxmlformats.org/drawingml/2006/main">
              <a:ext uri="{FF2B5EF4-FFF2-40B4-BE49-F238E27FC236}">
                <a16:creationId xmlns:a16="http://schemas.microsoft.com/office/drawing/2014/main" id="{1BFC6D30-BABC-4942-8A28-AFBC3669D3A2}"/>
              </a:ext>
            </a:extLst>
          </p:cNvPr>
          <p:cNvSpPr>
            <a:spLocks xmlns:a="http://schemas.openxmlformats.org/drawingml/2006/main" noGrp="1"/>
          </p:cNvSpPr>
          <p:nvPr/>
        </p:nvSpPr>
        <p:spPr>
          <a:xfrm xmlns:a="http://schemas.openxmlformats.org/drawingml/2006/main" rot="0">
            <a:off x="10662819" y="5441519"/>
            <a:ext cx="1207407"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20" b="0">
                <a:solidFill>
                  <a:srgbClr val="00355F"/>
                </a:solidFill>
                <a:latin typeface="Arial"/>
                <a:ea typeface="Arial"/>
                <a:cs typeface="Arial"/>
              </a:defRPr>
            </a:defPPr>
          </a:lstStyle>
          <a:p xmlns:a="http://schemas.openxmlformats.org/drawingml/2006/main">
            <a:pPr algn="l">
              <a:lnSpc>
                <a:spcPct val="100000"/>
              </a:lnSpc>
              <a:buNone/>
              <a:defRPr sz="1020" b="0">
                <a:solidFill>
                  <a:srgbClr val="00355F"/>
                </a:solidFill>
                <a:latin typeface="Arial"/>
                <a:ea typeface="Arial"/>
                <a:cs typeface="Arial"/>
              </a:defRPr>
            </a:pPr>
            <a:r>
              <a:rPr sz="1020" b="0">
                <a:solidFill>
                  <a:srgbClr val="00355F"/>
                </a:solidFill>
                <a:latin typeface="Arial"/>
                <a:ea typeface="Arial"/>
                <a:cs typeface="Arial"/>
              </a:rPr>
              <a:t>Sino · 301047.SZ</a:t>
            </a:r>
          </a:p>
        </p:txBody>
      </p:sp>
      <p:sp>
        <p:nvSpPr>
          <p:cNvPr id="45" name="Figure 12 label 36 line 1">
            <a:extLst xmlns:a="http://schemas.openxmlformats.org/drawingml/2006/main">
              <a:ext uri="{FF2B5EF4-FFF2-40B4-BE49-F238E27FC236}">
                <a16:creationId xmlns:a16="http://schemas.microsoft.com/office/drawing/2014/main" id="{10EAAE58-48A1-4EA2-8BA0-B9A8333FA277}"/>
              </a:ext>
            </a:extLst>
          </p:cNvPr>
          <p:cNvSpPr>
            <a:spLocks xmlns:a="http://schemas.openxmlformats.org/drawingml/2006/main" noGrp="1"/>
          </p:cNvSpPr>
          <p:nvPr/>
        </p:nvSpPr>
        <p:spPr>
          <a:xfrm xmlns:a="http://schemas.openxmlformats.org/drawingml/2006/main" rot="0">
            <a:off x="12301362" y="5282154"/>
            <a:ext cx="1264613" cy="1543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72" b="0">
                <a:solidFill>
                  <a:srgbClr val="00355F"/>
                </a:solidFill>
                <a:latin typeface="Arial"/>
                <a:ea typeface="Arial"/>
                <a:cs typeface="Arial"/>
              </a:defRPr>
            </a:defPPr>
          </a:lstStyle>
          <a:p xmlns:a="http://schemas.openxmlformats.org/drawingml/2006/main">
            <a:pPr algn="l">
              <a:lnSpc>
                <a:spcPct val="100000"/>
              </a:lnSpc>
              <a:buNone/>
              <a:defRPr sz="972" b="0">
                <a:solidFill>
                  <a:srgbClr val="00355F"/>
                </a:solidFill>
                <a:latin typeface="Arial"/>
                <a:ea typeface="Arial"/>
                <a:cs typeface="Arial"/>
              </a:defRPr>
            </a:pPr>
            <a:r>
              <a:rPr sz="972" b="0">
                <a:solidFill>
                  <a:srgbClr val="00355F"/>
                </a:solidFill>
                <a:latin typeface="Arial"/>
                <a:ea typeface="Arial"/>
                <a:cs typeface="Arial"/>
              </a:rPr>
              <a:t>Bio-Techne · TECH</a:t>
            </a:r>
          </a:p>
        </p:txBody>
      </p:sp>
      <p:sp>
        <p:nvSpPr>
          <p:cNvPr id="46" name="Figure 12 label 36 line 2">
            <a:extLst xmlns:a="http://schemas.openxmlformats.org/drawingml/2006/main">
              <a:ext uri="{FF2B5EF4-FFF2-40B4-BE49-F238E27FC236}">
                <a16:creationId xmlns:a16="http://schemas.microsoft.com/office/drawing/2014/main" id="{C23A30EF-0A30-4D42-9D41-220EFE0D7AA9}"/>
              </a:ext>
            </a:extLst>
          </p:cNvPr>
          <p:cNvSpPr>
            <a:spLocks xmlns:a="http://schemas.openxmlformats.org/drawingml/2006/main" noGrp="1"/>
          </p:cNvSpPr>
          <p:nvPr/>
        </p:nvSpPr>
        <p:spPr>
          <a:xfrm xmlns:a="http://schemas.openxmlformats.org/drawingml/2006/main" rot="0">
            <a:off x="12301362" y="5436459"/>
            <a:ext cx="1264613" cy="1543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72" b="0">
                <a:solidFill>
                  <a:srgbClr val="00355F"/>
                </a:solidFill>
                <a:latin typeface="Arial"/>
                <a:ea typeface="Arial"/>
                <a:cs typeface="Arial"/>
              </a:defRPr>
            </a:defPPr>
          </a:lstStyle>
          <a:p xmlns:a="http://schemas.openxmlformats.org/drawingml/2006/main">
            <a:pPr algn="l">
              <a:lnSpc>
                <a:spcPct val="100000"/>
              </a:lnSpc>
              <a:buNone/>
              <a:defRPr sz="972" b="0">
                <a:solidFill>
                  <a:srgbClr val="00355F"/>
                </a:solidFill>
                <a:latin typeface="Arial"/>
                <a:ea typeface="Arial"/>
                <a:cs typeface="Arial"/>
              </a:defRPr>
            </a:pPr>
            <a:r>
              <a:rPr sz="972" b="0">
                <a:solidFill>
                  <a:srgbClr val="00355F"/>
                </a:solidFill>
                <a:latin typeface="Arial"/>
                <a:ea typeface="Arial"/>
                <a:cs typeface="Arial"/>
              </a:rPr>
              <a:t>Thermo Fisher · TMO</a:t>
            </a:r>
          </a:p>
        </p:txBody>
      </p:sp>
      <p:sp>
        <p:nvSpPr>
          <p:cNvPr id="47" name="Figure 12 label 37 line 1">
            <a:extLst xmlns:a="http://schemas.openxmlformats.org/drawingml/2006/main">
              <a:ext uri="{FF2B5EF4-FFF2-40B4-BE49-F238E27FC236}">
                <a16:creationId xmlns:a16="http://schemas.microsoft.com/office/drawing/2014/main" id="{47CAFBB6-3ACA-4CDF-A6E9-68F775B9B92D}"/>
              </a:ext>
            </a:extLst>
          </p:cNvPr>
          <p:cNvSpPr>
            <a:spLocks xmlns:a="http://schemas.openxmlformats.org/drawingml/2006/main" noGrp="1"/>
          </p:cNvSpPr>
          <p:nvPr/>
        </p:nvSpPr>
        <p:spPr>
          <a:xfrm xmlns:a="http://schemas.openxmlformats.org/drawingml/2006/main" rot="0">
            <a:off x="14599615" y="2934310"/>
            <a:ext cx="2364176"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60" b="1">
                <a:solidFill>
                  <a:srgbClr val="00355F"/>
                </a:solidFill>
                <a:latin typeface="Arial"/>
                <a:ea typeface="Arial"/>
                <a:cs typeface="Arial"/>
              </a:defRPr>
            </a:defPPr>
          </a:lstStyle>
          <a:p xmlns:a="http://schemas.openxmlformats.org/drawingml/2006/main">
            <a:pPr algn="l">
              <a:lnSpc>
                <a:spcPct val="100000"/>
              </a:lnSpc>
              <a:buNone/>
              <a:defRPr sz="1560" b="1">
                <a:solidFill>
                  <a:srgbClr val="00355F"/>
                </a:solidFill>
                <a:latin typeface="Arial"/>
                <a:ea typeface="Arial"/>
                <a:cs typeface="Arial"/>
              </a:defRPr>
            </a:pPr>
            <a:r>
              <a:rPr sz="1560" b="1">
                <a:solidFill>
                  <a:srgbClr val="00355F"/>
                </a:solidFill>
                <a:latin typeface="Arial"/>
                <a:ea typeface="Arial"/>
                <a:cs typeface="Arial"/>
              </a:rPr>
              <a:t>Cells &amp; culture systems</a:t>
            </a:r>
          </a:p>
        </p:txBody>
      </p:sp>
      <p:sp>
        <p:nvSpPr>
          <p:cNvPr id="48" name="Figure 12 label 38 line 1">
            <a:extLst xmlns:a="http://schemas.openxmlformats.org/drawingml/2006/main">
              <a:ext uri="{FF2B5EF4-FFF2-40B4-BE49-F238E27FC236}">
                <a16:creationId xmlns:a16="http://schemas.microsoft.com/office/drawing/2014/main" id="{A41168A7-7930-4F63-A8D4-A9EA55C14CAE}"/>
              </a:ext>
            </a:extLst>
          </p:cNvPr>
          <p:cNvSpPr>
            <a:spLocks xmlns:a="http://schemas.openxmlformats.org/drawingml/2006/main" noGrp="1"/>
          </p:cNvSpPr>
          <p:nvPr/>
        </p:nvSpPr>
        <p:spPr>
          <a:xfrm xmlns:a="http://schemas.openxmlformats.org/drawingml/2006/main" rot="0">
            <a:off x="14189659" y="3323692"/>
            <a:ext cx="2283452"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60" b="0">
                <a:solidFill>
                  <a:srgbClr val="00355F"/>
                </a:solidFill>
                <a:latin typeface="Arial"/>
                <a:ea typeface="Arial"/>
                <a:cs typeface="Arial"/>
              </a:defRPr>
            </a:defPPr>
          </a:lstStyle>
          <a:p xmlns:a="http://schemas.openxmlformats.org/drawingml/2006/main">
            <a:pPr algn="l">
              <a:lnSpc>
                <a:spcPct val="100000"/>
              </a:lnSpc>
              <a:buNone/>
              <a:defRPr sz="1260" b="0">
                <a:solidFill>
                  <a:srgbClr val="00355F"/>
                </a:solidFill>
                <a:latin typeface="Arial"/>
                <a:ea typeface="Arial"/>
                <a:cs typeface="Arial"/>
              </a:defRPr>
            </a:pPr>
            <a:r>
              <a:rPr sz="1260" b="0">
                <a:solidFill>
                  <a:srgbClr val="00355F"/>
                </a:solidFill>
                <a:latin typeface="Arial"/>
                <a:ea typeface="Arial"/>
                <a:cs typeface="Arial"/>
              </a:rPr>
              <a:t>Cell models, media, feeds</a:t>
            </a:r>
          </a:p>
        </p:txBody>
      </p:sp>
      <p:sp>
        <p:nvSpPr>
          <p:cNvPr id="49" name="Figure 12 label 38 line 2">
            <a:extLst xmlns:a="http://schemas.openxmlformats.org/drawingml/2006/main">
              <a:ext uri="{FF2B5EF4-FFF2-40B4-BE49-F238E27FC236}">
                <a16:creationId xmlns:a16="http://schemas.microsoft.com/office/drawing/2014/main" id="{1DF71D2D-F669-4D19-A1BF-46197EF75EE6}"/>
              </a:ext>
            </a:extLst>
          </p:cNvPr>
          <p:cNvSpPr>
            <a:spLocks xmlns:a="http://schemas.openxmlformats.org/drawingml/2006/main" noGrp="1"/>
          </p:cNvSpPr>
          <p:nvPr/>
        </p:nvSpPr>
        <p:spPr>
          <a:xfrm xmlns:a="http://schemas.openxmlformats.org/drawingml/2006/main" rot="0">
            <a:off x="14189659" y="3523717"/>
            <a:ext cx="2283452"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60" b="0">
                <a:solidFill>
                  <a:srgbClr val="00355F"/>
                </a:solidFill>
                <a:latin typeface="Arial"/>
                <a:ea typeface="Arial"/>
                <a:cs typeface="Arial"/>
              </a:defRPr>
            </a:defPPr>
          </a:lstStyle>
          <a:p xmlns:a="http://schemas.openxmlformats.org/drawingml/2006/main">
            <a:pPr algn="l">
              <a:lnSpc>
                <a:spcPct val="100000"/>
              </a:lnSpc>
              <a:buNone/>
              <a:defRPr sz="1260" b="0">
                <a:solidFill>
                  <a:srgbClr val="00355F"/>
                </a:solidFill>
                <a:latin typeface="Arial"/>
                <a:ea typeface="Arial"/>
                <a:cs typeface="Arial"/>
              </a:defRPr>
            </a:pPr>
            <a:r>
              <a:rPr sz="1260" b="0">
                <a:solidFill>
                  <a:srgbClr val="00355F"/>
                </a:solidFill>
                <a:latin typeface="Arial"/>
                <a:ea typeface="Arial"/>
                <a:cs typeface="Arial"/>
              </a:rPr>
              <a:t>Bioreactors and cell expansion</a:t>
            </a:r>
          </a:p>
        </p:txBody>
      </p:sp>
      <p:sp>
        <p:nvSpPr>
          <p:cNvPr id="50" name="Figure 12 label 39 line 1">
            <a:extLst xmlns:a="http://schemas.openxmlformats.org/drawingml/2006/main">
              <a:ext uri="{FF2B5EF4-FFF2-40B4-BE49-F238E27FC236}">
                <a16:creationId xmlns:a16="http://schemas.microsoft.com/office/drawing/2014/main" id="{6B8740CC-D979-4AF2-A7CA-30DC4A678767}"/>
              </a:ext>
            </a:extLst>
          </p:cNvPr>
          <p:cNvSpPr>
            <a:spLocks xmlns:a="http://schemas.openxmlformats.org/drawingml/2006/main" noGrp="1"/>
          </p:cNvSpPr>
          <p:nvPr/>
        </p:nvSpPr>
        <p:spPr>
          <a:xfrm xmlns:a="http://schemas.openxmlformats.org/drawingml/2006/main" rot="0">
            <a:off x="14184783" y="3752545"/>
            <a:ext cx="1797749"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220" b="1">
                <a:solidFill>
                  <a:srgbClr val="00355F"/>
                </a:solidFill>
                <a:latin typeface="Arial"/>
                <a:ea typeface="Arial"/>
                <a:cs typeface="Arial"/>
              </a:defRPr>
            </a:defPPr>
          </a:lstStyle>
          <a:p xmlns:a="http://schemas.openxmlformats.org/drawingml/2006/main">
            <a:pPr algn="l">
              <a:lnSpc>
                <a:spcPct val="100000"/>
              </a:lnSpc>
              <a:buNone/>
              <a:defRPr sz="2220" b="1">
                <a:solidFill>
                  <a:srgbClr val="00355F"/>
                </a:solidFill>
                <a:latin typeface="Arial"/>
                <a:ea typeface="Arial"/>
                <a:cs typeface="Arial"/>
              </a:defRPr>
            </a:pPr>
            <a:r>
              <a:rPr sz="2220" b="1">
                <a:solidFill>
                  <a:srgbClr val="00355F"/>
                </a:solidFill>
                <a:latin typeface="Arial"/>
                <a:ea typeface="Arial"/>
                <a:cs typeface="Arial"/>
              </a:rPr>
              <a:t>US$323.5m*</a:t>
            </a:r>
          </a:p>
        </p:txBody>
      </p:sp>
      <p:sp>
        <p:nvSpPr>
          <p:cNvPr id="51" name="Figure 12 label 40 line 1">
            <a:extLst xmlns:a="http://schemas.openxmlformats.org/drawingml/2006/main">
              <a:ext uri="{FF2B5EF4-FFF2-40B4-BE49-F238E27FC236}">
                <a16:creationId xmlns:a16="http://schemas.microsoft.com/office/drawing/2014/main" id="{05872E7D-0697-4F42-A1CD-49D57C66F587}"/>
              </a:ext>
            </a:extLst>
          </p:cNvPr>
          <p:cNvSpPr>
            <a:spLocks xmlns:a="http://schemas.openxmlformats.org/drawingml/2006/main" noGrp="1"/>
          </p:cNvSpPr>
          <p:nvPr/>
        </p:nvSpPr>
        <p:spPr>
          <a:xfrm xmlns:a="http://schemas.openxmlformats.org/drawingml/2006/main" rot="0">
            <a:off x="14190726" y="4195953"/>
            <a:ext cx="2203758" cy="1666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50" b="0">
                <a:solidFill>
                  <a:srgbClr val="00355F"/>
                </a:solidFill>
                <a:latin typeface="Arial"/>
                <a:ea typeface="Arial"/>
                <a:cs typeface="Arial"/>
              </a:defRPr>
            </a:defPPr>
          </a:lstStyle>
          <a:p xmlns:a="http://schemas.openxmlformats.org/drawingml/2006/main">
            <a:pPr algn="l">
              <a:lnSpc>
                <a:spcPct val="100000"/>
              </a:lnSpc>
              <a:buNone/>
              <a:defRPr sz="1050" b="0">
                <a:solidFill>
                  <a:srgbClr val="00355F"/>
                </a:solidFill>
                <a:latin typeface="Arial"/>
                <a:ea typeface="Arial"/>
                <a:cs typeface="Arial"/>
              </a:defRPr>
            </a:pPr>
            <a:r>
              <a:rPr sz="1050" b="0">
                <a:solidFill>
                  <a:srgbClr val="00355F"/>
                </a:solidFill>
                <a:latin typeface="Arial"/>
                <a:ea typeface="Arial"/>
                <a:cs typeface="Arial"/>
              </a:rPr>
              <a:t>China • 2024 • bioprocess media [3]</a:t>
            </a:r>
          </a:p>
        </p:txBody>
      </p:sp>
      <p:sp>
        <p:nvSpPr>
          <p:cNvPr id="52" name="Figure 12 label 41 line 1">
            <a:extLst xmlns:a="http://schemas.openxmlformats.org/drawingml/2006/main">
              <a:ext uri="{FF2B5EF4-FFF2-40B4-BE49-F238E27FC236}">
                <a16:creationId xmlns:a16="http://schemas.microsoft.com/office/drawing/2014/main" id="{2E96834C-C811-4D6D-857E-F44081853EF6}"/>
              </a:ext>
            </a:extLst>
          </p:cNvPr>
          <p:cNvSpPr>
            <a:spLocks xmlns:a="http://schemas.openxmlformats.org/drawingml/2006/main" noGrp="1"/>
          </p:cNvSpPr>
          <p:nvPr/>
        </p:nvSpPr>
        <p:spPr>
          <a:xfrm xmlns:a="http://schemas.openxmlformats.org/drawingml/2006/main" rot="0">
            <a:off x="14191031" y="4420133"/>
            <a:ext cx="2297329" cy="1571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90" b="0">
                <a:solidFill>
                  <a:srgbClr val="00355F"/>
                </a:solidFill>
                <a:latin typeface="Arial"/>
                <a:ea typeface="Arial"/>
                <a:cs typeface="Arial"/>
              </a:defRPr>
            </a:defPPr>
          </a:lstStyle>
          <a:p xmlns:a="http://schemas.openxmlformats.org/drawingml/2006/main">
            <a:pPr algn="l">
              <a:lnSpc>
                <a:spcPct val="100000"/>
              </a:lnSpc>
              <a:buNone/>
              <a:defRPr sz="990" b="0">
                <a:solidFill>
                  <a:srgbClr val="00355F"/>
                </a:solidFill>
                <a:latin typeface="Arial"/>
                <a:ea typeface="Arial"/>
                <a:cs typeface="Arial"/>
              </a:defRPr>
            </a:pPr>
            <a:r>
              <a:rPr sz="990" b="0">
                <a:solidFill>
                  <a:srgbClr val="00355F"/>
                </a:solidFill>
                <a:latin typeface="Arial"/>
                <a:ea typeface="Arial"/>
                <a:cs typeface="Arial"/>
              </a:rPr>
              <a:t>Selected media anchor; not all cell tools</a:t>
            </a:r>
          </a:p>
        </p:txBody>
      </p:sp>
      <p:sp>
        <p:nvSpPr>
          <p:cNvPr id="53" name="Figure 12 label 42 line 1">
            <a:extLst xmlns:a="http://schemas.openxmlformats.org/drawingml/2006/main">
              <a:ext uri="{FF2B5EF4-FFF2-40B4-BE49-F238E27FC236}">
                <a16:creationId xmlns:a16="http://schemas.microsoft.com/office/drawing/2014/main" id="{88524F32-AF88-4811-BAE4-0E73A2EC3375}"/>
              </a:ext>
            </a:extLst>
          </p:cNvPr>
          <p:cNvSpPr>
            <a:spLocks xmlns:a="http://schemas.openxmlformats.org/drawingml/2006/main" noGrp="1"/>
          </p:cNvSpPr>
          <p:nvPr/>
        </p:nvSpPr>
        <p:spPr>
          <a:xfrm xmlns:a="http://schemas.openxmlformats.org/drawingml/2006/main" rot="0">
            <a:off x="14188440" y="4705350"/>
            <a:ext cx="159514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1">
                <a:solidFill>
                  <a:srgbClr val="00355F"/>
                </a:solidFill>
                <a:latin typeface="Arial"/>
                <a:ea typeface="Arial"/>
                <a:cs typeface="Arial"/>
              </a:defRPr>
            </a:defPPr>
          </a:lstStyle>
          <a:p xmlns:a="http://schemas.openxmlformats.org/drawingml/2006/main">
            <a:pPr algn="l">
              <a:lnSpc>
                <a:spcPct val="100000"/>
              </a:lnSpc>
              <a:buNone/>
              <a:defRPr sz="1500" b="1">
                <a:solidFill>
                  <a:srgbClr val="00355F"/>
                </a:solidFill>
                <a:latin typeface="Arial"/>
                <a:ea typeface="Arial"/>
                <a:cs typeface="Arial"/>
              </a:defRPr>
            </a:pPr>
            <a:r>
              <a:rPr sz="1500" b="1">
                <a:solidFill>
                  <a:srgbClr val="00355F"/>
                </a:solidFill>
                <a:latin typeface="Arial"/>
                <a:ea typeface="Arial"/>
                <a:cs typeface="Arial"/>
              </a:rPr>
              <a:t>Gibco / HyClone</a:t>
            </a:r>
          </a:p>
        </p:txBody>
      </p:sp>
      <p:sp>
        <p:nvSpPr>
          <p:cNvPr id="54" name="Figure 12 label 43 line 1">
            <a:extLst xmlns:a="http://schemas.openxmlformats.org/drawingml/2006/main">
              <a:ext uri="{FF2B5EF4-FFF2-40B4-BE49-F238E27FC236}">
                <a16:creationId xmlns:a16="http://schemas.microsoft.com/office/drawing/2014/main" id="{C9040AC2-574F-4026-87FD-3E3666A05610}"/>
              </a:ext>
            </a:extLst>
          </p:cNvPr>
          <p:cNvSpPr>
            <a:spLocks xmlns:a="http://schemas.openxmlformats.org/drawingml/2006/main" noGrp="1"/>
          </p:cNvSpPr>
          <p:nvPr/>
        </p:nvSpPr>
        <p:spPr>
          <a:xfrm xmlns:a="http://schemas.openxmlformats.org/drawingml/2006/main" rot="0">
            <a:off x="14191641" y="5066614"/>
            <a:ext cx="1209610" cy="1381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870" b="1">
                <a:solidFill>
                  <a:srgbClr val="00355F"/>
                </a:solidFill>
                <a:latin typeface="Arial"/>
                <a:ea typeface="Arial"/>
                <a:cs typeface="Arial"/>
              </a:defRPr>
            </a:defPPr>
          </a:lstStyle>
          <a:p xmlns:a="http://schemas.openxmlformats.org/drawingml/2006/main">
            <a:pPr algn="l">
              <a:lnSpc>
                <a:spcPct val="100000"/>
              </a:lnSpc>
              <a:buNone/>
              <a:defRPr sz="870" b="1">
                <a:solidFill>
                  <a:srgbClr val="00355F"/>
                </a:solidFill>
                <a:latin typeface="Arial"/>
                <a:ea typeface="Arial"/>
                <a:cs typeface="Arial"/>
              </a:defRPr>
            </a:pPr>
            <a:r>
              <a:rPr sz="870" b="1">
                <a:solidFill>
                  <a:srgbClr val="00355F"/>
                </a:solidFill>
                <a:latin typeface="Arial"/>
                <a:ea typeface="Arial"/>
                <a:cs typeface="Arial"/>
              </a:rPr>
              <a:t>CHINA / HK LISTINGS</a:t>
            </a:r>
          </a:p>
        </p:txBody>
      </p:sp>
      <p:sp>
        <p:nvSpPr>
          <p:cNvPr id="55" name="Figure 12 label 44 line 1">
            <a:extLst xmlns:a="http://schemas.openxmlformats.org/drawingml/2006/main">
              <a:ext uri="{FF2B5EF4-FFF2-40B4-BE49-F238E27FC236}">
                <a16:creationId xmlns:a16="http://schemas.microsoft.com/office/drawing/2014/main" id="{3E70411C-224F-4774-B36C-68BC7F9FB062}"/>
              </a:ext>
            </a:extLst>
          </p:cNvPr>
          <p:cNvSpPr>
            <a:spLocks xmlns:a="http://schemas.openxmlformats.org/drawingml/2006/main" noGrp="1"/>
          </p:cNvSpPr>
          <p:nvPr/>
        </p:nvSpPr>
        <p:spPr>
          <a:xfrm xmlns:a="http://schemas.openxmlformats.org/drawingml/2006/main" rot="0">
            <a:off x="15830093" y="5068215"/>
            <a:ext cx="1329916"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840" b="1">
                <a:solidFill>
                  <a:srgbClr val="00355F"/>
                </a:solidFill>
                <a:latin typeface="Arial"/>
                <a:ea typeface="Arial"/>
                <a:cs typeface="Arial"/>
              </a:defRPr>
            </a:defPPr>
          </a:lstStyle>
          <a:p xmlns:a="http://schemas.openxmlformats.org/drawingml/2006/main">
            <a:pPr algn="l">
              <a:lnSpc>
                <a:spcPct val="100000"/>
              </a:lnSpc>
              <a:buNone/>
              <a:defRPr sz="840" b="1">
                <a:solidFill>
                  <a:srgbClr val="00355F"/>
                </a:solidFill>
                <a:latin typeface="Arial"/>
                <a:ea typeface="Arial"/>
                <a:cs typeface="Arial"/>
              </a:defRPr>
            </a:pPr>
            <a:r>
              <a:rPr sz="840" b="1">
                <a:solidFill>
                  <a:srgbClr val="00355F"/>
                </a:solidFill>
                <a:latin typeface="Arial"/>
                <a:ea typeface="Arial"/>
                <a:cs typeface="Arial"/>
              </a:rPr>
              <a:t>US LISTINGS / PARENTS</a:t>
            </a:r>
          </a:p>
        </p:txBody>
      </p:sp>
      <p:sp>
        <p:nvSpPr>
          <p:cNvPr id="56" name="Figure 12 label 45 line 1">
            <a:extLst xmlns:a="http://schemas.openxmlformats.org/drawingml/2006/main">
              <a:ext uri="{FF2B5EF4-FFF2-40B4-BE49-F238E27FC236}">
                <a16:creationId xmlns:a16="http://schemas.microsoft.com/office/drawing/2014/main" id="{811DC5CF-8B66-4646-9197-F5F08104611B}"/>
              </a:ext>
            </a:extLst>
          </p:cNvPr>
          <p:cNvSpPr>
            <a:spLocks xmlns:a="http://schemas.openxmlformats.org/drawingml/2006/main" noGrp="1"/>
          </p:cNvSpPr>
          <p:nvPr/>
        </p:nvSpPr>
        <p:spPr>
          <a:xfrm xmlns:a="http://schemas.openxmlformats.org/drawingml/2006/main" rot="0">
            <a:off x="14190879" y="5279594"/>
            <a:ext cx="1207407"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20" b="0">
                <a:solidFill>
                  <a:srgbClr val="00355F"/>
                </a:solidFill>
                <a:latin typeface="Arial"/>
                <a:ea typeface="Arial"/>
                <a:cs typeface="Arial"/>
              </a:defRPr>
            </a:defPPr>
          </a:lstStyle>
          <a:p xmlns:a="http://schemas.openxmlformats.org/drawingml/2006/main">
            <a:pPr algn="l">
              <a:lnSpc>
                <a:spcPct val="100000"/>
              </a:lnSpc>
              <a:buNone/>
              <a:defRPr sz="1020" b="0">
                <a:solidFill>
                  <a:srgbClr val="00355F"/>
                </a:solidFill>
                <a:latin typeface="Arial"/>
                <a:ea typeface="Arial"/>
                <a:cs typeface="Arial"/>
              </a:defRPr>
            </a:pPr>
            <a:r>
              <a:rPr sz="1020" b="0">
                <a:solidFill>
                  <a:srgbClr val="00355F"/>
                </a:solidFill>
                <a:latin typeface="Arial"/>
                <a:ea typeface="Arial"/>
                <a:cs typeface="Arial"/>
              </a:rPr>
              <a:t>OPM · 688293.SH</a:t>
            </a:r>
          </a:p>
        </p:txBody>
      </p:sp>
      <p:sp>
        <p:nvSpPr>
          <p:cNvPr id="57" name="Figure 12 label 45 line 2">
            <a:extLst xmlns:a="http://schemas.openxmlformats.org/drawingml/2006/main">
              <a:ext uri="{FF2B5EF4-FFF2-40B4-BE49-F238E27FC236}">
                <a16:creationId xmlns:a16="http://schemas.microsoft.com/office/drawing/2014/main" id="{96DDD445-CFE9-4730-B106-1260A6541764}"/>
              </a:ext>
            </a:extLst>
          </p:cNvPr>
          <p:cNvSpPr>
            <a:spLocks xmlns:a="http://schemas.openxmlformats.org/drawingml/2006/main" noGrp="1"/>
          </p:cNvSpPr>
          <p:nvPr/>
        </p:nvSpPr>
        <p:spPr>
          <a:xfrm xmlns:a="http://schemas.openxmlformats.org/drawingml/2006/main" rot="0">
            <a:off x="14190879" y="5441519"/>
            <a:ext cx="1207407"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20" b="0">
                <a:solidFill>
                  <a:srgbClr val="00355F"/>
                </a:solidFill>
                <a:latin typeface="Arial"/>
                <a:ea typeface="Arial"/>
                <a:cs typeface="Arial"/>
              </a:defRPr>
            </a:defPPr>
          </a:lstStyle>
          <a:p xmlns:a="http://schemas.openxmlformats.org/drawingml/2006/main">
            <a:pPr algn="l">
              <a:lnSpc>
                <a:spcPct val="100000"/>
              </a:lnSpc>
              <a:buNone/>
              <a:defRPr sz="1020" b="0">
                <a:solidFill>
                  <a:srgbClr val="00355F"/>
                </a:solidFill>
                <a:latin typeface="Arial"/>
                <a:ea typeface="Arial"/>
                <a:cs typeface="Arial"/>
              </a:defRPr>
            </a:pPr>
            <a:r>
              <a:rPr sz="1020" b="0">
                <a:solidFill>
                  <a:srgbClr val="00355F"/>
                </a:solidFill>
                <a:latin typeface="Arial"/>
                <a:ea typeface="Arial"/>
                <a:cs typeface="Arial"/>
              </a:rPr>
              <a:t>ACRO · 301080.SZ</a:t>
            </a:r>
          </a:p>
        </p:txBody>
      </p:sp>
      <p:sp>
        <p:nvSpPr>
          <p:cNvPr id="58" name="Figure 12 label 46 line 1">
            <a:extLst xmlns:a="http://schemas.openxmlformats.org/drawingml/2006/main">
              <a:ext uri="{FF2B5EF4-FFF2-40B4-BE49-F238E27FC236}">
                <a16:creationId xmlns:a16="http://schemas.microsoft.com/office/drawing/2014/main" id="{855FE962-DE79-46DC-8040-E43B9E52D97E}"/>
              </a:ext>
            </a:extLst>
          </p:cNvPr>
          <p:cNvSpPr>
            <a:spLocks xmlns:a="http://schemas.openxmlformats.org/drawingml/2006/main" noGrp="1"/>
          </p:cNvSpPr>
          <p:nvPr/>
        </p:nvSpPr>
        <p:spPr>
          <a:xfrm xmlns:a="http://schemas.openxmlformats.org/drawingml/2006/main" rot="0">
            <a:off x="15829422" y="5282154"/>
            <a:ext cx="1376680" cy="1543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72" b="0">
                <a:solidFill>
                  <a:srgbClr val="00355F"/>
                </a:solidFill>
                <a:latin typeface="Arial"/>
                <a:ea typeface="Arial"/>
                <a:cs typeface="Arial"/>
              </a:defRPr>
            </a:defPPr>
          </a:lstStyle>
          <a:p xmlns:a="http://schemas.openxmlformats.org/drawingml/2006/main">
            <a:pPr algn="l">
              <a:lnSpc>
                <a:spcPct val="100000"/>
              </a:lnSpc>
              <a:buNone/>
              <a:defRPr sz="972" b="0">
                <a:solidFill>
                  <a:srgbClr val="00355F"/>
                </a:solidFill>
                <a:latin typeface="Arial"/>
                <a:ea typeface="Arial"/>
                <a:cs typeface="Arial"/>
              </a:defRPr>
            </a:pPr>
            <a:r>
              <a:rPr sz="972" b="0">
                <a:solidFill>
                  <a:srgbClr val="00355F"/>
                </a:solidFill>
                <a:latin typeface="Arial"/>
                <a:ea typeface="Arial"/>
                <a:cs typeface="Arial"/>
              </a:rPr>
              <a:t>Gibco / Thermo · TMO</a:t>
            </a:r>
          </a:p>
        </p:txBody>
      </p:sp>
      <p:sp>
        <p:nvSpPr>
          <p:cNvPr id="59" name="Figure 12 label 46 line 2">
            <a:extLst xmlns:a="http://schemas.openxmlformats.org/drawingml/2006/main">
              <a:ext uri="{FF2B5EF4-FFF2-40B4-BE49-F238E27FC236}">
                <a16:creationId xmlns:a16="http://schemas.microsoft.com/office/drawing/2014/main" id="{C95E3FDC-FA2C-4A8B-8FF9-45C6C95424E0}"/>
              </a:ext>
            </a:extLst>
          </p:cNvPr>
          <p:cNvSpPr>
            <a:spLocks xmlns:a="http://schemas.openxmlformats.org/drawingml/2006/main" noGrp="1"/>
          </p:cNvSpPr>
          <p:nvPr/>
        </p:nvSpPr>
        <p:spPr>
          <a:xfrm xmlns:a="http://schemas.openxmlformats.org/drawingml/2006/main" rot="0">
            <a:off x="15829422" y="5436459"/>
            <a:ext cx="1376680" cy="1543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72" b="0">
                <a:solidFill>
                  <a:srgbClr val="00355F"/>
                </a:solidFill>
                <a:latin typeface="Arial"/>
                <a:ea typeface="Arial"/>
                <a:cs typeface="Arial"/>
              </a:defRPr>
            </a:defPPr>
          </a:lstStyle>
          <a:p xmlns:a="http://schemas.openxmlformats.org/drawingml/2006/main">
            <a:pPr algn="l">
              <a:lnSpc>
                <a:spcPct val="100000"/>
              </a:lnSpc>
              <a:buNone/>
              <a:defRPr sz="972" b="0">
                <a:solidFill>
                  <a:srgbClr val="00355F"/>
                </a:solidFill>
                <a:latin typeface="Arial"/>
                <a:ea typeface="Arial"/>
                <a:cs typeface="Arial"/>
              </a:defRPr>
            </a:pPr>
            <a:r>
              <a:rPr sz="972" b="0">
                <a:solidFill>
                  <a:srgbClr val="00355F"/>
                </a:solidFill>
                <a:latin typeface="Arial"/>
                <a:ea typeface="Arial"/>
                <a:cs typeface="Arial"/>
              </a:rPr>
              <a:t>Cytiva / HyClone · DHR</a:t>
            </a:r>
          </a:p>
        </p:txBody>
      </p:sp>
      <p:sp>
        <p:nvSpPr>
          <p:cNvPr id="60" name="Figure 12 label 47 line 1">
            <a:extLst xmlns:a="http://schemas.openxmlformats.org/drawingml/2006/main">
              <a:ext uri="{FF2B5EF4-FFF2-40B4-BE49-F238E27FC236}">
                <a16:creationId xmlns:a16="http://schemas.microsoft.com/office/drawing/2014/main" id="{F16B0C06-54D9-404B-AA32-DD2A0586516B}"/>
              </a:ext>
            </a:extLst>
          </p:cNvPr>
          <p:cNvSpPr>
            <a:spLocks xmlns:a="http://schemas.openxmlformats.org/drawingml/2006/main" noGrp="1"/>
          </p:cNvSpPr>
          <p:nvPr/>
        </p:nvSpPr>
        <p:spPr>
          <a:xfrm xmlns:a="http://schemas.openxmlformats.org/drawingml/2006/main" rot="0">
            <a:off x="7543495" y="6111850"/>
            <a:ext cx="2749046"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60" b="1">
                <a:solidFill>
                  <a:srgbClr val="00355F"/>
                </a:solidFill>
                <a:latin typeface="Arial"/>
                <a:ea typeface="Arial"/>
                <a:cs typeface="Arial"/>
              </a:defRPr>
            </a:defPPr>
          </a:lstStyle>
          <a:p xmlns:a="http://schemas.openxmlformats.org/drawingml/2006/main">
            <a:pPr algn="l">
              <a:lnSpc>
                <a:spcPct val="100000"/>
              </a:lnSpc>
              <a:buNone/>
              <a:defRPr sz="1560" b="1">
                <a:solidFill>
                  <a:srgbClr val="00355F"/>
                </a:solidFill>
                <a:latin typeface="Arial"/>
                <a:ea typeface="Arial"/>
                <a:cs typeface="Arial"/>
              </a:defRPr>
            </a:pPr>
            <a:r>
              <a:rPr sz="1560" b="1">
                <a:solidFill>
                  <a:srgbClr val="00355F"/>
                </a:solidFill>
                <a:latin typeface="Arial"/>
                <a:ea typeface="Arial"/>
                <a:cs typeface="Arial"/>
              </a:rPr>
              <a:t>Labware &amp; sample handling</a:t>
            </a:r>
          </a:p>
        </p:txBody>
      </p:sp>
      <p:sp>
        <p:nvSpPr>
          <p:cNvPr id="61" name="Figure 12 label 48 line 1">
            <a:extLst xmlns:a="http://schemas.openxmlformats.org/drawingml/2006/main">
              <a:ext uri="{FF2B5EF4-FFF2-40B4-BE49-F238E27FC236}">
                <a16:creationId xmlns:a16="http://schemas.microsoft.com/office/drawing/2014/main" id="{A4091B56-A600-4663-8AEE-B89390CFAC89}"/>
              </a:ext>
            </a:extLst>
          </p:cNvPr>
          <p:cNvSpPr>
            <a:spLocks xmlns:a="http://schemas.openxmlformats.org/drawingml/2006/main" noGrp="1"/>
          </p:cNvSpPr>
          <p:nvPr/>
        </p:nvSpPr>
        <p:spPr>
          <a:xfrm xmlns:a="http://schemas.openxmlformats.org/drawingml/2006/main" rot="0">
            <a:off x="7133540" y="6501232"/>
            <a:ext cx="2345513"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60" b="0">
                <a:solidFill>
                  <a:srgbClr val="00355F"/>
                </a:solidFill>
                <a:latin typeface="Arial"/>
                <a:ea typeface="Arial"/>
                <a:cs typeface="Arial"/>
              </a:defRPr>
            </a:defPPr>
          </a:lstStyle>
          <a:p xmlns:a="http://schemas.openxmlformats.org/drawingml/2006/main">
            <a:pPr algn="l">
              <a:lnSpc>
                <a:spcPct val="100000"/>
              </a:lnSpc>
              <a:buNone/>
              <a:defRPr sz="1260" b="0">
                <a:solidFill>
                  <a:srgbClr val="00355F"/>
                </a:solidFill>
                <a:latin typeface="Arial"/>
                <a:ea typeface="Arial"/>
                <a:cs typeface="Arial"/>
              </a:defRPr>
            </a:pPr>
            <a:r>
              <a:rPr sz="1260" b="0">
                <a:solidFill>
                  <a:srgbClr val="00355F"/>
                </a:solidFill>
                <a:latin typeface="Arial"/>
                <a:ea typeface="Arial"/>
                <a:cs typeface="Arial"/>
              </a:rPr>
              <a:t>Tips, plates, tubes, filtration</a:t>
            </a:r>
          </a:p>
        </p:txBody>
      </p:sp>
      <p:sp>
        <p:nvSpPr>
          <p:cNvPr id="62" name="Figure 12 label 48 line 2">
            <a:extLst xmlns:a="http://schemas.openxmlformats.org/drawingml/2006/main">
              <a:ext uri="{FF2B5EF4-FFF2-40B4-BE49-F238E27FC236}">
                <a16:creationId xmlns:a16="http://schemas.microsoft.com/office/drawing/2014/main" id="{FAB74E0C-430E-4107-B437-9C4C798A6590}"/>
              </a:ext>
            </a:extLst>
          </p:cNvPr>
          <p:cNvSpPr>
            <a:spLocks xmlns:a="http://schemas.openxmlformats.org/drawingml/2006/main" noGrp="1"/>
          </p:cNvSpPr>
          <p:nvPr/>
        </p:nvSpPr>
        <p:spPr>
          <a:xfrm xmlns:a="http://schemas.openxmlformats.org/drawingml/2006/main" rot="0">
            <a:off x="7133540" y="6701257"/>
            <a:ext cx="2345513"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60" b="0">
                <a:solidFill>
                  <a:srgbClr val="00355F"/>
                </a:solidFill>
                <a:latin typeface="Arial"/>
                <a:ea typeface="Arial"/>
                <a:cs typeface="Arial"/>
              </a:defRPr>
            </a:defPPr>
          </a:lstStyle>
          <a:p xmlns:a="http://schemas.openxmlformats.org/drawingml/2006/main">
            <a:pPr algn="l">
              <a:lnSpc>
                <a:spcPct val="100000"/>
              </a:lnSpc>
              <a:buNone/>
              <a:defRPr sz="1260" b="0">
                <a:solidFill>
                  <a:srgbClr val="00355F"/>
                </a:solidFill>
                <a:latin typeface="Arial"/>
                <a:ea typeface="Arial"/>
                <a:cs typeface="Arial"/>
              </a:defRPr>
            </a:pPr>
            <a:r>
              <a:rPr sz="1260" b="0">
                <a:solidFill>
                  <a:srgbClr val="00355F"/>
                </a:solidFill>
                <a:latin typeface="Arial"/>
                <a:ea typeface="Arial"/>
                <a:cs typeface="Arial"/>
              </a:rPr>
              <a:t>Automation-compatible labware</a:t>
            </a:r>
          </a:p>
        </p:txBody>
      </p:sp>
      <p:sp>
        <p:nvSpPr>
          <p:cNvPr id="63" name="Figure 12 label 49 line 1">
            <a:extLst xmlns:a="http://schemas.openxmlformats.org/drawingml/2006/main">
              <a:ext uri="{FF2B5EF4-FFF2-40B4-BE49-F238E27FC236}">
                <a16:creationId xmlns:a16="http://schemas.microsoft.com/office/drawing/2014/main" id="{2A7D93BA-D6EE-4747-9475-5639AC9117C3}"/>
              </a:ext>
            </a:extLst>
          </p:cNvPr>
          <p:cNvSpPr>
            <a:spLocks xmlns:a="http://schemas.openxmlformats.org/drawingml/2006/main" noGrp="1"/>
          </p:cNvSpPr>
          <p:nvPr/>
        </p:nvSpPr>
        <p:spPr>
          <a:xfrm xmlns:a="http://schemas.openxmlformats.org/drawingml/2006/main" rot="0">
            <a:off x="7128663" y="6930085"/>
            <a:ext cx="172646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220" b="1">
                <a:solidFill>
                  <a:srgbClr val="00355F"/>
                </a:solidFill>
                <a:latin typeface="Arial"/>
                <a:ea typeface="Arial"/>
                <a:cs typeface="Arial"/>
              </a:defRPr>
            </a:defPPr>
          </a:lstStyle>
          <a:p xmlns:a="http://schemas.openxmlformats.org/drawingml/2006/main">
            <a:pPr algn="l">
              <a:lnSpc>
                <a:spcPct val="100000"/>
              </a:lnSpc>
              <a:buNone/>
              <a:defRPr sz="2220" b="1">
                <a:solidFill>
                  <a:srgbClr val="00355F"/>
                </a:solidFill>
                <a:latin typeface="Arial"/>
                <a:ea typeface="Arial"/>
                <a:cs typeface="Arial"/>
              </a:defRPr>
            </a:pPr>
            <a:r>
              <a:rPr sz="2220" b="1">
                <a:solidFill>
                  <a:srgbClr val="00355F"/>
                </a:solidFill>
                <a:latin typeface="Arial"/>
                <a:ea typeface="Arial"/>
                <a:cs typeface="Arial"/>
              </a:rPr>
              <a:t>~RMB 23bn</a:t>
            </a:r>
          </a:p>
        </p:txBody>
      </p:sp>
      <p:sp>
        <p:nvSpPr>
          <p:cNvPr id="64" name="Figure 12 label 50 line 1">
            <a:extLst xmlns:a="http://schemas.openxmlformats.org/drawingml/2006/main">
              <a:ext uri="{FF2B5EF4-FFF2-40B4-BE49-F238E27FC236}">
                <a16:creationId xmlns:a16="http://schemas.microsoft.com/office/drawing/2014/main" id="{E8C6E569-3E6A-4BBC-8535-C2BEBD5CDD69}"/>
              </a:ext>
            </a:extLst>
          </p:cNvPr>
          <p:cNvSpPr>
            <a:spLocks xmlns:a="http://schemas.openxmlformats.org/drawingml/2006/main" noGrp="1"/>
          </p:cNvSpPr>
          <p:nvPr/>
        </p:nvSpPr>
        <p:spPr>
          <a:xfrm xmlns:a="http://schemas.openxmlformats.org/drawingml/2006/main" rot="0">
            <a:off x="7134607" y="7373493"/>
            <a:ext cx="2040642" cy="1666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50" b="0">
                <a:solidFill>
                  <a:srgbClr val="00355F"/>
                </a:solidFill>
                <a:latin typeface="Arial"/>
                <a:ea typeface="Arial"/>
                <a:cs typeface="Arial"/>
              </a:defRPr>
            </a:defPPr>
          </a:lstStyle>
          <a:p xmlns:a="http://schemas.openxmlformats.org/drawingml/2006/main">
            <a:pPr algn="l">
              <a:lnSpc>
                <a:spcPct val="100000"/>
              </a:lnSpc>
              <a:buNone/>
              <a:defRPr sz="1050" b="0">
                <a:solidFill>
                  <a:srgbClr val="00355F"/>
                </a:solidFill>
                <a:latin typeface="Arial"/>
                <a:ea typeface="Arial"/>
                <a:cs typeface="Arial"/>
              </a:defRPr>
            </a:pPr>
            <a:r>
              <a:rPr sz="1050" b="0">
                <a:solidFill>
                  <a:srgbClr val="00355F"/>
                </a:solidFill>
                <a:latin typeface="Arial"/>
                <a:ea typeface="Arial"/>
                <a:cs typeface="Arial"/>
              </a:rPr>
              <a:t>China • 2024 • plastic labware [4]</a:t>
            </a:r>
          </a:p>
        </p:txBody>
      </p:sp>
      <p:sp>
        <p:nvSpPr>
          <p:cNvPr id="65" name="Figure 12 label 51 line 1">
            <a:extLst xmlns:a="http://schemas.openxmlformats.org/drawingml/2006/main">
              <a:ext uri="{FF2B5EF4-FFF2-40B4-BE49-F238E27FC236}">
                <a16:creationId xmlns:a16="http://schemas.microsoft.com/office/drawing/2014/main" id="{77B3C214-785B-4B0A-B410-0FEA95908E72}"/>
              </a:ext>
            </a:extLst>
          </p:cNvPr>
          <p:cNvSpPr>
            <a:spLocks xmlns:a="http://schemas.openxmlformats.org/drawingml/2006/main" noGrp="1"/>
          </p:cNvSpPr>
          <p:nvPr/>
        </p:nvSpPr>
        <p:spPr>
          <a:xfrm xmlns:a="http://schemas.openxmlformats.org/drawingml/2006/main" rot="0">
            <a:off x="7134911" y="7597674"/>
            <a:ext cx="2045660" cy="1571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90" b="0">
                <a:solidFill>
                  <a:srgbClr val="00355F"/>
                </a:solidFill>
                <a:latin typeface="Arial"/>
                <a:ea typeface="Arial"/>
                <a:cs typeface="Arial"/>
              </a:defRPr>
            </a:defPPr>
          </a:lstStyle>
          <a:p xmlns:a="http://schemas.openxmlformats.org/drawingml/2006/main">
            <a:pPr algn="l">
              <a:lnSpc>
                <a:spcPct val="100000"/>
              </a:lnSpc>
              <a:buNone/>
              <a:defRPr sz="990" b="0">
                <a:solidFill>
                  <a:srgbClr val="00355F"/>
                </a:solidFill>
                <a:latin typeface="Arial"/>
                <a:ea typeface="Arial"/>
                <a:cs typeface="Arial"/>
              </a:defRPr>
            </a:pPr>
            <a:r>
              <a:rPr sz="990" b="0">
                <a:solidFill>
                  <a:srgbClr val="00355F"/>
                </a:solidFill>
                <a:latin typeface="Arial"/>
                <a:ea typeface="Arial"/>
                <a:cs typeface="Arial"/>
              </a:rPr>
              <a:t>Includes clinical and industrial uses</a:t>
            </a:r>
          </a:p>
        </p:txBody>
      </p:sp>
      <p:sp>
        <p:nvSpPr>
          <p:cNvPr id="66" name="Figure 12 label 52 line 1">
            <a:extLst xmlns:a="http://schemas.openxmlformats.org/drawingml/2006/main">
              <a:ext uri="{FF2B5EF4-FFF2-40B4-BE49-F238E27FC236}">
                <a16:creationId xmlns:a16="http://schemas.microsoft.com/office/drawing/2014/main" id="{CB4C6FE0-047B-441E-8DA2-E0E95AC7C378}"/>
              </a:ext>
            </a:extLst>
          </p:cNvPr>
          <p:cNvSpPr>
            <a:spLocks xmlns:a="http://schemas.openxmlformats.org/drawingml/2006/main" noGrp="1"/>
          </p:cNvSpPr>
          <p:nvPr/>
        </p:nvSpPr>
        <p:spPr>
          <a:xfrm xmlns:a="http://schemas.openxmlformats.org/drawingml/2006/main" rot="0">
            <a:off x="7135521" y="8244155"/>
            <a:ext cx="1209610" cy="1381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870" b="1">
                <a:solidFill>
                  <a:srgbClr val="00355F"/>
                </a:solidFill>
                <a:latin typeface="Arial"/>
                <a:ea typeface="Arial"/>
                <a:cs typeface="Arial"/>
              </a:defRPr>
            </a:defPPr>
          </a:lstStyle>
          <a:p xmlns:a="http://schemas.openxmlformats.org/drawingml/2006/main">
            <a:pPr algn="l">
              <a:lnSpc>
                <a:spcPct val="100000"/>
              </a:lnSpc>
              <a:buNone/>
              <a:defRPr sz="870" b="1">
                <a:solidFill>
                  <a:srgbClr val="00355F"/>
                </a:solidFill>
                <a:latin typeface="Arial"/>
                <a:ea typeface="Arial"/>
                <a:cs typeface="Arial"/>
              </a:defRPr>
            </a:pPr>
            <a:r>
              <a:rPr sz="870" b="1">
                <a:solidFill>
                  <a:srgbClr val="00355F"/>
                </a:solidFill>
                <a:latin typeface="Arial"/>
                <a:ea typeface="Arial"/>
                <a:cs typeface="Arial"/>
              </a:rPr>
              <a:t>CHINA / HK LISTINGS</a:t>
            </a:r>
          </a:p>
        </p:txBody>
      </p:sp>
      <p:sp>
        <p:nvSpPr>
          <p:cNvPr id="67" name="Figure 12 label 53 line 1">
            <a:extLst xmlns:a="http://schemas.openxmlformats.org/drawingml/2006/main">
              <a:ext uri="{FF2B5EF4-FFF2-40B4-BE49-F238E27FC236}">
                <a16:creationId xmlns:a16="http://schemas.microsoft.com/office/drawing/2014/main" id="{BEEA130B-DA1F-421D-AE46-A79A17A02C40}"/>
              </a:ext>
            </a:extLst>
          </p:cNvPr>
          <p:cNvSpPr>
            <a:spLocks xmlns:a="http://schemas.openxmlformats.org/drawingml/2006/main" noGrp="1"/>
          </p:cNvSpPr>
          <p:nvPr/>
        </p:nvSpPr>
        <p:spPr>
          <a:xfrm xmlns:a="http://schemas.openxmlformats.org/drawingml/2006/main" rot="0">
            <a:off x="8773973" y="8245755"/>
            <a:ext cx="1329916"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840" b="1">
                <a:solidFill>
                  <a:srgbClr val="00355F"/>
                </a:solidFill>
                <a:latin typeface="Arial"/>
                <a:ea typeface="Arial"/>
                <a:cs typeface="Arial"/>
              </a:defRPr>
            </a:defPPr>
          </a:lstStyle>
          <a:p xmlns:a="http://schemas.openxmlformats.org/drawingml/2006/main">
            <a:pPr algn="l">
              <a:lnSpc>
                <a:spcPct val="100000"/>
              </a:lnSpc>
              <a:buNone/>
              <a:defRPr sz="840" b="1">
                <a:solidFill>
                  <a:srgbClr val="00355F"/>
                </a:solidFill>
                <a:latin typeface="Arial"/>
                <a:ea typeface="Arial"/>
                <a:cs typeface="Arial"/>
              </a:defRPr>
            </a:pPr>
            <a:r>
              <a:rPr sz="840" b="1">
                <a:solidFill>
                  <a:srgbClr val="00355F"/>
                </a:solidFill>
                <a:latin typeface="Arial"/>
                <a:ea typeface="Arial"/>
                <a:cs typeface="Arial"/>
              </a:rPr>
              <a:t>US LISTINGS / PARENTS</a:t>
            </a:r>
          </a:p>
        </p:txBody>
      </p:sp>
      <p:sp>
        <p:nvSpPr>
          <p:cNvPr id="68" name="Figure 12 label 54 line 1">
            <a:extLst xmlns:a="http://schemas.openxmlformats.org/drawingml/2006/main">
              <a:ext uri="{FF2B5EF4-FFF2-40B4-BE49-F238E27FC236}">
                <a16:creationId xmlns:a16="http://schemas.microsoft.com/office/drawing/2014/main" id="{2ACEA418-E44A-4E61-9208-E5071EFE2DA6}"/>
              </a:ext>
            </a:extLst>
          </p:cNvPr>
          <p:cNvSpPr>
            <a:spLocks xmlns:a="http://schemas.openxmlformats.org/drawingml/2006/main" noGrp="1"/>
          </p:cNvSpPr>
          <p:nvPr/>
        </p:nvSpPr>
        <p:spPr>
          <a:xfrm xmlns:a="http://schemas.openxmlformats.org/drawingml/2006/main" rot="0">
            <a:off x="7134759" y="8457134"/>
            <a:ext cx="1503128"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20" b="0">
                <a:solidFill>
                  <a:srgbClr val="00355F"/>
                </a:solidFill>
                <a:latin typeface="Arial"/>
                <a:ea typeface="Arial"/>
                <a:cs typeface="Arial"/>
              </a:defRPr>
            </a:defPPr>
          </a:lstStyle>
          <a:p xmlns:a="http://schemas.openxmlformats.org/drawingml/2006/main">
            <a:pPr algn="l">
              <a:lnSpc>
                <a:spcPct val="100000"/>
              </a:lnSpc>
              <a:buNone/>
              <a:defRPr sz="1020" b="0">
                <a:solidFill>
                  <a:srgbClr val="00355F"/>
                </a:solidFill>
                <a:latin typeface="Arial"/>
                <a:ea typeface="Arial"/>
                <a:cs typeface="Arial"/>
              </a:defRPr>
            </a:pPr>
            <a:r>
              <a:rPr sz="1020" b="0">
                <a:solidFill>
                  <a:srgbClr val="00355F"/>
                </a:solidFill>
                <a:latin typeface="Arial"/>
                <a:ea typeface="Arial"/>
                <a:cs typeface="Arial"/>
              </a:rPr>
              <a:t>JET Biofil · 688026.SH</a:t>
            </a:r>
          </a:p>
        </p:txBody>
      </p:sp>
      <p:sp>
        <p:nvSpPr>
          <p:cNvPr id="69" name="Figure 12 label 54 line 2">
            <a:extLst xmlns:a="http://schemas.openxmlformats.org/drawingml/2006/main">
              <a:ext uri="{FF2B5EF4-FFF2-40B4-BE49-F238E27FC236}">
                <a16:creationId xmlns:a16="http://schemas.microsoft.com/office/drawing/2014/main" id="{0187B0F1-6BA6-4307-8DC2-C1122FB43649}"/>
              </a:ext>
            </a:extLst>
          </p:cNvPr>
          <p:cNvSpPr>
            <a:spLocks xmlns:a="http://schemas.openxmlformats.org/drawingml/2006/main" noGrp="1"/>
          </p:cNvSpPr>
          <p:nvPr/>
        </p:nvSpPr>
        <p:spPr>
          <a:xfrm xmlns:a="http://schemas.openxmlformats.org/drawingml/2006/main" rot="0">
            <a:off x="7134759" y="8619059"/>
            <a:ext cx="1503128"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20" b="0">
                <a:solidFill>
                  <a:srgbClr val="00355F"/>
                </a:solidFill>
                <a:latin typeface="Arial"/>
                <a:ea typeface="Arial"/>
                <a:cs typeface="Arial"/>
              </a:defRPr>
            </a:defPPr>
          </a:lstStyle>
          <a:p xmlns:a="http://schemas.openxmlformats.org/drawingml/2006/main">
            <a:pPr algn="l">
              <a:lnSpc>
                <a:spcPct val="100000"/>
              </a:lnSpc>
              <a:buNone/>
              <a:defRPr sz="1020" b="0">
                <a:solidFill>
                  <a:srgbClr val="00355F"/>
                </a:solidFill>
                <a:latin typeface="Arial"/>
                <a:ea typeface="Arial"/>
                <a:cs typeface="Arial"/>
              </a:defRPr>
            </a:pPr>
            <a:r>
              <a:rPr sz="1020" b="0">
                <a:solidFill>
                  <a:srgbClr val="00355F"/>
                </a:solidFill>
                <a:latin typeface="Arial"/>
                <a:ea typeface="Arial"/>
                <a:cs typeface="Arial"/>
              </a:rPr>
              <a:t>Changhong · 300151.SZ</a:t>
            </a:r>
          </a:p>
        </p:txBody>
      </p:sp>
      <p:sp>
        <p:nvSpPr>
          <p:cNvPr id="70" name="Figure 12 label 55 line 1">
            <a:extLst xmlns:a="http://schemas.openxmlformats.org/drawingml/2006/main">
              <a:ext uri="{FF2B5EF4-FFF2-40B4-BE49-F238E27FC236}">
                <a16:creationId xmlns:a16="http://schemas.microsoft.com/office/drawing/2014/main" id="{CBF6D6BC-209F-4C3A-8755-E68610CC32D7}"/>
              </a:ext>
            </a:extLst>
          </p:cNvPr>
          <p:cNvSpPr>
            <a:spLocks xmlns:a="http://schemas.openxmlformats.org/drawingml/2006/main" noGrp="1"/>
          </p:cNvSpPr>
          <p:nvPr/>
        </p:nvSpPr>
        <p:spPr>
          <a:xfrm xmlns:a="http://schemas.openxmlformats.org/drawingml/2006/main" rot="0">
            <a:off x="8773302" y="8459694"/>
            <a:ext cx="894328" cy="1543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72" b="0">
                <a:solidFill>
                  <a:srgbClr val="00355F"/>
                </a:solidFill>
                <a:latin typeface="Arial"/>
                <a:ea typeface="Arial"/>
                <a:cs typeface="Arial"/>
              </a:defRPr>
            </a:defPPr>
          </a:lstStyle>
          <a:p xmlns:a="http://schemas.openxmlformats.org/drawingml/2006/main">
            <a:pPr algn="l">
              <a:lnSpc>
                <a:spcPct val="100000"/>
              </a:lnSpc>
              <a:buNone/>
              <a:defRPr sz="972" b="0">
                <a:solidFill>
                  <a:srgbClr val="00355F"/>
                </a:solidFill>
                <a:latin typeface="Arial"/>
                <a:ea typeface="Arial"/>
                <a:cs typeface="Arial"/>
              </a:defRPr>
            </a:pPr>
            <a:r>
              <a:rPr sz="972" b="0">
                <a:solidFill>
                  <a:srgbClr val="00355F"/>
                </a:solidFill>
                <a:latin typeface="Arial"/>
                <a:ea typeface="Arial"/>
                <a:cs typeface="Arial"/>
              </a:rPr>
              <a:t>Corning · GLW</a:t>
            </a:r>
          </a:p>
        </p:txBody>
      </p:sp>
      <p:sp>
        <p:nvSpPr>
          <p:cNvPr id="71" name="Figure 12 label 55 line 2">
            <a:extLst xmlns:a="http://schemas.openxmlformats.org/drawingml/2006/main">
              <a:ext uri="{FF2B5EF4-FFF2-40B4-BE49-F238E27FC236}">
                <a16:creationId xmlns:a16="http://schemas.microsoft.com/office/drawing/2014/main" id="{B4C53A16-EB85-4FC8-A8D5-B844174B186B}"/>
              </a:ext>
            </a:extLst>
          </p:cNvPr>
          <p:cNvSpPr>
            <a:spLocks xmlns:a="http://schemas.openxmlformats.org/drawingml/2006/main" noGrp="1"/>
          </p:cNvSpPr>
          <p:nvPr/>
        </p:nvSpPr>
        <p:spPr>
          <a:xfrm xmlns:a="http://schemas.openxmlformats.org/drawingml/2006/main" rot="0">
            <a:off x="8773302" y="8613999"/>
            <a:ext cx="894328" cy="1543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72" b="0">
                <a:solidFill>
                  <a:srgbClr val="00355F"/>
                </a:solidFill>
                <a:latin typeface="Arial"/>
                <a:ea typeface="Arial"/>
                <a:cs typeface="Arial"/>
              </a:defRPr>
            </a:defPPr>
          </a:lstStyle>
          <a:p xmlns:a="http://schemas.openxmlformats.org/drawingml/2006/main">
            <a:pPr algn="l">
              <a:lnSpc>
                <a:spcPct val="100000"/>
              </a:lnSpc>
              <a:buNone/>
              <a:defRPr sz="972" b="0">
                <a:solidFill>
                  <a:srgbClr val="00355F"/>
                </a:solidFill>
                <a:latin typeface="Arial"/>
                <a:ea typeface="Arial"/>
                <a:cs typeface="Arial"/>
              </a:defRPr>
            </a:pPr>
            <a:r>
              <a:rPr sz="972" b="0">
                <a:solidFill>
                  <a:srgbClr val="00355F"/>
                </a:solidFill>
                <a:latin typeface="Arial"/>
                <a:ea typeface="Arial"/>
                <a:cs typeface="Arial"/>
              </a:rPr>
              <a:t>BD · BDX</a:t>
            </a:r>
          </a:p>
        </p:txBody>
      </p:sp>
      <p:sp>
        <p:nvSpPr>
          <p:cNvPr id="72" name="Figure 12 label 56 line 1">
            <a:extLst xmlns:a="http://schemas.openxmlformats.org/drawingml/2006/main">
              <a:ext uri="{FF2B5EF4-FFF2-40B4-BE49-F238E27FC236}">
                <a16:creationId xmlns:a16="http://schemas.microsoft.com/office/drawing/2014/main" id="{C89D588B-4FED-4B18-8CFF-F050FAADF4AB}"/>
              </a:ext>
            </a:extLst>
          </p:cNvPr>
          <p:cNvSpPr>
            <a:spLocks xmlns:a="http://schemas.openxmlformats.org/drawingml/2006/main" noGrp="1"/>
          </p:cNvSpPr>
          <p:nvPr/>
        </p:nvSpPr>
        <p:spPr>
          <a:xfrm xmlns:a="http://schemas.openxmlformats.org/drawingml/2006/main" rot="0">
            <a:off x="11071556" y="6111850"/>
            <a:ext cx="2507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60" b="1">
                <a:solidFill>
                  <a:srgbClr val="00355F"/>
                </a:solidFill>
                <a:latin typeface="Arial"/>
                <a:ea typeface="Arial"/>
                <a:cs typeface="Arial"/>
              </a:defRPr>
            </a:defPPr>
          </a:lstStyle>
          <a:p xmlns:a="http://schemas.openxmlformats.org/drawingml/2006/main">
            <a:pPr algn="l">
              <a:lnSpc>
                <a:spcPct val="100000"/>
              </a:lnSpc>
              <a:buNone/>
              <a:defRPr sz="1560" b="1">
                <a:solidFill>
                  <a:srgbClr val="00355F"/>
                </a:solidFill>
                <a:latin typeface="Arial"/>
                <a:ea typeface="Arial"/>
                <a:cs typeface="Arial"/>
              </a:defRPr>
            </a:pPr>
            <a:r>
              <a:rPr sz="1560" b="1">
                <a:solidFill>
                  <a:srgbClr val="00355F"/>
                </a:solidFill>
                <a:latin typeface="Arial"/>
                <a:ea typeface="Arial"/>
                <a:cs typeface="Arial"/>
              </a:rPr>
              <a:t>Measurement &amp; analytics</a:t>
            </a:r>
          </a:p>
        </p:txBody>
      </p:sp>
      <p:sp>
        <p:nvSpPr>
          <p:cNvPr id="73" name="Figure 12 label 57 line 1">
            <a:extLst xmlns:a="http://schemas.openxmlformats.org/drawingml/2006/main">
              <a:ext uri="{FF2B5EF4-FFF2-40B4-BE49-F238E27FC236}">
                <a16:creationId xmlns:a16="http://schemas.microsoft.com/office/drawing/2014/main" id="{E095E6E2-FD72-45C6-B252-4D7797B8EA82}"/>
              </a:ext>
            </a:extLst>
          </p:cNvPr>
          <p:cNvSpPr>
            <a:spLocks xmlns:a="http://schemas.openxmlformats.org/drawingml/2006/main" noGrp="1"/>
          </p:cNvSpPr>
          <p:nvPr/>
        </p:nvSpPr>
        <p:spPr>
          <a:xfrm xmlns:a="http://schemas.openxmlformats.org/drawingml/2006/main" rot="0">
            <a:off x="10661599" y="6501232"/>
            <a:ext cx="224758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60" b="0">
                <a:solidFill>
                  <a:srgbClr val="00355F"/>
                </a:solidFill>
                <a:latin typeface="Arial"/>
                <a:ea typeface="Arial"/>
                <a:cs typeface="Arial"/>
              </a:defRPr>
            </a:defPPr>
          </a:lstStyle>
          <a:p xmlns:a="http://schemas.openxmlformats.org/drawingml/2006/main">
            <a:pPr algn="l">
              <a:lnSpc>
                <a:spcPct val="100000"/>
              </a:lnSpc>
              <a:buNone/>
              <a:defRPr sz="1260" b="0">
                <a:solidFill>
                  <a:srgbClr val="00355F"/>
                </a:solidFill>
                <a:latin typeface="Arial"/>
                <a:ea typeface="Arial"/>
                <a:cs typeface="Arial"/>
              </a:defRPr>
            </a:pPr>
            <a:r>
              <a:rPr sz="1260" b="0">
                <a:solidFill>
                  <a:srgbClr val="00355F"/>
                </a:solidFill>
                <a:latin typeface="Arial"/>
                <a:ea typeface="Arial"/>
                <a:cs typeface="Arial"/>
              </a:rPr>
              <a:t>Sequencing, LC / LC-MS, flow</a:t>
            </a:r>
          </a:p>
        </p:txBody>
      </p:sp>
      <p:sp>
        <p:nvSpPr>
          <p:cNvPr id="74" name="Figure 12 label 57 line 2">
            <a:extLst xmlns:a="http://schemas.openxmlformats.org/drawingml/2006/main">
              <a:ext uri="{FF2B5EF4-FFF2-40B4-BE49-F238E27FC236}">
                <a16:creationId xmlns:a16="http://schemas.microsoft.com/office/drawing/2014/main" id="{4ADB2C80-E02C-4485-9482-07A69F8DB17F}"/>
              </a:ext>
            </a:extLst>
          </p:cNvPr>
          <p:cNvSpPr>
            <a:spLocks xmlns:a="http://schemas.openxmlformats.org/drawingml/2006/main" noGrp="1"/>
          </p:cNvSpPr>
          <p:nvPr/>
        </p:nvSpPr>
        <p:spPr>
          <a:xfrm xmlns:a="http://schemas.openxmlformats.org/drawingml/2006/main" rot="0">
            <a:off x="10661599" y="6701257"/>
            <a:ext cx="2247585"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60" b="0">
                <a:solidFill>
                  <a:srgbClr val="00355F"/>
                </a:solidFill>
                <a:latin typeface="Arial"/>
                <a:ea typeface="Arial"/>
                <a:cs typeface="Arial"/>
              </a:defRPr>
            </a:defPPr>
          </a:lstStyle>
          <a:p xmlns:a="http://schemas.openxmlformats.org/drawingml/2006/main">
            <a:pPr algn="l">
              <a:lnSpc>
                <a:spcPct val="100000"/>
              </a:lnSpc>
              <a:buNone/>
              <a:defRPr sz="1260" b="0">
                <a:solidFill>
                  <a:srgbClr val="00355F"/>
                </a:solidFill>
                <a:latin typeface="Arial"/>
                <a:ea typeface="Arial"/>
                <a:cs typeface="Arial"/>
              </a:defRPr>
            </a:pPr>
            <a:r>
              <a:rPr sz="1260" b="0">
                <a:solidFill>
                  <a:srgbClr val="00355F"/>
                </a:solidFill>
                <a:latin typeface="Arial"/>
                <a:ea typeface="Arial"/>
                <a:cs typeface="Arial"/>
              </a:rPr>
              <a:t>Imaging and quality control</a:t>
            </a:r>
          </a:p>
        </p:txBody>
      </p:sp>
      <p:sp>
        <p:nvSpPr>
          <p:cNvPr id="75" name="Figure 12 label 58 line 1">
            <a:extLst xmlns:a="http://schemas.openxmlformats.org/drawingml/2006/main">
              <a:ext uri="{FF2B5EF4-FFF2-40B4-BE49-F238E27FC236}">
                <a16:creationId xmlns:a16="http://schemas.microsoft.com/office/drawing/2014/main" id="{7D4D7F91-4ABE-48CC-BD09-F81C1FD1AD7C}"/>
              </a:ext>
            </a:extLst>
          </p:cNvPr>
          <p:cNvSpPr>
            <a:spLocks xmlns:a="http://schemas.openxmlformats.org/drawingml/2006/main" noGrp="1"/>
          </p:cNvSpPr>
          <p:nvPr/>
        </p:nvSpPr>
        <p:spPr>
          <a:xfrm xmlns:a="http://schemas.openxmlformats.org/drawingml/2006/main" rot="0">
            <a:off x="10656723" y="6930085"/>
            <a:ext cx="164014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220" b="1">
                <a:solidFill>
                  <a:srgbClr val="00355F"/>
                </a:solidFill>
                <a:latin typeface="Arial"/>
                <a:ea typeface="Arial"/>
                <a:cs typeface="Arial"/>
              </a:defRPr>
            </a:defPPr>
          </a:lstStyle>
          <a:p xmlns:a="http://schemas.openxmlformats.org/drawingml/2006/main">
            <a:pPr algn="l">
              <a:lnSpc>
                <a:spcPct val="100000"/>
              </a:lnSpc>
              <a:buNone/>
              <a:defRPr sz="2220" b="1">
                <a:solidFill>
                  <a:srgbClr val="00355F"/>
                </a:solidFill>
                <a:latin typeface="Arial"/>
                <a:ea typeface="Arial"/>
                <a:cs typeface="Arial"/>
              </a:defRPr>
            </a:pPr>
            <a:r>
              <a:rPr sz="2220" b="1">
                <a:solidFill>
                  <a:srgbClr val="00355F"/>
                </a:solidFill>
                <a:latin typeface="Arial"/>
                <a:ea typeface="Arial"/>
                <a:cs typeface="Arial"/>
              </a:rPr>
              <a:t>RMB 4.3bn</a:t>
            </a:r>
          </a:p>
        </p:txBody>
      </p:sp>
      <p:sp>
        <p:nvSpPr>
          <p:cNvPr id="76" name="Figure 12 label 59 line 1">
            <a:extLst xmlns:a="http://schemas.openxmlformats.org/drawingml/2006/main">
              <a:ext uri="{FF2B5EF4-FFF2-40B4-BE49-F238E27FC236}">
                <a16:creationId xmlns:a16="http://schemas.microsoft.com/office/drawing/2014/main" id="{1591930F-1F42-4031-B09E-729181D0C29B}"/>
              </a:ext>
            </a:extLst>
          </p:cNvPr>
          <p:cNvSpPr>
            <a:spLocks xmlns:a="http://schemas.openxmlformats.org/drawingml/2006/main" noGrp="1"/>
          </p:cNvSpPr>
          <p:nvPr/>
        </p:nvSpPr>
        <p:spPr>
          <a:xfrm xmlns:a="http://schemas.openxmlformats.org/drawingml/2006/main" rot="0">
            <a:off x="10662666" y="7373493"/>
            <a:ext cx="2159556" cy="1666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50" b="0">
                <a:solidFill>
                  <a:srgbClr val="00355F"/>
                </a:solidFill>
                <a:latin typeface="Arial"/>
                <a:ea typeface="Arial"/>
                <a:cs typeface="Arial"/>
              </a:defRPr>
            </a:defPPr>
          </a:lstStyle>
          <a:p xmlns:a="http://schemas.openxmlformats.org/drawingml/2006/main">
            <a:pPr algn="l">
              <a:lnSpc>
                <a:spcPct val="100000"/>
              </a:lnSpc>
              <a:buNone/>
              <a:defRPr sz="1050" b="0">
                <a:solidFill>
                  <a:srgbClr val="00355F"/>
                </a:solidFill>
                <a:latin typeface="Arial"/>
                <a:ea typeface="Arial"/>
                <a:cs typeface="Arial"/>
              </a:defRPr>
            </a:pPr>
            <a:r>
              <a:rPr sz="1050" b="0">
                <a:solidFill>
                  <a:srgbClr val="00355F"/>
                </a:solidFill>
                <a:latin typeface="Arial"/>
                <a:ea typeface="Arial"/>
                <a:cs typeface="Arial"/>
              </a:rPr>
              <a:t>China • 2024 • sequencing tools [5]</a:t>
            </a:r>
          </a:p>
        </p:txBody>
      </p:sp>
      <p:sp>
        <p:nvSpPr>
          <p:cNvPr id="77" name="Figure 12 label 60 line 1">
            <a:extLst xmlns:a="http://schemas.openxmlformats.org/drawingml/2006/main">
              <a:ext uri="{FF2B5EF4-FFF2-40B4-BE49-F238E27FC236}">
                <a16:creationId xmlns:a16="http://schemas.microsoft.com/office/drawing/2014/main" id="{2FEDE32A-05B7-4000-BE54-E5FB051960E6}"/>
              </a:ext>
            </a:extLst>
          </p:cNvPr>
          <p:cNvSpPr>
            <a:spLocks xmlns:a="http://schemas.openxmlformats.org/drawingml/2006/main" noGrp="1"/>
          </p:cNvSpPr>
          <p:nvPr/>
        </p:nvSpPr>
        <p:spPr>
          <a:xfrm xmlns:a="http://schemas.openxmlformats.org/drawingml/2006/main" rot="0">
            <a:off x="10662971" y="7597674"/>
            <a:ext cx="2133023" cy="1571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90" b="0">
                <a:solidFill>
                  <a:srgbClr val="00355F"/>
                </a:solidFill>
                <a:latin typeface="Arial"/>
                <a:ea typeface="Arial"/>
                <a:cs typeface="Arial"/>
              </a:defRPr>
            </a:defPPr>
          </a:lstStyle>
          <a:p xmlns:a="http://schemas.openxmlformats.org/drawingml/2006/main">
            <a:pPr algn="l">
              <a:lnSpc>
                <a:spcPct val="100000"/>
              </a:lnSpc>
              <a:buNone/>
              <a:defRPr sz="990" b="0">
                <a:solidFill>
                  <a:srgbClr val="00355F"/>
                </a:solidFill>
                <a:latin typeface="Arial"/>
                <a:ea typeface="Arial"/>
                <a:cs typeface="Arial"/>
              </a:defRPr>
            </a:pPr>
            <a:r>
              <a:rPr sz="990" b="0">
                <a:solidFill>
                  <a:srgbClr val="00355F"/>
                </a:solidFill>
                <a:latin typeface="Arial"/>
                <a:ea typeface="Arial"/>
                <a:cs typeface="Arial"/>
              </a:rPr>
              <a:t>Sequencers + consumables; all uses</a:t>
            </a:r>
          </a:p>
        </p:txBody>
      </p:sp>
      <p:sp>
        <p:nvSpPr>
          <p:cNvPr id="78" name="Figure 12 label 61 line 1">
            <a:extLst xmlns:a="http://schemas.openxmlformats.org/drawingml/2006/main">
              <a:ext uri="{FF2B5EF4-FFF2-40B4-BE49-F238E27FC236}">
                <a16:creationId xmlns:a16="http://schemas.microsoft.com/office/drawing/2014/main" id="{26BF1B54-B1D5-4672-B232-74DBA59DD3D7}"/>
              </a:ext>
            </a:extLst>
          </p:cNvPr>
          <p:cNvSpPr>
            <a:spLocks xmlns:a="http://schemas.openxmlformats.org/drawingml/2006/main" noGrp="1"/>
          </p:cNvSpPr>
          <p:nvPr/>
        </p:nvSpPr>
        <p:spPr>
          <a:xfrm xmlns:a="http://schemas.openxmlformats.org/drawingml/2006/main" rot="0">
            <a:off x="11758271" y="7912151"/>
            <a:ext cx="151275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380" b="1">
                <a:solidFill>
                  <a:srgbClr val="00355F"/>
                </a:solidFill>
                <a:latin typeface="Arial"/>
                <a:ea typeface="Arial"/>
                <a:cs typeface="Arial"/>
              </a:defRPr>
            </a:defPPr>
          </a:lstStyle>
          <a:p xmlns:a="http://schemas.openxmlformats.org/drawingml/2006/main">
            <a:pPr algn="l">
              <a:lnSpc>
                <a:spcPct val="100000"/>
              </a:lnSpc>
              <a:buNone/>
              <a:defRPr sz="1380" b="1">
                <a:solidFill>
                  <a:srgbClr val="00355F"/>
                </a:solidFill>
                <a:latin typeface="Arial"/>
                <a:ea typeface="Arial"/>
                <a:cs typeface="Arial"/>
              </a:defRPr>
            </a:pPr>
            <a:r>
              <a:rPr sz="1380" b="1">
                <a:solidFill>
                  <a:srgbClr val="00355F"/>
                </a:solidFill>
                <a:latin typeface="Arial"/>
                <a:ea typeface="Arial"/>
                <a:cs typeface="Arial"/>
              </a:rPr>
              <a:t>BD flow → WAT†</a:t>
            </a:r>
          </a:p>
        </p:txBody>
      </p:sp>
      <p:sp>
        <p:nvSpPr>
          <p:cNvPr id="79" name="Figure 12 label 62 line 1">
            <a:extLst xmlns:a="http://schemas.openxmlformats.org/drawingml/2006/main">
              <a:ext uri="{FF2B5EF4-FFF2-40B4-BE49-F238E27FC236}">
                <a16:creationId xmlns:a16="http://schemas.microsoft.com/office/drawing/2014/main" id="{1812F1FA-522E-4028-B811-3C955C04BE52}"/>
              </a:ext>
            </a:extLst>
          </p:cNvPr>
          <p:cNvSpPr>
            <a:spLocks xmlns:a="http://schemas.openxmlformats.org/drawingml/2006/main" noGrp="1"/>
          </p:cNvSpPr>
          <p:nvPr/>
        </p:nvSpPr>
        <p:spPr>
          <a:xfrm xmlns:a="http://schemas.openxmlformats.org/drawingml/2006/main" rot="0">
            <a:off x="10663581" y="8244155"/>
            <a:ext cx="1209610" cy="1381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870" b="1">
                <a:solidFill>
                  <a:srgbClr val="00355F"/>
                </a:solidFill>
                <a:latin typeface="Arial"/>
                <a:ea typeface="Arial"/>
                <a:cs typeface="Arial"/>
              </a:defRPr>
            </a:defPPr>
          </a:lstStyle>
          <a:p xmlns:a="http://schemas.openxmlformats.org/drawingml/2006/main">
            <a:pPr algn="l">
              <a:lnSpc>
                <a:spcPct val="100000"/>
              </a:lnSpc>
              <a:buNone/>
              <a:defRPr sz="870" b="1">
                <a:solidFill>
                  <a:srgbClr val="00355F"/>
                </a:solidFill>
                <a:latin typeface="Arial"/>
                <a:ea typeface="Arial"/>
                <a:cs typeface="Arial"/>
              </a:defRPr>
            </a:pPr>
            <a:r>
              <a:rPr sz="870" b="1">
                <a:solidFill>
                  <a:srgbClr val="00355F"/>
                </a:solidFill>
                <a:latin typeface="Arial"/>
                <a:ea typeface="Arial"/>
                <a:cs typeface="Arial"/>
              </a:rPr>
              <a:t>CHINA / HK LISTINGS</a:t>
            </a:r>
          </a:p>
        </p:txBody>
      </p:sp>
      <p:sp>
        <p:nvSpPr>
          <p:cNvPr id="80" name="Figure 12 label 63 line 1">
            <a:extLst xmlns:a="http://schemas.openxmlformats.org/drawingml/2006/main">
              <a:ext uri="{FF2B5EF4-FFF2-40B4-BE49-F238E27FC236}">
                <a16:creationId xmlns:a16="http://schemas.microsoft.com/office/drawing/2014/main" id="{01570F5A-F988-4F5E-8BD6-2345A3A07D24}"/>
              </a:ext>
            </a:extLst>
          </p:cNvPr>
          <p:cNvSpPr>
            <a:spLocks xmlns:a="http://schemas.openxmlformats.org/drawingml/2006/main" noGrp="1"/>
          </p:cNvSpPr>
          <p:nvPr/>
        </p:nvSpPr>
        <p:spPr>
          <a:xfrm xmlns:a="http://schemas.openxmlformats.org/drawingml/2006/main" rot="0">
            <a:off x="12302033" y="8245755"/>
            <a:ext cx="1329916"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840" b="1">
                <a:solidFill>
                  <a:srgbClr val="00355F"/>
                </a:solidFill>
                <a:latin typeface="Arial"/>
                <a:ea typeface="Arial"/>
                <a:cs typeface="Arial"/>
              </a:defRPr>
            </a:defPPr>
          </a:lstStyle>
          <a:p xmlns:a="http://schemas.openxmlformats.org/drawingml/2006/main">
            <a:pPr algn="l">
              <a:lnSpc>
                <a:spcPct val="100000"/>
              </a:lnSpc>
              <a:buNone/>
              <a:defRPr sz="840" b="1">
                <a:solidFill>
                  <a:srgbClr val="00355F"/>
                </a:solidFill>
                <a:latin typeface="Arial"/>
                <a:ea typeface="Arial"/>
                <a:cs typeface="Arial"/>
              </a:defRPr>
            </a:pPr>
            <a:r>
              <a:rPr sz="840" b="1">
                <a:solidFill>
                  <a:srgbClr val="00355F"/>
                </a:solidFill>
                <a:latin typeface="Arial"/>
                <a:ea typeface="Arial"/>
                <a:cs typeface="Arial"/>
              </a:rPr>
              <a:t>US LISTINGS / PARENTS</a:t>
            </a:r>
          </a:p>
        </p:txBody>
      </p:sp>
      <p:sp>
        <p:nvSpPr>
          <p:cNvPr id="81" name="Figure 12 label 64 line 1">
            <a:extLst xmlns:a="http://schemas.openxmlformats.org/drawingml/2006/main">
              <a:ext uri="{FF2B5EF4-FFF2-40B4-BE49-F238E27FC236}">
                <a16:creationId xmlns:a16="http://schemas.microsoft.com/office/drawing/2014/main" id="{CF64E690-4F26-40B1-8B12-C1FEE10F08E5}"/>
              </a:ext>
            </a:extLst>
          </p:cNvPr>
          <p:cNvSpPr>
            <a:spLocks xmlns:a="http://schemas.openxmlformats.org/drawingml/2006/main" noGrp="1"/>
          </p:cNvSpPr>
          <p:nvPr/>
        </p:nvSpPr>
        <p:spPr>
          <a:xfrm xmlns:a="http://schemas.openxmlformats.org/drawingml/2006/main" rot="0">
            <a:off x="10662819" y="8457134"/>
            <a:ext cx="1473958"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20" b="0">
                <a:solidFill>
                  <a:srgbClr val="00355F"/>
                </a:solidFill>
                <a:latin typeface="Arial"/>
                <a:ea typeface="Arial"/>
                <a:cs typeface="Arial"/>
              </a:defRPr>
            </a:defPPr>
          </a:lstStyle>
          <a:p xmlns:a="http://schemas.openxmlformats.org/drawingml/2006/main">
            <a:pPr algn="l">
              <a:lnSpc>
                <a:spcPct val="100000"/>
              </a:lnSpc>
              <a:buNone/>
              <a:defRPr sz="1020" b="0">
                <a:solidFill>
                  <a:srgbClr val="00355F"/>
                </a:solidFill>
                <a:latin typeface="Arial"/>
                <a:ea typeface="Arial"/>
                <a:cs typeface="Arial"/>
              </a:defRPr>
            </a:pPr>
            <a:r>
              <a:rPr sz="1020" b="0">
                <a:solidFill>
                  <a:srgbClr val="00355F"/>
                </a:solidFill>
                <a:latin typeface="Arial"/>
                <a:ea typeface="Arial"/>
                <a:cs typeface="Arial"/>
              </a:rPr>
              <a:t>MGI · 688114.SH</a:t>
            </a:r>
          </a:p>
        </p:txBody>
      </p:sp>
      <p:sp>
        <p:nvSpPr>
          <p:cNvPr id="82" name="Figure 12 label 64 line 2">
            <a:extLst xmlns:a="http://schemas.openxmlformats.org/drawingml/2006/main">
              <a:ext uri="{FF2B5EF4-FFF2-40B4-BE49-F238E27FC236}">
                <a16:creationId xmlns:a16="http://schemas.microsoft.com/office/drawing/2014/main" id="{01E279A6-EBEC-4524-AE7B-CBD3CFEB599D}"/>
              </a:ext>
            </a:extLst>
          </p:cNvPr>
          <p:cNvSpPr>
            <a:spLocks xmlns:a="http://schemas.openxmlformats.org/drawingml/2006/main" noGrp="1"/>
          </p:cNvSpPr>
          <p:nvPr/>
        </p:nvSpPr>
        <p:spPr>
          <a:xfrm xmlns:a="http://schemas.openxmlformats.org/drawingml/2006/main" rot="0">
            <a:off x="10662819" y="8619059"/>
            <a:ext cx="1473958"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20" b="0">
                <a:solidFill>
                  <a:srgbClr val="00355F"/>
                </a:solidFill>
                <a:latin typeface="Arial"/>
                <a:ea typeface="Arial"/>
                <a:cs typeface="Arial"/>
              </a:defRPr>
            </a:defPPr>
          </a:lstStyle>
          <a:p xmlns:a="http://schemas.openxmlformats.org/drawingml/2006/main">
            <a:pPr algn="l">
              <a:lnSpc>
                <a:spcPct val="100000"/>
              </a:lnSpc>
              <a:buNone/>
              <a:defRPr sz="1020" b="0">
                <a:solidFill>
                  <a:srgbClr val="00355F"/>
                </a:solidFill>
                <a:latin typeface="Arial"/>
                <a:ea typeface="Arial"/>
                <a:cs typeface="Arial"/>
              </a:defRPr>
            </a:pPr>
            <a:r>
              <a:rPr sz="1020" b="0">
                <a:solidFill>
                  <a:srgbClr val="00355F"/>
                </a:solidFill>
                <a:latin typeface="Arial"/>
                <a:ea typeface="Arial"/>
                <a:cs typeface="Arial"/>
              </a:rPr>
              <a:t>NanoMicro · 688690.SH</a:t>
            </a:r>
          </a:p>
        </p:txBody>
      </p:sp>
      <p:sp>
        <p:nvSpPr>
          <p:cNvPr id="83" name="Figure 12 label 65 line 1">
            <a:extLst xmlns:a="http://schemas.openxmlformats.org/drawingml/2006/main">
              <a:ext uri="{FF2B5EF4-FFF2-40B4-BE49-F238E27FC236}">
                <a16:creationId xmlns:a16="http://schemas.microsoft.com/office/drawing/2014/main" id="{4C3FE88C-BAC3-48AB-8595-2176946B2E6C}"/>
              </a:ext>
            </a:extLst>
          </p:cNvPr>
          <p:cNvSpPr>
            <a:spLocks xmlns:a="http://schemas.openxmlformats.org/drawingml/2006/main" noGrp="1"/>
          </p:cNvSpPr>
          <p:nvPr/>
        </p:nvSpPr>
        <p:spPr>
          <a:xfrm xmlns:a="http://schemas.openxmlformats.org/drawingml/2006/main" rot="0">
            <a:off x="12301362" y="8459694"/>
            <a:ext cx="910253" cy="1543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72" b="0">
                <a:solidFill>
                  <a:srgbClr val="00355F"/>
                </a:solidFill>
                <a:latin typeface="Arial"/>
                <a:ea typeface="Arial"/>
                <a:cs typeface="Arial"/>
              </a:defRPr>
            </a:defPPr>
          </a:lstStyle>
          <a:p xmlns:a="http://schemas.openxmlformats.org/drawingml/2006/main">
            <a:pPr algn="l">
              <a:lnSpc>
                <a:spcPct val="100000"/>
              </a:lnSpc>
              <a:buNone/>
              <a:defRPr sz="972" b="0">
                <a:solidFill>
                  <a:srgbClr val="00355F"/>
                </a:solidFill>
                <a:latin typeface="Arial"/>
                <a:ea typeface="Arial"/>
                <a:cs typeface="Arial"/>
              </a:defRPr>
            </a:pPr>
            <a:r>
              <a:rPr sz="972" b="0">
                <a:solidFill>
                  <a:srgbClr val="00355F"/>
                </a:solidFill>
                <a:latin typeface="Arial"/>
                <a:ea typeface="Arial"/>
                <a:cs typeface="Arial"/>
              </a:rPr>
              <a:t>Illumina · ILMN</a:t>
            </a:r>
          </a:p>
        </p:txBody>
      </p:sp>
      <p:sp>
        <p:nvSpPr>
          <p:cNvPr id="84" name="Figure 12 label 65 line 2">
            <a:extLst xmlns:a="http://schemas.openxmlformats.org/drawingml/2006/main">
              <a:ext uri="{FF2B5EF4-FFF2-40B4-BE49-F238E27FC236}">
                <a16:creationId xmlns:a16="http://schemas.microsoft.com/office/drawing/2014/main" id="{7741B76A-B59A-4CF2-8764-3B321850E8AC}"/>
              </a:ext>
            </a:extLst>
          </p:cNvPr>
          <p:cNvSpPr>
            <a:spLocks xmlns:a="http://schemas.openxmlformats.org/drawingml/2006/main" noGrp="1"/>
          </p:cNvSpPr>
          <p:nvPr/>
        </p:nvSpPr>
        <p:spPr>
          <a:xfrm xmlns:a="http://schemas.openxmlformats.org/drawingml/2006/main" rot="0">
            <a:off x="12301362" y="8613999"/>
            <a:ext cx="910253" cy="1543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72" b="0">
                <a:solidFill>
                  <a:srgbClr val="00355F"/>
                </a:solidFill>
                <a:latin typeface="Arial"/>
                <a:ea typeface="Arial"/>
                <a:cs typeface="Arial"/>
              </a:defRPr>
            </a:defPPr>
          </a:lstStyle>
          <a:p xmlns:a="http://schemas.openxmlformats.org/drawingml/2006/main">
            <a:pPr algn="l">
              <a:lnSpc>
                <a:spcPct val="100000"/>
              </a:lnSpc>
              <a:buNone/>
              <a:defRPr sz="972" b="0">
                <a:solidFill>
                  <a:srgbClr val="00355F"/>
                </a:solidFill>
                <a:latin typeface="Arial"/>
                <a:ea typeface="Arial"/>
                <a:cs typeface="Arial"/>
              </a:defRPr>
            </a:pPr>
            <a:r>
              <a:rPr sz="972" b="0">
                <a:solidFill>
                  <a:srgbClr val="00355F"/>
                </a:solidFill>
                <a:latin typeface="Arial"/>
                <a:ea typeface="Arial"/>
                <a:cs typeface="Arial"/>
              </a:rPr>
              <a:t>Agilent · A</a:t>
            </a:r>
          </a:p>
        </p:txBody>
      </p:sp>
      <p:sp>
        <p:nvSpPr>
          <p:cNvPr id="85" name="Figure 12 label 65 line 3">
            <a:extLst xmlns:a="http://schemas.openxmlformats.org/drawingml/2006/main">
              <a:ext uri="{FF2B5EF4-FFF2-40B4-BE49-F238E27FC236}">
                <a16:creationId xmlns:a16="http://schemas.microsoft.com/office/drawing/2014/main" id="{AD1A2568-36F1-4FAF-B143-94DD90B98C03}"/>
              </a:ext>
            </a:extLst>
          </p:cNvPr>
          <p:cNvSpPr>
            <a:spLocks xmlns:a="http://schemas.openxmlformats.org/drawingml/2006/main" noGrp="1"/>
          </p:cNvSpPr>
          <p:nvPr/>
        </p:nvSpPr>
        <p:spPr>
          <a:xfrm xmlns:a="http://schemas.openxmlformats.org/drawingml/2006/main" rot="0">
            <a:off x="12301362" y="8768304"/>
            <a:ext cx="910253" cy="1543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72" b="0">
                <a:solidFill>
                  <a:srgbClr val="00355F"/>
                </a:solidFill>
                <a:latin typeface="Arial"/>
                <a:ea typeface="Arial"/>
                <a:cs typeface="Arial"/>
              </a:defRPr>
            </a:defPPr>
          </a:lstStyle>
          <a:p xmlns:a="http://schemas.openxmlformats.org/drawingml/2006/main">
            <a:pPr algn="l">
              <a:lnSpc>
                <a:spcPct val="100000"/>
              </a:lnSpc>
              <a:buNone/>
              <a:defRPr sz="972" b="0">
                <a:solidFill>
                  <a:srgbClr val="00355F"/>
                </a:solidFill>
                <a:latin typeface="Arial"/>
                <a:ea typeface="Arial"/>
                <a:cs typeface="Arial"/>
              </a:defRPr>
            </a:pPr>
            <a:r>
              <a:rPr sz="972" b="0">
                <a:solidFill>
                  <a:srgbClr val="00355F"/>
                </a:solidFill>
                <a:latin typeface="Arial"/>
                <a:ea typeface="Arial"/>
                <a:cs typeface="Arial"/>
              </a:rPr>
              <a:t>Waters · WAT†</a:t>
            </a:r>
          </a:p>
        </p:txBody>
      </p:sp>
      <p:sp>
        <p:nvSpPr>
          <p:cNvPr id="86" name="Figure 12 label 66 line 1">
            <a:extLst xmlns:a="http://schemas.openxmlformats.org/drawingml/2006/main">
              <a:ext uri="{FF2B5EF4-FFF2-40B4-BE49-F238E27FC236}">
                <a16:creationId xmlns:a16="http://schemas.microsoft.com/office/drawing/2014/main" id="{6F0B2E86-FC7C-4174-87FE-FC1D325A07E2}"/>
              </a:ext>
            </a:extLst>
          </p:cNvPr>
          <p:cNvSpPr>
            <a:spLocks xmlns:a="http://schemas.openxmlformats.org/drawingml/2006/main" noGrp="1"/>
          </p:cNvSpPr>
          <p:nvPr/>
        </p:nvSpPr>
        <p:spPr>
          <a:xfrm xmlns:a="http://schemas.openxmlformats.org/drawingml/2006/main" rot="0">
            <a:off x="14599615" y="6111850"/>
            <a:ext cx="2275624"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60" b="1">
                <a:solidFill>
                  <a:srgbClr val="00355F"/>
                </a:solidFill>
                <a:latin typeface="Arial"/>
                <a:ea typeface="Arial"/>
                <a:cs typeface="Arial"/>
              </a:defRPr>
            </a:defPPr>
          </a:lstStyle>
          <a:p xmlns:a="http://schemas.openxmlformats.org/drawingml/2006/main">
            <a:pPr algn="l">
              <a:lnSpc>
                <a:spcPct val="100000"/>
              </a:lnSpc>
              <a:buNone/>
              <a:defRPr sz="1560" b="1">
                <a:solidFill>
                  <a:srgbClr val="00355F"/>
                </a:solidFill>
                <a:latin typeface="Arial"/>
                <a:ea typeface="Arial"/>
                <a:cs typeface="Arial"/>
              </a:defRPr>
            </a:pPr>
            <a:r>
              <a:rPr sz="1560" b="1">
                <a:solidFill>
                  <a:srgbClr val="00355F"/>
                </a:solidFill>
                <a:latin typeface="Arial"/>
                <a:ea typeface="Arial"/>
                <a:cs typeface="Arial"/>
              </a:rPr>
              <a:t>Purification &amp; scale-up</a:t>
            </a:r>
          </a:p>
        </p:txBody>
      </p:sp>
      <p:sp>
        <p:nvSpPr>
          <p:cNvPr id="87" name="Figure 12 label 67 line 1">
            <a:extLst xmlns:a="http://schemas.openxmlformats.org/drawingml/2006/main">
              <a:ext uri="{FF2B5EF4-FFF2-40B4-BE49-F238E27FC236}">
                <a16:creationId xmlns:a16="http://schemas.microsoft.com/office/drawing/2014/main" id="{F4EB5095-84BA-402D-955F-D104C54469A9}"/>
              </a:ext>
            </a:extLst>
          </p:cNvPr>
          <p:cNvSpPr>
            <a:spLocks xmlns:a="http://schemas.openxmlformats.org/drawingml/2006/main" noGrp="1"/>
          </p:cNvSpPr>
          <p:nvPr/>
        </p:nvSpPr>
        <p:spPr>
          <a:xfrm xmlns:a="http://schemas.openxmlformats.org/drawingml/2006/main" rot="0">
            <a:off x="14189659" y="6501232"/>
            <a:ext cx="2549854"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60" b="0">
                <a:solidFill>
                  <a:srgbClr val="00355F"/>
                </a:solidFill>
                <a:latin typeface="Arial"/>
                <a:ea typeface="Arial"/>
                <a:cs typeface="Arial"/>
              </a:defRPr>
            </a:defPPr>
          </a:lstStyle>
          <a:p xmlns:a="http://schemas.openxmlformats.org/drawingml/2006/main">
            <a:pPr algn="l">
              <a:lnSpc>
                <a:spcPct val="100000"/>
              </a:lnSpc>
              <a:buNone/>
              <a:defRPr sz="1260" b="0">
                <a:solidFill>
                  <a:srgbClr val="00355F"/>
                </a:solidFill>
                <a:latin typeface="Arial"/>
                <a:ea typeface="Arial"/>
                <a:cs typeface="Arial"/>
              </a:defRPr>
            </a:pPr>
            <a:r>
              <a:rPr sz="1260" b="0">
                <a:solidFill>
                  <a:srgbClr val="00355F"/>
                </a:solidFill>
                <a:latin typeface="Arial"/>
                <a:ea typeface="Arial"/>
                <a:cs typeface="Arial"/>
              </a:rPr>
              <a:t>Analytical columns, process resins</a:t>
            </a:r>
          </a:p>
        </p:txBody>
      </p:sp>
      <p:sp>
        <p:nvSpPr>
          <p:cNvPr id="88" name="Figure 12 label 67 line 2">
            <a:extLst xmlns:a="http://schemas.openxmlformats.org/drawingml/2006/main">
              <a:ext uri="{FF2B5EF4-FFF2-40B4-BE49-F238E27FC236}">
                <a16:creationId xmlns:a16="http://schemas.microsoft.com/office/drawing/2014/main" id="{F0353230-1945-4131-80A8-31AE3BAB256B}"/>
              </a:ext>
            </a:extLst>
          </p:cNvPr>
          <p:cNvSpPr>
            <a:spLocks xmlns:a="http://schemas.openxmlformats.org/drawingml/2006/main" noGrp="1"/>
          </p:cNvSpPr>
          <p:nvPr/>
        </p:nvSpPr>
        <p:spPr>
          <a:xfrm xmlns:a="http://schemas.openxmlformats.org/drawingml/2006/main" rot="0">
            <a:off x="14189659" y="6701257"/>
            <a:ext cx="2549854" cy="200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260" b="0">
                <a:solidFill>
                  <a:srgbClr val="00355F"/>
                </a:solidFill>
                <a:latin typeface="Arial"/>
                <a:ea typeface="Arial"/>
                <a:cs typeface="Arial"/>
              </a:defRPr>
            </a:defPPr>
          </a:lstStyle>
          <a:p xmlns:a="http://schemas.openxmlformats.org/drawingml/2006/main">
            <a:pPr algn="l">
              <a:lnSpc>
                <a:spcPct val="100000"/>
              </a:lnSpc>
              <a:buNone/>
              <a:defRPr sz="1260" b="0">
                <a:solidFill>
                  <a:srgbClr val="00355F"/>
                </a:solidFill>
                <a:latin typeface="Arial"/>
                <a:ea typeface="Arial"/>
                <a:cs typeface="Arial"/>
              </a:defRPr>
            </a:pPr>
            <a:r>
              <a:rPr sz="1260" b="0">
                <a:solidFill>
                  <a:srgbClr val="00355F"/>
                </a:solidFill>
                <a:latin typeface="Arial"/>
                <a:ea typeface="Arial"/>
                <a:cs typeface="Arial"/>
              </a:rPr>
              <a:t>Filtration and single-use systems</a:t>
            </a:r>
          </a:p>
        </p:txBody>
      </p:sp>
      <p:sp>
        <p:nvSpPr>
          <p:cNvPr id="89" name="Figure 12 label 68 line 1">
            <a:extLst xmlns:a="http://schemas.openxmlformats.org/drawingml/2006/main">
              <a:ext uri="{FF2B5EF4-FFF2-40B4-BE49-F238E27FC236}">
                <a16:creationId xmlns:a16="http://schemas.microsoft.com/office/drawing/2014/main" id="{67477604-4EAB-4585-8BEB-EB44C79DB833}"/>
              </a:ext>
            </a:extLst>
          </p:cNvPr>
          <p:cNvSpPr>
            <a:spLocks xmlns:a="http://schemas.openxmlformats.org/drawingml/2006/main" noGrp="1"/>
          </p:cNvSpPr>
          <p:nvPr/>
        </p:nvSpPr>
        <p:spPr>
          <a:xfrm xmlns:a="http://schemas.openxmlformats.org/drawingml/2006/main" rot="0">
            <a:off x="14184783" y="6930085"/>
            <a:ext cx="1797749"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2220" b="1">
                <a:solidFill>
                  <a:srgbClr val="00355F"/>
                </a:solidFill>
                <a:latin typeface="Arial"/>
                <a:ea typeface="Arial"/>
                <a:cs typeface="Arial"/>
              </a:defRPr>
            </a:defPPr>
          </a:lstStyle>
          <a:p xmlns:a="http://schemas.openxmlformats.org/drawingml/2006/main">
            <a:pPr algn="l">
              <a:lnSpc>
                <a:spcPct val="100000"/>
              </a:lnSpc>
              <a:buNone/>
              <a:defRPr sz="2220" b="1">
                <a:solidFill>
                  <a:srgbClr val="00355F"/>
                </a:solidFill>
                <a:latin typeface="Arial"/>
                <a:ea typeface="Arial"/>
                <a:cs typeface="Arial"/>
              </a:defRPr>
            </a:pPr>
            <a:r>
              <a:rPr sz="2220" b="1">
                <a:solidFill>
                  <a:srgbClr val="00355F"/>
                </a:solidFill>
                <a:latin typeface="Arial"/>
                <a:ea typeface="Arial"/>
                <a:cs typeface="Arial"/>
              </a:rPr>
              <a:t>US$578.2m*</a:t>
            </a:r>
          </a:p>
        </p:txBody>
      </p:sp>
      <p:sp>
        <p:nvSpPr>
          <p:cNvPr id="90" name="Figure 12 label 69 line 1">
            <a:extLst xmlns:a="http://schemas.openxmlformats.org/drawingml/2006/main">
              <a:ext uri="{FF2B5EF4-FFF2-40B4-BE49-F238E27FC236}">
                <a16:creationId xmlns:a16="http://schemas.microsoft.com/office/drawing/2014/main" id="{510997E0-062E-446A-8035-746DECB94CEB}"/>
              </a:ext>
            </a:extLst>
          </p:cNvPr>
          <p:cNvSpPr>
            <a:spLocks xmlns:a="http://schemas.openxmlformats.org/drawingml/2006/main" noGrp="1"/>
          </p:cNvSpPr>
          <p:nvPr/>
        </p:nvSpPr>
        <p:spPr>
          <a:xfrm xmlns:a="http://schemas.openxmlformats.org/drawingml/2006/main" rot="0">
            <a:off x="14190726" y="7373493"/>
            <a:ext cx="2196316" cy="16668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50" b="0">
                <a:solidFill>
                  <a:srgbClr val="00355F"/>
                </a:solidFill>
                <a:latin typeface="Arial"/>
                <a:ea typeface="Arial"/>
                <a:cs typeface="Arial"/>
              </a:defRPr>
            </a:defPPr>
          </a:lstStyle>
          <a:p xmlns:a="http://schemas.openxmlformats.org/drawingml/2006/main">
            <a:pPr algn="l">
              <a:lnSpc>
                <a:spcPct val="100000"/>
              </a:lnSpc>
              <a:buNone/>
              <a:defRPr sz="1050" b="0">
                <a:solidFill>
                  <a:srgbClr val="00355F"/>
                </a:solidFill>
                <a:latin typeface="Arial"/>
                <a:ea typeface="Arial"/>
                <a:cs typeface="Arial"/>
              </a:defRPr>
            </a:pPr>
            <a:r>
              <a:rPr sz="1050" b="0">
                <a:solidFill>
                  <a:srgbClr val="00355F"/>
                </a:solidFill>
                <a:latin typeface="Arial"/>
                <a:ea typeface="Arial"/>
                <a:cs typeface="Arial"/>
              </a:rPr>
              <a:t>China • 2024 • bioprocess resins [3]</a:t>
            </a:r>
          </a:p>
        </p:txBody>
      </p:sp>
      <p:sp>
        <p:nvSpPr>
          <p:cNvPr id="91" name="Figure 12 label 70 line 1">
            <a:extLst xmlns:a="http://schemas.openxmlformats.org/drawingml/2006/main">
              <a:ext uri="{FF2B5EF4-FFF2-40B4-BE49-F238E27FC236}">
                <a16:creationId xmlns:a16="http://schemas.microsoft.com/office/drawing/2014/main" id="{B66148EF-430B-485A-831B-D29AC58E8CE9}"/>
              </a:ext>
            </a:extLst>
          </p:cNvPr>
          <p:cNvSpPr>
            <a:spLocks xmlns:a="http://schemas.openxmlformats.org/drawingml/2006/main" noGrp="1"/>
          </p:cNvSpPr>
          <p:nvPr/>
        </p:nvSpPr>
        <p:spPr>
          <a:xfrm xmlns:a="http://schemas.openxmlformats.org/drawingml/2006/main" rot="0">
            <a:off x="14191031" y="7597674"/>
            <a:ext cx="2297478" cy="1571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90" b="0">
                <a:solidFill>
                  <a:srgbClr val="00355F"/>
                </a:solidFill>
                <a:latin typeface="Arial"/>
                <a:ea typeface="Arial"/>
                <a:cs typeface="Arial"/>
              </a:defRPr>
            </a:defPPr>
          </a:lstStyle>
          <a:p xmlns:a="http://schemas.openxmlformats.org/drawingml/2006/main">
            <a:pPr algn="l">
              <a:lnSpc>
                <a:spcPct val="100000"/>
              </a:lnSpc>
              <a:buNone/>
              <a:defRPr sz="990" b="0">
                <a:solidFill>
                  <a:srgbClr val="00355F"/>
                </a:solidFill>
                <a:latin typeface="Arial"/>
                <a:ea typeface="Arial"/>
                <a:cs typeface="Arial"/>
              </a:defRPr>
            </a:pPr>
            <a:r>
              <a:rPr sz="990" b="0">
                <a:solidFill>
                  <a:srgbClr val="00355F"/>
                </a:solidFill>
                <a:latin typeface="Arial"/>
                <a:ea typeface="Arial"/>
                <a:cs typeface="Arial"/>
              </a:rPr>
              <a:t>Manufacturing demand has a longer lag</a:t>
            </a:r>
          </a:p>
        </p:txBody>
      </p:sp>
      <p:sp>
        <p:nvSpPr>
          <p:cNvPr id="92" name="Figure 12 label 71 line 1">
            <a:extLst xmlns:a="http://schemas.openxmlformats.org/drawingml/2006/main">
              <a:ext uri="{FF2B5EF4-FFF2-40B4-BE49-F238E27FC236}">
                <a16:creationId xmlns:a16="http://schemas.microsoft.com/office/drawing/2014/main" id="{602F9D6F-5883-4A99-BC2E-6808C9A33E16}"/>
              </a:ext>
            </a:extLst>
          </p:cNvPr>
          <p:cNvSpPr>
            <a:spLocks xmlns:a="http://schemas.openxmlformats.org/drawingml/2006/main" noGrp="1"/>
          </p:cNvSpPr>
          <p:nvPr/>
        </p:nvSpPr>
        <p:spPr>
          <a:xfrm xmlns:a="http://schemas.openxmlformats.org/drawingml/2006/main" rot="0">
            <a:off x="14539266" y="7893711"/>
            <a:ext cx="1063931"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440" b="1">
                <a:solidFill>
                  <a:srgbClr val="00355F"/>
                </a:solidFill>
                <a:latin typeface="Arial"/>
                <a:ea typeface="Arial"/>
                <a:cs typeface="Arial"/>
              </a:defRPr>
            </a:defPPr>
          </a:lstStyle>
          <a:p xmlns:a="http://schemas.openxmlformats.org/drawingml/2006/main">
            <a:pPr algn="l">
              <a:lnSpc>
                <a:spcPct val="100000"/>
              </a:lnSpc>
              <a:buNone/>
              <a:defRPr sz="1440" b="1">
                <a:solidFill>
                  <a:srgbClr val="00355F"/>
                </a:solidFill>
                <a:latin typeface="Arial"/>
                <a:ea typeface="Arial"/>
                <a:cs typeface="Arial"/>
              </a:defRPr>
            </a:pPr>
            <a:r>
              <a:rPr sz="1440" b="1">
                <a:solidFill>
                  <a:srgbClr val="00355F"/>
                </a:solidFill>
                <a:latin typeface="Arial"/>
                <a:ea typeface="Arial"/>
                <a:cs typeface="Arial"/>
              </a:rPr>
              <a:t>NanoMicro</a:t>
            </a:r>
          </a:p>
        </p:txBody>
      </p:sp>
      <p:sp>
        <p:nvSpPr>
          <p:cNvPr id="93" name="Figure 12 label 72 line 1">
            <a:extLst xmlns:a="http://schemas.openxmlformats.org/drawingml/2006/main">
              <a:ext uri="{FF2B5EF4-FFF2-40B4-BE49-F238E27FC236}">
                <a16:creationId xmlns:a16="http://schemas.microsoft.com/office/drawing/2014/main" id="{173A4894-5D35-4D48-B376-8E480DE3664F}"/>
              </a:ext>
            </a:extLst>
          </p:cNvPr>
          <p:cNvSpPr>
            <a:spLocks xmlns:a="http://schemas.openxmlformats.org/drawingml/2006/main" noGrp="1"/>
          </p:cNvSpPr>
          <p:nvPr/>
        </p:nvSpPr>
        <p:spPr>
          <a:xfrm xmlns:a="http://schemas.openxmlformats.org/drawingml/2006/main" rot="0">
            <a:off x="14191641" y="8244155"/>
            <a:ext cx="1209610" cy="1381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870" b="1">
                <a:solidFill>
                  <a:srgbClr val="00355F"/>
                </a:solidFill>
                <a:latin typeface="Arial"/>
                <a:ea typeface="Arial"/>
                <a:cs typeface="Arial"/>
              </a:defRPr>
            </a:defPPr>
          </a:lstStyle>
          <a:p xmlns:a="http://schemas.openxmlformats.org/drawingml/2006/main">
            <a:pPr algn="l">
              <a:lnSpc>
                <a:spcPct val="100000"/>
              </a:lnSpc>
              <a:buNone/>
              <a:defRPr sz="870" b="1">
                <a:solidFill>
                  <a:srgbClr val="00355F"/>
                </a:solidFill>
                <a:latin typeface="Arial"/>
                <a:ea typeface="Arial"/>
                <a:cs typeface="Arial"/>
              </a:defRPr>
            </a:pPr>
            <a:r>
              <a:rPr sz="870" b="1">
                <a:solidFill>
                  <a:srgbClr val="00355F"/>
                </a:solidFill>
                <a:latin typeface="Arial"/>
                <a:ea typeface="Arial"/>
                <a:cs typeface="Arial"/>
              </a:rPr>
              <a:t>CHINA / HK LISTINGS</a:t>
            </a:r>
          </a:p>
        </p:txBody>
      </p:sp>
      <p:sp>
        <p:nvSpPr>
          <p:cNvPr id="94" name="Figure 12 label 73 line 1">
            <a:extLst xmlns:a="http://schemas.openxmlformats.org/drawingml/2006/main">
              <a:ext uri="{FF2B5EF4-FFF2-40B4-BE49-F238E27FC236}">
                <a16:creationId xmlns:a16="http://schemas.microsoft.com/office/drawing/2014/main" id="{3EBB1935-D083-45FA-A02B-E13B6AF84010}"/>
              </a:ext>
            </a:extLst>
          </p:cNvPr>
          <p:cNvSpPr>
            <a:spLocks xmlns:a="http://schemas.openxmlformats.org/drawingml/2006/main" noGrp="1"/>
          </p:cNvSpPr>
          <p:nvPr/>
        </p:nvSpPr>
        <p:spPr>
          <a:xfrm xmlns:a="http://schemas.openxmlformats.org/drawingml/2006/main" rot="0">
            <a:off x="15830093" y="8245755"/>
            <a:ext cx="1329916" cy="133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840" b="1">
                <a:solidFill>
                  <a:srgbClr val="00355F"/>
                </a:solidFill>
                <a:latin typeface="Arial"/>
                <a:ea typeface="Arial"/>
                <a:cs typeface="Arial"/>
              </a:defRPr>
            </a:defPPr>
          </a:lstStyle>
          <a:p xmlns:a="http://schemas.openxmlformats.org/drawingml/2006/main">
            <a:pPr algn="l">
              <a:lnSpc>
                <a:spcPct val="100000"/>
              </a:lnSpc>
              <a:buNone/>
              <a:defRPr sz="840" b="1">
                <a:solidFill>
                  <a:srgbClr val="00355F"/>
                </a:solidFill>
                <a:latin typeface="Arial"/>
                <a:ea typeface="Arial"/>
                <a:cs typeface="Arial"/>
              </a:defRPr>
            </a:pPr>
            <a:r>
              <a:rPr sz="840" b="1">
                <a:solidFill>
                  <a:srgbClr val="00355F"/>
                </a:solidFill>
                <a:latin typeface="Arial"/>
                <a:ea typeface="Arial"/>
                <a:cs typeface="Arial"/>
              </a:rPr>
              <a:t>US LISTINGS / PARENTS</a:t>
            </a:r>
          </a:p>
        </p:txBody>
      </p:sp>
      <p:sp>
        <p:nvSpPr>
          <p:cNvPr id="95" name="Figure 12 label 74 line 1">
            <a:extLst xmlns:a="http://schemas.openxmlformats.org/drawingml/2006/main">
              <a:ext uri="{FF2B5EF4-FFF2-40B4-BE49-F238E27FC236}">
                <a16:creationId xmlns:a16="http://schemas.microsoft.com/office/drawing/2014/main" id="{AC24424B-E65F-4BF6-A4D4-2745BA3FC618}"/>
              </a:ext>
            </a:extLst>
          </p:cNvPr>
          <p:cNvSpPr>
            <a:spLocks xmlns:a="http://schemas.openxmlformats.org/drawingml/2006/main" noGrp="1"/>
          </p:cNvSpPr>
          <p:nvPr/>
        </p:nvSpPr>
        <p:spPr>
          <a:xfrm xmlns:a="http://schemas.openxmlformats.org/drawingml/2006/main" rot="0">
            <a:off x="14190879" y="8457134"/>
            <a:ext cx="1473958"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20" b="0">
                <a:solidFill>
                  <a:srgbClr val="00355F"/>
                </a:solidFill>
                <a:latin typeface="Arial"/>
                <a:ea typeface="Arial"/>
                <a:cs typeface="Arial"/>
              </a:defRPr>
            </a:defPPr>
          </a:lstStyle>
          <a:p xmlns:a="http://schemas.openxmlformats.org/drawingml/2006/main">
            <a:pPr algn="l">
              <a:lnSpc>
                <a:spcPct val="100000"/>
              </a:lnSpc>
              <a:buNone/>
              <a:defRPr sz="1020" b="0">
                <a:solidFill>
                  <a:srgbClr val="00355F"/>
                </a:solidFill>
                <a:latin typeface="Arial"/>
                <a:ea typeface="Arial"/>
                <a:cs typeface="Arial"/>
              </a:defRPr>
            </a:pPr>
            <a:r>
              <a:rPr sz="1020" b="0">
                <a:solidFill>
                  <a:srgbClr val="00355F"/>
                </a:solidFill>
                <a:latin typeface="Arial"/>
                <a:ea typeface="Arial"/>
                <a:cs typeface="Arial"/>
              </a:rPr>
              <a:t>NanoMicro · 688690.SH</a:t>
            </a:r>
          </a:p>
        </p:txBody>
      </p:sp>
      <p:sp>
        <p:nvSpPr>
          <p:cNvPr id="96" name="Figure 12 label 74 line 2">
            <a:extLst xmlns:a="http://schemas.openxmlformats.org/drawingml/2006/main">
              <a:ext uri="{FF2B5EF4-FFF2-40B4-BE49-F238E27FC236}">
                <a16:creationId xmlns:a16="http://schemas.microsoft.com/office/drawing/2014/main" id="{67F6EA1D-99AB-4072-9B06-25A1E82D7293}"/>
              </a:ext>
            </a:extLst>
          </p:cNvPr>
          <p:cNvSpPr>
            <a:spLocks xmlns:a="http://schemas.openxmlformats.org/drawingml/2006/main" noGrp="1"/>
          </p:cNvSpPr>
          <p:nvPr/>
        </p:nvSpPr>
        <p:spPr>
          <a:xfrm xmlns:a="http://schemas.openxmlformats.org/drawingml/2006/main" rot="0">
            <a:off x="14190879" y="8619059"/>
            <a:ext cx="1473958" cy="161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020" b="0">
                <a:solidFill>
                  <a:srgbClr val="00355F"/>
                </a:solidFill>
                <a:latin typeface="Arial"/>
                <a:ea typeface="Arial"/>
                <a:cs typeface="Arial"/>
              </a:defRPr>
            </a:defPPr>
          </a:lstStyle>
          <a:p xmlns:a="http://schemas.openxmlformats.org/drawingml/2006/main">
            <a:pPr algn="l">
              <a:lnSpc>
                <a:spcPct val="100000"/>
              </a:lnSpc>
              <a:buNone/>
              <a:defRPr sz="1020" b="0">
                <a:solidFill>
                  <a:srgbClr val="00355F"/>
                </a:solidFill>
                <a:latin typeface="Arial"/>
                <a:ea typeface="Arial"/>
                <a:cs typeface="Arial"/>
              </a:defRPr>
            </a:pPr>
            <a:r>
              <a:rPr sz="1020" b="0">
                <a:solidFill>
                  <a:srgbClr val="00355F"/>
                </a:solidFill>
                <a:latin typeface="Arial"/>
                <a:ea typeface="Arial"/>
                <a:cs typeface="Arial"/>
              </a:rPr>
              <a:t>Sepax · 688758.SH</a:t>
            </a:r>
          </a:p>
        </p:txBody>
      </p:sp>
      <p:sp>
        <p:nvSpPr>
          <p:cNvPr id="97" name="Figure 12 label 75 line 1">
            <a:extLst xmlns:a="http://schemas.openxmlformats.org/drawingml/2006/main">
              <a:ext uri="{FF2B5EF4-FFF2-40B4-BE49-F238E27FC236}">
                <a16:creationId xmlns:a16="http://schemas.microsoft.com/office/drawing/2014/main" id="{63043726-6606-4DE8-AC3F-0A4C0D300A06}"/>
              </a:ext>
            </a:extLst>
          </p:cNvPr>
          <p:cNvSpPr>
            <a:spLocks xmlns:a="http://schemas.openxmlformats.org/drawingml/2006/main" noGrp="1"/>
          </p:cNvSpPr>
          <p:nvPr/>
        </p:nvSpPr>
        <p:spPr>
          <a:xfrm xmlns:a="http://schemas.openxmlformats.org/drawingml/2006/main" rot="0">
            <a:off x="15829422" y="8459694"/>
            <a:ext cx="1033929" cy="1543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72" b="0">
                <a:solidFill>
                  <a:srgbClr val="00355F"/>
                </a:solidFill>
                <a:latin typeface="Arial"/>
                <a:ea typeface="Arial"/>
                <a:cs typeface="Arial"/>
              </a:defRPr>
            </a:defPPr>
          </a:lstStyle>
          <a:p xmlns:a="http://schemas.openxmlformats.org/drawingml/2006/main">
            <a:pPr algn="l">
              <a:lnSpc>
                <a:spcPct val="100000"/>
              </a:lnSpc>
              <a:buNone/>
              <a:defRPr sz="972" b="0">
                <a:solidFill>
                  <a:srgbClr val="00355F"/>
                </a:solidFill>
                <a:latin typeface="Arial"/>
                <a:ea typeface="Arial"/>
                <a:cs typeface="Arial"/>
              </a:defRPr>
            </a:pPr>
            <a:r>
              <a:rPr sz="972" b="0">
                <a:solidFill>
                  <a:srgbClr val="00355F"/>
                </a:solidFill>
                <a:latin typeface="Arial"/>
                <a:ea typeface="Arial"/>
                <a:cs typeface="Arial"/>
              </a:rPr>
              <a:t>Cytiva · DHR</a:t>
            </a:r>
          </a:p>
        </p:txBody>
      </p:sp>
      <p:sp>
        <p:nvSpPr>
          <p:cNvPr id="98" name="Figure 12 label 75 line 2">
            <a:extLst xmlns:a="http://schemas.openxmlformats.org/drawingml/2006/main">
              <a:ext uri="{FF2B5EF4-FFF2-40B4-BE49-F238E27FC236}">
                <a16:creationId xmlns:a16="http://schemas.microsoft.com/office/drawing/2014/main" id="{D6B07E11-2548-47A8-9529-F90C8BDA39BF}"/>
              </a:ext>
            </a:extLst>
          </p:cNvPr>
          <p:cNvSpPr>
            <a:spLocks xmlns:a="http://schemas.openxmlformats.org/drawingml/2006/main" noGrp="1"/>
          </p:cNvSpPr>
          <p:nvPr/>
        </p:nvSpPr>
        <p:spPr>
          <a:xfrm xmlns:a="http://schemas.openxmlformats.org/drawingml/2006/main" rot="0">
            <a:off x="15829422" y="8613999"/>
            <a:ext cx="1033929" cy="15430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72" b="0">
                <a:solidFill>
                  <a:srgbClr val="00355F"/>
                </a:solidFill>
                <a:latin typeface="Arial"/>
                <a:ea typeface="Arial"/>
                <a:cs typeface="Arial"/>
              </a:defRPr>
            </a:defPPr>
          </a:lstStyle>
          <a:p xmlns:a="http://schemas.openxmlformats.org/drawingml/2006/main">
            <a:pPr algn="l">
              <a:lnSpc>
                <a:spcPct val="100000"/>
              </a:lnSpc>
              <a:buNone/>
              <a:defRPr sz="972" b="0">
                <a:solidFill>
                  <a:srgbClr val="00355F"/>
                </a:solidFill>
                <a:latin typeface="Arial"/>
                <a:ea typeface="Arial"/>
                <a:cs typeface="Arial"/>
              </a:defRPr>
            </a:pPr>
            <a:r>
              <a:rPr sz="972" b="0">
                <a:solidFill>
                  <a:srgbClr val="00355F"/>
                </a:solidFill>
                <a:latin typeface="Arial"/>
                <a:ea typeface="Arial"/>
                <a:cs typeface="Arial"/>
              </a:rPr>
              <a:t>Repligen · RGEN</a:t>
            </a:r>
          </a:p>
        </p:txBody>
      </p:sp>
      <p:sp>
        <p:nvSpPr>
          <p:cNvPr id="99" name="Figure 12 label 76 line 1">
            <a:extLst xmlns:a="http://schemas.openxmlformats.org/drawingml/2006/main">
              <a:ext uri="{FF2B5EF4-FFF2-40B4-BE49-F238E27FC236}">
                <a16:creationId xmlns:a16="http://schemas.microsoft.com/office/drawing/2014/main" id="{BF6B877E-C567-4821-B224-B98CD471EC40}"/>
              </a:ext>
            </a:extLst>
          </p:cNvPr>
          <p:cNvSpPr>
            <a:spLocks xmlns:a="http://schemas.openxmlformats.org/drawingml/2006/main" noGrp="1"/>
          </p:cNvSpPr>
          <p:nvPr/>
        </p:nvSpPr>
        <p:spPr>
          <a:xfrm xmlns:a="http://schemas.openxmlformats.org/drawingml/2006/main" rot="0">
            <a:off x="7223760" y="9345930"/>
            <a:ext cx="5115074"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500" b="1">
                <a:solidFill>
                  <a:srgbClr val="FFFFFF"/>
                </a:solidFill>
                <a:latin typeface="Arial"/>
                <a:ea typeface="Arial"/>
                <a:cs typeface="Arial"/>
              </a:defRPr>
            </a:defPPr>
          </a:lstStyle>
          <a:p xmlns:a="http://schemas.openxmlformats.org/drawingml/2006/main">
            <a:pPr algn="l">
              <a:lnSpc>
                <a:spcPct val="100000"/>
              </a:lnSpc>
              <a:buNone/>
              <a:defRPr sz="1500" b="1">
                <a:solidFill>
                  <a:srgbClr val="FFFFFF"/>
                </a:solidFill>
                <a:latin typeface="Arial"/>
                <a:ea typeface="Arial"/>
                <a:cs typeface="Arial"/>
              </a:defRPr>
            </a:pPr>
            <a:r>
              <a:rPr sz="1500" b="1">
                <a:solidFill>
                  <a:srgbClr val="FFFFFF"/>
                </a:solidFill>
                <a:latin typeface="Arial"/>
                <a:ea typeface="Arial"/>
                <a:cs typeface="Arial"/>
              </a:rPr>
              <a:t>Automation + data orchestration span every tool family</a:t>
            </a:r>
          </a:p>
        </p:txBody>
      </p:sp>
      <p:sp>
        <p:nvSpPr>
          <p:cNvPr id="100" name="Figure 12 label 77 line 1">
            <a:extLst xmlns:a="http://schemas.openxmlformats.org/drawingml/2006/main">
              <a:ext uri="{FF2B5EF4-FFF2-40B4-BE49-F238E27FC236}">
                <a16:creationId xmlns:a16="http://schemas.microsoft.com/office/drawing/2014/main" id="{3FD10C27-495E-40BC-A1CB-2C2D48A22C02}"/>
              </a:ext>
            </a:extLst>
          </p:cNvPr>
          <p:cNvSpPr>
            <a:spLocks xmlns:a="http://schemas.openxmlformats.org/drawingml/2006/main" noGrp="1"/>
          </p:cNvSpPr>
          <p:nvPr/>
        </p:nvSpPr>
        <p:spPr>
          <a:xfrm xmlns:a="http://schemas.openxmlformats.org/drawingml/2006/main" rot="0">
            <a:off x="16255289" y="9380372"/>
            <a:ext cx="810119" cy="180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1140" b="1">
                <a:solidFill>
                  <a:srgbClr val="00355F"/>
                </a:solidFill>
                <a:latin typeface="Arial"/>
                <a:ea typeface="Arial"/>
                <a:cs typeface="Arial"/>
              </a:defRPr>
            </a:defPPr>
          </a:lstStyle>
          <a:p xmlns:a="http://schemas.openxmlformats.org/drawingml/2006/main">
            <a:pPr algn="l">
              <a:lnSpc>
                <a:spcPct val="100000"/>
              </a:lnSpc>
              <a:buNone/>
              <a:defRPr sz="1140" b="1">
                <a:solidFill>
                  <a:srgbClr val="00355F"/>
                </a:solidFill>
                <a:latin typeface="Arial"/>
                <a:ea typeface="Arial"/>
                <a:cs typeface="Arial"/>
              </a:defRPr>
            </a:pPr>
            <a:r>
              <a:rPr sz="1140" b="1">
                <a:solidFill>
                  <a:srgbClr val="00355F"/>
                </a:solidFill>
                <a:latin typeface="Arial"/>
                <a:ea typeface="Arial"/>
                <a:cs typeface="Arial"/>
              </a:rPr>
              <a:t>SIX: TECN</a:t>
            </a:r>
          </a:p>
        </p:txBody>
      </p:sp>
      <p:sp>
        <p:nvSpPr>
          <p:cNvPr id="101" name="Figure 12 label 78 line 1">
            <a:extLst xmlns:a="http://schemas.openxmlformats.org/drawingml/2006/main">
              <a:ext uri="{FF2B5EF4-FFF2-40B4-BE49-F238E27FC236}">
                <a16:creationId xmlns:a16="http://schemas.microsoft.com/office/drawing/2014/main" id="{3131C3B5-743C-433B-A36C-80FED393FD09}"/>
              </a:ext>
            </a:extLst>
          </p:cNvPr>
          <p:cNvSpPr>
            <a:spLocks xmlns:a="http://schemas.openxmlformats.org/drawingml/2006/main" noGrp="1"/>
          </p:cNvSpPr>
          <p:nvPr/>
        </p:nvSpPr>
        <p:spPr>
          <a:xfrm xmlns:a="http://schemas.openxmlformats.org/drawingml/2006/main" rot="0">
            <a:off x="6738671" y="9799854"/>
            <a:ext cx="5884236" cy="1571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90" b="0">
                <a:solidFill>
                  <a:srgbClr val="00355F"/>
                </a:solidFill>
                <a:latin typeface="Arial"/>
                <a:ea typeface="Arial"/>
                <a:cs typeface="Arial"/>
              </a:defRPr>
            </a:defPPr>
          </a:lstStyle>
          <a:p xmlns:a="http://schemas.openxmlformats.org/drawingml/2006/main">
            <a:pPr algn="l">
              <a:lnSpc>
                <a:spcPct val="100000"/>
              </a:lnSpc>
              <a:buNone/>
              <a:defRPr sz="990" b="0">
                <a:solidFill>
                  <a:srgbClr val="00355F"/>
                </a:solidFill>
                <a:latin typeface="Arial"/>
                <a:ea typeface="Arial"/>
                <a:cs typeface="Arial"/>
              </a:defRPr>
            </a:pPr>
            <a:r>
              <a:rPr sz="990" b="0">
                <a:solidFill>
                  <a:srgbClr val="00355F"/>
                </a:solidFill>
                <a:latin typeface="Arial"/>
                <a:ea typeface="Arial"/>
                <a:cs typeface="Arial"/>
              </a:rPr>
              <a:t>† Ex-BD biosciences / flow moved to Waters on 9 Feb 2026; BD (BDX) here means specimen collection.</a:t>
            </a:r>
          </a:p>
        </p:txBody>
      </p:sp>
      <p:sp>
        <p:nvSpPr>
          <p:cNvPr id="102" name="Figure 12 label 79 line 1">
            <a:extLst xmlns:a="http://schemas.openxmlformats.org/drawingml/2006/main">
              <a:ext uri="{FF2B5EF4-FFF2-40B4-BE49-F238E27FC236}">
                <a16:creationId xmlns:a16="http://schemas.microsoft.com/office/drawing/2014/main" id="{444B63BC-0CAD-4A90-A6C2-707009ABE426}"/>
              </a:ext>
            </a:extLst>
          </p:cNvPr>
          <p:cNvSpPr>
            <a:spLocks xmlns:a="http://schemas.openxmlformats.org/drawingml/2006/main" noGrp="1"/>
          </p:cNvSpPr>
          <p:nvPr/>
        </p:nvSpPr>
        <p:spPr>
          <a:xfrm xmlns:a="http://schemas.openxmlformats.org/drawingml/2006/main" rot="0">
            <a:off x="6738976" y="10008794"/>
            <a:ext cx="7232279" cy="14763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lstStyle xmlns:a="http://schemas.openxmlformats.org/drawingml/2006/main">
            <a:defPPr algn="l">
              <a:defRPr sz="930" b="0">
                <a:solidFill>
                  <a:srgbClr val="00355F"/>
                </a:solidFill>
                <a:latin typeface="Arial"/>
                <a:ea typeface="Arial"/>
                <a:cs typeface="Arial"/>
              </a:defRPr>
            </a:defPPr>
          </a:lstStyle>
          <a:p xmlns:a="http://schemas.openxmlformats.org/drawingml/2006/main">
            <a:pPr algn="l">
              <a:lnSpc>
                <a:spcPct val="100000"/>
              </a:lnSpc>
              <a:buNone/>
              <a:defRPr sz="930" b="0">
                <a:solidFill>
                  <a:srgbClr val="00355F"/>
                </a:solidFill>
                <a:latin typeface="Arial"/>
                <a:ea typeface="Arial"/>
                <a:cs typeface="Arial"/>
              </a:defRPr>
            </a:pPr>
            <a:r>
              <a:rPr sz="930" b="0">
                <a:solidFill>
                  <a:srgbClr val="00355F"/>
                </a:solidFill>
                <a:latin typeface="Arial"/>
                <a:ea typeface="Arial"/>
                <a:cs typeface="Arial"/>
              </a:rPr>
              <a:t>Groups denote listings, not incorporation; brands use parent tickers. * Source access limited. Sources and ticker register: SOURCES.md.</a:t>
            </a:r>
          </a:p>
        </p:txBody>
      </p:sp>
    </p:spTree>
    <p:extLst>
      <p:ext uri="{BB962C8B-B14F-4D97-AF65-F5344CB8AC3E}">
        <p14:creationId xmlns:p14="http://schemas.microsoft.com/office/powerpoint/2010/main" val="72469028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2026-10-13T05:19:32.1880000Z</dcterms:created>
  <dcterms:modified xsi:type="dcterms:W3CDTF">2026-10-13T05:19:32.1880000Z</dcterms:modified>
</coreProperties>
</file>