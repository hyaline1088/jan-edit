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fd5f14515c43b0" /><Relationship Type="http://schemas.openxmlformats.org/officeDocument/2006/relationships/extended-properties" Target="/docProps/app.xml" Id="R06a378abc5cd4012" /><Relationship Type="http://schemas.openxmlformats.org/officeDocument/2006/relationships/officeDocument" Target="/ppt/presentation.xml" Id="Rcc10c64001754213" /></Relationships>
</file>

<file path=ppt/presentation.xml><?xml version="1.0" encoding="utf-8"?>
<p:presentation xmlns:p="http://schemas.openxmlformats.org/presentationml/2006/main">
  <p:sldMasterIdLst>
    <p:sldMasterId xmlns:r="http://schemas.openxmlformats.org/officeDocument/2006/relationships" id="2147483648" r:id="Rbbeca56a11cc49a7"/>
  </p:sldMasterIdLst>
  <p:notesMasterIdLst>
    <p:notesMasterId xmlns:r="http://schemas.openxmlformats.org/officeDocument/2006/relationships" r:id="R04eb2d394428452a"/>
  </p:notesMasterIdLst>
  <p:sldIdLst>
    <p:sldId xmlns:r="http://schemas.openxmlformats.org/officeDocument/2006/relationships" id="256" r:id="R62617eea7c874719"/>
    <p:sldId xmlns:r="http://schemas.openxmlformats.org/officeDocument/2006/relationships" id="257" r:id="Rb3e89e08127f494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2afd7c3e3b4727" /><Relationship Type="http://schemas.openxmlformats.org/officeDocument/2006/relationships/slideMaster" Target="/ppt/slideMasters/slideMaster1.xml" Id="Rbbeca56a11cc49a7" /><Relationship Type="http://schemas.openxmlformats.org/officeDocument/2006/relationships/notesMaster" Target="/ppt/notesMasters/notesMaster1.xml" Id="R04eb2d394428452a" /><Relationship Type="http://schemas.openxmlformats.org/officeDocument/2006/relationships/presProps" Target="/ppt/presProps.xml" Id="Rc6b9cb1d4d0e44a7" /><Relationship Type="http://schemas.openxmlformats.org/officeDocument/2006/relationships/tableStyles" Target="/ppt/tableStyles.xml" Id="R9bc32aede46c4aec" /><Relationship Type="http://schemas.openxmlformats.org/officeDocument/2006/relationships/slide" Target="/ppt/slides/slide1.xml" Id="R62617eea7c874719" /><Relationship Type="http://schemas.openxmlformats.org/officeDocument/2006/relationships/slide" Target="/ppt/slides/slide2.xml" Id="Rb3e89e08127f49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beb117159e43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7a870e248f4a67" /><Relationship Type="http://schemas.openxmlformats.org/officeDocument/2006/relationships/notesMaster" Target="/ppt/notesMasters/notesMaster1.xml" Id="R94820048a4b24a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9c9da7d6094e54" /><Relationship Type="http://schemas.openxmlformats.org/officeDocument/2006/relationships/notesMaster" Target="/ppt/notesMasters/notesMaster1.xml" Id="R41ff415b97644c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13. Illustrative dataset organization, not an empirical comparison of pre-AI versus AI industry cohorts. Matrix colors encode coverage only, not measured performance. KD is often derived from the same fitted sensorgrams as kon/koff in an appropriate 1:1 model. Traditional drug development already included multi-assay characterization. Stage 0 is an analyst framing for biological data production across model training and iteration.</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14. Qualitative workflow and listed-supplier exposure mapping. Stage 0 is an analyst demand framework, not a claim of incremental realized revenue. Antigen-specific affinity, epitope and cell potency require target/condition context; PROPHET-Ab has a different set of ten developability assays. Recurring procurement is modeled by actual workflow executions and net material use; instruments CAPEX and services are separate. Logo artwork is omitted by user preference. Icons are Lucide originals, ISC licensed.</a:t>
            </a:r>
          </a:p>
          <a:p xmlns:a="http://schemas.openxmlformats.org/drawingml/2006/main">
            <a:r>
              <a:t/>
            </a:r>
          </a:p>
          <a:p xmlns:a="http://schemas.openxmlformats.org/drawingml/2006/main">
            <a:r>
              <a:t># AI antibody research: molecule throughput and experimental data density</a:t>
            </a:r>
          </a:p>
          <a:p xmlns:a="http://schemas.openxmlformats.org/drawingml/2006/main">
            <a:r>
              <a:t/>
            </a:r>
          </a:p>
          <a:p xmlns:a="http://schemas.openxmlformats.org/drawingml/2006/main">
            <a:r>
              <a:t>Evidence checked on 13 October 2026. The two English figures describe a mechanism and an investment hypothesis. They do not estimate incremental TAM, realized AI revenue or stock returns. Comparison counts are illustrative.</a:t>
            </a:r>
          </a:p>
          <a:p xmlns:a="http://schemas.openxmlformats.org/drawingml/2006/main">
            <a:r>
              <a:t/>
            </a:r>
          </a:p>
          <a:p xmlns:a="http://schemas.openxmlformats.org/drawingml/2006/main">
            <a:r>
              <a:t>## Conclusion and its limits</a:t>
            </a:r>
          </a:p>
          <a:p xmlns:a="http://schemas.openxmlformats.org/drawingml/2006/main">
            <a:r>
              <a:t/>
            </a:r>
          </a:p>
          <a:p xmlns:a="http://schemas.openxmlformats.org/drawingml/2006/main">
            <a:r>
              <a:t>Experiments can support both today's candidate selection and a reusable training dataset for future projects. Stage 0 describes this continuing biological-data production function across training, design, validation and iteration; it is not necessarily a one-time step before design.</a:t>
            </a:r>
          </a:p>
          <a:p xmlns:a="http://schemas.openxmlformats.org/drawingml/2006/main">
            <a:r>
              <a:t/>
            </a:r>
          </a:p>
          <a:p xmlns:a="http://schemas.openxmlformats.org/drawingml/2006/main">
            <a:r>
              <a:t>Data insufficiency can mean incomplete property coverage, incompatible assay conditions, limited sequence/target/format diversity, or data that cannot be accessed or licensed. Cleaning or licensing existing records can improve modeling without new experiments. Active learning can prioritize fewer informative measurements. Stage 0 is an evidenced demand channel, with uncertain net spending and supplier revenue.</a:t>
            </a:r>
          </a:p>
          <a:p xmlns:a="http://schemas.openxmlformats.org/drawingml/2006/main">
            <a:r>
              <a:t/>
            </a:r>
          </a:p>
          <a:p xmlns:a="http://schemas.openxmlformats.org/drawingml/2006/main">
            <a:r>
              <a:t>## Primary evidence</a:t>
            </a:r>
          </a:p>
          <a:p xmlns:a="http://schemas.openxmlformats.org/drawingml/2006/main">
            <a:r>
              <a:t/>
            </a:r>
          </a:p>
          <a:p xmlns:a="http://schemas.openxmlformats.org/drawingml/2006/main">
            <a:r>
              <a:t>1. **Jain et al., PNAS, 2017.** [Paper](https://pmc.ncbi.nlm.nih.gov/articles/PMC5293111/), DOI 10.1073/pnas.1616408114. The authors expressed 137 advanced clinical-stage antibody sequences on a common IgG1 scaffold and assessed 12 biophysical assays. Multi-property characterization predates the current AI wave. Some approved antibodies still triggered developability warnings; a single risk metric is not a universal clinical veto. The experimental scaffold differs from exact drug formats.</a:t>
            </a:r>
          </a:p>
          <a:p xmlns:a="http://schemas.openxmlformats.org/drawingml/2006/main">
            <a:r>
              <a:t/>
            </a:r>
          </a:p>
          <a:p xmlns:a="http://schemas.openxmlformats.org/drawingml/2006/main">
            <a:r>
              <a:t>2. **Arsiwala et al., mAbs, 2025.** [Paper](https://pmc.ncbi.nlm.nih.gov/articles/PMC12674332/), DOI 10.1080/19420862.2025.2593055. PROPHET-Ab was built for standardized model-training data. The paper reports 246 IgGs and ten developability assay types, with incomplete coverage for some assays; DLS-kD covered ten IgGs. Methods include titer, CE-SDS, SEC, nanoDSF/DSF, HIC, SMAC, AC-SINS, DLS-kD, heparin-affinity chromatography and polyreactivity. This differs from our nine labels and does not supply all target-specific binding kinetics, precise epitopes or cell potency. The PMC page triggered a verification challenge; full text was checked through [Europe PMC original-article XML](https://www.ebi.ac.uk/europepmc/webservices/rest/PMC12674332/fullTextXML).</a:t>
            </a:r>
          </a:p>
          <a:p xmlns:a="http://schemas.openxmlformats.org/drawingml/2006/main">
            <a:r>
              <a:t/>
            </a:r>
          </a:p>
          <a:p xmlns:a="http://schemas.openxmlformats.org/drawingml/2006/main">
            <a:r>
              <a:t>3. **van Niekerk et al., mAbs, 2026.** [Paper abstract](https://www.tandfonline.com/doi/abs/10.1080/19420862.2026.2634216), DOI 10.1080/19420862.2026.2634216. The 2025 competition used 246 clinical antibodies for public training and 80 for blinded testing, with 113 teams. Best test-set Spearman correlations were:</a:t>
            </a:r>
          </a:p>
          <a:p xmlns:a="http://schemas.openxmlformats.org/drawingml/2006/main">
            <a:r>
              <a:t/>
            </a:r>
          </a:p>
          <a:p xmlns:a="http://schemas.openxmlformats.org/drawingml/2006/main">
            <a:r>
              <a:t>| Property | Best test-set Spearman rho |</a:t>
            </a:r>
          </a:p>
          <a:p xmlns:a="http://schemas.openxmlformats.org/drawingml/2006/main">
            <a:r>
              <a:t>|---|---:|</a:t>
            </a:r>
          </a:p>
          <a:p xmlns:a="http://schemas.openxmlformats.org/drawingml/2006/main">
            <a:r>
              <a:t>| Hydrophobicity | 0.708 |</a:t>
            </a:r>
          </a:p>
          <a:p xmlns:a="http://schemas.openxmlformats.org/drawingml/2006/main">
            <a:r>
              <a:t>| Thermostability | 0.392 |</a:t>
            </a:r>
          </a:p>
          <a:p xmlns:a="http://schemas.openxmlformats.org/drawingml/2006/main">
            <a:r>
              <a:t>| Polyreactivity | 0.356 |</a:t>
            </a:r>
          </a:p>
          <a:p xmlns:a="http://schemas.openxmlformats.org/drawingml/2006/main">
            <a:r>
              <a:t>| Self-association | 0.337 |</a:t>
            </a:r>
          </a:p>
          <a:p xmlns:a="http://schemas.openxmlformats.org/drawingml/2006/main">
            <a:r>
              <a:t>| Expression titer | 0.310 |</a:t>
            </a:r>
          </a:p>
          <a:p xmlns:a="http://schemas.openxmlformats.org/drawingml/2006/main">
            <a:r>
              <a:t/>
            </a:r>
          </a:p>
          <a:p xmlns:a="http://schemas.openxmlformats.org/drawingml/2006/main">
            <a:r>
              <a:t>Winners differed by assay. These are rank correlations, not accuracies or the performance of one model across all tasks. They support a problem of small, heterogeneous datasets and limited generalization, not a claim that extra label columns alone solve it.</a:t>
            </a:r>
          </a:p>
          <a:p xmlns:a="http://schemas.openxmlformats.org/drawingml/2006/main">
            <a:r>
              <a:t/>
            </a:r>
          </a:p>
          <a:p xmlns:a="http://schemas.openxmlformats.org/drawingml/2006/main">
            <a:r>
              <a:t>4. **Sartorius assay references.** [Kinetics and affinity white paper](https://www.sartorius.com/resource/blob/756208/2db1b53c5a53af4003bbd12ecfaaea24/streamlining-affinity-analysis-for-accelerated-lead-screening-white-paper-en-sartorius-data.pdf), [BLI platform](https://www.sartorius.com/en/products/biolayer-interferometry), [avoiding avidity](https://www.sartorius.com/en/products/biolayer-interferometry/bli-resources/optimizing-kinetics-assays-to-avoid-avidity-application-note), [epitope binning](https://www.sartorius.com/en/products/biolayer-interferometry/bli-resources/octet-cross-competition-epitope-binning-assays). Suitable association/dissociation curves can yield kon, koff and derived KD. Valency, orientation, surface density and non-specific binding affect interpretation. Competition binning is not atomic-resolution mapping.</a:t>
            </a:r>
          </a:p>
          <a:p xmlns:a="http://schemas.openxmlformats.org/drawingml/2006/main">
            <a:r>
              <a:t/>
            </a:r>
          </a:p>
          <a:p xmlns:a="http://schemas.openxmlformats.org/drawingml/2006/main">
            <a:r>
              <a:t>5. **ACROBiosystems.** The [AIDD-Ready / CHO-Direct offering](https://www.acrobiosystems.com/aix/aidd-ready-solutions) describes expression quantification, BLI screening, optional ELISA, flow, epitope binning and early functional assays, linked to deeper characterization and model iteration. Its [service portfolio](https://www.acrobiosystems.com/services) also lists SPR/BLI, cell customization and functional testing. This establishes a product/service offering, not order volume, realized AI revenue, margin or a Ginkgo supplier relationship.</a:t>
            </a:r>
          </a:p>
          <a:p xmlns:a="http://schemas.openxmlformats.org/drawingml/2006/main">
            <a:r>
              <a:t/>
            </a:r>
          </a:p>
          <a:p xmlns:a="http://schemas.openxmlformats.org/drawingml/2006/main">
            <a:r>
              <a:t>6. **NanoMicro and NanoChrom.** [NanoMicro's official annual-report discussion](https://www.nanomicro.com/news/company/76) describes chromatography media, NanoChrom columns, Fuli analytical instruments and Sepure purification systems. The [NanoChrom SEC catalogue](https://www.nanochrom.com.cn/products_1/?ext_fenlimoshi=SEC&amp;show=selectproductlist) lists SEC and biological-separation products. Analytical exposure is assessed separately from industrial production resins. No Ginkgo supply relationship was verified.</a:t>
            </a:r>
          </a:p>
          <a:p xmlns:a="http://schemas.openxmlformats.org/drawingml/2006/main">
            <a:r>
              <a:t/>
            </a:r>
          </a:p>
          <a:p xmlns:a="http://schemas.openxmlformats.org/drawingml/2006/main">
            <a:r>
              <a:t>## The nine labels</a:t>
            </a:r>
          </a:p>
          <a:p xmlns:a="http://schemas.openxmlformats.org/drawingml/2006/main">
            <a:r>
              <a:t/>
            </a:r>
          </a:p>
          <a:p xmlns:a="http://schemas.openxmlformats.org/drawingml/2006/main">
            <a:r>
              <a:t>| Label | Useful measurement/context | Value | Interpretation limit |</a:t>
            </a:r>
          </a:p>
          <a:p xmlns:a="http://schemas.openxmlformats.org/drawingml/2006/main">
            <a:r>
              <a:t>|---|---|---|---|</a:t>
            </a:r>
          </a:p>
          <a:p xmlns:a="http://schemas.openxmlformats.org/drawingml/2006/main">
            <a:r>
              <a:t>| KD | Equilibrium dissociation constant, M/nM; model and temperature | Affinity under defined conditions | Lower KD does not automatically imply better cell or clinical activity; multivalent systems can yield apparent avidity |</a:t>
            </a:r>
          </a:p>
          <a:p xmlns:a="http://schemas.openxmlformats.org/drawingml/2006/main">
            <a:r>
              <a:t>| kon | Association rate constant, M^-1 s^-1 | Formation kinetics of a binding complex | Not directly the speed of clinical onset |</a:t>
            </a:r>
          </a:p>
          <a:p xmlns:a="http://schemas.openxmlformats.org/drawingml/2006/main">
            <a:r>
              <a:t>| koff | Dissociation rate constant, s^-1 | Dissociation kinetics; ideal 1:1 residence time is 1/koff | Residence time is not serum half-life; superiority to KD for efficacy prediction is context-dependent |</a:t>
            </a:r>
          </a:p>
          <a:p xmlns:a="http://schemas.openxmlformats.org/drawingml/2006/main">
            <a:r>
              <a:t>| Expression | Titer mg/L, host, culture/transfection conditions and recovery | Sample supply and production feasibility | Transient expression is not stable-cell-line commercial productivity |</a:t>
            </a:r>
          </a:p>
          <a:p xmlns:a="http://schemas.openxmlformats.org/drawingml/2006/main">
            <a:r>
              <a:t>| Tm | Thermal transition midpoint, degrees C; domain, buffer and ramp rate | Thermal stability risk | Not directly shelf life or in-vivo half-life; full IgGs can have multiple transitions |</a:t>
            </a:r>
          </a:p>
          <a:p xmlns:a="http://schemas.openxmlformats.org/drawingml/2006/main">
            <a:r>
              <a:t>| Aggregation | SEC monomer/high-molecular-weight fraction, DLS or other methods; concentration/stress | Formulation and potential immunogenicity risk | Not a clinical immunogenicity probability; self-association is not identical to aggregation |</a:t>
            </a:r>
          </a:p>
          <a:p xmlns:a="http://schemas.openxmlformats.org/drawingml/2006/main">
            <a:r>
              <a:t>| Polyreactivity | Binding to defined non-target materials, with assay/reagent context | Non-specific binding, clearance and developability risk | No universal level guarantees clinical failure |</a:t>
            </a:r>
          </a:p>
          <a:p xmlns:a="http://schemas.openxmlformats.org/drawingml/2006/main">
            <a:r>
              <a:t>| Epitope | Competition bin, residues or structure, with method | Binding location and potential mechanism | A competition bin is not a precise structural epitope; location alone does not establish function |</a:t>
            </a:r>
          </a:p>
          <a:p xmlns:a="http://schemas.openxmlformats.org/drawingml/2006/main">
            <a:r>
              <a:t>| Cell potency | EC50/IC50, Emax, cell model, target level and incubation | Functional performance in a relevant cellular system | Does not replace in-vivo efficacy, PK/PD, toxicology or clinical evidence |</a:t>
            </a:r>
          </a:p>
          <a:p xmlns:a="http://schemas.openxmlformats.org/drawingml/2006/main">
            <a:r>
              <a:t/>
            </a:r>
          </a:p>
          <a:p xmlns:a="http://schemas.openxmlformats.org/drawingml/2006/main">
            <a:r>
              <a:t>For a simple reversible 1:1 model, KD = koff / kon. These quantities are not three independent degrees of freedom or necessarily three experiments. Nine labels are not a complete developability checklist: viscosity, solubility, chemical stability, glycosylation, FcRn-related behavior and immunogenicity can also matter.</a:t>
            </a:r>
          </a:p>
          <a:p xmlns:a="http://schemas.openxmlformats.org/drawingml/2006/main">
            <a:r>
              <a:t/>
            </a:r>
          </a:p>
          <a:p xmlns:a="http://schemas.openxmlformats.org/drawingml/2006/main">
            <a:r>
              <a:t>## Data quality and incremental purchases</a:t>
            </a:r>
          </a:p>
          <a:p xmlns:a="http://schemas.openxmlformats.org/drawingml/2006/main">
            <a:r>
              <a:t/>
            </a:r>
          </a:p>
          <a:p xmlns:a="http://schemas.openxmlformats.org/drawingml/2006/main">
            <a:r>
              <a:t>Link sequence and molecular format to target, assay, conditions, batch and replicate. Retain raw curves, concentration series, controls, detection limits, QC and failures. Missing measurements must not become negative labels.</a:t>
            </a:r>
          </a:p>
          <a:p xmlns:a="http://schemas.openxmlformats.org/drawingml/2006/main">
            <a:r>
              <a:t/>
            </a:r>
          </a:p>
          <a:p xmlns:a="http://schemas.openxmlformats.org/drawingml/2006/main">
            <a:r>
              <a:t>Recurring LST purchases can be approximated by summing workflow executions × net purchased inputs per run × ASP. Executions include controls, repeats and multiple conditions. Net inputs reflect miniaturization, shared samples and reuse. Construction, expression and purification prepare shared samples and must not be counted afresh for every label. Instrument CAPEX, maintenance and service costs need separate models. A platform's service revenue and its own reagent purchases must not both enter the same terminal-procurement TAM.</a:t>
            </a:r>
          </a:p>
          <a:p xmlns:a="http://schemas.openxmlformats.org/drawingml/2006/main">
            <a:r>
              <a:t/>
            </a:r>
          </a:p>
          <a:p xmlns:a="http://schemas.openxmlformats.org/drawingml/2006/main">
            <a:r>
              <a:t>With unchanged assay mix, net consumption and pricing, reducing measured molecules from 1,000 to 300 requires more than 3.33 times the cost-weighted characterization intensity per molecule for purchases to rise. Nine fields do not automatically meet that condition. The 1,000 and 300–1,000 counts are supplied illustrations, not history or forecasts.</a:t>
            </a:r>
          </a:p>
          <a:p xmlns:a="http://schemas.openxmlformats.org/drawingml/2006/main">
            <a:r>
              <a:t/>
            </a:r>
          </a:p>
          <a:p xmlns:a="http://schemas.openxmlformats.org/drawingml/2006/main">
            <a:r>
              <a:t>Potential funding channels include pharma R&amp;D budgets, financed AI-biotech programs, platform/data-generation contracts and public research budgets. This is a channel inference; no financing or purchasing amount is assumed. Watch paid assay orders, repeat purchases, actual procurement lists and equipment utilization.</a:t>
            </a:r>
          </a:p>
          <a:p xmlns:a="http://schemas.openxmlformats.org/drawingml/2006/main">
            <a:r>
              <a:t/>
            </a:r>
          </a:p>
          <a:p xmlns:a="http://schemas.openxmlformats.org/drawingml/2006/main">
            <a:r>
              <a:t>## The two suppliers</a:t>
            </a:r>
          </a:p>
          <a:p xmlns:a="http://schemas.openxmlformats.org/drawingml/2006/main">
            <a:r>
              <a:t/>
            </a:r>
          </a:p>
          <a:p xmlns:a="http://schemas.openxmlformats.org/drawingml/2006/main">
            <a:r>
              <a:t>ACROBiosystems has target proteins, functional cells, assay products and characterization services as direct entry points, with an official AI-workflow offering visible. Verify paid orders, repeat usage, external procurement versus self-production and gross profit per workflow. When customers express their own antibodies, their full production activity cannot be assigned to ACRO sales.</a:t>
            </a:r>
          </a:p>
          <a:p xmlns:a="http://schemas.openxmlformats.org/drawingml/2006/main">
            <a:r>
              <a:t/>
            </a:r>
          </a:p>
          <a:p xmlns:a="http://schemas.openxmlformats.org/drawingml/2006/main">
            <a:r>
              <a:t>For NanoMicro, initially watch analytical characterization, lab purification and related instruments, with manufacturing resins as a later pathway. Columns can be reused: sample runs translate into column sales through column life, methods, installed base, ASP and supplier share. Industrial resins still depend on pipeline progression, manufacturing batches and commercial output. Neither company has evidence here of ninefold revenue from nine labels.</a:t>
            </a:r>
          </a:p>
          <a:p xmlns:a="http://schemas.openxmlformats.org/drawingml/2006/main">
            <a:r>
              <a:t/>
            </a:r>
          </a:p>
          <a:p xmlns:a="http://schemas.openxmlformats.org/drawingml/2006/main">
            <a:r>
              <a:t>## Figure interpretation and assets</a:t>
            </a:r>
          </a:p>
          <a:p xmlns:a="http://schemas.openxmlformats.org/drawingml/2006/main">
            <a:r>
              <a:t/>
            </a:r>
          </a:p>
          <a:p xmlns:a="http://schemas.openxmlformats.org/drawingml/2006/main">
            <a:r>
              <a:t>Figure 13 is a coverage schematic: solid dot = measured label; hollow dot = KD derived from shared kinetics; dash = unmeasured. Colors do not encode performance. Figure 14 maps properties to workflows and procurement. Original Lucide SVG icons use the [ISC license](https://github.com/lucide-icons/lucide). No company logos or paper figures are reproduced.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7b2330338041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fc3b01167b45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a8a882d8c345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a680a5df0248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67afe0bd8546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2b6a0925584b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C51E82-2503-4FC6-B436-3569EB53C5A3}"/>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FD230A-E806-43B4-B8EC-B929668D8353}"/>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595FDC-458C-466D-B1D5-7F0DD5FC8CB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CB5136-7098-44AB-B011-9343809BFA9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2C0728-1897-4917-81E2-F2D3E2A3600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1D0760-073D-4348-AE4C-72C06E98D61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17EFC3-A561-4BF8-A168-1777586999B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C6359C-3ACB-42A8-9BF1-E057E032F56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C8A26F-B3E3-4159-B8C0-91A3596367C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10184A-9448-4777-A3A3-DD0636100AD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495e65f6cb410c" /><Relationship Type="http://schemas.openxmlformats.org/officeDocument/2006/relationships/slideLayout" Target="/ppt/slideLayouts/slideLayout1.xml" Id="R17d6942ce6684a0c" /><Relationship Type="http://schemas.openxmlformats.org/officeDocument/2006/relationships/slideLayout" Target="/ppt/slideLayouts/slideLayout2.xml" Id="R82a693a8a3fe4180" /><Relationship Type="http://schemas.openxmlformats.org/officeDocument/2006/relationships/slideLayout" Target="/ppt/slideLayouts/slideLayout3.xml" Id="Ra85f3d46e3e042de" /><Relationship Type="http://schemas.openxmlformats.org/officeDocument/2006/relationships/slideLayout" Target="/ppt/slideLayouts/slideLayout4.xml" Id="R6975674547104123" /><Relationship Type="http://schemas.openxmlformats.org/officeDocument/2006/relationships/slideLayout" Target="/ppt/slideLayouts/slideLayout5.xml" Id="R8ad6c6afbbd84827" /><Relationship Type="http://schemas.openxmlformats.org/officeDocument/2006/relationships/slideLayout" Target="/ppt/slideLayouts/slideLayout6.xml" Id="Rc5ebf7057a2143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d6942ce6684a0c"/>
    <p:sldLayoutId xmlns:r="http://schemas.openxmlformats.org/officeDocument/2006/relationships" id="2147483650" r:id="R82a693a8a3fe4180"/>
    <p:sldLayoutId xmlns:r="http://schemas.openxmlformats.org/officeDocument/2006/relationships" id="2147483651" r:id="Ra85f3d46e3e042de"/>
    <p:sldLayoutId xmlns:r="http://schemas.openxmlformats.org/officeDocument/2006/relationships" id="2147483652" r:id="R6975674547104123"/>
    <p:sldLayoutId xmlns:r="http://schemas.openxmlformats.org/officeDocument/2006/relationships" id="2147483653" r:id="R8ad6c6afbbd84827"/>
    <p:sldLayoutId xmlns:r="http://schemas.openxmlformats.org/officeDocument/2006/relationships" id="2147483654" r:id="Rc5ebf7057a2143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10362c9cd442b1" /><Relationship Type="http://schemas.openxmlformats.org/officeDocument/2006/relationships/image" Target="/ppt/media/image.png" Id="R6b477822dc3f431e" /><Relationship Type="http://schemas.openxmlformats.org/officeDocument/2006/relationships/image" Target="/ppt/media/image.svg" Id="R61600107299847b2" /><Relationship Type="http://schemas.openxmlformats.org/officeDocument/2006/relationships/notesSlide" Target="/ppt/notesSlides/notesSlide1.xml" Id="R2254073d612f45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3e3bc417044656" /><Relationship Type="http://schemas.openxmlformats.org/officeDocument/2006/relationships/image" Target="/ppt/media/image2.png" Id="Ra8cf4d3b1ad74357" /><Relationship Type="http://schemas.openxmlformats.org/officeDocument/2006/relationships/image" Target="/ppt/media/image2.svg" Id="R4ee9c308fecb4613" /><Relationship Type="http://schemas.openxmlformats.org/officeDocument/2006/relationships/image" Target="/ppt/media/image3.png" Id="R4c1a23fcd127477e" /><Relationship Type="http://schemas.openxmlformats.org/officeDocument/2006/relationships/image" Target="/ppt/media/image3.svg" Id="Rd34a9d68f6324afd" /><Relationship Type="http://schemas.openxmlformats.org/officeDocument/2006/relationships/image" Target="/ppt/media/image4.png" Id="Ree6365ec6dcb4f4e" /><Relationship Type="http://schemas.openxmlformats.org/officeDocument/2006/relationships/image" Target="/ppt/media/image4.svg" Id="Ra999c88cd9fb4450" /><Relationship Type="http://schemas.openxmlformats.org/officeDocument/2006/relationships/image" Target="/ppt/media/image5.png" Id="R80c752b8b9ad4db6" /><Relationship Type="http://schemas.openxmlformats.org/officeDocument/2006/relationships/image" Target="/ppt/media/image5.svg" Id="R433fc35eface4970" /><Relationship Type="http://schemas.openxmlformats.org/officeDocument/2006/relationships/image" Target="/ppt/media/image6.png" Id="R6c2f49f1b40b45b0" /><Relationship Type="http://schemas.openxmlformats.org/officeDocument/2006/relationships/image" Target="/ppt/media/image6.svg" Id="Rc3bd1091a03541f3" /><Relationship Type="http://schemas.openxmlformats.org/officeDocument/2006/relationships/notesSlide" Target="/ppt/notesSlides/notesSlide2.xml" Id="Rf868ba75050546c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18164C1-8A0B-4EF5-AF7A-3ECDE7B79584}"/>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7D80"/>
          </a:solidFill>
          <a:ln xmlns:a="http://schemas.openxmlformats.org/drawingml/2006/main" w="9525">
            <a:noFill/>
          </a:ln>
        </p:spPr>
      </p:sp>
      <p:sp>
        <p:nvSpPr>
          <p:cNvPr id="2" name="Fewer molecules. Deeper experimental data.">
            <a:extLst xmlns:a="http://schemas.openxmlformats.org/drawingml/2006/main">
              <a:ext uri="{FF2B5EF4-FFF2-40B4-BE49-F238E27FC236}">
                <a16:creationId xmlns:a16="http://schemas.microsoft.com/office/drawing/2014/main" id="{7F459EDF-35D9-4E64-BA87-E49488B7AB55}"/>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152C3A"/>
                </a:solidFill>
                <a:latin typeface="Arial"/>
                <a:ea typeface="Arial"/>
                <a:cs typeface="Arial"/>
              </a:defRPr>
            </a:defPPr>
          </a:lstStyle>
          <a:p xmlns:a="http://schemas.openxmlformats.org/drawingml/2006/main">
            <a:pPr algn="l">
              <a:lnSpc>
                <a:spcPct val="100000"/>
              </a:lnSpc>
              <a:buNone/>
              <a:defRPr sz="3450" b="1">
                <a:solidFill>
                  <a:srgbClr val="152C3A"/>
                </a:solidFill>
                <a:latin typeface="Arial"/>
                <a:ea typeface="Arial"/>
                <a:cs typeface="Arial"/>
              </a:defRPr>
            </a:pPr>
            <a:r>
              <a:rPr sz="3450" b="1">
                <a:solidFill>
                  <a:srgbClr val="152C3A"/>
                </a:solidFill>
                <a:latin typeface="Arial"/>
                <a:ea typeface="Arial"/>
                <a:cs typeface="Arial"/>
              </a:rPr>
              <a:t>Fewer molecules. Deeper experimental data.</a:t>
            </a:r>
          </a:p>
        </p:txBody>
      </p:sp>
      <p:sp>
        <p:nvSpPr>
          <p:cNvPr id="3" name="AI may reduce candidate counts while increasing characterization per molecule">
            <a:extLst xmlns:a="http://schemas.openxmlformats.org/drawingml/2006/main">
              <a:ext uri="{FF2B5EF4-FFF2-40B4-BE49-F238E27FC236}">
                <a16:creationId xmlns:a16="http://schemas.microsoft.com/office/drawing/2014/main" id="{73542742-CC3F-4800-A63D-FCE4C086EB0E}"/>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647887"/>
                </a:solidFill>
                <a:latin typeface="Arial"/>
                <a:ea typeface="Arial"/>
                <a:cs typeface="Arial"/>
              </a:defRPr>
            </a:defPPr>
          </a:lstStyle>
          <a:p xmlns:a="http://schemas.openxmlformats.org/drawingml/2006/main">
            <a:pPr algn="l">
              <a:lnSpc>
                <a:spcPct val="100000"/>
              </a:lnSpc>
              <a:buNone/>
              <a:defRPr sz="2025" b="0">
                <a:solidFill>
                  <a:srgbClr val="647887"/>
                </a:solidFill>
                <a:latin typeface="Arial"/>
                <a:ea typeface="Arial"/>
                <a:cs typeface="Arial"/>
              </a:defRPr>
            </a:pPr>
            <a:r>
              <a:rPr sz="2025" b="0">
                <a:solidFill>
                  <a:srgbClr val="647887"/>
                </a:solidFill>
                <a:latin typeface="Arial"/>
                <a:ea typeface="Arial"/>
                <a:cs typeface="Arial"/>
              </a:rPr>
              <a:t>AI may reduce candidate counts while increasing characterization per molecule</a:t>
            </a:r>
          </a:p>
        </p:txBody>
      </p:sp>
      <p:sp>
        <p:nvSpPr>
          <p:cNvPr id="4" name="From molecule throughput to data density: a potential driver of life science tools demand">
            <a:extLst xmlns:a="http://schemas.openxmlformats.org/drawingml/2006/main">
              <a:ext uri="{FF2B5EF4-FFF2-40B4-BE49-F238E27FC236}">
                <a16:creationId xmlns:a16="http://schemas.microsoft.com/office/drawing/2014/main" id="{BF2993B0-02AA-41D7-B0B1-7A954C164AC4}"/>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From molecule throughput to data density: a potential driver of life science tools demand</a:t>
            </a:r>
          </a:p>
        </p:txBody>
      </p:sp>
      <p:sp>
        <p:nvSpPr>
          <p:cNvPr id="5" name="">
            <a:extLst xmlns:a="http://schemas.openxmlformats.org/drawingml/2006/main">
              <a:ext uri="{FF2B5EF4-FFF2-40B4-BE49-F238E27FC236}">
                <a16:creationId xmlns:a16="http://schemas.microsoft.com/office/drawing/2014/main" id="{63EB93CE-F08F-4D57-AC23-A5082F717BB7}"/>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D7E3E8"/>
            </a:solidFill>
          </a:ln>
        </p:spPr>
      </p:sp>
      <p:sp>
        <p:nvSpPr>
          <p:cNvPr id="6" name="">
            <a:extLst xmlns:a="http://schemas.openxmlformats.org/drawingml/2006/main">
              <a:ext uri="{FF2B5EF4-FFF2-40B4-BE49-F238E27FC236}">
                <a16:creationId xmlns:a16="http://schemas.microsoft.com/office/drawing/2014/main" id="{48BC22F6-B9ED-4848-A925-B288F69136F8}"/>
              </a:ext>
            </a:extLst>
          </p:cNvPr>
          <p:cNvSpPr>
            <a:spLocks xmlns:a="http://schemas.openxmlformats.org/drawingml/2006/main" noGrp="1"/>
          </p:cNvSpPr>
          <p:nvPr/>
        </p:nvSpPr>
        <p:spPr>
          <a:xfrm xmlns:a="http://schemas.openxmlformats.org/drawingml/2006/main">
            <a:off x="685800" y="2124075"/>
            <a:ext cx="5638800" cy="4714875"/>
          </a:xfrm>
          <a:prstGeom xmlns:a="http://schemas.openxmlformats.org/drawingml/2006/main" prst="roundRect">
            <a:avLst>
              <a:gd name="adj" fmla="val 2828"/>
            </a:avLst>
          </a:prstGeom>
          <a:solidFill xmlns:a="http://schemas.openxmlformats.org/drawingml/2006/main">
            <a:srgbClr val="F5F8F9"/>
          </a:solidFill>
          <a:ln xmlns:a="http://schemas.openxmlformats.org/drawingml/2006/main" w="9525">
            <a:solidFill>
              <a:srgbClr val="D7E3E8"/>
            </a:solidFill>
          </a:ln>
        </p:spPr>
      </p:sp>
      <p:sp>
        <p:nvSpPr>
          <p:cNvPr id="7" name="">
            <a:extLst xmlns:a="http://schemas.openxmlformats.org/drawingml/2006/main">
              <a:ext uri="{FF2B5EF4-FFF2-40B4-BE49-F238E27FC236}">
                <a16:creationId xmlns:a16="http://schemas.microsoft.com/office/drawing/2014/main" id="{1449EE60-A9A2-4DD7-94D9-6AC6543B7631}"/>
              </a:ext>
            </a:extLst>
          </p:cNvPr>
          <p:cNvSpPr>
            <a:spLocks xmlns:a="http://schemas.openxmlformats.org/drawingml/2006/main" noGrp="1"/>
          </p:cNvSpPr>
          <p:nvPr/>
        </p:nvSpPr>
        <p:spPr>
          <a:xfrm xmlns:a="http://schemas.openxmlformats.org/drawingml/2006/main">
            <a:off x="6972300" y="2124075"/>
            <a:ext cx="10629900" cy="4714875"/>
          </a:xfrm>
          <a:prstGeom xmlns:a="http://schemas.openxmlformats.org/drawingml/2006/main" prst="roundRect">
            <a:avLst>
              <a:gd name="adj" fmla="val 2828"/>
            </a:avLst>
          </a:prstGeom>
          <a:solidFill xmlns:a="http://schemas.openxmlformats.org/drawingml/2006/main">
            <a:srgbClr val="EAF6F4"/>
          </a:solidFill>
          <a:ln xmlns:a="http://schemas.openxmlformats.org/drawingml/2006/main" w="9525">
            <a:solidFill>
              <a:srgbClr val="A5CFC7"/>
            </a:solidFill>
          </a:ln>
        </p:spPr>
      </p:sp>
      <p:sp>
        <p:nvSpPr>
          <p:cNvPr id="8" name="Existing data: staged screening">
            <a:extLst xmlns:a="http://schemas.openxmlformats.org/drawingml/2006/main">
              <a:ext uri="{FF2B5EF4-FFF2-40B4-BE49-F238E27FC236}">
                <a16:creationId xmlns:a16="http://schemas.microsoft.com/office/drawing/2014/main" id="{DE78D724-4919-4A12-8096-5FC73D8CD36C}"/>
              </a:ext>
            </a:extLst>
          </p:cNvPr>
          <p:cNvSpPr>
            <a:spLocks xmlns:a="http://schemas.openxmlformats.org/drawingml/2006/main" noGrp="1"/>
          </p:cNvSpPr>
          <p:nvPr/>
        </p:nvSpPr>
        <p:spPr>
          <a:xfrm xmlns:a="http://schemas.openxmlformats.org/drawingml/2006/main">
            <a:off x="942975" y="23526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152C3A"/>
                </a:solidFill>
                <a:latin typeface="Arial"/>
                <a:ea typeface="Arial"/>
                <a:cs typeface="Arial"/>
              </a:defRPr>
            </a:defPPr>
          </a:lstStyle>
          <a:p xmlns:a="http://schemas.openxmlformats.org/drawingml/2006/main">
            <a:pPr algn="l">
              <a:lnSpc>
                <a:spcPct val="100000"/>
              </a:lnSpc>
              <a:buNone/>
              <a:defRPr sz="2175" b="1">
                <a:solidFill>
                  <a:srgbClr val="152C3A"/>
                </a:solidFill>
                <a:latin typeface="Arial"/>
                <a:ea typeface="Arial"/>
                <a:cs typeface="Arial"/>
              </a:defRPr>
            </a:pPr>
            <a:r>
              <a:rPr sz="2175" b="1">
                <a:solidFill>
                  <a:srgbClr val="152C3A"/>
                </a:solidFill>
                <a:latin typeface="Arial"/>
                <a:ea typeface="Arial"/>
                <a:cs typeface="Arial"/>
              </a:rPr>
              <a:t>Existing data: staged screening</a:t>
            </a:r>
          </a:p>
        </p:txBody>
      </p:sp>
      <p:sp>
        <p:nvSpPr>
          <p:cNvPr id="9" name="1,000 × 1 initial label">
            <a:extLst xmlns:a="http://schemas.openxmlformats.org/drawingml/2006/main">
              <a:ext uri="{FF2B5EF4-FFF2-40B4-BE49-F238E27FC236}">
                <a16:creationId xmlns:a16="http://schemas.microsoft.com/office/drawing/2014/main" id="{7F2B7DAE-B620-4BC1-AF2D-EEBD89B5C7E7}"/>
              </a:ext>
            </a:extLst>
          </p:cNvPr>
          <p:cNvSpPr>
            <a:spLocks xmlns:a="http://schemas.openxmlformats.org/drawingml/2006/main" noGrp="1"/>
          </p:cNvSpPr>
          <p:nvPr/>
        </p:nvSpPr>
        <p:spPr>
          <a:xfrm xmlns:a="http://schemas.openxmlformats.org/drawingml/2006/main">
            <a:off x="942975" y="2847975"/>
            <a:ext cx="5095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2B62B1"/>
                </a:solidFill>
                <a:latin typeface="Arial"/>
                <a:ea typeface="Arial"/>
                <a:cs typeface="Arial"/>
              </a:defRPr>
            </a:defPPr>
          </a:lstStyle>
          <a:p xmlns:a="http://schemas.openxmlformats.org/drawingml/2006/main">
            <a:pPr algn="l">
              <a:lnSpc>
                <a:spcPct val="100000"/>
              </a:lnSpc>
              <a:buNone/>
              <a:defRPr sz="2625" b="1">
                <a:solidFill>
                  <a:srgbClr val="2B62B1"/>
                </a:solidFill>
                <a:latin typeface="Arial"/>
                <a:ea typeface="Arial"/>
                <a:cs typeface="Arial"/>
              </a:defRPr>
            </a:pPr>
            <a:r>
              <a:rPr sz="2625" b="1">
                <a:solidFill>
                  <a:srgbClr val="2B62B1"/>
                </a:solidFill>
                <a:latin typeface="Arial"/>
                <a:ea typeface="Arial"/>
                <a:cs typeface="Arial"/>
              </a:rPr>
              <a:t>1,000 × 1 initial label</a:t>
            </a:r>
          </a:p>
        </p:txBody>
      </p:sp>
      <p:sp>
        <p:nvSpPr>
          <p:cNvPr id="10" name="Illustrative early single-task dataset">
            <a:extLst xmlns:a="http://schemas.openxmlformats.org/drawingml/2006/main">
              <a:ext uri="{FF2B5EF4-FFF2-40B4-BE49-F238E27FC236}">
                <a16:creationId xmlns:a16="http://schemas.microsoft.com/office/drawing/2014/main" id="{C484F2E6-6B9D-4F88-8EA5-4D61DF35EB9D}"/>
              </a:ext>
            </a:extLst>
          </p:cNvPr>
          <p:cNvSpPr>
            <a:spLocks xmlns:a="http://schemas.openxmlformats.org/drawingml/2006/main" noGrp="1"/>
          </p:cNvSpPr>
          <p:nvPr/>
        </p:nvSpPr>
        <p:spPr>
          <a:xfrm xmlns:a="http://schemas.openxmlformats.org/drawingml/2006/main">
            <a:off x="942975" y="3305175"/>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Illustrative early single-task dataset</a:t>
            </a:r>
          </a:p>
        </p:txBody>
      </p:sp>
      <p:graphicFrame>
        <p:nvGraphicFramePr>
          <p:cNvPr id="11" name="">
            <a:extLst xmlns:a="http://schemas.openxmlformats.org/drawingml/2006/main">
              <a:ext uri="{FF2B5EF4-FFF2-40B4-BE49-F238E27FC236}">
                <a16:creationId xmlns:a16="http://schemas.microsoft.com/office/drawing/2014/main" id="{8247930A-FFC5-44E0-8CB6-E972F5EE5061}"/>
              </a:ext>
            </a:extLst>
          </p:cNvPr>
          <p:cNvGraphicFramePr/>
          <p:nvPr/>
        </p:nvGraphicFramePr>
        <p:xfrm>
          <a:off xmlns:a="http://schemas.openxmlformats.org/drawingml/2006/main" x="942975" y="3733800"/>
          <a:ext xmlns:a="http://schemas.openxmlformats.org/drawingml/2006/main" cx="5095875" cy="2286000"/>
        </p:xfrm>
        <a:graphic xmlns:a="http://schemas.openxmlformats.org/drawingml/2006/main">
          <a:graphicData uri="http://schemas.openxmlformats.org/drawingml/2006/table">
            <a:tbl>
              <a:tblPr firstRow="1" bandRow="0"/>
              <a:tblGrid>
                <a:gridCol w="2095500"/>
                <a:gridCol w="3000375"/>
              </a:tblGrid>
              <a:tr h="400050">
                <a:tc>
                  <a:txBody>
                    <a:bodyPr/>
                    <a:lstStyle/>
                    <a:p>
                      <a:pPr algn="ct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152C3A"/>
                    </a:solidFill>
                  </a:tcPr>
                </a:tc>
                <a:tc>
                  <a:txBody>
                    <a:bodyPr/>
                    <a:lstStyle/>
                    <a:p>
                      <a:pPr algn="ctr"/>
                      <a:r>
                        <a:rPr sz="1350" b="1">
                          <a:solidFill>
                            <a:srgbClr val="FFFFFF"/>
                          </a:solidFill>
                          <a:latin typeface="Arial"/>
                          <a:ea typeface="Arial"/>
                          <a:cs typeface="Arial"/>
                        </a:rPr>
                        <a:t>Binds?</a:t>
                      </a:r>
                    </a:p>
                  </a:txBody>
                  <a:tcPr marL="19050" marR="19050" marT="28575" marB="28575" anchor="ctr">
                    <a:lnR w="19050">
                      <a:solidFill>
                        <a:srgbClr val="FFFFFF"/>
                      </a:solidFill>
                    </a:lnR>
                    <a:lnT w="19050">
                      <a:solidFill>
                        <a:srgbClr val="FFFFFF"/>
                      </a:solidFill>
                    </a:lnT>
                    <a:lnB w="19050">
                      <a:solidFill>
                        <a:srgbClr val="FFFFFF"/>
                      </a:solidFill>
                    </a:lnB>
                    <a:solidFill>
                      <a:srgbClr val="152C3A"/>
                    </a:solidFill>
                  </a:tcPr>
                </a:tc>
              </a:tr>
              <a:tr h="314325">
                <a:tc>
                  <a:txBody>
                    <a:bodyPr/>
                    <a:lstStyle/>
                    <a:p>
                      <a:pPr algn="ctr"/>
                      <a:r>
                        <a:rPr sz="1350" b="0">
                          <a:solidFill>
                            <a:srgbClr val="647887"/>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7D80"/>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647887"/>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7D80"/>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647887"/>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7D80"/>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647887"/>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7D80"/>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647887"/>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7D80"/>
                          </a:solidFill>
                          <a:latin typeface="Arial"/>
                          <a:ea typeface="Arial"/>
                          <a:cs typeface="Arial"/>
                        </a:rPr>
                        <a:t>No</a:t>
                      </a:r>
                    </a:p>
                  </a:txBody>
                  <a:tcPr marL="19050" marR="19050" marT="28575" marB="28575" anchor="ctr">
                    <a:lnR w="19050">
                      <a:solidFill>
                        <a:srgbClr val="FFFFFF"/>
                      </a:solidFill>
                    </a:lnR>
                    <a:lnB w="19050">
                      <a:solidFill>
                        <a:srgbClr val="FFFFFF"/>
                      </a:solidFill>
                    </a:lnB>
                    <a:solidFill>
                      <a:srgbClr val="FFFFFF"/>
                    </a:solidFill>
                  </a:tcPr>
                </a:tc>
              </a:tr>
              <a:tr h="314325">
                <a:tc>
                  <a:txBody>
                    <a:bodyPr/>
                    <a:lstStyle/>
                    <a:p>
                      <a:pPr algn="ctr"/>
                      <a:r>
                        <a:rPr sz="1350" b="0">
                          <a:solidFill>
                            <a:srgbClr val="647887"/>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007D80"/>
                          </a:solidFill>
                          <a:latin typeface="Arial"/>
                          <a:ea typeface="Arial"/>
                          <a:cs typeface="Arial"/>
                        </a:rPr>
                        <a:t>Yes</a:t>
                      </a:r>
                    </a:p>
                  </a:txBody>
                  <a:tcPr marL="19050" marR="19050" marT="28575" marB="28575" anchor="ctr">
                    <a:lnR w="19050">
                      <a:solidFill>
                        <a:srgbClr val="FFFFFF"/>
                      </a:solidFill>
                    </a:lnR>
                    <a:lnB w="19050">
                      <a:solidFill>
                        <a:srgbClr val="FFFFFF"/>
                      </a:solidFill>
                    </a:lnB>
                    <a:solidFill>
                      <a:srgbClr val="FFFFFF"/>
                    </a:solidFill>
                  </a:tcPr>
                </a:tc>
              </a:tr>
            </a:tbl>
          </a:graphicData>
        </a:graphic>
      </p:graphicFrame>
      <p:sp>
        <p:nvSpPr>
          <p:cNvPr id="12" name="Binding first; deeper tests for selected hits">
            <a:extLst xmlns:a="http://schemas.openxmlformats.org/drawingml/2006/main">
              <a:ext uri="{FF2B5EF4-FFF2-40B4-BE49-F238E27FC236}">
                <a16:creationId xmlns:a16="http://schemas.microsoft.com/office/drawing/2014/main" id="{FE11BABF-7740-4F49-8245-F2B13E27724A}"/>
              </a:ext>
            </a:extLst>
          </p:cNvPr>
          <p:cNvSpPr>
            <a:spLocks xmlns:a="http://schemas.openxmlformats.org/drawingml/2006/main" noGrp="1"/>
          </p:cNvSpPr>
          <p:nvPr/>
        </p:nvSpPr>
        <p:spPr>
          <a:xfrm xmlns:a="http://schemas.openxmlformats.org/drawingml/2006/main">
            <a:off x="942975" y="6134100"/>
            <a:ext cx="509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152C3A"/>
                </a:solidFill>
                <a:latin typeface="Arial"/>
                <a:ea typeface="Arial"/>
                <a:cs typeface="Arial"/>
              </a:defRPr>
            </a:defPPr>
          </a:lstStyle>
          <a:p xmlns:a="http://schemas.openxmlformats.org/drawingml/2006/main">
            <a:pPr algn="l">
              <a:lnSpc>
                <a:spcPct val="100000"/>
              </a:lnSpc>
              <a:buNone/>
              <a:defRPr sz="1650" b="1">
                <a:solidFill>
                  <a:srgbClr val="152C3A"/>
                </a:solidFill>
                <a:latin typeface="Arial"/>
                <a:ea typeface="Arial"/>
                <a:cs typeface="Arial"/>
              </a:defRPr>
            </a:pPr>
            <a:r>
              <a:rPr sz="1650" b="1">
                <a:solidFill>
                  <a:srgbClr val="152C3A"/>
                </a:solidFill>
                <a:latin typeface="Arial"/>
                <a:ea typeface="Arial"/>
                <a:cs typeface="Arial"/>
              </a:rPr>
              <a:t>Binding first; deeper tests for selected hits</a:t>
            </a:r>
          </a:p>
        </p:txBody>
      </p:sp>
      <p:sp>
        <p:nvSpPr>
          <p:cNvPr id="13" name="Multi-assay characterization already exists">
            <a:extLst xmlns:a="http://schemas.openxmlformats.org/drawingml/2006/main">
              <a:ext uri="{FF2B5EF4-FFF2-40B4-BE49-F238E27FC236}">
                <a16:creationId xmlns:a16="http://schemas.microsoft.com/office/drawing/2014/main" id="{DE0F66E2-BCD2-4E32-85A1-E31CE7B62AA9}"/>
              </a:ext>
            </a:extLst>
          </p:cNvPr>
          <p:cNvSpPr>
            <a:spLocks xmlns:a="http://schemas.openxmlformats.org/drawingml/2006/main" noGrp="1"/>
          </p:cNvSpPr>
          <p:nvPr/>
        </p:nvSpPr>
        <p:spPr>
          <a:xfrm xmlns:a="http://schemas.openxmlformats.org/drawingml/2006/main">
            <a:off x="942975" y="6477000"/>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647887"/>
                </a:solidFill>
                <a:latin typeface="Arial"/>
                <a:ea typeface="Arial"/>
                <a:cs typeface="Arial"/>
              </a:defRPr>
            </a:defPPr>
          </a:lstStyle>
          <a:p xmlns:a="http://schemas.openxmlformats.org/drawingml/2006/main">
            <a:pPr algn="l">
              <a:lnSpc>
                <a:spcPct val="100000"/>
              </a:lnSpc>
              <a:buNone/>
              <a:defRPr sz="1350" b="0">
                <a:solidFill>
                  <a:srgbClr val="647887"/>
                </a:solidFill>
                <a:latin typeface="Arial"/>
                <a:ea typeface="Arial"/>
                <a:cs typeface="Arial"/>
              </a:defRPr>
            </a:pPr>
            <a:r>
              <a:rPr sz="1350" b="0">
                <a:solidFill>
                  <a:srgbClr val="647887"/>
                </a:solidFill>
                <a:latin typeface="Arial"/>
                <a:ea typeface="Arial"/>
                <a:cs typeface="Arial"/>
              </a:rPr>
              <a:t>Multi-assay characterization already exists</a:t>
            </a:r>
          </a:p>
        </p:txBody>
      </p:sp>
      <p:sp>
        <p:nvSpPr>
          <p:cNvPr id="14" name="">
            <a:extLst xmlns:a="http://schemas.openxmlformats.org/drawingml/2006/main">
              <a:ext uri="{FF2B5EF4-FFF2-40B4-BE49-F238E27FC236}">
                <a16:creationId xmlns:a16="http://schemas.microsoft.com/office/drawing/2014/main" id="{453AE913-9E28-4ED7-BFEC-BFDED55B275D}"/>
              </a:ext>
            </a:extLst>
          </p:cNvPr>
          <p:cNvSpPr>
            <a:spLocks xmlns:a="http://schemas.openxmlformats.org/drawingml/2006/main" noGrp="1"/>
          </p:cNvSpPr>
          <p:nvPr/>
        </p:nvSpPr>
        <p:spPr>
          <a:xfrm xmlns:a="http://schemas.openxmlformats.org/drawingml/2006/main">
            <a:off x="6477000" y="4648200"/>
            <a:ext cx="342900" cy="953"/>
          </a:xfrm>
          <a:custGeom xmlns:a="http://schemas.openxmlformats.org/drawingml/2006/main">
            <a:pathLst>
              <a:path w="342900" h="953">
                <a:moveTo>
                  <a:pt x="0" y="0"/>
                </a:moveTo>
                <a:lnTo>
                  <a:pt x="342900" y="0"/>
                </a:lnTo>
              </a:path>
            </a:pathLst>
          </a:custGeom>
          <a:noFill xmlns:a="http://schemas.openxmlformats.org/drawingml/2006/main"/>
          <a:ln xmlns:a="http://schemas.openxmlformats.org/drawingml/2006/main" w="28575">
            <a:solidFill>
              <a:srgbClr val="007D80"/>
            </a:solidFill>
          </a:ln>
        </p:spPr>
      </p:sp>
      <p:sp>
        <p:nvSpPr>
          <p:cNvPr id="15" name="">
            <a:extLst xmlns:a="http://schemas.openxmlformats.org/drawingml/2006/main">
              <a:ext uri="{FF2B5EF4-FFF2-40B4-BE49-F238E27FC236}">
                <a16:creationId xmlns:a16="http://schemas.microsoft.com/office/drawing/2014/main" id="{B835C5DA-B38B-449B-AC0C-4851049B248C}"/>
              </a:ext>
            </a:extLst>
          </p:cNvPr>
          <p:cNvSpPr>
            <a:spLocks xmlns:a="http://schemas.openxmlformats.org/drawingml/2006/main" noGrp="1"/>
          </p:cNvSpPr>
          <p:nvPr/>
        </p:nvSpPr>
        <p:spPr>
          <a:xfrm xmlns:a="http://schemas.openxmlformats.org/drawingml/2006/main">
            <a:off x="6736310" y="4602535"/>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9525">
            <a:noFill/>
          </a:ln>
        </p:spPr>
      </p:sp>
      <p:sp>
        <p:nvSpPr>
          <p:cNvPr id="16" name="AI: richer, linked training data">
            <a:extLst xmlns:a="http://schemas.openxmlformats.org/drawingml/2006/main">
              <a:ext uri="{FF2B5EF4-FFF2-40B4-BE49-F238E27FC236}">
                <a16:creationId xmlns:a16="http://schemas.microsoft.com/office/drawing/2014/main" id="{B9F50C86-7141-4187-B5EA-A8A82986AF11}"/>
              </a:ext>
            </a:extLst>
          </p:cNvPr>
          <p:cNvSpPr>
            <a:spLocks xmlns:a="http://schemas.openxmlformats.org/drawingml/2006/main" noGrp="1"/>
          </p:cNvSpPr>
          <p:nvPr/>
        </p:nvSpPr>
        <p:spPr>
          <a:xfrm xmlns:a="http://schemas.openxmlformats.org/drawingml/2006/main">
            <a:off x="7219950" y="2352675"/>
            <a:ext cx="1009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1">
                <a:solidFill>
                  <a:srgbClr val="152C3A"/>
                </a:solidFill>
                <a:latin typeface="Arial"/>
                <a:ea typeface="Arial"/>
                <a:cs typeface="Arial"/>
              </a:defRPr>
            </a:defPPr>
          </a:lstStyle>
          <a:p xmlns:a="http://schemas.openxmlformats.org/drawingml/2006/main">
            <a:pPr algn="l">
              <a:lnSpc>
                <a:spcPct val="100000"/>
              </a:lnSpc>
              <a:buNone/>
              <a:defRPr sz="2175" b="1">
                <a:solidFill>
                  <a:srgbClr val="152C3A"/>
                </a:solidFill>
                <a:latin typeface="Arial"/>
                <a:ea typeface="Arial"/>
                <a:cs typeface="Arial"/>
              </a:defRPr>
            </a:pPr>
            <a:r>
              <a:rPr sz="2175" b="1">
                <a:solidFill>
                  <a:srgbClr val="152C3A"/>
                </a:solidFill>
                <a:latin typeface="Arial"/>
                <a:ea typeface="Arial"/>
                <a:cs typeface="Arial"/>
              </a:rPr>
              <a:t>AI: richer, linked training data</a:t>
            </a:r>
          </a:p>
        </p:txBody>
      </p:sp>
      <p:sp>
        <p:nvSpPr>
          <p:cNvPr id="17" name="300–1,000 antibodies · Up to 9 label types">
            <a:extLst xmlns:a="http://schemas.openxmlformats.org/drawingml/2006/main">
              <a:ext uri="{FF2B5EF4-FFF2-40B4-BE49-F238E27FC236}">
                <a16:creationId xmlns:a16="http://schemas.microsoft.com/office/drawing/2014/main" id="{6ED02B38-8559-491E-9770-4AF2FD5AF7E6}"/>
              </a:ext>
            </a:extLst>
          </p:cNvPr>
          <p:cNvSpPr>
            <a:spLocks xmlns:a="http://schemas.openxmlformats.org/drawingml/2006/main" noGrp="1"/>
          </p:cNvSpPr>
          <p:nvPr/>
        </p:nvSpPr>
        <p:spPr>
          <a:xfrm xmlns:a="http://schemas.openxmlformats.org/drawingml/2006/main">
            <a:off x="7219950" y="2847975"/>
            <a:ext cx="10096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625" b="1">
                <a:solidFill>
                  <a:srgbClr val="007D80"/>
                </a:solidFill>
                <a:latin typeface="Arial"/>
                <a:ea typeface="Arial"/>
                <a:cs typeface="Arial"/>
              </a:defRPr>
            </a:defPPr>
          </a:lstStyle>
          <a:p xmlns:a="http://schemas.openxmlformats.org/drawingml/2006/main">
            <a:pPr algn="l">
              <a:lnSpc>
                <a:spcPct val="100000"/>
              </a:lnSpc>
              <a:buNone/>
              <a:defRPr sz="2625" b="1">
                <a:solidFill>
                  <a:srgbClr val="007D80"/>
                </a:solidFill>
                <a:latin typeface="Arial"/>
                <a:ea typeface="Arial"/>
                <a:cs typeface="Arial"/>
              </a:defRPr>
            </a:pPr>
            <a:r>
              <a:rPr sz="2625" b="1">
                <a:solidFill>
                  <a:srgbClr val="007D80"/>
                </a:solidFill>
                <a:latin typeface="Arial"/>
                <a:ea typeface="Arial"/>
                <a:cs typeface="Arial"/>
              </a:rPr>
              <a:t>300–1,000 antibodies · Up to 9 label types</a:t>
            </a:r>
          </a:p>
        </p:txBody>
      </p:sp>
      <p:sp>
        <p:nvSpPr>
          <p:cNvPr id="18" name="Measure selected properties on shared molecules; fill the information gaps">
            <a:extLst xmlns:a="http://schemas.openxmlformats.org/drawingml/2006/main">
              <a:ext uri="{FF2B5EF4-FFF2-40B4-BE49-F238E27FC236}">
                <a16:creationId xmlns:a16="http://schemas.microsoft.com/office/drawing/2014/main" id="{159D0FB3-B70D-4CE8-9037-CD76D6F32FF1}"/>
              </a:ext>
            </a:extLst>
          </p:cNvPr>
          <p:cNvSpPr>
            <a:spLocks xmlns:a="http://schemas.openxmlformats.org/drawingml/2006/main" noGrp="1"/>
          </p:cNvSpPr>
          <p:nvPr/>
        </p:nvSpPr>
        <p:spPr>
          <a:xfrm xmlns:a="http://schemas.openxmlformats.org/drawingml/2006/main">
            <a:off x="7219950" y="3305175"/>
            <a:ext cx="1009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Measure selected properties on shared molecules; fill the information gaps</a:t>
            </a:r>
          </a:p>
        </p:txBody>
      </p:sp>
      <p:graphicFrame>
        <p:nvGraphicFramePr>
          <p:cNvPr id="19" name="">
            <a:extLst xmlns:a="http://schemas.openxmlformats.org/drawingml/2006/main">
              <a:ext uri="{FF2B5EF4-FFF2-40B4-BE49-F238E27FC236}">
                <a16:creationId xmlns:a16="http://schemas.microsoft.com/office/drawing/2014/main" id="{8CEF866D-8E5A-40FD-A78B-A839761B6D8D}"/>
              </a:ext>
            </a:extLst>
          </p:cNvPr>
          <p:cNvGraphicFramePr/>
          <p:nvPr/>
        </p:nvGraphicFramePr>
        <p:xfrm>
          <a:off xmlns:a="http://schemas.openxmlformats.org/drawingml/2006/main" x="7219950" y="3733800"/>
          <a:ext xmlns:a="http://schemas.openxmlformats.org/drawingml/2006/main" cx="10115550" cy="2286000"/>
        </p:xfrm>
        <a:graphic xmlns:a="http://schemas.openxmlformats.org/drawingml/2006/main">
          <a:graphicData uri="http://schemas.openxmlformats.org/drawingml/2006/table">
            <a:tbl>
              <a:tblPr firstRow="1" bandRow="0"/>
              <a:tblGrid>
                <a:gridCol w="1123950"/>
                <a:gridCol w="895350"/>
                <a:gridCol w="895350"/>
                <a:gridCol w="895350"/>
                <a:gridCol w="1200150"/>
                <a:gridCol w="800100"/>
                <a:gridCol w="971550"/>
                <a:gridCol w="1085850"/>
                <a:gridCol w="990600"/>
                <a:gridCol w="1257300"/>
              </a:tblGrid>
              <a:tr h="400050">
                <a:tc>
                  <a:txBody>
                    <a:bodyPr/>
                    <a:lstStyle/>
                    <a:p>
                      <a:pPr algn="ctr"/>
                      <a:r>
                        <a:rPr sz="1350" b="1">
                          <a:solidFill>
                            <a:srgbClr val="FFFFFF"/>
                          </a:solidFill>
                          <a:latin typeface="Arial"/>
                          <a:ea typeface="Arial"/>
                          <a:cs typeface="Arial"/>
                        </a:rPr>
                        <a:t>Antibody</a:t>
                      </a:r>
                    </a:p>
                  </a:txBody>
                  <a:tcPr marL="19050" marR="19050" marT="28575" marB="28575" anchor="ctr">
                    <a:lnL w="19050">
                      <a:solidFill>
                        <a:srgbClr val="FFFFFF"/>
                      </a:solidFill>
                    </a:lnL>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KD</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kon</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koff</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expr</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Tm</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agg</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poly</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epi</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c>
                  <a:txBody>
                    <a:bodyPr/>
                    <a:lstStyle/>
                    <a:p>
                      <a:pPr algn="ctr"/>
                      <a:r>
                        <a:rPr sz="1350" b="1">
                          <a:solidFill>
                            <a:srgbClr val="FFFFFF"/>
                          </a:solidFill>
                          <a:latin typeface="Arial"/>
                          <a:ea typeface="Arial"/>
                          <a:cs typeface="Arial"/>
                        </a:rPr>
                        <a:t>cell</a:t>
                      </a:r>
                    </a:p>
                  </a:txBody>
                  <a:tcPr marL="19050" marR="19050" marT="28575" marB="28575" anchor="ctr">
                    <a:lnR w="19050">
                      <a:solidFill>
                        <a:srgbClr val="FFFFFF"/>
                      </a:solidFill>
                    </a:lnR>
                    <a:lnT w="19050">
                      <a:solidFill>
                        <a:srgbClr val="FFFFFF"/>
                      </a:solidFill>
                    </a:lnT>
                    <a:lnB w="19050">
                      <a:solidFill>
                        <a:srgbClr val="FFFFFF"/>
                      </a:solidFill>
                    </a:lnB>
                    <a:solidFill>
                      <a:srgbClr val="007D80"/>
                    </a:solidFill>
                  </a:tcPr>
                </a:tc>
              </a:tr>
              <a:tr h="314325">
                <a:tc>
                  <a:txBody>
                    <a:bodyPr/>
                    <a:lstStyle/>
                    <a:p>
                      <a:pPr algn="ctr"/>
                      <a:r>
                        <a:rPr sz="1350" b="0">
                          <a:solidFill>
                            <a:srgbClr val="647887"/>
                          </a:solidFill>
                          <a:latin typeface="Arial"/>
                          <a:ea typeface="Arial"/>
                          <a:cs typeface="Arial"/>
                        </a:rPr>
                        <a:t>Ab-001</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BB8D3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r>
              <a:tr h="314325">
                <a:tc>
                  <a:txBody>
                    <a:bodyPr/>
                    <a:lstStyle/>
                    <a:p>
                      <a:pPr algn="ctr"/>
                      <a:r>
                        <a:rPr sz="1350" b="0">
                          <a:solidFill>
                            <a:srgbClr val="647887"/>
                          </a:solidFill>
                          <a:latin typeface="Arial"/>
                          <a:ea typeface="Arial"/>
                          <a:cs typeface="Arial"/>
                        </a:rPr>
                        <a:t>Ab-002</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BB8D3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r>
              <a:tr h="314325">
                <a:tc>
                  <a:txBody>
                    <a:bodyPr/>
                    <a:lstStyle/>
                    <a:p>
                      <a:pPr algn="ctr"/>
                      <a:r>
                        <a:rPr sz="1350" b="0">
                          <a:solidFill>
                            <a:srgbClr val="647887"/>
                          </a:solidFill>
                          <a:latin typeface="Arial"/>
                          <a:ea typeface="Arial"/>
                          <a:cs typeface="Arial"/>
                        </a:rPr>
                        <a:t>Ab-003</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BB8D3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r>
              <a:tr h="314325">
                <a:tc>
                  <a:txBody>
                    <a:bodyPr/>
                    <a:lstStyle/>
                    <a:p>
                      <a:pPr algn="ctr"/>
                      <a:r>
                        <a:rPr sz="1350" b="0">
                          <a:solidFill>
                            <a:srgbClr val="647887"/>
                          </a:solidFill>
                          <a:latin typeface="Arial"/>
                          <a:ea typeface="Arial"/>
                          <a:cs typeface="Arial"/>
                        </a:rPr>
                        <a:t>Ab-004</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BB8D3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r>
              <a:tr h="314325">
                <a:tc>
                  <a:txBody>
                    <a:bodyPr/>
                    <a:lstStyle/>
                    <a:p>
                      <a:pPr algn="ctr"/>
                      <a:r>
                        <a:rPr sz="1350" b="0">
                          <a:solidFill>
                            <a:srgbClr val="647887"/>
                          </a:solidFill>
                          <a:latin typeface="Arial"/>
                          <a:ea typeface="Arial"/>
                          <a:cs typeface="Arial"/>
                        </a:rPr>
                        <a:t>Ab-005</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BB8D3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64788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F5F8F9"/>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64788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F5F8F9"/>
                    </a:solidFill>
                  </a:tcPr>
                </a:tc>
              </a:tr>
              <a:tr h="314325">
                <a:tc>
                  <a:txBody>
                    <a:bodyPr/>
                    <a:lstStyle/>
                    <a:p>
                      <a:pPr algn="ctr"/>
                      <a:r>
                        <a:rPr sz="1350" b="0">
                          <a:solidFill>
                            <a:srgbClr val="647887"/>
                          </a:solidFill>
                          <a:latin typeface="Arial"/>
                          <a:ea typeface="Arial"/>
                          <a:cs typeface="Arial"/>
                        </a:rPr>
                        <a:t>Ab-006</a:t>
                      </a:r>
                    </a:p>
                  </a:txBody>
                  <a:tcPr marL="19050" marR="19050" marT="28575" marB="28575" anchor="ctr">
                    <a:lnL w="19050">
                      <a:solidFill>
                        <a:srgbClr val="FFFFFF"/>
                      </a:solidFill>
                    </a:lnL>
                    <a:lnR w="19050">
                      <a:solidFill>
                        <a:srgbClr val="FFFFFF"/>
                      </a:solidFill>
                    </a:lnR>
                    <a:lnB w="19050">
                      <a:solidFill>
                        <a:srgbClr val="FFFFFF"/>
                      </a:solidFill>
                    </a:lnB>
                    <a:solidFill>
                      <a:srgbClr val="FFFFFF"/>
                    </a:solidFill>
                  </a:tcPr>
                </a:tc>
                <a:tc>
                  <a:txBody>
                    <a:bodyPr/>
                    <a:lstStyle/>
                    <a:p>
                      <a:pPr algn="ctr"/>
                      <a:r>
                        <a:rPr sz="1425" b="0">
                          <a:solidFill>
                            <a:srgbClr val="BB8D3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EAF0FA"/>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c>
                  <a:txBody>
                    <a:bodyPr/>
                    <a:lstStyle/>
                    <a:p>
                      <a:pPr algn="ctr"/>
                      <a:r>
                        <a:rPr sz="1425" b="0">
                          <a:solidFill>
                            <a:srgbClr val="647887"/>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F5F8F9"/>
                    </a:solidFill>
                  </a:tcPr>
                </a:tc>
                <a:tc>
                  <a:txBody>
                    <a:bodyPr/>
                    <a:lstStyle/>
                    <a:p>
                      <a:pPr algn="ctr"/>
                      <a:r>
                        <a:rPr sz="1425" b="0">
                          <a:solidFill>
                            <a:srgbClr val="007D80"/>
                          </a:solidFill>
                          <a:latin typeface="Arial"/>
                          <a:ea typeface="Arial"/>
                          <a:cs typeface="Arial"/>
                        </a:rPr>
                        <a:t>●</a:t>
                      </a:r>
                    </a:p>
                  </a:txBody>
                  <a:tcPr marL="19050" marR="19050" marT="28575" marB="28575" anchor="ctr">
                    <a:lnR w="19050">
                      <a:solidFill>
                        <a:srgbClr val="FFFFFF"/>
                      </a:solidFill>
                    </a:lnR>
                    <a:lnB w="19050">
                      <a:solidFill>
                        <a:srgbClr val="FFFFFF"/>
                      </a:solidFill>
                    </a:lnB>
                    <a:solidFill>
                      <a:srgbClr val="C7E7E0"/>
                    </a:solidFill>
                  </a:tcPr>
                </a:tc>
              </a:tr>
            </a:tbl>
          </a:graphicData>
        </a:graphic>
      </p:graphicFrame>
      <p:sp>
        <p:nvSpPr>
          <p:cNvPr id="20" name="Learn binding, expression, stability and functional relationships">
            <a:extLst xmlns:a="http://schemas.openxmlformats.org/drawingml/2006/main">
              <a:ext uri="{FF2B5EF4-FFF2-40B4-BE49-F238E27FC236}">
                <a16:creationId xmlns:a16="http://schemas.microsoft.com/office/drawing/2014/main" id="{97C031F8-DD18-4E5B-B2A4-00D894F096A8}"/>
              </a:ext>
            </a:extLst>
          </p:cNvPr>
          <p:cNvSpPr>
            <a:spLocks xmlns:a="http://schemas.openxmlformats.org/drawingml/2006/main" noGrp="1"/>
          </p:cNvSpPr>
          <p:nvPr/>
        </p:nvSpPr>
        <p:spPr>
          <a:xfrm xmlns:a="http://schemas.openxmlformats.org/drawingml/2006/main">
            <a:off x="7219950" y="613410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1">
                <a:solidFill>
                  <a:srgbClr val="152C3A"/>
                </a:solidFill>
                <a:latin typeface="Arial"/>
                <a:ea typeface="Arial"/>
                <a:cs typeface="Arial"/>
              </a:defRPr>
            </a:defPPr>
          </a:lstStyle>
          <a:p xmlns:a="http://schemas.openxmlformats.org/drawingml/2006/main">
            <a:pPr algn="l">
              <a:lnSpc>
                <a:spcPct val="100000"/>
              </a:lnSpc>
              <a:buNone/>
              <a:defRPr sz="1650" b="1">
                <a:solidFill>
                  <a:srgbClr val="152C3A"/>
                </a:solidFill>
                <a:latin typeface="Arial"/>
                <a:ea typeface="Arial"/>
                <a:cs typeface="Arial"/>
              </a:defRPr>
            </a:pPr>
            <a:r>
              <a:rPr sz="1650" b="1">
                <a:solidFill>
                  <a:srgbClr val="152C3A"/>
                </a:solidFill>
                <a:latin typeface="Arial"/>
                <a:ea typeface="Arial"/>
                <a:cs typeface="Arial"/>
              </a:rPr>
              <a:t>Learn binding, expression, stability and functional relationships</a:t>
            </a:r>
          </a:p>
        </p:txBody>
      </p:sp>
      <p:sp>
        <p:nvSpPr>
          <p:cNvPr id="21" name="● Measured label   ○ KD derived from shared kinetics   — Unmeasured; colors show coverage">
            <a:extLst xmlns:a="http://schemas.openxmlformats.org/drawingml/2006/main">
              <a:ext uri="{FF2B5EF4-FFF2-40B4-BE49-F238E27FC236}">
                <a16:creationId xmlns:a16="http://schemas.microsoft.com/office/drawing/2014/main" id="{FF134704-33F6-40CB-9ACA-176BB40BB5A3}"/>
              </a:ext>
            </a:extLst>
          </p:cNvPr>
          <p:cNvSpPr>
            <a:spLocks xmlns:a="http://schemas.openxmlformats.org/drawingml/2006/main" noGrp="1"/>
          </p:cNvSpPr>
          <p:nvPr/>
        </p:nvSpPr>
        <p:spPr>
          <a:xfrm xmlns:a="http://schemas.openxmlformats.org/drawingml/2006/main">
            <a:off x="7219950" y="6496050"/>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 Measured label   ○ KD derived from shared kinetics   — Unmeasured; colors show coverage</a:t>
            </a:r>
          </a:p>
        </p:txBody>
      </p:sp>
      <p:sp>
        <p:nvSpPr>
          <p:cNvPr id="22" name="">
            <a:extLst xmlns:a="http://schemas.openxmlformats.org/drawingml/2006/main">
              <a:ext uri="{FF2B5EF4-FFF2-40B4-BE49-F238E27FC236}">
                <a16:creationId xmlns:a16="http://schemas.microsoft.com/office/drawing/2014/main" id="{04EBBF18-B153-4080-9ED0-8E5942323102}"/>
              </a:ext>
            </a:extLst>
          </p:cNvPr>
          <p:cNvSpPr>
            <a:spLocks xmlns:a="http://schemas.openxmlformats.org/drawingml/2006/main" noGrp="1"/>
          </p:cNvSpPr>
          <p:nvPr/>
        </p:nvSpPr>
        <p:spPr>
          <a:xfrm xmlns:a="http://schemas.openxmlformats.org/drawingml/2006/main">
            <a:off x="685800" y="7172325"/>
            <a:ext cx="5305425"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D7E3E8"/>
            </a:solidFill>
          </a:ln>
        </p:spPr>
      </p:sp>
      <p:sp>
        <p:nvSpPr>
          <p:cNvPr id="23" name="Reuse existing data">
            <a:extLst xmlns:a="http://schemas.openxmlformats.org/drawingml/2006/main">
              <a:ext uri="{FF2B5EF4-FFF2-40B4-BE49-F238E27FC236}">
                <a16:creationId xmlns:a16="http://schemas.microsoft.com/office/drawing/2014/main" id="{C54D5403-B569-470A-8A4B-A233A9154CF5}"/>
              </a:ext>
            </a:extLst>
          </p:cNvPr>
          <p:cNvSpPr>
            <a:spLocks xmlns:a="http://schemas.openxmlformats.org/drawingml/2006/main" noGrp="1"/>
          </p:cNvSpPr>
          <p:nvPr/>
        </p:nvSpPr>
        <p:spPr>
          <a:xfrm xmlns:a="http://schemas.openxmlformats.org/drawingml/2006/main">
            <a:off x="91440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152C3A"/>
                </a:solidFill>
                <a:latin typeface="Arial"/>
                <a:ea typeface="Arial"/>
                <a:cs typeface="Arial"/>
              </a:defRPr>
            </a:defPPr>
          </a:lstStyle>
          <a:p xmlns:a="http://schemas.openxmlformats.org/drawingml/2006/main">
            <a:pPr algn="l">
              <a:lnSpc>
                <a:spcPct val="100000"/>
              </a:lnSpc>
              <a:buNone/>
              <a:defRPr sz="1875" b="1">
                <a:solidFill>
                  <a:srgbClr val="152C3A"/>
                </a:solidFill>
                <a:latin typeface="Arial"/>
                <a:ea typeface="Arial"/>
                <a:cs typeface="Arial"/>
              </a:defRPr>
            </a:pPr>
            <a:r>
              <a:rPr sz="1875" b="1">
                <a:solidFill>
                  <a:srgbClr val="152C3A"/>
                </a:solidFill>
                <a:latin typeface="Arial"/>
                <a:ea typeface="Arial"/>
                <a:cs typeface="Arial"/>
              </a:rPr>
              <a:t>Reuse existing data</a:t>
            </a:r>
          </a:p>
        </p:txBody>
      </p:sp>
      <p:sp>
        <p:nvSpPr>
          <p:cNvPr id="24" name="Normalize formats, conditions and access">
            <a:extLst xmlns:a="http://schemas.openxmlformats.org/drawingml/2006/main">
              <a:ext uri="{FF2B5EF4-FFF2-40B4-BE49-F238E27FC236}">
                <a16:creationId xmlns:a16="http://schemas.microsoft.com/office/drawing/2014/main" id="{AE965EE2-1E52-489F-B59A-ED936F6AF404}"/>
              </a:ext>
            </a:extLst>
          </p:cNvPr>
          <p:cNvSpPr>
            <a:spLocks xmlns:a="http://schemas.openxmlformats.org/drawingml/2006/main" noGrp="1"/>
          </p:cNvSpPr>
          <p:nvPr/>
        </p:nvSpPr>
        <p:spPr>
          <a:xfrm xmlns:a="http://schemas.openxmlformats.org/drawingml/2006/main">
            <a:off x="91440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Normalize formats, conditions and access</a:t>
            </a:r>
          </a:p>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Better training may need no new experiment</a:t>
            </a:r>
          </a:p>
        </p:txBody>
      </p:sp>
      <p:sp>
        <p:nvSpPr>
          <p:cNvPr id="25" name="">
            <a:extLst xmlns:a="http://schemas.openxmlformats.org/drawingml/2006/main">
              <a:ext uri="{FF2B5EF4-FFF2-40B4-BE49-F238E27FC236}">
                <a16:creationId xmlns:a16="http://schemas.microsoft.com/office/drawing/2014/main" id="{1A120617-0EF4-481E-BA70-DCE83B5DDFFE}"/>
              </a:ext>
            </a:extLst>
          </p:cNvPr>
          <p:cNvSpPr>
            <a:spLocks xmlns:a="http://schemas.openxmlformats.org/drawingml/2006/main" noGrp="1"/>
          </p:cNvSpPr>
          <p:nvPr/>
        </p:nvSpPr>
        <p:spPr>
          <a:xfrm xmlns:a="http://schemas.openxmlformats.org/drawingml/2006/main">
            <a:off x="6191250" y="7172325"/>
            <a:ext cx="5305425" cy="1200150"/>
          </a:xfrm>
          <a:prstGeom xmlns:a="http://schemas.openxmlformats.org/drawingml/2006/main" prst="roundRect">
            <a:avLst>
              <a:gd name="adj" fmla="val 7937"/>
            </a:avLst>
          </a:prstGeom>
          <a:solidFill xmlns:a="http://schemas.openxmlformats.org/drawingml/2006/main">
            <a:srgbClr val="EAF6F4"/>
          </a:solidFill>
          <a:ln xmlns:a="http://schemas.openxmlformats.org/drawingml/2006/main" w="9525">
            <a:solidFill>
              <a:srgbClr val="D7E3E8"/>
            </a:solidFill>
          </a:ln>
        </p:spPr>
      </p:sp>
      <p:sp>
        <p:nvSpPr>
          <p:cNvPr id="26" name="Stage 0: fill data gaps">
            <a:extLst xmlns:a="http://schemas.openxmlformats.org/drawingml/2006/main">
              <a:ext uri="{FF2B5EF4-FFF2-40B4-BE49-F238E27FC236}">
                <a16:creationId xmlns:a16="http://schemas.microsoft.com/office/drawing/2014/main" id="{26A770B3-E133-4837-BA2A-8627B81EBEAB}"/>
              </a:ext>
            </a:extLst>
          </p:cNvPr>
          <p:cNvSpPr>
            <a:spLocks xmlns:a="http://schemas.openxmlformats.org/drawingml/2006/main" noGrp="1"/>
          </p:cNvSpPr>
          <p:nvPr/>
        </p:nvSpPr>
        <p:spPr>
          <a:xfrm xmlns:a="http://schemas.openxmlformats.org/drawingml/2006/main">
            <a:off x="6419850" y="7315200"/>
            <a:ext cx="48482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152C3A"/>
                </a:solidFill>
                <a:latin typeface="Arial"/>
                <a:ea typeface="Arial"/>
                <a:cs typeface="Arial"/>
              </a:defRPr>
            </a:defPPr>
          </a:lstStyle>
          <a:p xmlns:a="http://schemas.openxmlformats.org/drawingml/2006/main">
            <a:pPr algn="l">
              <a:lnSpc>
                <a:spcPct val="100000"/>
              </a:lnSpc>
              <a:buNone/>
              <a:defRPr sz="1875" b="1">
                <a:solidFill>
                  <a:srgbClr val="152C3A"/>
                </a:solidFill>
                <a:latin typeface="Arial"/>
                <a:ea typeface="Arial"/>
                <a:cs typeface="Arial"/>
              </a:defRPr>
            </a:pPr>
            <a:r>
              <a:rPr sz="1875" b="1">
                <a:solidFill>
                  <a:srgbClr val="152C3A"/>
                </a:solidFill>
                <a:latin typeface="Arial"/>
                <a:ea typeface="Arial"/>
                <a:cs typeface="Arial"/>
              </a:rPr>
              <a:t>Stage 0: fill data gaps</a:t>
            </a:r>
          </a:p>
        </p:txBody>
      </p:sp>
      <p:sp>
        <p:nvSpPr>
          <p:cNvPr id="27" name="Add missing assays and biological diversity">
            <a:extLst xmlns:a="http://schemas.openxmlformats.org/drawingml/2006/main">
              <a:ext uri="{FF2B5EF4-FFF2-40B4-BE49-F238E27FC236}">
                <a16:creationId xmlns:a16="http://schemas.microsoft.com/office/drawing/2014/main" id="{38DAB2C7-D6C5-4848-80A0-EE12930A60FE}"/>
              </a:ext>
            </a:extLst>
          </p:cNvPr>
          <p:cNvSpPr>
            <a:spLocks xmlns:a="http://schemas.openxmlformats.org/drawingml/2006/main" noGrp="1"/>
          </p:cNvSpPr>
          <p:nvPr/>
        </p:nvSpPr>
        <p:spPr>
          <a:xfrm xmlns:a="http://schemas.openxmlformats.org/drawingml/2006/main">
            <a:off x="6419850" y="7734300"/>
            <a:ext cx="4848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Add missing assays and biological diversity</a:t>
            </a:r>
          </a:p>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Create reusable model-training datasets</a:t>
            </a:r>
          </a:p>
        </p:txBody>
      </p:sp>
      <p:sp>
        <p:nvSpPr>
          <p:cNvPr id="28" name="">
            <a:extLst xmlns:a="http://schemas.openxmlformats.org/drawingml/2006/main">
              <a:ext uri="{FF2B5EF4-FFF2-40B4-BE49-F238E27FC236}">
                <a16:creationId xmlns:a16="http://schemas.microsoft.com/office/drawing/2014/main" id="{C236C2E2-EDDE-4C0E-AF4E-F302DEE62ADA}"/>
              </a:ext>
            </a:extLst>
          </p:cNvPr>
          <p:cNvSpPr>
            <a:spLocks xmlns:a="http://schemas.openxmlformats.org/drawingml/2006/main" noGrp="1"/>
          </p:cNvSpPr>
          <p:nvPr/>
        </p:nvSpPr>
        <p:spPr>
          <a:xfrm xmlns:a="http://schemas.openxmlformats.org/drawingml/2006/main">
            <a:off x="11696700" y="7172325"/>
            <a:ext cx="5905500" cy="1200150"/>
          </a:xfrm>
          <a:prstGeom xmlns:a="http://schemas.openxmlformats.org/drawingml/2006/main" prst="roundRect">
            <a:avLst>
              <a:gd name="adj" fmla="val 7937"/>
            </a:avLst>
          </a:prstGeom>
          <a:solidFill xmlns:a="http://schemas.openxmlformats.org/drawingml/2006/main">
            <a:srgbClr val="FFFFFF"/>
          </a:solidFill>
          <a:ln xmlns:a="http://schemas.openxmlformats.org/drawingml/2006/main" w="9525">
            <a:solidFill>
              <a:srgbClr val="D7E3E8"/>
            </a:solidFill>
          </a:ln>
        </p:spPr>
      </p:sp>
      <p:sp>
        <p:nvSpPr>
          <p:cNvPr id="29" name="Active learning: measure selectively">
            <a:extLst xmlns:a="http://schemas.openxmlformats.org/drawingml/2006/main">
              <a:ext uri="{FF2B5EF4-FFF2-40B4-BE49-F238E27FC236}">
                <a16:creationId xmlns:a16="http://schemas.microsoft.com/office/drawing/2014/main" id="{29D212E9-88B7-4E2D-A407-71AC94F7722E}"/>
              </a:ext>
            </a:extLst>
          </p:cNvPr>
          <p:cNvSpPr>
            <a:spLocks xmlns:a="http://schemas.openxmlformats.org/drawingml/2006/main" noGrp="1"/>
          </p:cNvSpPr>
          <p:nvPr/>
        </p:nvSpPr>
        <p:spPr>
          <a:xfrm xmlns:a="http://schemas.openxmlformats.org/drawingml/2006/main">
            <a:off x="11925300" y="731520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152C3A"/>
                </a:solidFill>
                <a:latin typeface="Arial"/>
                <a:ea typeface="Arial"/>
                <a:cs typeface="Arial"/>
              </a:defRPr>
            </a:defPPr>
          </a:lstStyle>
          <a:p xmlns:a="http://schemas.openxmlformats.org/drawingml/2006/main">
            <a:pPr algn="l">
              <a:lnSpc>
                <a:spcPct val="100000"/>
              </a:lnSpc>
              <a:buNone/>
              <a:defRPr sz="1875" b="1">
                <a:solidFill>
                  <a:srgbClr val="152C3A"/>
                </a:solidFill>
                <a:latin typeface="Arial"/>
                <a:ea typeface="Arial"/>
                <a:cs typeface="Arial"/>
              </a:defRPr>
            </a:pPr>
            <a:r>
              <a:rPr sz="1875" b="1">
                <a:solidFill>
                  <a:srgbClr val="152C3A"/>
                </a:solidFill>
                <a:latin typeface="Arial"/>
                <a:ea typeface="Arial"/>
                <a:cs typeface="Arial"/>
              </a:rPr>
              <a:t>Active learning: measure selectively</a:t>
            </a:r>
          </a:p>
        </p:txBody>
      </p:sp>
      <p:sp>
        <p:nvSpPr>
          <p:cNvPr id="30" name="Prioritize informative molecules and tests">
            <a:extLst xmlns:a="http://schemas.openxmlformats.org/drawingml/2006/main">
              <a:ext uri="{FF2B5EF4-FFF2-40B4-BE49-F238E27FC236}">
                <a16:creationId xmlns:a16="http://schemas.microsoft.com/office/drawing/2014/main" id="{24F42A9C-0410-4006-B196-796C6E610AB0}"/>
              </a:ext>
            </a:extLst>
          </p:cNvPr>
          <p:cNvSpPr>
            <a:spLocks xmlns:a="http://schemas.openxmlformats.org/drawingml/2006/main" noGrp="1"/>
          </p:cNvSpPr>
          <p:nvPr/>
        </p:nvSpPr>
        <p:spPr>
          <a:xfrm xmlns:a="http://schemas.openxmlformats.org/drawingml/2006/main">
            <a:off x="11925300" y="7734300"/>
            <a:ext cx="544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Prioritize informative molecules and tests</a:t>
            </a:r>
          </a:p>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Limit coverage of costly measurements</a:t>
            </a:r>
          </a:p>
        </p:txBody>
      </p:sp>
      <p:sp>
        <p:nvSpPr>
          <p:cNvPr id="31" name="">
            <a:extLst xmlns:a="http://schemas.openxmlformats.org/drawingml/2006/main">
              <a:ext uri="{FF2B5EF4-FFF2-40B4-BE49-F238E27FC236}">
                <a16:creationId xmlns:a16="http://schemas.microsoft.com/office/drawing/2014/main" id="{1A6F14EE-EA3B-426B-8918-D1BC035343E8}"/>
              </a:ext>
            </a:extLst>
          </p:cNvPr>
          <p:cNvSpPr>
            <a:spLocks xmlns:a="http://schemas.openxmlformats.org/drawingml/2006/main" noGrp="1"/>
          </p:cNvSpPr>
          <p:nvPr/>
        </p:nvSpPr>
        <p:spPr>
          <a:xfrm xmlns:a="http://schemas.openxmlformats.org/drawingml/2006/main">
            <a:off x="685800" y="8658225"/>
            <a:ext cx="16916400" cy="723900"/>
          </a:xfrm>
          <a:prstGeom xmlns:a="http://schemas.openxmlformats.org/drawingml/2006/main" prst="roundRect">
            <a:avLst>
              <a:gd name="adj" fmla="val 11842"/>
            </a:avLst>
          </a:prstGeom>
          <a:solidFill xmlns:a="http://schemas.openxmlformats.org/drawingml/2006/main">
            <a:srgbClr val="152C3A"/>
          </a:solidFill>
          <a:ln xmlns:a="http://schemas.openxmlformats.org/drawingml/2006/main" w="9525">
            <a:noFill/>
          </a:ln>
        </p:spPr>
      </p:sp>
      <p:pic>
        <p:nvPicPr>
          <p:cNvPr id="32" name="">
            <a:extLst xmlns:a="http://schemas.openxmlformats.org/drawingml/2006/main">
              <a:ext uri="{FF2B5EF4-FFF2-40B4-BE49-F238E27FC236}">
                <a16:creationId xmlns:a16="http://schemas.microsoft.com/office/drawing/2014/main" id="{40D723B3-0283-44C1-A108-588B2A5A8952}"/>
              </a:ext>
            </a:extLst>
          </p:cNvPr>
          <p:cNvPicPr>
            <a:picLocks xmlns:a="http://schemas.openxmlformats.org/drawingml/2006/main" noChangeAspect="1"/>
          </p:cNvPicPr>
          <p:nvPr/>
        </p:nvPicPr>
        <p:blipFill>
          <a:blip xmlns:r="http://schemas.openxmlformats.org/officeDocument/2006/relationships" xmlns:a="http://schemas.openxmlformats.org/drawingml/2006/main" r:embed="R6b477822dc3f431e">
            <a:extLst>
              <a:ext uri="{96DAC541-7B7A-43D3-8B79-37D633B846F1}">
                <asvg:svgBlip xmlns:asvg="http://schemas.microsoft.com/office/drawing/2016/SVG/main" r:embed="R61600107299847b2"/>
              </a:ext>
            </a:extLst>
          </a:blip>
          <a:stretch xmlns:a="http://schemas.openxmlformats.org/drawingml/2006/main"/>
        </p:blipFill>
        <p:spPr>
          <a:xfrm xmlns:a="http://schemas.openxmlformats.org/drawingml/2006/main">
            <a:off x="885825" y="8839200"/>
            <a:ext cx="352425" cy="352425"/>
          </a:xfrm>
          <a:prstGeom xmlns:a="http://schemas.openxmlformats.org/drawingml/2006/main" prst="rect">
            <a:avLst/>
          </a:prstGeom>
        </p:spPr>
      </p:pic>
      <p:sp>
        <p:nvSpPr>
          <p:cNvPr id="33" name="Wet-lab demand depends on funded experiments, assay depth and net tool consumption">
            <a:extLst xmlns:a="http://schemas.openxmlformats.org/drawingml/2006/main">
              <a:ext uri="{FF2B5EF4-FFF2-40B4-BE49-F238E27FC236}">
                <a16:creationId xmlns:a16="http://schemas.microsoft.com/office/drawing/2014/main" id="{55306093-F141-4133-A995-9C8C399BD38E}"/>
              </a:ext>
            </a:extLst>
          </p:cNvPr>
          <p:cNvSpPr>
            <a:spLocks xmlns:a="http://schemas.openxmlformats.org/drawingml/2006/main" noGrp="1"/>
          </p:cNvSpPr>
          <p:nvPr/>
        </p:nvSpPr>
        <p:spPr>
          <a:xfrm xmlns:a="http://schemas.openxmlformats.org/drawingml/2006/main">
            <a:off x="1457325" y="8848725"/>
            <a:ext cx="15763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Wet-lab demand depends on funded experiments, assay depth and net tool consumption</a:t>
            </a:r>
          </a:p>
        </p:txBody>
      </p:sp>
      <p:sp>
        <p:nvSpPr>
          <p:cNvPr id="34" name="Illustrative counts. Nine label types are not nine independent assays; richer data need not come at unchanged cost.">
            <a:extLst xmlns:a="http://schemas.openxmlformats.org/drawingml/2006/main">
              <a:ext uri="{FF2B5EF4-FFF2-40B4-BE49-F238E27FC236}">
                <a16:creationId xmlns:a16="http://schemas.microsoft.com/office/drawing/2014/main" id="{A3274CA2-6452-4787-80D0-7FC0FA50AADC}"/>
              </a:ext>
            </a:extLst>
          </p:cNvPr>
          <p:cNvSpPr>
            <a:spLocks xmlns:a="http://schemas.openxmlformats.org/drawingml/2006/main" noGrp="1"/>
          </p:cNvSpPr>
          <p:nvPr/>
        </p:nvSpPr>
        <p:spPr>
          <a:xfrm xmlns:a="http://schemas.openxmlformats.org/drawingml/2006/main">
            <a:off x="685800" y="9553575"/>
            <a:ext cx="16916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Illustrative counts. Nine label types are not nine independent assays; richer data need not come at unchanged cost.</a:t>
            </a:r>
          </a:p>
        </p:txBody>
      </p:sp>
      <p:sp>
        <p:nvSpPr>
          <p:cNvPr id="35" name="Sources: Jain et al., 2017; Arsiwala et al., 2025; van Niekerk et al., 2026. Mechanism illustration; definitions and links in SOURCES.md.">
            <a:extLst xmlns:a="http://schemas.openxmlformats.org/drawingml/2006/main">
              <a:ext uri="{FF2B5EF4-FFF2-40B4-BE49-F238E27FC236}">
                <a16:creationId xmlns:a16="http://schemas.microsoft.com/office/drawing/2014/main" id="{BE177730-0D8A-4981-9191-7BEE785F24D7}"/>
              </a:ext>
            </a:extLst>
          </p:cNvPr>
          <p:cNvSpPr>
            <a:spLocks xmlns:a="http://schemas.openxmlformats.org/drawingml/2006/main" noGrp="1"/>
          </p:cNvSpPr>
          <p:nvPr/>
        </p:nvSpPr>
        <p:spPr>
          <a:xfrm xmlns:a="http://schemas.openxmlformats.org/drawingml/2006/main">
            <a:off x="685800" y="9877425"/>
            <a:ext cx="169164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0">
                <a:solidFill>
                  <a:srgbClr val="647887"/>
                </a:solidFill>
                <a:latin typeface="Arial"/>
                <a:ea typeface="Arial"/>
                <a:cs typeface="Arial"/>
              </a:defRPr>
            </a:defPPr>
          </a:lstStyle>
          <a:p xmlns:a="http://schemas.openxmlformats.org/drawingml/2006/main">
            <a:pPr algn="l">
              <a:lnSpc>
                <a:spcPct val="100000"/>
              </a:lnSpc>
              <a:buNone/>
              <a:defRPr sz="1163" b="0">
                <a:solidFill>
                  <a:srgbClr val="647887"/>
                </a:solidFill>
                <a:latin typeface="Arial"/>
                <a:ea typeface="Arial"/>
                <a:cs typeface="Arial"/>
              </a:defRPr>
            </a:pPr>
            <a:r>
              <a:rPr sz="1163" b="0">
                <a:solidFill>
                  <a:srgbClr val="647887"/>
                </a:solidFill>
                <a:latin typeface="Arial"/>
                <a:ea typeface="Arial"/>
                <a:cs typeface="Arial"/>
              </a:rPr>
              <a:t>Sources: Jain et al., 2017; Arsiwala et al., 2025; van Niekerk et al., 2026. Mechanism illustration; definitions and links in SOURCES.md.</a:t>
            </a:r>
          </a:p>
        </p:txBody>
      </p:sp>
    </p:spTree>
    <p:extLst>
      <p:ext uri="{BB962C8B-B14F-4D97-AF65-F5344CB8AC3E}">
        <p14:creationId xmlns:p14="http://schemas.microsoft.com/office/powerpoint/2010/main" val="8369281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DB3A2134-841A-45BD-9ED3-EE43EF5FA39D}"/>
              </a:ext>
            </a:extLst>
          </p:cNvPr>
          <p:cNvSpPr>
            <a:spLocks xmlns:a="http://schemas.openxmlformats.org/drawingml/2006/main" noGrp="1"/>
          </p:cNvSpPr>
          <p:nvPr/>
        </p:nvSpPr>
        <p:spPr>
          <a:xfrm xmlns:a="http://schemas.openxmlformats.org/drawingml/2006/main">
            <a:off x="685800" y="457200"/>
            <a:ext cx="85725" cy="1000125"/>
          </a:xfrm>
          <a:prstGeom xmlns:a="http://schemas.openxmlformats.org/drawingml/2006/main" prst="rect">
            <a:avLst/>
          </a:prstGeom>
          <a:solidFill xmlns:a="http://schemas.openxmlformats.org/drawingml/2006/main">
            <a:srgbClr val="007D80"/>
          </a:solidFill>
          <a:ln xmlns:a="http://schemas.openxmlformats.org/drawingml/2006/main" w="9525">
            <a:noFill/>
          </a:ln>
        </p:spPr>
      </p:sp>
      <p:sp>
        <p:nvSpPr>
          <p:cNvPr id="2" name="Experimental data density and the LST ecosystem">
            <a:extLst xmlns:a="http://schemas.openxmlformats.org/drawingml/2006/main">
              <a:ext uri="{FF2B5EF4-FFF2-40B4-BE49-F238E27FC236}">
                <a16:creationId xmlns:a16="http://schemas.microsoft.com/office/drawing/2014/main" id="{8FB04695-A5C4-4A80-9B1B-E947F92B8097}"/>
              </a:ext>
            </a:extLst>
          </p:cNvPr>
          <p:cNvSpPr>
            <a:spLocks xmlns:a="http://schemas.openxmlformats.org/drawingml/2006/main" noGrp="1"/>
          </p:cNvSpPr>
          <p:nvPr/>
        </p:nvSpPr>
        <p:spPr>
          <a:xfrm xmlns:a="http://schemas.openxmlformats.org/drawingml/2006/main">
            <a:off x="1000125" y="428625"/>
            <a:ext cx="1652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152C3A"/>
                </a:solidFill>
                <a:latin typeface="Arial"/>
                <a:ea typeface="Arial"/>
                <a:cs typeface="Arial"/>
              </a:defRPr>
            </a:defPPr>
          </a:lstStyle>
          <a:p xmlns:a="http://schemas.openxmlformats.org/drawingml/2006/main">
            <a:pPr algn="l">
              <a:lnSpc>
                <a:spcPct val="100000"/>
              </a:lnSpc>
              <a:buNone/>
              <a:defRPr sz="3450" b="1">
                <a:solidFill>
                  <a:srgbClr val="152C3A"/>
                </a:solidFill>
                <a:latin typeface="Arial"/>
                <a:ea typeface="Arial"/>
                <a:cs typeface="Arial"/>
              </a:defRPr>
            </a:pPr>
            <a:r>
              <a:rPr sz="3450" b="1">
                <a:solidFill>
                  <a:srgbClr val="152C3A"/>
                </a:solidFill>
                <a:latin typeface="Arial"/>
                <a:ea typeface="Arial"/>
                <a:cs typeface="Arial"/>
              </a:rPr>
              <a:t>Experimental data density and the LST ecosystem</a:t>
            </a:r>
          </a:p>
        </p:txBody>
      </p:sp>
      <p:sp>
        <p:nvSpPr>
          <p:cNvPr id="3" name="Stage 0: biological data production creates a wet-lab use case">
            <a:extLst xmlns:a="http://schemas.openxmlformats.org/drawingml/2006/main">
              <a:ext uri="{FF2B5EF4-FFF2-40B4-BE49-F238E27FC236}">
                <a16:creationId xmlns:a16="http://schemas.microsoft.com/office/drawing/2014/main" id="{BF206F45-4FE0-4552-AC80-6BF4663CEF9D}"/>
              </a:ext>
            </a:extLst>
          </p:cNvPr>
          <p:cNvSpPr>
            <a:spLocks xmlns:a="http://schemas.openxmlformats.org/drawingml/2006/main" noGrp="1"/>
          </p:cNvSpPr>
          <p:nvPr/>
        </p:nvSpPr>
        <p:spPr>
          <a:xfrm xmlns:a="http://schemas.openxmlformats.org/drawingml/2006/main">
            <a:off x="1019175" y="1028700"/>
            <a:ext cx="1652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025" b="0">
                <a:solidFill>
                  <a:srgbClr val="647887"/>
                </a:solidFill>
                <a:latin typeface="Arial"/>
                <a:ea typeface="Arial"/>
                <a:cs typeface="Arial"/>
              </a:defRPr>
            </a:defPPr>
          </a:lstStyle>
          <a:p xmlns:a="http://schemas.openxmlformats.org/drawingml/2006/main">
            <a:pPr algn="l">
              <a:lnSpc>
                <a:spcPct val="100000"/>
              </a:lnSpc>
              <a:buNone/>
              <a:defRPr sz="2025" b="0">
                <a:solidFill>
                  <a:srgbClr val="647887"/>
                </a:solidFill>
                <a:latin typeface="Arial"/>
                <a:ea typeface="Arial"/>
                <a:cs typeface="Arial"/>
              </a:defRPr>
            </a:pPr>
            <a:r>
              <a:rPr sz="2025" b="0">
                <a:solidFill>
                  <a:srgbClr val="647887"/>
                </a:solidFill>
                <a:latin typeface="Arial"/>
                <a:ea typeface="Arial"/>
                <a:cs typeface="Arial"/>
              </a:rPr>
              <a:t>Stage 0: biological data production creates a wet-lab use case</a:t>
            </a:r>
          </a:p>
        </p:txBody>
      </p:sp>
      <p:sp>
        <p:nvSpPr>
          <p:cNvPr id="4" name="Learning developability requires comparable assay data and an integrated tool workflow">
            <a:extLst xmlns:a="http://schemas.openxmlformats.org/drawingml/2006/main">
              <a:ext uri="{FF2B5EF4-FFF2-40B4-BE49-F238E27FC236}">
                <a16:creationId xmlns:a16="http://schemas.microsoft.com/office/drawing/2014/main" id="{B2974318-0FD5-405C-A701-74B774F2AD7F}"/>
              </a:ext>
            </a:extLst>
          </p:cNvPr>
          <p:cNvSpPr>
            <a:spLocks xmlns:a="http://schemas.openxmlformats.org/drawingml/2006/main" noGrp="1"/>
          </p:cNvSpPr>
          <p:nvPr/>
        </p:nvSpPr>
        <p:spPr>
          <a:xfrm xmlns:a="http://schemas.openxmlformats.org/drawingml/2006/main">
            <a:off x="1019175" y="1457325"/>
            <a:ext cx="1652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647887"/>
                </a:solidFill>
                <a:latin typeface="Arial"/>
                <a:ea typeface="Arial"/>
                <a:cs typeface="Arial"/>
              </a:defRPr>
            </a:defPPr>
          </a:lstStyle>
          <a:p xmlns:a="http://schemas.openxmlformats.org/drawingml/2006/main">
            <a:pPr algn="l">
              <a:lnSpc>
                <a:spcPct val="100000"/>
              </a:lnSpc>
              <a:buNone/>
              <a:defRPr sz="1575" b="0">
                <a:solidFill>
                  <a:srgbClr val="647887"/>
                </a:solidFill>
                <a:latin typeface="Arial"/>
                <a:ea typeface="Arial"/>
                <a:cs typeface="Arial"/>
              </a:defRPr>
            </a:pPr>
            <a:r>
              <a:rPr sz="1575" b="0">
                <a:solidFill>
                  <a:srgbClr val="647887"/>
                </a:solidFill>
                <a:latin typeface="Arial"/>
                <a:ea typeface="Arial"/>
                <a:cs typeface="Arial"/>
              </a:rPr>
              <a:t>Learning developability requires comparable assay data and an integrated tool workflow</a:t>
            </a:r>
          </a:p>
        </p:txBody>
      </p:sp>
      <p:sp>
        <p:nvSpPr>
          <p:cNvPr id="5" name="">
            <a:extLst xmlns:a="http://schemas.openxmlformats.org/drawingml/2006/main">
              <a:ext uri="{FF2B5EF4-FFF2-40B4-BE49-F238E27FC236}">
                <a16:creationId xmlns:a16="http://schemas.microsoft.com/office/drawing/2014/main" id="{D70C267E-925A-4F83-B9C8-138D4CB9CF26}"/>
              </a:ext>
            </a:extLst>
          </p:cNvPr>
          <p:cNvSpPr>
            <a:spLocks xmlns:a="http://schemas.openxmlformats.org/drawingml/2006/main" noGrp="1"/>
          </p:cNvSpPr>
          <p:nvPr/>
        </p:nvSpPr>
        <p:spPr>
          <a:xfrm xmlns:a="http://schemas.openxmlformats.org/drawingml/2006/main">
            <a:off x="685800" y="1885950"/>
            <a:ext cx="16916400" cy="953"/>
          </a:xfrm>
          <a:custGeom xmlns:a="http://schemas.openxmlformats.org/drawingml/2006/main">
            <a:pathLst>
              <a:path w="16916400" h="953">
                <a:moveTo>
                  <a:pt x="0" y="0"/>
                </a:moveTo>
                <a:lnTo>
                  <a:pt x="16916400" y="0"/>
                </a:lnTo>
              </a:path>
            </a:pathLst>
          </a:custGeom>
          <a:noFill xmlns:a="http://schemas.openxmlformats.org/drawingml/2006/main"/>
          <a:ln xmlns:a="http://schemas.openxmlformats.org/drawingml/2006/main" w="9525">
            <a:solidFill>
              <a:srgbClr val="D7E3E8"/>
            </a:solidFill>
          </a:ln>
        </p:spPr>
      </p:sp>
      <p:sp>
        <p:nvSpPr>
          <p:cNvPr id="6" name="">
            <a:extLst xmlns:a="http://schemas.openxmlformats.org/drawingml/2006/main">
              <a:ext uri="{FF2B5EF4-FFF2-40B4-BE49-F238E27FC236}">
                <a16:creationId xmlns:a16="http://schemas.microsoft.com/office/drawing/2014/main" id="{4C2B3EA7-77C3-4D1C-BC5B-7DACFA0730EC}"/>
              </a:ext>
            </a:extLst>
          </p:cNvPr>
          <p:cNvSpPr>
            <a:spLocks xmlns:a="http://schemas.openxmlformats.org/drawingml/2006/main" noGrp="1"/>
          </p:cNvSpPr>
          <p:nvPr/>
        </p:nvSpPr>
        <p:spPr>
          <a:xfrm xmlns:a="http://schemas.openxmlformats.org/drawingml/2006/main">
            <a:off x="685800" y="2124075"/>
            <a:ext cx="5591175" cy="5781675"/>
          </a:xfrm>
          <a:prstGeom xmlns:a="http://schemas.openxmlformats.org/drawingml/2006/main" prst="roundRect">
            <a:avLst>
              <a:gd name="adj" fmla="val 2385"/>
            </a:avLst>
          </a:prstGeom>
          <a:solidFill xmlns:a="http://schemas.openxmlformats.org/drawingml/2006/main">
            <a:srgbClr val="F5F8F9"/>
          </a:solidFill>
          <a:ln xmlns:a="http://schemas.openxmlformats.org/drawingml/2006/main" w="9525">
            <a:solidFill>
              <a:srgbClr val="D7E3E8"/>
            </a:solidFill>
          </a:ln>
        </p:spPr>
      </p:sp>
      <p:sp>
        <p:nvSpPr>
          <p:cNvPr id="7" name="Stage 0: biological data production">
            <a:extLst xmlns:a="http://schemas.openxmlformats.org/drawingml/2006/main">
              <a:ext uri="{FF2B5EF4-FFF2-40B4-BE49-F238E27FC236}">
                <a16:creationId xmlns:a16="http://schemas.microsoft.com/office/drawing/2014/main" id="{A9988D25-A023-461B-A85A-0491E7D10A49}"/>
              </a:ext>
            </a:extLst>
          </p:cNvPr>
          <p:cNvSpPr>
            <a:spLocks xmlns:a="http://schemas.openxmlformats.org/drawingml/2006/main" noGrp="1"/>
          </p:cNvSpPr>
          <p:nvPr/>
        </p:nvSpPr>
        <p:spPr>
          <a:xfrm xmlns:a="http://schemas.openxmlformats.org/drawingml/2006/main">
            <a:off x="942975" y="2352675"/>
            <a:ext cx="507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152C3A"/>
                </a:solidFill>
                <a:latin typeface="Arial"/>
                <a:ea typeface="Arial"/>
                <a:cs typeface="Arial"/>
              </a:defRPr>
            </a:defPPr>
          </a:lstStyle>
          <a:p xmlns:a="http://schemas.openxmlformats.org/drawingml/2006/main">
            <a:pPr algn="l">
              <a:lnSpc>
                <a:spcPct val="100000"/>
              </a:lnSpc>
              <a:buNone/>
              <a:defRPr sz="2100" b="1">
                <a:solidFill>
                  <a:srgbClr val="152C3A"/>
                </a:solidFill>
                <a:latin typeface="Arial"/>
                <a:ea typeface="Arial"/>
                <a:cs typeface="Arial"/>
              </a:defRPr>
            </a:pPr>
            <a:r>
              <a:rPr sz="2100" b="1">
                <a:solidFill>
                  <a:srgbClr val="152C3A"/>
                </a:solidFill>
                <a:latin typeface="Arial"/>
                <a:ea typeface="Arial"/>
                <a:cs typeface="Arial"/>
              </a:rPr>
              <a:t>Stage 0: biological data production</a:t>
            </a:r>
          </a:p>
        </p:txBody>
      </p:sp>
      <p:sp>
        <p:nvSpPr>
          <p:cNvPr id="8" name="Continuous input to training and iteration">
            <a:extLst xmlns:a="http://schemas.openxmlformats.org/drawingml/2006/main">
              <a:ext uri="{FF2B5EF4-FFF2-40B4-BE49-F238E27FC236}">
                <a16:creationId xmlns:a16="http://schemas.microsoft.com/office/drawing/2014/main" id="{C03CD82C-6B33-46A1-AC4C-E03B8F95D9FF}"/>
              </a:ext>
            </a:extLst>
          </p:cNvPr>
          <p:cNvSpPr>
            <a:spLocks xmlns:a="http://schemas.openxmlformats.org/drawingml/2006/main" noGrp="1"/>
          </p:cNvSpPr>
          <p:nvPr/>
        </p:nvSpPr>
        <p:spPr>
          <a:xfrm xmlns:a="http://schemas.openxmlformats.org/drawingml/2006/main">
            <a:off x="942975" y="2771775"/>
            <a:ext cx="5076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Continuous input to training and iteration</a:t>
            </a:r>
          </a:p>
        </p:txBody>
      </p:sp>
      <p:sp>
        <p:nvSpPr>
          <p:cNvPr id="9" name="">
            <a:extLst xmlns:a="http://schemas.openxmlformats.org/drawingml/2006/main">
              <a:ext uri="{FF2B5EF4-FFF2-40B4-BE49-F238E27FC236}">
                <a16:creationId xmlns:a16="http://schemas.microsoft.com/office/drawing/2014/main" id="{BEC32C67-8519-445C-A441-69C63F6C4C0A}"/>
              </a:ext>
            </a:extLst>
          </p:cNvPr>
          <p:cNvSpPr>
            <a:spLocks xmlns:a="http://schemas.openxmlformats.org/drawingml/2006/main" noGrp="1"/>
          </p:cNvSpPr>
          <p:nvPr/>
        </p:nvSpPr>
        <p:spPr>
          <a:xfrm xmlns:a="http://schemas.openxmlformats.org/drawingml/2006/main">
            <a:off x="942975" y="3219450"/>
            <a:ext cx="5076825" cy="838200"/>
          </a:xfrm>
          <a:prstGeom xmlns:a="http://schemas.openxmlformats.org/drawingml/2006/main" prst="roundRect">
            <a:avLst>
              <a:gd name="adj" fmla="val 9091"/>
            </a:avLst>
          </a:prstGeom>
          <a:solidFill xmlns:a="http://schemas.openxmlformats.org/drawingml/2006/main">
            <a:srgbClr val="EAF0FA"/>
          </a:solidFill>
          <a:ln xmlns:a="http://schemas.openxmlformats.org/drawingml/2006/main" w="9525">
            <a:noFill/>
          </a:ln>
        </p:spPr>
      </p:sp>
      <p:sp>
        <p:nvSpPr>
          <p:cNvPr id="10" name="Binding kinetics">
            <a:extLst xmlns:a="http://schemas.openxmlformats.org/drawingml/2006/main">
              <a:ext uri="{FF2B5EF4-FFF2-40B4-BE49-F238E27FC236}">
                <a16:creationId xmlns:a16="http://schemas.microsoft.com/office/drawing/2014/main" id="{33911D79-AD08-4A72-B234-BE29C09C1CA7}"/>
              </a:ext>
            </a:extLst>
          </p:cNvPr>
          <p:cNvSpPr>
            <a:spLocks xmlns:a="http://schemas.openxmlformats.org/drawingml/2006/main" noGrp="1"/>
          </p:cNvSpPr>
          <p:nvPr/>
        </p:nvSpPr>
        <p:spPr>
          <a:xfrm xmlns:a="http://schemas.openxmlformats.org/drawingml/2006/main">
            <a:off x="1104900" y="3314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Binding kinetics</a:t>
            </a:r>
          </a:p>
        </p:txBody>
      </p:sp>
      <p:sp>
        <p:nvSpPr>
          <p:cNvPr id="11" name="KD / kon / koff">
            <a:extLst xmlns:a="http://schemas.openxmlformats.org/drawingml/2006/main">
              <a:ext uri="{FF2B5EF4-FFF2-40B4-BE49-F238E27FC236}">
                <a16:creationId xmlns:a16="http://schemas.microsoft.com/office/drawing/2014/main" id="{32E8FFE8-87EE-47C4-8927-8B7DDAE332FC}"/>
              </a:ext>
            </a:extLst>
          </p:cNvPr>
          <p:cNvSpPr>
            <a:spLocks xmlns:a="http://schemas.openxmlformats.org/drawingml/2006/main" noGrp="1"/>
          </p:cNvSpPr>
          <p:nvPr/>
        </p:nvSpPr>
        <p:spPr>
          <a:xfrm xmlns:a="http://schemas.openxmlformats.org/drawingml/2006/main">
            <a:off x="1104900" y="3590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152C3A"/>
                </a:solidFill>
                <a:latin typeface="Arial"/>
                <a:ea typeface="Arial"/>
                <a:cs typeface="Arial"/>
              </a:defRPr>
            </a:defPPr>
          </a:lstStyle>
          <a:p xmlns:a="http://schemas.openxmlformats.org/drawingml/2006/main">
            <a:pPr algn="l">
              <a:lnSpc>
                <a:spcPct val="100000"/>
              </a:lnSpc>
              <a:buNone/>
              <a:defRPr sz="1725" b="1">
                <a:solidFill>
                  <a:srgbClr val="152C3A"/>
                </a:solidFill>
                <a:latin typeface="Arial"/>
                <a:ea typeface="Arial"/>
                <a:cs typeface="Arial"/>
              </a:defRPr>
            </a:pPr>
            <a:r>
              <a:rPr sz="1725" b="1">
                <a:solidFill>
                  <a:srgbClr val="152C3A"/>
                </a:solidFill>
                <a:latin typeface="Arial"/>
                <a:ea typeface="Arial"/>
                <a:cs typeface="Arial"/>
              </a:rPr>
              <a:t>KD / kon / koff</a:t>
            </a:r>
          </a:p>
        </p:txBody>
      </p:sp>
      <p:sp>
        <p:nvSpPr>
          <p:cNvPr id="12" name="">
            <a:extLst xmlns:a="http://schemas.openxmlformats.org/drawingml/2006/main">
              <a:ext uri="{FF2B5EF4-FFF2-40B4-BE49-F238E27FC236}">
                <a16:creationId xmlns:a16="http://schemas.microsoft.com/office/drawing/2014/main" id="{77A2F902-CAD7-4264-9BFC-67203699996C}"/>
              </a:ext>
            </a:extLst>
          </p:cNvPr>
          <p:cNvSpPr>
            <a:spLocks xmlns:a="http://schemas.openxmlformats.org/drawingml/2006/main" noGrp="1"/>
          </p:cNvSpPr>
          <p:nvPr/>
        </p:nvSpPr>
        <p:spPr>
          <a:xfrm xmlns:a="http://schemas.openxmlformats.org/drawingml/2006/main">
            <a:off x="942975" y="4171950"/>
            <a:ext cx="5076825" cy="838200"/>
          </a:xfrm>
          <a:prstGeom xmlns:a="http://schemas.openxmlformats.org/drawingml/2006/main" prst="roundRect">
            <a:avLst>
              <a:gd name="adj" fmla="val 9091"/>
            </a:avLst>
          </a:prstGeom>
          <a:solidFill xmlns:a="http://schemas.openxmlformats.org/drawingml/2006/main">
            <a:srgbClr val="EAF6F4"/>
          </a:solidFill>
          <a:ln xmlns:a="http://schemas.openxmlformats.org/drawingml/2006/main" w="9525">
            <a:noFill/>
          </a:ln>
        </p:spPr>
      </p:sp>
      <p:sp>
        <p:nvSpPr>
          <p:cNvPr id="13" name="Expression &amp; physicochemical properties">
            <a:extLst xmlns:a="http://schemas.openxmlformats.org/drawingml/2006/main">
              <a:ext uri="{FF2B5EF4-FFF2-40B4-BE49-F238E27FC236}">
                <a16:creationId xmlns:a16="http://schemas.microsoft.com/office/drawing/2014/main" id="{99C18C97-7037-4692-9CC7-16CB2B29F128}"/>
              </a:ext>
            </a:extLst>
          </p:cNvPr>
          <p:cNvSpPr>
            <a:spLocks xmlns:a="http://schemas.openxmlformats.org/drawingml/2006/main" noGrp="1"/>
          </p:cNvSpPr>
          <p:nvPr/>
        </p:nvSpPr>
        <p:spPr>
          <a:xfrm xmlns:a="http://schemas.openxmlformats.org/drawingml/2006/main">
            <a:off x="1104900" y="42672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Expression &amp; physicochemical properties</a:t>
            </a:r>
          </a:p>
        </p:txBody>
      </p:sp>
      <p:sp>
        <p:nvSpPr>
          <p:cNvPr id="14" name="expression / Tm / aggregation">
            <a:extLst xmlns:a="http://schemas.openxmlformats.org/drawingml/2006/main">
              <a:ext uri="{FF2B5EF4-FFF2-40B4-BE49-F238E27FC236}">
                <a16:creationId xmlns:a16="http://schemas.microsoft.com/office/drawing/2014/main" id="{90E0DD34-1646-4F13-87E6-086081ED16D5}"/>
              </a:ext>
            </a:extLst>
          </p:cNvPr>
          <p:cNvSpPr>
            <a:spLocks xmlns:a="http://schemas.openxmlformats.org/drawingml/2006/main" noGrp="1"/>
          </p:cNvSpPr>
          <p:nvPr/>
        </p:nvSpPr>
        <p:spPr>
          <a:xfrm xmlns:a="http://schemas.openxmlformats.org/drawingml/2006/main">
            <a:off x="1104900" y="45434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152C3A"/>
                </a:solidFill>
                <a:latin typeface="Arial"/>
                <a:ea typeface="Arial"/>
                <a:cs typeface="Arial"/>
              </a:defRPr>
            </a:defPPr>
          </a:lstStyle>
          <a:p xmlns:a="http://schemas.openxmlformats.org/drawingml/2006/main">
            <a:pPr algn="l">
              <a:lnSpc>
                <a:spcPct val="100000"/>
              </a:lnSpc>
              <a:buNone/>
              <a:defRPr sz="1725" b="1">
                <a:solidFill>
                  <a:srgbClr val="152C3A"/>
                </a:solidFill>
                <a:latin typeface="Arial"/>
                <a:ea typeface="Arial"/>
                <a:cs typeface="Arial"/>
              </a:defRPr>
            </a:pPr>
            <a:r>
              <a:rPr sz="1725" b="1">
                <a:solidFill>
                  <a:srgbClr val="152C3A"/>
                </a:solidFill>
                <a:latin typeface="Arial"/>
                <a:ea typeface="Arial"/>
                <a:cs typeface="Arial"/>
              </a:rPr>
              <a:t>expression / Tm / aggregation</a:t>
            </a:r>
          </a:p>
        </p:txBody>
      </p:sp>
      <p:sp>
        <p:nvSpPr>
          <p:cNvPr id="15" name="">
            <a:extLst xmlns:a="http://schemas.openxmlformats.org/drawingml/2006/main">
              <a:ext uri="{FF2B5EF4-FFF2-40B4-BE49-F238E27FC236}">
                <a16:creationId xmlns:a16="http://schemas.microsoft.com/office/drawing/2014/main" id="{9BE98D0B-D369-48B5-AB3F-04DA2DF3EFE1}"/>
              </a:ext>
            </a:extLst>
          </p:cNvPr>
          <p:cNvSpPr>
            <a:spLocks xmlns:a="http://schemas.openxmlformats.org/drawingml/2006/main" noGrp="1"/>
          </p:cNvSpPr>
          <p:nvPr/>
        </p:nvSpPr>
        <p:spPr>
          <a:xfrm xmlns:a="http://schemas.openxmlformats.org/drawingml/2006/main">
            <a:off x="942975" y="5124450"/>
            <a:ext cx="5076825" cy="838200"/>
          </a:xfrm>
          <a:prstGeom xmlns:a="http://schemas.openxmlformats.org/drawingml/2006/main" prst="roundRect">
            <a:avLst>
              <a:gd name="adj" fmla="val 9091"/>
            </a:avLst>
          </a:prstGeom>
          <a:solidFill xmlns:a="http://schemas.openxmlformats.org/drawingml/2006/main">
            <a:srgbClr val="EAF6F4"/>
          </a:solidFill>
          <a:ln xmlns:a="http://schemas.openxmlformats.org/drawingml/2006/main" w="9525">
            <a:noFill/>
          </a:ln>
        </p:spPr>
      </p:sp>
      <p:sp>
        <p:nvSpPr>
          <p:cNvPr id="16" name="Specificity &amp; cell function">
            <a:extLst xmlns:a="http://schemas.openxmlformats.org/drawingml/2006/main">
              <a:ext uri="{FF2B5EF4-FFF2-40B4-BE49-F238E27FC236}">
                <a16:creationId xmlns:a16="http://schemas.microsoft.com/office/drawing/2014/main" id="{D3A5D865-4616-45B6-972B-4F71E90DA8E2}"/>
              </a:ext>
            </a:extLst>
          </p:cNvPr>
          <p:cNvSpPr>
            <a:spLocks xmlns:a="http://schemas.openxmlformats.org/drawingml/2006/main" noGrp="1"/>
          </p:cNvSpPr>
          <p:nvPr/>
        </p:nvSpPr>
        <p:spPr>
          <a:xfrm xmlns:a="http://schemas.openxmlformats.org/drawingml/2006/main">
            <a:off x="1104900" y="521970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Specificity &amp; cell function</a:t>
            </a:r>
          </a:p>
        </p:txBody>
      </p:sp>
      <p:sp>
        <p:nvSpPr>
          <p:cNvPr id="17" name="polyreactivity / epitope / cell potency">
            <a:extLst xmlns:a="http://schemas.openxmlformats.org/drawingml/2006/main">
              <a:ext uri="{FF2B5EF4-FFF2-40B4-BE49-F238E27FC236}">
                <a16:creationId xmlns:a16="http://schemas.microsoft.com/office/drawing/2014/main" id="{69126347-73C3-4A3C-A4D8-27926757336B}"/>
              </a:ext>
            </a:extLst>
          </p:cNvPr>
          <p:cNvSpPr>
            <a:spLocks xmlns:a="http://schemas.openxmlformats.org/drawingml/2006/main" noGrp="1"/>
          </p:cNvSpPr>
          <p:nvPr/>
        </p:nvSpPr>
        <p:spPr>
          <a:xfrm xmlns:a="http://schemas.openxmlformats.org/drawingml/2006/main">
            <a:off x="1104900" y="5495925"/>
            <a:ext cx="476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152C3A"/>
                </a:solidFill>
                <a:latin typeface="Arial"/>
                <a:ea typeface="Arial"/>
                <a:cs typeface="Arial"/>
              </a:defRPr>
            </a:defPPr>
          </a:lstStyle>
          <a:p xmlns:a="http://schemas.openxmlformats.org/drawingml/2006/main">
            <a:pPr algn="l">
              <a:lnSpc>
                <a:spcPct val="100000"/>
              </a:lnSpc>
              <a:buNone/>
              <a:defRPr sz="1500" b="1">
                <a:solidFill>
                  <a:srgbClr val="152C3A"/>
                </a:solidFill>
                <a:latin typeface="Arial"/>
                <a:ea typeface="Arial"/>
                <a:cs typeface="Arial"/>
              </a:defRPr>
            </a:pPr>
            <a:r>
              <a:rPr sz="1500" b="1">
                <a:solidFill>
                  <a:srgbClr val="152C3A"/>
                </a:solidFill>
                <a:latin typeface="Arial"/>
                <a:ea typeface="Arial"/>
                <a:cs typeface="Arial"/>
              </a:rPr>
              <a:t>polyreactivity / epitope / cell potency</a:t>
            </a:r>
          </a:p>
        </p:txBody>
      </p:sp>
      <p:sp>
        <p:nvSpPr>
          <p:cNvPr id="18" name="Training records: sequence, target, conditions,">
            <a:extLst xmlns:a="http://schemas.openxmlformats.org/drawingml/2006/main">
              <a:ext uri="{FF2B5EF4-FFF2-40B4-BE49-F238E27FC236}">
                <a16:creationId xmlns:a16="http://schemas.microsoft.com/office/drawing/2014/main" id="{3D319FB1-D010-497F-8CB0-69A9935D547E}"/>
              </a:ext>
            </a:extLst>
          </p:cNvPr>
          <p:cNvSpPr>
            <a:spLocks xmlns:a="http://schemas.openxmlformats.org/drawingml/2006/main" noGrp="1"/>
          </p:cNvSpPr>
          <p:nvPr/>
        </p:nvSpPr>
        <p:spPr>
          <a:xfrm xmlns:a="http://schemas.openxmlformats.org/drawingml/2006/main">
            <a:off x="942975" y="6191250"/>
            <a:ext cx="5076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647887"/>
                </a:solidFill>
                <a:latin typeface="Arial"/>
                <a:ea typeface="Arial"/>
                <a:cs typeface="Arial"/>
              </a:defRPr>
            </a:defPPr>
          </a:lstStyle>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Training records: sequence, target, conditions,</a:t>
            </a:r>
          </a:p>
          <a:p xmlns:a="http://schemas.openxmlformats.org/drawingml/2006/main">
            <a:pPr algn="l">
              <a:lnSpc>
                <a:spcPct val="100000"/>
              </a:lnSpc>
              <a:buNone/>
              <a:defRPr sz="1425" b="0">
                <a:solidFill>
                  <a:srgbClr val="647887"/>
                </a:solidFill>
                <a:latin typeface="Arial"/>
                <a:ea typeface="Arial"/>
                <a:cs typeface="Arial"/>
              </a:defRPr>
            </a:pPr>
            <a:r>
              <a:rPr sz="1425" b="0">
                <a:solidFill>
                  <a:srgbClr val="647887"/>
                </a:solidFill>
                <a:latin typeface="Arial"/>
                <a:ea typeface="Arial"/>
                <a:cs typeface="Arial"/>
              </a:rPr>
              <a:t>raw curves, replicates, batches and failures</a:t>
            </a:r>
          </a:p>
        </p:txBody>
      </p:sp>
      <p:sp>
        <p:nvSpPr>
          <p:cNvPr id="19" name="">
            <a:extLst xmlns:a="http://schemas.openxmlformats.org/drawingml/2006/main">
              <a:ext uri="{FF2B5EF4-FFF2-40B4-BE49-F238E27FC236}">
                <a16:creationId xmlns:a16="http://schemas.microsoft.com/office/drawing/2014/main" id="{DCE12F8D-EF81-4EE3-9C9E-086846313D15}"/>
              </a:ext>
            </a:extLst>
          </p:cNvPr>
          <p:cNvSpPr>
            <a:spLocks xmlns:a="http://schemas.openxmlformats.org/drawingml/2006/main" noGrp="1"/>
          </p:cNvSpPr>
          <p:nvPr/>
        </p:nvSpPr>
        <p:spPr>
          <a:xfrm xmlns:a="http://schemas.openxmlformats.org/drawingml/2006/main">
            <a:off x="942975" y="6905625"/>
            <a:ext cx="192405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D7E3E8"/>
            </a:solidFill>
          </a:ln>
        </p:spPr>
      </p:sp>
      <p:sp>
        <p:nvSpPr>
          <p:cNvPr id="20" name="">
            <a:extLst xmlns:a="http://schemas.openxmlformats.org/drawingml/2006/main">
              <a:ext uri="{FF2B5EF4-FFF2-40B4-BE49-F238E27FC236}">
                <a16:creationId xmlns:a16="http://schemas.microsoft.com/office/drawing/2014/main" id="{BCDDCB4A-E4D9-4201-B599-0FC960E64BAF}"/>
              </a:ext>
            </a:extLst>
          </p:cNvPr>
          <p:cNvSpPr>
            <a:spLocks xmlns:a="http://schemas.openxmlformats.org/drawingml/2006/main" noGrp="1"/>
          </p:cNvSpPr>
          <p:nvPr/>
        </p:nvSpPr>
        <p:spPr>
          <a:xfrm xmlns:a="http://schemas.openxmlformats.org/drawingml/2006/main">
            <a:off x="3810000" y="6905625"/>
            <a:ext cx="2209800" cy="504825"/>
          </a:xfrm>
          <a:prstGeom xmlns:a="http://schemas.openxmlformats.org/drawingml/2006/main" prst="roundRect">
            <a:avLst>
              <a:gd name="adj" fmla="val 13208"/>
            </a:avLst>
          </a:prstGeom>
          <a:solidFill xmlns:a="http://schemas.openxmlformats.org/drawingml/2006/main">
            <a:srgbClr val="FFFFFF"/>
          </a:solidFill>
          <a:ln xmlns:a="http://schemas.openxmlformats.org/drawingml/2006/main" w="9525">
            <a:solidFill>
              <a:srgbClr val="D7E3E8"/>
            </a:solidFill>
          </a:ln>
        </p:spPr>
      </p:sp>
      <p:sp>
        <p:nvSpPr>
          <p:cNvPr id="21" name="Train / improve">
            <a:extLst xmlns:a="http://schemas.openxmlformats.org/drawingml/2006/main">
              <a:ext uri="{FF2B5EF4-FFF2-40B4-BE49-F238E27FC236}">
                <a16:creationId xmlns:a16="http://schemas.microsoft.com/office/drawing/2014/main" id="{A5428438-7798-4109-A375-9B7FEC892134}"/>
              </a:ext>
            </a:extLst>
          </p:cNvPr>
          <p:cNvSpPr>
            <a:spLocks xmlns:a="http://schemas.openxmlformats.org/drawingml/2006/main" noGrp="1"/>
          </p:cNvSpPr>
          <p:nvPr/>
        </p:nvSpPr>
        <p:spPr>
          <a:xfrm xmlns:a="http://schemas.openxmlformats.org/drawingml/2006/main">
            <a:off x="942975" y="6981825"/>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152C3A"/>
                </a:solidFill>
                <a:latin typeface="Arial"/>
                <a:ea typeface="Arial"/>
                <a:cs typeface="Arial"/>
              </a:defRPr>
            </a:defPPr>
          </a:lstStyle>
          <a:p xmlns:a="http://schemas.openxmlformats.org/drawingml/2006/main">
            <a:pPr algn="ctr">
              <a:lnSpc>
                <a:spcPct val="100000"/>
              </a:lnSpc>
              <a:buNone/>
              <a:defRPr sz="1650" b="1">
                <a:solidFill>
                  <a:srgbClr val="152C3A"/>
                </a:solidFill>
                <a:latin typeface="Arial"/>
                <a:ea typeface="Arial"/>
                <a:cs typeface="Arial"/>
              </a:defRPr>
            </a:pPr>
            <a:r>
              <a:rPr sz="1650" b="1">
                <a:solidFill>
                  <a:srgbClr val="152C3A"/>
                </a:solidFill>
                <a:latin typeface="Arial"/>
                <a:ea typeface="Arial"/>
                <a:cs typeface="Arial"/>
              </a:rPr>
              <a:t>Train / improve</a:t>
            </a:r>
          </a:p>
        </p:txBody>
      </p:sp>
      <p:sp>
        <p:nvSpPr>
          <p:cNvPr id="22" name="Design / validate">
            <a:extLst xmlns:a="http://schemas.openxmlformats.org/drawingml/2006/main">
              <a:ext uri="{FF2B5EF4-FFF2-40B4-BE49-F238E27FC236}">
                <a16:creationId xmlns:a16="http://schemas.microsoft.com/office/drawing/2014/main" id="{DC85D5B1-A1B4-495D-9DC7-415C174E31D5}"/>
              </a:ext>
            </a:extLst>
          </p:cNvPr>
          <p:cNvSpPr>
            <a:spLocks xmlns:a="http://schemas.openxmlformats.org/drawingml/2006/main" noGrp="1"/>
          </p:cNvSpPr>
          <p:nvPr/>
        </p:nvSpPr>
        <p:spPr>
          <a:xfrm xmlns:a="http://schemas.openxmlformats.org/drawingml/2006/main">
            <a:off x="3810000" y="6981825"/>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1">
                <a:solidFill>
                  <a:srgbClr val="152C3A"/>
                </a:solidFill>
                <a:latin typeface="Arial"/>
                <a:ea typeface="Arial"/>
                <a:cs typeface="Arial"/>
              </a:defRPr>
            </a:defPPr>
          </a:lstStyle>
          <a:p xmlns:a="http://schemas.openxmlformats.org/drawingml/2006/main">
            <a:pPr algn="ctr">
              <a:lnSpc>
                <a:spcPct val="100000"/>
              </a:lnSpc>
              <a:buNone/>
              <a:defRPr sz="1650" b="1">
                <a:solidFill>
                  <a:srgbClr val="152C3A"/>
                </a:solidFill>
                <a:latin typeface="Arial"/>
                <a:ea typeface="Arial"/>
                <a:cs typeface="Arial"/>
              </a:defRPr>
            </a:pPr>
            <a:r>
              <a:rPr sz="1650" b="1">
                <a:solidFill>
                  <a:srgbClr val="152C3A"/>
                </a:solidFill>
                <a:latin typeface="Arial"/>
                <a:ea typeface="Arial"/>
                <a:cs typeface="Arial"/>
              </a:rPr>
              <a:t>Design / validate</a:t>
            </a:r>
          </a:p>
        </p:txBody>
      </p:sp>
      <p:sp>
        <p:nvSpPr>
          <p:cNvPr id="23" name="">
            <a:extLst xmlns:a="http://schemas.openxmlformats.org/drawingml/2006/main">
              <a:ext uri="{FF2B5EF4-FFF2-40B4-BE49-F238E27FC236}">
                <a16:creationId xmlns:a16="http://schemas.microsoft.com/office/drawing/2014/main" id="{8EFA9706-1474-4880-AF4B-444DD7B770F0}"/>
              </a:ext>
            </a:extLst>
          </p:cNvPr>
          <p:cNvSpPr>
            <a:spLocks xmlns:a="http://schemas.openxmlformats.org/drawingml/2006/main" noGrp="1"/>
          </p:cNvSpPr>
          <p:nvPr/>
        </p:nvSpPr>
        <p:spPr>
          <a:xfrm xmlns:a="http://schemas.openxmlformats.org/drawingml/2006/main">
            <a:off x="2971800" y="7153275"/>
            <a:ext cx="733425" cy="953"/>
          </a:xfrm>
          <a:custGeom xmlns:a="http://schemas.openxmlformats.org/drawingml/2006/main">
            <a:pathLst>
              <a:path w="733425" h="953">
                <a:moveTo>
                  <a:pt x="0" y="0"/>
                </a:moveTo>
                <a:lnTo>
                  <a:pt x="733425" y="0"/>
                </a:lnTo>
              </a:path>
            </a:pathLst>
          </a:custGeom>
          <a:noFill xmlns:a="http://schemas.openxmlformats.org/drawingml/2006/main"/>
          <a:ln xmlns:a="http://schemas.openxmlformats.org/drawingml/2006/main" w="19050">
            <a:solidFill>
              <a:srgbClr val="007D80"/>
            </a:solidFill>
          </a:ln>
        </p:spPr>
      </p:sp>
      <p:sp>
        <p:nvSpPr>
          <p:cNvPr id="24" name="">
            <a:extLst xmlns:a="http://schemas.openxmlformats.org/drawingml/2006/main">
              <a:ext uri="{FF2B5EF4-FFF2-40B4-BE49-F238E27FC236}">
                <a16:creationId xmlns:a16="http://schemas.microsoft.com/office/drawing/2014/main" id="{316931B3-4315-46AC-9C33-29C4523BFB18}"/>
              </a:ext>
            </a:extLst>
          </p:cNvPr>
          <p:cNvSpPr>
            <a:spLocks xmlns:a="http://schemas.openxmlformats.org/drawingml/2006/main" noGrp="1"/>
          </p:cNvSpPr>
          <p:nvPr/>
        </p:nvSpPr>
        <p:spPr>
          <a:xfrm xmlns:a="http://schemas.openxmlformats.org/drawingml/2006/main">
            <a:off x="3621635" y="710761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7D80"/>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2304E537-A76C-435A-87E8-8DB42EE6782F}"/>
              </a:ext>
            </a:extLst>
          </p:cNvPr>
          <p:cNvSpPr>
            <a:spLocks xmlns:a="http://schemas.openxmlformats.org/drawingml/2006/main" noGrp="1"/>
          </p:cNvSpPr>
          <p:nvPr/>
        </p:nvSpPr>
        <p:spPr>
          <a:xfrm xmlns:a="http://schemas.openxmlformats.org/drawingml/2006/main">
            <a:off x="4914900" y="747712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14288">
            <a:solidFill>
              <a:srgbClr val="007D80"/>
            </a:solidFill>
          </a:ln>
        </p:spPr>
      </p:sp>
      <p:sp>
        <p:nvSpPr>
          <p:cNvPr id="26" name="">
            <a:extLst xmlns:a="http://schemas.openxmlformats.org/drawingml/2006/main">
              <a:ext uri="{FF2B5EF4-FFF2-40B4-BE49-F238E27FC236}">
                <a16:creationId xmlns:a16="http://schemas.microsoft.com/office/drawing/2014/main" id="{9DF921B6-546F-4A15-8D36-EF2004B4D01E}"/>
              </a:ext>
            </a:extLst>
          </p:cNvPr>
          <p:cNvSpPr>
            <a:spLocks xmlns:a="http://schemas.openxmlformats.org/drawingml/2006/main" noGrp="1"/>
          </p:cNvSpPr>
          <p:nvPr/>
        </p:nvSpPr>
        <p:spPr>
          <a:xfrm xmlns:a="http://schemas.openxmlformats.org/drawingml/2006/main">
            <a:off x="1905000" y="7696200"/>
            <a:ext cx="3009900" cy="953"/>
          </a:xfrm>
          <a:custGeom xmlns:a="http://schemas.openxmlformats.org/drawingml/2006/main">
            <a:pathLst>
              <a:path w="3009900" h="953">
                <a:moveTo>
                  <a:pt x="3009900" y="0"/>
                </a:moveTo>
                <a:lnTo>
                  <a:pt x="0" y="0"/>
                </a:lnTo>
              </a:path>
            </a:pathLst>
          </a:custGeom>
          <a:noFill xmlns:a="http://schemas.openxmlformats.org/drawingml/2006/main"/>
          <a:ln xmlns:a="http://schemas.openxmlformats.org/drawingml/2006/main" w="14288">
            <a:solidFill>
              <a:srgbClr val="007D80"/>
            </a:solidFill>
          </a:ln>
        </p:spPr>
      </p:sp>
      <p:sp>
        <p:nvSpPr>
          <p:cNvPr id="27" name="">
            <a:extLst xmlns:a="http://schemas.openxmlformats.org/drawingml/2006/main">
              <a:ext uri="{FF2B5EF4-FFF2-40B4-BE49-F238E27FC236}">
                <a16:creationId xmlns:a16="http://schemas.microsoft.com/office/drawing/2014/main" id="{B9D08FFE-8D0F-4379-BC56-1FFA9FE92443}"/>
              </a:ext>
            </a:extLst>
          </p:cNvPr>
          <p:cNvSpPr>
            <a:spLocks xmlns:a="http://schemas.openxmlformats.org/drawingml/2006/main" noGrp="1"/>
          </p:cNvSpPr>
          <p:nvPr/>
        </p:nvSpPr>
        <p:spPr>
          <a:xfrm xmlns:a="http://schemas.openxmlformats.org/drawingml/2006/main">
            <a:off x="1905000" y="7477125"/>
            <a:ext cx="953" cy="219075"/>
          </a:xfrm>
          <a:custGeom xmlns:a="http://schemas.openxmlformats.org/drawingml/2006/main">
            <a:pathLst>
              <a:path w="953" h="219075">
                <a:moveTo>
                  <a:pt x="0" y="219075"/>
                </a:moveTo>
                <a:lnTo>
                  <a:pt x="0" y="0"/>
                </a:lnTo>
              </a:path>
            </a:pathLst>
          </a:custGeom>
          <a:noFill xmlns:a="http://schemas.openxmlformats.org/drawingml/2006/main"/>
          <a:ln xmlns:a="http://schemas.openxmlformats.org/drawingml/2006/main" w="14288">
            <a:solidFill>
              <a:srgbClr val="007D80"/>
            </a:solidFill>
          </a:ln>
        </p:spPr>
      </p:sp>
      <p:sp>
        <p:nvSpPr>
          <p:cNvPr id="28" name="">
            <a:extLst xmlns:a="http://schemas.openxmlformats.org/drawingml/2006/main">
              <a:ext uri="{FF2B5EF4-FFF2-40B4-BE49-F238E27FC236}">
                <a16:creationId xmlns:a16="http://schemas.microsoft.com/office/drawing/2014/main" id="{07B79A67-31B3-4050-BAD4-581AACBD3494}"/>
              </a:ext>
            </a:extLst>
          </p:cNvPr>
          <p:cNvSpPr>
            <a:spLocks xmlns:a="http://schemas.openxmlformats.org/drawingml/2006/main" noGrp="1"/>
          </p:cNvSpPr>
          <p:nvPr/>
        </p:nvSpPr>
        <p:spPr>
          <a:xfrm xmlns:a="http://schemas.openxmlformats.org/drawingml/2006/main">
            <a:off x="1859335" y="7477125"/>
            <a:ext cx="91331" cy="83590"/>
          </a:xfrm>
          <a:custGeom xmlns:a="http://schemas.openxmlformats.org/drawingml/2006/main">
            <a:pathLst>
              <a:path w="91331" h="83590">
                <a:moveTo>
                  <a:pt x="45665" y="0"/>
                </a:moveTo>
                <a:lnTo>
                  <a:pt x="91331" y="83590"/>
                </a:lnTo>
                <a:lnTo>
                  <a:pt x="0" y="83590"/>
                </a:lnTo>
                <a:close/>
              </a:path>
            </a:pathLst>
          </a:custGeom>
          <a:solidFill xmlns:a="http://schemas.openxmlformats.org/drawingml/2006/main">
            <a:srgbClr val="007D80"/>
          </a:solidFill>
          <a:ln xmlns:a="http://schemas.openxmlformats.org/drawingml/2006/main" w="9525">
            <a:noFill/>
          </a:ln>
        </p:spPr>
      </p:sp>
      <p:sp>
        <p:nvSpPr>
          <p:cNvPr id="29" name="">
            <a:extLst xmlns:a="http://schemas.openxmlformats.org/drawingml/2006/main">
              <a:ext uri="{FF2B5EF4-FFF2-40B4-BE49-F238E27FC236}">
                <a16:creationId xmlns:a16="http://schemas.microsoft.com/office/drawing/2014/main" id="{F643CA1B-FE95-4069-992E-F1DDC8E87B80}"/>
              </a:ext>
            </a:extLst>
          </p:cNvPr>
          <p:cNvSpPr>
            <a:spLocks xmlns:a="http://schemas.openxmlformats.org/drawingml/2006/main" noGrp="1"/>
          </p:cNvSpPr>
          <p:nvPr/>
        </p:nvSpPr>
        <p:spPr>
          <a:xfrm xmlns:a="http://schemas.openxmlformats.org/drawingml/2006/main">
            <a:off x="2400300" y="7534275"/>
            <a:ext cx="1971675" cy="323850"/>
          </a:xfrm>
          <a:prstGeom xmlns:a="http://schemas.openxmlformats.org/drawingml/2006/main" prst="rect">
            <a:avLst/>
          </a:prstGeom>
          <a:solidFill xmlns:a="http://schemas.openxmlformats.org/drawingml/2006/main">
            <a:srgbClr val="F5F8F9"/>
          </a:solidFill>
          <a:ln xmlns:a="http://schemas.openxmlformats.org/drawingml/2006/main" w="9525">
            <a:noFill/>
          </a:ln>
        </p:spPr>
      </p:sp>
      <p:sp>
        <p:nvSpPr>
          <p:cNvPr id="30" name="Assays inform models">
            <a:extLst xmlns:a="http://schemas.openxmlformats.org/drawingml/2006/main">
              <a:ext uri="{FF2B5EF4-FFF2-40B4-BE49-F238E27FC236}">
                <a16:creationId xmlns:a16="http://schemas.microsoft.com/office/drawing/2014/main" id="{6D28A19C-055C-4B13-AEF3-BA0994142333}"/>
              </a:ext>
            </a:extLst>
          </p:cNvPr>
          <p:cNvSpPr>
            <a:spLocks xmlns:a="http://schemas.openxmlformats.org/drawingml/2006/main" noGrp="1"/>
          </p:cNvSpPr>
          <p:nvPr/>
        </p:nvSpPr>
        <p:spPr>
          <a:xfrm xmlns:a="http://schemas.openxmlformats.org/drawingml/2006/main">
            <a:off x="2400300" y="7553325"/>
            <a:ext cx="1971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50" b="0">
                <a:solidFill>
                  <a:srgbClr val="007D80"/>
                </a:solidFill>
                <a:latin typeface="Arial"/>
                <a:ea typeface="Arial"/>
                <a:cs typeface="Arial"/>
              </a:defRPr>
            </a:defPPr>
          </a:lstStyle>
          <a:p xmlns:a="http://schemas.openxmlformats.org/drawingml/2006/main">
            <a:pPr algn="ctr">
              <a:lnSpc>
                <a:spcPct val="100000"/>
              </a:lnSpc>
              <a:buNone/>
              <a:defRPr sz="1350" b="0">
                <a:solidFill>
                  <a:srgbClr val="007D80"/>
                </a:solidFill>
                <a:latin typeface="Arial"/>
                <a:ea typeface="Arial"/>
                <a:cs typeface="Arial"/>
              </a:defRPr>
            </a:pPr>
            <a:r>
              <a:rPr sz="1350" b="0">
                <a:solidFill>
                  <a:srgbClr val="007D80"/>
                </a:solidFill>
                <a:latin typeface="Arial"/>
                <a:ea typeface="Arial"/>
                <a:cs typeface="Arial"/>
              </a:rPr>
              <a:t>Assays inform models</a:t>
            </a:r>
          </a:p>
        </p:txBody>
      </p:sp>
      <p:sp>
        <p:nvSpPr>
          <p:cNvPr id="31" name="">
            <a:extLst xmlns:a="http://schemas.openxmlformats.org/drawingml/2006/main">
              <a:ext uri="{FF2B5EF4-FFF2-40B4-BE49-F238E27FC236}">
                <a16:creationId xmlns:a16="http://schemas.microsoft.com/office/drawing/2014/main" id="{007ABB00-F085-46FB-85CB-181C6E4EAD96}"/>
              </a:ext>
            </a:extLst>
          </p:cNvPr>
          <p:cNvSpPr>
            <a:spLocks xmlns:a="http://schemas.openxmlformats.org/drawingml/2006/main" noGrp="1"/>
          </p:cNvSpPr>
          <p:nvPr/>
        </p:nvSpPr>
        <p:spPr>
          <a:xfrm xmlns:a="http://schemas.openxmlformats.org/drawingml/2006/main">
            <a:off x="6391275" y="3219450"/>
            <a:ext cx="276225" cy="953"/>
          </a:xfrm>
          <a:custGeom xmlns:a="http://schemas.openxmlformats.org/drawingml/2006/main">
            <a:pathLst>
              <a:path w="276225" h="953">
                <a:moveTo>
                  <a:pt x="0" y="0"/>
                </a:moveTo>
                <a:lnTo>
                  <a:pt x="276225" y="0"/>
                </a:lnTo>
              </a:path>
            </a:pathLst>
          </a:custGeom>
          <a:noFill xmlns:a="http://schemas.openxmlformats.org/drawingml/2006/main"/>
          <a:ln xmlns:a="http://schemas.openxmlformats.org/drawingml/2006/main" w="21908">
            <a:solidFill>
              <a:srgbClr val="007D80"/>
            </a:solidFill>
          </a:ln>
        </p:spPr>
      </p:sp>
      <p:sp>
        <p:nvSpPr>
          <p:cNvPr id="32" name="">
            <a:extLst xmlns:a="http://schemas.openxmlformats.org/drawingml/2006/main">
              <a:ext uri="{FF2B5EF4-FFF2-40B4-BE49-F238E27FC236}">
                <a16:creationId xmlns:a16="http://schemas.microsoft.com/office/drawing/2014/main" id="{B387C342-9DA8-459C-B55D-739B80FBE061}"/>
              </a:ext>
            </a:extLst>
          </p:cNvPr>
          <p:cNvSpPr>
            <a:spLocks xmlns:a="http://schemas.openxmlformats.org/drawingml/2006/main" noGrp="1"/>
          </p:cNvSpPr>
          <p:nvPr/>
        </p:nvSpPr>
        <p:spPr>
          <a:xfrm xmlns:a="http://schemas.openxmlformats.org/drawingml/2006/main">
            <a:off x="6667500" y="3219450"/>
            <a:ext cx="953" cy="2743200"/>
          </a:xfrm>
          <a:custGeom xmlns:a="http://schemas.openxmlformats.org/drawingml/2006/main">
            <a:pathLst>
              <a:path w="953" h="2743200">
                <a:moveTo>
                  <a:pt x="0" y="0"/>
                </a:moveTo>
                <a:lnTo>
                  <a:pt x="0" y="2743200"/>
                </a:lnTo>
              </a:path>
            </a:pathLst>
          </a:custGeom>
          <a:noFill xmlns:a="http://schemas.openxmlformats.org/drawingml/2006/main"/>
          <a:ln xmlns:a="http://schemas.openxmlformats.org/drawingml/2006/main" w="21908">
            <a:solidFill>
              <a:srgbClr val="007D80"/>
            </a:solidFill>
          </a:ln>
        </p:spPr>
      </p:sp>
      <p:sp>
        <p:nvSpPr>
          <p:cNvPr id="33" name="">
            <a:extLst xmlns:a="http://schemas.openxmlformats.org/drawingml/2006/main">
              <a:ext uri="{FF2B5EF4-FFF2-40B4-BE49-F238E27FC236}">
                <a16:creationId xmlns:a16="http://schemas.microsoft.com/office/drawing/2014/main" id="{6F2DF4A3-5DEE-42DF-9E5B-9CB4B4207CA8}"/>
              </a:ext>
            </a:extLst>
          </p:cNvPr>
          <p:cNvSpPr>
            <a:spLocks xmlns:a="http://schemas.openxmlformats.org/drawingml/2006/main" noGrp="1"/>
          </p:cNvSpPr>
          <p:nvPr/>
        </p:nvSpPr>
        <p:spPr>
          <a:xfrm xmlns:a="http://schemas.openxmlformats.org/drawingml/2006/main">
            <a:off x="6391275" y="5962650"/>
            <a:ext cx="276225" cy="953"/>
          </a:xfrm>
          <a:custGeom xmlns:a="http://schemas.openxmlformats.org/drawingml/2006/main">
            <a:pathLst>
              <a:path w="276225" h="953">
                <a:moveTo>
                  <a:pt x="276225" y="0"/>
                </a:moveTo>
                <a:lnTo>
                  <a:pt x="0" y="0"/>
                </a:lnTo>
              </a:path>
            </a:pathLst>
          </a:custGeom>
          <a:noFill xmlns:a="http://schemas.openxmlformats.org/drawingml/2006/main"/>
          <a:ln xmlns:a="http://schemas.openxmlformats.org/drawingml/2006/main" w="21908">
            <a:solidFill>
              <a:srgbClr val="007D80"/>
            </a:solidFill>
          </a:ln>
        </p:spPr>
      </p:sp>
      <p:sp>
        <p:nvSpPr>
          <p:cNvPr id="34" name="">
            <a:extLst xmlns:a="http://schemas.openxmlformats.org/drawingml/2006/main">
              <a:ext uri="{FF2B5EF4-FFF2-40B4-BE49-F238E27FC236}">
                <a16:creationId xmlns:a16="http://schemas.microsoft.com/office/drawing/2014/main" id="{A6DA14B6-93AF-49E0-98A7-4606E73E6179}"/>
              </a:ext>
            </a:extLst>
          </p:cNvPr>
          <p:cNvSpPr>
            <a:spLocks xmlns:a="http://schemas.openxmlformats.org/drawingml/2006/main" noGrp="1"/>
          </p:cNvSpPr>
          <p:nvPr/>
        </p:nvSpPr>
        <p:spPr>
          <a:xfrm xmlns:a="http://schemas.openxmlformats.org/drawingml/2006/main">
            <a:off x="6772275" y="2533650"/>
            <a:ext cx="371475" cy="4867275"/>
          </a:xfrm>
          <a:custGeom xmlns:a="http://schemas.openxmlformats.org/drawingml/2006/main">
            <a:pathLst>
              <a:path w="371475" h="4867275">
                <a:moveTo>
                  <a:pt x="0" y="790575"/>
                </a:moveTo>
                <a:lnTo>
                  <a:pt x="371475" y="0"/>
                </a:lnTo>
                <a:lnTo>
                  <a:pt x="371475" y="4867275"/>
                </a:lnTo>
                <a:lnTo>
                  <a:pt x="0" y="3305175"/>
                </a:lnTo>
                <a:close/>
              </a:path>
            </a:pathLst>
          </a:custGeom>
          <a:solidFill xmlns:a="http://schemas.openxmlformats.org/drawingml/2006/main">
            <a:srgbClr val="F4FAF9"/>
          </a:solidFill>
          <a:ln xmlns:a="http://schemas.openxmlformats.org/drawingml/2006/main" w="9525">
            <a:noFill/>
          </a:ln>
        </p:spPr>
      </p:sp>
      <p:sp>
        <p:nvSpPr>
          <p:cNvPr id="35" name="">
            <a:extLst xmlns:a="http://schemas.openxmlformats.org/drawingml/2006/main">
              <a:ext uri="{FF2B5EF4-FFF2-40B4-BE49-F238E27FC236}">
                <a16:creationId xmlns:a16="http://schemas.microsoft.com/office/drawing/2014/main" id="{6967E7A7-D33E-4AD0-916C-F590851F3130}"/>
              </a:ext>
            </a:extLst>
          </p:cNvPr>
          <p:cNvSpPr>
            <a:spLocks xmlns:a="http://schemas.openxmlformats.org/drawingml/2006/main" noGrp="1"/>
          </p:cNvSpPr>
          <p:nvPr/>
        </p:nvSpPr>
        <p:spPr>
          <a:xfrm xmlns:a="http://schemas.openxmlformats.org/drawingml/2006/main">
            <a:off x="6772275" y="2533650"/>
            <a:ext cx="371475" cy="790575"/>
          </a:xfrm>
          <a:custGeom xmlns:a="http://schemas.openxmlformats.org/drawingml/2006/main">
            <a:pathLst>
              <a:path w="371475" h="790575">
                <a:moveTo>
                  <a:pt x="0" y="790575"/>
                </a:moveTo>
                <a:lnTo>
                  <a:pt x="371475" y="0"/>
                </a:lnTo>
              </a:path>
            </a:pathLst>
          </a:custGeom>
          <a:noFill xmlns:a="http://schemas.openxmlformats.org/drawingml/2006/main"/>
          <a:ln xmlns:a="http://schemas.openxmlformats.org/drawingml/2006/main" w="13335">
            <a:solidFill>
              <a:srgbClr val="8EBDB7"/>
            </a:solidFill>
          </a:ln>
        </p:spPr>
      </p:sp>
      <p:sp>
        <p:nvSpPr>
          <p:cNvPr id="36" name="">
            <a:extLst xmlns:a="http://schemas.openxmlformats.org/drawingml/2006/main">
              <a:ext uri="{FF2B5EF4-FFF2-40B4-BE49-F238E27FC236}">
                <a16:creationId xmlns:a16="http://schemas.microsoft.com/office/drawing/2014/main" id="{55A24E4D-5114-4D8D-9AB2-E377CEC57F4F}"/>
              </a:ext>
            </a:extLst>
          </p:cNvPr>
          <p:cNvSpPr>
            <a:spLocks xmlns:a="http://schemas.openxmlformats.org/drawingml/2006/main" noGrp="1"/>
          </p:cNvSpPr>
          <p:nvPr/>
        </p:nvSpPr>
        <p:spPr>
          <a:xfrm xmlns:a="http://schemas.openxmlformats.org/drawingml/2006/main">
            <a:off x="6772275" y="5838825"/>
            <a:ext cx="371475" cy="1562100"/>
          </a:xfrm>
          <a:custGeom xmlns:a="http://schemas.openxmlformats.org/drawingml/2006/main">
            <a:pathLst>
              <a:path w="371475" h="1562100">
                <a:moveTo>
                  <a:pt x="0" y="0"/>
                </a:moveTo>
                <a:lnTo>
                  <a:pt x="371475" y="1562100"/>
                </a:lnTo>
              </a:path>
            </a:pathLst>
          </a:custGeom>
          <a:noFill xmlns:a="http://schemas.openxmlformats.org/drawingml/2006/main"/>
          <a:ln xmlns:a="http://schemas.openxmlformats.org/drawingml/2006/main" w="13335">
            <a:solidFill>
              <a:srgbClr val="8EBDB7"/>
            </a:solidFill>
          </a:ln>
        </p:spPr>
      </p:sp>
      <p:sp>
        <p:nvSpPr>
          <p:cNvPr id="37" name="">
            <a:extLst xmlns:a="http://schemas.openxmlformats.org/drawingml/2006/main">
              <a:ext uri="{FF2B5EF4-FFF2-40B4-BE49-F238E27FC236}">
                <a16:creationId xmlns:a16="http://schemas.microsoft.com/office/drawing/2014/main" id="{3725CA94-EACD-4E38-ADE5-C637D7762BF3}"/>
              </a:ext>
            </a:extLst>
          </p:cNvPr>
          <p:cNvSpPr>
            <a:spLocks xmlns:a="http://schemas.openxmlformats.org/drawingml/2006/main" noGrp="1"/>
          </p:cNvSpPr>
          <p:nvPr/>
        </p:nvSpPr>
        <p:spPr>
          <a:xfrm xmlns:a="http://schemas.openxmlformats.org/drawingml/2006/main">
            <a:off x="7162800" y="2124075"/>
            <a:ext cx="10439400" cy="5781675"/>
          </a:xfrm>
          <a:prstGeom xmlns:a="http://schemas.openxmlformats.org/drawingml/2006/main" prst="roundRect">
            <a:avLst>
              <a:gd name="adj" fmla="val 2306"/>
            </a:avLst>
          </a:prstGeom>
          <a:solidFill xmlns:a="http://schemas.openxmlformats.org/drawingml/2006/main">
            <a:srgbClr val="F8FBFC"/>
          </a:solidFill>
          <a:ln xmlns:a="http://schemas.openxmlformats.org/drawingml/2006/main" w="9525">
            <a:solidFill>
              <a:srgbClr val="D7E3E8"/>
            </a:solidFill>
          </a:ln>
        </p:spPr>
      </p:sp>
      <p:sp>
        <p:nvSpPr>
          <p:cNvPr id="38" name="Labels → assays → purchases">
            <a:extLst xmlns:a="http://schemas.openxmlformats.org/drawingml/2006/main">
              <a:ext uri="{FF2B5EF4-FFF2-40B4-BE49-F238E27FC236}">
                <a16:creationId xmlns:a16="http://schemas.microsoft.com/office/drawing/2014/main" id="{9A7001DE-D74A-490D-9334-74DE659A98D7}"/>
              </a:ext>
            </a:extLst>
          </p:cNvPr>
          <p:cNvSpPr>
            <a:spLocks xmlns:a="http://schemas.openxmlformats.org/drawingml/2006/main" noGrp="1"/>
          </p:cNvSpPr>
          <p:nvPr/>
        </p:nvSpPr>
        <p:spPr>
          <a:xfrm xmlns:a="http://schemas.openxmlformats.org/drawingml/2006/main">
            <a:off x="7410450" y="2333625"/>
            <a:ext cx="99441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152C3A"/>
                </a:solidFill>
                <a:latin typeface="Arial"/>
                <a:ea typeface="Arial"/>
                <a:cs typeface="Arial"/>
              </a:defRPr>
            </a:defPPr>
          </a:lstStyle>
          <a:p xmlns:a="http://schemas.openxmlformats.org/drawingml/2006/main">
            <a:pPr algn="l">
              <a:lnSpc>
                <a:spcPct val="100000"/>
              </a:lnSpc>
              <a:buNone/>
              <a:defRPr sz="2100" b="1">
                <a:solidFill>
                  <a:srgbClr val="152C3A"/>
                </a:solidFill>
                <a:latin typeface="Arial"/>
                <a:ea typeface="Arial"/>
                <a:cs typeface="Arial"/>
              </a:defRPr>
            </a:pPr>
            <a:r>
              <a:rPr sz="2100" b="1">
                <a:solidFill>
                  <a:srgbClr val="152C3A"/>
                </a:solidFill>
                <a:latin typeface="Arial"/>
                <a:ea typeface="Arial"/>
                <a:cs typeface="Arial"/>
              </a:rPr>
              <a:t>Labels → assays → purchases</a:t>
            </a:r>
          </a:p>
        </p:txBody>
      </p:sp>
      <p:sp>
        <p:nvSpPr>
          <p:cNvPr id="39" name="Tool revenue needs a bridge from label coverage to workflow volume and unit consumption">
            <a:extLst xmlns:a="http://schemas.openxmlformats.org/drawingml/2006/main">
              <a:ext uri="{FF2B5EF4-FFF2-40B4-BE49-F238E27FC236}">
                <a16:creationId xmlns:a16="http://schemas.microsoft.com/office/drawing/2014/main" id="{1AD7AE2B-C59C-48C9-A1D0-9F4E8DB987D2}"/>
              </a:ext>
            </a:extLst>
          </p:cNvPr>
          <p:cNvSpPr>
            <a:spLocks xmlns:a="http://schemas.openxmlformats.org/drawingml/2006/main" noGrp="1"/>
          </p:cNvSpPr>
          <p:nvPr/>
        </p:nvSpPr>
        <p:spPr>
          <a:xfrm xmlns:a="http://schemas.openxmlformats.org/drawingml/2006/main">
            <a:off x="7410450" y="2752725"/>
            <a:ext cx="994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647887"/>
                </a:solidFill>
                <a:latin typeface="Arial"/>
                <a:ea typeface="Arial"/>
                <a:cs typeface="Arial"/>
              </a:defRPr>
            </a:defPPr>
          </a:lstStyle>
          <a:p xmlns:a="http://schemas.openxmlformats.org/drawingml/2006/main">
            <a:pPr algn="l">
              <a:lnSpc>
                <a:spcPct val="100000"/>
              </a:lnSpc>
              <a:buNone/>
              <a:defRPr sz="1350" b="0">
                <a:solidFill>
                  <a:srgbClr val="647887"/>
                </a:solidFill>
                <a:latin typeface="Arial"/>
                <a:ea typeface="Arial"/>
                <a:cs typeface="Arial"/>
              </a:defRPr>
            </a:pPr>
            <a:r>
              <a:rPr sz="1350" b="0">
                <a:solidFill>
                  <a:srgbClr val="647887"/>
                </a:solidFill>
                <a:latin typeface="Arial"/>
                <a:ea typeface="Arial"/>
                <a:cs typeface="Arial"/>
              </a:rPr>
              <a:t>Tool revenue needs a bridge from label coverage to workflow volume and unit consumption</a:t>
            </a:r>
          </a:p>
        </p:txBody>
      </p:sp>
      <p:sp>
        <p:nvSpPr>
          <p:cNvPr id="40" name="">
            <a:extLst xmlns:a="http://schemas.openxmlformats.org/drawingml/2006/main">
              <a:ext uri="{FF2B5EF4-FFF2-40B4-BE49-F238E27FC236}">
                <a16:creationId xmlns:a16="http://schemas.microsoft.com/office/drawing/2014/main" id="{1BE35979-C1A6-4B7F-9B9E-F41D4260121D}"/>
              </a:ext>
            </a:extLst>
          </p:cNvPr>
          <p:cNvSpPr>
            <a:spLocks xmlns:a="http://schemas.openxmlformats.org/drawingml/2006/main" noGrp="1"/>
          </p:cNvSpPr>
          <p:nvPr/>
        </p:nvSpPr>
        <p:spPr>
          <a:xfrm xmlns:a="http://schemas.openxmlformats.org/drawingml/2006/main">
            <a:off x="7410450" y="3181350"/>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D7E3E8"/>
            </a:solidFill>
          </a:ln>
        </p:spPr>
      </p:sp>
      <p:pic>
        <p:nvPicPr>
          <p:cNvPr id="41" name="">
            <a:extLst xmlns:a="http://schemas.openxmlformats.org/drawingml/2006/main">
              <a:ext uri="{FF2B5EF4-FFF2-40B4-BE49-F238E27FC236}">
                <a16:creationId xmlns:a16="http://schemas.microsoft.com/office/drawing/2014/main" id="{DDC3BD2E-0834-48ED-8B8C-BB18527946A0}"/>
              </a:ext>
            </a:extLst>
          </p:cNvPr>
          <p:cNvPicPr>
            <a:picLocks xmlns:a="http://schemas.openxmlformats.org/drawingml/2006/main" noChangeAspect="1"/>
          </p:cNvPicPr>
          <p:nvPr/>
        </p:nvPicPr>
        <p:blipFill>
          <a:blip xmlns:r="http://schemas.openxmlformats.org/officeDocument/2006/relationships" xmlns:a="http://schemas.openxmlformats.org/drawingml/2006/main" r:embed="Ra8cf4d3b1ad74357">
            <a:extLst>
              <a:ext uri="{96DAC541-7B7A-43D3-8B79-37D633B846F1}">
                <asvg:svgBlip xmlns:asvg="http://schemas.microsoft.com/office/drawing/2016/SVG/main" r:embed="R4ee9c308fecb4613"/>
              </a:ext>
            </a:extLst>
          </a:blip>
          <a:stretch xmlns:a="http://schemas.openxmlformats.org/drawingml/2006/main"/>
        </p:blipFill>
        <p:spPr>
          <a:xfrm xmlns:a="http://schemas.openxmlformats.org/drawingml/2006/main">
            <a:off x="7562850" y="3333750"/>
            <a:ext cx="285750" cy="285750"/>
          </a:xfrm>
          <a:prstGeom xmlns:a="http://schemas.openxmlformats.org/drawingml/2006/main" prst="rect">
            <a:avLst/>
          </a:prstGeom>
        </p:spPr>
      </p:pic>
      <p:sp>
        <p:nvSpPr>
          <p:cNvPr id="42" name="Construction &amp; expression">
            <a:extLst xmlns:a="http://schemas.openxmlformats.org/drawingml/2006/main">
              <a:ext uri="{FF2B5EF4-FFF2-40B4-BE49-F238E27FC236}">
                <a16:creationId xmlns:a16="http://schemas.microsoft.com/office/drawing/2014/main" id="{AD312504-5FE2-48F8-9109-393488F7FB6D}"/>
              </a:ext>
            </a:extLst>
          </p:cNvPr>
          <p:cNvSpPr>
            <a:spLocks xmlns:a="http://schemas.openxmlformats.org/drawingml/2006/main" noGrp="1"/>
          </p:cNvSpPr>
          <p:nvPr/>
        </p:nvSpPr>
        <p:spPr>
          <a:xfrm xmlns:a="http://schemas.openxmlformats.org/drawingml/2006/main">
            <a:off x="7981950" y="3324225"/>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152C3A"/>
                </a:solidFill>
                <a:latin typeface="Arial"/>
                <a:ea typeface="Arial"/>
                <a:cs typeface="Arial"/>
              </a:defRPr>
            </a:defPPr>
          </a:lstStyle>
          <a:p xmlns:a="http://schemas.openxmlformats.org/drawingml/2006/main">
            <a:pPr algn="l">
              <a:lnSpc>
                <a:spcPct val="100000"/>
              </a:lnSpc>
              <a:buNone/>
              <a:defRPr sz="1800" b="1">
                <a:solidFill>
                  <a:srgbClr val="152C3A"/>
                </a:solidFill>
                <a:latin typeface="Arial"/>
                <a:ea typeface="Arial"/>
                <a:cs typeface="Arial"/>
              </a:defRPr>
            </a:pPr>
            <a:r>
              <a:rPr sz="1800" b="1">
                <a:solidFill>
                  <a:srgbClr val="152C3A"/>
                </a:solidFill>
                <a:latin typeface="Arial"/>
                <a:ea typeface="Arial"/>
                <a:cs typeface="Arial"/>
              </a:rPr>
              <a:t>Construction &amp; expression</a:t>
            </a:r>
          </a:p>
        </p:txBody>
      </p:sp>
      <p:sp>
        <p:nvSpPr>
          <p:cNvPr id="43" name="DNA synthesis, vectors, expression, purification">
            <a:extLst xmlns:a="http://schemas.openxmlformats.org/drawingml/2006/main">
              <a:ext uri="{FF2B5EF4-FFF2-40B4-BE49-F238E27FC236}">
                <a16:creationId xmlns:a16="http://schemas.microsoft.com/office/drawing/2014/main" id="{1BF920C8-4ADC-4D4B-BD00-B562CF2F5D35}"/>
              </a:ext>
            </a:extLst>
          </p:cNvPr>
          <p:cNvSpPr>
            <a:spLocks xmlns:a="http://schemas.openxmlformats.org/drawingml/2006/main" noGrp="1"/>
          </p:cNvSpPr>
          <p:nvPr/>
        </p:nvSpPr>
        <p:spPr>
          <a:xfrm xmlns:a="http://schemas.openxmlformats.org/drawingml/2006/main">
            <a:off x="7562850" y="3724275"/>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DNA synthesis, vectors, expression, purification</a:t>
            </a:r>
          </a:p>
        </p:txBody>
      </p:sp>
      <p:sp>
        <p:nvSpPr>
          <p:cNvPr id="44" name="Expression labels + samples for other assays">
            <a:extLst xmlns:a="http://schemas.openxmlformats.org/drawingml/2006/main">
              <a:ext uri="{FF2B5EF4-FFF2-40B4-BE49-F238E27FC236}">
                <a16:creationId xmlns:a16="http://schemas.microsoft.com/office/drawing/2014/main" id="{D6C4DEF3-AB37-45AB-B537-C0377009E34E}"/>
              </a:ext>
            </a:extLst>
          </p:cNvPr>
          <p:cNvSpPr>
            <a:spLocks xmlns:a="http://schemas.openxmlformats.org/drawingml/2006/main" noGrp="1"/>
          </p:cNvSpPr>
          <p:nvPr/>
        </p:nvSpPr>
        <p:spPr>
          <a:xfrm xmlns:a="http://schemas.openxmlformats.org/drawingml/2006/main">
            <a:off x="7562850" y="4057650"/>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7D80"/>
                </a:solidFill>
                <a:latin typeface="Arial"/>
                <a:ea typeface="Arial"/>
                <a:cs typeface="Arial"/>
              </a:defRPr>
            </a:defPPr>
          </a:lstStyle>
          <a:p xmlns:a="http://schemas.openxmlformats.org/drawingml/2006/main">
            <a:pPr algn="l">
              <a:lnSpc>
                <a:spcPct val="100000"/>
              </a:lnSpc>
              <a:buNone/>
              <a:defRPr sz="1350" b="0">
                <a:solidFill>
                  <a:srgbClr val="007D80"/>
                </a:solidFill>
                <a:latin typeface="Arial"/>
                <a:ea typeface="Arial"/>
                <a:cs typeface="Arial"/>
              </a:defRPr>
            </a:pPr>
            <a:r>
              <a:rPr sz="1350" b="0">
                <a:solidFill>
                  <a:srgbClr val="007D80"/>
                </a:solidFill>
                <a:latin typeface="Arial"/>
                <a:ea typeface="Arial"/>
                <a:cs typeface="Arial"/>
              </a:rPr>
              <a:t>Expression labels + samples for other assays</a:t>
            </a:r>
          </a:p>
        </p:txBody>
      </p:sp>
      <p:sp>
        <p:nvSpPr>
          <p:cNvPr id="45" name="Count shared sample preparation once">
            <a:extLst xmlns:a="http://schemas.openxmlformats.org/drawingml/2006/main">
              <a:ext uri="{FF2B5EF4-FFF2-40B4-BE49-F238E27FC236}">
                <a16:creationId xmlns:a16="http://schemas.microsoft.com/office/drawing/2014/main" id="{C920DAF2-F4B3-4FA1-A5D0-957BA99735D4}"/>
              </a:ext>
            </a:extLst>
          </p:cNvPr>
          <p:cNvSpPr>
            <a:spLocks xmlns:a="http://schemas.openxmlformats.org/drawingml/2006/main" noGrp="1"/>
          </p:cNvSpPr>
          <p:nvPr/>
        </p:nvSpPr>
        <p:spPr>
          <a:xfrm xmlns:a="http://schemas.openxmlformats.org/drawingml/2006/main">
            <a:off x="7562850" y="4352925"/>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Count shared sample preparation once</a:t>
            </a:r>
          </a:p>
        </p:txBody>
      </p:sp>
      <p:sp>
        <p:nvSpPr>
          <p:cNvPr id="46" name="">
            <a:extLst xmlns:a="http://schemas.openxmlformats.org/drawingml/2006/main">
              <a:ext uri="{FF2B5EF4-FFF2-40B4-BE49-F238E27FC236}">
                <a16:creationId xmlns:a16="http://schemas.microsoft.com/office/drawing/2014/main" id="{94CAE825-8203-420B-BE80-679DB561B838}"/>
              </a:ext>
            </a:extLst>
          </p:cNvPr>
          <p:cNvSpPr>
            <a:spLocks xmlns:a="http://schemas.openxmlformats.org/drawingml/2006/main" noGrp="1"/>
          </p:cNvSpPr>
          <p:nvPr/>
        </p:nvSpPr>
        <p:spPr>
          <a:xfrm xmlns:a="http://schemas.openxmlformats.org/drawingml/2006/main">
            <a:off x="12449175" y="3181350"/>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D7E3E8"/>
            </a:solidFill>
          </a:ln>
        </p:spPr>
      </p:sp>
      <p:pic>
        <p:nvPicPr>
          <p:cNvPr id="47" name="">
            <a:extLst xmlns:a="http://schemas.openxmlformats.org/drawingml/2006/main">
              <a:ext uri="{FF2B5EF4-FFF2-40B4-BE49-F238E27FC236}">
                <a16:creationId xmlns:a16="http://schemas.microsoft.com/office/drawing/2014/main" id="{CEEBCEA4-EE41-46C5-A41F-B24B4F92B694}"/>
              </a:ext>
            </a:extLst>
          </p:cNvPr>
          <p:cNvPicPr>
            <a:picLocks xmlns:a="http://schemas.openxmlformats.org/drawingml/2006/main" noChangeAspect="1"/>
          </p:cNvPicPr>
          <p:nvPr/>
        </p:nvPicPr>
        <p:blipFill>
          <a:blip xmlns:r="http://schemas.openxmlformats.org/officeDocument/2006/relationships" xmlns:a="http://schemas.openxmlformats.org/drawingml/2006/main" r:embed="R4c1a23fcd127477e">
            <a:extLst>
              <a:ext uri="{96DAC541-7B7A-43D3-8B79-37D633B846F1}">
                <asvg:svgBlip xmlns:asvg="http://schemas.microsoft.com/office/drawing/2016/SVG/main" r:embed="Rd34a9d68f6324afd"/>
              </a:ext>
            </a:extLst>
          </a:blip>
          <a:stretch xmlns:a="http://schemas.openxmlformats.org/drawingml/2006/main"/>
        </p:blipFill>
        <p:spPr>
          <a:xfrm xmlns:a="http://schemas.openxmlformats.org/drawingml/2006/main">
            <a:off x="12601575" y="3333750"/>
            <a:ext cx="285750" cy="285750"/>
          </a:xfrm>
          <a:prstGeom xmlns:a="http://schemas.openxmlformats.org/drawingml/2006/main" prst="rect">
            <a:avLst/>
          </a:prstGeom>
        </p:spPr>
      </p:pic>
      <p:sp>
        <p:nvSpPr>
          <p:cNvPr id="48" name="Protein &amp; functional testing">
            <a:extLst xmlns:a="http://schemas.openxmlformats.org/drawingml/2006/main">
              <a:ext uri="{FF2B5EF4-FFF2-40B4-BE49-F238E27FC236}">
                <a16:creationId xmlns:a16="http://schemas.microsoft.com/office/drawing/2014/main" id="{9ED7C897-C15F-48F6-97B1-8CC156601898}"/>
              </a:ext>
            </a:extLst>
          </p:cNvPr>
          <p:cNvSpPr>
            <a:spLocks xmlns:a="http://schemas.openxmlformats.org/drawingml/2006/main" noGrp="1"/>
          </p:cNvSpPr>
          <p:nvPr/>
        </p:nvSpPr>
        <p:spPr>
          <a:xfrm xmlns:a="http://schemas.openxmlformats.org/drawingml/2006/main">
            <a:off x="13020675" y="3324225"/>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152C3A"/>
                </a:solidFill>
                <a:latin typeface="Arial"/>
                <a:ea typeface="Arial"/>
                <a:cs typeface="Arial"/>
              </a:defRPr>
            </a:defPPr>
          </a:lstStyle>
          <a:p xmlns:a="http://schemas.openxmlformats.org/drawingml/2006/main">
            <a:pPr algn="l">
              <a:lnSpc>
                <a:spcPct val="100000"/>
              </a:lnSpc>
              <a:buNone/>
              <a:defRPr sz="1800" b="1">
                <a:solidFill>
                  <a:srgbClr val="152C3A"/>
                </a:solidFill>
                <a:latin typeface="Arial"/>
                <a:ea typeface="Arial"/>
                <a:cs typeface="Arial"/>
              </a:defRPr>
            </a:pPr>
            <a:r>
              <a:rPr sz="1800" b="1">
                <a:solidFill>
                  <a:srgbClr val="152C3A"/>
                </a:solidFill>
                <a:latin typeface="Arial"/>
                <a:ea typeface="Arial"/>
                <a:cs typeface="Arial"/>
              </a:rPr>
              <a:t>Protein &amp; functional testing</a:t>
            </a:r>
          </a:p>
        </p:txBody>
      </p:sp>
      <p:sp>
        <p:nvSpPr>
          <p:cNvPr id="49" name="SPR / BLI, binding curves, epitope binning">
            <a:extLst xmlns:a="http://schemas.openxmlformats.org/drawingml/2006/main">
              <a:ext uri="{FF2B5EF4-FFF2-40B4-BE49-F238E27FC236}">
                <a16:creationId xmlns:a16="http://schemas.microsoft.com/office/drawing/2014/main" id="{9AF5C311-5609-4761-9ACD-30F8C06D272A}"/>
              </a:ext>
            </a:extLst>
          </p:cNvPr>
          <p:cNvSpPr>
            <a:spLocks xmlns:a="http://schemas.openxmlformats.org/drawingml/2006/main" noGrp="1"/>
          </p:cNvSpPr>
          <p:nvPr/>
        </p:nvSpPr>
        <p:spPr>
          <a:xfrm xmlns:a="http://schemas.openxmlformats.org/drawingml/2006/main">
            <a:off x="12601575" y="3724275"/>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SPR / BLI, binding curves, epitope binning</a:t>
            </a:r>
          </a:p>
        </p:txBody>
      </p:sp>
      <p:sp>
        <p:nvSpPr>
          <p:cNvPr id="50" name="Target proteins, sensors / chips, buffers">
            <a:extLst xmlns:a="http://schemas.openxmlformats.org/drawingml/2006/main">
              <a:ext uri="{FF2B5EF4-FFF2-40B4-BE49-F238E27FC236}">
                <a16:creationId xmlns:a16="http://schemas.microsoft.com/office/drawing/2014/main" id="{5DC43932-D784-4442-B7FC-D5B0476B15A0}"/>
              </a:ext>
            </a:extLst>
          </p:cNvPr>
          <p:cNvSpPr>
            <a:spLocks xmlns:a="http://schemas.openxmlformats.org/drawingml/2006/main" noGrp="1"/>
          </p:cNvSpPr>
          <p:nvPr/>
        </p:nvSpPr>
        <p:spPr>
          <a:xfrm xmlns:a="http://schemas.openxmlformats.org/drawingml/2006/main">
            <a:off x="12601575" y="4057650"/>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7D80"/>
                </a:solidFill>
                <a:latin typeface="Arial"/>
                <a:ea typeface="Arial"/>
                <a:cs typeface="Arial"/>
              </a:defRPr>
            </a:defPPr>
          </a:lstStyle>
          <a:p xmlns:a="http://schemas.openxmlformats.org/drawingml/2006/main">
            <a:pPr algn="l">
              <a:lnSpc>
                <a:spcPct val="100000"/>
              </a:lnSpc>
              <a:buNone/>
              <a:defRPr sz="1350" b="0">
                <a:solidFill>
                  <a:srgbClr val="007D80"/>
                </a:solidFill>
                <a:latin typeface="Arial"/>
                <a:ea typeface="Arial"/>
                <a:cs typeface="Arial"/>
              </a:defRPr>
            </a:pPr>
            <a:r>
              <a:rPr sz="1350" b="0">
                <a:solidFill>
                  <a:srgbClr val="007D80"/>
                </a:solidFill>
                <a:latin typeface="Arial"/>
                <a:ea typeface="Arial"/>
                <a:cs typeface="Arial"/>
              </a:rPr>
              <a:t>Target proteins, sensors / chips, buffers</a:t>
            </a:r>
          </a:p>
        </p:txBody>
      </p:sp>
      <p:sp>
        <p:nvSpPr>
          <p:cNvPr id="51" name="KD / kon / koff can share one kinetic run">
            <a:extLst xmlns:a="http://schemas.openxmlformats.org/drawingml/2006/main">
              <a:ext uri="{FF2B5EF4-FFF2-40B4-BE49-F238E27FC236}">
                <a16:creationId xmlns:a16="http://schemas.microsoft.com/office/drawing/2014/main" id="{565BD07B-62DA-4770-A65F-A0A18A823B45}"/>
              </a:ext>
            </a:extLst>
          </p:cNvPr>
          <p:cNvSpPr>
            <a:spLocks xmlns:a="http://schemas.openxmlformats.org/drawingml/2006/main" noGrp="1"/>
          </p:cNvSpPr>
          <p:nvPr/>
        </p:nvSpPr>
        <p:spPr>
          <a:xfrm xmlns:a="http://schemas.openxmlformats.org/drawingml/2006/main">
            <a:off x="12601575" y="4352925"/>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KD / kon / koff can share one kinetic run</a:t>
            </a:r>
          </a:p>
        </p:txBody>
      </p:sp>
      <p:sp>
        <p:nvSpPr>
          <p:cNvPr id="52" name="">
            <a:extLst xmlns:a="http://schemas.openxmlformats.org/drawingml/2006/main">
              <a:ext uri="{FF2B5EF4-FFF2-40B4-BE49-F238E27FC236}">
                <a16:creationId xmlns:a16="http://schemas.microsoft.com/office/drawing/2014/main" id="{CC898C04-AC17-40E8-B732-C3D1BF980C5A}"/>
              </a:ext>
            </a:extLst>
          </p:cNvPr>
          <p:cNvSpPr>
            <a:spLocks xmlns:a="http://schemas.openxmlformats.org/drawingml/2006/main" noGrp="1"/>
          </p:cNvSpPr>
          <p:nvPr/>
        </p:nvSpPr>
        <p:spPr>
          <a:xfrm xmlns:a="http://schemas.openxmlformats.org/drawingml/2006/main">
            <a:off x="7410450" y="4867275"/>
            <a:ext cx="4838700"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D7E3E8"/>
            </a:solidFill>
          </a:ln>
        </p:spPr>
      </p:sp>
      <p:pic>
        <p:nvPicPr>
          <p:cNvPr id="53" name="">
            <a:extLst xmlns:a="http://schemas.openxmlformats.org/drawingml/2006/main">
              <a:ext uri="{FF2B5EF4-FFF2-40B4-BE49-F238E27FC236}">
                <a16:creationId xmlns:a16="http://schemas.microsoft.com/office/drawing/2014/main" id="{1A62510C-5A62-4F5C-BD49-DD9065C4073D}"/>
              </a:ext>
            </a:extLst>
          </p:cNvPr>
          <p:cNvPicPr>
            <a:picLocks xmlns:a="http://schemas.openxmlformats.org/drawingml/2006/main" noChangeAspect="1"/>
          </p:cNvPicPr>
          <p:nvPr/>
        </p:nvPicPr>
        <p:blipFill>
          <a:blip xmlns:r="http://schemas.openxmlformats.org/officeDocument/2006/relationships" xmlns:a="http://schemas.openxmlformats.org/drawingml/2006/main" r:embed="Ree6365ec6dcb4f4e">
            <a:extLst>
              <a:ext uri="{96DAC541-7B7A-43D3-8B79-37D633B846F1}">
                <asvg:svgBlip xmlns:asvg="http://schemas.microsoft.com/office/drawing/2016/SVG/main" r:embed="Ra999c88cd9fb4450"/>
              </a:ext>
            </a:extLst>
          </a:blip>
          <a:stretch xmlns:a="http://schemas.openxmlformats.org/drawingml/2006/main"/>
        </p:blipFill>
        <p:spPr>
          <a:xfrm xmlns:a="http://schemas.openxmlformats.org/drawingml/2006/main">
            <a:off x="7562850" y="5019675"/>
            <a:ext cx="285750" cy="285750"/>
          </a:xfrm>
          <a:prstGeom xmlns:a="http://schemas.openxmlformats.org/drawingml/2006/main" prst="rect">
            <a:avLst/>
          </a:prstGeom>
        </p:spPr>
      </p:pic>
      <p:sp>
        <p:nvSpPr>
          <p:cNvPr id="54" name="Cells &amp; culture systems">
            <a:extLst xmlns:a="http://schemas.openxmlformats.org/drawingml/2006/main">
              <a:ext uri="{FF2B5EF4-FFF2-40B4-BE49-F238E27FC236}">
                <a16:creationId xmlns:a16="http://schemas.microsoft.com/office/drawing/2014/main" id="{2CD1BF4A-1E70-4E12-A717-B2C24BD94548}"/>
              </a:ext>
            </a:extLst>
          </p:cNvPr>
          <p:cNvSpPr>
            <a:spLocks xmlns:a="http://schemas.openxmlformats.org/drawingml/2006/main" noGrp="1"/>
          </p:cNvSpPr>
          <p:nvPr/>
        </p:nvSpPr>
        <p:spPr>
          <a:xfrm xmlns:a="http://schemas.openxmlformats.org/drawingml/2006/main">
            <a:off x="7981950" y="5010150"/>
            <a:ext cx="410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152C3A"/>
                </a:solidFill>
                <a:latin typeface="Arial"/>
                <a:ea typeface="Arial"/>
                <a:cs typeface="Arial"/>
              </a:defRPr>
            </a:defPPr>
          </a:lstStyle>
          <a:p xmlns:a="http://schemas.openxmlformats.org/drawingml/2006/main">
            <a:pPr algn="l">
              <a:lnSpc>
                <a:spcPct val="100000"/>
              </a:lnSpc>
              <a:buNone/>
              <a:defRPr sz="1800" b="1">
                <a:solidFill>
                  <a:srgbClr val="152C3A"/>
                </a:solidFill>
                <a:latin typeface="Arial"/>
                <a:ea typeface="Arial"/>
                <a:cs typeface="Arial"/>
              </a:defRPr>
            </a:pPr>
            <a:r>
              <a:rPr sz="1800" b="1">
                <a:solidFill>
                  <a:srgbClr val="152C3A"/>
                </a:solidFill>
                <a:latin typeface="Arial"/>
                <a:ea typeface="Arial"/>
                <a:cs typeface="Arial"/>
              </a:rPr>
              <a:t>Cells &amp; culture systems</a:t>
            </a:r>
          </a:p>
        </p:txBody>
      </p:sp>
      <p:sp>
        <p:nvSpPr>
          <p:cNvPr id="55" name="Functional cells, media, transfection, expansion">
            <a:extLst xmlns:a="http://schemas.openxmlformats.org/drawingml/2006/main">
              <a:ext uri="{FF2B5EF4-FFF2-40B4-BE49-F238E27FC236}">
                <a16:creationId xmlns:a16="http://schemas.microsoft.com/office/drawing/2014/main" id="{20CF7F1E-BBE1-42F8-99AC-8B1C67185C07}"/>
              </a:ext>
            </a:extLst>
          </p:cNvPr>
          <p:cNvSpPr>
            <a:spLocks xmlns:a="http://schemas.openxmlformats.org/drawingml/2006/main" noGrp="1"/>
          </p:cNvSpPr>
          <p:nvPr/>
        </p:nvSpPr>
        <p:spPr>
          <a:xfrm xmlns:a="http://schemas.openxmlformats.org/drawingml/2006/main">
            <a:off x="7562850" y="5410200"/>
            <a:ext cx="453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Functional cells, media, transfection, expansion</a:t>
            </a:r>
          </a:p>
        </p:txBody>
      </p:sp>
      <p:sp>
        <p:nvSpPr>
          <p:cNvPr id="56" name="Cell potency; selected polyreactivity assays">
            <a:extLst xmlns:a="http://schemas.openxmlformats.org/drawingml/2006/main">
              <a:ext uri="{FF2B5EF4-FFF2-40B4-BE49-F238E27FC236}">
                <a16:creationId xmlns:a16="http://schemas.microsoft.com/office/drawing/2014/main" id="{E0DCE027-29B7-47E3-82C4-92AFF28082B5}"/>
              </a:ext>
            </a:extLst>
          </p:cNvPr>
          <p:cNvSpPr>
            <a:spLocks xmlns:a="http://schemas.openxmlformats.org/drawingml/2006/main" noGrp="1"/>
          </p:cNvSpPr>
          <p:nvPr/>
        </p:nvSpPr>
        <p:spPr>
          <a:xfrm xmlns:a="http://schemas.openxmlformats.org/drawingml/2006/main">
            <a:off x="7562850" y="5743575"/>
            <a:ext cx="453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7D80"/>
                </a:solidFill>
                <a:latin typeface="Arial"/>
                <a:ea typeface="Arial"/>
                <a:cs typeface="Arial"/>
              </a:defRPr>
            </a:defPPr>
          </a:lstStyle>
          <a:p xmlns:a="http://schemas.openxmlformats.org/drawingml/2006/main">
            <a:pPr algn="l">
              <a:lnSpc>
                <a:spcPct val="100000"/>
              </a:lnSpc>
              <a:buNone/>
              <a:defRPr sz="1350" b="0">
                <a:solidFill>
                  <a:srgbClr val="007D80"/>
                </a:solidFill>
                <a:latin typeface="Arial"/>
                <a:ea typeface="Arial"/>
                <a:cs typeface="Arial"/>
              </a:defRPr>
            </a:pPr>
            <a:r>
              <a:rPr sz="1350" b="0">
                <a:solidFill>
                  <a:srgbClr val="007D80"/>
                </a:solidFill>
                <a:latin typeface="Arial"/>
                <a:ea typeface="Arial"/>
                <a:cs typeface="Arial"/>
              </a:rPr>
              <a:t>Cell potency; selected polyreactivity assays</a:t>
            </a:r>
          </a:p>
        </p:txBody>
      </p:sp>
      <p:sp>
        <p:nvSpPr>
          <p:cNvPr id="57" name="Record cell model, target level and conditions">
            <a:extLst xmlns:a="http://schemas.openxmlformats.org/drawingml/2006/main">
              <a:ext uri="{FF2B5EF4-FFF2-40B4-BE49-F238E27FC236}">
                <a16:creationId xmlns:a16="http://schemas.microsoft.com/office/drawing/2014/main" id="{B16272CB-4BE5-4EF1-8A35-9C1E2A237CEB}"/>
              </a:ext>
            </a:extLst>
          </p:cNvPr>
          <p:cNvSpPr>
            <a:spLocks xmlns:a="http://schemas.openxmlformats.org/drawingml/2006/main" noGrp="1"/>
          </p:cNvSpPr>
          <p:nvPr/>
        </p:nvSpPr>
        <p:spPr>
          <a:xfrm xmlns:a="http://schemas.openxmlformats.org/drawingml/2006/main">
            <a:off x="7562850" y="6038850"/>
            <a:ext cx="453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Record cell model, target level and conditions</a:t>
            </a:r>
          </a:p>
        </p:txBody>
      </p:sp>
      <p:sp>
        <p:nvSpPr>
          <p:cNvPr id="58" name="">
            <a:extLst xmlns:a="http://schemas.openxmlformats.org/drawingml/2006/main">
              <a:ext uri="{FF2B5EF4-FFF2-40B4-BE49-F238E27FC236}">
                <a16:creationId xmlns:a16="http://schemas.microsoft.com/office/drawing/2014/main" id="{FEB5FDB7-F639-4157-ACD0-EF63CBEF13FB}"/>
              </a:ext>
            </a:extLst>
          </p:cNvPr>
          <p:cNvSpPr>
            <a:spLocks xmlns:a="http://schemas.openxmlformats.org/drawingml/2006/main" noGrp="1"/>
          </p:cNvSpPr>
          <p:nvPr/>
        </p:nvSpPr>
        <p:spPr>
          <a:xfrm xmlns:a="http://schemas.openxmlformats.org/drawingml/2006/main">
            <a:off x="12449175" y="4867275"/>
            <a:ext cx="4905375" cy="14859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D7E3E8"/>
            </a:solidFill>
          </a:ln>
        </p:spPr>
      </p:sp>
      <p:pic>
        <p:nvPicPr>
          <p:cNvPr id="59" name="">
            <a:extLst xmlns:a="http://schemas.openxmlformats.org/drawingml/2006/main">
              <a:ext uri="{FF2B5EF4-FFF2-40B4-BE49-F238E27FC236}">
                <a16:creationId xmlns:a16="http://schemas.microsoft.com/office/drawing/2014/main" id="{91BA3F1B-D406-4C66-95F4-889A8132C5E2}"/>
              </a:ext>
            </a:extLst>
          </p:cNvPr>
          <p:cNvPicPr>
            <a:picLocks xmlns:a="http://schemas.openxmlformats.org/drawingml/2006/main" noChangeAspect="1"/>
          </p:cNvPicPr>
          <p:nvPr/>
        </p:nvPicPr>
        <p:blipFill>
          <a:blip xmlns:r="http://schemas.openxmlformats.org/officeDocument/2006/relationships" xmlns:a="http://schemas.openxmlformats.org/drawingml/2006/main" r:embed="R80c752b8b9ad4db6">
            <a:extLst>
              <a:ext uri="{96DAC541-7B7A-43D3-8B79-37D633B846F1}">
                <asvg:svgBlip xmlns:asvg="http://schemas.microsoft.com/office/drawing/2016/SVG/main" r:embed="R433fc35eface4970"/>
              </a:ext>
            </a:extLst>
          </a:blip>
          <a:stretch xmlns:a="http://schemas.openxmlformats.org/drawingml/2006/main"/>
        </p:blipFill>
        <p:spPr>
          <a:xfrm xmlns:a="http://schemas.openxmlformats.org/drawingml/2006/main">
            <a:off x="12601575" y="5019675"/>
            <a:ext cx="285750" cy="285750"/>
          </a:xfrm>
          <a:prstGeom xmlns:a="http://schemas.openxmlformats.org/drawingml/2006/main" prst="rect">
            <a:avLst/>
          </a:prstGeom>
        </p:spPr>
      </p:pic>
      <p:sp>
        <p:nvSpPr>
          <p:cNvPr id="60" name="Measurement &amp; analysis">
            <a:extLst xmlns:a="http://schemas.openxmlformats.org/drawingml/2006/main">
              <a:ext uri="{FF2B5EF4-FFF2-40B4-BE49-F238E27FC236}">
                <a16:creationId xmlns:a16="http://schemas.microsoft.com/office/drawing/2014/main" id="{30950CB6-14E9-4FBE-9A92-D5FBCA8769F0}"/>
              </a:ext>
            </a:extLst>
          </p:cNvPr>
          <p:cNvSpPr>
            <a:spLocks xmlns:a="http://schemas.openxmlformats.org/drawingml/2006/main" noGrp="1"/>
          </p:cNvSpPr>
          <p:nvPr/>
        </p:nvSpPr>
        <p:spPr>
          <a:xfrm xmlns:a="http://schemas.openxmlformats.org/drawingml/2006/main">
            <a:off x="13020675" y="5010150"/>
            <a:ext cx="417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152C3A"/>
                </a:solidFill>
                <a:latin typeface="Arial"/>
                <a:ea typeface="Arial"/>
                <a:cs typeface="Arial"/>
              </a:defRPr>
            </a:defPPr>
          </a:lstStyle>
          <a:p xmlns:a="http://schemas.openxmlformats.org/drawingml/2006/main">
            <a:pPr algn="l">
              <a:lnSpc>
                <a:spcPct val="100000"/>
              </a:lnSpc>
              <a:buNone/>
              <a:defRPr sz="1800" b="1">
                <a:solidFill>
                  <a:srgbClr val="152C3A"/>
                </a:solidFill>
                <a:latin typeface="Arial"/>
                <a:ea typeface="Arial"/>
                <a:cs typeface="Arial"/>
              </a:defRPr>
            </a:pPr>
            <a:r>
              <a:rPr sz="1800" b="1">
                <a:solidFill>
                  <a:srgbClr val="152C3A"/>
                </a:solidFill>
                <a:latin typeface="Arial"/>
                <a:ea typeface="Arial"/>
                <a:cs typeface="Arial"/>
              </a:rPr>
              <a:t>Measurement &amp; analysis</a:t>
            </a:r>
          </a:p>
        </p:txBody>
      </p:sp>
      <p:sp>
        <p:nvSpPr>
          <p:cNvPr id="61" name="SEC / HIC, nanoDSF, LC-MS, flow cytometry">
            <a:extLst xmlns:a="http://schemas.openxmlformats.org/drawingml/2006/main">
              <a:ext uri="{FF2B5EF4-FFF2-40B4-BE49-F238E27FC236}">
                <a16:creationId xmlns:a16="http://schemas.microsoft.com/office/drawing/2014/main" id="{9DC48796-B864-42A3-9C40-D45AE89803D2}"/>
              </a:ext>
            </a:extLst>
          </p:cNvPr>
          <p:cNvSpPr>
            <a:spLocks xmlns:a="http://schemas.openxmlformats.org/drawingml/2006/main" noGrp="1"/>
          </p:cNvSpPr>
          <p:nvPr/>
        </p:nvSpPr>
        <p:spPr>
          <a:xfrm xmlns:a="http://schemas.openxmlformats.org/drawingml/2006/main">
            <a:off x="12601575" y="5410200"/>
            <a:ext cx="460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SEC / HIC, nanoDSF, LC-MS, flow cytometry</a:t>
            </a:r>
          </a:p>
        </p:txBody>
      </p:sp>
      <p:sp>
        <p:nvSpPr>
          <p:cNvPr id="62" name="Stability, aggregation, characterization / QC">
            <a:extLst xmlns:a="http://schemas.openxmlformats.org/drawingml/2006/main">
              <a:ext uri="{FF2B5EF4-FFF2-40B4-BE49-F238E27FC236}">
                <a16:creationId xmlns:a16="http://schemas.microsoft.com/office/drawing/2014/main" id="{848D6B6E-FAA9-4214-9903-96C1A1C5EA9D}"/>
              </a:ext>
            </a:extLst>
          </p:cNvPr>
          <p:cNvSpPr>
            <a:spLocks xmlns:a="http://schemas.openxmlformats.org/drawingml/2006/main" noGrp="1"/>
          </p:cNvSpPr>
          <p:nvPr/>
        </p:nvSpPr>
        <p:spPr>
          <a:xfrm xmlns:a="http://schemas.openxmlformats.org/drawingml/2006/main">
            <a:off x="12601575" y="5743575"/>
            <a:ext cx="4600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7D80"/>
                </a:solidFill>
                <a:latin typeface="Arial"/>
                <a:ea typeface="Arial"/>
                <a:cs typeface="Arial"/>
              </a:defRPr>
            </a:defPPr>
          </a:lstStyle>
          <a:p xmlns:a="http://schemas.openxmlformats.org/drawingml/2006/main">
            <a:pPr algn="l">
              <a:lnSpc>
                <a:spcPct val="100000"/>
              </a:lnSpc>
              <a:buNone/>
              <a:defRPr sz="1350" b="0">
                <a:solidFill>
                  <a:srgbClr val="007D80"/>
                </a:solidFill>
                <a:latin typeface="Arial"/>
                <a:ea typeface="Arial"/>
                <a:cs typeface="Arial"/>
              </a:defRPr>
            </a:pPr>
            <a:r>
              <a:rPr sz="1350" b="0">
                <a:solidFill>
                  <a:srgbClr val="007D80"/>
                </a:solidFill>
                <a:latin typeface="Arial"/>
                <a:ea typeface="Arial"/>
                <a:cs typeface="Arial"/>
              </a:rPr>
              <a:t>Stability, aggregation, characterization / QC</a:t>
            </a:r>
          </a:p>
        </p:txBody>
      </p:sp>
      <p:sp>
        <p:nvSpPr>
          <p:cNvPr id="63" name="Columns are reused; model instrument CAPEX separately">
            <a:extLst xmlns:a="http://schemas.openxmlformats.org/drawingml/2006/main">
              <a:ext uri="{FF2B5EF4-FFF2-40B4-BE49-F238E27FC236}">
                <a16:creationId xmlns:a16="http://schemas.microsoft.com/office/drawing/2014/main" id="{03230279-B72D-411B-81AD-66BC59E73354}"/>
              </a:ext>
            </a:extLst>
          </p:cNvPr>
          <p:cNvSpPr>
            <a:spLocks xmlns:a="http://schemas.openxmlformats.org/drawingml/2006/main" noGrp="1"/>
          </p:cNvSpPr>
          <p:nvPr/>
        </p:nvSpPr>
        <p:spPr>
          <a:xfrm xmlns:a="http://schemas.openxmlformats.org/drawingml/2006/main">
            <a:off x="12601575" y="6038850"/>
            <a:ext cx="4600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Columns are reused; model instrument CAPEX separately</a:t>
            </a:r>
          </a:p>
        </p:txBody>
      </p:sp>
      <p:sp>
        <p:nvSpPr>
          <p:cNvPr id="64" name="">
            <a:extLst xmlns:a="http://schemas.openxmlformats.org/drawingml/2006/main">
              <a:ext uri="{FF2B5EF4-FFF2-40B4-BE49-F238E27FC236}">
                <a16:creationId xmlns:a16="http://schemas.microsoft.com/office/drawing/2014/main" id="{68C70CF1-5821-4820-915C-F482C7F2EF7B}"/>
              </a:ext>
            </a:extLst>
          </p:cNvPr>
          <p:cNvSpPr>
            <a:spLocks xmlns:a="http://schemas.openxmlformats.org/drawingml/2006/main" noGrp="1"/>
          </p:cNvSpPr>
          <p:nvPr/>
        </p:nvSpPr>
        <p:spPr>
          <a:xfrm xmlns:a="http://schemas.openxmlformats.org/drawingml/2006/main">
            <a:off x="7410450" y="6553200"/>
            <a:ext cx="9944100" cy="1104900"/>
          </a:xfrm>
          <a:prstGeom xmlns:a="http://schemas.openxmlformats.org/drawingml/2006/main" prst="roundRect">
            <a:avLst>
              <a:gd name="adj" fmla="val 7759"/>
            </a:avLst>
          </a:prstGeom>
          <a:solidFill xmlns:a="http://schemas.openxmlformats.org/drawingml/2006/main">
            <a:srgbClr val="FFFFFF"/>
          </a:solidFill>
          <a:ln xmlns:a="http://schemas.openxmlformats.org/drawingml/2006/main" w="9525">
            <a:solidFill>
              <a:srgbClr val="D7E3E8"/>
            </a:solidFill>
          </a:ln>
        </p:spPr>
      </p:sp>
      <p:pic>
        <p:nvPicPr>
          <p:cNvPr id="65" name="">
            <a:extLst xmlns:a="http://schemas.openxmlformats.org/drawingml/2006/main">
              <a:ext uri="{FF2B5EF4-FFF2-40B4-BE49-F238E27FC236}">
                <a16:creationId xmlns:a16="http://schemas.microsoft.com/office/drawing/2014/main" id="{26146A21-CAC5-43CB-A10D-B8E119344415}"/>
              </a:ext>
            </a:extLst>
          </p:cNvPr>
          <p:cNvPicPr>
            <a:picLocks xmlns:a="http://schemas.openxmlformats.org/drawingml/2006/main" noChangeAspect="1"/>
          </p:cNvPicPr>
          <p:nvPr/>
        </p:nvPicPr>
        <p:blipFill>
          <a:blip xmlns:r="http://schemas.openxmlformats.org/officeDocument/2006/relationships" xmlns:a="http://schemas.openxmlformats.org/drawingml/2006/main" r:embed="R6c2f49f1b40b45b0">
            <a:extLst>
              <a:ext uri="{96DAC541-7B7A-43D3-8B79-37D633B846F1}">
                <asvg:svgBlip xmlns:asvg="http://schemas.microsoft.com/office/drawing/2016/SVG/main" r:embed="Rc3bd1091a03541f3"/>
              </a:ext>
            </a:extLst>
          </a:blip>
          <a:stretch xmlns:a="http://schemas.openxmlformats.org/drawingml/2006/main"/>
        </p:blipFill>
        <p:spPr>
          <a:xfrm xmlns:a="http://schemas.openxmlformats.org/drawingml/2006/main">
            <a:off x="7562850" y="6705600"/>
            <a:ext cx="285750" cy="285750"/>
          </a:xfrm>
          <a:prstGeom xmlns:a="http://schemas.openxmlformats.org/drawingml/2006/main" prst="rect">
            <a:avLst/>
          </a:prstGeom>
        </p:spPr>
      </p:pic>
      <p:sp>
        <p:nvSpPr>
          <p:cNvPr id="66" name="Sample handling, labware &amp; automation">
            <a:extLst xmlns:a="http://schemas.openxmlformats.org/drawingml/2006/main">
              <a:ext uri="{FF2B5EF4-FFF2-40B4-BE49-F238E27FC236}">
                <a16:creationId xmlns:a16="http://schemas.microsoft.com/office/drawing/2014/main" id="{A8ECF13A-41D4-41F4-A717-BA47FDCCEC78}"/>
              </a:ext>
            </a:extLst>
          </p:cNvPr>
          <p:cNvSpPr>
            <a:spLocks xmlns:a="http://schemas.openxmlformats.org/drawingml/2006/main" noGrp="1"/>
          </p:cNvSpPr>
          <p:nvPr/>
        </p:nvSpPr>
        <p:spPr>
          <a:xfrm xmlns:a="http://schemas.openxmlformats.org/drawingml/2006/main">
            <a:off x="7981950" y="6696075"/>
            <a:ext cx="9210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152C3A"/>
                </a:solidFill>
                <a:latin typeface="Arial"/>
                <a:ea typeface="Arial"/>
                <a:cs typeface="Arial"/>
              </a:defRPr>
            </a:defPPr>
          </a:lstStyle>
          <a:p xmlns:a="http://schemas.openxmlformats.org/drawingml/2006/main">
            <a:pPr algn="l">
              <a:lnSpc>
                <a:spcPct val="100000"/>
              </a:lnSpc>
              <a:buNone/>
              <a:defRPr sz="1800" b="1">
                <a:solidFill>
                  <a:srgbClr val="152C3A"/>
                </a:solidFill>
                <a:latin typeface="Arial"/>
                <a:ea typeface="Arial"/>
                <a:cs typeface="Arial"/>
              </a:defRPr>
            </a:pPr>
            <a:r>
              <a:rPr sz="1800" b="1">
                <a:solidFill>
                  <a:srgbClr val="152C3A"/>
                </a:solidFill>
                <a:latin typeface="Arial"/>
                <a:ea typeface="Arial"/>
                <a:cs typeface="Arial"/>
              </a:rPr>
              <a:t>Sample handling, labware &amp; automation</a:t>
            </a:r>
          </a:p>
        </p:txBody>
      </p:sp>
      <p:sp>
        <p:nvSpPr>
          <p:cNvPr id="67" name="Plates, tips, tubes, filtration / beads, liquid handling">
            <a:extLst xmlns:a="http://schemas.openxmlformats.org/drawingml/2006/main">
              <a:ext uri="{FF2B5EF4-FFF2-40B4-BE49-F238E27FC236}">
                <a16:creationId xmlns:a16="http://schemas.microsoft.com/office/drawing/2014/main" id="{5635D1CD-D8D0-4156-ABD6-27DEF1F4E14F}"/>
              </a:ext>
            </a:extLst>
          </p:cNvPr>
          <p:cNvSpPr>
            <a:spLocks xmlns:a="http://schemas.openxmlformats.org/drawingml/2006/main" noGrp="1"/>
          </p:cNvSpPr>
          <p:nvPr/>
        </p:nvSpPr>
        <p:spPr>
          <a:xfrm xmlns:a="http://schemas.openxmlformats.org/drawingml/2006/main">
            <a:off x="7562850" y="7096125"/>
            <a:ext cx="963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647887"/>
                </a:solidFill>
                <a:latin typeface="Arial"/>
                <a:ea typeface="Arial"/>
                <a:cs typeface="Arial"/>
              </a:defRPr>
            </a:defPPr>
          </a:lstStyle>
          <a:p xmlns:a="http://schemas.openxmlformats.org/drawingml/2006/main">
            <a:pPr algn="l">
              <a:lnSpc>
                <a:spcPct val="100000"/>
              </a:lnSpc>
              <a:buNone/>
              <a:defRPr sz="1500" b="0">
                <a:solidFill>
                  <a:srgbClr val="647887"/>
                </a:solidFill>
                <a:latin typeface="Arial"/>
                <a:ea typeface="Arial"/>
                <a:cs typeface="Arial"/>
              </a:defRPr>
            </a:pPr>
            <a:r>
              <a:rPr sz="1500" b="0">
                <a:solidFill>
                  <a:srgbClr val="647887"/>
                </a:solidFill>
                <a:latin typeface="Arial"/>
                <a:ea typeface="Arial"/>
                <a:cs typeface="Arial"/>
              </a:rPr>
              <a:t>Plates, tips, tubes, filtration / beads, liquid handling</a:t>
            </a:r>
          </a:p>
        </p:txBody>
      </p:sp>
      <p:sp>
        <p:nvSpPr>
          <p:cNvPr id="68" name="Across all workflows; miniaturization, reuse and scheduling alter net consumption">
            <a:extLst xmlns:a="http://schemas.openxmlformats.org/drawingml/2006/main">
              <a:ext uri="{FF2B5EF4-FFF2-40B4-BE49-F238E27FC236}">
                <a16:creationId xmlns:a16="http://schemas.microsoft.com/office/drawing/2014/main" id="{16112721-F709-487C-B47D-8713C1E6AB2D}"/>
              </a:ext>
            </a:extLst>
          </p:cNvPr>
          <p:cNvSpPr>
            <a:spLocks xmlns:a="http://schemas.openxmlformats.org/drawingml/2006/main" noGrp="1"/>
          </p:cNvSpPr>
          <p:nvPr/>
        </p:nvSpPr>
        <p:spPr>
          <a:xfrm xmlns:a="http://schemas.openxmlformats.org/drawingml/2006/main">
            <a:off x="7562850" y="7429500"/>
            <a:ext cx="9639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7D80"/>
                </a:solidFill>
                <a:latin typeface="Arial"/>
                <a:ea typeface="Arial"/>
                <a:cs typeface="Arial"/>
              </a:defRPr>
            </a:defPPr>
          </a:lstStyle>
          <a:p xmlns:a="http://schemas.openxmlformats.org/drawingml/2006/main">
            <a:pPr algn="l">
              <a:lnSpc>
                <a:spcPct val="100000"/>
              </a:lnSpc>
              <a:buNone/>
              <a:defRPr sz="1350" b="0">
                <a:solidFill>
                  <a:srgbClr val="007D80"/>
                </a:solidFill>
                <a:latin typeface="Arial"/>
                <a:ea typeface="Arial"/>
                <a:cs typeface="Arial"/>
              </a:defRPr>
            </a:pPr>
            <a:r>
              <a:rPr sz="1350" b="0">
                <a:solidFill>
                  <a:srgbClr val="007D80"/>
                </a:solidFill>
                <a:latin typeface="Arial"/>
                <a:ea typeface="Arial"/>
                <a:cs typeface="Arial"/>
              </a:rPr>
              <a:t>Across all workflows; miniaturization, reuse and scheduling alter net consumption</a:t>
            </a:r>
          </a:p>
        </p:txBody>
      </p:sp>
      <p:sp>
        <p:nvSpPr>
          <p:cNvPr id="69" name="">
            <a:extLst xmlns:a="http://schemas.openxmlformats.org/drawingml/2006/main">
              <a:ext uri="{FF2B5EF4-FFF2-40B4-BE49-F238E27FC236}">
                <a16:creationId xmlns:a16="http://schemas.microsoft.com/office/drawing/2014/main" id="{EFAABBB7-9DAA-41F8-A7DF-106416F2F53B}"/>
              </a:ext>
            </a:extLst>
          </p:cNvPr>
          <p:cNvSpPr>
            <a:spLocks xmlns:a="http://schemas.openxmlformats.org/drawingml/2006/main" noGrp="1"/>
          </p:cNvSpPr>
          <p:nvPr/>
        </p:nvSpPr>
        <p:spPr>
          <a:xfrm xmlns:a="http://schemas.openxmlformats.org/drawingml/2006/main">
            <a:off x="685800" y="8143875"/>
            <a:ext cx="8229600" cy="666750"/>
          </a:xfrm>
          <a:prstGeom xmlns:a="http://schemas.openxmlformats.org/drawingml/2006/main" prst="roundRect">
            <a:avLst>
              <a:gd name="adj" fmla="val 11429"/>
            </a:avLst>
          </a:prstGeom>
          <a:solidFill xmlns:a="http://schemas.openxmlformats.org/drawingml/2006/main">
            <a:srgbClr val="EAF6F4"/>
          </a:solidFill>
          <a:ln xmlns:a="http://schemas.openxmlformats.org/drawingml/2006/main" w="9525">
            <a:solidFill>
              <a:srgbClr val="D7E3E8"/>
            </a:solidFill>
          </a:ln>
        </p:spPr>
      </p:sp>
      <p:sp>
        <p:nvSpPr>
          <p:cNvPr id="70" name="">
            <a:extLst xmlns:a="http://schemas.openxmlformats.org/drawingml/2006/main">
              <a:ext uri="{FF2B5EF4-FFF2-40B4-BE49-F238E27FC236}">
                <a16:creationId xmlns:a16="http://schemas.microsoft.com/office/drawing/2014/main" id="{1E23B6E8-5DF9-4C5D-864A-7DD93DFDBC06}"/>
              </a:ext>
            </a:extLst>
          </p:cNvPr>
          <p:cNvSpPr>
            <a:spLocks xmlns:a="http://schemas.openxmlformats.org/drawingml/2006/main" noGrp="1"/>
          </p:cNvSpPr>
          <p:nvPr/>
        </p:nvSpPr>
        <p:spPr>
          <a:xfrm xmlns:a="http://schemas.openxmlformats.org/drawingml/2006/main">
            <a:off x="9115425" y="8143875"/>
            <a:ext cx="8486775" cy="666750"/>
          </a:xfrm>
          <a:prstGeom xmlns:a="http://schemas.openxmlformats.org/drawingml/2006/main" prst="roundRect">
            <a:avLst>
              <a:gd name="adj" fmla="val 11429"/>
            </a:avLst>
          </a:prstGeom>
          <a:solidFill xmlns:a="http://schemas.openxmlformats.org/drawingml/2006/main">
            <a:srgbClr val="FAF5EB"/>
          </a:solidFill>
          <a:ln xmlns:a="http://schemas.openxmlformats.org/drawingml/2006/main" w="9525">
            <a:solidFill>
              <a:srgbClr val="D7E3E8"/>
            </a:solidFill>
          </a:ln>
        </p:spPr>
      </p:sp>
      <p:sp>
        <p:nvSpPr>
          <p:cNvPr id="71" name="ACROBiosystems: target proteins, functional cells &amp; characterization">
            <a:extLst xmlns:a="http://schemas.openxmlformats.org/drawingml/2006/main">
              <a:ext uri="{FF2B5EF4-FFF2-40B4-BE49-F238E27FC236}">
                <a16:creationId xmlns:a16="http://schemas.microsoft.com/office/drawing/2014/main" id="{A3B9D121-4B9E-4807-BE2E-2B18222B630D}"/>
              </a:ext>
            </a:extLst>
          </p:cNvPr>
          <p:cNvSpPr>
            <a:spLocks xmlns:a="http://schemas.openxmlformats.org/drawingml/2006/main" noGrp="1"/>
          </p:cNvSpPr>
          <p:nvPr/>
        </p:nvSpPr>
        <p:spPr>
          <a:xfrm xmlns:a="http://schemas.openxmlformats.org/drawingml/2006/main">
            <a:off x="866775" y="8220075"/>
            <a:ext cx="7867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152C3A"/>
                </a:solidFill>
                <a:latin typeface="Arial"/>
                <a:ea typeface="Arial"/>
                <a:cs typeface="Arial"/>
              </a:defRPr>
            </a:defPPr>
          </a:lstStyle>
          <a:p xmlns:a="http://schemas.openxmlformats.org/drawingml/2006/main">
            <a:pPr algn="l">
              <a:lnSpc>
                <a:spcPct val="100000"/>
              </a:lnSpc>
              <a:buNone/>
              <a:defRPr sz="1725" b="1">
                <a:solidFill>
                  <a:srgbClr val="152C3A"/>
                </a:solidFill>
                <a:latin typeface="Arial"/>
                <a:ea typeface="Arial"/>
                <a:cs typeface="Arial"/>
              </a:defRPr>
            </a:pPr>
            <a:r>
              <a:rPr sz="1725" b="1">
                <a:solidFill>
                  <a:srgbClr val="152C3A"/>
                </a:solidFill>
                <a:latin typeface="Arial"/>
                <a:ea typeface="Arial"/>
                <a:cs typeface="Arial"/>
              </a:rPr>
              <a:t>ACROBiosystems: target proteins, functional cells &amp; characterization</a:t>
            </a:r>
          </a:p>
        </p:txBody>
      </p:sp>
      <p:sp>
        <p:nvSpPr>
          <p:cNvPr id="72" name="AIDD-Ready offering exists; paid orders and repeat purchases still need verification">
            <a:extLst xmlns:a="http://schemas.openxmlformats.org/drawingml/2006/main">
              <a:ext uri="{FF2B5EF4-FFF2-40B4-BE49-F238E27FC236}">
                <a16:creationId xmlns:a16="http://schemas.microsoft.com/office/drawing/2014/main" id="{68C87819-F2EA-4461-8295-5171190265E6}"/>
              </a:ext>
            </a:extLst>
          </p:cNvPr>
          <p:cNvSpPr>
            <a:spLocks xmlns:a="http://schemas.openxmlformats.org/drawingml/2006/main" noGrp="1"/>
          </p:cNvSpPr>
          <p:nvPr/>
        </p:nvSpPr>
        <p:spPr>
          <a:xfrm xmlns:a="http://schemas.openxmlformats.org/drawingml/2006/main">
            <a:off x="866775" y="8524875"/>
            <a:ext cx="7867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AIDD-Ready offering exists; paid orders and repeat purchases still need verification</a:t>
            </a:r>
          </a:p>
        </p:txBody>
      </p:sp>
      <p:sp>
        <p:nvSpPr>
          <p:cNvPr id="73" name="NanoMicro: analytical separation &amp; lab purification materials">
            <a:extLst xmlns:a="http://schemas.openxmlformats.org/drawingml/2006/main">
              <a:ext uri="{FF2B5EF4-FFF2-40B4-BE49-F238E27FC236}">
                <a16:creationId xmlns:a16="http://schemas.microsoft.com/office/drawing/2014/main" id="{60E4DFD0-E630-4823-974A-1DC09D4E49CF}"/>
              </a:ext>
            </a:extLst>
          </p:cNvPr>
          <p:cNvSpPr>
            <a:spLocks xmlns:a="http://schemas.openxmlformats.org/drawingml/2006/main" noGrp="1"/>
          </p:cNvSpPr>
          <p:nvPr/>
        </p:nvSpPr>
        <p:spPr>
          <a:xfrm xmlns:a="http://schemas.openxmlformats.org/drawingml/2006/main">
            <a:off x="9296400" y="8220075"/>
            <a:ext cx="812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152C3A"/>
                </a:solidFill>
                <a:latin typeface="Arial"/>
                <a:ea typeface="Arial"/>
                <a:cs typeface="Arial"/>
              </a:defRPr>
            </a:defPPr>
          </a:lstStyle>
          <a:p xmlns:a="http://schemas.openxmlformats.org/drawingml/2006/main">
            <a:pPr algn="l">
              <a:lnSpc>
                <a:spcPct val="100000"/>
              </a:lnSpc>
              <a:buNone/>
              <a:defRPr sz="1725" b="1">
                <a:solidFill>
                  <a:srgbClr val="152C3A"/>
                </a:solidFill>
                <a:latin typeface="Arial"/>
                <a:ea typeface="Arial"/>
                <a:cs typeface="Arial"/>
              </a:defRPr>
            </a:pPr>
            <a:r>
              <a:rPr sz="1725" b="1">
                <a:solidFill>
                  <a:srgbClr val="152C3A"/>
                </a:solidFill>
                <a:latin typeface="Arial"/>
                <a:ea typeface="Arial"/>
                <a:cs typeface="Arial"/>
              </a:rPr>
              <a:t>NanoMicro: analytical separation &amp; lab purification materials</a:t>
            </a:r>
          </a:p>
        </p:txBody>
      </p:sp>
      <p:sp>
        <p:nvSpPr>
          <p:cNvPr id="74" name="Track sample runs, column life and ASP; manufacturing resin demand has a longer lag">
            <a:extLst xmlns:a="http://schemas.openxmlformats.org/drawingml/2006/main">
              <a:ext uri="{FF2B5EF4-FFF2-40B4-BE49-F238E27FC236}">
                <a16:creationId xmlns:a16="http://schemas.microsoft.com/office/drawing/2014/main" id="{202BF98F-3899-4E1D-9CC3-8865C00FB64F}"/>
              </a:ext>
            </a:extLst>
          </p:cNvPr>
          <p:cNvSpPr>
            <a:spLocks xmlns:a="http://schemas.openxmlformats.org/drawingml/2006/main" noGrp="1"/>
          </p:cNvSpPr>
          <p:nvPr/>
        </p:nvSpPr>
        <p:spPr>
          <a:xfrm xmlns:a="http://schemas.openxmlformats.org/drawingml/2006/main">
            <a:off x="9296400" y="8524875"/>
            <a:ext cx="81248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647887"/>
                </a:solidFill>
                <a:latin typeface="Arial"/>
                <a:ea typeface="Arial"/>
                <a:cs typeface="Arial"/>
              </a:defRPr>
            </a:defPPr>
          </a:lstStyle>
          <a:p xmlns:a="http://schemas.openxmlformats.org/drawingml/2006/main">
            <a:pPr algn="l">
              <a:lnSpc>
                <a:spcPct val="100000"/>
              </a:lnSpc>
              <a:buNone/>
              <a:defRPr sz="1275" b="0">
                <a:solidFill>
                  <a:srgbClr val="647887"/>
                </a:solidFill>
                <a:latin typeface="Arial"/>
                <a:ea typeface="Arial"/>
                <a:cs typeface="Arial"/>
              </a:defRPr>
            </a:pPr>
            <a:r>
              <a:rPr sz="1275" b="0">
                <a:solidFill>
                  <a:srgbClr val="647887"/>
                </a:solidFill>
                <a:latin typeface="Arial"/>
                <a:ea typeface="Arial"/>
                <a:cs typeface="Arial"/>
              </a:rPr>
              <a:t>Track sample runs, column life and ASP; manufacturing resin demand has a longer lag</a:t>
            </a:r>
          </a:p>
        </p:txBody>
      </p:sp>
      <p:sp>
        <p:nvSpPr>
          <p:cNvPr id="75" name="">
            <a:extLst xmlns:a="http://schemas.openxmlformats.org/drawingml/2006/main">
              <a:ext uri="{FF2B5EF4-FFF2-40B4-BE49-F238E27FC236}">
                <a16:creationId xmlns:a16="http://schemas.microsoft.com/office/drawing/2014/main" id="{40F6AE21-30B4-424E-8F87-C9AB28277D65}"/>
              </a:ext>
            </a:extLst>
          </p:cNvPr>
          <p:cNvSpPr>
            <a:spLocks xmlns:a="http://schemas.openxmlformats.org/drawingml/2006/main" noGrp="1"/>
          </p:cNvSpPr>
          <p:nvPr/>
        </p:nvSpPr>
        <p:spPr>
          <a:xfrm xmlns:a="http://schemas.openxmlformats.org/drawingml/2006/main">
            <a:off x="685800" y="9067800"/>
            <a:ext cx="16916400" cy="638175"/>
          </a:xfrm>
          <a:prstGeom xmlns:a="http://schemas.openxmlformats.org/drawingml/2006/main" prst="roundRect">
            <a:avLst>
              <a:gd name="adj" fmla="val 13433"/>
            </a:avLst>
          </a:prstGeom>
          <a:solidFill xmlns:a="http://schemas.openxmlformats.org/drawingml/2006/main">
            <a:srgbClr val="152C3A"/>
          </a:solidFill>
          <a:ln xmlns:a="http://schemas.openxmlformats.org/drawingml/2006/main" w="9525">
            <a:noFill/>
          </a:ln>
        </p:spPr>
      </p:sp>
      <p:sp>
        <p:nvSpPr>
          <p:cNvPr id="76" name="LST purchases ≈ Σ [workflow executions × net purchased inputs per run × ASP]">
            <a:extLst xmlns:a="http://schemas.openxmlformats.org/drawingml/2006/main">
              <a:ext uri="{FF2B5EF4-FFF2-40B4-BE49-F238E27FC236}">
                <a16:creationId xmlns:a16="http://schemas.microsoft.com/office/drawing/2014/main" id="{B1D173F1-BEB8-4F21-8C1E-0E4412F70BD4}"/>
              </a:ext>
            </a:extLst>
          </p:cNvPr>
          <p:cNvSpPr>
            <a:spLocks xmlns:a="http://schemas.openxmlformats.org/drawingml/2006/main" noGrp="1"/>
          </p:cNvSpPr>
          <p:nvPr/>
        </p:nvSpPr>
        <p:spPr>
          <a:xfrm xmlns:a="http://schemas.openxmlformats.org/drawingml/2006/main">
            <a:off x="895350" y="9229725"/>
            <a:ext cx="16497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lnSpc>
                <a:spcPct val="100000"/>
              </a:lnSpc>
              <a:buNone/>
              <a:defRPr sz="2175" b="1">
                <a:solidFill>
                  <a:srgbClr val="FFFFFF"/>
                </a:solidFill>
                <a:latin typeface="Arial"/>
                <a:ea typeface="Arial"/>
                <a:cs typeface="Arial"/>
              </a:defRPr>
            </a:pPr>
            <a:r>
              <a:rPr sz="2175" b="1">
                <a:solidFill>
                  <a:srgbClr val="FFFFFF"/>
                </a:solidFill>
                <a:latin typeface="Arial"/>
                <a:ea typeface="Arial"/>
                <a:cs typeface="Arial"/>
              </a:rPr>
              <a:t>LST purchases ≈ Σ [workflow executions × net purchased inputs per run × ASP]</a:t>
            </a:r>
          </a:p>
        </p:txBody>
      </p:sp>
      <p:sp>
        <p:nvSpPr>
          <p:cNvPr id="77" name="Instrument CAPEX is separate. Product alignment does not establish AI orders or revenue. Sources: Ginkgo, Sartorius and company websites.">
            <a:extLst xmlns:a="http://schemas.openxmlformats.org/drawingml/2006/main">
              <a:ext uri="{FF2B5EF4-FFF2-40B4-BE49-F238E27FC236}">
                <a16:creationId xmlns:a16="http://schemas.microsoft.com/office/drawing/2014/main" id="{80367922-DBD8-4449-8F0E-AE3055B9ABDF}"/>
              </a:ext>
            </a:extLst>
          </p:cNvPr>
          <p:cNvSpPr>
            <a:spLocks xmlns:a="http://schemas.openxmlformats.org/drawingml/2006/main" noGrp="1"/>
          </p:cNvSpPr>
          <p:nvPr/>
        </p:nvSpPr>
        <p:spPr>
          <a:xfrm xmlns:a="http://schemas.openxmlformats.org/drawingml/2006/main">
            <a:off x="685800" y="9810750"/>
            <a:ext cx="16916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647887"/>
                </a:solidFill>
                <a:latin typeface="Arial"/>
                <a:ea typeface="Arial"/>
                <a:cs typeface="Arial"/>
              </a:defRPr>
            </a:defPPr>
          </a:lstStyle>
          <a:p xmlns:a="http://schemas.openxmlformats.org/drawingml/2006/main">
            <a:pPr algn="l">
              <a:lnSpc>
                <a:spcPct val="100000"/>
              </a:lnSpc>
              <a:buNone/>
              <a:defRPr sz="1238" b="0">
                <a:solidFill>
                  <a:srgbClr val="647887"/>
                </a:solidFill>
                <a:latin typeface="Arial"/>
                <a:ea typeface="Arial"/>
                <a:cs typeface="Arial"/>
              </a:defRPr>
            </a:pPr>
            <a:r>
              <a:rPr sz="1238" b="0">
                <a:solidFill>
                  <a:srgbClr val="647887"/>
                </a:solidFill>
                <a:latin typeface="Arial"/>
                <a:ea typeface="Arial"/>
                <a:cs typeface="Arial"/>
              </a:rPr>
              <a:t>Instrument CAPEX is separate. Product alignment does not establish AI orders or revenue. Sources: Ginkgo, Sartorius and company websites.</a:t>
            </a:r>
          </a:p>
        </p:txBody>
      </p:sp>
    </p:spTree>
    <p:extLst>
      <p:ext uri="{BB962C8B-B14F-4D97-AF65-F5344CB8AC3E}">
        <p14:creationId xmlns:p14="http://schemas.microsoft.com/office/powerpoint/2010/main" val="12700709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2026-10-13T02:10:22.2990000Z</dcterms:created>
  <dcterms:modified xsi:type="dcterms:W3CDTF">2026-10-13T02:10:22.2990000Z</dcterms:modified>
</coreProperties>
</file>