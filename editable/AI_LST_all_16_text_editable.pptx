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c8bda688e64354" /><Relationship Type="http://schemas.openxmlformats.org/officeDocument/2006/relationships/extended-properties" Target="/docProps/app.xml" Id="R6b1e5caf5d9a4d70" /><Relationship Type="http://schemas.openxmlformats.org/officeDocument/2006/relationships/officeDocument" Target="/ppt/presentation.xml" Id="R9d7e4b4e00a34de6" /></Relationships>
</file>

<file path=ppt/presentation.xml><?xml version="1.0" encoding="utf-8"?>
<p:presentation xmlns:p="http://schemas.openxmlformats.org/presentationml/2006/main">
  <p:sldMasterIdLst>
    <p:sldMasterId xmlns:r="http://schemas.openxmlformats.org/officeDocument/2006/relationships" id="2147483648" r:id="R3706e97526bb4d90"/>
  </p:sldMasterIdLst>
  <p:notesMasterIdLst>
    <p:notesMasterId xmlns:r="http://schemas.openxmlformats.org/officeDocument/2006/relationships" r:id="R4a1cadd28c1a4d10"/>
  </p:notesMasterIdLst>
  <p:sldIdLst>
    <p:sldId xmlns:r="http://schemas.openxmlformats.org/officeDocument/2006/relationships" id="256" r:id="Rb6034e6333f84d16"/>
    <p:sldId xmlns:r="http://schemas.openxmlformats.org/officeDocument/2006/relationships" id="257" r:id="R5684565419a243a8"/>
    <p:sldId xmlns:r="http://schemas.openxmlformats.org/officeDocument/2006/relationships" id="258" r:id="R2656db6bde8d45ce"/>
    <p:sldId xmlns:r="http://schemas.openxmlformats.org/officeDocument/2006/relationships" id="259" r:id="R9bcc5f9f407c4e7c"/>
    <p:sldId xmlns:r="http://schemas.openxmlformats.org/officeDocument/2006/relationships" id="260" r:id="R3298ee95f0924501"/>
    <p:sldId xmlns:r="http://schemas.openxmlformats.org/officeDocument/2006/relationships" id="261" r:id="Raab6588711e447bc"/>
    <p:sldId xmlns:r="http://schemas.openxmlformats.org/officeDocument/2006/relationships" id="262" r:id="R38e7bc0e0ea8495f"/>
    <p:sldId xmlns:r="http://schemas.openxmlformats.org/officeDocument/2006/relationships" id="263" r:id="R83228e621c5c454a"/>
    <p:sldId xmlns:r="http://schemas.openxmlformats.org/officeDocument/2006/relationships" id="264" r:id="Rf139cce118854dde"/>
    <p:sldId xmlns:r="http://schemas.openxmlformats.org/officeDocument/2006/relationships" id="265" r:id="Rdebc7d3fdd434ebb"/>
    <p:sldId xmlns:r="http://schemas.openxmlformats.org/officeDocument/2006/relationships" id="266" r:id="Rc20750392cb64dc0"/>
    <p:sldId xmlns:r="http://schemas.openxmlformats.org/officeDocument/2006/relationships" id="267" r:id="R77b4b6c2a4054bfe"/>
    <p:sldId xmlns:r="http://schemas.openxmlformats.org/officeDocument/2006/relationships" id="268" r:id="Rc065769df1ab40ff"/>
    <p:sldId xmlns:r="http://schemas.openxmlformats.org/officeDocument/2006/relationships" id="269" r:id="R168b6e90e1ae4848"/>
    <p:sldId xmlns:r="http://schemas.openxmlformats.org/officeDocument/2006/relationships" id="270" r:id="Rc61f5020050d4c3a"/>
    <p:sldId xmlns:r="http://schemas.openxmlformats.org/officeDocument/2006/relationships" id="271" r:id="R69d1801729854df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685031065f4a74" /><Relationship Type="http://schemas.openxmlformats.org/officeDocument/2006/relationships/slideMaster" Target="/ppt/slideMasters/slideMaster1.xml" Id="R3706e97526bb4d90" /><Relationship Type="http://schemas.openxmlformats.org/officeDocument/2006/relationships/notesMaster" Target="/ppt/notesMasters/notesMaster1.xml" Id="R4a1cadd28c1a4d10" /><Relationship Type="http://schemas.openxmlformats.org/officeDocument/2006/relationships/presProps" Target="/ppt/presProps.xml" Id="R916dbd1c7bfa446c" /><Relationship Type="http://schemas.openxmlformats.org/officeDocument/2006/relationships/tableStyles" Target="/ppt/tableStyles.xml" Id="Rbe5a7a53877540b5" /><Relationship Type="http://schemas.openxmlformats.org/officeDocument/2006/relationships/slide" Target="/ppt/slides/slide1.xml" Id="Rb6034e6333f84d16" /><Relationship Type="http://schemas.openxmlformats.org/officeDocument/2006/relationships/slide" Target="/ppt/slides/slide2.xml" Id="R5684565419a243a8" /><Relationship Type="http://schemas.openxmlformats.org/officeDocument/2006/relationships/slide" Target="/ppt/slides/slide3.xml" Id="R2656db6bde8d45ce" /><Relationship Type="http://schemas.openxmlformats.org/officeDocument/2006/relationships/slide" Target="/ppt/slides/slide4.xml" Id="R9bcc5f9f407c4e7c" /><Relationship Type="http://schemas.openxmlformats.org/officeDocument/2006/relationships/slide" Target="/ppt/slides/slide5.xml" Id="R3298ee95f0924501" /><Relationship Type="http://schemas.openxmlformats.org/officeDocument/2006/relationships/slide" Target="/ppt/slides/slide6.xml" Id="Raab6588711e447bc" /><Relationship Type="http://schemas.openxmlformats.org/officeDocument/2006/relationships/slide" Target="/ppt/slides/slide7.xml" Id="R38e7bc0e0ea8495f" /><Relationship Type="http://schemas.openxmlformats.org/officeDocument/2006/relationships/slide" Target="/ppt/slides/slide8.xml" Id="R83228e621c5c454a" /><Relationship Type="http://schemas.openxmlformats.org/officeDocument/2006/relationships/slide" Target="/ppt/slides/slide9.xml" Id="Rf139cce118854dde" /><Relationship Type="http://schemas.openxmlformats.org/officeDocument/2006/relationships/slide" Target="/ppt/slides/slide10.xml" Id="Rdebc7d3fdd434ebb" /><Relationship Type="http://schemas.openxmlformats.org/officeDocument/2006/relationships/slide" Target="/ppt/slides/slide11.xml" Id="Rc20750392cb64dc0" /><Relationship Type="http://schemas.openxmlformats.org/officeDocument/2006/relationships/slide" Target="/ppt/slides/slide12.xml" Id="R77b4b6c2a4054bfe" /><Relationship Type="http://schemas.openxmlformats.org/officeDocument/2006/relationships/slide" Target="/ppt/slides/slide13.xml" Id="Rc065769df1ab40ff" /><Relationship Type="http://schemas.openxmlformats.org/officeDocument/2006/relationships/slide" Target="/ppt/slides/slide14.xml" Id="R168b6e90e1ae4848" /><Relationship Type="http://schemas.openxmlformats.org/officeDocument/2006/relationships/slide" Target="/ppt/slides/slide15.xml" Id="Rc61f5020050d4c3a" /><Relationship Type="http://schemas.openxmlformats.org/officeDocument/2006/relationships/slide" Target="/ppt/slides/slide16.xml" Id="R69d1801729854d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497c719a2b49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20e2f964bb4c84" /><Relationship Type="http://schemas.openxmlformats.org/officeDocument/2006/relationships/notesMaster" Target="/ppt/notesMasters/notesMaster1.xml" Id="R9c3370327c2f4c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51442c42cf4c36" /><Relationship Type="http://schemas.openxmlformats.org/officeDocument/2006/relationships/notesMaster" Target="/ppt/notesMasters/notesMaster1.xml" Id="Rd7b8744b32c24c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db1995194745ca" /><Relationship Type="http://schemas.openxmlformats.org/officeDocument/2006/relationships/notesMaster" Target="/ppt/notesMasters/notesMaster1.xml" Id="R4597b8fac6a944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2ce2e867204c51" /><Relationship Type="http://schemas.openxmlformats.org/officeDocument/2006/relationships/notesMaster" Target="/ppt/notesMasters/notesMaster1.xml" Id="Rd06d6a89659449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c9bfc7644c4e2e" /><Relationship Type="http://schemas.openxmlformats.org/officeDocument/2006/relationships/notesMaster" Target="/ppt/notesMasters/notesMaster1.xml" Id="R22e56854471c42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f907a30b9545e7" /><Relationship Type="http://schemas.openxmlformats.org/officeDocument/2006/relationships/notesMaster" Target="/ppt/notesMasters/notesMaster1.xml" Id="R746f43dbb19e45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a01cf3d305474c" /><Relationship Type="http://schemas.openxmlformats.org/officeDocument/2006/relationships/notesMaster" Target="/ppt/notesMasters/notesMaster1.xml" Id="R3be36b3483c740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ece03d5db64b17" /><Relationship Type="http://schemas.openxmlformats.org/officeDocument/2006/relationships/notesMaster" Target="/ppt/notesMasters/notesMaster1.xml" Id="R643996e78f0b42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7c6f313592488c" /><Relationship Type="http://schemas.openxmlformats.org/officeDocument/2006/relationships/notesMaster" Target="/ppt/notesMasters/notesMaster1.xml" Id="Re5252b9a93bf41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f07dbd72824ea4" /><Relationship Type="http://schemas.openxmlformats.org/officeDocument/2006/relationships/notesMaster" Target="/ppt/notesMasters/notesMaster1.xml" Id="Rb6f97744da554b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0fbf8093f9489f" /><Relationship Type="http://schemas.openxmlformats.org/officeDocument/2006/relationships/notesMaster" Target="/ppt/notesMasters/notesMaster1.xml" Id="Ra9abe4fda9cd4c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af873d562448d1" /><Relationship Type="http://schemas.openxmlformats.org/officeDocument/2006/relationships/notesMaster" Target="/ppt/notesMasters/notesMaster1.xml" Id="R2f20593ab59f429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3d97bb64654777" /><Relationship Type="http://schemas.openxmlformats.org/officeDocument/2006/relationships/notesMaster" Target="/ppt/notesMasters/notesMaster1.xml" Id="R5343ea1bf9ca45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1df156828c40c7" /><Relationship Type="http://schemas.openxmlformats.org/officeDocument/2006/relationships/notesMaster" Target="/ppt/notesMasters/notesMaster1.xml" Id="Rd6e26b613f9548e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1b933cf80d4d8f" /><Relationship Type="http://schemas.openxmlformats.org/officeDocument/2006/relationships/notesMaster" Target="/ppt/notesMasters/notesMaster1.xml" Id="R9b906659ff2346a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25ea5187c6c4f7a" /><Relationship Type="http://schemas.openxmlformats.org/officeDocument/2006/relationships/notesMaster" Target="/ppt/notesMasters/notesMaster1.xml" Id="R580f77d48f3c4c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 The life science tools framework</a:t>
            </a:r>
          </a:p>
          <a:p xmlns:a="http://schemas.openxmlformats.org/drawingml/2006/main">
            <a:r>
              <a:t>Evidence status: Framework</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2: China and global LST markets</a:t>
            </a:r>
          </a:p>
          <a:p xmlns:a="http://schemas.openxmlformats.org/drawingml/2006/main">
            <a:r>
              <a:t>Evidence status: Historical estimate</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3: How downstream demand differs</a:t>
            </a:r>
          </a:p>
          <a:p xmlns:a="http://schemas.openxmlformats.org/drawingml/2006/main">
            <a:r>
              <a:t>Evidence status: Illustrative scenario</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4: AI discovery and its LST touchpoints</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5: Which tools have more demand elasticity?</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6: More experiments, less material per experiment</a:t>
            </a:r>
          </a:p>
          <a:p xmlns:a="http://schemas.openxmlformats.org/drawingml/2006/main">
            <a:r>
              <a:t>Evidence status: Illustrative scenario</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7: Illustrative AI-driven investment scenarios</a:t>
            </a:r>
          </a:p>
          <a:p xmlns:a="http://schemas.openxmlformats.org/drawingml/2006/main">
            <a:r>
              <a:t>Evidence status: Illustrative scenario</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8: Potential supply constraints over 12–24 months</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9: Mapping Chinese listed LST suppliers</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10: From AI funding to LST shareholder returns</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11: Editable stage comparison</a:t>
            </a:r>
          </a:p>
          <a:p xmlns:a="http://schemas.openxmlformats.org/drawingml/2006/main">
            <a:r>
              <a:t>Evidence status: Illustrative scenario</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12: AI discovery funnel and enlarged LST ecosystem</a:t>
            </a:r>
          </a:p>
          <a:p xmlns:a="http://schemas.openxmlformats.org/drawingml/2006/main">
            <a:r>
              <a:t>Evidence status: Illustrative scenario</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13: Fewer molecules. Deeper experimental data.</a:t>
            </a:r>
          </a:p>
          <a:p xmlns:a="http://schemas.openxmlformats.org/drawingml/2006/main">
            <a:r>
              <a:t>Evidence status: Illustrative scenario</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AI antibody research: molecule throughput and experimental data density</a:t>
            </a:r>
          </a:p>
          <a:p xmlns:a="http://schemas.openxmlformats.org/drawingml/2006/main">
            <a:r>
              <a:t/>
            </a:r>
          </a:p>
          <a:p xmlns:a="http://schemas.openxmlformats.org/drawingml/2006/main">
            <a:r>
              <a:t>Evidence checked on 13 October 2026. The two English figures describe a mechanism and an investment hypothesis. They do not estimate incremental TAM, realized AI revenue or stock returns. Comparison counts are illustrative.</a:t>
            </a:r>
          </a:p>
          <a:p xmlns:a="http://schemas.openxmlformats.org/drawingml/2006/main">
            <a:r>
              <a:t/>
            </a:r>
          </a:p>
          <a:p xmlns:a="http://schemas.openxmlformats.org/drawingml/2006/main">
            <a:r>
              <a:t>## Conclusion and its limits</a:t>
            </a:r>
          </a:p>
          <a:p xmlns:a="http://schemas.openxmlformats.org/drawingml/2006/main">
            <a:r>
              <a:t/>
            </a:r>
          </a:p>
          <a:p xmlns:a="http://schemas.openxmlformats.org/drawingml/2006/main">
            <a:r>
              <a:t>Experiments can support both today's candidate selection and a reusable training dataset for future projects. Stage 0 describes this continuing biological-data production function across training, design, validation and iteration; it is not necessarily a one-time step before design.</a:t>
            </a:r>
          </a:p>
          <a:p xmlns:a="http://schemas.openxmlformats.org/drawingml/2006/main">
            <a:r>
              <a:t/>
            </a:r>
          </a:p>
          <a:p xmlns:a="http://schemas.openxmlformats.org/drawingml/2006/main">
            <a:r>
              <a:t>Data insufficiency can mean incomplete property coverage, incompatible assay conditions, limited sequence/target/format diversity, or data that cannot be accessed or licensed. Cleaning or licensing existing records can improve modeling without new experiments. Active learning can prioritize fewer informative measurements. Stage 0 is an evidenced demand channel, with uncertain net spending and supplier revenue.</a:t>
            </a:r>
          </a:p>
          <a:p xmlns:a="http://schemas.openxmlformats.org/drawingml/2006/main">
            <a:r>
              <a:t/>
            </a:r>
          </a:p>
          <a:p xmlns:a="http://schemas.openxmlformats.org/drawingml/2006/main">
            <a:r>
              <a:t>## Primary evidence</a:t>
            </a:r>
          </a:p>
          <a:p xmlns:a="http://schemas.openxmlformats.org/drawingml/2006/main">
            <a:r>
              <a:t/>
            </a:r>
          </a:p>
          <a:p xmlns:a="http://schemas.openxmlformats.org/drawingml/2006/main">
            <a:r>
              <a:t>1. **Jain et al., PNAS, 2017.** [Paper](https://pmc.ncbi.nlm.nih.gov/articles/PMC5293111/), DOI 10.1073/pnas.1616408114. The authors expressed 137 advanced clinical-stage antibody sequences on a common IgG1 scaffold and assessed 12 biophysical assays. Multi-property characterization predates the current AI wave. Some approved antibodies still triggered developability warnings; a single risk metric is not a universal clinical veto. The experimental scaffold differs from exact drug formats.</a:t>
            </a:r>
          </a:p>
          <a:p xmlns:a="http://schemas.openxmlformats.org/drawingml/2006/main">
            <a:r>
              <a:t/>
            </a:r>
          </a:p>
          <a:p xmlns:a="http://schemas.openxmlformats.org/drawingml/2006/main">
            <a:r>
              <a:t>2. **Arsiwala et al., mAbs, 2025.** [Paper](https://pmc.ncbi.nlm.nih.gov/articles/PMC12674332/), DOI 10.1080/19420862.2025.2593055. PROPHET-Ab was built for standardized model-training data. The paper reports 246 IgGs and ten developability assay types, with incomplete coverage for some assays; DLS-kD covered ten IgGs. Methods include titer, CE-SDS, SEC, nanoDSF/DSF, HIC, SMAC, AC-SINS, DLS-kD, heparin-affinity chromatography and polyreactivity. This differs from our nine labels and does not supply all target-specific binding kinetics, precise epitopes or cell potency. The PMC page triggered a verification challenge; full text was checked through [Europe PMC original-article XML](https://www.ebi.ac.uk/europepmc/webservices/rest/PMC12674332/fullTextXML).</a:t>
            </a:r>
          </a:p>
          <a:p xmlns:a="http://schemas.openxmlformats.org/drawingml/2006/main">
            <a:r>
              <a:t/>
            </a:r>
          </a:p>
          <a:p xmlns:a="http://schemas.openxmlformats.org/drawingml/2006/main">
            <a:r>
              <a:t>3. **van Niekerk et al., mAbs, 2026.** [Paper abstract](https://www.tandfonline.com/doi/abs/10.1080/19420862.2026.2634216), DOI 10.1080/19420862.2026.2634216. The 2025 competition used 246 clinical antibodies for public training and 80 for blinded testing, with 113 teams. Best test-set Spearman correlations were:</a:t>
            </a:r>
          </a:p>
          <a:p xmlns:a="http://schemas.openxmlformats.org/drawingml/2006/main">
            <a:r>
              <a:t/>
            </a:r>
          </a:p>
          <a:p xmlns:a="http://schemas.openxmlformats.org/drawingml/2006/main">
            <a:r>
              <a:t>| Property | Best test-set Spearman rho |</a:t>
            </a:r>
          </a:p>
          <a:p xmlns:a="http://schemas.openxmlformats.org/drawingml/2006/main">
            <a:r>
              <a:t>|---|---:|</a:t>
            </a:r>
          </a:p>
          <a:p xmlns:a="http://schemas.openxmlformats.org/drawingml/2006/main">
            <a:r>
              <a:t>| Hydrophobicity | 0.708 |</a:t>
            </a:r>
          </a:p>
          <a:p xmlns:a="http://schemas.openxmlformats.org/drawingml/2006/main">
            <a:r>
              <a:t>| Thermostability | 0.392 |</a:t>
            </a:r>
          </a:p>
          <a:p xmlns:a="http://schemas.openxmlformats.org/drawingml/2006/main">
            <a:r>
              <a:t>| Polyreactivity | 0.356 |</a:t>
            </a:r>
          </a:p>
          <a:p xmlns:a="http://schemas.openxmlformats.org/drawingml/2006/main">
            <a:r>
              <a:t>| Self-association | 0.337 |</a:t>
            </a:r>
          </a:p>
          <a:p xmlns:a="http://schemas.openxmlformats.org/drawingml/2006/main">
            <a:r>
              <a:t>| Expression titer | 0.310 |</a:t>
            </a:r>
          </a:p>
          <a:p xmlns:a="http://schemas.openxmlformats.org/drawingml/2006/main">
            <a:r>
              <a:t/>
            </a:r>
          </a:p>
          <a:p xmlns:a="http://schemas.openxmlformats.org/drawingml/2006/main">
            <a:r>
              <a:t>Winners differed by assay. These are rank correlations, not accuracies or the performance of one model across all tasks. They support a problem of small, heterogeneous datasets and limited generalization, not a claim that extra label columns alone solve it.</a:t>
            </a:r>
          </a:p>
          <a:p xmlns:a="http://schemas.openxmlformats.org/drawingml/2006/main">
            <a:r>
              <a:t/>
            </a:r>
          </a:p>
          <a:p xmlns:a="http://schemas.openxmlformats.org/drawingml/2006/main">
            <a:r>
              <a:t>4. **Sartorius assay references.** [Kinetics and affinity white paper](https://www.sartorius.com/resource/blob/756208/2db1b53c5a53af4003bbd12ecfaaea24/streamlining-affinity-analysis-for-accelerated-lead-screening-white-paper-en-sartorius-data.pdf), [BLI platform](https://www.sartorius.com/en/products/biolayer-interferometry), [avoiding avidity](https://www.sartorius.com/en/products/biolayer-interferometry/bli-resources/optimizing-kinetics-assays-to-avoid-avidity-application-note), [epitope binning](https://www.sartorius.com/en/products/biolayer-interferometry/bli-resources/octet-cross-competition-epitope-binning-assays). Suitable association/dissociation curves can yield kon, koff and derived KD. Valency, orientation, surface density and non-specific binding affect interpretation. Competition binning is not atomic-resolution mapping.</a:t>
            </a:r>
          </a:p>
          <a:p xmlns:a="http://schemas.openxmlformats.org/drawingml/2006/main">
            <a:r>
              <a:t/>
            </a:r>
          </a:p>
          <a:p xmlns:a="http://schemas.openxmlformats.org/drawingml/2006/main">
            <a:r>
              <a:t>5. **ACROBiosystems.** The [AIDD-Ready / CHO-Direct offering](https://www.acrobiosystems.com/aix/aidd-ready-solutions) describes expression quantification, BLI screening, optional ELISA, flow, epitope binning and early functional assays, linked to deeper characterization and model iteration. Its [service portfolio](https://www.acrobiosystems.com/services) also lists SPR/BLI, cell customization and functional testing. This establishes a product/service offering, not order volume, realized AI revenue, margin or a Ginkgo supplier relationship.</a:t>
            </a:r>
          </a:p>
          <a:p xmlns:a="http://schemas.openxmlformats.org/drawingml/2006/main">
            <a:r>
              <a:t/>
            </a:r>
          </a:p>
          <a:p xmlns:a="http://schemas.openxmlformats.org/drawingml/2006/main">
            <a:r>
              <a:t>6. **NanoMicro and NanoChrom.** [NanoMicro's official annual-report discussion](https://www.nanomicro.com/news/company/76) describes chromatography media, NanoChrom columns, Fuli analytical instruments and Sepure purification systems. The [NanoChrom SEC catalogue](https://www.nanochrom.com.cn/products_1/?ext_fenlimoshi=SEC&amp;show=selectproductlist) lists SEC and biological-separation products. Analytical exposure is assessed separately from industrial production resins. No Ginkgo supply relationship was verified.</a:t>
            </a:r>
          </a:p>
          <a:p xmlns:a="http://schemas.openxmlformats.org/drawingml/2006/main">
            <a:r>
              <a:t/>
            </a:r>
          </a:p>
          <a:p xmlns:a="http://schemas.openxmlformats.org/drawingml/2006/main">
            <a:r>
              <a:t>## The nine labels</a:t>
            </a:r>
          </a:p>
          <a:p xmlns:a="http://schemas.openxmlformats.org/drawingml/2006/main">
            <a:r>
              <a:t/>
            </a:r>
          </a:p>
          <a:p xmlns:a="http://schemas.openxmlformats.org/drawingml/2006/main">
            <a:r>
              <a:t>| Label | Useful measurement/context | Value | Interpretation limit |</a:t>
            </a:r>
          </a:p>
          <a:p xmlns:a="http://schemas.openxmlformats.org/drawingml/2006/main">
            <a:r>
              <a:t>|---|---|---|---|</a:t>
            </a:r>
          </a:p>
          <a:p xmlns:a="http://schemas.openxmlformats.org/drawingml/2006/main">
            <a:r>
              <a:t>| KD | Equilibrium dissociation constant, M/nM; model and temperature | Affinity under defined conditions | Lower KD does not automatically imply better cell or clinical activity; multivalent systems can yield apparent avidity |</a:t>
            </a:r>
          </a:p>
          <a:p xmlns:a="http://schemas.openxmlformats.org/drawingml/2006/main">
            <a:r>
              <a:t>| kon | Association rate constant, M^-1 s^-1 | Formation kinetics of a binding complex | Not directly the speed of clinical onset |</a:t>
            </a:r>
          </a:p>
          <a:p xmlns:a="http://schemas.openxmlformats.org/drawingml/2006/main">
            <a:r>
              <a:t>| koff | Dissociation rate constant, s^-1 | Dissociation kinetics; ideal 1:1 residence time is 1/koff | Residence time is not serum half-life; superiority to KD for efficacy prediction is context-dependent |</a:t>
            </a:r>
          </a:p>
          <a:p xmlns:a="http://schemas.openxmlformats.org/drawingml/2006/main">
            <a:r>
              <a:t>| Expression | Titer mg/L, host, culture/transfection conditions and recovery | Sample supply and production feasibility | Transient expression is not stable-cell-line commercial productivity |</a:t>
            </a:r>
          </a:p>
          <a:p xmlns:a="http://schemas.openxmlformats.org/drawingml/2006/main">
            <a:r>
              <a:t>| Tm | Thermal transition midpoint, degrees C; domain, buffer and ramp rate | Thermal stability risk | Not directly shelf life or in-vivo half-life; full IgGs can have multiple transitions |</a:t>
            </a:r>
          </a:p>
          <a:p xmlns:a="http://schemas.openxmlformats.org/drawingml/2006/main">
            <a:r>
              <a:t>| Aggregation | SEC monomer/high-molecular-weight fraction, DLS or other methods; concentration/stress | Formulation and potential immunogenicity risk | Not a clinical immunogenicity probability; self-association is not identical to aggregation |</a:t>
            </a:r>
          </a:p>
          <a:p xmlns:a="http://schemas.openxmlformats.org/drawingml/2006/main">
            <a:r>
              <a:t>| Polyreactivity | Binding to defined non-target materials, with assay/reagent context | Non-specific binding, clearance and developability risk | No universal level guarantees clinical failure |</a:t>
            </a:r>
          </a:p>
          <a:p xmlns:a="http://schemas.openxmlformats.org/drawingml/2006/main">
            <a:r>
              <a:t>| Epitope | Competition bin, residues or structure, with method | Binding location and potential mechanism | A competition bin is not a precise structural epitope; location alone does not establish function |</a:t>
            </a:r>
          </a:p>
          <a:p xmlns:a="http://schemas.openxmlformats.org/drawingml/2006/main">
            <a:r>
              <a:t>| Cell potency | EC50/IC50, Emax, cell model, target level and incubation | Functional performance in a relevant cellular system | Does not replace in-vivo efficacy, PK/PD, toxicology or clinical evidence |</a:t>
            </a:r>
          </a:p>
          <a:p xmlns:a="http://schemas.openxmlformats.org/drawingml/2006/main">
            <a:r>
              <a:t/>
            </a:r>
          </a:p>
          <a:p xmlns:a="http://schemas.openxmlformats.org/drawingml/2006/main">
            <a:r>
              <a:t>For a simple reversible 1:1 model, KD = koff / kon. These quantities are not three independent degrees of freedom or necessarily three experiments. Nine labels are not a complete developability checklist: viscosity, solubility, chemical stability, glycosylation, FcRn-related behavior and immunogenicity can also matter.</a:t>
            </a:r>
          </a:p>
          <a:p xmlns:a="http://schemas.openxmlformats.org/drawingml/2006/main">
            <a:r>
              <a:t/>
            </a:r>
          </a:p>
          <a:p xmlns:a="http://schemas.openxmlformats.org/drawingml/2006/main">
            <a:r>
              <a:t>## Data quality and incremental purchases</a:t>
            </a:r>
          </a:p>
          <a:p xmlns:a="http://schemas.openxmlformats.org/drawingml/2006/main">
            <a:r>
              <a:t/>
            </a:r>
          </a:p>
          <a:p xmlns:a="http://schemas.openxmlformats.org/drawingml/2006/main">
            <a:r>
              <a:t>Link sequence and molecular format to target, assay, conditions, batch and replicate. Retain raw curves, concentration series, controls, detection limits, QC and failures. Missing measurements must not become negative labels.</a:t>
            </a:r>
          </a:p>
          <a:p xmlns:a="http://schemas.openxmlformats.org/drawingml/2006/main">
            <a:r>
              <a:t/>
            </a:r>
          </a:p>
          <a:p xmlns:a="http://schemas.openxmlformats.org/drawingml/2006/main">
            <a:r>
              <a:t>Recurring LST purchases can be approximated by summing workflow executions × net purchased inputs per run × ASP. Executions include controls, repeats and multiple conditions. Net inputs reflect miniaturization, shared samples and reuse. Construction, expression and purification prepare shared samples and must not be counted afresh for every label. Instrument CAPEX, maintenance and service costs need separate models. A platform's service revenue and its own reagent purchases must not both enter the same terminal-procurement TAM.</a:t>
            </a:r>
          </a:p>
          <a:p xmlns:a="http://schemas.openxmlformats.org/drawingml/2006/main">
            <a:r>
              <a:t/>
            </a:r>
          </a:p>
          <a:p xmlns:a="http://schemas.openxmlformats.org/drawingml/2006/main">
            <a:r>
              <a:t>With unchanged assay mix, net consumption and pricing, reducing measured molecules from 1,000 to 300 requires more than 3.33 times the cost-weighted characterization intensity per molecule for purchases to rise. Nine fields do not automatically meet that condition. The 1,000 and 300–1,000 counts are supplied illustrations, not history or forecasts.</a:t>
            </a:r>
          </a:p>
          <a:p xmlns:a="http://schemas.openxmlformats.org/drawingml/2006/main">
            <a:r>
              <a:t/>
            </a:r>
          </a:p>
          <a:p xmlns:a="http://schemas.openxmlformats.org/drawingml/2006/main">
            <a:r>
              <a:t>Potential funding channels include pharma R&amp;D budgets, financed AI-biotech programs, platform/data-generation contracts and public research budgets. This is a channel inference; no financing or purchasing amount is assumed. Watch paid assay orders, repeat purchases, actual procurement lists and equipment utilization.</a:t>
            </a:r>
          </a:p>
          <a:p xmlns:a="http://schemas.openxmlformats.org/drawingml/2006/main">
            <a:r>
              <a:t/>
            </a:r>
          </a:p>
          <a:p xmlns:a="http://schemas.openxmlformats.org/drawingml/2006/main">
            <a:r>
              <a:t>## The two suppliers</a:t>
            </a:r>
          </a:p>
          <a:p xmlns:a="http://schemas.openxmlformats.org/drawingml/2006/main">
            <a:r>
              <a:t/>
            </a:r>
          </a:p>
          <a:p xmlns:a="http://schemas.openxmlformats.org/drawingml/2006/main">
            <a:r>
              <a:t>ACROBiosystems has target proteins, functional cells, assay products and characterization services as direct entry points, with an official AI-workflow offering visible. Verify paid orders, repeat usage, external procurement versus self-production and gross profit per workflow. When customers express their own antibodies, their full production activity cannot be assigned to ACRO sales.</a:t>
            </a:r>
          </a:p>
          <a:p xmlns:a="http://schemas.openxmlformats.org/drawingml/2006/main">
            <a:r>
              <a:t/>
            </a:r>
          </a:p>
          <a:p xmlns:a="http://schemas.openxmlformats.org/drawingml/2006/main">
            <a:r>
              <a:t>For NanoMicro, initially watch analytical characterization, lab purification and related instruments, with manufacturing resins as a later pathway. Columns can be reused: sample runs translate into column sales through column life, methods, installed base, ASP and supplier share. Industrial resins still depend on pipeline progression, manufacturing batches and commercial output. Neither company has evidence here of ninefold revenue from nine labels.</a:t>
            </a:r>
          </a:p>
          <a:p xmlns:a="http://schemas.openxmlformats.org/drawingml/2006/main">
            <a:r>
              <a:t/>
            </a:r>
          </a:p>
          <a:p xmlns:a="http://schemas.openxmlformats.org/drawingml/2006/main">
            <a:r>
              <a:t>## Figure interpretation and assets</a:t>
            </a:r>
          </a:p>
          <a:p xmlns:a="http://schemas.openxmlformats.org/drawingml/2006/main">
            <a:r>
              <a:t/>
            </a:r>
          </a:p>
          <a:p xmlns:a="http://schemas.openxmlformats.org/drawingml/2006/main">
            <a:r>
              <a:t>Figure 13 is a coverage schematic: solid dot = measured label; hollow dot = KD derived from shared kinetics; dash = unmeasured. Colors do not encode performance. Figure 14 maps properties to workflows and procurement. Original Lucide SVG icons use the [ISC license](https://github.com/lucide-icons/lucide). No company logos or paper figures are reproduced.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14: Experimental data density and the LST ecosystem</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AI antibody research: molecule throughput and experimental data density</a:t>
            </a:r>
          </a:p>
          <a:p xmlns:a="http://schemas.openxmlformats.org/drawingml/2006/main">
            <a:r>
              <a:t/>
            </a:r>
          </a:p>
          <a:p xmlns:a="http://schemas.openxmlformats.org/drawingml/2006/main">
            <a:r>
              <a:t>Evidence checked on 13 October 2026. The two English figures describe a mechanism and an investment hypothesis. They do not estimate incremental TAM, realized AI revenue or stock returns. Comparison counts are illustrative.</a:t>
            </a:r>
          </a:p>
          <a:p xmlns:a="http://schemas.openxmlformats.org/drawingml/2006/main">
            <a:r>
              <a:t/>
            </a:r>
          </a:p>
          <a:p xmlns:a="http://schemas.openxmlformats.org/drawingml/2006/main">
            <a:r>
              <a:t>## Conclusion and its limits</a:t>
            </a:r>
          </a:p>
          <a:p xmlns:a="http://schemas.openxmlformats.org/drawingml/2006/main">
            <a:r>
              <a:t/>
            </a:r>
          </a:p>
          <a:p xmlns:a="http://schemas.openxmlformats.org/drawingml/2006/main">
            <a:r>
              <a:t>Experiments can support both today's candidate selection and a reusable training dataset for future projects. Stage 0 describes this continuing biological-data production function across training, design, validation and iteration; it is not necessarily a one-time step before design.</a:t>
            </a:r>
          </a:p>
          <a:p xmlns:a="http://schemas.openxmlformats.org/drawingml/2006/main">
            <a:r>
              <a:t/>
            </a:r>
          </a:p>
          <a:p xmlns:a="http://schemas.openxmlformats.org/drawingml/2006/main">
            <a:r>
              <a:t>Data insufficiency can mean incomplete property coverage, incompatible assay conditions, limited sequence/target/format diversity, or data that cannot be accessed or licensed. Cleaning or licensing existing records can improve modeling without new experiments. Active learning can prioritize fewer informative measurements. Stage 0 is an evidenced demand channel, with uncertain net spending and supplier revenue.</a:t>
            </a:r>
          </a:p>
          <a:p xmlns:a="http://schemas.openxmlformats.org/drawingml/2006/main">
            <a:r>
              <a:t/>
            </a:r>
          </a:p>
          <a:p xmlns:a="http://schemas.openxmlformats.org/drawingml/2006/main">
            <a:r>
              <a:t>## Primary evidence</a:t>
            </a:r>
          </a:p>
          <a:p xmlns:a="http://schemas.openxmlformats.org/drawingml/2006/main">
            <a:r>
              <a:t/>
            </a:r>
          </a:p>
          <a:p xmlns:a="http://schemas.openxmlformats.org/drawingml/2006/main">
            <a:r>
              <a:t>1. **Jain et al., PNAS, 2017.** [Paper](https://pmc.ncbi.nlm.nih.gov/articles/PMC5293111/), DOI 10.1073/pnas.1616408114. The authors expressed 137 advanced clinical-stage antibody sequences on a common IgG1 scaffold and assessed 12 biophysical assays. Multi-property characterization predates the current AI wave. Some approved antibodies still triggered developability warnings; a single risk metric is not a universal clinical veto. The experimental scaffold differs from exact drug formats.</a:t>
            </a:r>
          </a:p>
          <a:p xmlns:a="http://schemas.openxmlformats.org/drawingml/2006/main">
            <a:r>
              <a:t/>
            </a:r>
          </a:p>
          <a:p xmlns:a="http://schemas.openxmlformats.org/drawingml/2006/main">
            <a:r>
              <a:t>2. **Arsiwala et al., mAbs, 2025.** [Paper](https://pmc.ncbi.nlm.nih.gov/articles/PMC12674332/), DOI 10.1080/19420862.2025.2593055. PROPHET-Ab was built for standardized model-training data. The paper reports 246 IgGs and ten developability assay types, with incomplete coverage for some assays; DLS-kD covered ten IgGs. Methods include titer, CE-SDS, SEC, nanoDSF/DSF, HIC, SMAC, AC-SINS, DLS-kD, heparin-affinity chromatography and polyreactivity. This differs from our nine labels and does not supply all target-specific binding kinetics, precise epitopes or cell potency. The PMC page triggered a verification challenge; full text was checked through [Europe PMC original-article XML](https://www.ebi.ac.uk/europepmc/webservices/rest/PMC12674332/fullTextXML).</a:t>
            </a:r>
          </a:p>
          <a:p xmlns:a="http://schemas.openxmlformats.org/drawingml/2006/main">
            <a:r>
              <a:t/>
            </a:r>
          </a:p>
          <a:p xmlns:a="http://schemas.openxmlformats.org/drawingml/2006/main">
            <a:r>
              <a:t>3. **van Niekerk et al., mAbs, 2026.** [Paper abstract](https://www.tandfonline.com/doi/abs/10.1080/19420862.2026.2634216), DOI 10.1080/19420862.2026.2634216. The 2025 competition used 246 clinical antibodies for public training and 80 for blinded testing, with 113 teams. Best test-set Spearman correlations were:</a:t>
            </a:r>
          </a:p>
          <a:p xmlns:a="http://schemas.openxmlformats.org/drawingml/2006/main">
            <a:r>
              <a:t/>
            </a:r>
          </a:p>
          <a:p xmlns:a="http://schemas.openxmlformats.org/drawingml/2006/main">
            <a:r>
              <a:t>| Property | Best test-set Spearman rho |</a:t>
            </a:r>
          </a:p>
          <a:p xmlns:a="http://schemas.openxmlformats.org/drawingml/2006/main">
            <a:r>
              <a:t>|---|---:|</a:t>
            </a:r>
          </a:p>
          <a:p xmlns:a="http://schemas.openxmlformats.org/drawingml/2006/main">
            <a:r>
              <a:t>| Hydrophobicity | 0.708 |</a:t>
            </a:r>
          </a:p>
          <a:p xmlns:a="http://schemas.openxmlformats.org/drawingml/2006/main">
            <a:r>
              <a:t>| Thermostability | 0.392 |</a:t>
            </a:r>
          </a:p>
          <a:p xmlns:a="http://schemas.openxmlformats.org/drawingml/2006/main">
            <a:r>
              <a:t>| Polyreactivity | 0.356 |</a:t>
            </a:r>
          </a:p>
          <a:p xmlns:a="http://schemas.openxmlformats.org/drawingml/2006/main">
            <a:r>
              <a:t>| Self-association | 0.337 |</a:t>
            </a:r>
          </a:p>
          <a:p xmlns:a="http://schemas.openxmlformats.org/drawingml/2006/main">
            <a:r>
              <a:t>| Expression titer | 0.310 |</a:t>
            </a:r>
          </a:p>
          <a:p xmlns:a="http://schemas.openxmlformats.org/drawingml/2006/main">
            <a:r>
              <a:t/>
            </a:r>
          </a:p>
          <a:p xmlns:a="http://schemas.openxmlformats.org/drawingml/2006/main">
            <a:r>
              <a:t>Winners differed by assay. These are rank correlations, not accuracies or the performance of one model across all tasks. They support a problem of small, heterogeneous datasets and limited generalization, not a claim that extra label columns alone solve it.</a:t>
            </a:r>
          </a:p>
          <a:p xmlns:a="http://schemas.openxmlformats.org/drawingml/2006/main">
            <a:r>
              <a:t/>
            </a:r>
          </a:p>
          <a:p xmlns:a="http://schemas.openxmlformats.org/drawingml/2006/main">
            <a:r>
              <a:t>4. **Sartorius assay references.** [Kinetics and affinity white paper](https://www.sartorius.com/resource/blob/756208/2db1b53c5a53af4003bbd12ecfaaea24/streamlining-affinity-analysis-for-accelerated-lead-screening-white-paper-en-sartorius-data.pdf), [BLI platform](https://www.sartorius.com/en/products/biolayer-interferometry), [avoiding avidity](https://www.sartorius.com/en/products/biolayer-interferometry/bli-resources/optimizing-kinetics-assays-to-avoid-avidity-application-note), [epitope binning](https://www.sartorius.com/en/products/biolayer-interferometry/bli-resources/octet-cross-competition-epitope-binning-assays). Suitable association/dissociation curves can yield kon, koff and derived KD. Valency, orientation, surface density and non-specific binding affect interpretation. Competition binning is not atomic-resolution mapping.</a:t>
            </a:r>
          </a:p>
          <a:p xmlns:a="http://schemas.openxmlformats.org/drawingml/2006/main">
            <a:r>
              <a:t/>
            </a:r>
          </a:p>
          <a:p xmlns:a="http://schemas.openxmlformats.org/drawingml/2006/main">
            <a:r>
              <a:t>5. **ACROBiosystems.** The [AIDD-Ready / CHO-Direct offering](https://www.acrobiosystems.com/aix/aidd-ready-solutions) describes expression quantification, BLI screening, optional ELISA, flow, epitope binning and early functional assays, linked to deeper characterization and model iteration. Its [service portfolio](https://www.acrobiosystems.com/services) also lists SPR/BLI, cell customization and functional testing. This establishes a product/service offering, not order volume, realized AI revenue, margin or a Ginkgo supplier relationship.</a:t>
            </a:r>
          </a:p>
          <a:p xmlns:a="http://schemas.openxmlformats.org/drawingml/2006/main">
            <a:r>
              <a:t/>
            </a:r>
          </a:p>
          <a:p xmlns:a="http://schemas.openxmlformats.org/drawingml/2006/main">
            <a:r>
              <a:t>6. **NanoMicro and NanoChrom.** [NanoMicro's official annual-report discussion](https://www.nanomicro.com/news/company/76) describes chromatography media, NanoChrom columns, Fuli analytical instruments and Sepure purification systems. The [NanoChrom SEC catalogue](https://www.nanochrom.com.cn/products_1/?ext_fenlimoshi=SEC&amp;show=selectproductlist) lists SEC and biological-separation products. Analytical exposure is assessed separately from industrial production resins. No Ginkgo supply relationship was verified.</a:t>
            </a:r>
          </a:p>
          <a:p xmlns:a="http://schemas.openxmlformats.org/drawingml/2006/main">
            <a:r>
              <a:t/>
            </a:r>
          </a:p>
          <a:p xmlns:a="http://schemas.openxmlformats.org/drawingml/2006/main">
            <a:r>
              <a:t>## The nine labels</a:t>
            </a:r>
          </a:p>
          <a:p xmlns:a="http://schemas.openxmlformats.org/drawingml/2006/main">
            <a:r>
              <a:t/>
            </a:r>
          </a:p>
          <a:p xmlns:a="http://schemas.openxmlformats.org/drawingml/2006/main">
            <a:r>
              <a:t>| Label | Useful measurement/context | Value | Interpretation limit |</a:t>
            </a:r>
          </a:p>
          <a:p xmlns:a="http://schemas.openxmlformats.org/drawingml/2006/main">
            <a:r>
              <a:t>|---|---|---|---|</a:t>
            </a:r>
          </a:p>
          <a:p xmlns:a="http://schemas.openxmlformats.org/drawingml/2006/main">
            <a:r>
              <a:t>| KD | Equilibrium dissociation constant, M/nM; model and temperature | Affinity under defined conditions | Lower KD does not automatically imply better cell or clinical activity; multivalent systems can yield apparent avidity |</a:t>
            </a:r>
          </a:p>
          <a:p xmlns:a="http://schemas.openxmlformats.org/drawingml/2006/main">
            <a:r>
              <a:t>| kon | Association rate constant, M^-1 s^-1 | Formation kinetics of a binding complex | Not directly the speed of clinical onset |</a:t>
            </a:r>
          </a:p>
          <a:p xmlns:a="http://schemas.openxmlformats.org/drawingml/2006/main">
            <a:r>
              <a:t>| koff | Dissociation rate constant, s^-1 | Dissociation kinetics; ideal 1:1 residence time is 1/koff | Residence time is not serum half-life; superiority to KD for efficacy prediction is context-dependent |</a:t>
            </a:r>
          </a:p>
          <a:p xmlns:a="http://schemas.openxmlformats.org/drawingml/2006/main">
            <a:r>
              <a:t>| Expression | Titer mg/L, host, culture/transfection conditions and recovery | Sample supply and production feasibility | Transient expression is not stable-cell-line commercial productivity |</a:t>
            </a:r>
          </a:p>
          <a:p xmlns:a="http://schemas.openxmlformats.org/drawingml/2006/main">
            <a:r>
              <a:t>| Tm | Thermal transition midpoint, degrees C; domain, buffer and ramp rate | Thermal stability risk | Not directly shelf life or in-vivo half-life; full IgGs can have multiple transitions |</a:t>
            </a:r>
          </a:p>
          <a:p xmlns:a="http://schemas.openxmlformats.org/drawingml/2006/main">
            <a:r>
              <a:t>| Aggregation | SEC monomer/high-molecular-weight fraction, DLS or other methods; concentration/stress | Formulation and potential immunogenicity risk | Not a clinical immunogenicity probability; self-association is not identical to aggregation |</a:t>
            </a:r>
          </a:p>
          <a:p xmlns:a="http://schemas.openxmlformats.org/drawingml/2006/main">
            <a:r>
              <a:t>| Polyreactivity | Binding to defined non-target materials, with assay/reagent context | Non-specific binding, clearance and developability risk | No universal level guarantees clinical failure |</a:t>
            </a:r>
          </a:p>
          <a:p xmlns:a="http://schemas.openxmlformats.org/drawingml/2006/main">
            <a:r>
              <a:t>| Epitope | Competition bin, residues or structure, with method | Binding location and potential mechanism | A competition bin is not a precise structural epitope; location alone does not establish function |</a:t>
            </a:r>
          </a:p>
          <a:p xmlns:a="http://schemas.openxmlformats.org/drawingml/2006/main">
            <a:r>
              <a:t>| Cell potency | EC50/IC50, Emax, cell model, target level and incubation | Functional performance in a relevant cellular system | Does not replace in-vivo efficacy, PK/PD, toxicology or clinical evidence |</a:t>
            </a:r>
          </a:p>
          <a:p xmlns:a="http://schemas.openxmlformats.org/drawingml/2006/main">
            <a:r>
              <a:t/>
            </a:r>
          </a:p>
          <a:p xmlns:a="http://schemas.openxmlformats.org/drawingml/2006/main">
            <a:r>
              <a:t>For a simple reversible 1:1 model, KD = koff / kon. These quantities are not three independent degrees of freedom or necessarily three experiments. Nine labels are not a complete developability checklist: viscosity, solubility, chemical stability, glycosylation, FcRn-related behavior and immunogenicity can also matter.</a:t>
            </a:r>
          </a:p>
          <a:p xmlns:a="http://schemas.openxmlformats.org/drawingml/2006/main">
            <a:r>
              <a:t/>
            </a:r>
          </a:p>
          <a:p xmlns:a="http://schemas.openxmlformats.org/drawingml/2006/main">
            <a:r>
              <a:t>## Data quality and incremental purchases</a:t>
            </a:r>
          </a:p>
          <a:p xmlns:a="http://schemas.openxmlformats.org/drawingml/2006/main">
            <a:r>
              <a:t/>
            </a:r>
          </a:p>
          <a:p xmlns:a="http://schemas.openxmlformats.org/drawingml/2006/main">
            <a:r>
              <a:t>Link sequence and molecular format to target, assay, conditions, batch and replicate. Retain raw curves, concentration series, controls, detection limits, QC and failures. Missing measurements must not become negative labels.</a:t>
            </a:r>
          </a:p>
          <a:p xmlns:a="http://schemas.openxmlformats.org/drawingml/2006/main">
            <a:r>
              <a:t/>
            </a:r>
          </a:p>
          <a:p xmlns:a="http://schemas.openxmlformats.org/drawingml/2006/main">
            <a:r>
              <a:t>Recurring LST purchases can be approximated by summing workflow executions × net purchased inputs per run × ASP. Executions include controls, repeats and multiple conditions. Net inputs reflect miniaturization, shared samples and reuse. Construction, expression and purification prepare shared samples and must not be counted afresh for every label. Instrument CAPEX, maintenance and service costs need separate models. A platform's service revenue and its own reagent purchases must not both enter the same terminal-procurement TAM.</a:t>
            </a:r>
          </a:p>
          <a:p xmlns:a="http://schemas.openxmlformats.org/drawingml/2006/main">
            <a:r>
              <a:t/>
            </a:r>
          </a:p>
          <a:p xmlns:a="http://schemas.openxmlformats.org/drawingml/2006/main">
            <a:r>
              <a:t>With unchanged assay mix, net consumption and pricing, reducing measured molecules from 1,000 to 300 requires more than 3.33 times the cost-weighted characterization intensity per molecule for purchases to rise. Nine fields do not automatically meet that condition. The 1,000 and 300–1,000 counts are supplied illustrations, not history or forecasts.</a:t>
            </a:r>
          </a:p>
          <a:p xmlns:a="http://schemas.openxmlformats.org/drawingml/2006/main">
            <a:r>
              <a:t/>
            </a:r>
          </a:p>
          <a:p xmlns:a="http://schemas.openxmlformats.org/drawingml/2006/main">
            <a:r>
              <a:t>Potential funding channels include pharma R&amp;D budgets, financed AI-biotech programs, platform/data-generation contracts and public research budgets. This is a channel inference; no financing or purchasing amount is assumed. Watch paid assay orders, repeat purchases, actual procurement lists and equipment utilization.</a:t>
            </a:r>
          </a:p>
          <a:p xmlns:a="http://schemas.openxmlformats.org/drawingml/2006/main">
            <a:r>
              <a:t/>
            </a:r>
          </a:p>
          <a:p xmlns:a="http://schemas.openxmlformats.org/drawingml/2006/main">
            <a:r>
              <a:t>## The two suppliers</a:t>
            </a:r>
          </a:p>
          <a:p xmlns:a="http://schemas.openxmlformats.org/drawingml/2006/main">
            <a:r>
              <a:t/>
            </a:r>
          </a:p>
          <a:p xmlns:a="http://schemas.openxmlformats.org/drawingml/2006/main">
            <a:r>
              <a:t>ACROBiosystems has target proteins, functional cells, assay products and characterization services as direct entry points, with an official AI-workflow offering visible. Verify paid orders, repeat usage, external procurement versus self-production and gross profit per workflow. When customers express their own antibodies, their full production activity cannot be assigned to ACRO sales.</a:t>
            </a:r>
          </a:p>
          <a:p xmlns:a="http://schemas.openxmlformats.org/drawingml/2006/main">
            <a:r>
              <a:t/>
            </a:r>
          </a:p>
          <a:p xmlns:a="http://schemas.openxmlformats.org/drawingml/2006/main">
            <a:r>
              <a:t>For NanoMicro, initially watch analytical characterization, lab purification and related instruments, with manufacturing resins as a later pathway. Columns can be reused: sample runs translate into column sales through column life, methods, installed base, ASP and supplier share. Industrial resins still depend on pipeline progression, manufacturing batches and commercial output. Neither company has evidence here of ninefold revenue from nine labels.</a:t>
            </a:r>
          </a:p>
          <a:p xmlns:a="http://schemas.openxmlformats.org/drawingml/2006/main">
            <a:r>
              <a:t/>
            </a:r>
          </a:p>
          <a:p xmlns:a="http://schemas.openxmlformats.org/drawingml/2006/main">
            <a:r>
              <a:t>## Figure interpretation and assets</a:t>
            </a:r>
          </a:p>
          <a:p xmlns:a="http://schemas.openxmlformats.org/drawingml/2006/main">
            <a:r>
              <a:t/>
            </a:r>
          </a:p>
          <a:p xmlns:a="http://schemas.openxmlformats.org/drawingml/2006/main">
            <a:r>
              <a:t>Figure 13 is a coverage schematic: solid dot = measured label; hollow dot = KD derived from shared kinetics; dash = unmeasured. Colors do not encode performance. Figure 14 maps properties to workflows and procurement. Original Lucide SVG icons use the [ISC license](https://github.com/lucide-icons/lucide). No company logos or paper figures are reproduced.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15: Typical protein / antibody screening workflow</a:t>
            </a:r>
          </a:p>
          <a:p xmlns:a="http://schemas.openxmlformats.org/drawingml/2006/main">
            <a:r>
              <a:t>Evidence status: Framework</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Protein / antibody screening workflow</a:t>
            </a:r>
          </a:p>
          <a:p xmlns:a="http://schemas.openxmlformats.org/drawingml/2006/main">
            <a:r>
              <a:t/>
            </a:r>
          </a:p>
          <a:p xmlns:a="http://schemas.openxmlformats.org/drawingml/2006/main">
            <a:r>
              <a:t>Figure 15. English infographic. Prepared 13 October 2026.</a:t>
            </a:r>
          </a:p>
          <a:p xmlns:a="http://schemas.openxmlformats.org/drawingml/2006/main">
            <a:r>
              <a:t/>
            </a:r>
          </a:p>
          <a:p xmlns:a="http://schemas.openxmlformats.org/drawingml/2006/main">
            <a:r>
              <a:t>## Scope and interpretation</a:t>
            </a:r>
          </a:p>
          <a:p xmlns:a="http://schemas.openxmlformats.org/drawingml/2006/main">
            <a:r>
              <a:t/>
            </a:r>
          </a:p>
          <a:p xmlns:a="http://schemas.openxmlformats.org/drawingml/2006/main">
            <a:r>
              <a:t>The example follows sequence-defined antibody candidates against a protein target, from DNA constructs to physical samples, binding screens, characterization and cell function. It is a simplified logical workflow, not a mandatory six-step protocol. Target preparation and candidate expression can run in parallel; primary screens can use culture supernatant before full purification. Assays are chosen for the molecule, mechanism and program.</a:t>
            </a:r>
          </a:p>
          <a:p xmlns:a="http://schemas.openxmlformats.org/drawingml/2006/main">
            <a:r>
              <a:t/>
            </a:r>
          </a:p>
          <a:p xmlns:a="http://schemas.openxmlformats.org/drawingml/2006/main">
            <a:r>
              <a:t>Stages 4–5 are highlighted as potential constraints on generating comparable, reproducible multi-property data for AI. This is an analytical hypothesis, not evidence that every program has these bottlenecks or that AI raises realized supplier revenue.</a:t>
            </a:r>
          </a:p>
          <a:p xmlns:a="http://schemas.openxmlformats.org/drawingml/2006/main">
            <a:r>
              <a:t/>
            </a:r>
          </a:p>
          <a:p xmlns:a="http://schemas.openxmlformats.org/drawingml/2006/main">
            <a:r>
              <a:t>KD, kon and koff can come from the same binding experiment and appropriate kinetic model. Expression data originate during production. Epitope competition binning is not atomic-resolution epitope mapping. Stability, aggregation and polyreactivity require different assays; none is implied to be measured by SEC or LC-MS alone. Cell potency is assay-specific and does not establish clinical efficacy. The label panel is a linked record assembled across stages, not nine independent tests.</a:t>
            </a:r>
          </a:p>
          <a:p xmlns:a="http://schemas.openxmlformats.org/drawingml/2006/main">
            <a:r>
              <a:t/>
            </a:r>
          </a:p>
          <a:p xmlns:a="http://schemas.openxmlformats.org/drawingml/2006/main">
            <a:r>
              <a:t>Instrumentation is shown separately from recurring inputs. Chromatography columns may be reused. Culture bags and bioreactors are scale-dependent. Shared sample preparation and shared assay readouts should be counted once in a procurement model. LIMS/ELN and orchestration are software systems. Data infrastructure supports the whole workflow, even though integration is shown as the sixth stage.</a:t>
            </a:r>
          </a:p>
          <a:p xmlns:a="http://schemas.openxmlformats.org/drawingml/2006/main">
            <a:r>
              <a:t/>
            </a:r>
          </a:p>
          <a:p xmlns:a="http://schemas.openxmlformats.org/drawingml/2006/main">
            <a:r>
              <a:t>Supplier lists are selected examples spanning reagents, instruments, consumables or services. A supplier listed beneath a stage is not asserted to supply every item in that stage. This is not a market-share ranking, endorsement or statement about installed systems in one laboratory.</a:t>
            </a:r>
          </a:p>
          <a:p xmlns:a="http://schemas.openxmlformats.org/drawingml/2006/main">
            <a:r>
              <a:t/>
            </a:r>
          </a:p>
          <a:p xmlns:a="http://schemas.openxmlformats.org/drawingml/2006/main">
            <a:r>
              <a:t>## Primary sources supporting the mappings</a:t>
            </a:r>
          </a:p>
          <a:p xmlns:a="http://schemas.openxmlformats.org/drawingml/2006/main">
            <a:r>
              <a:t/>
            </a:r>
          </a:p>
          <a:p xmlns:a="http://schemas.openxmlformats.org/drawingml/2006/main">
            <a:r>
              <a:t>1. [GenScript — antibody production](https://www.genscript.com/custom-antibody-production-services.html?src=home): antibody production and purification services. [Gene-to-antibody workflow](https://www.genscript.com/high-throughput-antibody-purification.html): constructs, expression and purification.</a:t>
            </a:r>
          </a:p>
          <a:p xmlns:a="http://schemas.openxmlformats.org/drawingml/2006/main">
            <a:r>
              <a:t>2. [Twist — gene fragments](https://www.twistbioscience.com/products/genes/fragments): DNA fragments for construct generation. [Multiplexed gene fragments](https://investors.twistbioscience.com/news-releases/news-release-details/twist-bioscience-launches-multiplexed-gene-fragments-enable-high): applications include antibody discovery and protein engineering.</a:t>
            </a:r>
          </a:p>
          <a:p xmlns:a="http://schemas.openxmlformats.org/drawingml/2006/main">
            <a:r>
              <a:t>3. [ACROBiosystems — AIDD-Ready](https://www.acrobiosystems.com/aix/aidd-ready-solutions): target proteins; gene synthesis, CHO expression, expression quantification, binding screening, optional epitope and cell assays. [Services](https://www.acrobiosystems.com/services): protein and cellular services and characterization.</a:t>
            </a:r>
          </a:p>
          <a:p xmlns:a="http://schemas.openxmlformats.org/drawingml/2006/main">
            <a:r>
              <a:t>4. [Cytiva — antibody purification handbook](https://cdn.cytivalifesciences.com/api/public/content/digi-26798-pdf): antibody affinity purification and chromatography choices. [Handbooks](https://www.cytivalifesciences.com/en/us/support/handbooks): laboratory protein purification. ÄKTA is a Cytiva instrument family; FPLC denotes a chromatography technique.</a:t>
            </a:r>
          </a:p>
          <a:p xmlns:a="http://schemas.openxmlformats.org/drawingml/2006/main">
            <a:r>
              <a:t>5. [Sartorius — BLI](https://www.sartorius.com/en/products/biolayer-interferometry): binding kinetics, affinity, concentration, biosensors and epitope binning. [Epitope binning](https://www.sartorius.com/en/products/biolayer-interferometry/bli-resources/octet-cross-competition-epitope-binning-assays): cross-competition assays.</a:t>
            </a:r>
          </a:p>
          <a:p xmlns:a="http://schemas.openxmlformats.org/drawingml/2006/main">
            <a:r>
              <a:t>6. [NanoTemper — Prometheus Panta](https://nanotempertech.com/prometheus-panta/): nanoDSF and scattering measurements for stability and aggregation-related properties. [nanoDSF](https://nanotempertech.com/nanodsf/): thermal unfolding and the distinction between conformational and colloidal stability.</a:t>
            </a:r>
          </a:p>
          <a:p xmlns:a="http://schemas.openxmlformats.org/drawingml/2006/main">
            <a:r>
              <a:t>7. [NanoMicro — company business description](https://www.nanomicro.com/news/company/76): chromatography materials and analytical separation portfolio. [NanoChrom SEC catalog](https://www.nanochrom.com.cn/products_1/?ext_fenlimoshi=SEC&amp;show=selectproductlist): SEC products, previously inspected in the preceding research; not freshly accessible through the web reader on 13 October. NanoMicro exposure here is analytical separation and purification, not an assertion that research-scale assay growth immediately translates into manufacturing resin demand.</a:t>
            </a:r>
          </a:p>
          <a:p xmlns:a="http://schemas.openxmlformats.org/drawingml/2006/main">
            <a:r>
              <a:t>8. [Molecular Devices — cellular imaging](https://www.moleculardevices.com/products/cellular-imaging-systems): cell imaging platforms. [Antibody binding with high-content imaging](https://www.moleculardevices.com/en/assets/app-note/dd/img/homogeneous-antibody-binding-assays-with-high-content-imaging): cell-surface binding as an example distinct from a complete potency assay.</a:t>
            </a:r>
          </a:p>
          <a:p xmlns:a="http://schemas.openxmlformats.org/drawingml/2006/main">
            <a:r>
              <a:t>9. [Corning — life sciences](https://www.corning.com/worldwide/en/products/life-sciences.html): culture vessels and microplates.</a:t>
            </a:r>
          </a:p>
          <a:p xmlns:a="http://schemas.openxmlformats.org/drawingml/2006/main">
            <a:r>
              <a:t>10. [Waters Biosciences — flow cytometers](https://www.bdbiosciences.com/en-br/products/instruments/flow-cytometers): current portfolio naming. [Waters transaction disclosure](https://www.waters.com/nextgen/us/en/about-waters/corporate-governance/legal-and-privacy-notices/bdtransaction.html): combination with BD's Biosciences &amp; Diagnostic Solutions closed 9 February 2026. The slide therefore labels the former BD Biosciences portfolio as Waters Biosciences (ex-BD).</a:t>
            </a:r>
          </a:p>
          <a:p xmlns:a="http://schemas.openxmlformats.org/drawingml/2006/main">
            <a:r>
              <a:t>11. [Hamilton — applications](https://www.hamiltoncompany.com/applications): liquid handling and protein/cell workflow automation. [Tecan](https://www.tecan.com): liquid handling and laboratory automation.</a:t>
            </a:r>
          </a:p>
          <a:p xmlns:a="http://schemas.openxmlformats.org/drawingml/2006/main">
            <a:r>
              <a:t>12. [Benchling — biopharmaceutical R&amp;D](https://www.benchling.com/solutions/biopharmaceutical): ELN, LIMS and linked data. [Genedata Biologics](https://www.genedata.com/platform/biologics): molecule/sample tracking, screening records and characterization data.</a:t>
            </a:r>
          </a:p>
          <a:p xmlns:a="http://schemas.openxmlformats.org/drawingml/2006/main">
            <a:r>
              <a:t/>
            </a:r>
          </a:p>
          <a:p xmlns:a="http://schemas.openxmlformats.org/drawingml/2006/main">
            <a:r>
              <a:t>Additional suppliers from the user's requested representative set are included as company-name examples consistent with their established product families: Tsingke and Vazyme (construction reagents/services); Thermo Fisher and Gibco (instruments, reagents and media); Sino Biological and Bioss (proteins/antibodies); OPM and Duoning (culture/bioprocess inputs); Waters, Agilent and Sepax (analytical separation); Bio-Techne (proteins and cellular assay reagents); JET Biofil (labware). Individual stock-keeping units are not specified.</a:t>
            </a:r>
          </a:p>
          <a:p xmlns:a="http://schemas.openxmlformats.org/drawingml/2006/main">
            <a:r>
              <a:t/>
            </a:r>
          </a:p>
          <a:p xmlns:a="http://schemas.openxmlformats.org/drawingml/2006/main">
            <a:r>
              <a:t>## Original visual assets</a:t>
            </a:r>
          </a:p>
          <a:p xmlns:a="http://schemas.openxmlformats.org/drawingml/2006/main">
            <a:r>
              <a:t/>
            </a:r>
          </a:p>
          <a:p xmlns:a="http://schemas.openxmlformats.org/drawingml/2006/main">
            <a:r>
              <a:t>Original artwork is embedded without redrawing, with aspect ratios preserved. Whitespace-trimmed versions already exist in this project's asset library. Company-name text labels are editable native text; original logo artwork remains an image. Logos remain images in the PowerPoint; all diagram text, frames and arrows are native editable objects.</a:t>
            </a:r>
          </a:p>
          <a:p xmlns:a="http://schemas.openxmlformats.org/drawingml/2006/main">
            <a:r>
              <a:t/>
            </a:r>
          </a:p>
          <a:p xmlns:a="http://schemas.openxmlformats.org/drawingml/2006/main">
            <a:r>
              <a:t>- Twist: https://www.twistbioscience.com/content/dam/twist-aem-migration/twist-home-logo.svg</a:t>
            </a:r>
          </a:p>
          <a:p xmlns:a="http://schemas.openxmlformats.org/drawingml/2006/main">
            <a:r>
              <a:t>- GenScript: https://www.genscript.com/gsimages/logo.jpg</a:t>
            </a:r>
          </a:p>
          <a:p xmlns:a="http://schemas.openxmlformats.org/drawingml/2006/main">
            <a:r>
              <a:t>- ACROBiosystems: https://console.acrobiosystems.com/public/images/LOGO-download.png</a:t>
            </a:r>
          </a:p>
          <a:p xmlns:a="http://schemas.openxmlformats.org/drawingml/2006/main">
            <a:r>
              <a:t>- Cytiva: https://massbioportalimages.blob.core.windows.net/massbioportalimages/a28b10cf8e90ea11a811000d3a33b4ee/Cytiva%20-%20Copy.png (previously archived logo from MassBio).</a:t>
            </a:r>
          </a:p>
          <a:p xmlns:a="http://schemas.openxmlformats.org/drawingml/2006/main">
            <a:r>
              <a:t>- NanoMicro emblem: https://www.nanomicro.com/Public/Cn/images/com_logo.svg (original emblem with a separate editable English company name).</a:t>
            </a:r>
          </a:p>
          <a:p xmlns:a="http://schemas.openxmlformats.org/drawingml/2006/main">
            <a:r>
              <a:t>- Tecan: https://www.tecan.com/hubfs/page_images/logo.png</a:t>
            </a:r>
          </a:p>
          <a:p xmlns:a="http://schemas.openxmlformats.org/drawingml/2006/main">
            <a:r>
              <a:t>- JET Biofil: https://image.makewebeasy.net/makeweb/m_1920x0/EtyBgz2ZO/Product_Brand/Jet_01.png?v=202012190947 (English original from distributor; previously archived).</a:t>
            </a:r>
          </a:p>
          <a:p xmlns:a="http://schemas.openxmlformats.org/drawingml/2006/main">
            <a:r>
              <a:t>- Lucide icons: https://github.com/lucide-icons/lucide — ISC license. DNA, flask, test tubes, microscope, pipette, database and bot. Icons retain original paths; stroke color is teal for the slide.</a:t>
            </a:r>
          </a:p>
          <a:p xmlns:a="http://schemas.openxmlformats.org/drawingml/2006/main">
            <a:r>
              <a:t/>
            </a:r>
          </a:p>
          <a:p xmlns:a="http://schemas.openxmlformats.org/drawingml/2006/main">
            <a:r>
              <a:t>No market sizes, unit prices, empirical throughput values or company revenue forecasts are introduced in this figure.</a:t>
            </a:r>
          </a:p>
          <a:p xmlns:a="http://schemas.openxmlformats.org/drawingml/2006/main">
            <a:r>
              <a:t/>
            </a:r>
          </a:p>
          <a:p xmlns:a="http://schemas.openxmlformats.org/drawingml/2006/main">
            <a:r>
              <a:t/>
            </a:r>
          </a:p>
          <a:p xmlns:a="http://schemas.openxmlformats.org/drawingml/2006/main">
            <a:r>
              <a:t>Palette updated to the user's eight RGB colors on 13 October 2026. Original company marks retain their brand colors.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16: RSI: AI design and biological validation</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RSI: AI design and biological validation</a:t>
            </a:r>
          </a:p>
          <a:p xmlns:a="http://schemas.openxmlformats.org/drawingml/2006/main">
            <a:r>
              <a:t/>
            </a:r>
          </a:p>
          <a:p xmlns:a="http://schemas.openxmlformats.org/drawingml/2006/main">
            <a:r>
              <a:t>Figure 16. English conceptual diagram. Prepared 13 October 2026.</a:t>
            </a:r>
          </a:p>
          <a:p xmlns:a="http://schemas.openxmlformats.org/drawingml/2006/main">
            <a:r>
              <a:t/>
            </a:r>
          </a:p>
          <a:p xmlns:a="http://schemas.openxmlformats.org/drawingml/2006/main">
            <a:r>
              <a:t>## What the diagram means</a:t>
            </a:r>
          </a:p>
          <a:p xmlns:a="http://schemas.openxmlformats.org/drawingml/2006/main">
            <a:r>
              <a:t/>
            </a:r>
          </a:p>
          <a:p xmlns:a="http://schemas.openxmlformats.org/drawingml/2006/main">
            <a:r>
              <a:t>The user confirmed RSI means **recursive self-improvement**. The figure illustrates a possible biology-grounded improvement loop: an AI model or experimental policy designs experiments; physical construction and biological assays generate evidence; data are curated; the model and/or selection policy are updated and benchmarked before the next cycle. The intended recursive layer improves the system that chooses future experiments, not just the biological candidate.</a:t>
            </a:r>
          </a:p>
          <a:p xmlns:a="http://schemas.openxmlformats.org/drawingml/2006/main">
            <a:r>
              <a:t/>
            </a:r>
          </a:p>
          <a:p xmlns:a="http://schemas.openxmlformats.org/drawingml/2006/main">
            <a:r>
              <a:t>This is a conceptual RSI mechanism, not a claim that autonomous, sustained or exponential RSI has been established in biological R&amp;D. Closing a design–build–test–learn loop is not by itself evidence of RSI. A system may simply reuse a fixed model with new context or improve a biological candidate without improving the model's persistent capability. Those cases need to be distinguished from validated changes to the model or learning policy.</a:t>
            </a:r>
          </a:p>
          <a:p xmlns:a="http://schemas.openxmlformats.org/drawingml/2006/main">
            <a:r>
              <a:t/>
            </a:r>
          </a:p>
          <a:p xmlns:a="http://schemas.openxmlformats.org/drawingml/2006/main">
            <a:r>
              <a:t>Experiments can inform candidate ranking, model learning, selection policies and the choice of the next assay. Promotion of a new model/policy requires controlled evaluation, with independent or held-out experimental evidence, reproducibility and tests of generalization. No specific improvement rate, success probability, cost saving, candidate count or AI revenue is estimated.</a:t>
            </a:r>
          </a:p>
          <a:p xmlns:a="http://schemas.openxmlformats.org/drawingml/2006/main">
            <a:r>
              <a:t/>
            </a:r>
          </a:p>
          <a:p xmlns:a="http://schemas.openxmlformats.org/drawingml/2006/main">
            <a:r>
              <a:t>The LST rail maps the loop to construction, measurement and connected laboratory workflows. The procurement expression is an analyst framework for recurring inputs, not a forecast. Actual purchases depend on funded activity, assay selection, miniaturization, reuse and price; instrument capital expenditure and services require separate accounting.</a:t>
            </a:r>
          </a:p>
          <a:p xmlns:a="http://schemas.openxmlformats.org/drawingml/2006/main">
            <a:r>
              <a:t/>
            </a:r>
          </a:p>
          <a:p xmlns:a="http://schemas.openxmlformats.org/drawingml/2006/main">
            <a:r>
              <a:t>## Primary sources</a:t>
            </a:r>
          </a:p>
          <a:p xmlns:a="http://schemas.openxmlformats.org/drawingml/2006/main">
            <a:r>
              <a:t/>
            </a:r>
          </a:p>
          <a:p xmlns:a="http://schemas.openxmlformats.org/drawingml/2006/main">
            <a:r>
              <a:t>1. [Self-driving laboratories to autonomously navigate the protein fitness landscape — Nature Chemical Engineering](https://www.nature.com/articles/s44286-023-00002-4). The reported system connects designed protein sequences to automated construction/expression/characterization and uses the resulting evidence to inform the next experimental round. This supports biological closed-loop learning, not unlimited recursive AI capability growth. The publisher's indexed abstract/figure description was accessible; full-page retrieval was blocked by its identity redirect during this request.</a:t>
            </a:r>
          </a:p>
          <a:p xmlns:a="http://schemas.openxmlformats.org/drawingml/2006/main">
            <a:r>
              <a:t>2. [A generalized platform for artificial intelligence-powered autonomous enzyme engineering — Nature Communications, 2025](https://www.nature.com/articles/s41467-025-61209-y). A reported platform connects ML/LLM capabilities to biofoundry automation. Used as a second example of autonomous experimentation, not proof of unrestricted RSI. Publisher-indexed abstract was accessible; full-page retrieval was blocked during this request.</a:t>
            </a:r>
          </a:p>
          <a:p xmlns:a="http://schemas.openxmlformats.org/drawingml/2006/main">
            <a:r>
              <a:t>3. [Ginkgo Bioworks — autonomous CFPS laboratory interface](https://github.com/ginkgobioworks/ginkgo-automation-cfps). The project describes structured experimental specifications, automated execution and return of results to the AI experimental-design process. Its interface supports the distinction between proposals, validated laboratory protocols and experimental feedback. The example does not establish that the underlying general AI model weights improved during the experiment.</a:t>
            </a:r>
          </a:p>
          <a:p xmlns:a="http://schemas.openxmlformats.org/drawingml/2006/main">
            <a:r>
              <a:t>4. [Chen, Wang and Qu — Recursive Self-Improvement in AI: From Bounded Self-Refinement to Autonomous Research Loops, arXiv:2607.07663v2, 2026](https://arxiv.org/abs/2607.07663v2). A **preprint survey**, used only for terminology and to distinguish the system behavior/policy/evaluator/research-process components that may be improved. It is not independent experimental proof of biology-specific RSI.</a:t>
            </a:r>
          </a:p>
          <a:p xmlns:a="http://schemas.openxmlformats.org/drawingml/2006/main">
            <a:r>
              <a:t>5. [ACROBiosystems — AIDD-Ready](https://www.acrobiosystems.com/aix/aidd-ready-solutions). Supporting product-workflow context from the preceding research: sample construction/expression, binding and selected functional assays can feed experimental iteration. This is an offering description and does not establish paid AI revenue.</a:t>
            </a:r>
          </a:p>
          <a:p xmlns:a="http://schemas.openxmlformats.org/drawingml/2006/main">
            <a:r>
              <a:t/>
            </a:r>
          </a:p>
          <a:p xmlns:a="http://schemas.openxmlformats.org/drawingml/2006/main">
            <a:r>
              <a:t>## Visual assets and editable formats</a:t>
            </a:r>
          </a:p>
          <a:p xmlns:a="http://schemas.openxmlformats.org/drawingml/2006/main">
            <a:r>
              <a:t/>
            </a:r>
          </a:p>
          <a:p xmlns:a="http://schemas.openxmlformats.org/drawingml/2006/main">
            <a:r>
              <a:t>The diagram is original native vector geometry. Text, node frames and arrows are editable in PowerPoint and SVG. Icons are original Lucide artwork under the ISC license: bot, DNA, flask-conical, microscope and database; original path geometry is preserved, with teal stroke color. Sources and license are available at https://github.com/lucide-icons/lucide and in the existing project asset library.</a:t>
            </a:r>
          </a:p>
          <a:p xmlns:a="http://schemas.openxmlformats.org/drawingml/2006/main">
            <a:r>
              <a:t/>
            </a:r>
          </a:p>
          <a:p xmlns:a="http://schemas.openxmlformats.org/drawingml/2006/main">
            <a:r>
              <a:t>The figure contains no company logos, market sizes or stock recommendations. It complements Figure 15's workflow and Figures 13–14's discussion of characterization depth and model-training data.</a:t>
            </a:r>
          </a:p>
          <a:p xmlns:a="http://schemas.openxmlformats.org/drawingml/2006/main">
            <a:r>
              <a:t/>
            </a:r>
          </a:p>
          <a:p xmlns:a="http://schemas.openxmlformats.org/drawingml/2006/main">
            <a:r>
              <a:t/>
            </a:r>
          </a:p>
          <a:p xmlns:a="http://schemas.openxmlformats.org/drawingml/2006/main">
            <a:r>
              <a:t>Palette updated to the user's eight RGB colors on 13 October 2026. Original company marks retain their brand colors.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ce0420c7564e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23b54aca5c948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4e903bf25d34e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e592ac424d4d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d1d54dd2b943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ecf26ef371646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4B83A0-09A3-4FEF-BED1-91F4F6EC598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7ED62F-A26A-4B02-9977-44A221FE204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C5D465-0DB3-492B-BDED-914A8B179FE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C0EAB4-7F12-4015-9B6D-96A0FAC6F15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4CABBE-B501-4C05-A776-B0D0671CC62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5DF615-7C56-41F2-86D4-2A107540C9D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C856D-0567-42BE-959A-E52B6A289B3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A74224-2A3C-4429-8210-27B5C2B15AE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80D093-E26B-4F28-A2A0-2B710C9F382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DF9D0-C90B-4E92-8F3F-0E23D1FA792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8c977fc7b44ca1" /><Relationship Type="http://schemas.openxmlformats.org/officeDocument/2006/relationships/slideLayout" Target="/ppt/slideLayouts/slideLayout1.xml" Id="Rf3180de4212b46ae" /><Relationship Type="http://schemas.openxmlformats.org/officeDocument/2006/relationships/slideLayout" Target="/ppt/slideLayouts/slideLayout2.xml" Id="R0e34de15270b4461" /><Relationship Type="http://schemas.openxmlformats.org/officeDocument/2006/relationships/slideLayout" Target="/ppt/slideLayouts/slideLayout3.xml" Id="R24f35593cb9048ee" /><Relationship Type="http://schemas.openxmlformats.org/officeDocument/2006/relationships/slideLayout" Target="/ppt/slideLayouts/slideLayout4.xml" Id="R4a66729947cf4684" /><Relationship Type="http://schemas.openxmlformats.org/officeDocument/2006/relationships/slideLayout" Target="/ppt/slideLayouts/slideLayout5.xml" Id="Rca0b743f4edf49ff" /><Relationship Type="http://schemas.openxmlformats.org/officeDocument/2006/relationships/slideLayout" Target="/ppt/slideLayouts/slideLayout6.xml" Id="R2bca2c4041544f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180de4212b46ae"/>
    <p:sldLayoutId xmlns:r="http://schemas.openxmlformats.org/officeDocument/2006/relationships" id="2147483650" r:id="R0e34de15270b4461"/>
    <p:sldLayoutId xmlns:r="http://schemas.openxmlformats.org/officeDocument/2006/relationships" id="2147483651" r:id="R24f35593cb9048ee"/>
    <p:sldLayoutId xmlns:r="http://schemas.openxmlformats.org/officeDocument/2006/relationships" id="2147483652" r:id="R4a66729947cf4684"/>
    <p:sldLayoutId xmlns:r="http://schemas.openxmlformats.org/officeDocument/2006/relationships" id="2147483653" r:id="Rca0b743f4edf49ff"/>
    <p:sldLayoutId xmlns:r="http://schemas.openxmlformats.org/officeDocument/2006/relationships" id="2147483654" r:id="R2bca2c4041544f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4230cd0ea334012" /><Relationship Type="http://schemas.openxmlformats.org/officeDocument/2006/relationships/image" Target="/ppt/media/image.png" Id="R6fa2cd9051fd4ea9" /><Relationship Type="http://schemas.openxmlformats.org/officeDocument/2006/relationships/notesSlide" Target="/ppt/notesSlides/notesSlide1.xml" Id="R751a6e3409b14c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23b465da602475e" /><Relationship Type="http://schemas.openxmlformats.org/officeDocument/2006/relationships/image" Target="/ppt/media/image2.png" Id="R2a891d0d29de46f4" /><Relationship Type="http://schemas.openxmlformats.org/officeDocument/2006/relationships/notesSlide" Target="/ppt/notesSlides/notesSlide2.xml" Id="Rff3b9d63f4c246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06b5824497b49ca" /><Relationship Type="http://schemas.openxmlformats.org/officeDocument/2006/relationships/image" Target="/ppt/media/image3.png" Id="R777505615fa04b5a" /><Relationship Type="http://schemas.openxmlformats.org/officeDocument/2006/relationships/notesSlide" Target="/ppt/notesSlides/notesSlide3.xml" Id="R069eb1b525b346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9fa047eb26e4452" /><Relationship Type="http://schemas.openxmlformats.org/officeDocument/2006/relationships/image" Target="/ppt/media/image4.png" Id="Rcc0356250c394a7d" /><Relationship Type="http://schemas.openxmlformats.org/officeDocument/2006/relationships/notesSlide" Target="/ppt/notesSlides/notesSlide4.xml" Id="Rc91ddd8f439444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ab84baa6f24842" /><Relationship Type="http://schemas.openxmlformats.org/officeDocument/2006/relationships/image" Target="/ppt/media/image5.png" Id="Rcc97786bc56c4ab3" /><Relationship Type="http://schemas.openxmlformats.org/officeDocument/2006/relationships/notesSlide" Target="/ppt/notesSlides/notesSlide5.xml" Id="R224d7f7687a14a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040d55fcc254d9d" /><Relationship Type="http://schemas.openxmlformats.org/officeDocument/2006/relationships/image" Target="/ppt/media/image6.png" Id="Rd6a4446a16a341ca" /><Relationship Type="http://schemas.openxmlformats.org/officeDocument/2006/relationships/notesSlide" Target="/ppt/notesSlides/notesSlide6.xml" Id="Rf3c0566f077e49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3381612f243485b" /><Relationship Type="http://schemas.openxmlformats.org/officeDocument/2006/relationships/image" Target="/ppt/media/image7.png" Id="R3cf22c409f88449b" /><Relationship Type="http://schemas.openxmlformats.org/officeDocument/2006/relationships/notesSlide" Target="/ppt/notesSlides/notesSlide7.xml" Id="R2d7850142d674c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4493abf97934a73" /><Relationship Type="http://schemas.openxmlformats.org/officeDocument/2006/relationships/image" Target="/ppt/media/image8.png" Id="Rdd6e437ddafe47fc" /><Relationship Type="http://schemas.openxmlformats.org/officeDocument/2006/relationships/notesSlide" Target="/ppt/notesSlides/notesSlide8.xml" Id="R9f97c1914d7648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31b0652b8d24d37" /><Relationship Type="http://schemas.openxmlformats.org/officeDocument/2006/relationships/image" Target="/ppt/media/image9.png" Id="R6bbf8510aebd4f9a" /><Relationship Type="http://schemas.openxmlformats.org/officeDocument/2006/relationships/notesSlide" Target="/ppt/notesSlides/notesSlide9.xml" Id="R090775fbd8b044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d65e96bfb78469d" /><Relationship Type="http://schemas.openxmlformats.org/officeDocument/2006/relationships/image" Target="/ppt/media/image10.png" Id="Rd12ad6021ba84303" /><Relationship Type="http://schemas.openxmlformats.org/officeDocument/2006/relationships/notesSlide" Target="/ppt/notesSlides/notesSlide10.xml" Id="R47cd816bdb62402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fdf03a8677a44c1" /><Relationship Type="http://schemas.openxmlformats.org/officeDocument/2006/relationships/image" Target="/ppt/media/image11.png" Id="R3362207af2824f78" /><Relationship Type="http://schemas.openxmlformats.org/officeDocument/2006/relationships/notesSlide" Target="/ppt/notesSlides/notesSlide11.xml" Id="R5fc2bbf5c77140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4c365cd04a14b87" /><Relationship Type="http://schemas.openxmlformats.org/officeDocument/2006/relationships/image" Target="/ppt/media/image12.png" Id="Rafb094fccf264090" /><Relationship Type="http://schemas.openxmlformats.org/officeDocument/2006/relationships/notesSlide" Target="/ppt/notesSlides/notesSlide12.xml" Id="R81d54fd8c2094d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099b19e8f3a40ff" /><Relationship Type="http://schemas.openxmlformats.org/officeDocument/2006/relationships/image" Target="/ppt/media/image13.png" Id="Rec9f5a22a7a442c4" /><Relationship Type="http://schemas.openxmlformats.org/officeDocument/2006/relationships/notesSlide" Target="/ppt/notesSlides/notesSlide13.xml" Id="Re3adc6d2123642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47a8099329a4311" /><Relationship Type="http://schemas.openxmlformats.org/officeDocument/2006/relationships/image" Target="/ppt/media/image14.png" Id="R34f1d593b37d4982" /><Relationship Type="http://schemas.openxmlformats.org/officeDocument/2006/relationships/notesSlide" Target="/ppt/notesSlides/notesSlide14.xml" Id="R42dcfb7b0b3d49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f8f5f7b26034649" /><Relationship Type="http://schemas.openxmlformats.org/officeDocument/2006/relationships/image" Target="/ppt/media/image15.png" Id="R34d402677fd64604" /><Relationship Type="http://schemas.openxmlformats.org/officeDocument/2006/relationships/notesSlide" Target="/ppt/notesSlides/notesSlide15.xml" Id="R7c2988986e1f45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7d555151b754bed" /><Relationship Type="http://schemas.openxmlformats.org/officeDocument/2006/relationships/image" Target="/ppt/media/image16.png" Id="R12e723ab4d4541b2" /><Relationship Type="http://schemas.openxmlformats.org/officeDocument/2006/relationships/notesSlide" Target="/ppt/notesSlides/notesSlide16.xml" Id="R6b5b6365933249c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5" name="">
            <a:extLst xmlns:a="http://schemas.openxmlformats.org/drawingml/2006/main">
              <a:ext uri="{FF2B5EF4-FFF2-40B4-BE49-F238E27FC236}">
                <a16:creationId xmlns:a16="http://schemas.microsoft.com/office/drawing/2014/main" id="{AD0B7992-E10A-484D-BEDF-AC5CD2259763}"/>
              </a:ext>
            </a:extLst>
          </p:cNvPr>
          <p:cNvPicPr>
            <a:picLocks xmlns:a="http://schemas.openxmlformats.org/drawingml/2006/main" noChangeAspect="1"/>
          </p:cNvPicPr>
          <p:nvPr/>
        </p:nvPicPr>
        <p:blipFill>
          <a:blip xmlns:r="http://schemas.openxmlformats.org/officeDocument/2006/relationships" xmlns:a="http://schemas.openxmlformats.org/drawingml/2006/main" r:embed="R6fa2cd9051fd4ea9"/>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 label 1 line 1">
            <a:extLst xmlns:a="http://schemas.openxmlformats.org/drawingml/2006/main">
              <a:ext uri="{FF2B5EF4-FFF2-40B4-BE49-F238E27FC236}">
                <a16:creationId xmlns:a16="http://schemas.microsoft.com/office/drawing/2014/main" id="{4931E23A-CD3D-48FA-96AD-B4205B1DC3C9}"/>
              </a:ext>
            </a:extLst>
          </p:cNvPr>
          <p:cNvSpPr>
            <a:spLocks xmlns:a="http://schemas.openxmlformats.org/drawingml/2006/main" noGrp="1"/>
          </p:cNvSpPr>
          <p:nvPr/>
        </p:nvSpPr>
        <p:spPr>
          <a:xfrm xmlns:a="http://schemas.openxmlformats.org/drawingml/2006/main" rot="0">
            <a:off x="991870" y="421675"/>
            <a:ext cx="570001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01  The life science tools framework</a:t>
            </a:r>
          </a:p>
        </p:txBody>
      </p:sp>
      <p:sp>
        <p:nvSpPr>
          <p:cNvPr id="3" name="Figure 1 label 2 line 1">
            <a:extLst xmlns:a="http://schemas.openxmlformats.org/drawingml/2006/main">
              <a:ext uri="{FF2B5EF4-FFF2-40B4-BE49-F238E27FC236}">
                <a16:creationId xmlns:a16="http://schemas.microsoft.com/office/drawing/2014/main" id="{C7C9948D-FC3C-4DE3-8FAF-607D6F66A09A}"/>
              </a:ext>
            </a:extLst>
          </p:cNvPr>
          <p:cNvSpPr>
            <a:spLocks xmlns:a="http://schemas.openxmlformats.org/drawingml/2006/main" noGrp="1"/>
          </p:cNvSpPr>
          <p:nvPr/>
        </p:nvSpPr>
        <p:spPr>
          <a:xfrm xmlns:a="http://schemas.openxmlformats.org/drawingml/2006/main" rot="0">
            <a:off x="15683161" y="661601"/>
            <a:ext cx="109487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FRAMEWORK</a:t>
            </a:r>
          </a:p>
        </p:txBody>
      </p:sp>
      <p:sp>
        <p:nvSpPr>
          <p:cNvPr id="4" name="Figure 1 label 3 line 1">
            <a:extLst xmlns:a="http://schemas.openxmlformats.org/drawingml/2006/main">
              <a:ext uri="{FF2B5EF4-FFF2-40B4-BE49-F238E27FC236}">
                <a16:creationId xmlns:a16="http://schemas.microsoft.com/office/drawing/2014/main" id="{9BE203A1-5960-4741-8539-A79833CBA697}"/>
              </a:ext>
            </a:extLst>
          </p:cNvPr>
          <p:cNvSpPr>
            <a:spLocks xmlns:a="http://schemas.openxmlformats.org/drawingml/2006/main" noGrp="1"/>
          </p:cNvSpPr>
          <p:nvPr/>
        </p:nvSpPr>
        <p:spPr>
          <a:xfrm xmlns:a="http://schemas.openxmlformats.org/drawingml/2006/main" rot="0">
            <a:off x="998220" y="1249487"/>
            <a:ext cx="844629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 product framework spanning academic research, biotech, pharma, CRDMOs and manufacturing.</a:t>
            </a:r>
          </a:p>
        </p:txBody>
      </p:sp>
      <p:sp>
        <p:nvSpPr>
          <p:cNvPr id="5" name="Figure 1 label 4 line 1">
            <a:extLst xmlns:a="http://schemas.openxmlformats.org/drawingml/2006/main">
              <a:ext uri="{FF2B5EF4-FFF2-40B4-BE49-F238E27FC236}">
                <a16:creationId xmlns:a16="http://schemas.microsoft.com/office/drawing/2014/main" id="{DE157CF1-BF89-4EDE-AC06-A050436C595A}"/>
              </a:ext>
            </a:extLst>
          </p:cNvPr>
          <p:cNvSpPr>
            <a:spLocks xmlns:a="http://schemas.openxmlformats.org/drawingml/2006/main" noGrp="1"/>
          </p:cNvSpPr>
          <p:nvPr/>
        </p:nvSpPr>
        <p:spPr>
          <a:xfrm xmlns:a="http://schemas.openxmlformats.org/drawingml/2006/main" rot="0">
            <a:off x="999173" y="9256035"/>
            <a:ext cx="671408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Classify products separately from their use cases. Chromatography resins can be reused.</a:t>
            </a:r>
          </a:p>
        </p:txBody>
      </p:sp>
      <p:sp>
        <p:nvSpPr>
          <p:cNvPr id="6" name="Figure 1 label 5 line 1">
            <a:extLst xmlns:a="http://schemas.openxmlformats.org/drawingml/2006/main">
              <a:ext uri="{FF2B5EF4-FFF2-40B4-BE49-F238E27FC236}">
                <a16:creationId xmlns:a16="http://schemas.microsoft.com/office/drawing/2014/main" id="{F2CD1E48-FF74-4FAC-ABE6-2C1EA953F379}"/>
              </a:ext>
            </a:extLst>
          </p:cNvPr>
          <p:cNvSpPr>
            <a:spLocks xmlns:a="http://schemas.openxmlformats.org/drawingml/2006/main" noGrp="1"/>
          </p:cNvSpPr>
          <p:nvPr/>
        </p:nvSpPr>
        <p:spPr>
          <a:xfrm xmlns:a="http://schemas.openxmlformats.org/drawingml/2006/main" rot="0">
            <a:off x="1000316" y="9675546"/>
            <a:ext cx="6311087"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prior product research. Existing TAMs do not automatically reconcile.</a:t>
            </a:r>
          </a:p>
        </p:txBody>
      </p:sp>
      <p:sp>
        <p:nvSpPr>
          <p:cNvPr id="7" name="Figure 1 label 6 line 1">
            <a:extLst xmlns:a="http://schemas.openxmlformats.org/drawingml/2006/main">
              <a:ext uri="{FF2B5EF4-FFF2-40B4-BE49-F238E27FC236}">
                <a16:creationId xmlns:a16="http://schemas.microsoft.com/office/drawing/2014/main" id="{CD5069AD-68D9-40EA-8554-301BD383729E}"/>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1 label 7 line 1">
            <a:extLst xmlns:a="http://schemas.openxmlformats.org/drawingml/2006/main">
              <a:ext uri="{FF2B5EF4-FFF2-40B4-BE49-F238E27FC236}">
                <a16:creationId xmlns:a16="http://schemas.microsoft.com/office/drawing/2014/main" id="{C293AF32-5073-4440-B10B-ABA83FBA5E6E}"/>
              </a:ext>
            </a:extLst>
          </p:cNvPr>
          <p:cNvSpPr>
            <a:spLocks xmlns:a="http://schemas.openxmlformats.org/drawingml/2006/main" noGrp="1"/>
          </p:cNvSpPr>
          <p:nvPr/>
        </p:nvSpPr>
        <p:spPr>
          <a:xfrm xmlns:a="http://schemas.openxmlformats.org/drawingml/2006/main" rot="0">
            <a:off x="1394206" y="2415470"/>
            <a:ext cx="1721842"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FFFFFF"/>
                </a:solidFill>
                <a:latin typeface="Arial Unicode MS"/>
                <a:ea typeface="Arial Unicode MS"/>
                <a:cs typeface="Arial Unicode MS"/>
              </a:defRPr>
            </a:defPPr>
          </a:lstStyle>
          <a:p xmlns:a="http://schemas.openxmlformats.org/drawingml/2006/main">
            <a:pPr algn="l">
              <a:lnSpc>
                <a:spcPct val="100000"/>
              </a:lnSpc>
              <a:buNone/>
              <a:defRPr sz="2750" b="1">
                <a:solidFill>
                  <a:srgbClr val="FFFFFF"/>
                </a:solidFill>
                <a:latin typeface="Arial Unicode MS"/>
                <a:ea typeface="Arial Unicode MS"/>
                <a:cs typeface="Arial Unicode MS"/>
              </a:defRPr>
            </a:pPr>
            <a:r>
              <a:rPr sz="2750" b="1">
                <a:solidFill>
                  <a:srgbClr val="FFFFFF"/>
                </a:solidFill>
                <a:latin typeface="Arial Unicode MS"/>
                <a:ea typeface="Arial Unicode MS"/>
                <a:cs typeface="Arial Unicode MS"/>
              </a:rPr>
              <a:t>Reagents</a:t>
            </a:r>
          </a:p>
        </p:txBody>
      </p:sp>
      <p:sp>
        <p:nvSpPr>
          <p:cNvPr id="9" name="Figure 1 label 8 line 1">
            <a:extLst xmlns:a="http://schemas.openxmlformats.org/drawingml/2006/main">
              <a:ext uri="{FF2B5EF4-FFF2-40B4-BE49-F238E27FC236}">
                <a16:creationId xmlns:a16="http://schemas.microsoft.com/office/drawing/2014/main" id="{704FB392-E6C1-4B83-A944-0936FA9EF62D}"/>
              </a:ext>
            </a:extLst>
          </p:cNvPr>
          <p:cNvSpPr>
            <a:spLocks xmlns:a="http://schemas.openxmlformats.org/drawingml/2006/main" noGrp="1"/>
          </p:cNvSpPr>
          <p:nvPr/>
        </p:nvSpPr>
        <p:spPr>
          <a:xfrm xmlns:a="http://schemas.openxmlformats.org/drawingml/2006/main" rot="0">
            <a:off x="1401509"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10" name="Figure 1 label 9 line 1">
            <a:extLst xmlns:a="http://schemas.openxmlformats.org/drawingml/2006/main">
              <a:ext uri="{FF2B5EF4-FFF2-40B4-BE49-F238E27FC236}">
                <a16:creationId xmlns:a16="http://schemas.microsoft.com/office/drawing/2014/main" id="{A85686E1-1838-4387-91E2-051973750B27}"/>
              </a:ext>
            </a:extLst>
          </p:cNvPr>
          <p:cNvSpPr>
            <a:spLocks xmlns:a="http://schemas.openxmlformats.org/drawingml/2006/main" noGrp="1"/>
          </p:cNvSpPr>
          <p:nvPr/>
        </p:nvSpPr>
        <p:spPr>
          <a:xfrm xmlns:a="http://schemas.openxmlformats.org/drawingml/2006/main" rot="0">
            <a:off x="2022348" y="3625649"/>
            <a:ext cx="300424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Recombinant proteins / antibodies</a:t>
            </a:r>
          </a:p>
        </p:txBody>
      </p:sp>
      <p:sp>
        <p:nvSpPr>
          <p:cNvPr id="11" name="Figure 1 label 10 line 1">
            <a:extLst xmlns:a="http://schemas.openxmlformats.org/drawingml/2006/main">
              <a:ext uri="{FF2B5EF4-FFF2-40B4-BE49-F238E27FC236}">
                <a16:creationId xmlns:a16="http://schemas.microsoft.com/office/drawing/2014/main" id="{75B1D197-CCDE-49D9-B27E-0DCBD24AD660}"/>
              </a:ext>
            </a:extLst>
          </p:cNvPr>
          <p:cNvSpPr>
            <a:spLocks xmlns:a="http://schemas.openxmlformats.org/drawingml/2006/main" noGrp="1"/>
          </p:cNvSpPr>
          <p:nvPr/>
        </p:nvSpPr>
        <p:spPr>
          <a:xfrm xmlns:a="http://schemas.openxmlformats.org/drawingml/2006/main" rot="0">
            <a:off x="1401509"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12" name="Figure 1 label 11 line 1">
            <a:extLst xmlns:a="http://schemas.openxmlformats.org/drawingml/2006/main">
              <a:ext uri="{FF2B5EF4-FFF2-40B4-BE49-F238E27FC236}">
                <a16:creationId xmlns:a16="http://schemas.microsoft.com/office/drawing/2014/main" id="{6FC62664-2D36-429E-8CE9-707F304CAF9B}"/>
              </a:ext>
            </a:extLst>
          </p:cNvPr>
          <p:cNvSpPr>
            <a:spLocks xmlns:a="http://schemas.openxmlformats.org/drawingml/2006/main" noGrp="1"/>
          </p:cNvSpPr>
          <p:nvPr/>
        </p:nvSpPr>
        <p:spPr>
          <a:xfrm xmlns:a="http://schemas.openxmlformats.org/drawingml/2006/main" rot="0">
            <a:off x="2022348" y="4345874"/>
            <a:ext cx="30990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Enzymes / PCR and NGS reagents</a:t>
            </a:r>
          </a:p>
        </p:txBody>
      </p:sp>
      <p:sp>
        <p:nvSpPr>
          <p:cNvPr id="13" name="Figure 1 label 12 line 1">
            <a:extLst xmlns:a="http://schemas.openxmlformats.org/drawingml/2006/main">
              <a:ext uri="{FF2B5EF4-FFF2-40B4-BE49-F238E27FC236}">
                <a16:creationId xmlns:a16="http://schemas.microsoft.com/office/drawing/2014/main" id="{B06FC481-354D-42BF-9EB6-22EF5518B092}"/>
              </a:ext>
            </a:extLst>
          </p:cNvPr>
          <p:cNvSpPr>
            <a:spLocks xmlns:a="http://schemas.openxmlformats.org/drawingml/2006/main" noGrp="1"/>
          </p:cNvSpPr>
          <p:nvPr/>
        </p:nvSpPr>
        <p:spPr>
          <a:xfrm xmlns:a="http://schemas.openxmlformats.org/drawingml/2006/main" rot="0">
            <a:off x="1401509"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14" name="Figure 1 label 13 line 1">
            <a:extLst xmlns:a="http://schemas.openxmlformats.org/drawingml/2006/main">
              <a:ext uri="{FF2B5EF4-FFF2-40B4-BE49-F238E27FC236}">
                <a16:creationId xmlns:a16="http://schemas.microsoft.com/office/drawing/2014/main" id="{1AD7CF5A-48B2-4D06-BE9E-5A35321E1A58}"/>
              </a:ext>
            </a:extLst>
          </p:cNvPr>
          <p:cNvSpPr>
            <a:spLocks xmlns:a="http://schemas.openxmlformats.org/drawingml/2006/main" noGrp="1"/>
          </p:cNvSpPr>
          <p:nvPr/>
        </p:nvSpPr>
        <p:spPr>
          <a:xfrm xmlns:a="http://schemas.openxmlformats.org/drawingml/2006/main" rot="0">
            <a:off x="2022348" y="5064803"/>
            <a:ext cx="330011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DNA / RNA / chemical building blocks</a:t>
            </a:r>
          </a:p>
        </p:txBody>
      </p:sp>
      <p:sp>
        <p:nvSpPr>
          <p:cNvPr id="15" name="Figure 1 label 14 line 1">
            <a:extLst xmlns:a="http://schemas.openxmlformats.org/drawingml/2006/main">
              <a:ext uri="{FF2B5EF4-FFF2-40B4-BE49-F238E27FC236}">
                <a16:creationId xmlns:a16="http://schemas.microsoft.com/office/drawing/2014/main" id="{DC88C1C1-E309-4182-95D1-684B667F266E}"/>
              </a:ext>
            </a:extLst>
          </p:cNvPr>
          <p:cNvSpPr>
            <a:spLocks xmlns:a="http://schemas.openxmlformats.org/drawingml/2006/main" noGrp="1"/>
          </p:cNvSpPr>
          <p:nvPr/>
        </p:nvSpPr>
        <p:spPr>
          <a:xfrm xmlns:a="http://schemas.openxmlformats.org/drawingml/2006/main" rot="0">
            <a:off x="1401509"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16" name="Figure 1 label 15 line 1">
            <a:extLst xmlns:a="http://schemas.openxmlformats.org/drawingml/2006/main">
              <a:ext uri="{FF2B5EF4-FFF2-40B4-BE49-F238E27FC236}">
                <a16:creationId xmlns:a16="http://schemas.microsoft.com/office/drawing/2014/main" id="{270A027F-D30F-401A-9E0A-7A5249A8DF07}"/>
              </a:ext>
            </a:extLst>
          </p:cNvPr>
          <p:cNvSpPr>
            <a:spLocks xmlns:a="http://schemas.openxmlformats.org/drawingml/2006/main" noGrp="1"/>
          </p:cNvSpPr>
          <p:nvPr/>
        </p:nvSpPr>
        <p:spPr>
          <a:xfrm xmlns:a="http://schemas.openxmlformats.org/drawingml/2006/main" rot="0">
            <a:off x="2022348" y="5785920"/>
            <a:ext cx="219908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Cell lines / culture media</a:t>
            </a:r>
          </a:p>
        </p:txBody>
      </p:sp>
      <p:sp>
        <p:nvSpPr>
          <p:cNvPr id="17" name="Figure 1 label 16 line 1">
            <a:extLst xmlns:a="http://schemas.openxmlformats.org/drawingml/2006/main">
              <a:ext uri="{FF2B5EF4-FFF2-40B4-BE49-F238E27FC236}">
                <a16:creationId xmlns:a16="http://schemas.microsoft.com/office/drawing/2014/main" id="{8D8F154A-4720-42A9-8E7B-258E6D1A91E3}"/>
              </a:ext>
            </a:extLst>
          </p:cNvPr>
          <p:cNvSpPr>
            <a:spLocks xmlns:a="http://schemas.openxmlformats.org/drawingml/2006/main" noGrp="1"/>
          </p:cNvSpPr>
          <p:nvPr/>
        </p:nvSpPr>
        <p:spPr>
          <a:xfrm xmlns:a="http://schemas.openxmlformats.org/drawingml/2006/main" rot="0">
            <a:off x="1401509"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18" name="Figure 1 label 17 line 1">
            <a:extLst xmlns:a="http://schemas.openxmlformats.org/drawingml/2006/main">
              <a:ext uri="{FF2B5EF4-FFF2-40B4-BE49-F238E27FC236}">
                <a16:creationId xmlns:a16="http://schemas.microsoft.com/office/drawing/2014/main" id="{EFD31150-4821-4F63-8B51-AAE2370DBAA1}"/>
              </a:ext>
            </a:extLst>
          </p:cNvPr>
          <p:cNvSpPr>
            <a:spLocks xmlns:a="http://schemas.openxmlformats.org/drawingml/2006/main" noGrp="1"/>
          </p:cNvSpPr>
          <p:nvPr/>
        </p:nvSpPr>
        <p:spPr>
          <a:xfrm xmlns:a="http://schemas.openxmlformats.org/drawingml/2006/main" rot="0">
            <a:off x="2022348" y="6506143"/>
            <a:ext cx="287669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Assay reagents for R&amp;D and QC</a:t>
            </a:r>
          </a:p>
        </p:txBody>
      </p:sp>
      <p:sp>
        <p:nvSpPr>
          <p:cNvPr id="19" name="Figure 1 label 18 line 1">
            <a:extLst xmlns:a="http://schemas.openxmlformats.org/drawingml/2006/main">
              <a:ext uri="{FF2B5EF4-FFF2-40B4-BE49-F238E27FC236}">
                <a16:creationId xmlns:a16="http://schemas.microsoft.com/office/drawing/2014/main" id="{8BEEAA7C-6AA0-42B6-AFFA-394989A67207}"/>
              </a:ext>
            </a:extLst>
          </p:cNvPr>
          <p:cNvSpPr>
            <a:spLocks xmlns:a="http://schemas.openxmlformats.org/drawingml/2006/main" noGrp="1"/>
          </p:cNvSpPr>
          <p:nvPr/>
        </p:nvSpPr>
        <p:spPr>
          <a:xfrm xmlns:a="http://schemas.openxmlformats.org/drawingml/2006/main" rot="0">
            <a:off x="1401318" y="7440635"/>
            <a:ext cx="22843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Tests × dose per test × price</a:t>
            </a:r>
          </a:p>
        </p:txBody>
      </p:sp>
      <p:sp>
        <p:nvSpPr>
          <p:cNvPr id="20" name="Figure 1 label 19 line 1">
            <a:extLst xmlns:a="http://schemas.openxmlformats.org/drawingml/2006/main">
              <a:ext uri="{FF2B5EF4-FFF2-40B4-BE49-F238E27FC236}">
                <a16:creationId xmlns:a16="http://schemas.microsoft.com/office/drawing/2014/main" id="{C7E79E48-48E9-4822-A205-6D4D9D8B041A}"/>
              </a:ext>
            </a:extLst>
          </p:cNvPr>
          <p:cNvSpPr>
            <a:spLocks xmlns:a="http://schemas.openxmlformats.org/drawingml/2006/main" noGrp="1"/>
          </p:cNvSpPr>
          <p:nvPr/>
        </p:nvSpPr>
        <p:spPr>
          <a:xfrm xmlns:a="http://schemas.openxmlformats.org/drawingml/2006/main" rot="0">
            <a:off x="6953758" y="2417353"/>
            <a:ext cx="236210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Consumables</a:t>
            </a:r>
          </a:p>
        </p:txBody>
      </p:sp>
      <p:sp>
        <p:nvSpPr>
          <p:cNvPr id="21" name="Figure 1 label 20 line 1">
            <a:extLst xmlns:a="http://schemas.openxmlformats.org/drawingml/2006/main">
              <a:ext uri="{FF2B5EF4-FFF2-40B4-BE49-F238E27FC236}">
                <a16:creationId xmlns:a16="http://schemas.microsoft.com/office/drawing/2014/main" id="{270495B1-9546-43F4-B21C-38F97142D9DF}"/>
              </a:ext>
            </a:extLst>
          </p:cNvPr>
          <p:cNvSpPr>
            <a:spLocks xmlns:a="http://schemas.openxmlformats.org/drawingml/2006/main" noGrp="1"/>
          </p:cNvSpPr>
          <p:nvPr/>
        </p:nvSpPr>
        <p:spPr>
          <a:xfrm xmlns:a="http://schemas.openxmlformats.org/drawingml/2006/main" rot="0">
            <a:off x="6961060"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22" name="Figure 1 label 21 line 1">
            <a:extLst xmlns:a="http://schemas.openxmlformats.org/drawingml/2006/main">
              <a:ext uri="{FF2B5EF4-FFF2-40B4-BE49-F238E27FC236}">
                <a16:creationId xmlns:a16="http://schemas.microsoft.com/office/drawing/2014/main" id="{1EA6AF76-6FDE-4EA3-9EFC-84FDB7C960D7}"/>
              </a:ext>
            </a:extLst>
          </p:cNvPr>
          <p:cNvSpPr>
            <a:spLocks xmlns:a="http://schemas.openxmlformats.org/drawingml/2006/main" noGrp="1"/>
          </p:cNvSpPr>
          <p:nvPr/>
        </p:nvSpPr>
        <p:spPr>
          <a:xfrm xmlns:a="http://schemas.openxmlformats.org/drawingml/2006/main" rot="0">
            <a:off x="7581900" y="3625649"/>
            <a:ext cx="161657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Tips / microplates</a:t>
            </a:r>
          </a:p>
        </p:txBody>
      </p:sp>
      <p:sp>
        <p:nvSpPr>
          <p:cNvPr id="23" name="Figure 1 label 22 line 1">
            <a:extLst xmlns:a="http://schemas.openxmlformats.org/drawingml/2006/main">
              <a:ext uri="{FF2B5EF4-FFF2-40B4-BE49-F238E27FC236}">
                <a16:creationId xmlns:a16="http://schemas.microsoft.com/office/drawing/2014/main" id="{D695CBB5-A890-4DE9-BC1B-13DFA79943BC}"/>
              </a:ext>
            </a:extLst>
          </p:cNvPr>
          <p:cNvSpPr>
            <a:spLocks xmlns:a="http://schemas.openxmlformats.org/drawingml/2006/main" noGrp="1"/>
          </p:cNvSpPr>
          <p:nvPr/>
        </p:nvSpPr>
        <p:spPr>
          <a:xfrm xmlns:a="http://schemas.openxmlformats.org/drawingml/2006/main" rot="0">
            <a:off x="6961060"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24" name="Figure 1 label 23 line 1">
            <a:extLst xmlns:a="http://schemas.openxmlformats.org/drawingml/2006/main">
              <a:ext uri="{FF2B5EF4-FFF2-40B4-BE49-F238E27FC236}">
                <a16:creationId xmlns:a16="http://schemas.microsoft.com/office/drawing/2014/main" id="{5E70F4E3-AF68-4D53-B346-1D492AE46497}"/>
              </a:ext>
            </a:extLst>
          </p:cNvPr>
          <p:cNvSpPr>
            <a:spLocks xmlns:a="http://schemas.openxmlformats.org/drawingml/2006/main" noGrp="1"/>
          </p:cNvSpPr>
          <p:nvPr/>
        </p:nvSpPr>
        <p:spPr>
          <a:xfrm xmlns:a="http://schemas.openxmlformats.org/drawingml/2006/main" rot="0">
            <a:off x="7581900" y="4345874"/>
            <a:ext cx="279216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Culture flasks / centrifuge tubes</a:t>
            </a:r>
          </a:p>
        </p:txBody>
      </p:sp>
      <p:sp>
        <p:nvSpPr>
          <p:cNvPr id="25" name="Figure 1 label 24 line 1">
            <a:extLst xmlns:a="http://schemas.openxmlformats.org/drawingml/2006/main">
              <a:ext uri="{FF2B5EF4-FFF2-40B4-BE49-F238E27FC236}">
                <a16:creationId xmlns:a16="http://schemas.microsoft.com/office/drawing/2014/main" id="{32E9B1D9-C399-4F8E-BD67-A46AC6CC5D82}"/>
              </a:ext>
            </a:extLst>
          </p:cNvPr>
          <p:cNvSpPr>
            <a:spLocks xmlns:a="http://schemas.openxmlformats.org/drawingml/2006/main" noGrp="1"/>
          </p:cNvSpPr>
          <p:nvPr/>
        </p:nvSpPr>
        <p:spPr>
          <a:xfrm xmlns:a="http://schemas.openxmlformats.org/drawingml/2006/main" rot="0">
            <a:off x="6961060"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26" name="Figure 1 label 25 line 1">
            <a:extLst xmlns:a="http://schemas.openxmlformats.org/drawingml/2006/main">
              <a:ext uri="{FF2B5EF4-FFF2-40B4-BE49-F238E27FC236}">
                <a16:creationId xmlns:a16="http://schemas.microsoft.com/office/drawing/2014/main" id="{8D08B27C-D9FD-4E73-A20A-07BC7A769A9B}"/>
              </a:ext>
            </a:extLst>
          </p:cNvPr>
          <p:cNvSpPr>
            <a:spLocks xmlns:a="http://schemas.openxmlformats.org/drawingml/2006/main" noGrp="1"/>
          </p:cNvSpPr>
          <p:nvPr/>
        </p:nvSpPr>
        <p:spPr>
          <a:xfrm xmlns:a="http://schemas.openxmlformats.org/drawingml/2006/main" rot="0">
            <a:off x="7581900" y="5065830"/>
            <a:ext cx="267593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Membranes / functional beads</a:t>
            </a:r>
          </a:p>
        </p:txBody>
      </p:sp>
      <p:sp>
        <p:nvSpPr>
          <p:cNvPr id="27" name="Figure 1 label 26 line 1">
            <a:extLst xmlns:a="http://schemas.openxmlformats.org/drawingml/2006/main">
              <a:ext uri="{FF2B5EF4-FFF2-40B4-BE49-F238E27FC236}">
                <a16:creationId xmlns:a16="http://schemas.microsoft.com/office/drawing/2014/main" id="{431315C3-3F82-4625-86BD-690581EB191D}"/>
              </a:ext>
            </a:extLst>
          </p:cNvPr>
          <p:cNvSpPr>
            <a:spLocks xmlns:a="http://schemas.openxmlformats.org/drawingml/2006/main" noGrp="1"/>
          </p:cNvSpPr>
          <p:nvPr/>
        </p:nvSpPr>
        <p:spPr>
          <a:xfrm xmlns:a="http://schemas.openxmlformats.org/drawingml/2006/main" rot="0">
            <a:off x="6961060"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28" name="Figure 1 label 27 line 1">
            <a:extLst xmlns:a="http://schemas.openxmlformats.org/drawingml/2006/main">
              <a:ext uri="{FF2B5EF4-FFF2-40B4-BE49-F238E27FC236}">
                <a16:creationId xmlns:a16="http://schemas.microsoft.com/office/drawing/2014/main" id="{9F43EB74-D2A7-4337-B53B-17FB35BA2D83}"/>
              </a:ext>
            </a:extLst>
          </p:cNvPr>
          <p:cNvSpPr>
            <a:spLocks xmlns:a="http://schemas.openxmlformats.org/drawingml/2006/main" noGrp="1"/>
          </p:cNvSpPr>
          <p:nvPr/>
        </p:nvSpPr>
        <p:spPr>
          <a:xfrm xmlns:a="http://schemas.openxmlformats.org/drawingml/2006/main" rot="0">
            <a:off x="7581900" y="5786054"/>
            <a:ext cx="29719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Columns / chromatography resins</a:t>
            </a:r>
          </a:p>
        </p:txBody>
      </p:sp>
      <p:sp>
        <p:nvSpPr>
          <p:cNvPr id="29" name="Figure 1 label 28 line 1">
            <a:extLst xmlns:a="http://schemas.openxmlformats.org/drawingml/2006/main">
              <a:ext uri="{FF2B5EF4-FFF2-40B4-BE49-F238E27FC236}">
                <a16:creationId xmlns:a16="http://schemas.microsoft.com/office/drawing/2014/main" id="{029FA478-8E26-4BFD-866C-54A5C41E986A}"/>
              </a:ext>
            </a:extLst>
          </p:cNvPr>
          <p:cNvSpPr>
            <a:spLocks xmlns:a="http://schemas.openxmlformats.org/drawingml/2006/main" noGrp="1"/>
          </p:cNvSpPr>
          <p:nvPr/>
        </p:nvSpPr>
        <p:spPr>
          <a:xfrm xmlns:a="http://schemas.openxmlformats.org/drawingml/2006/main" rot="0">
            <a:off x="6961060"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30" name="Figure 1 label 29 line 1">
            <a:extLst xmlns:a="http://schemas.openxmlformats.org/drawingml/2006/main">
              <a:ext uri="{FF2B5EF4-FFF2-40B4-BE49-F238E27FC236}">
                <a16:creationId xmlns:a16="http://schemas.microsoft.com/office/drawing/2014/main" id="{A3C29FF5-40CE-4372-A5DA-CC3A9294E647}"/>
              </a:ext>
            </a:extLst>
          </p:cNvPr>
          <p:cNvSpPr>
            <a:spLocks xmlns:a="http://schemas.openxmlformats.org/drawingml/2006/main" noGrp="1"/>
          </p:cNvSpPr>
          <p:nvPr/>
        </p:nvSpPr>
        <p:spPr>
          <a:xfrm xmlns:a="http://schemas.openxmlformats.org/drawingml/2006/main" rot="0">
            <a:off x="7581900" y="6507171"/>
            <a:ext cx="24321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Gels / process components</a:t>
            </a:r>
          </a:p>
        </p:txBody>
      </p:sp>
      <p:sp>
        <p:nvSpPr>
          <p:cNvPr id="31" name="Figure 1 label 30 line 1">
            <a:extLst xmlns:a="http://schemas.openxmlformats.org/drawingml/2006/main">
              <a:ext uri="{FF2B5EF4-FFF2-40B4-BE49-F238E27FC236}">
                <a16:creationId xmlns:a16="http://schemas.microsoft.com/office/drawing/2014/main" id="{15EB7E92-E3AB-46EE-BA14-4D9955D2DD78}"/>
              </a:ext>
            </a:extLst>
          </p:cNvPr>
          <p:cNvSpPr>
            <a:spLocks xmlns:a="http://schemas.openxmlformats.org/drawingml/2006/main" noGrp="1"/>
          </p:cNvSpPr>
          <p:nvPr/>
        </p:nvSpPr>
        <p:spPr>
          <a:xfrm xmlns:a="http://schemas.openxmlformats.org/drawingml/2006/main" rot="0">
            <a:off x="6960870" y="7439711"/>
            <a:ext cx="277025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Tests or batches × intensity × price</a:t>
            </a:r>
          </a:p>
        </p:txBody>
      </p:sp>
      <p:sp>
        <p:nvSpPr>
          <p:cNvPr id="32" name="Figure 1 label 31 line 1">
            <a:extLst xmlns:a="http://schemas.openxmlformats.org/drawingml/2006/main">
              <a:ext uri="{FF2B5EF4-FFF2-40B4-BE49-F238E27FC236}">
                <a16:creationId xmlns:a16="http://schemas.microsoft.com/office/drawing/2014/main" id="{5FF8286B-375B-4E9A-92C6-C035F85D5A6D}"/>
              </a:ext>
            </a:extLst>
          </p:cNvPr>
          <p:cNvSpPr>
            <a:spLocks xmlns:a="http://schemas.openxmlformats.org/drawingml/2006/main" noGrp="1"/>
          </p:cNvSpPr>
          <p:nvPr/>
        </p:nvSpPr>
        <p:spPr>
          <a:xfrm xmlns:a="http://schemas.openxmlformats.org/drawingml/2006/main" rot="0">
            <a:off x="12513310" y="2417353"/>
            <a:ext cx="205134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Instruments</a:t>
            </a:r>
          </a:p>
        </p:txBody>
      </p:sp>
      <p:sp>
        <p:nvSpPr>
          <p:cNvPr id="33" name="Figure 1 label 32 line 1">
            <a:extLst xmlns:a="http://schemas.openxmlformats.org/drawingml/2006/main">
              <a:ext uri="{FF2B5EF4-FFF2-40B4-BE49-F238E27FC236}">
                <a16:creationId xmlns:a16="http://schemas.microsoft.com/office/drawing/2014/main" id="{66628767-A120-4A63-999E-41A637852435}"/>
              </a:ext>
            </a:extLst>
          </p:cNvPr>
          <p:cNvSpPr>
            <a:spLocks xmlns:a="http://schemas.openxmlformats.org/drawingml/2006/main" noGrp="1"/>
          </p:cNvSpPr>
          <p:nvPr/>
        </p:nvSpPr>
        <p:spPr>
          <a:xfrm xmlns:a="http://schemas.openxmlformats.org/drawingml/2006/main" rot="0">
            <a:off x="12520612"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34" name="Figure 1 label 33 line 1">
            <a:extLst xmlns:a="http://schemas.openxmlformats.org/drawingml/2006/main">
              <a:ext uri="{FF2B5EF4-FFF2-40B4-BE49-F238E27FC236}">
                <a16:creationId xmlns:a16="http://schemas.microsoft.com/office/drawing/2014/main" id="{CB922FFF-84E0-4580-AB5D-F2FB4F5D79AC}"/>
              </a:ext>
            </a:extLst>
          </p:cNvPr>
          <p:cNvSpPr>
            <a:spLocks xmlns:a="http://schemas.openxmlformats.org/drawingml/2006/main" noGrp="1"/>
          </p:cNvSpPr>
          <p:nvPr/>
        </p:nvSpPr>
        <p:spPr>
          <a:xfrm xmlns:a="http://schemas.openxmlformats.org/drawingml/2006/main" rot="0">
            <a:off x="13141452" y="3626811"/>
            <a:ext cx="252784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Sequencers / liquid handlers</a:t>
            </a:r>
          </a:p>
        </p:txBody>
      </p:sp>
      <p:sp>
        <p:nvSpPr>
          <p:cNvPr id="35" name="Figure 1 label 34 line 1">
            <a:extLst xmlns:a="http://schemas.openxmlformats.org/drawingml/2006/main">
              <a:ext uri="{FF2B5EF4-FFF2-40B4-BE49-F238E27FC236}">
                <a16:creationId xmlns:a16="http://schemas.microsoft.com/office/drawing/2014/main" id="{F10FB04E-CB9A-4BD0-8A6C-8171B4223D9F}"/>
              </a:ext>
            </a:extLst>
          </p:cNvPr>
          <p:cNvSpPr>
            <a:spLocks xmlns:a="http://schemas.openxmlformats.org/drawingml/2006/main" noGrp="1"/>
          </p:cNvSpPr>
          <p:nvPr/>
        </p:nvSpPr>
        <p:spPr>
          <a:xfrm xmlns:a="http://schemas.openxmlformats.org/drawingml/2006/main" rot="0">
            <a:off x="12520612"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36" name="Figure 1 label 35 line 1">
            <a:extLst xmlns:a="http://schemas.openxmlformats.org/drawingml/2006/main">
              <a:ext uri="{FF2B5EF4-FFF2-40B4-BE49-F238E27FC236}">
                <a16:creationId xmlns:a16="http://schemas.microsoft.com/office/drawing/2014/main" id="{D6DA9808-EAB3-4698-9FD6-52BD30D6FF2A}"/>
              </a:ext>
            </a:extLst>
          </p:cNvPr>
          <p:cNvSpPr>
            <a:spLocks xmlns:a="http://schemas.openxmlformats.org/drawingml/2006/main" noGrp="1"/>
          </p:cNvSpPr>
          <p:nvPr/>
        </p:nvSpPr>
        <p:spPr>
          <a:xfrm xmlns:a="http://schemas.openxmlformats.org/drawingml/2006/main" rot="0">
            <a:off x="13141452" y="4346900"/>
            <a:ext cx="299263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LC / LC-MS / mass spectrometers</a:t>
            </a:r>
          </a:p>
        </p:txBody>
      </p:sp>
      <p:sp>
        <p:nvSpPr>
          <p:cNvPr id="37" name="Figure 1 label 36 line 1">
            <a:extLst xmlns:a="http://schemas.openxmlformats.org/drawingml/2006/main">
              <a:ext uri="{FF2B5EF4-FFF2-40B4-BE49-F238E27FC236}">
                <a16:creationId xmlns:a16="http://schemas.microsoft.com/office/drawing/2014/main" id="{46C1EAB6-65AA-41AD-AC07-C57F3A791372}"/>
              </a:ext>
            </a:extLst>
          </p:cNvPr>
          <p:cNvSpPr>
            <a:spLocks xmlns:a="http://schemas.openxmlformats.org/drawingml/2006/main" noGrp="1"/>
          </p:cNvSpPr>
          <p:nvPr/>
        </p:nvSpPr>
        <p:spPr>
          <a:xfrm xmlns:a="http://schemas.openxmlformats.org/drawingml/2006/main" rot="0">
            <a:off x="12520612"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38" name="Figure 1 label 37 line 1">
            <a:extLst xmlns:a="http://schemas.openxmlformats.org/drawingml/2006/main">
              <a:ext uri="{FF2B5EF4-FFF2-40B4-BE49-F238E27FC236}">
                <a16:creationId xmlns:a16="http://schemas.microsoft.com/office/drawing/2014/main" id="{D79C8E1C-1485-40C9-BF14-EA35FBC0E60B}"/>
              </a:ext>
            </a:extLst>
          </p:cNvPr>
          <p:cNvSpPr>
            <a:spLocks xmlns:a="http://schemas.openxmlformats.org/drawingml/2006/main" noGrp="1"/>
          </p:cNvSpPr>
          <p:nvPr/>
        </p:nvSpPr>
        <p:spPr>
          <a:xfrm xmlns:a="http://schemas.openxmlformats.org/drawingml/2006/main" rot="0">
            <a:off x="13141452" y="5064803"/>
            <a:ext cx="151060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Flow cytometers</a:t>
            </a:r>
          </a:p>
        </p:txBody>
      </p:sp>
      <p:sp>
        <p:nvSpPr>
          <p:cNvPr id="39" name="Figure 1 label 38 line 1">
            <a:extLst xmlns:a="http://schemas.openxmlformats.org/drawingml/2006/main">
              <a:ext uri="{FF2B5EF4-FFF2-40B4-BE49-F238E27FC236}">
                <a16:creationId xmlns:a16="http://schemas.microsoft.com/office/drawing/2014/main" id="{BA4B00A7-5A2C-4782-9F39-7C356279C7AB}"/>
              </a:ext>
            </a:extLst>
          </p:cNvPr>
          <p:cNvSpPr>
            <a:spLocks xmlns:a="http://schemas.openxmlformats.org/drawingml/2006/main" noGrp="1"/>
          </p:cNvSpPr>
          <p:nvPr/>
        </p:nvSpPr>
        <p:spPr>
          <a:xfrm xmlns:a="http://schemas.openxmlformats.org/drawingml/2006/main" rot="0">
            <a:off x="12520612"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40" name="Figure 1 label 39 line 1">
            <a:extLst xmlns:a="http://schemas.openxmlformats.org/drawingml/2006/main">
              <a:ext uri="{FF2B5EF4-FFF2-40B4-BE49-F238E27FC236}">
                <a16:creationId xmlns:a16="http://schemas.microsoft.com/office/drawing/2014/main" id="{0BEA9B5D-2392-44E0-BE13-92787F61E6F7}"/>
              </a:ext>
            </a:extLst>
          </p:cNvPr>
          <p:cNvSpPr>
            <a:spLocks xmlns:a="http://schemas.openxmlformats.org/drawingml/2006/main" noGrp="1"/>
          </p:cNvSpPr>
          <p:nvPr/>
        </p:nvSpPr>
        <p:spPr>
          <a:xfrm xmlns:a="http://schemas.openxmlformats.org/drawingml/2006/main" rot="0">
            <a:off x="13141452" y="5784892"/>
            <a:ext cx="267548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High-content imaging systems</a:t>
            </a:r>
          </a:p>
        </p:txBody>
      </p:sp>
      <p:sp>
        <p:nvSpPr>
          <p:cNvPr id="41" name="Figure 1 label 40 line 1">
            <a:extLst xmlns:a="http://schemas.openxmlformats.org/drawingml/2006/main">
              <a:ext uri="{FF2B5EF4-FFF2-40B4-BE49-F238E27FC236}">
                <a16:creationId xmlns:a16="http://schemas.microsoft.com/office/drawing/2014/main" id="{05504E11-A022-45EC-995D-318D1DAE9167}"/>
              </a:ext>
            </a:extLst>
          </p:cNvPr>
          <p:cNvSpPr>
            <a:spLocks xmlns:a="http://schemas.openxmlformats.org/drawingml/2006/main" noGrp="1"/>
          </p:cNvSpPr>
          <p:nvPr/>
        </p:nvSpPr>
        <p:spPr>
          <a:xfrm xmlns:a="http://schemas.openxmlformats.org/drawingml/2006/main" rot="0">
            <a:off x="12520612"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42" name="Figure 1 label 41 line 1">
            <a:extLst xmlns:a="http://schemas.openxmlformats.org/drawingml/2006/main">
              <a:ext uri="{FF2B5EF4-FFF2-40B4-BE49-F238E27FC236}">
                <a16:creationId xmlns:a16="http://schemas.microsoft.com/office/drawing/2014/main" id="{A4D742C2-8281-4405-95E6-1781912BC17D}"/>
              </a:ext>
            </a:extLst>
          </p:cNvPr>
          <p:cNvSpPr>
            <a:spLocks xmlns:a="http://schemas.openxmlformats.org/drawingml/2006/main" noGrp="1"/>
          </p:cNvSpPr>
          <p:nvPr/>
        </p:nvSpPr>
        <p:spPr>
          <a:xfrm xmlns:a="http://schemas.openxmlformats.org/drawingml/2006/main" rot="0">
            <a:off x="13141452" y="6506010"/>
            <a:ext cx="219893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Cell-culture workstations</a:t>
            </a:r>
          </a:p>
        </p:txBody>
      </p:sp>
      <p:sp>
        <p:nvSpPr>
          <p:cNvPr id="43" name="Figure 1 label 42 line 1">
            <a:extLst xmlns:a="http://schemas.openxmlformats.org/drawingml/2006/main">
              <a:ext uri="{FF2B5EF4-FFF2-40B4-BE49-F238E27FC236}">
                <a16:creationId xmlns:a16="http://schemas.microsoft.com/office/drawing/2014/main" id="{FEF4D102-206C-464A-9CF1-DC363EB7BBE8}"/>
              </a:ext>
            </a:extLst>
          </p:cNvPr>
          <p:cNvSpPr>
            <a:spLocks xmlns:a="http://schemas.openxmlformats.org/drawingml/2006/main" noGrp="1"/>
          </p:cNvSpPr>
          <p:nvPr/>
        </p:nvSpPr>
        <p:spPr>
          <a:xfrm xmlns:a="http://schemas.openxmlformats.org/drawingml/2006/main" rot="0">
            <a:off x="12520422" y="7440635"/>
            <a:ext cx="327523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New installations + replacement + service</a:t>
            </a:r>
          </a:p>
        </p:txBody>
      </p:sp>
      <p:sp>
        <p:nvSpPr>
          <p:cNvPr id="44" name="Figure 1 label 43 line 1">
            <a:extLst xmlns:a="http://schemas.openxmlformats.org/drawingml/2006/main">
              <a:ext uri="{FF2B5EF4-FFF2-40B4-BE49-F238E27FC236}">
                <a16:creationId xmlns:a16="http://schemas.microsoft.com/office/drawing/2014/main" id="{626DF4B9-0950-44C0-BE16-69528094CE78}"/>
              </a:ext>
            </a:extLst>
          </p:cNvPr>
          <p:cNvSpPr>
            <a:spLocks xmlns:a="http://schemas.openxmlformats.org/drawingml/2006/main" noGrp="1"/>
          </p:cNvSpPr>
          <p:nvPr/>
        </p:nvSpPr>
        <p:spPr>
          <a:xfrm xmlns:a="http://schemas.openxmlformats.org/drawingml/2006/main" rot="0">
            <a:off x="5393531" y="8413000"/>
            <a:ext cx="750093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Use one product taxonomy; retain the scope of each market estimate.</a:t>
            </a:r>
          </a:p>
        </p:txBody>
      </p:sp>
    </p:spTree>
    <p:extLst>
      <p:ext uri="{BB962C8B-B14F-4D97-AF65-F5344CB8AC3E}">
        <p14:creationId xmlns:p14="http://schemas.microsoft.com/office/powerpoint/2010/main" val="9610312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A04926B8-56D7-487D-98C2-B5FD56D6EE88}"/>
              </a:ext>
            </a:extLst>
          </p:cNvPr>
          <p:cNvPicPr>
            <a:picLocks xmlns:a="http://schemas.openxmlformats.org/drawingml/2006/main" noChangeAspect="1"/>
          </p:cNvPicPr>
          <p:nvPr/>
        </p:nvPicPr>
        <p:blipFill>
          <a:blip xmlns:r="http://schemas.openxmlformats.org/officeDocument/2006/relationships" xmlns:a="http://schemas.openxmlformats.org/drawingml/2006/main" r:embed="R2a891d0d29de46f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2 label 1 line 1">
            <a:extLst xmlns:a="http://schemas.openxmlformats.org/drawingml/2006/main">
              <a:ext uri="{FF2B5EF4-FFF2-40B4-BE49-F238E27FC236}">
                <a16:creationId xmlns:a16="http://schemas.microsoft.com/office/drawing/2014/main" id="{3BB9F6D3-30B2-4E62-864A-11EF799B8043}"/>
              </a:ext>
            </a:extLst>
          </p:cNvPr>
          <p:cNvSpPr>
            <a:spLocks xmlns:a="http://schemas.openxmlformats.org/drawingml/2006/main" noGrp="1"/>
          </p:cNvSpPr>
          <p:nvPr/>
        </p:nvSpPr>
        <p:spPr>
          <a:xfrm xmlns:a="http://schemas.openxmlformats.org/drawingml/2006/main" rot="0">
            <a:off x="3894019" y="7907353"/>
            <a:ext cx="1256209"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0">
                <a:solidFill>
                  <a:srgbClr val="00355F"/>
                </a:solidFill>
                <a:latin typeface="Arial Unicode MS"/>
                <a:ea typeface="Arial Unicode MS"/>
                <a:cs typeface="Arial Unicode MS"/>
              </a:defRPr>
            </a:pPr>
            <a:r>
              <a:rPr sz="1750" b="0">
                <a:solidFill>
                  <a:srgbClr val="00355F"/>
                </a:solidFill>
                <a:latin typeface="Arial Unicode MS"/>
                <a:ea typeface="Arial Unicode MS"/>
                <a:cs typeface="Arial Unicode MS"/>
              </a:rPr>
              <a:t>Global LST</a:t>
            </a:r>
          </a:p>
        </p:txBody>
      </p:sp>
      <p:sp>
        <p:nvSpPr>
          <p:cNvPr id="3" name="Figure 2 label 2 line 1">
            <a:extLst xmlns:a="http://schemas.openxmlformats.org/drawingml/2006/main">
              <a:ext uri="{FF2B5EF4-FFF2-40B4-BE49-F238E27FC236}">
                <a16:creationId xmlns:a16="http://schemas.microsoft.com/office/drawing/2014/main" id="{700297A8-56BE-4C0F-A3D8-4F27074FD46F}"/>
              </a:ext>
            </a:extLst>
          </p:cNvPr>
          <p:cNvSpPr>
            <a:spLocks xmlns:a="http://schemas.openxmlformats.org/drawingml/2006/main" noGrp="1"/>
          </p:cNvSpPr>
          <p:nvPr/>
        </p:nvSpPr>
        <p:spPr>
          <a:xfrm xmlns:a="http://schemas.openxmlformats.org/drawingml/2006/main" rot="0">
            <a:off x="8413774" y="7907353"/>
            <a:ext cx="1194445"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0">
                <a:solidFill>
                  <a:srgbClr val="00355F"/>
                </a:solidFill>
                <a:latin typeface="Arial Unicode MS"/>
                <a:ea typeface="Arial Unicode MS"/>
                <a:cs typeface="Arial Unicode MS"/>
              </a:defRPr>
            </a:pPr>
            <a:r>
              <a:rPr sz="1750" b="0">
                <a:solidFill>
                  <a:srgbClr val="00355F"/>
                </a:solidFill>
                <a:latin typeface="Arial Unicode MS"/>
                <a:ea typeface="Arial Unicode MS"/>
                <a:cs typeface="Arial Unicode MS"/>
              </a:rPr>
              <a:t>China LST</a:t>
            </a:r>
          </a:p>
        </p:txBody>
      </p:sp>
      <p:sp>
        <p:nvSpPr>
          <p:cNvPr id="4" name="Figure 2 label 3 line 1">
            <a:extLst xmlns:a="http://schemas.openxmlformats.org/drawingml/2006/main">
              <a:ext uri="{FF2B5EF4-FFF2-40B4-BE49-F238E27FC236}">
                <a16:creationId xmlns:a16="http://schemas.microsoft.com/office/drawing/2014/main" id="{A8C6184F-7152-41E9-90FB-88874F7AC0D7}"/>
              </a:ext>
            </a:extLst>
          </p:cNvPr>
          <p:cNvSpPr>
            <a:spLocks xmlns:a="http://schemas.openxmlformats.org/drawingml/2006/main" noGrp="1"/>
          </p:cNvSpPr>
          <p:nvPr/>
        </p:nvSpPr>
        <p:spPr>
          <a:xfrm xmlns:a="http://schemas.openxmlformats.org/drawingml/2006/main" rot="0">
            <a:off x="1440259" y="7697703"/>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5" name="Figure 2 label 4 line 1">
            <a:extLst xmlns:a="http://schemas.openxmlformats.org/drawingml/2006/main">
              <a:ext uri="{FF2B5EF4-FFF2-40B4-BE49-F238E27FC236}">
                <a16:creationId xmlns:a16="http://schemas.microsoft.com/office/drawing/2014/main" id="{8266644F-212F-40D2-9C70-197DFBC47994}"/>
              </a:ext>
            </a:extLst>
          </p:cNvPr>
          <p:cNvSpPr>
            <a:spLocks xmlns:a="http://schemas.openxmlformats.org/drawingml/2006/main" noGrp="1"/>
          </p:cNvSpPr>
          <p:nvPr/>
        </p:nvSpPr>
        <p:spPr>
          <a:xfrm xmlns:a="http://schemas.openxmlformats.org/drawingml/2006/main" rot="0">
            <a:off x="1334294" y="652364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a:t>
            </a:r>
          </a:p>
        </p:txBody>
      </p:sp>
      <p:sp>
        <p:nvSpPr>
          <p:cNvPr id="6" name="Figure 2 label 5 line 1">
            <a:extLst xmlns:a="http://schemas.openxmlformats.org/drawingml/2006/main">
              <a:ext uri="{FF2B5EF4-FFF2-40B4-BE49-F238E27FC236}">
                <a16:creationId xmlns:a16="http://schemas.microsoft.com/office/drawing/2014/main" id="{69743F06-C418-42B1-A372-28753874672E}"/>
              </a:ext>
            </a:extLst>
          </p:cNvPr>
          <p:cNvSpPr>
            <a:spLocks xmlns:a="http://schemas.openxmlformats.org/drawingml/2006/main" noGrp="1"/>
          </p:cNvSpPr>
          <p:nvPr/>
        </p:nvSpPr>
        <p:spPr>
          <a:xfrm xmlns:a="http://schemas.openxmlformats.org/drawingml/2006/main" rot="0">
            <a:off x="1334294" y="534958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7" name="Figure 2 label 6 line 1">
            <a:extLst xmlns:a="http://schemas.openxmlformats.org/drawingml/2006/main">
              <a:ext uri="{FF2B5EF4-FFF2-40B4-BE49-F238E27FC236}">
                <a16:creationId xmlns:a16="http://schemas.microsoft.com/office/drawing/2014/main" id="{CD4F10CF-6898-4EC4-BC6C-7EDF44344B39}"/>
              </a:ext>
            </a:extLst>
          </p:cNvPr>
          <p:cNvSpPr>
            <a:spLocks xmlns:a="http://schemas.openxmlformats.org/drawingml/2006/main" noGrp="1"/>
          </p:cNvSpPr>
          <p:nvPr/>
        </p:nvSpPr>
        <p:spPr>
          <a:xfrm xmlns:a="http://schemas.openxmlformats.org/drawingml/2006/main" rot="0">
            <a:off x="1334294" y="417552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30</a:t>
            </a:r>
          </a:p>
        </p:txBody>
      </p:sp>
      <p:sp>
        <p:nvSpPr>
          <p:cNvPr id="8" name="Figure 2 label 7 line 1">
            <a:extLst xmlns:a="http://schemas.openxmlformats.org/drawingml/2006/main">
              <a:ext uri="{FF2B5EF4-FFF2-40B4-BE49-F238E27FC236}">
                <a16:creationId xmlns:a16="http://schemas.microsoft.com/office/drawing/2014/main" id="{F7696042-D0D9-4BA1-95AB-80A1BED157FB}"/>
              </a:ext>
            </a:extLst>
          </p:cNvPr>
          <p:cNvSpPr>
            <a:spLocks xmlns:a="http://schemas.openxmlformats.org/drawingml/2006/main" noGrp="1"/>
          </p:cNvSpPr>
          <p:nvPr/>
        </p:nvSpPr>
        <p:spPr>
          <a:xfrm xmlns:a="http://schemas.openxmlformats.org/drawingml/2006/main" rot="0">
            <a:off x="1334294" y="300146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9" name="Figure 2 label 8 line 1">
            <a:extLst xmlns:a="http://schemas.openxmlformats.org/drawingml/2006/main">
              <a:ext uri="{FF2B5EF4-FFF2-40B4-BE49-F238E27FC236}">
                <a16:creationId xmlns:a16="http://schemas.microsoft.com/office/drawing/2014/main" id="{E7CF1899-874E-4D9F-A8E3-DD1C751CD72E}"/>
              </a:ext>
            </a:extLst>
          </p:cNvPr>
          <p:cNvSpPr>
            <a:spLocks xmlns:a="http://schemas.openxmlformats.org/drawingml/2006/main" noGrp="1"/>
          </p:cNvSpPr>
          <p:nvPr/>
        </p:nvSpPr>
        <p:spPr>
          <a:xfrm xmlns:a="http://schemas.openxmlformats.org/drawingml/2006/main" rot="16200000">
            <a:off x="962600" y="4970145"/>
            <a:ext cx="70633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US$bn</a:t>
            </a:r>
          </a:p>
        </p:txBody>
      </p:sp>
      <p:sp>
        <p:nvSpPr>
          <p:cNvPr id="10" name="Figure 2 label 9 line 1">
            <a:extLst xmlns:a="http://schemas.openxmlformats.org/drawingml/2006/main">
              <a:ext uri="{FF2B5EF4-FFF2-40B4-BE49-F238E27FC236}">
                <a16:creationId xmlns:a16="http://schemas.microsoft.com/office/drawing/2014/main" id="{802EF9E5-82BC-44FC-80C9-32473086772E}"/>
              </a:ext>
            </a:extLst>
          </p:cNvPr>
          <p:cNvSpPr>
            <a:spLocks xmlns:a="http://schemas.openxmlformats.org/drawingml/2006/main" noGrp="1"/>
          </p:cNvSpPr>
          <p:nvPr/>
        </p:nvSpPr>
        <p:spPr>
          <a:xfrm xmlns:a="http://schemas.openxmlformats.org/drawingml/2006/main" rot="0">
            <a:off x="4171807" y="6049458"/>
            <a:ext cx="70063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FFFFFF"/>
                </a:solidFill>
                <a:latin typeface="Arial Unicode MS"/>
                <a:ea typeface="Arial Unicode MS"/>
                <a:cs typeface="Arial Unicode MS"/>
              </a:defRPr>
            </a:defPPr>
          </a:lstStyle>
          <a:p xmlns:a="http://schemas.openxmlformats.org/drawingml/2006/main">
            <a:pPr algn="ctr">
              <a:lnSpc>
                <a:spcPct val="100000"/>
              </a:lnSpc>
              <a:buNone/>
              <a:defRPr sz="2125" b="1">
                <a:solidFill>
                  <a:srgbClr val="FFFFFF"/>
                </a:solidFill>
                <a:latin typeface="Arial Unicode MS"/>
                <a:ea typeface="Arial Unicode MS"/>
                <a:cs typeface="Arial Unicode MS"/>
              </a:defRPr>
            </a:pPr>
            <a:r>
              <a:rPr sz="2125" b="1">
                <a:solidFill>
                  <a:srgbClr val="FFFFFF"/>
                </a:solidFill>
                <a:latin typeface="Arial Unicode MS"/>
                <a:ea typeface="Arial Unicode MS"/>
                <a:cs typeface="Arial Unicode MS"/>
              </a:rPr>
              <a:t>26.4</a:t>
            </a:r>
          </a:p>
        </p:txBody>
      </p:sp>
      <p:sp>
        <p:nvSpPr>
          <p:cNvPr id="11" name="Figure 2 label 10 line 1">
            <a:extLst xmlns:a="http://schemas.openxmlformats.org/drawingml/2006/main">
              <a:ext uri="{FF2B5EF4-FFF2-40B4-BE49-F238E27FC236}">
                <a16:creationId xmlns:a16="http://schemas.microsoft.com/office/drawing/2014/main" id="{1202730D-5976-4239-A894-6138528CFC0F}"/>
              </a:ext>
            </a:extLst>
          </p:cNvPr>
          <p:cNvSpPr>
            <a:spLocks xmlns:a="http://schemas.openxmlformats.org/drawingml/2006/main" noGrp="1"/>
          </p:cNvSpPr>
          <p:nvPr/>
        </p:nvSpPr>
        <p:spPr>
          <a:xfrm xmlns:a="http://schemas.openxmlformats.org/drawingml/2006/main" rot="0">
            <a:off x="4212933" y="3645088"/>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15.1</a:t>
            </a:r>
          </a:p>
        </p:txBody>
      </p:sp>
      <p:sp>
        <p:nvSpPr>
          <p:cNvPr id="12" name="Figure 2 label 11 line 1">
            <a:extLst xmlns:a="http://schemas.openxmlformats.org/drawingml/2006/main">
              <a:ext uri="{FF2B5EF4-FFF2-40B4-BE49-F238E27FC236}">
                <a16:creationId xmlns:a16="http://schemas.microsoft.com/office/drawing/2014/main" id="{EBAC8EF3-9F05-42B5-9369-CC94A309C254}"/>
              </a:ext>
            </a:extLst>
          </p:cNvPr>
          <p:cNvSpPr>
            <a:spLocks xmlns:a="http://schemas.openxmlformats.org/drawingml/2006/main" noGrp="1"/>
          </p:cNvSpPr>
          <p:nvPr/>
        </p:nvSpPr>
        <p:spPr>
          <a:xfrm xmlns:a="http://schemas.openxmlformats.org/drawingml/2006/main" rot="0">
            <a:off x="4109969" y="2416499"/>
            <a:ext cx="824309" cy="39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500" b="1">
                <a:solidFill>
                  <a:srgbClr val="00355F"/>
                </a:solidFill>
                <a:latin typeface="Arial Unicode MS"/>
                <a:ea typeface="Arial Unicode MS"/>
                <a:cs typeface="Arial Unicode MS"/>
              </a:defRPr>
            </a:pPr>
            <a:r>
              <a:rPr sz="2500" b="1">
                <a:solidFill>
                  <a:srgbClr val="00355F"/>
                </a:solidFill>
                <a:latin typeface="Arial Unicode MS"/>
                <a:ea typeface="Arial Unicode MS"/>
                <a:cs typeface="Arial Unicode MS"/>
              </a:rPr>
              <a:t>41.5</a:t>
            </a:r>
          </a:p>
        </p:txBody>
      </p:sp>
      <p:sp>
        <p:nvSpPr>
          <p:cNvPr id="13" name="Figure 2 label 12 line 1">
            <a:extLst xmlns:a="http://schemas.openxmlformats.org/drawingml/2006/main">
              <a:ext uri="{FF2B5EF4-FFF2-40B4-BE49-F238E27FC236}">
                <a16:creationId xmlns:a16="http://schemas.microsoft.com/office/drawing/2014/main" id="{BD9BAF87-13C2-403D-9ABD-8175805F5996}"/>
              </a:ext>
            </a:extLst>
          </p:cNvPr>
          <p:cNvSpPr>
            <a:spLocks xmlns:a="http://schemas.openxmlformats.org/drawingml/2006/main" noGrp="1"/>
          </p:cNvSpPr>
          <p:nvPr/>
        </p:nvSpPr>
        <p:spPr>
          <a:xfrm xmlns:a="http://schemas.openxmlformats.org/drawingml/2006/main" rot="0">
            <a:off x="8735690" y="7329182"/>
            <a:ext cx="550614"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FFFFFF"/>
                </a:solidFill>
                <a:latin typeface="Arial Unicode MS"/>
                <a:ea typeface="Arial Unicode MS"/>
                <a:cs typeface="Arial Unicode MS"/>
              </a:defRPr>
            </a:defPPr>
          </a:lstStyle>
          <a:p xmlns:a="http://schemas.openxmlformats.org/drawingml/2006/main">
            <a:pPr algn="ctr">
              <a:lnSpc>
                <a:spcPct val="100000"/>
              </a:lnSpc>
              <a:buNone/>
              <a:defRPr sz="2125" b="1">
                <a:solidFill>
                  <a:srgbClr val="FFFFFF"/>
                </a:solidFill>
                <a:latin typeface="Arial Unicode MS"/>
                <a:ea typeface="Arial Unicode MS"/>
                <a:cs typeface="Arial Unicode MS"/>
              </a:defRPr>
            </a:pPr>
            <a:r>
              <a:rPr sz="2125" b="1">
                <a:solidFill>
                  <a:srgbClr val="FFFFFF"/>
                </a:solidFill>
                <a:latin typeface="Arial Unicode MS"/>
                <a:ea typeface="Arial Unicode MS"/>
                <a:cs typeface="Arial Unicode MS"/>
              </a:rPr>
              <a:t>4.6</a:t>
            </a:r>
          </a:p>
        </p:txBody>
      </p:sp>
      <p:sp>
        <p:nvSpPr>
          <p:cNvPr id="14" name="Figure 2 label 13 line 1">
            <a:extLst xmlns:a="http://schemas.openxmlformats.org/drawingml/2006/main">
              <a:ext uri="{FF2B5EF4-FFF2-40B4-BE49-F238E27FC236}">
                <a16:creationId xmlns:a16="http://schemas.microsoft.com/office/drawing/2014/main" id="{DE7080EE-4E62-4C27-96DC-5B56BF514AED}"/>
              </a:ext>
            </a:extLst>
          </p:cNvPr>
          <p:cNvSpPr>
            <a:spLocks xmlns:a="http://schemas.openxmlformats.org/drawingml/2006/main" noGrp="1"/>
          </p:cNvSpPr>
          <p:nvPr/>
        </p:nvSpPr>
        <p:spPr>
          <a:xfrm xmlns:a="http://schemas.openxmlformats.org/drawingml/2006/main" rot="0">
            <a:off x="8768035" y="6908974"/>
            <a:ext cx="485924"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3.1</a:t>
            </a:r>
          </a:p>
        </p:txBody>
      </p:sp>
      <p:sp>
        <p:nvSpPr>
          <p:cNvPr id="15" name="Figure 2 label 14 line 1">
            <a:extLst xmlns:a="http://schemas.openxmlformats.org/drawingml/2006/main">
              <a:ext uri="{FF2B5EF4-FFF2-40B4-BE49-F238E27FC236}">
                <a16:creationId xmlns:a16="http://schemas.microsoft.com/office/drawing/2014/main" id="{D5AC33F6-3800-4B6A-82AA-6B2416DF2B65}"/>
              </a:ext>
            </a:extLst>
          </p:cNvPr>
          <p:cNvSpPr>
            <a:spLocks xmlns:a="http://schemas.openxmlformats.org/drawingml/2006/main" noGrp="1"/>
          </p:cNvSpPr>
          <p:nvPr/>
        </p:nvSpPr>
        <p:spPr>
          <a:xfrm xmlns:a="http://schemas.openxmlformats.org/drawingml/2006/main" rot="0">
            <a:off x="8687098" y="6384822"/>
            <a:ext cx="647799" cy="39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500" b="1">
                <a:solidFill>
                  <a:srgbClr val="00355F"/>
                </a:solidFill>
                <a:latin typeface="Arial Unicode MS"/>
                <a:ea typeface="Arial Unicode MS"/>
                <a:cs typeface="Arial Unicode MS"/>
              </a:defRPr>
            </a:pPr>
            <a:r>
              <a:rPr sz="2500" b="1">
                <a:solidFill>
                  <a:srgbClr val="00355F"/>
                </a:solidFill>
                <a:latin typeface="Arial Unicode MS"/>
                <a:ea typeface="Arial Unicode MS"/>
                <a:cs typeface="Arial Unicode MS"/>
              </a:rPr>
              <a:t>7.7</a:t>
            </a:r>
          </a:p>
        </p:txBody>
      </p:sp>
      <p:sp>
        <p:nvSpPr>
          <p:cNvPr id="16" name="Figure 2 label 15 line 1">
            <a:extLst xmlns:a="http://schemas.openxmlformats.org/drawingml/2006/main">
              <a:ext uri="{FF2B5EF4-FFF2-40B4-BE49-F238E27FC236}">
                <a16:creationId xmlns:a16="http://schemas.microsoft.com/office/drawing/2014/main" id="{2BE28B9A-7A63-451C-ADFA-C02399DD7E6B}"/>
              </a:ext>
            </a:extLst>
          </p:cNvPr>
          <p:cNvSpPr>
            <a:spLocks xmlns:a="http://schemas.openxmlformats.org/drawingml/2006/main" noGrp="1"/>
          </p:cNvSpPr>
          <p:nvPr/>
        </p:nvSpPr>
        <p:spPr>
          <a:xfrm xmlns:a="http://schemas.openxmlformats.org/drawingml/2006/main" rot="0">
            <a:off x="2438876" y="2096130"/>
            <a:ext cx="225816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Research biological reagents</a:t>
            </a:r>
          </a:p>
        </p:txBody>
      </p:sp>
      <p:sp>
        <p:nvSpPr>
          <p:cNvPr id="17" name="Figure 2 label 16 line 1">
            <a:extLst xmlns:a="http://schemas.openxmlformats.org/drawingml/2006/main">
              <a:ext uri="{FF2B5EF4-FFF2-40B4-BE49-F238E27FC236}">
                <a16:creationId xmlns:a16="http://schemas.microsoft.com/office/drawing/2014/main" id="{22116782-1244-44C0-8686-E72BB1BFC73C}"/>
              </a:ext>
            </a:extLst>
          </p:cNvPr>
          <p:cNvSpPr>
            <a:spLocks xmlns:a="http://schemas.openxmlformats.org/drawingml/2006/main" noGrp="1"/>
          </p:cNvSpPr>
          <p:nvPr/>
        </p:nvSpPr>
        <p:spPr>
          <a:xfrm xmlns:a="http://schemas.openxmlformats.org/drawingml/2006/main" rot="0">
            <a:off x="5388516" y="2096130"/>
            <a:ext cx="304993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Other tools: instruments + consumables</a:t>
            </a:r>
          </a:p>
        </p:txBody>
      </p:sp>
      <p:sp>
        <p:nvSpPr>
          <p:cNvPr id="18" name="Figure 2 label 17 line 1">
            <a:extLst xmlns:a="http://schemas.openxmlformats.org/drawingml/2006/main">
              <a:ext uri="{FF2B5EF4-FFF2-40B4-BE49-F238E27FC236}">
                <a16:creationId xmlns:a16="http://schemas.microsoft.com/office/drawing/2014/main" id="{0240EB9E-9140-4C75-96A6-12BDFD749D12}"/>
              </a:ext>
            </a:extLst>
          </p:cNvPr>
          <p:cNvSpPr>
            <a:spLocks xmlns:a="http://schemas.openxmlformats.org/drawingml/2006/main" noGrp="1"/>
          </p:cNvSpPr>
          <p:nvPr/>
        </p:nvSpPr>
        <p:spPr>
          <a:xfrm xmlns:a="http://schemas.openxmlformats.org/drawingml/2006/main" rot="0">
            <a:off x="991870" y="421920"/>
            <a:ext cx="5409654"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02  China and global LST markets</a:t>
            </a:r>
          </a:p>
        </p:txBody>
      </p:sp>
      <p:sp>
        <p:nvSpPr>
          <p:cNvPr id="19" name="Figure 2 label 18 line 1">
            <a:extLst xmlns:a="http://schemas.openxmlformats.org/drawingml/2006/main">
              <a:ext uri="{FF2B5EF4-FFF2-40B4-BE49-F238E27FC236}">
                <a16:creationId xmlns:a16="http://schemas.microsoft.com/office/drawing/2014/main" id="{E221D811-1BFD-474A-9737-45FF71C1E7ED}"/>
              </a:ext>
            </a:extLst>
          </p:cNvPr>
          <p:cNvSpPr>
            <a:spLocks xmlns:a="http://schemas.openxmlformats.org/drawingml/2006/main" noGrp="1"/>
          </p:cNvSpPr>
          <p:nvPr/>
        </p:nvSpPr>
        <p:spPr>
          <a:xfrm xmlns:a="http://schemas.openxmlformats.org/drawingml/2006/main" rot="0">
            <a:off x="15729149" y="661601"/>
            <a:ext cx="1002903"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HISTORICAL</a:t>
            </a:r>
          </a:p>
        </p:txBody>
      </p:sp>
      <p:sp>
        <p:nvSpPr>
          <p:cNvPr id="20" name="Figure 2 label 19 line 1">
            <a:extLst xmlns:a="http://schemas.openxmlformats.org/drawingml/2006/main">
              <a:ext uri="{FF2B5EF4-FFF2-40B4-BE49-F238E27FC236}">
                <a16:creationId xmlns:a16="http://schemas.microsoft.com/office/drawing/2014/main" id="{E64F86F9-5E1A-4E4A-859D-6B0B31824527}"/>
              </a:ext>
            </a:extLst>
          </p:cNvPr>
          <p:cNvSpPr>
            <a:spLocks xmlns:a="http://schemas.openxmlformats.org/drawingml/2006/main" noGrp="1"/>
          </p:cNvSpPr>
          <p:nvPr/>
        </p:nvSpPr>
        <p:spPr>
          <a:xfrm xmlns:a="http://schemas.openxmlformats.org/drawingml/2006/main" rot="0">
            <a:off x="998220" y="1249487"/>
            <a:ext cx="883786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2025 historical estimates from one F&amp;S study; this is a defined market scope, not a universal LST TAM.</a:t>
            </a:r>
          </a:p>
        </p:txBody>
      </p:sp>
      <p:sp>
        <p:nvSpPr>
          <p:cNvPr id="21" name="Figure 2 label 20 line 1">
            <a:extLst xmlns:a="http://schemas.openxmlformats.org/drawingml/2006/main">
              <a:ext uri="{FF2B5EF4-FFF2-40B4-BE49-F238E27FC236}">
                <a16:creationId xmlns:a16="http://schemas.microsoft.com/office/drawing/2014/main" id="{0E4DC5F6-02AF-410C-9AD0-7961E8CDCE06}"/>
              </a:ext>
            </a:extLst>
          </p:cNvPr>
          <p:cNvSpPr>
            <a:spLocks xmlns:a="http://schemas.openxmlformats.org/drawingml/2006/main" noGrp="1"/>
          </p:cNvSpPr>
          <p:nvPr/>
        </p:nvSpPr>
        <p:spPr>
          <a:xfrm xmlns:a="http://schemas.openxmlformats.org/drawingml/2006/main" rot="0">
            <a:off x="999173" y="9256035"/>
            <a:ext cx="789131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Other tools are the residual. Comparable instrument and consumable splits were not separately available.</a:t>
            </a:r>
          </a:p>
        </p:txBody>
      </p:sp>
      <p:sp>
        <p:nvSpPr>
          <p:cNvPr id="22" name="Figure 2 label 21 line 1">
            <a:extLst xmlns:a="http://schemas.openxmlformats.org/drawingml/2006/main">
              <a:ext uri="{FF2B5EF4-FFF2-40B4-BE49-F238E27FC236}">
                <a16:creationId xmlns:a16="http://schemas.microsoft.com/office/drawing/2014/main" id="{22459D7D-9D34-4933-80FA-193ED12255DE}"/>
              </a:ext>
            </a:extLst>
          </p:cNvPr>
          <p:cNvSpPr>
            <a:spLocks xmlns:a="http://schemas.openxmlformats.org/drawingml/2006/main" noGrp="1"/>
          </p:cNvSpPr>
          <p:nvPr/>
        </p:nvSpPr>
        <p:spPr>
          <a:xfrm xmlns:a="http://schemas.openxmlformats.org/drawingml/2006/main" rot="0">
            <a:off x="1000316" y="9675546"/>
            <a:ext cx="6549212"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ACROBiosystems HKEX application, 30 Sep 2026, printed pp. 65 and 67; links in SOURCES.md.</a:t>
            </a:r>
          </a:p>
        </p:txBody>
      </p:sp>
      <p:sp>
        <p:nvSpPr>
          <p:cNvPr id="23" name="Figure 2 label 22 line 1">
            <a:extLst xmlns:a="http://schemas.openxmlformats.org/drawingml/2006/main">
              <a:ext uri="{FF2B5EF4-FFF2-40B4-BE49-F238E27FC236}">
                <a16:creationId xmlns:a16="http://schemas.microsoft.com/office/drawing/2014/main" id="{08C4ADD7-7FFB-4763-9675-F7DB2EF0F5C6}"/>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24" name="Figure 2 label 23 line 1">
            <a:extLst xmlns:a="http://schemas.openxmlformats.org/drawingml/2006/main">
              <a:ext uri="{FF2B5EF4-FFF2-40B4-BE49-F238E27FC236}">
                <a16:creationId xmlns:a16="http://schemas.microsoft.com/office/drawing/2014/main" id="{13C47A34-DEF0-43F4-AEF7-DF0D26FE553D}"/>
              </a:ext>
            </a:extLst>
          </p:cNvPr>
          <p:cNvSpPr>
            <a:spLocks xmlns:a="http://schemas.openxmlformats.org/drawingml/2006/main" noGrp="1"/>
          </p:cNvSpPr>
          <p:nvPr/>
        </p:nvSpPr>
        <p:spPr>
          <a:xfrm xmlns:a="http://schemas.openxmlformats.org/drawingml/2006/main" rot="0">
            <a:off x="13159106" y="3177838"/>
            <a:ext cx="2083643"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China / global market</a:t>
            </a:r>
          </a:p>
        </p:txBody>
      </p:sp>
      <p:sp>
        <p:nvSpPr>
          <p:cNvPr id="25" name="Figure 2 label 24 line 1">
            <a:extLst xmlns:a="http://schemas.openxmlformats.org/drawingml/2006/main">
              <a:ext uri="{FF2B5EF4-FFF2-40B4-BE49-F238E27FC236}">
                <a16:creationId xmlns:a16="http://schemas.microsoft.com/office/drawing/2014/main" id="{78C3181C-F1E2-4E2B-A8FA-E36FC14D1D7D}"/>
              </a:ext>
            </a:extLst>
          </p:cNvPr>
          <p:cNvSpPr>
            <a:spLocks xmlns:a="http://schemas.openxmlformats.org/drawingml/2006/main" noGrp="1"/>
          </p:cNvSpPr>
          <p:nvPr/>
        </p:nvSpPr>
        <p:spPr>
          <a:xfrm xmlns:a="http://schemas.openxmlformats.org/drawingml/2006/main" rot="0">
            <a:off x="13143866" y="3660147"/>
            <a:ext cx="2047180" cy="734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4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4625" b="1">
                <a:solidFill>
                  <a:srgbClr val="00355F"/>
                </a:solidFill>
                <a:latin typeface="Arial Unicode MS"/>
                <a:ea typeface="Arial Unicode MS"/>
                <a:cs typeface="Arial Unicode MS"/>
              </a:defRPr>
            </a:pPr>
            <a:r>
              <a:rPr sz="4625" b="1">
                <a:solidFill>
                  <a:srgbClr val="00355F"/>
                </a:solidFill>
                <a:latin typeface="Arial Unicode MS"/>
                <a:ea typeface="Arial Unicode MS"/>
                <a:cs typeface="Arial Unicode MS"/>
              </a:rPr>
              <a:t>18.6%</a:t>
            </a:r>
          </a:p>
        </p:txBody>
      </p:sp>
      <p:sp>
        <p:nvSpPr>
          <p:cNvPr id="26" name="Figure 2 label 25 line 1">
            <a:extLst xmlns:a="http://schemas.openxmlformats.org/drawingml/2006/main">
              <a:ext uri="{FF2B5EF4-FFF2-40B4-BE49-F238E27FC236}">
                <a16:creationId xmlns:a16="http://schemas.microsoft.com/office/drawing/2014/main" id="{79DFF641-BA23-453A-B2B5-C819D5967894}"/>
              </a:ext>
            </a:extLst>
          </p:cNvPr>
          <p:cNvSpPr>
            <a:spLocks xmlns:a="http://schemas.openxmlformats.org/drawingml/2006/main" noGrp="1"/>
          </p:cNvSpPr>
          <p:nvPr/>
        </p:nvSpPr>
        <p:spPr>
          <a:xfrm xmlns:a="http://schemas.openxmlformats.org/drawingml/2006/main" rot="0">
            <a:off x="13159740" y="4881351"/>
            <a:ext cx="91827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7.7 / 41.5</a:t>
            </a:r>
          </a:p>
        </p:txBody>
      </p:sp>
      <p:sp>
        <p:nvSpPr>
          <p:cNvPr id="27" name="Figure 2 label 26 line 1">
            <a:extLst xmlns:a="http://schemas.openxmlformats.org/drawingml/2006/main">
              <a:ext uri="{FF2B5EF4-FFF2-40B4-BE49-F238E27FC236}">
                <a16:creationId xmlns:a16="http://schemas.microsoft.com/office/drawing/2014/main" id="{58D69D64-5BAA-4029-99AD-041C0371C39F}"/>
              </a:ext>
            </a:extLst>
          </p:cNvPr>
          <p:cNvSpPr>
            <a:spLocks xmlns:a="http://schemas.openxmlformats.org/drawingml/2006/main" noGrp="1"/>
          </p:cNvSpPr>
          <p:nvPr/>
        </p:nvSpPr>
        <p:spPr>
          <a:xfrm xmlns:a="http://schemas.openxmlformats.org/drawingml/2006/main" rot="0">
            <a:off x="13159740" y="5085716"/>
            <a:ext cx="277073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Same-scope historical estimate</a:t>
            </a:r>
          </a:p>
        </p:txBody>
      </p:sp>
      <p:sp>
        <p:nvSpPr>
          <p:cNvPr id="28" name="Figure 2 label 27 line 1">
            <a:extLst xmlns:a="http://schemas.openxmlformats.org/drawingml/2006/main">
              <a:ext uri="{FF2B5EF4-FFF2-40B4-BE49-F238E27FC236}">
                <a16:creationId xmlns:a16="http://schemas.microsoft.com/office/drawing/2014/main" id="{26A9019E-BA1F-41C4-B597-208986739C57}"/>
              </a:ext>
            </a:extLst>
          </p:cNvPr>
          <p:cNvSpPr>
            <a:spLocks xmlns:a="http://schemas.openxmlformats.org/drawingml/2006/main" noGrp="1"/>
          </p:cNvSpPr>
          <p:nvPr/>
        </p:nvSpPr>
        <p:spPr>
          <a:xfrm xmlns:a="http://schemas.openxmlformats.org/drawingml/2006/main" rot="0">
            <a:off x="12885420" y="6438162"/>
            <a:ext cx="196646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Broader research and</a:t>
            </a:r>
          </a:p>
        </p:txBody>
      </p:sp>
      <p:sp>
        <p:nvSpPr>
          <p:cNvPr id="29" name="Figure 2 label 28 line 1">
            <a:extLst xmlns:a="http://schemas.openxmlformats.org/drawingml/2006/main">
              <a:ext uri="{FF2B5EF4-FFF2-40B4-BE49-F238E27FC236}">
                <a16:creationId xmlns:a16="http://schemas.microsoft.com/office/drawing/2014/main" id="{FF8BE049-07CD-40CC-B649-C5976B469CD6}"/>
              </a:ext>
            </a:extLst>
          </p:cNvPr>
          <p:cNvSpPr>
            <a:spLocks xmlns:a="http://schemas.openxmlformats.org/drawingml/2006/main" noGrp="1"/>
          </p:cNvSpPr>
          <p:nvPr/>
        </p:nvSpPr>
        <p:spPr>
          <a:xfrm xmlns:a="http://schemas.openxmlformats.org/drawingml/2006/main" rot="0">
            <a:off x="12885420" y="6639740"/>
            <a:ext cx="238973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production markets require</a:t>
            </a:r>
          </a:p>
        </p:txBody>
      </p:sp>
      <p:sp>
        <p:nvSpPr>
          <p:cNvPr id="30" name="Figure 2 label 29 line 1">
            <a:extLst xmlns:a="http://schemas.openxmlformats.org/drawingml/2006/main">
              <a:ext uri="{FF2B5EF4-FFF2-40B4-BE49-F238E27FC236}">
                <a16:creationId xmlns:a16="http://schemas.microsoft.com/office/drawing/2014/main" id="{129BFB48-1B64-4EA7-8A52-279E584F47E4}"/>
              </a:ext>
            </a:extLst>
          </p:cNvPr>
          <p:cNvSpPr>
            <a:spLocks xmlns:a="http://schemas.openxmlformats.org/drawingml/2006/main" noGrp="1"/>
          </p:cNvSpPr>
          <p:nvPr/>
        </p:nvSpPr>
        <p:spPr>
          <a:xfrm xmlns:a="http://schemas.openxmlformats.org/drawingml/2006/main" rot="0">
            <a:off x="12885420" y="6841319"/>
            <a:ext cx="280302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 separate scope reconciliation.</a:t>
            </a:r>
          </a:p>
        </p:txBody>
      </p:sp>
    </p:spTree>
    <p:extLst>
      <p:ext uri="{BB962C8B-B14F-4D97-AF65-F5344CB8AC3E}">
        <p14:creationId xmlns:p14="http://schemas.microsoft.com/office/powerpoint/2010/main" val="20858220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9" name="">
            <a:extLst xmlns:a="http://schemas.openxmlformats.org/drawingml/2006/main">
              <a:ext uri="{FF2B5EF4-FFF2-40B4-BE49-F238E27FC236}">
                <a16:creationId xmlns:a16="http://schemas.microsoft.com/office/drawing/2014/main" id="{E4975390-C3DD-499F-98E1-8BC2368C59EC}"/>
              </a:ext>
            </a:extLst>
          </p:cNvPr>
          <p:cNvPicPr>
            <a:picLocks xmlns:a="http://schemas.openxmlformats.org/drawingml/2006/main" noChangeAspect="1"/>
          </p:cNvPicPr>
          <p:nvPr/>
        </p:nvPicPr>
        <p:blipFill>
          <a:blip xmlns:r="http://schemas.openxmlformats.org/officeDocument/2006/relationships" xmlns:a="http://schemas.openxmlformats.org/drawingml/2006/main" r:embed="R777505615fa04b5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3 label 1 line 1">
            <a:extLst xmlns:a="http://schemas.openxmlformats.org/drawingml/2006/main">
              <a:ext uri="{FF2B5EF4-FFF2-40B4-BE49-F238E27FC236}">
                <a16:creationId xmlns:a16="http://schemas.microsoft.com/office/drawing/2014/main" id="{082DD7BB-3D82-44FC-BF2C-4C300A7CCE10}"/>
              </a:ext>
            </a:extLst>
          </p:cNvPr>
          <p:cNvSpPr>
            <a:spLocks xmlns:a="http://schemas.openxmlformats.org/drawingml/2006/main" noGrp="1"/>
          </p:cNvSpPr>
          <p:nvPr/>
        </p:nvSpPr>
        <p:spPr>
          <a:xfrm xmlns:a="http://schemas.openxmlformats.org/drawingml/2006/main" rot="0">
            <a:off x="1994982" y="7255976"/>
            <a:ext cx="39915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3" name="Figure 3 label 2 line 1">
            <a:extLst xmlns:a="http://schemas.openxmlformats.org/drawingml/2006/main">
              <a:ext uri="{FF2B5EF4-FFF2-40B4-BE49-F238E27FC236}">
                <a16:creationId xmlns:a16="http://schemas.microsoft.com/office/drawing/2014/main" id="{58C906F2-3377-4B53-92EB-E7A5E2E85D8C}"/>
              </a:ext>
            </a:extLst>
          </p:cNvPr>
          <p:cNvSpPr>
            <a:spLocks xmlns:a="http://schemas.openxmlformats.org/drawingml/2006/main" noGrp="1"/>
          </p:cNvSpPr>
          <p:nvPr/>
        </p:nvSpPr>
        <p:spPr>
          <a:xfrm xmlns:a="http://schemas.openxmlformats.org/drawingml/2006/main" rot="0">
            <a:off x="5599599" y="7255976"/>
            <a:ext cx="50512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25%</a:t>
            </a:r>
          </a:p>
        </p:txBody>
      </p:sp>
      <p:sp>
        <p:nvSpPr>
          <p:cNvPr id="4" name="Figure 3 label 3 line 1">
            <a:extLst xmlns:a="http://schemas.openxmlformats.org/drawingml/2006/main">
              <a:ext uri="{FF2B5EF4-FFF2-40B4-BE49-F238E27FC236}">
                <a16:creationId xmlns:a16="http://schemas.microsoft.com/office/drawing/2014/main" id="{51625886-BC0C-4DDB-BCBC-1587E21826B4}"/>
              </a:ext>
            </a:extLst>
          </p:cNvPr>
          <p:cNvSpPr>
            <a:spLocks xmlns:a="http://schemas.openxmlformats.org/drawingml/2006/main" noGrp="1"/>
          </p:cNvSpPr>
          <p:nvPr/>
        </p:nvSpPr>
        <p:spPr>
          <a:xfrm xmlns:a="http://schemas.openxmlformats.org/drawingml/2006/main" rot="0">
            <a:off x="9257199" y="7255976"/>
            <a:ext cx="50512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50%</a:t>
            </a:r>
          </a:p>
        </p:txBody>
      </p:sp>
      <p:sp>
        <p:nvSpPr>
          <p:cNvPr id="5" name="Figure 3 label 4 line 1">
            <a:extLst xmlns:a="http://schemas.openxmlformats.org/drawingml/2006/main">
              <a:ext uri="{FF2B5EF4-FFF2-40B4-BE49-F238E27FC236}">
                <a16:creationId xmlns:a16="http://schemas.microsoft.com/office/drawing/2014/main" id="{CC766733-F904-4FBC-AED6-3BA149E6D67F}"/>
              </a:ext>
            </a:extLst>
          </p:cNvPr>
          <p:cNvSpPr>
            <a:spLocks xmlns:a="http://schemas.openxmlformats.org/drawingml/2006/main" noGrp="1"/>
          </p:cNvSpPr>
          <p:nvPr/>
        </p:nvSpPr>
        <p:spPr>
          <a:xfrm xmlns:a="http://schemas.openxmlformats.org/drawingml/2006/main" rot="0">
            <a:off x="12914799" y="7255976"/>
            <a:ext cx="50512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75%</a:t>
            </a:r>
          </a:p>
        </p:txBody>
      </p:sp>
      <p:sp>
        <p:nvSpPr>
          <p:cNvPr id="6" name="Figure 3 label 5 line 1">
            <a:extLst xmlns:a="http://schemas.openxmlformats.org/drawingml/2006/main">
              <a:ext uri="{FF2B5EF4-FFF2-40B4-BE49-F238E27FC236}">
                <a16:creationId xmlns:a16="http://schemas.microsoft.com/office/drawing/2014/main" id="{46A4AB36-1AEE-4E0D-A582-1AA7579F55BF}"/>
              </a:ext>
            </a:extLst>
          </p:cNvPr>
          <p:cNvSpPr>
            <a:spLocks xmlns:a="http://schemas.openxmlformats.org/drawingml/2006/main" noGrp="1"/>
          </p:cNvSpPr>
          <p:nvPr/>
        </p:nvSpPr>
        <p:spPr>
          <a:xfrm xmlns:a="http://schemas.openxmlformats.org/drawingml/2006/main" rot="0">
            <a:off x="16519416" y="7255976"/>
            <a:ext cx="61108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7" name="Figure 3 label 6 line 1">
            <a:extLst xmlns:a="http://schemas.openxmlformats.org/drawingml/2006/main">
              <a:ext uri="{FF2B5EF4-FFF2-40B4-BE49-F238E27FC236}">
                <a16:creationId xmlns:a16="http://schemas.microsoft.com/office/drawing/2014/main" id="{A2F0F5FF-4460-4A7B-BCAB-F121CC275D07}"/>
              </a:ext>
            </a:extLst>
          </p:cNvPr>
          <p:cNvSpPr>
            <a:spLocks xmlns:a="http://schemas.openxmlformats.org/drawingml/2006/main" noGrp="1"/>
          </p:cNvSpPr>
          <p:nvPr/>
        </p:nvSpPr>
        <p:spPr>
          <a:xfrm xmlns:a="http://schemas.openxmlformats.org/drawingml/2006/main" rot="0">
            <a:off x="7901747" y="7623105"/>
            <a:ext cx="321602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Assumed share of purchasing spend</a:t>
            </a:r>
          </a:p>
        </p:txBody>
      </p:sp>
      <p:sp>
        <p:nvSpPr>
          <p:cNvPr id="8" name="Figure 3 label 7 line 1">
            <a:extLst xmlns:a="http://schemas.openxmlformats.org/drawingml/2006/main">
              <a:ext uri="{FF2B5EF4-FFF2-40B4-BE49-F238E27FC236}">
                <a16:creationId xmlns:a16="http://schemas.microsoft.com/office/drawing/2014/main" id="{34503307-4DBE-4E6F-93D0-64FF2362FB0E}"/>
              </a:ext>
            </a:extLst>
          </p:cNvPr>
          <p:cNvSpPr>
            <a:spLocks xmlns:a="http://schemas.openxmlformats.org/drawingml/2006/main" noGrp="1"/>
          </p:cNvSpPr>
          <p:nvPr/>
        </p:nvSpPr>
        <p:spPr>
          <a:xfrm xmlns:a="http://schemas.openxmlformats.org/drawingml/2006/main" rot="0">
            <a:off x="705187" y="3900957"/>
            <a:ext cx="133062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2125" b="0">
                <a:solidFill>
                  <a:srgbClr val="00355F"/>
                </a:solidFill>
                <a:latin typeface="Arial Unicode MS"/>
                <a:ea typeface="Arial Unicode MS"/>
                <a:cs typeface="Arial Unicode MS"/>
              </a:defRPr>
            </a:defPPr>
          </a:lstStyle>
          <a:p xmlns:a="http://schemas.openxmlformats.org/drawingml/2006/main">
            <a:pPr algn="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Reagents</a:t>
            </a:r>
          </a:p>
        </p:txBody>
      </p:sp>
      <p:sp>
        <p:nvSpPr>
          <p:cNvPr id="9" name="Figure 3 label 8 line 1">
            <a:extLst xmlns:a="http://schemas.openxmlformats.org/drawingml/2006/main">
              <a:ext uri="{FF2B5EF4-FFF2-40B4-BE49-F238E27FC236}">
                <a16:creationId xmlns:a16="http://schemas.microsoft.com/office/drawing/2014/main" id="{F429DC29-305F-4526-AAB0-E65A60841F65}"/>
              </a:ext>
            </a:extLst>
          </p:cNvPr>
          <p:cNvSpPr>
            <a:spLocks xmlns:a="http://schemas.openxmlformats.org/drawingml/2006/main" noGrp="1"/>
          </p:cNvSpPr>
          <p:nvPr/>
        </p:nvSpPr>
        <p:spPr>
          <a:xfrm xmlns:a="http://schemas.openxmlformats.org/drawingml/2006/main" rot="0">
            <a:off x="210483" y="5054348"/>
            <a:ext cx="1825327"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2125" b="0">
                <a:solidFill>
                  <a:srgbClr val="00355F"/>
                </a:solidFill>
                <a:latin typeface="Arial Unicode MS"/>
                <a:ea typeface="Arial Unicode MS"/>
                <a:cs typeface="Arial Unicode MS"/>
              </a:defRPr>
            </a:defPPr>
          </a:lstStyle>
          <a:p xmlns:a="http://schemas.openxmlformats.org/drawingml/2006/main">
            <a:pPr algn="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Consumables</a:t>
            </a:r>
          </a:p>
        </p:txBody>
      </p:sp>
      <p:sp>
        <p:nvSpPr>
          <p:cNvPr id="10" name="Figure 3 label 9 line 1">
            <a:extLst xmlns:a="http://schemas.openxmlformats.org/drawingml/2006/main">
              <a:ext uri="{FF2B5EF4-FFF2-40B4-BE49-F238E27FC236}">
                <a16:creationId xmlns:a16="http://schemas.microsoft.com/office/drawing/2014/main" id="{2F676C8E-4254-4CD6-884B-8A2DFF3723CE}"/>
              </a:ext>
            </a:extLst>
          </p:cNvPr>
          <p:cNvSpPr>
            <a:spLocks xmlns:a="http://schemas.openxmlformats.org/drawingml/2006/main" noGrp="1"/>
          </p:cNvSpPr>
          <p:nvPr/>
        </p:nvSpPr>
        <p:spPr>
          <a:xfrm xmlns:a="http://schemas.openxmlformats.org/drawingml/2006/main" rot="0">
            <a:off x="450691" y="6207739"/>
            <a:ext cx="1585119"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2125" b="0">
                <a:solidFill>
                  <a:srgbClr val="00355F"/>
                </a:solidFill>
                <a:latin typeface="Arial Unicode MS"/>
                <a:ea typeface="Arial Unicode MS"/>
                <a:cs typeface="Arial Unicode MS"/>
              </a:defRPr>
            </a:defPPr>
          </a:lstStyle>
          <a:p xmlns:a="http://schemas.openxmlformats.org/drawingml/2006/main">
            <a:pPr algn="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Instruments</a:t>
            </a:r>
          </a:p>
        </p:txBody>
      </p:sp>
      <p:sp>
        <p:nvSpPr>
          <p:cNvPr id="11" name="Figure 3 label 10 line 1">
            <a:extLst xmlns:a="http://schemas.openxmlformats.org/drawingml/2006/main">
              <a:ext uri="{FF2B5EF4-FFF2-40B4-BE49-F238E27FC236}">
                <a16:creationId xmlns:a16="http://schemas.microsoft.com/office/drawing/2014/main" id="{82F59F48-9B4F-4E60-AD20-378056699512}"/>
              </a:ext>
            </a:extLst>
          </p:cNvPr>
          <p:cNvSpPr>
            <a:spLocks xmlns:a="http://schemas.openxmlformats.org/drawingml/2006/main" noGrp="1"/>
          </p:cNvSpPr>
          <p:nvPr/>
        </p:nvSpPr>
        <p:spPr>
          <a:xfrm xmlns:a="http://schemas.openxmlformats.org/drawingml/2006/main" rot="0">
            <a:off x="4073382"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30%</a:t>
            </a:r>
          </a:p>
        </p:txBody>
      </p:sp>
      <p:sp>
        <p:nvSpPr>
          <p:cNvPr id="12" name="Figure 3 label 11 line 1">
            <a:extLst xmlns:a="http://schemas.openxmlformats.org/drawingml/2006/main">
              <a:ext uri="{FF2B5EF4-FFF2-40B4-BE49-F238E27FC236}">
                <a16:creationId xmlns:a16="http://schemas.microsoft.com/office/drawing/2014/main" id="{8B773435-583E-4360-BE7F-DB18C085ABBD}"/>
              </a:ext>
            </a:extLst>
          </p:cNvPr>
          <p:cNvSpPr>
            <a:spLocks xmlns:a="http://schemas.openxmlformats.org/drawingml/2006/main" noGrp="1"/>
          </p:cNvSpPr>
          <p:nvPr/>
        </p:nvSpPr>
        <p:spPr>
          <a:xfrm xmlns:a="http://schemas.openxmlformats.org/drawingml/2006/main" rot="0">
            <a:off x="3341861"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20%</a:t>
            </a:r>
          </a:p>
        </p:txBody>
      </p:sp>
      <p:sp>
        <p:nvSpPr>
          <p:cNvPr id="13" name="Figure 3 label 12 line 1">
            <a:extLst xmlns:a="http://schemas.openxmlformats.org/drawingml/2006/main">
              <a:ext uri="{FF2B5EF4-FFF2-40B4-BE49-F238E27FC236}">
                <a16:creationId xmlns:a16="http://schemas.microsoft.com/office/drawing/2014/main" id="{A185C957-B09F-45D4-8722-70C994C3CF6E}"/>
              </a:ext>
            </a:extLst>
          </p:cNvPr>
          <p:cNvSpPr>
            <a:spLocks xmlns:a="http://schemas.openxmlformats.org/drawingml/2006/main" noGrp="1"/>
          </p:cNvSpPr>
          <p:nvPr/>
        </p:nvSpPr>
        <p:spPr>
          <a:xfrm xmlns:a="http://schemas.openxmlformats.org/drawingml/2006/main" rot="0">
            <a:off x="3707621"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25%</a:t>
            </a:r>
          </a:p>
        </p:txBody>
      </p:sp>
      <p:sp>
        <p:nvSpPr>
          <p:cNvPr id="14" name="Figure 3 label 13 line 1">
            <a:extLst xmlns:a="http://schemas.openxmlformats.org/drawingml/2006/main">
              <a:ext uri="{FF2B5EF4-FFF2-40B4-BE49-F238E27FC236}">
                <a16:creationId xmlns:a16="http://schemas.microsoft.com/office/drawing/2014/main" id="{5504EA2D-2AC1-413E-9250-B708095498F2}"/>
              </a:ext>
            </a:extLst>
          </p:cNvPr>
          <p:cNvSpPr>
            <a:spLocks xmlns:a="http://schemas.openxmlformats.org/drawingml/2006/main" noGrp="1"/>
          </p:cNvSpPr>
          <p:nvPr/>
        </p:nvSpPr>
        <p:spPr>
          <a:xfrm xmlns:a="http://schemas.openxmlformats.org/drawingml/2006/main" rot="0">
            <a:off x="8096741"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25%</a:t>
            </a:r>
          </a:p>
        </p:txBody>
      </p:sp>
      <p:sp>
        <p:nvSpPr>
          <p:cNvPr id="15" name="Figure 3 label 14 line 1">
            <a:extLst xmlns:a="http://schemas.openxmlformats.org/drawingml/2006/main">
              <a:ext uri="{FF2B5EF4-FFF2-40B4-BE49-F238E27FC236}">
                <a16:creationId xmlns:a16="http://schemas.microsoft.com/office/drawing/2014/main" id="{990CA609-D050-4C64-93B1-2C4F73E52825}"/>
              </a:ext>
            </a:extLst>
          </p:cNvPr>
          <p:cNvSpPr>
            <a:spLocks xmlns:a="http://schemas.openxmlformats.org/drawingml/2006/main" noGrp="1"/>
          </p:cNvSpPr>
          <p:nvPr/>
        </p:nvSpPr>
        <p:spPr>
          <a:xfrm xmlns:a="http://schemas.openxmlformats.org/drawingml/2006/main" rot="0">
            <a:off x="6267942"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20%</a:t>
            </a:r>
          </a:p>
        </p:txBody>
      </p:sp>
      <p:sp>
        <p:nvSpPr>
          <p:cNvPr id="16" name="Figure 3 label 15 line 1">
            <a:extLst xmlns:a="http://schemas.openxmlformats.org/drawingml/2006/main">
              <a:ext uri="{FF2B5EF4-FFF2-40B4-BE49-F238E27FC236}">
                <a16:creationId xmlns:a16="http://schemas.microsoft.com/office/drawing/2014/main" id="{BAC53AEF-66CB-4211-B92B-E9130561115B}"/>
              </a:ext>
            </a:extLst>
          </p:cNvPr>
          <p:cNvSpPr>
            <a:spLocks xmlns:a="http://schemas.openxmlformats.org/drawingml/2006/main" noGrp="1"/>
          </p:cNvSpPr>
          <p:nvPr/>
        </p:nvSpPr>
        <p:spPr>
          <a:xfrm xmlns:a="http://schemas.openxmlformats.org/drawingml/2006/main" rot="0">
            <a:off x="6999461"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20%</a:t>
            </a:r>
          </a:p>
        </p:txBody>
      </p:sp>
      <p:sp>
        <p:nvSpPr>
          <p:cNvPr id="17" name="Figure 3 label 16 line 1">
            <a:extLst xmlns:a="http://schemas.openxmlformats.org/drawingml/2006/main">
              <a:ext uri="{FF2B5EF4-FFF2-40B4-BE49-F238E27FC236}">
                <a16:creationId xmlns:a16="http://schemas.microsoft.com/office/drawing/2014/main" id="{92CAB169-7384-4966-BF54-D8500029E0FD}"/>
              </a:ext>
            </a:extLst>
          </p:cNvPr>
          <p:cNvSpPr>
            <a:spLocks xmlns:a="http://schemas.openxmlformats.org/drawingml/2006/main" noGrp="1"/>
          </p:cNvSpPr>
          <p:nvPr/>
        </p:nvSpPr>
        <p:spPr>
          <a:xfrm xmlns:a="http://schemas.openxmlformats.org/drawingml/2006/main" rot="0">
            <a:off x="11022820"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a:t>
            </a:r>
          </a:p>
        </p:txBody>
      </p:sp>
      <p:sp>
        <p:nvSpPr>
          <p:cNvPr id="18" name="Figure 3 label 17 line 1">
            <a:extLst xmlns:a="http://schemas.openxmlformats.org/drawingml/2006/main">
              <a:ext uri="{FF2B5EF4-FFF2-40B4-BE49-F238E27FC236}">
                <a16:creationId xmlns:a16="http://schemas.microsoft.com/office/drawing/2014/main" id="{DAB4D50E-67B8-46E1-8198-E2FE6D38E7EA}"/>
              </a:ext>
            </a:extLst>
          </p:cNvPr>
          <p:cNvSpPr>
            <a:spLocks xmlns:a="http://schemas.openxmlformats.org/drawingml/2006/main" noGrp="1"/>
          </p:cNvSpPr>
          <p:nvPr/>
        </p:nvSpPr>
        <p:spPr>
          <a:xfrm xmlns:a="http://schemas.openxmlformats.org/drawingml/2006/main" rot="0">
            <a:off x="8828262"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a:t>
            </a:r>
          </a:p>
        </p:txBody>
      </p:sp>
      <p:sp>
        <p:nvSpPr>
          <p:cNvPr id="19" name="Figure 3 label 18 line 1">
            <a:extLst xmlns:a="http://schemas.openxmlformats.org/drawingml/2006/main">
              <a:ext uri="{FF2B5EF4-FFF2-40B4-BE49-F238E27FC236}">
                <a16:creationId xmlns:a16="http://schemas.microsoft.com/office/drawing/2014/main" id="{8C68B2CA-EB44-40DB-A678-605A7E70F966}"/>
              </a:ext>
            </a:extLst>
          </p:cNvPr>
          <p:cNvSpPr>
            <a:spLocks xmlns:a="http://schemas.openxmlformats.org/drawingml/2006/main" noGrp="1"/>
          </p:cNvSpPr>
          <p:nvPr/>
        </p:nvSpPr>
        <p:spPr>
          <a:xfrm xmlns:a="http://schemas.openxmlformats.org/drawingml/2006/main" rot="0">
            <a:off x="9194022"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10%</a:t>
            </a:r>
          </a:p>
        </p:txBody>
      </p:sp>
      <p:sp>
        <p:nvSpPr>
          <p:cNvPr id="20" name="Figure 3 label 19 line 1">
            <a:extLst xmlns:a="http://schemas.openxmlformats.org/drawingml/2006/main">
              <a:ext uri="{FF2B5EF4-FFF2-40B4-BE49-F238E27FC236}">
                <a16:creationId xmlns:a16="http://schemas.microsoft.com/office/drawing/2014/main" id="{E7604E5D-0C43-4414-82F8-2586FA35E466}"/>
              </a:ext>
            </a:extLst>
          </p:cNvPr>
          <p:cNvSpPr>
            <a:spLocks xmlns:a="http://schemas.openxmlformats.org/drawingml/2006/main" noGrp="1"/>
          </p:cNvSpPr>
          <p:nvPr/>
        </p:nvSpPr>
        <p:spPr>
          <a:xfrm xmlns:a="http://schemas.openxmlformats.org/drawingml/2006/main" rot="0">
            <a:off x="12851622"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10%</a:t>
            </a:r>
          </a:p>
        </p:txBody>
      </p:sp>
      <p:sp>
        <p:nvSpPr>
          <p:cNvPr id="21" name="Figure 3 label 20 line 1">
            <a:extLst xmlns:a="http://schemas.openxmlformats.org/drawingml/2006/main">
              <a:ext uri="{FF2B5EF4-FFF2-40B4-BE49-F238E27FC236}">
                <a16:creationId xmlns:a16="http://schemas.microsoft.com/office/drawing/2014/main" id="{2BBFDC38-4AFA-4F36-BF00-CA72FCC90A55}"/>
              </a:ext>
            </a:extLst>
          </p:cNvPr>
          <p:cNvSpPr>
            <a:spLocks xmlns:a="http://schemas.openxmlformats.org/drawingml/2006/main" noGrp="1"/>
          </p:cNvSpPr>
          <p:nvPr/>
        </p:nvSpPr>
        <p:spPr>
          <a:xfrm xmlns:a="http://schemas.openxmlformats.org/drawingml/2006/main" rot="0">
            <a:off x="12120101"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30%</a:t>
            </a:r>
          </a:p>
        </p:txBody>
      </p:sp>
      <p:sp>
        <p:nvSpPr>
          <p:cNvPr id="22" name="Figure 3 label 21 line 1">
            <a:extLst xmlns:a="http://schemas.openxmlformats.org/drawingml/2006/main">
              <a:ext uri="{FF2B5EF4-FFF2-40B4-BE49-F238E27FC236}">
                <a16:creationId xmlns:a16="http://schemas.microsoft.com/office/drawing/2014/main" id="{79E8A12D-F2D4-49DC-B443-BAFA313F1675}"/>
              </a:ext>
            </a:extLst>
          </p:cNvPr>
          <p:cNvSpPr>
            <a:spLocks xmlns:a="http://schemas.openxmlformats.org/drawingml/2006/main" noGrp="1"/>
          </p:cNvSpPr>
          <p:nvPr/>
        </p:nvSpPr>
        <p:spPr>
          <a:xfrm xmlns:a="http://schemas.openxmlformats.org/drawingml/2006/main" rot="0">
            <a:off x="11022820"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a:t>
            </a:r>
          </a:p>
        </p:txBody>
      </p:sp>
      <p:sp>
        <p:nvSpPr>
          <p:cNvPr id="23" name="Figure 3 label 22 line 1">
            <a:extLst xmlns:a="http://schemas.openxmlformats.org/drawingml/2006/main">
              <a:ext uri="{FF2B5EF4-FFF2-40B4-BE49-F238E27FC236}">
                <a16:creationId xmlns:a16="http://schemas.microsoft.com/office/drawing/2014/main" id="{6B3D406C-F061-4364-9F71-343EC30A62F5}"/>
              </a:ext>
            </a:extLst>
          </p:cNvPr>
          <p:cNvSpPr>
            <a:spLocks xmlns:a="http://schemas.openxmlformats.org/drawingml/2006/main" noGrp="1"/>
          </p:cNvSpPr>
          <p:nvPr/>
        </p:nvSpPr>
        <p:spPr>
          <a:xfrm xmlns:a="http://schemas.openxmlformats.org/drawingml/2006/main" rot="0">
            <a:off x="15046181"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20%</a:t>
            </a:r>
          </a:p>
        </p:txBody>
      </p:sp>
      <p:sp>
        <p:nvSpPr>
          <p:cNvPr id="24" name="Figure 3 label 23 line 1">
            <a:extLst xmlns:a="http://schemas.openxmlformats.org/drawingml/2006/main">
              <a:ext uri="{FF2B5EF4-FFF2-40B4-BE49-F238E27FC236}">
                <a16:creationId xmlns:a16="http://schemas.microsoft.com/office/drawing/2014/main" id="{AC3D9306-9BAD-403C-8D40-90749A2810D9}"/>
              </a:ext>
            </a:extLst>
          </p:cNvPr>
          <p:cNvSpPr>
            <a:spLocks xmlns:a="http://schemas.openxmlformats.org/drawingml/2006/main" noGrp="1"/>
          </p:cNvSpPr>
          <p:nvPr/>
        </p:nvSpPr>
        <p:spPr>
          <a:xfrm xmlns:a="http://schemas.openxmlformats.org/drawingml/2006/main" rot="0">
            <a:off x="15411941"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15%</a:t>
            </a:r>
          </a:p>
        </p:txBody>
      </p:sp>
      <p:sp>
        <p:nvSpPr>
          <p:cNvPr id="25" name="Figure 3 label 24 line 1">
            <a:extLst xmlns:a="http://schemas.openxmlformats.org/drawingml/2006/main">
              <a:ext uri="{FF2B5EF4-FFF2-40B4-BE49-F238E27FC236}">
                <a16:creationId xmlns:a16="http://schemas.microsoft.com/office/drawing/2014/main" id="{028910B7-E13E-402A-9427-F719D147BD71}"/>
              </a:ext>
            </a:extLst>
          </p:cNvPr>
          <p:cNvSpPr>
            <a:spLocks xmlns:a="http://schemas.openxmlformats.org/drawingml/2006/main" noGrp="1"/>
          </p:cNvSpPr>
          <p:nvPr/>
        </p:nvSpPr>
        <p:spPr>
          <a:xfrm xmlns:a="http://schemas.openxmlformats.org/drawingml/2006/main" rot="0">
            <a:off x="14314660"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30%</a:t>
            </a:r>
          </a:p>
        </p:txBody>
      </p:sp>
      <p:sp>
        <p:nvSpPr>
          <p:cNvPr id="26" name="Figure 3 label 25 line 1">
            <a:extLst xmlns:a="http://schemas.openxmlformats.org/drawingml/2006/main">
              <a:ext uri="{FF2B5EF4-FFF2-40B4-BE49-F238E27FC236}">
                <a16:creationId xmlns:a16="http://schemas.microsoft.com/office/drawing/2014/main" id="{8D93A5D2-E581-4C8D-BA62-D74CC36B8316}"/>
              </a:ext>
            </a:extLst>
          </p:cNvPr>
          <p:cNvSpPr>
            <a:spLocks xmlns:a="http://schemas.openxmlformats.org/drawingml/2006/main" noGrp="1"/>
          </p:cNvSpPr>
          <p:nvPr/>
        </p:nvSpPr>
        <p:spPr>
          <a:xfrm xmlns:a="http://schemas.openxmlformats.org/drawingml/2006/main" rot="0">
            <a:off x="991870" y="421675"/>
            <a:ext cx="581684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03  How downstream demand differs</a:t>
            </a:r>
          </a:p>
        </p:txBody>
      </p:sp>
      <p:sp>
        <p:nvSpPr>
          <p:cNvPr id="27" name="Figure 3 label 26 line 1">
            <a:extLst xmlns:a="http://schemas.openxmlformats.org/drawingml/2006/main">
              <a:ext uri="{FF2B5EF4-FFF2-40B4-BE49-F238E27FC236}">
                <a16:creationId xmlns:a16="http://schemas.microsoft.com/office/drawing/2014/main" id="{519301BF-8233-47CC-9591-D84B6A79B57F}"/>
              </a:ext>
            </a:extLst>
          </p:cNvPr>
          <p:cNvSpPr>
            <a:spLocks xmlns:a="http://schemas.openxmlformats.org/drawingml/2006/main" noGrp="1"/>
          </p:cNvSpPr>
          <p:nvPr/>
        </p:nvSpPr>
        <p:spPr>
          <a:xfrm xmlns:a="http://schemas.openxmlformats.org/drawingml/2006/main" rot="0">
            <a:off x="15653693" y="661601"/>
            <a:ext cx="115381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ILLUSTRATIVE</a:t>
            </a:r>
          </a:p>
        </p:txBody>
      </p:sp>
      <p:sp>
        <p:nvSpPr>
          <p:cNvPr id="28" name="Figure 3 label 27 line 1">
            <a:extLst xmlns:a="http://schemas.openxmlformats.org/drawingml/2006/main">
              <a:ext uri="{FF2B5EF4-FFF2-40B4-BE49-F238E27FC236}">
                <a16:creationId xmlns:a16="http://schemas.microsoft.com/office/drawing/2014/main" id="{64886BA1-1753-434D-9924-5D4A7756E362}"/>
              </a:ext>
            </a:extLst>
          </p:cNvPr>
          <p:cNvSpPr>
            <a:spLocks xmlns:a="http://schemas.openxmlformats.org/drawingml/2006/main" noGrp="1"/>
          </p:cNvSpPr>
          <p:nvPr/>
        </p:nvSpPr>
        <p:spPr>
          <a:xfrm xmlns:a="http://schemas.openxmlformats.org/drawingml/2006/main" rot="0">
            <a:off x="998220" y="1249487"/>
            <a:ext cx="857354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Direct purchasing differs by product basket. These supplied assumptions sum to 100% for each row.</a:t>
            </a:r>
          </a:p>
        </p:txBody>
      </p:sp>
      <p:sp>
        <p:nvSpPr>
          <p:cNvPr id="29" name="Figure 3 label 28 line 1">
            <a:extLst xmlns:a="http://schemas.openxmlformats.org/drawingml/2006/main">
              <a:ext uri="{FF2B5EF4-FFF2-40B4-BE49-F238E27FC236}">
                <a16:creationId xmlns:a16="http://schemas.microsoft.com/office/drawing/2014/main" id="{F5B496FA-234B-4F20-BD4E-C5E74FA908FB}"/>
              </a:ext>
            </a:extLst>
          </p:cNvPr>
          <p:cNvSpPr>
            <a:spLocks xmlns:a="http://schemas.openxmlformats.org/drawingml/2006/main" noGrp="1"/>
          </p:cNvSpPr>
          <p:nvPr/>
        </p:nvSpPr>
        <p:spPr>
          <a:xfrm xmlns:a="http://schemas.openxmlformats.org/drawingml/2006/main" rot="0">
            <a:off x="999173" y="9256035"/>
            <a:ext cx="808538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CRO/CDMO purchases are separate from pharma-owned production. Hospitals are not separately modeled.</a:t>
            </a:r>
          </a:p>
        </p:txBody>
      </p:sp>
      <p:sp>
        <p:nvSpPr>
          <p:cNvPr id="30" name="Figure 3 label 29 line 1">
            <a:extLst xmlns:a="http://schemas.openxmlformats.org/drawingml/2006/main">
              <a:ext uri="{FF2B5EF4-FFF2-40B4-BE49-F238E27FC236}">
                <a16:creationId xmlns:a16="http://schemas.microsoft.com/office/drawing/2014/main" id="{76CB62D8-6FAD-4D9F-B154-7CC63A343C8F}"/>
              </a:ext>
            </a:extLst>
          </p:cNvPr>
          <p:cNvSpPr>
            <a:spLocks xmlns:a="http://schemas.openxmlformats.org/drawingml/2006/main" noGrp="1"/>
          </p:cNvSpPr>
          <p:nvPr/>
        </p:nvSpPr>
        <p:spPr>
          <a:xfrm xmlns:a="http://schemas.openxmlformats.org/drawingml/2006/main" rot="0">
            <a:off x="1000316" y="9676290"/>
            <a:ext cx="5943035"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illustrative shares in the supplied manuscript; these are not measured customer shares.</a:t>
            </a:r>
          </a:p>
        </p:txBody>
      </p:sp>
      <p:sp>
        <p:nvSpPr>
          <p:cNvPr id="31" name="Figure 3 label 30 line 1">
            <a:extLst xmlns:a="http://schemas.openxmlformats.org/drawingml/2006/main">
              <a:ext uri="{FF2B5EF4-FFF2-40B4-BE49-F238E27FC236}">
                <a16:creationId xmlns:a16="http://schemas.microsoft.com/office/drawing/2014/main" id="{7449C1B8-0E17-4452-AA0D-6E5BD81EF9F6}"/>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32" name="Figure 3 label 31 line 1">
            <a:extLst xmlns:a="http://schemas.openxmlformats.org/drawingml/2006/main">
              <a:ext uri="{FF2B5EF4-FFF2-40B4-BE49-F238E27FC236}">
                <a16:creationId xmlns:a16="http://schemas.microsoft.com/office/drawing/2014/main" id="{6227F9BA-F064-4621-98F2-F3265B073D9E}"/>
              </a:ext>
            </a:extLst>
          </p:cNvPr>
          <p:cNvSpPr>
            <a:spLocks xmlns:a="http://schemas.openxmlformats.org/drawingml/2006/main" noGrp="1"/>
          </p:cNvSpPr>
          <p:nvPr/>
        </p:nvSpPr>
        <p:spPr>
          <a:xfrm xmlns:a="http://schemas.openxmlformats.org/drawingml/2006/main" rot="0">
            <a:off x="2552700" y="8161190"/>
            <a:ext cx="44334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Reagents: more research exposure in this scenario</a:t>
            </a:r>
          </a:p>
        </p:txBody>
      </p:sp>
      <p:sp>
        <p:nvSpPr>
          <p:cNvPr id="33" name="Figure 3 label 32 line 1">
            <a:extLst xmlns:a="http://schemas.openxmlformats.org/drawingml/2006/main">
              <a:ext uri="{FF2B5EF4-FFF2-40B4-BE49-F238E27FC236}">
                <a16:creationId xmlns:a16="http://schemas.microsoft.com/office/drawing/2014/main" id="{1DABD624-3159-42BD-8E9D-B24D28B9DA83}"/>
              </a:ext>
            </a:extLst>
          </p:cNvPr>
          <p:cNvSpPr>
            <a:spLocks xmlns:a="http://schemas.openxmlformats.org/drawingml/2006/main" noGrp="1"/>
          </p:cNvSpPr>
          <p:nvPr/>
        </p:nvSpPr>
        <p:spPr>
          <a:xfrm xmlns:a="http://schemas.openxmlformats.org/drawingml/2006/main" rot="0">
            <a:off x="10599421" y="8163378"/>
            <a:ext cx="360774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Consumables: more production exposure</a:t>
            </a:r>
          </a:p>
        </p:txBody>
      </p:sp>
      <p:sp>
        <p:nvSpPr>
          <p:cNvPr id="34" name="Figure 3 label 33 line 1">
            <a:extLst xmlns:a="http://schemas.openxmlformats.org/drawingml/2006/main">
              <a:ext uri="{FF2B5EF4-FFF2-40B4-BE49-F238E27FC236}">
                <a16:creationId xmlns:a16="http://schemas.microsoft.com/office/drawing/2014/main" id="{8C9E9BC3-6613-46BE-BA96-CFC7E00560A3}"/>
              </a:ext>
            </a:extLst>
          </p:cNvPr>
          <p:cNvSpPr>
            <a:spLocks xmlns:a="http://schemas.openxmlformats.org/drawingml/2006/main" noGrp="1"/>
          </p:cNvSpPr>
          <p:nvPr/>
        </p:nvSpPr>
        <p:spPr>
          <a:xfrm xmlns:a="http://schemas.openxmlformats.org/drawingml/2006/main" rot="0">
            <a:off x="5075317" y="2353584"/>
            <a:ext cx="825431"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Academia</a:t>
            </a:r>
          </a:p>
        </p:txBody>
      </p:sp>
      <p:sp>
        <p:nvSpPr>
          <p:cNvPr id="35" name="Figure 3 label 34 line 1">
            <a:extLst xmlns:a="http://schemas.openxmlformats.org/drawingml/2006/main">
              <a:ext uri="{FF2B5EF4-FFF2-40B4-BE49-F238E27FC236}">
                <a16:creationId xmlns:a16="http://schemas.microsoft.com/office/drawing/2014/main" id="{F843602F-36A6-4E01-A0D8-D0EFE6CD7FCD}"/>
              </a:ext>
            </a:extLst>
          </p:cNvPr>
          <p:cNvSpPr>
            <a:spLocks xmlns:a="http://schemas.openxmlformats.org/drawingml/2006/main" noGrp="1"/>
          </p:cNvSpPr>
          <p:nvPr/>
        </p:nvSpPr>
        <p:spPr>
          <a:xfrm xmlns:a="http://schemas.openxmlformats.org/drawingml/2006/main" rot="0">
            <a:off x="6572567" y="2353584"/>
            <a:ext cx="1716316"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Biotech / pharma R&amp;D</a:t>
            </a:r>
          </a:p>
        </p:txBody>
      </p:sp>
      <p:sp>
        <p:nvSpPr>
          <p:cNvPr id="36" name="Figure 3 label 35 line 1">
            <a:extLst xmlns:a="http://schemas.openxmlformats.org/drawingml/2006/main">
              <a:ext uri="{FF2B5EF4-FFF2-40B4-BE49-F238E27FC236}">
                <a16:creationId xmlns:a16="http://schemas.microsoft.com/office/drawing/2014/main" id="{B69F8F22-0E8F-4B76-8ED5-957C0AA9B8CE}"/>
              </a:ext>
            </a:extLst>
          </p:cNvPr>
          <p:cNvSpPr>
            <a:spLocks xmlns:a="http://schemas.openxmlformats.org/drawingml/2006/main" noGrp="1"/>
          </p:cNvSpPr>
          <p:nvPr/>
        </p:nvSpPr>
        <p:spPr>
          <a:xfrm xmlns:a="http://schemas.openxmlformats.org/drawingml/2006/main" rot="0">
            <a:off x="8960682" y="2353584"/>
            <a:ext cx="1094809"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CRO / CDMO</a:t>
            </a:r>
          </a:p>
        </p:txBody>
      </p:sp>
      <p:sp>
        <p:nvSpPr>
          <p:cNvPr id="37" name="Figure 3 label 36 line 1">
            <a:extLst xmlns:a="http://schemas.openxmlformats.org/drawingml/2006/main">
              <a:ext uri="{FF2B5EF4-FFF2-40B4-BE49-F238E27FC236}">
                <a16:creationId xmlns:a16="http://schemas.microsoft.com/office/drawing/2014/main" id="{FAADAEAF-27E0-4300-9463-DE09AFE658C5}"/>
              </a:ext>
            </a:extLst>
          </p:cNvPr>
          <p:cNvSpPr>
            <a:spLocks xmlns:a="http://schemas.openxmlformats.org/drawingml/2006/main" noGrp="1"/>
          </p:cNvSpPr>
          <p:nvPr/>
        </p:nvSpPr>
        <p:spPr>
          <a:xfrm xmlns:a="http://schemas.openxmlformats.org/drawingml/2006/main" rot="0">
            <a:off x="10727410" y="2353584"/>
            <a:ext cx="1743402"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Pharma manufacturing</a:t>
            </a:r>
          </a:p>
        </p:txBody>
      </p:sp>
      <p:sp>
        <p:nvSpPr>
          <p:cNvPr id="38" name="Figure 3 label 37 line 1">
            <a:extLst xmlns:a="http://schemas.openxmlformats.org/drawingml/2006/main">
              <a:ext uri="{FF2B5EF4-FFF2-40B4-BE49-F238E27FC236}">
                <a16:creationId xmlns:a16="http://schemas.microsoft.com/office/drawing/2014/main" id="{F9BB1D4E-71F2-42B4-B49F-C08C7DA395A5}"/>
              </a:ext>
            </a:extLst>
          </p:cNvPr>
          <p:cNvSpPr>
            <a:spLocks xmlns:a="http://schemas.openxmlformats.org/drawingml/2006/main" noGrp="1"/>
          </p:cNvSpPr>
          <p:nvPr/>
        </p:nvSpPr>
        <p:spPr>
          <a:xfrm xmlns:a="http://schemas.openxmlformats.org/drawingml/2006/main" rot="0">
            <a:off x="13142599" y="2353584"/>
            <a:ext cx="1347371"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IVD development</a:t>
            </a:r>
          </a:p>
        </p:txBody>
      </p:sp>
    </p:spTree>
    <p:extLst>
      <p:ext uri="{BB962C8B-B14F-4D97-AF65-F5344CB8AC3E}">
        <p14:creationId xmlns:p14="http://schemas.microsoft.com/office/powerpoint/2010/main" val="4209542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7" name="">
            <a:extLst xmlns:a="http://schemas.openxmlformats.org/drawingml/2006/main">
              <a:ext uri="{FF2B5EF4-FFF2-40B4-BE49-F238E27FC236}">
                <a16:creationId xmlns:a16="http://schemas.microsoft.com/office/drawing/2014/main" id="{511E5767-4EE4-4D89-8DE4-C8572268C208}"/>
              </a:ext>
            </a:extLst>
          </p:cNvPr>
          <p:cNvPicPr>
            <a:picLocks xmlns:a="http://schemas.openxmlformats.org/drawingml/2006/main" noChangeAspect="1"/>
          </p:cNvPicPr>
          <p:nvPr/>
        </p:nvPicPr>
        <p:blipFill>
          <a:blip xmlns:r="http://schemas.openxmlformats.org/officeDocument/2006/relationships" xmlns:a="http://schemas.openxmlformats.org/drawingml/2006/main" r:embed="Rcc0356250c394a7d"/>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4 label 1 line 1">
            <a:extLst xmlns:a="http://schemas.openxmlformats.org/drawingml/2006/main">
              <a:ext uri="{FF2B5EF4-FFF2-40B4-BE49-F238E27FC236}">
                <a16:creationId xmlns:a16="http://schemas.microsoft.com/office/drawing/2014/main" id="{B6261655-1E27-4AC2-B60B-8D3C2E6BD767}"/>
              </a:ext>
            </a:extLst>
          </p:cNvPr>
          <p:cNvSpPr>
            <a:spLocks xmlns:a="http://schemas.openxmlformats.org/drawingml/2006/main" noGrp="1"/>
          </p:cNvSpPr>
          <p:nvPr/>
        </p:nvSpPr>
        <p:spPr>
          <a:xfrm xmlns:a="http://schemas.openxmlformats.org/drawingml/2006/main" rot="0">
            <a:off x="991870" y="421920"/>
            <a:ext cx="6360517"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04  AI discovery and its LST touchpoints</a:t>
            </a:r>
          </a:p>
        </p:txBody>
      </p:sp>
      <p:sp>
        <p:nvSpPr>
          <p:cNvPr id="3" name="Figure 4 label 2 line 1">
            <a:extLst xmlns:a="http://schemas.openxmlformats.org/drawingml/2006/main">
              <a:ext uri="{FF2B5EF4-FFF2-40B4-BE49-F238E27FC236}">
                <a16:creationId xmlns:a16="http://schemas.microsoft.com/office/drawing/2014/main" id="{60E5D036-C612-4CD2-B554-BA22A79D5ACE}"/>
              </a:ext>
            </a:extLst>
          </p:cNvPr>
          <p:cNvSpPr>
            <a:spLocks xmlns:a="http://schemas.openxmlformats.org/drawingml/2006/main" noGrp="1"/>
          </p:cNvSpPr>
          <p:nvPr/>
        </p:nvSpPr>
        <p:spPr>
          <a:xfrm xmlns:a="http://schemas.openxmlformats.org/drawingml/2006/main" rot="0">
            <a:off x="15720815" y="661601"/>
            <a:ext cx="1019572"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MECHANISM</a:t>
            </a:r>
          </a:p>
        </p:txBody>
      </p:sp>
      <p:sp>
        <p:nvSpPr>
          <p:cNvPr id="4" name="Figure 4 label 3 line 1">
            <a:extLst xmlns:a="http://schemas.openxmlformats.org/drawingml/2006/main">
              <a:ext uri="{FF2B5EF4-FFF2-40B4-BE49-F238E27FC236}">
                <a16:creationId xmlns:a16="http://schemas.microsoft.com/office/drawing/2014/main" id="{210B0D71-AF11-4E55-8BD4-6D3D1547DFAA}"/>
              </a:ext>
            </a:extLst>
          </p:cNvPr>
          <p:cNvSpPr>
            <a:spLocks xmlns:a="http://schemas.openxmlformats.org/drawingml/2006/main" noGrp="1"/>
          </p:cNvSpPr>
          <p:nvPr/>
        </p:nvSpPr>
        <p:spPr>
          <a:xfrm xmlns:a="http://schemas.openxmlformats.org/drawingml/2006/main" rot="0">
            <a:off x="998220" y="1249487"/>
            <a:ext cx="89664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AI candidates need physical construction and experimental feedback. Orders depend on funded projects.</a:t>
            </a:r>
          </a:p>
        </p:txBody>
      </p:sp>
      <p:sp>
        <p:nvSpPr>
          <p:cNvPr id="5" name="Figure 4 label 4 line 1">
            <a:extLst xmlns:a="http://schemas.openxmlformats.org/drawingml/2006/main">
              <a:ext uri="{FF2B5EF4-FFF2-40B4-BE49-F238E27FC236}">
                <a16:creationId xmlns:a16="http://schemas.microsoft.com/office/drawing/2014/main" id="{C619D02A-1957-4B8F-BF17-88512877079D}"/>
              </a:ext>
            </a:extLst>
          </p:cNvPr>
          <p:cNvSpPr>
            <a:spLocks xmlns:a="http://schemas.openxmlformats.org/drawingml/2006/main" noGrp="1"/>
          </p:cNvSpPr>
          <p:nvPr/>
        </p:nvSpPr>
        <p:spPr>
          <a:xfrm xmlns:a="http://schemas.openxmlformats.org/drawingml/2006/main" rot="0">
            <a:off x="999173" y="9256035"/>
            <a:ext cx="770617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Stages 2–3 have more direct exposure. Clinical and manufacturing demand face attrition and time lags.</a:t>
            </a:r>
          </a:p>
        </p:txBody>
      </p:sp>
      <p:sp>
        <p:nvSpPr>
          <p:cNvPr id="6" name="Figure 4 label 5 line 1">
            <a:extLst xmlns:a="http://schemas.openxmlformats.org/drawingml/2006/main">
              <a:ext uri="{FF2B5EF4-FFF2-40B4-BE49-F238E27FC236}">
                <a16:creationId xmlns:a16="http://schemas.microsoft.com/office/drawing/2014/main" id="{AEBB326B-4D41-4737-813A-A8A61E73E236}"/>
              </a:ext>
            </a:extLst>
          </p:cNvPr>
          <p:cNvSpPr>
            <a:spLocks xmlns:a="http://schemas.openxmlformats.org/drawingml/2006/main" noGrp="1"/>
          </p:cNvSpPr>
          <p:nvPr/>
        </p:nvSpPr>
        <p:spPr>
          <a:xfrm xmlns:a="http://schemas.openxmlformats.org/drawingml/2006/main" rot="0">
            <a:off x="1000316" y="9676290"/>
            <a:ext cx="6595050"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product-use research. Arrows describe a mechanism, not realized orders.</a:t>
            </a:r>
          </a:p>
        </p:txBody>
      </p:sp>
      <p:sp>
        <p:nvSpPr>
          <p:cNvPr id="7" name="Figure 4 label 6 line 1">
            <a:extLst xmlns:a="http://schemas.openxmlformats.org/drawingml/2006/main">
              <a:ext uri="{FF2B5EF4-FFF2-40B4-BE49-F238E27FC236}">
                <a16:creationId xmlns:a16="http://schemas.microsoft.com/office/drawing/2014/main" id="{56615DB7-402C-4CF2-92F7-32981D35B5CF}"/>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4 label 7 line 1">
            <a:extLst xmlns:a="http://schemas.openxmlformats.org/drawingml/2006/main">
              <a:ext uri="{FF2B5EF4-FFF2-40B4-BE49-F238E27FC236}">
                <a16:creationId xmlns:a16="http://schemas.microsoft.com/office/drawing/2014/main" id="{18E1D90D-F870-4AAF-8295-9B5BF387BF4C}"/>
              </a:ext>
            </a:extLst>
          </p:cNvPr>
          <p:cNvSpPr>
            <a:spLocks xmlns:a="http://schemas.openxmlformats.org/drawingml/2006/main" noGrp="1"/>
          </p:cNvSpPr>
          <p:nvPr/>
        </p:nvSpPr>
        <p:spPr>
          <a:xfrm xmlns:a="http://schemas.openxmlformats.org/drawingml/2006/main" rot="0">
            <a:off x="1054227"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0</a:t>
            </a:r>
          </a:p>
        </p:txBody>
      </p:sp>
      <p:sp>
        <p:nvSpPr>
          <p:cNvPr id="9" name="Figure 4 label 8 line 1">
            <a:extLst xmlns:a="http://schemas.openxmlformats.org/drawingml/2006/main">
              <a:ext uri="{FF2B5EF4-FFF2-40B4-BE49-F238E27FC236}">
                <a16:creationId xmlns:a16="http://schemas.microsoft.com/office/drawing/2014/main" id="{26801F0B-3E03-477E-BDF6-E132AD842FA2}"/>
              </a:ext>
            </a:extLst>
          </p:cNvPr>
          <p:cNvSpPr>
            <a:spLocks xmlns:a="http://schemas.openxmlformats.org/drawingml/2006/main" noGrp="1"/>
          </p:cNvSpPr>
          <p:nvPr/>
        </p:nvSpPr>
        <p:spPr>
          <a:xfrm xmlns:a="http://schemas.openxmlformats.org/drawingml/2006/main" rot="0">
            <a:off x="1372985" y="3438342"/>
            <a:ext cx="1478558"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Data / targets</a:t>
            </a:r>
          </a:p>
        </p:txBody>
      </p:sp>
      <p:sp>
        <p:nvSpPr>
          <p:cNvPr id="10" name="Figure 4 label 9 line 1">
            <a:extLst xmlns:a="http://schemas.openxmlformats.org/drawingml/2006/main">
              <a:ext uri="{FF2B5EF4-FFF2-40B4-BE49-F238E27FC236}">
                <a16:creationId xmlns:a16="http://schemas.microsoft.com/office/drawing/2014/main" id="{029282A4-6A70-4787-BE48-69919446E7A2}"/>
              </a:ext>
            </a:extLst>
          </p:cNvPr>
          <p:cNvSpPr>
            <a:spLocks xmlns:a="http://schemas.openxmlformats.org/drawingml/2006/main" noGrp="1"/>
          </p:cNvSpPr>
          <p:nvPr/>
        </p:nvSpPr>
        <p:spPr>
          <a:xfrm xmlns:a="http://schemas.openxmlformats.org/drawingml/2006/main" rot="0">
            <a:off x="998982" y="5252960"/>
            <a:ext cx="199858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Sequencing / proteomics</a:t>
            </a:r>
          </a:p>
        </p:txBody>
      </p:sp>
      <p:sp>
        <p:nvSpPr>
          <p:cNvPr id="11" name="Figure 4 label 10 line 1">
            <a:extLst xmlns:a="http://schemas.openxmlformats.org/drawingml/2006/main">
              <a:ext uri="{FF2B5EF4-FFF2-40B4-BE49-F238E27FC236}">
                <a16:creationId xmlns:a16="http://schemas.microsoft.com/office/drawing/2014/main" id="{419ABFC7-91EE-4128-BAB4-140AB94D9AC8}"/>
              </a:ext>
            </a:extLst>
          </p:cNvPr>
          <p:cNvSpPr>
            <a:spLocks xmlns:a="http://schemas.openxmlformats.org/drawingml/2006/main" noGrp="1"/>
          </p:cNvSpPr>
          <p:nvPr/>
        </p:nvSpPr>
        <p:spPr>
          <a:xfrm xmlns:a="http://schemas.openxmlformats.org/drawingml/2006/main" rot="0">
            <a:off x="998982" y="5551066"/>
            <a:ext cx="155031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CRISPR screening</a:t>
            </a:r>
          </a:p>
        </p:txBody>
      </p:sp>
      <p:sp>
        <p:nvSpPr>
          <p:cNvPr id="12" name="Figure 4 label 11 line 1">
            <a:extLst xmlns:a="http://schemas.openxmlformats.org/drawingml/2006/main">
              <a:ext uri="{FF2B5EF4-FFF2-40B4-BE49-F238E27FC236}">
                <a16:creationId xmlns:a16="http://schemas.microsoft.com/office/drawing/2014/main" id="{B41C63F3-0D41-45A5-A940-6823B6DE2F29}"/>
              </a:ext>
            </a:extLst>
          </p:cNvPr>
          <p:cNvSpPr>
            <a:spLocks xmlns:a="http://schemas.openxmlformats.org/drawingml/2006/main" noGrp="1"/>
          </p:cNvSpPr>
          <p:nvPr/>
        </p:nvSpPr>
        <p:spPr>
          <a:xfrm xmlns:a="http://schemas.openxmlformats.org/drawingml/2006/main" rot="0">
            <a:off x="998982" y="5844784"/>
            <a:ext cx="202700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Research data resources</a:t>
            </a:r>
          </a:p>
        </p:txBody>
      </p:sp>
      <p:sp>
        <p:nvSpPr>
          <p:cNvPr id="13" name="Figure 4 label 12 line 1">
            <a:extLst xmlns:a="http://schemas.openxmlformats.org/drawingml/2006/main">
              <a:ext uri="{FF2B5EF4-FFF2-40B4-BE49-F238E27FC236}">
                <a16:creationId xmlns:a16="http://schemas.microsoft.com/office/drawing/2014/main" id="{61D1C664-29DC-465B-832F-CE1CEDC61AE6}"/>
              </a:ext>
            </a:extLst>
          </p:cNvPr>
          <p:cNvSpPr>
            <a:spLocks xmlns:a="http://schemas.openxmlformats.org/drawingml/2006/main" noGrp="1"/>
          </p:cNvSpPr>
          <p:nvPr/>
        </p:nvSpPr>
        <p:spPr>
          <a:xfrm xmlns:a="http://schemas.openxmlformats.org/drawingml/2006/main" rot="0">
            <a:off x="1581196" y="6998393"/>
            <a:ext cx="1062137"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Generate data</a:t>
            </a:r>
          </a:p>
        </p:txBody>
      </p:sp>
      <p:sp>
        <p:nvSpPr>
          <p:cNvPr id="14" name="Figure 4 label 13 line 1">
            <a:extLst xmlns:a="http://schemas.openxmlformats.org/drawingml/2006/main">
              <a:ext uri="{FF2B5EF4-FFF2-40B4-BE49-F238E27FC236}">
                <a16:creationId xmlns:a16="http://schemas.microsoft.com/office/drawing/2014/main" id="{1124431E-953E-453F-8291-2C4D9F12E8FB}"/>
              </a:ext>
            </a:extLst>
          </p:cNvPr>
          <p:cNvSpPr>
            <a:spLocks xmlns:a="http://schemas.openxmlformats.org/drawingml/2006/main" noGrp="1"/>
          </p:cNvSpPr>
          <p:nvPr/>
        </p:nvSpPr>
        <p:spPr>
          <a:xfrm xmlns:a="http://schemas.openxmlformats.org/drawingml/2006/main" rot="0">
            <a:off x="3870579"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1</a:t>
            </a:r>
          </a:p>
        </p:txBody>
      </p:sp>
      <p:sp>
        <p:nvSpPr>
          <p:cNvPr id="15" name="Figure 4 label 14 line 1">
            <a:extLst xmlns:a="http://schemas.openxmlformats.org/drawingml/2006/main">
              <a:ext uri="{FF2B5EF4-FFF2-40B4-BE49-F238E27FC236}">
                <a16:creationId xmlns:a16="http://schemas.microsoft.com/office/drawing/2014/main" id="{F6784492-291E-4EAA-8285-01C028FCBDC2}"/>
              </a:ext>
            </a:extLst>
          </p:cNvPr>
          <p:cNvSpPr>
            <a:spLocks xmlns:a="http://schemas.openxmlformats.org/drawingml/2006/main" noGrp="1"/>
          </p:cNvSpPr>
          <p:nvPr/>
        </p:nvSpPr>
        <p:spPr>
          <a:xfrm xmlns:a="http://schemas.openxmlformats.org/drawingml/2006/main" rot="0">
            <a:off x="4183160" y="3438342"/>
            <a:ext cx="1490911"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Virtual design</a:t>
            </a:r>
          </a:p>
        </p:txBody>
      </p:sp>
      <p:sp>
        <p:nvSpPr>
          <p:cNvPr id="16" name="Figure 4 label 15 line 1">
            <a:extLst xmlns:a="http://schemas.openxmlformats.org/drawingml/2006/main">
              <a:ext uri="{FF2B5EF4-FFF2-40B4-BE49-F238E27FC236}">
                <a16:creationId xmlns:a16="http://schemas.microsoft.com/office/drawing/2014/main" id="{9A9D704B-6FF5-4025-8A1D-9DFFC6313251}"/>
              </a:ext>
            </a:extLst>
          </p:cNvPr>
          <p:cNvSpPr>
            <a:spLocks xmlns:a="http://schemas.openxmlformats.org/drawingml/2006/main" noGrp="1"/>
          </p:cNvSpPr>
          <p:nvPr/>
        </p:nvSpPr>
        <p:spPr>
          <a:xfrm xmlns:a="http://schemas.openxmlformats.org/drawingml/2006/main" rot="0">
            <a:off x="3815334" y="5251915"/>
            <a:ext cx="216988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Models / compute / ranking</a:t>
            </a:r>
          </a:p>
        </p:txBody>
      </p:sp>
      <p:sp>
        <p:nvSpPr>
          <p:cNvPr id="17" name="Figure 4 label 16 line 1">
            <a:extLst xmlns:a="http://schemas.openxmlformats.org/drawingml/2006/main">
              <a:ext uri="{FF2B5EF4-FFF2-40B4-BE49-F238E27FC236}">
                <a16:creationId xmlns:a16="http://schemas.microsoft.com/office/drawing/2014/main" id="{F05F301C-089B-4388-A91D-07B97EDF3D10}"/>
              </a:ext>
            </a:extLst>
          </p:cNvPr>
          <p:cNvSpPr>
            <a:spLocks xmlns:a="http://schemas.openxmlformats.org/drawingml/2006/main" noGrp="1"/>
          </p:cNvSpPr>
          <p:nvPr/>
        </p:nvSpPr>
        <p:spPr>
          <a:xfrm xmlns:a="http://schemas.openxmlformats.org/drawingml/2006/main" rot="0">
            <a:off x="3815334" y="5545633"/>
            <a:ext cx="196985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Less direct LST demand</a:t>
            </a:r>
          </a:p>
        </p:txBody>
      </p:sp>
      <p:sp>
        <p:nvSpPr>
          <p:cNvPr id="18" name="Figure 4 label 17 line 1">
            <a:extLst xmlns:a="http://schemas.openxmlformats.org/drawingml/2006/main">
              <a:ext uri="{FF2B5EF4-FFF2-40B4-BE49-F238E27FC236}">
                <a16:creationId xmlns:a16="http://schemas.microsoft.com/office/drawing/2014/main" id="{28A15BD5-88C1-4E0C-A2C7-94CC3D5BD579}"/>
              </a:ext>
            </a:extLst>
          </p:cNvPr>
          <p:cNvSpPr>
            <a:spLocks xmlns:a="http://schemas.openxmlformats.org/drawingml/2006/main" noGrp="1"/>
          </p:cNvSpPr>
          <p:nvPr/>
        </p:nvSpPr>
        <p:spPr>
          <a:xfrm xmlns:a="http://schemas.openxmlformats.org/drawingml/2006/main" rot="0">
            <a:off x="3815334" y="5841891"/>
            <a:ext cx="136963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Candidate triage</a:t>
            </a:r>
          </a:p>
        </p:txBody>
      </p:sp>
      <p:sp>
        <p:nvSpPr>
          <p:cNvPr id="19" name="Figure 4 label 18 line 1">
            <a:extLst xmlns:a="http://schemas.openxmlformats.org/drawingml/2006/main">
              <a:ext uri="{FF2B5EF4-FFF2-40B4-BE49-F238E27FC236}">
                <a16:creationId xmlns:a16="http://schemas.microsoft.com/office/drawing/2014/main" id="{48739B74-93D8-4131-AA5B-11FCCF5B4845}"/>
              </a:ext>
            </a:extLst>
          </p:cNvPr>
          <p:cNvSpPr>
            <a:spLocks xmlns:a="http://schemas.openxmlformats.org/drawingml/2006/main" noGrp="1"/>
          </p:cNvSpPr>
          <p:nvPr/>
        </p:nvSpPr>
        <p:spPr>
          <a:xfrm xmlns:a="http://schemas.openxmlformats.org/drawingml/2006/main" rot="0">
            <a:off x="4259286" y="6997580"/>
            <a:ext cx="133865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Design candidates</a:t>
            </a:r>
          </a:p>
        </p:txBody>
      </p:sp>
      <p:sp>
        <p:nvSpPr>
          <p:cNvPr id="20" name="Figure 4 label 19 line 1">
            <a:extLst xmlns:a="http://schemas.openxmlformats.org/drawingml/2006/main">
              <a:ext uri="{FF2B5EF4-FFF2-40B4-BE49-F238E27FC236}">
                <a16:creationId xmlns:a16="http://schemas.microsoft.com/office/drawing/2014/main" id="{D88F5D92-57D9-496D-B71C-E1214A183AE5}"/>
              </a:ext>
            </a:extLst>
          </p:cNvPr>
          <p:cNvSpPr>
            <a:spLocks xmlns:a="http://schemas.openxmlformats.org/drawingml/2006/main" noGrp="1"/>
          </p:cNvSpPr>
          <p:nvPr/>
        </p:nvSpPr>
        <p:spPr>
          <a:xfrm xmlns:a="http://schemas.openxmlformats.org/drawingml/2006/main" rot="0">
            <a:off x="6686931"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2</a:t>
            </a:r>
          </a:p>
        </p:txBody>
      </p:sp>
      <p:sp>
        <p:nvSpPr>
          <p:cNvPr id="21" name="Figure 4 label 20 line 1">
            <a:extLst xmlns:a="http://schemas.openxmlformats.org/drawingml/2006/main">
              <a:ext uri="{FF2B5EF4-FFF2-40B4-BE49-F238E27FC236}">
                <a16:creationId xmlns:a16="http://schemas.microsoft.com/office/drawing/2014/main" id="{2657A84E-9F1C-43F3-8923-64950FA0ED2A}"/>
              </a:ext>
            </a:extLst>
          </p:cNvPr>
          <p:cNvSpPr>
            <a:spLocks xmlns:a="http://schemas.openxmlformats.org/drawingml/2006/main" noGrp="1"/>
          </p:cNvSpPr>
          <p:nvPr/>
        </p:nvSpPr>
        <p:spPr>
          <a:xfrm xmlns:a="http://schemas.openxmlformats.org/drawingml/2006/main" rot="0">
            <a:off x="6993337" y="3438342"/>
            <a:ext cx="1503263"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Physical build</a:t>
            </a:r>
          </a:p>
        </p:txBody>
      </p:sp>
      <p:sp>
        <p:nvSpPr>
          <p:cNvPr id="22" name="Figure 4 label 21 line 1">
            <a:extLst xmlns:a="http://schemas.openxmlformats.org/drawingml/2006/main">
              <a:ext uri="{FF2B5EF4-FFF2-40B4-BE49-F238E27FC236}">
                <a16:creationId xmlns:a16="http://schemas.microsoft.com/office/drawing/2014/main" id="{17779000-796B-41FE-8BE0-0AB0B7F1ED4B}"/>
              </a:ext>
            </a:extLst>
          </p:cNvPr>
          <p:cNvSpPr>
            <a:spLocks xmlns:a="http://schemas.openxmlformats.org/drawingml/2006/main" noGrp="1"/>
          </p:cNvSpPr>
          <p:nvPr/>
        </p:nvSpPr>
        <p:spPr>
          <a:xfrm xmlns:a="http://schemas.openxmlformats.org/drawingml/2006/main" rot="0">
            <a:off x="6631686" y="5253185"/>
            <a:ext cx="176001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Building blocks / DNA</a:t>
            </a:r>
          </a:p>
        </p:txBody>
      </p:sp>
      <p:sp>
        <p:nvSpPr>
          <p:cNvPr id="23" name="Figure 4 label 22 line 1">
            <a:extLst xmlns:a="http://schemas.openxmlformats.org/drawingml/2006/main">
              <a:ext uri="{FF2B5EF4-FFF2-40B4-BE49-F238E27FC236}">
                <a16:creationId xmlns:a16="http://schemas.microsoft.com/office/drawing/2014/main" id="{C9EE22FB-480A-41E5-8AE2-A426F693ED48}"/>
              </a:ext>
            </a:extLst>
          </p:cNvPr>
          <p:cNvSpPr>
            <a:spLocks xmlns:a="http://schemas.openxmlformats.org/drawingml/2006/main" noGrp="1"/>
          </p:cNvSpPr>
          <p:nvPr/>
        </p:nvSpPr>
        <p:spPr>
          <a:xfrm xmlns:a="http://schemas.openxmlformats.org/drawingml/2006/main" rot="0">
            <a:off x="6631686" y="5546903"/>
            <a:ext cx="156936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Enzymes / proteins</a:t>
            </a:r>
          </a:p>
        </p:txBody>
      </p:sp>
      <p:sp>
        <p:nvSpPr>
          <p:cNvPr id="24" name="Figure 4 label 23 line 1">
            <a:extLst xmlns:a="http://schemas.openxmlformats.org/drawingml/2006/main">
              <a:ext uri="{FF2B5EF4-FFF2-40B4-BE49-F238E27FC236}">
                <a16:creationId xmlns:a16="http://schemas.microsoft.com/office/drawing/2014/main" id="{781EBA86-F664-4852-8526-D2AF0E88EBD3}"/>
              </a:ext>
            </a:extLst>
          </p:cNvPr>
          <p:cNvSpPr>
            <a:spLocks xmlns:a="http://schemas.openxmlformats.org/drawingml/2006/main" noGrp="1"/>
          </p:cNvSpPr>
          <p:nvPr/>
        </p:nvSpPr>
        <p:spPr>
          <a:xfrm xmlns:a="http://schemas.openxmlformats.org/drawingml/2006/main" rot="0">
            <a:off x="6631686" y="5840621"/>
            <a:ext cx="213178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Analytical chromatography</a:t>
            </a:r>
          </a:p>
        </p:txBody>
      </p:sp>
      <p:sp>
        <p:nvSpPr>
          <p:cNvPr id="25" name="Figure 4 label 24 line 1">
            <a:extLst xmlns:a="http://schemas.openxmlformats.org/drawingml/2006/main">
              <a:ext uri="{FF2B5EF4-FFF2-40B4-BE49-F238E27FC236}">
                <a16:creationId xmlns:a16="http://schemas.microsoft.com/office/drawing/2014/main" id="{AF4AD2E1-A955-4588-A71A-C64E0F51C99D}"/>
              </a:ext>
            </a:extLst>
          </p:cNvPr>
          <p:cNvSpPr>
            <a:spLocks xmlns:a="http://schemas.openxmlformats.org/drawingml/2006/main" noGrp="1"/>
          </p:cNvSpPr>
          <p:nvPr/>
        </p:nvSpPr>
        <p:spPr>
          <a:xfrm xmlns:a="http://schemas.openxmlformats.org/drawingml/2006/main" rot="0">
            <a:off x="7142686" y="6998393"/>
            <a:ext cx="120456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Build candidates</a:t>
            </a:r>
          </a:p>
        </p:txBody>
      </p:sp>
      <p:sp>
        <p:nvSpPr>
          <p:cNvPr id="26" name="Figure 4 label 25 line 1">
            <a:extLst xmlns:a="http://schemas.openxmlformats.org/drawingml/2006/main">
              <a:ext uri="{FF2B5EF4-FFF2-40B4-BE49-F238E27FC236}">
                <a16:creationId xmlns:a16="http://schemas.microsoft.com/office/drawing/2014/main" id="{BFC3D5A9-263C-4EA9-9DE8-8672120C4B5F}"/>
              </a:ext>
            </a:extLst>
          </p:cNvPr>
          <p:cNvSpPr>
            <a:spLocks xmlns:a="http://schemas.openxmlformats.org/drawingml/2006/main" noGrp="1"/>
          </p:cNvSpPr>
          <p:nvPr/>
        </p:nvSpPr>
        <p:spPr>
          <a:xfrm xmlns:a="http://schemas.openxmlformats.org/drawingml/2006/main" rot="0">
            <a:off x="9503283"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3</a:t>
            </a:r>
          </a:p>
        </p:txBody>
      </p:sp>
      <p:sp>
        <p:nvSpPr>
          <p:cNvPr id="27" name="Figure 4 label 26 line 1">
            <a:extLst xmlns:a="http://schemas.openxmlformats.org/drawingml/2006/main">
              <a:ext uri="{FF2B5EF4-FFF2-40B4-BE49-F238E27FC236}">
                <a16:creationId xmlns:a16="http://schemas.microsoft.com/office/drawing/2014/main" id="{6CCB6EA4-B19E-4793-BFFE-78AB410674B3}"/>
              </a:ext>
            </a:extLst>
          </p:cNvPr>
          <p:cNvSpPr>
            <a:spLocks xmlns:a="http://schemas.openxmlformats.org/drawingml/2006/main" noGrp="1"/>
          </p:cNvSpPr>
          <p:nvPr/>
        </p:nvSpPr>
        <p:spPr>
          <a:xfrm xmlns:a="http://schemas.openxmlformats.org/drawingml/2006/main" rot="0">
            <a:off x="9840720" y="3439540"/>
            <a:ext cx="1441202"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Wet-lab tests</a:t>
            </a:r>
          </a:p>
        </p:txBody>
      </p:sp>
      <p:sp>
        <p:nvSpPr>
          <p:cNvPr id="28" name="Figure 4 label 27 line 1">
            <a:extLst xmlns:a="http://schemas.openxmlformats.org/drawingml/2006/main">
              <a:ext uri="{FF2B5EF4-FFF2-40B4-BE49-F238E27FC236}">
                <a16:creationId xmlns:a16="http://schemas.microsoft.com/office/drawing/2014/main" id="{8CB3F6CA-50D1-418D-B71D-DBBAB38F34C6}"/>
              </a:ext>
            </a:extLst>
          </p:cNvPr>
          <p:cNvSpPr>
            <a:spLocks xmlns:a="http://schemas.openxmlformats.org/drawingml/2006/main" noGrp="1"/>
          </p:cNvSpPr>
          <p:nvPr/>
        </p:nvSpPr>
        <p:spPr>
          <a:xfrm xmlns:a="http://schemas.openxmlformats.org/drawingml/2006/main" rot="0">
            <a:off x="9448038" y="5254230"/>
            <a:ext cx="177891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Cells / media / assays</a:t>
            </a:r>
          </a:p>
        </p:txBody>
      </p:sp>
      <p:sp>
        <p:nvSpPr>
          <p:cNvPr id="29" name="Figure 4 label 28 line 1">
            <a:extLst xmlns:a="http://schemas.openxmlformats.org/drawingml/2006/main">
              <a:ext uri="{FF2B5EF4-FFF2-40B4-BE49-F238E27FC236}">
                <a16:creationId xmlns:a16="http://schemas.microsoft.com/office/drawing/2014/main" id="{73C93FAF-32ED-49BD-A6B9-62DADAB137DE}"/>
              </a:ext>
            </a:extLst>
          </p:cNvPr>
          <p:cNvSpPr>
            <a:spLocks xmlns:a="http://schemas.openxmlformats.org/drawingml/2006/main" noGrp="1"/>
          </p:cNvSpPr>
          <p:nvPr/>
        </p:nvSpPr>
        <p:spPr>
          <a:xfrm xmlns:a="http://schemas.openxmlformats.org/drawingml/2006/main" rot="0">
            <a:off x="9448038" y="5547948"/>
            <a:ext cx="18271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Plates / liquid handling</a:t>
            </a:r>
          </a:p>
        </p:txBody>
      </p:sp>
      <p:sp>
        <p:nvSpPr>
          <p:cNvPr id="30" name="Figure 4 label 29 line 1">
            <a:extLst xmlns:a="http://schemas.openxmlformats.org/drawingml/2006/main">
              <a:ext uri="{FF2B5EF4-FFF2-40B4-BE49-F238E27FC236}">
                <a16:creationId xmlns:a16="http://schemas.microsoft.com/office/drawing/2014/main" id="{46357CE8-7CA9-4A2E-BA75-3AD274098983}"/>
              </a:ext>
            </a:extLst>
          </p:cNvPr>
          <p:cNvSpPr>
            <a:spLocks xmlns:a="http://schemas.openxmlformats.org/drawingml/2006/main" noGrp="1"/>
          </p:cNvSpPr>
          <p:nvPr/>
        </p:nvSpPr>
        <p:spPr>
          <a:xfrm xmlns:a="http://schemas.openxmlformats.org/drawingml/2006/main" rot="0">
            <a:off x="9448038" y="5841666"/>
            <a:ext cx="198905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High-throughput imaging</a:t>
            </a:r>
          </a:p>
        </p:txBody>
      </p:sp>
      <p:sp>
        <p:nvSpPr>
          <p:cNvPr id="31" name="Figure 4 label 30 line 1">
            <a:extLst xmlns:a="http://schemas.openxmlformats.org/drawingml/2006/main">
              <a:ext uri="{FF2B5EF4-FFF2-40B4-BE49-F238E27FC236}">
                <a16:creationId xmlns:a16="http://schemas.microsoft.com/office/drawing/2014/main" id="{29A9AB78-4EC0-4C20-9376-19B1C01DCFA1}"/>
              </a:ext>
            </a:extLst>
          </p:cNvPr>
          <p:cNvSpPr>
            <a:spLocks xmlns:a="http://schemas.openxmlformats.org/drawingml/2006/main" noGrp="1"/>
          </p:cNvSpPr>
          <p:nvPr/>
        </p:nvSpPr>
        <p:spPr>
          <a:xfrm xmlns:a="http://schemas.openxmlformats.org/drawingml/2006/main" rot="0">
            <a:off x="9959038" y="6998393"/>
            <a:ext cx="120456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Create feedback</a:t>
            </a:r>
          </a:p>
        </p:txBody>
      </p:sp>
      <p:sp>
        <p:nvSpPr>
          <p:cNvPr id="32" name="Figure 4 label 31 line 1">
            <a:extLst xmlns:a="http://schemas.openxmlformats.org/drawingml/2006/main">
              <a:ext uri="{FF2B5EF4-FFF2-40B4-BE49-F238E27FC236}">
                <a16:creationId xmlns:a16="http://schemas.microsoft.com/office/drawing/2014/main" id="{3203DFF1-2096-4B1C-8003-B4C15B7E4487}"/>
              </a:ext>
            </a:extLst>
          </p:cNvPr>
          <p:cNvSpPr>
            <a:spLocks xmlns:a="http://schemas.openxmlformats.org/drawingml/2006/main" noGrp="1"/>
          </p:cNvSpPr>
          <p:nvPr/>
        </p:nvSpPr>
        <p:spPr>
          <a:xfrm xmlns:a="http://schemas.openxmlformats.org/drawingml/2006/main" rot="0">
            <a:off x="12319635"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4</a:t>
            </a:r>
          </a:p>
        </p:txBody>
      </p:sp>
      <p:sp>
        <p:nvSpPr>
          <p:cNvPr id="33" name="Figure 4 label 32 line 1">
            <a:extLst xmlns:a="http://schemas.openxmlformats.org/drawingml/2006/main">
              <a:ext uri="{FF2B5EF4-FFF2-40B4-BE49-F238E27FC236}">
                <a16:creationId xmlns:a16="http://schemas.microsoft.com/office/drawing/2014/main" id="{F055936B-B9B0-4FE0-B87C-3A9DD1107226}"/>
              </a:ext>
            </a:extLst>
          </p:cNvPr>
          <p:cNvSpPr>
            <a:spLocks xmlns:a="http://schemas.openxmlformats.org/drawingml/2006/main" noGrp="1"/>
          </p:cNvSpPr>
          <p:nvPr/>
        </p:nvSpPr>
        <p:spPr>
          <a:xfrm xmlns:a="http://schemas.openxmlformats.org/drawingml/2006/main" rot="0">
            <a:off x="12447001" y="3439540"/>
            <a:ext cx="186134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Clinical validation</a:t>
            </a:r>
          </a:p>
        </p:txBody>
      </p:sp>
      <p:sp>
        <p:nvSpPr>
          <p:cNvPr id="34" name="Figure 4 label 33 line 1">
            <a:extLst xmlns:a="http://schemas.openxmlformats.org/drawingml/2006/main">
              <a:ext uri="{FF2B5EF4-FFF2-40B4-BE49-F238E27FC236}">
                <a16:creationId xmlns:a16="http://schemas.microsoft.com/office/drawing/2014/main" id="{C2CABF78-E76E-4785-80AA-C7258BB74085}"/>
              </a:ext>
            </a:extLst>
          </p:cNvPr>
          <p:cNvSpPr>
            <a:spLocks xmlns:a="http://schemas.openxmlformats.org/drawingml/2006/main" noGrp="1"/>
          </p:cNvSpPr>
          <p:nvPr/>
        </p:nvSpPr>
        <p:spPr>
          <a:xfrm xmlns:a="http://schemas.openxmlformats.org/drawingml/2006/main" rot="0">
            <a:off x="12264390" y="5252036"/>
            <a:ext cx="185541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Sequencing / IVD R&amp;D</a:t>
            </a:r>
          </a:p>
        </p:txBody>
      </p:sp>
      <p:sp>
        <p:nvSpPr>
          <p:cNvPr id="35" name="Figure 4 label 34 line 1">
            <a:extLst xmlns:a="http://schemas.openxmlformats.org/drawingml/2006/main">
              <a:ext uri="{FF2B5EF4-FFF2-40B4-BE49-F238E27FC236}">
                <a16:creationId xmlns:a16="http://schemas.microsoft.com/office/drawing/2014/main" id="{CE53E888-9581-41DB-A885-54DD82DC31B1}"/>
              </a:ext>
            </a:extLst>
          </p:cNvPr>
          <p:cNvSpPr>
            <a:spLocks xmlns:a="http://schemas.openxmlformats.org/drawingml/2006/main" noGrp="1"/>
          </p:cNvSpPr>
          <p:nvPr/>
        </p:nvSpPr>
        <p:spPr>
          <a:xfrm xmlns:a="http://schemas.openxmlformats.org/drawingml/2006/main" rot="0">
            <a:off x="12264390" y="5550142"/>
            <a:ext cx="196033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Clinical sample handling</a:t>
            </a:r>
          </a:p>
        </p:txBody>
      </p:sp>
      <p:sp>
        <p:nvSpPr>
          <p:cNvPr id="36" name="Figure 4 label 35 line 1">
            <a:extLst xmlns:a="http://schemas.openxmlformats.org/drawingml/2006/main">
              <a:ext uri="{FF2B5EF4-FFF2-40B4-BE49-F238E27FC236}">
                <a16:creationId xmlns:a16="http://schemas.microsoft.com/office/drawing/2014/main" id="{DEAA1E95-EE3B-4AED-BF32-0CDFCBDC9EB2}"/>
              </a:ext>
            </a:extLst>
          </p:cNvPr>
          <p:cNvSpPr>
            <a:spLocks xmlns:a="http://schemas.openxmlformats.org/drawingml/2006/main" noGrp="1"/>
          </p:cNvSpPr>
          <p:nvPr/>
        </p:nvSpPr>
        <p:spPr>
          <a:xfrm xmlns:a="http://schemas.openxmlformats.org/drawingml/2006/main" rot="0">
            <a:off x="12264390" y="5843860"/>
            <a:ext cx="149346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Automated testing</a:t>
            </a:r>
          </a:p>
        </p:txBody>
      </p:sp>
      <p:sp>
        <p:nvSpPr>
          <p:cNvPr id="37" name="Figure 4 label 36 line 1">
            <a:extLst xmlns:a="http://schemas.openxmlformats.org/drawingml/2006/main">
              <a:ext uri="{FF2B5EF4-FFF2-40B4-BE49-F238E27FC236}">
                <a16:creationId xmlns:a16="http://schemas.microsoft.com/office/drawing/2014/main" id="{EB856D3F-B815-4BB5-8558-BC573E647A49}"/>
              </a:ext>
            </a:extLst>
          </p:cNvPr>
          <p:cNvSpPr>
            <a:spLocks xmlns:a="http://schemas.openxmlformats.org/drawingml/2006/main" noGrp="1"/>
          </p:cNvSpPr>
          <p:nvPr/>
        </p:nvSpPr>
        <p:spPr>
          <a:xfrm xmlns:a="http://schemas.openxmlformats.org/drawingml/2006/main" rot="0">
            <a:off x="12863496" y="6997580"/>
            <a:ext cx="1028353"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Validate utility</a:t>
            </a:r>
          </a:p>
        </p:txBody>
      </p:sp>
      <p:sp>
        <p:nvSpPr>
          <p:cNvPr id="38" name="Figure 4 label 37 line 1">
            <a:extLst xmlns:a="http://schemas.openxmlformats.org/drawingml/2006/main">
              <a:ext uri="{FF2B5EF4-FFF2-40B4-BE49-F238E27FC236}">
                <a16:creationId xmlns:a16="http://schemas.microsoft.com/office/drawing/2014/main" id="{3705C9C5-08A8-4D18-8A8B-3F7278D62413}"/>
              </a:ext>
            </a:extLst>
          </p:cNvPr>
          <p:cNvSpPr>
            <a:spLocks xmlns:a="http://schemas.openxmlformats.org/drawingml/2006/main" noGrp="1"/>
          </p:cNvSpPr>
          <p:nvPr/>
        </p:nvSpPr>
        <p:spPr>
          <a:xfrm xmlns:a="http://schemas.openxmlformats.org/drawingml/2006/main" rot="0">
            <a:off x="15135987"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5</a:t>
            </a:r>
          </a:p>
        </p:txBody>
      </p:sp>
      <p:sp>
        <p:nvSpPr>
          <p:cNvPr id="39" name="Figure 4 label 38 line 1">
            <a:extLst xmlns:a="http://schemas.openxmlformats.org/drawingml/2006/main">
              <a:ext uri="{FF2B5EF4-FFF2-40B4-BE49-F238E27FC236}">
                <a16:creationId xmlns:a16="http://schemas.microsoft.com/office/drawing/2014/main" id="{E4FD518C-AC4F-40E7-9F6E-3A88EEF8226B}"/>
              </a:ext>
            </a:extLst>
          </p:cNvPr>
          <p:cNvSpPr>
            <a:spLocks xmlns:a="http://schemas.openxmlformats.org/drawingml/2006/main" noGrp="1"/>
          </p:cNvSpPr>
          <p:nvPr/>
        </p:nvSpPr>
        <p:spPr>
          <a:xfrm xmlns:a="http://schemas.openxmlformats.org/drawingml/2006/main" rot="0">
            <a:off x="15481001" y="3319286"/>
            <a:ext cx="155267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Manufacturing</a:t>
            </a:r>
          </a:p>
        </p:txBody>
      </p:sp>
      <p:sp>
        <p:nvSpPr>
          <p:cNvPr id="40" name="Figure 4 label 39 line 1">
            <a:extLst xmlns:a="http://schemas.openxmlformats.org/drawingml/2006/main">
              <a:ext uri="{FF2B5EF4-FFF2-40B4-BE49-F238E27FC236}">
                <a16:creationId xmlns:a16="http://schemas.microsoft.com/office/drawing/2014/main" id="{C30669BA-0A98-42F3-A3FB-6944CABA962A}"/>
              </a:ext>
            </a:extLst>
          </p:cNvPr>
          <p:cNvSpPr>
            <a:spLocks xmlns:a="http://schemas.openxmlformats.org/drawingml/2006/main" noGrp="1"/>
          </p:cNvSpPr>
          <p:nvPr/>
        </p:nvSpPr>
        <p:spPr>
          <a:xfrm xmlns:a="http://schemas.openxmlformats.org/drawingml/2006/main" rot="0">
            <a:off x="15505934" y="3560107"/>
            <a:ext cx="1502817"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(if successful)</a:t>
            </a:r>
          </a:p>
        </p:txBody>
      </p:sp>
      <p:sp>
        <p:nvSpPr>
          <p:cNvPr id="41" name="Figure 4 label 40 line 1">
            <a:extLst xmlns:a="http://schemas.openxmlformats.org/drawingml/2006/main">
              <a:ext uri="{FF2B5EF4-FFF2-40B4-BE49-F238E27FC236}">
                <a16:creationId xmlns:a16="http://schemas.microsoft.com/office/drawing/2014/main" id="{3B60A429-D1FC-4462-AAB3-CD1F0D21F693}"/>
              </a:ext>
            </a:extLst>
          </p:cNvPr>
          <p:cNvSpPr>
            <a:spLocks xmlns:a="http://schemas.openxmlformats.org/drawingml/2006/main" noGrp="1"/>
          </p:cNvSpPr>
          <p:nvPr/>
        </p:nvSpPr>
        <p:spPr>
          <a:xfrm xmlns:a="http://schemas.openxmlformats.org/drawingml/2006/main" rot="0">
            <a:off x="15080742" y="5252840"/>
            <a:ext cx="117868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Media / resins</a:t>
            </a:r>
          </a:p>
        </p:txBody>
      </p:sp>
      <p:sp>
        <p:nvSpPr>
          <p:cNvPr id="42" name="Figure 4 label 41 line 1">
            <a:extLst xmlns:a="http://schemas.openxmlformats.org/drawingml/2006/main">
              <a:ext uri="{FF2B5EF4-FFF2-40B4-BE49-F238E27FC236}">
                <a16:creationId xmlns:a16="http://schemas.microsoft.com/office/drawing/2014/main" id="{99F821F9-1215-40E4-8701-D8592FFD79D4}"/>
              </a:ext>
            </a:extLst>
          </p:cNvPr>
          <p:cNvSpPr>
            <a:spLocks xmlns:a="http://schemas.openxmlformats.org/drawingml/2006/main" noGrp="1"/>
          </p:cNvSpPr>
          <p:nvPr/>
        </p:nvSpPr>
        <p:spPr>
          <a:xfrm xmlns:a="http://schemas.openxmlformats.org/drawingml/2006/main" rot="0">
            <a:off x="15080742" y="5544709"/>
            <a:ext cx="216021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Filtration / process labware</a:t>
            </a:r>
          </a:p>
        </p:txBody>
      </p:sp>
      <p:sp>
        <p:nvSpPr>
          <p:cNvPr id="43" name="Figure 4 label 42 line 1">
            <a:extLst xmlns:a="http://schemas.openxmlformats.org/drawingml/2006/main">
              <a:ext uri="{FF2B5EF4-FFF2-40B4-BE49-F238E27FC236}">
                <a16:creationId xmlns:a16="http://schemas.microsoft.com/office/drawing/2014/main" id="{50A27E7C-CD55-4C3D-9DA0-F06422B9A088}"/>
              </a:ext>
            </a:extLst>
          </p:cNvPr>
          <p:cNvSpPr>
            <a:spLocks xmlns:a="http://schemas.openxmlformats.org/drawingml/2006/main" noGrp="1"/>
          </p:cNvSpPr>
          <p:nvPr/>
        </p:nvSpPr>
        <p:spPr>
          <a:xfrm xmlns:a="http://schemas.openxmlformats.org/drawingml/2006/main" rot="0">
            <a:off x="15080742" y="5840967"/>
            <a:ext cx="22081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Single-use bioprocess tools</a:t>
            </a:r>
          </a:p>
        </p:txBody>
      </p:sp>
      <p:sp>
        <p:nvSpPr>
          <p:cNvPr id="44" name="Figure 4 label 43 line 1">
            <a:extLst xmlns:a="http://schemas.openxmlformats.org/drawingml/2006/main">
              <a:ext uri="{FF2B5EF4-FFF2-40B4-BE49-F238E27FC236}">
                <a16:creationId xmlns:a16="http://schemas.microsoft.com/office/drawing/2014/main" id="{B82D3BB9-6700-45D5-967B-ADEB40B16D4C}"/>
              </a:ext>
            </a:extLst>
          </p:cNvPr>
          <p:cNvSpPr>
            <a:spLocks xmlns:a="http://schemas.openxmlformats.org/drawingml/2006/main" noGrp="1"/>
          </p:cNvSpPr>
          <p:nvPr/>
        </p:nvSpPr>
        <p:spPr>
          <a:xfrm xmlns:a="http://schemas.openxmlformats.org/drawingml/2006/main" rot="0">
            <a:off x="15654622" y="6997580"/>
            <a:ext cx="107880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Produce drugs</a:t>
            </a:r>
          </a:p>
        </p:txBody>
      </p:sp>
      <p:sp>
        <p:nvSpPr>
          <p:cNvPr id="45" name="Figure 4 label 44 line 1">
            <a:extLst xmlns:a="http://schemas.openxmlformats.org/drawingml/2006/main">
              <a:ext uri="{FF2B5EF4-FFF2-40B4-BE49-F238E27FC236}">
                <a16:creationId xmlns:a16="http://schemas.microsoft.com/office/drawing/2014/main" id="{C9ACC85F-D035-4DF6-ADC7-2F2430227D18}"/>
              </a:ext>
            </a:extLst>
          </p:cNvPr>
          <p:cNvSpPr>
            <a:spLocks xmlns:a="http://schemas.openxmlformats.org/drawingml/2006/main" noGrp="1"/>
          </p:cNvSpPr>
          <p:nvPr/>
        </p:nvSpPr>
        <p:spPr>
          <a:xfrm xmlns:a="http://schemas.openxmlformats.org/drawingml/2006/main" rot="0">
            <a:off x="5851000" y="2044848"/>
            <a:ext cx="329416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13"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Experimental feedback → next design cycle</a:t>
            </a:r>
          </a:p>
        </p:txBody>
      </p:sp>
      <p:sp>
        <p:nvSpPr>
          <p:cNvPr id="46" name="Figure 4 label 45 line 1">
            <a:extLst xmlns:a="http://schemas.openxmlformats.org/drawingml/2006/main">
              <a:ext uri="{FF2B5EF4-FFF2-40B4-BE49-F238E27FC236}">
                <a16:creationId xmlns:a16="http://schemas.microsoft.com/office/drawing/2014/main" id="{679951F8-B655-413E-A34A-896B17FD88CA}"/>
              </a:ext>
            </a:extLst>
          </p:cNvPr>
          <p:cNvSpPr>
            <a:spLocks xmlns:a="http://schemas.openxmlformats.org/drawingml/2006/main" noGrp="1"/>
          </p:cNvSpPr>
          <p:nvPr/>
        </p:nvSpPr>
        <p:spPr>
          <a:xfrm xmlns:a="http://schemas.openxmlformats.org/drawingml/2006/main" rot="0">
            <a:off x="5122143" y="8227834"/>
            <a:ext cx="8043714"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The most direct potential uplift comes from building and testing candidates.</a:t>
            </a:r>
          </a:p>
        </p:txBody>
      </p:sp>
    </p:spTree>
    <p:extLst>
      <p:ext uri="{BB962C8B-B14F-4D97-AF65-F5344CB8AC3E}">
        <p14:creationId xmlns:p14="http://schemas.microsoft.com/office/powerpoint/2010/main" val="5846135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4" name="">
            <a:extLst xmlns:a="http://schemas.openxmlformats.org/drawingml/2006/main">
              <a:ext uri="{FF2B5EF4-FFF2-40B4-BE49-F238E27FC236}">
                <a16:creationId xmlns:a16="http://schemas.microsoft.com/office/drawing/2014/main" id="{3964A913-5DD8-4CEC-ABA3-9F99F8877FFD}"/>
              </a:ext>
            </a:extLst>
          </p:cNvPr>
          <p:cNvPicPr>
            <a:picLocks xmlns:a="http://schemas.openxmlformats.org/drawingml/2006/main" noChangeAspect="1"/>
          </p:cNvPicPr>
          <p:nvPr/>
        </p:nvPicPr>
        <p:blipFill>
          <a:blip xmlns:r="http://schemas.openxmlformats.org/officeDocument/2006/relationships" xmlns:a="http://schemas.openxmlformats.org/drawingml/2006/main" r:embed="Rcc97786bc56c4ab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5 label 1 line 1">
            <a:extLst xmlns:a="http://schemas.openxmlformats.org/drawingml/2006/main">
              <a:ext uri="{FF2B5EF4-FFF2-40B4-BE49-F238E27FC236}">
                <a16:creationId xmlns:a16="http://schemas.microsoft.com/office/drawing/2014/main" id="{342B453E-80CB-45F0-99BE-AAA5C3E0C3EF}"/>
              </a:ext>
            </a:extLst>
          </p:cNvPr>
          <p:cNvSpPr>
            <a:spLocks xmlns:a="http://schemas.openxmlformats.org/drawingml/2006/main" noGrp="1"/>
          </p:cNvSpPr>
          <p:nvPr/>
        </p:nvSpPr>
        <p:spPr>
          <a:xfrm xmlns:a="http://schemas.openxmlformats.org/drawingml/2006/main" rot="0">
            <a:off x="26162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5 label 2 line 1">
            <a:extLst xmlns:a="http://schemas.openxmlformats.org/drawingml/2006/main">
              <a:ext uri="{FF2B5EF4-FFF2-40B4-BE49-F238E27FC236}">
                <a16:creationId xmlns:a16="http://schemas.microsoft.com/office/drawing/2014/main" id="{2B3B2604-9C46-4898-8C55-A9C5D60B3A33}"/>
              </a:ext>
            </a:extLst>
          </p:cNvPr>
          <p:cNvSpPr>
            <a:spLocks xmlns:a="http://schemas.openxmlformats.org/drawingml/2006/main" noGrp="1"/>
          </p:cNvSpPr>
          <p:nvPr/>
        </p:nvSpPr>
        <p:spPr>
          <a:xfrm xmlns:a="http://schemas.openxmlformats.org/drawingml/2006/main" rot="0">
            <a:off x="801176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5 label 3 line 1">
            <a:extLst xmlns:a="http://schemas.openxmlformats.org/drawingml/2006/main">
              <a:ext uri="{FF2B5EF4-FFF2-40B4-BE49-F238E27FC236}">
                <a16:creationId xmlns:a16="http://schemas.microsoft.com/office/drawing/2014/main" id="{7D4F663D-912E-415F-829D-708D93B20394}"/>
              </a:ext>
            </a:extLst>
          </p:cNvPr>
          <p:cNvSpPr>
            <a:spLocks xmlns:a="http://schemas.openxmlformats.org/drawingml/2006/main" noGrp="1"/>
          </p:cNvSpPr>
          <p:nvPr/>
        </p:nvSpPr>
        <p:spPr>
          <a:xfrm xmlns:a="http://schemas.openxmlformats.org/drawingml/2006/main" rot="0">
            <a:off x="1371418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5 label 4 line 1">
            <a:extLst xmlns:a="http://schemas.openxmlformats.org/drawingml/2006/main">
              <a:ext uri="{FF2B5EF4-FFF2-40B4-BE49-F238E27FC236}">
                <a16:creationId xmlns:a16="http://schemas.microsoft.com/office/drawing/2014/main" id="{B2FA3E68-57A8-4D9F-A64D-C6DD5F2F3A13}"/>
              </a:ext>
            </a:extLst>
          </p:cNvPr>
          <p:cNvSpPr>
            <a:spLocks xmlns:a="http://schemas.openxmlformats.org/drawingml/2006/main" noGrp="1"/>
          </p:cNvSpPr>
          <p:nvPr/>
        </p:nvSpPr>
        <p:spPr>
          <a:xfrm xmlns:a="http://schemas.openxmlformats.org/drawingml/2006/main" rot="0">
            <a:off x="7276772" y="8291493"/>
            <a:ext cx="227141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Experimental necessity →</a:t>
            </a:r>
          </a:p>
        </p:txBody>
      </p:sp>
      <p:sp>
        <p:nvSpPr>
          <p:cNvPr id="6" name="Figure 5 label 5 line 1">
            <a:extLst xmlns:a="http://schemas.openxmlformats.org/drawingml/2006/main">
              <a:ext uri="{FF2B5EF4-FFF2-40B4-BE49-F238E27FC236}">
                <a16:creationId xmlns:a16="http://schemas.microsoft.com/office/drawing/2014/main" id="{7771E4D6-48C5-4355-927D-CDC8C69673FA}"/>
              </a:ext>
            </a:extLst>
          </p:cNvPr>
          <p:cNvSpPr>
            <a:spLocks xmlns:a="http://schemas.openxmlformats.org/drawingml/2006/main" noGrp="1"/>
          </p:cNvSpPr>
          <p:nvPr/>
        </p:nvSpPr>
        <p:spPr>
          <a:xfrm xmlns:a="http://schemas.openxmlformats.org/drawingml/2006/main" rot="0">
            <a:off x="83086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5 label 6 line 1">
            <a:extLst xmlns:a="http://schemas.openxmlformats.org/drawingml/2006/main">
              <a:ext uri="{FF2B5EF4-FFF2-40B4-BE49-F238E27FC236}">
                <a16:creationId xmlns:a16="http://schemas.microsoft.com/office/drawing/2014/main" id="{B372D7B2-83FC-461B-98DA-F7204EB935F0}"/>
              </a:ext>
            </a:extLst>
          </p:cNvPr>
          <p:cNvSpPr>
            <a:spLocks xmlns:a="http://schemas.openxmlformats.org/drawingml/2006/main" noGrp="1"/>
          </p:cNvSpPr>
          <p:nvPr/>
        </p:nvSpPr>
        <p:spPr>
          <a:xfrm xmlns:a="http://schemas.openxmlformats.org/drawingml/2006/main" rot="0">
            <a:off x="50285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5 label 7 line 1">
            <a:extLst xmlns:a="http://schemas.openxmlformats.org/drawingml/2006/main">
              <a:ext uri="{FF2B5EF4-FFF2-40B4-BE49-F238E27FC236}">
                <a16:creationId xmlns:a16="http://schemas.microsoft.com/office/drawing/2014/main" id="{6632F57A-5685-4C58-A78C-75C979867574}"/>
              </a:ext>
            </a:extLst>
          </p:cNvPr>
          <p:cNvSpPr>
            <a:spLocks xmlns:a="http://schemas.openxmlformats.org/drawingml/2006/main" noGrp="1"/>
          </p:cNvSpPr>
          <p:nvPr/>
        </p:nvSpPr>
        <p:spPr>
          <a:xfrm xmlns:a="http://schemas.openxmlformats.org/drawingml/2006/main" rot="0">
            <a:off x="78860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5 label 8 line 1">
            <a:extLst xmlns:a="http://schemas.openxmlformats.org/drawingml/2006/main">
              <a:ext uri="{FF2B5EF4-FFF2-40B4-BE49-F238E27FC236}">
                <a16:creationId xmlns:a16="http://schemas.microsoft.com/office/drawing/2014/main" id="{844A4307-FF55-4414-BF18-5E3C3D8B17FE}"/>
              </a:ext>
            </a:extLst>
          </p:cNvPr>
          <p:cNvSpPr>
            <a:spLocks xmlns:a="http://schemas.openxmlformats.org/drawingml/2006/main" noGrp="1"/>
          </p:cNvSpPr>
          <p:nvPr/>
        </p:nvSpPr>
        <p:spPr>
          <a:xfrm xmlns:a="http://schemas.openxmlformats.org/drawingml/2006/main" rot="16200000">
            <a:off x="-1479297" y="4918710"/>
            <a:ext cx="373275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Revenue elasticity to experiment volume →</a:t>
            </a:r>
          </a:p>
        </p:txBody>
      </p:sp>
      <p:sp>
        <p:nvSpPr>
          <p:cNvPr id="10" name="Figure 5 label 9 line 1">
            <a:extLst xmlns:a="http://schemas.openxmlformats.org/drawingml/2006/main">
              <a:ext uri="{FF2B5EF4-FFF2-40B4-BE49-F238E27FC236}">
                <a16:creationId xmlns:a16="http://schemas.microsoft.com/office/drawing/2014/main" id="{144D6EA5-DABC-4ED4-A481-8FAA89D30278}"/>
              </a:ext>
            </a:extLst>
          </p:cNvPr>
          <p:cNvSpPr>
            <a:spLocks xmlns:a="http://schemas.openxmlformats.org/drawingml/2006/main" noGrp="1"/>
          </p:cNvSpPr>
          <p:nvPr/>
        </p:nvSpPr>
        <p:spPr>
          <a:xfrm xmlns:a="http://schemas.openxmlformats.org/drawingml/2006/main" rot="0">
            <a:off x="2012455" y="2407644"/>
            <a:ext cx="3468162"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Project expansion and substitution both matter</a:t>
            </a:r>
          </a:p>
        </p:txBody>
      </p:sp>
      <p:sp>
        <p:nvSpPr>
          <p:cNvPr id="11" name="Figure 5 label 10 line 1">
            <a:extLst xmlns:a="http://schemas.openxmlformats.org/drawingml/2006/main">
              <a:ext uri="{FF2B5EF4-FFF2-40B4-BE49-F238E27FC236}">
                <a16:creationId xmlns:a16="http://schemas.microsoft.com/office/drawing/2014/main" id="{0C3A6FD1-F6F1-46A7-9EBF-BE40CAFE9C9C}"/>
              </a:ext>
            </a:extLst>
          </p:cNvPr>
          <p:cNvSpPr>
            <a:spLocks xmlns:a="http://schemas.openxmlformats.org/drawingml/2006/main" noGrp="1"/>
          </p:cNvSpPr>
          <p:nvPr/>
        </p:nvSpPr>
        <p:spPr>
          <a:xfrm xmlns:a="http://schemas.openxmlformats.org/drawingml/2006/main" rot="0">
            <a:off x="11880532" y="2274154"/>
            <a:ext cx="130373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High-throughput</a:t>
            </a:r>
          </a:p>
        </p:txBody>
      </p:sp>
      <p:sp>
        <p:nvSpPr>
          <p:cNvPr id="12" name="Figure 5 label 11 line 1">
            <a:extLst xmlns:a="http://schemas.openxmlformats.org/drawingml/2006/main">
              <a:ext uri="{FF2B5EF4-FFF2-40B4-BE49-F238E27FC236}">
                <a16:creationId xmlns:a16="http://schemas.microsoft.com/office/drawing/2014/main" id="{65E80565-E940-4ED8-8746-0056CB8C05A4}"/>
              </a:ext>
            </a:extLst>
          </p:cNvPr>
          <p:cNvSpPr>
            <a:spLocks xmlns:a="http://schemas.openxmlformats.org/drawingml/2006/main" noGrp="1"/>
          </p:cNvSpPr>
          <p:nvPr/>
        </p:nvSpPr>
        <p:spPr>
          <a:xfrm xmlns:a="http://schemas.openxmlformats.org/drawingml/2006/main" rot="0">
            <a:off x="11880532" y="2452333"/>
            <a:ext cx="62716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assays</a:t>
            </a:r>
          </a:p>
        </p:txBody>
      </p:sp>
      <p:sp>
        <p:nvSpPr>
          <p:cNvPr id="13" name="Figure 5 label 12 line 1">
            <a:extLst xmlns:a="http://schemas.openxmlformats.org/drawingml/2006/main">
              <a:ext uri="{FF2B5EF4-FFF2-40B4-BE49-F238E27FC236}">
                <a16:creationId xmlns:a16="http://schemas.microsoft.com/office/drawing/2014/main" id="{E015363E-D88E-4B2A-934E-60620BA7E32D}"/>
              </a:ext>
            </a:extLst>
          </p:cNvPr>
          <p:cNvSpPr>
            <a:spLocks xmlns:a="http://schemas.openxmlformats.org/drawingml/2006/main" noGrp="1"/>
          </p:cNvSpPr>
          <p:nvPr/>
        </p:nvSpPr>
        <p:spPr>
          <a:xfrm xmlns:a="http://schemas.openxmlformats.org/drawingml/2006/main" rot="0">
            <a:off x="13752695" y="4146375"/>
            <a:ext cx="129406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Enzymes / NGS</a:t>
            </a:r>
          </a:p>
        </p:txBody>
      </p:sp>
      <p:sp>
        <p:nvSpPr>
          <p:cNvPr id="14" name="Figure 5 label 13 line 1">
            <a:extLst xmlns:a="http://schemas.openxmlformats.org/drawingml/2006/main">
              <a:ext uri="{FF2B5EF4-FFF2-40B4-BE49-F238E27FC236}">
                <a16:creationId xmlns:a16="http://schemas.microsoft.com/office/drawing/2014/main" id="{56DE8898-E1BC-4475-9680-DF7E41FC7CC4}"/>
              </a:ext>
            </a:extLst>
          </p:cNvPr>
          <p:cNvSpPr>
            <a:spLocks xmlns:a="http://schemas.openxmlformats.org/drawingml/2006/main" noGrp="1"/>
          </p:cNvSpPr>
          <p:nvPr/>
        </p:nvSpPr>
        <p:spPr>
          <a:xfrm xmlns:a="http://schemas.openxmlformats.org/drawingml/2006/main" rot="0">
            <a:off x="14104588" y="4324554"/>
            <a:ext cx="94223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library prep</a:t>
            </a:r>
          </a:p>
        </p:txBody>
      </p:sp>
      <p:sp>
        <p:nvSpPr>
          <p:cNvPr id="15" name="Figure 5 label 14 line 1">
            <a:extLst xmlns:a="http://schemas.openxmlformats.org/drawingml/2006/main">
              <a:ext uri="{FF2B5EF4-FFF2-40B4-BE49-F238E27FC236}">
                <a16:creationId xmlns:a16="http://schemas.microsoft.com/office/drawing/2014/main" id="{D7CC30AD-8AC7-4695-B84A-9C761449C906}"/>
              </a:ext>
            </a:extLst>
          </p:cNvPr>
          <p:cNvSpPr>
            <a:spLocks xmlns:a="http://schemas.openxmlformats.org/drawingml/2006/main" noGrp="1"/>
          </p:cNvSpPr>
          <p:nvPr/>
        </p:nvSpPr>
        <p:spPr>
          <a:xfrm xmlns:a="http://schemas.openxmlformats.org/drawingml/2006/main" rot="0">
            <a:off x="10351656" y="3156519"/>
            <a:ext cx="109061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Recombinant</a:t>
            </a:r>
          </a:p>
        </p:txBody>
      </p:sp>
      <p:sp>
        <p:nvSpPr>
          <p:cNvPr id="16" name="Figure 5 label 15 line 1">
            <a:extLst xmlns:a="http://schemas.openxmlformats.org/drawingml/2006/main">
              <a:ext uri="{FF2B5EF4-FFF2-40B4-BE49-F238E27FC236}">
                <a16:creationId xmlns:a16="http://schemas.microsoft.com/office/drawing/2014/main" id="{0F42B9C9-416A-46CC-B8C9-0513166D504A}"/>
              </a:ext>
            </a:extLst>
          </p:cNvPr>
          <p:cNvSpPr>
            <a:spLocks xmlns:a="http://schemas.openxmlformats.org/drawingml/2006/main" noGrp="1"/>
          </p:cNvSpPr>
          <p:nvPr/>
        </p:nvSpPr>
        <p:spPr>
          <a:xfrm xmlns:a="http://schemas.openxmlformats.org/drawingml/2006/main" rot="0">
            <a:off x="10351656" y="3332900"/>
            <a:ext cx="70142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proteins</a:t>
            </a:r>
          </a:p>
        </p:txBody>
      </p:sp>
      <p:sp>
        <p:nvSpPr>
          <p:cNvPr id="17" name="Figure 5 label 16 line 1">
            <a:extLst xmlns:a="http://schemas.openxmlformats.org/drawingml/2006/main">
              <a:ext uri="{FF2B5EF4-FFF2-40B4-BE49-F238E27FC236}">
                <a16:creationId xmlns:a16="http://schemas.microsoft.com/office/drawing/2014/main" id="{E633A718-37EA-44EE-B286-4C5D701E2300}"/>
              </a:ext>
            </a:extLst>
          </p:cNvPr>
          <p:cNvSpPr>
            <a:spLocks xmlns:a="http://schemas.openxmlformats.org/drawingml/2006/main" noGrp="1"/>
          </p:cNvSpPr>
          <p:nvPr/>
        </p:nvSpPr>
        <p:spPr>
          <a:xfrm xmlns:a="http://schemas.openxmlformats.org/drawingml/2006/main" rot="0">
            <a:off x="8822779" y="2577748"/>
            <a:ext cx="80322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Chemical</a:t>
            </a:r>
          </a:p>
        </p:txBody>
      </p:sp>
      <p:sp>
        <p:nvSpPr>
          <p:cNvPr id="18" name="Figure 5 label 17 line 1">
            <a:extLst xmlns:a="http://schemas.openxmlformats.org/drawingml/2006/main">
              <a:ext uri="{FF2B5EF4-FFF2-40B4-BE49-F238E27FC236}">
                <a16:creationId xmlns:a16="http://schemas.microsoft.com/office/drawing/2014/main" id="{356D8ADF-325B-426B-B56A-ECBB44E158C0}"/>
              </a:ext>
            </a:extLst>
          </p:cNvPr>
          <p:cNvSpPr>
            <a:spLocks xmlns:a="http://schemas.openxmlformats.org/drawingml/2006/main" noGrp="1"/>
          </p:cNvSpPr>
          <p:nvPr/>
        </p:nvSpPr>
        <p:spPr>
          <a:xfrm xmlns:a="http://schemas.openxmlformats.org/drawingml/2006/main" rot="0">
            <a:off x="8822779" y="2754130"/>
            <a:ext cx="1201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building blocks</a:t>
            </a:r>
          </a:p>
        </p:txBody>
      </p:sp>
      <p:sp>
        <p:nvSpPr>
          <p:cNvPr id="19" name="Figure 5 label 18 line 1">
            <a:extLst xmlns:a="http://schemas.openxmlformats.org/drawingml/2006/main">
              <a:ext uri="{FF2B5EF4-FFF2-40B4-BE49-F238E27FC236}">
                <a16:creationId xmlns:a16="http://schemas.microsoft.com/office/drawing/2014/main" id="{DD073BA3-28C3-4479-9A43-5A4AFD60E235}"/>
              </a:ext>
            </a:extLst>
          </p:cNvPr>
          <p:cNvSpPr>
            <a:spLocks xmlns:a="http://schemas.openxmlformats.org/drawingml/2006/main" noGrp="1"/>
          </p:cNvSpPr>
          <p:nvPr/>
        </p:nvSpPr>
        <p:spPr>
          <a:xfrm xmlns:a="http://schemas.openxmlformats.org/drawingml/2006/main" rot="0">
            <a:off x="12366993" y="3431696"/>
            <a:ext cx="95160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Automation</a:t>
            </a:r>
          </a:p>
        </p:txBody>
      </p:sp>
      <p:sp>
        <p:nvSpPr>
          <p:cNvPr id="20" name="Figure 5 label 19 line 1">
            <a:extLst xmlns:a="http://schemas.openxmlformats.org/drawingml/2006/main">
              <a:ext uri="{FF2B5EF4-FFF2-40B4-BE49-F238E27FC236}">
                <a16:creationId xmlns:a16="http://schemas.microsoft.com/office/drawing/2014/main" id="{3419ECCC-EEA7-43DA-8CF4-FCD2606AEC78}"/>
              </a:ext>
            </a:extLst>
          </p:cNvPr>
          <p:cNvSpPr>
            <a:spLocks xmlns:a="http://schemas.openxmlformats.org/drawingml/2006/main" noGrp="1"/>
          </p:cNvSpPr>
          <p:nvPr/>
        </p:nvSpPr>
        <p:spPr>
          <a:xfrm xmlns:a="http://schemas.openxmlformats.org/drawingml/2006/main" rot="0">
            <a:off x="12366993" y="3608077"/>
            <a:ext cx="95160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plates / tips</a:t>
            </a:r>
          </a:p>
        </p:txBody>
      </p:sp>
      <p:sp>
        <p:nvSpPr>
          <p:cNvPr id="21" name="Figure 5 label 20 line 1">
            <a:extLst xmlns:a="http://schemas.openxmlformats.org/drawingml/2006/main">
              <a:ext uri="{FF2B5EF4-FFF2-40B4-BE49-F238E27FC236}">
                <a16:creationId xmlns:a16="http://schemas.microsoft.com/office/drawing/2014/main" id="{08A15C26-2DA1-4702-B6C5-66CA126EA58C}"/>
              </a:ext>
            </a:extLst>
          </p:cNvPr>
          <p:cNvSpPr>
            <a:spLocks xmlns:a="http://schemas.openxmlformats.org/drawingml/2006/main" noGrp="1"/>
          </p:cNvSpPr>
          <p:nvPr/>
        </p:nvSpPr>
        <p:spPr>
          <a:xfrm xmlns:a="http://schemas.openxmlformats.org/drawingml/2006/main" rot="0">
            <a:off x="6043003" y="6073398"/>
            <a:ext cx="69205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Generic</a:t>
            </a:r>
          </a:p>
        </p:txBody>
      </p:sp>
      <p:sp>
        <p:nvSpPr>
          <p:cNvPr id="22" name="Figure 5 label 21 line 1">
            <a:extLst xmlns:a="http://schemas.openxmlformats.org/drawingml/2006/main">
              <a:ext uri="{FF2B5EF4-FFF2-40B4-BE49-F238E27FC236}">
                <a16:creationId xmlns:a16="http://schemas.microsoft.com/office/drawing/2014/main" id="{5083A3B2-6923-488A-A20A-4F31695C5411}"/>
              </a:ext>
            </a:extLst>
          </p:cNvPr>
          <p:cNvSpPr>
            <a:spLocks xmlns:a="http://schemas.openxmlformats.org/drawingml/2006/main" noGrp="1"/>
          </p:cNvSpPr>
          <p:nvPr/>
        </p:nvSpPr>
        <p:spPr>
          <a:xfrm xmlns:a="http://schemas.openxmlformats.org/drawingml/2006/main" rot="0">
            <a:off x="6043003" y="6249779"/>
            <a:ext cx="121086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plastic labware</a:t>
            </a:r>
          </a:p>
        </p:txBody>
      </p:sp>
      <p:sp>
        <p:nvSpPr>
          <p:cNvPr id="23" name="Figure 5 label 22 line 1">
            <a:extLst xmlns:a="http://schemas.openxmlformats.org/drawingml/2006/main">
              <a:ext uri="{FF2B5EF4-FFF2-40B4-BE49-F238E27FC236}">
                <a16:creationId xmlns:a16="http://schemas.microsoft.com/office/drawing/2014/main" id="{C5A8E3F5-27DE-4534-96AA-CBE1F43E1A8F}"/>
              </a:ext>
            </a:extLst>
          </p:cNvPr>
          <p:cNvSpPr>
            <a:spLocks xmlns:a="http://schemas.openxmlformats.org/drawingml/2006/main" noGrp="1"/>
          </p:cNvSpPr>
          <p:nvPr/>
        </p:nvSpPr>
        <p:spPr>
          <a:xfrm xmlns:a="http://schemas.openxmlformats.org/drawingml/2006/main" rot="0">
            <a:off x="9517723" y="4724130"/>
            <a:ext cx="82182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Analytical</a:t>
            </a:r>
          </a:p>
        </p:txBody>
      </p:sp>
      <p:sp>
        <p:nvSpPr>
          <p:cNvPr id="24" name="Figure 5 label 23 line 1">
            <a:extLst xmlns:a="http://schemas.openxmlformats.org/drawingml/2006/main">
              <a:ext uri="{FF2B5EF4-FFF2-40B4-BE49-F238E27FC236}">
                <a16:creationId xmlns:a16="http://schemas.microsoft.com/office/drawing/2014/main" id="{A8BF2362-7347-4028-9B12-3A210A9142B8}"/>
              </a:ext>
            </a:extLst>
          </p:cNvPr>
          <p:cNvSpPr>
            <a:spLocks xmlns:a="http://schemas.openxmlformats.org/drawingml/2006/main" noGrp="1"/>
          </p:cNvSpPr>
          <p:nvPr/>
        </p:nvSpPr>
        <p:spPr>
          <a:xfrm xmlns:a="http://schemas.openxmlformats.org/drawingml/2006/main" rot="0">
            <a:off x="9517723" y="4902309"/>
            <a:ext cx="72910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columns</a:t>
            </a:r>
          </a:p>
        </p:txBody>
      </p:sp>
      <p:sp>
        <p:nvSpPr>
          <p:cNvPr id="25" name="Figure 5 label 24 line 1">
            <a:extLst xmlns:a="http://schemas.openxmlformats.org/drawingml/2006/main">
              <a:ext uri="{FF2B5EF4-FFF2-40B4-BE49-F238E27FC236}">
                <a16:creationId xmlns:a16="http://schemas.microsoft.com/office/drawing/2014/main" id="{F34E6C5C-E8D2-4C7C-B030-4C254E02A4B6}"/>
              </a:ext>
            </a:extLst>
          </p:cNvPr>
          <p:cNvSpPr>
            <a:spLocks xmlns:a="http://schemas.openxmlformats.org/drawingml/2006/main" noGrp="1"/>
          </p:cNvSpPr>
          <p:nvPr/>
        </p:nvSpPr>
        <p:spPr>
          <a:xfrm xmlns:a="http://schemas.openxmlformats.org/drawingml/2006/main" rot="0">
            <a:off x="11741544" y="5963444"/>
            <a:ext cx="116472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Manufacturing</a:t>
            </a:r>
          </a:p>
        </p:txBody>
      </p:sp>
      <p:sp>
        <p:nvSpPr>
          <p:cNvPr id="26" name="Figure 5 label 25 line 1">
            <a:extLst xmlns:a="http://schemas.openxmlformats.org/drawingml/2006/main">
              <a:ext uri="{FF2B5EF4-FFF2-40B4-BE49-F238E27FC236}">
                <a16:creationId xmlns:a16="http://schemas.microsoft.com/office/drawing/2014/main" id="{A8AF91E6-F3EF-4F70-99DD-AC518C0A2CC4}"/>
              </a:ext>
            </a:extLst>
          </p:cNvPr>
          <p:cNvSpPr>
            <a:spLocks xmlns:a="http://schemas.openxmlformats.org/drawingml/2006/main" noGrp="1"/>
          </p:cNvSpPr>
          <p:nvPr/>
        </p:nvSpPr>
        <p:spPr>
          <a:xfrm xmlns:a="http://schemas.openxmlformats.org/drawingml/2006/main" rot="0">
            <a:off x="11741544" y="6141622"/>
            <a:ext cx="55304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resins</a:t>
            </a:r>
          </a:p>
        </p:txBody>
      </p:sp>
      <p:sp>
        <p:nvSpPr>
          <p:cNvPr id="27" name="Figure 5 label 26 line 1">
            <a:extLst xmlns:a="http://schemas.openxmlformats.org/drawingml/2006/main">
              <a:ext uri="{FF2B5EF4-FFF2-40B4-BE49-F238E27FC236}">
                <a16:creationId xmlns:a16="http://schemas.microsoft.com/office/drawing/2014/main" id="{444A9F48-DD04-4E98-BF63-43116649C3BB}"/>
              </a:ext>
            </a:extLst>
          </p:cNvPr>
          <p:cNvSpPr>
            <a:spLocks xmlns:a="http://schemas.openxmlformats.org/drawingml/2006/main" noGrp="1"/>
          </p:cNvSpPr>
          <p:nvPr/>
        </p:nvSpPr>
        <p:spPr>
          <a:xfrm xmlns:a="http://schemas.openxmlformats.org/drawingml/2006/main" rot="0">
            <a:off x="6529464" y="3982168"/>
            <a:ext cx="98896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Sequencing</a:t>
            </a:r>
          </a:p>
        </p:txBody>
      </p:sp>
      <p:sp>
        <p:nvSpPr>
          <p:cNvPr id="28" name="Figure 5 label 27 line 1">
            <a:extLst xmlns:a="http://schemas.openxmlformats.org/drawingml/2006/main">
              <a:ext uri="{FF2B5EF4-FFF2-40B4-BE49-F238E27FC236}">
                <a16:creationId xmlns:a16="http://schemas.microsoft.com/office/drawing/2014/main" id="{658EB808-A78E-4AEE-8EC1-D56FF36B88C7}"/>
              </a:ext>
            </a:extLst>
          </p:cNvPr>
          <p:cNvSpPr>
            <a:spLocks xmlns:a="http://schemas.openxmlformats.org/drawingml/2006/main" noGrp="1"/>
          </p:cNvSpPr>
          <p:nvPr/>
        </p:nvSpPr>
        <p:spPr>
          <a:xfrm xmlns:a="http://schemas.openxmlformats.org/drawingml/2006/main" rot="0">
            <a:off x="6529464" y="4160347"/>
            <a:ext cx="46047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tools</a:t>
            </a:r>
          </a:p>
        </p:txBody>
      </p:sp>
      <p:sp>
        <p:nvSpPr>
          <p:cNvPr id="29" name="Figure 5 label 28 line 1">
            <a:extLst xmlns:a="http://schemas.openxmlformats.org/drawingml/2006/main">
              <a:ext uri="{FF2B5EF4-FFF2-40B4-BE49-F238E27FC236}">
                <a16:creationId xmlns:a16="http://schemas.microsoft.com/office/drawing/2014/main" id="{0BB9D1BB-BCB9-4576-A80F-A940A385CF6A}"/>
              </a:ext>
            </a:extLst>
          </p:cNvPr>
          <p:cNvSpPr>
            <a:spLocks xmlns:a="http://schemas.openxmlformats.org/drawingml/2006/main" noGrp="1"/>
          </p:cNvSpPr>
          <p:nvPr/>
        </p:nvSpPr>
        <p:spPr>
          <a:xfrm xmlns:a="http://schemas.openxmlformats.org/drawingml/2006/main" rot="0">
            <a:off x="5973509" y="3376661"/>
            <a:ext cx="55334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Liquid</a:t>
            </a:r>
          </a:p>
        </p:txBody>
      </p:sp>
      <p:sp>
        <p:nvSpPr>
          <p:cNvPr id="30" name="Figure 5 label 29 line 1">
            <a:extLst xmlns:a="http://schemas.openxmlformats.org/drawingml/2006/main">
              <a:ext uri="{FF2B5EF4-FFF2-40B4-BE49-F238E27FC236}">
                <a16:creationId xmlns:a16="http://schemas.microsoft.com/office/drawing/2014/main" id="{73A13119-B5BE-4741-AE15-1B5E0C1270A8}"/>
              </a:ext>
            </a:extLst>
          </p:cNvPr>
          <p:cNvSpPr>
            <a:spLocks xmlns:a="http://schemas.openxmlformats.org/drawingml/2006/main" noGrp="1"/>
          </p:cNvSpPr>
          <p:nvPr/>
        </p:nvSpPr>
        <p:spPr>
          <a:xfrm xmlns:a="http://schemas.openxmlformats.org/drawingml/2006/main" rot="0">
            <a:off x="5973509" y="3553042"/>
            <a:ext cx="74786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handlers</a:t>
            </a:r>
          </a:p>
        </p:txBody>
      </p:sp>
      <p:sp>
        <p:nvSpPr>
          <p:cNvPr id="31" name="Figure 5 label 30 line 1">
            <a:extLst xmlns:a="http://schemas.openxmlformats.org/drawingml/2006/main">
              <a:ext uri="{FF2B5EF4-FFF2-40B4-BE49-F238E27FC236}">
                <a16:creationId xmlns:a16="http://schemas.microsoft.com/office/drawing/2014/main" id="{5A00B5AB-D918-4BD1-8B4D-6D516B279E09}"/>
              </a:ext>
            </a:extLst>
          </p:cNvPr>
          <p:cNvSpPr>
            <a:spLocks xmlns:a="http://schemas.openxmlformats.org/drawingml/2006/main" noGrp="1"/>
          </p:cNvSpPr>
          <p:nvPr/>
        </p:nvSpPr>
        <p:spPr>
          <a:xfrm xmlns:a="http://schemas.openxmlformats.org/drawingml/2006/main" rot="0">
            <a:off x="991870" y="421920"/>
            <a:ext cx="7253040"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05  Which tools have more demand elasticity?</a:t>
            </a:r>
          </a:p>
        </p:txBody>
      </p:sp>
      <p:sp>
        <p:nvSpPr>
          <p:cNvPr id="32" name="Figure 5 label 31 line 1">
            <a:extLst xmlns:a="http://schemas.openxmlformats.org/drawingml/2006/main">
              <a:ext uri="{FF2B5EF4-FFF2-40B4-BE49-F238E27FC236}">
                <a16:creationId xmlns:a16="http://schemas.microsoft.com/office/drawing/2014/main" id="{2E17193A-893E-4BD9-A1CC-A7137C0B4FA1}"/>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33" name="Figure 5 label 32 line 1">
            <a:extLst xmlns:a="http://schemas.openxmlformats.org/drawingml/2006/main">
              <a:ext uri="{FF2B5EF4-FFF2-40B4-BE49-F238E27FC236}">
                <a16:creationId xmlns:a16="http://schemas.microsoft.com/office/drawing/2014/main" id="{7EE6871F-C865-437D-AD30-ED69AC74AD53}"/>
              </a:ext>
            </a:extLst>
          </p:cNvPr>
          <p:cNvSpPr>
            <a:spLocks xmlns:a="http://schemas.openxmlformats.org/drawingml/2006/main" noGrp="1"/>
          </p:cNvSpPr>
          <p:nvPr/>
        </p:nvSpPr>
        <p:spPr>
          <a:xfrm xmlns:a="http://schemas.openxmlformats.org/drawingml/2006/main" rot="0">
            <a:off x="998220" y="1248326"/>
            <a:ext cx="880675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Positions and bubble areas are qualitative research judgments, not measured scores or additive TAMs.</a:t>
            </a:r>
          </a:p>
        </p:txBody>
      </p:sp>
      <p:sp>
        <p:nvSpPr>
          <p:cNvPr id="34" name="Figure 5 label 33 line 1">
            <a:extLst xmlns:a="http://schemas.openxmlformats.org/drawingml/2006/main">
              <a:ext uri="{FF2B5EF4-FFF2-40B4-BE49-F238E27FC236}">
                <a16:creationId xmlns:a16="http://schemas.microsoft.com/office/drawing/2014/main" id="{0E598DB3-6BF2-4872-9DA9-A636EC458AB8}"/>
              </a:ext>
            </a:extLst>
          </p:cNvPr>
          <p:cNvSpPr>
            <a:spLocks xmlns:a="http://schemas.openxmlformats.org/drawingml/2006/main" noGrp="1"/>
          </p:cNvSpPr>
          <p:nvPr/>
        </p:nvSpPr>
        <p:spPr>
          <a:xfrm xmlns:a="http://schemas.openxmlformats.org/drawingml/2006/main" rot="0">
            <a:off x="999173" y="9255019"/>
            <a:ext cx="762297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Net demand also depends on consumption intensity, prices, project attrition and technical substitution.</a:t>
            </a:r>
          </a:p>
        </p:txBody>
      </p:sp>
      <p:sp>
        <p:nvSpPr>
          <p:cNvPr id="35" name="Figure 5 label 34 line 1">
            <a:extLst xmlns:a="http://schemas.openxmlformats.org/drawingml/2006/main">
              <a:ext uri="{FF2B5EF4-FFF2-40B4-BE49-F238E27FC236}">
                <a16:creationId xmlns:a16="http://schemas.microsoft.com/office/drawing/2014/main" id="{904C6661-73C4-4990-BD31-AA2E1A64925F}"/>
              </a:ext>
            </a:extLst>
          </p:cNvPr>
          <p:cNvSpPr>
            <a:spLocks xmlns:a="http://schemas.openxmlformats.org/drawingml/2006/main" noGrp="1"/>
          </p:cNvSpPr>
          <p:nvPr/>
        </p:nvSpPr>
        <p:spPr>
          <a:xfrm xmlns:a="http://schemas.openxmlformats.org/drawingml/2006/main" rot="0">
            <a:off x="1000316" y="9675546"/>
            <a:ext cx="6173569"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analyst assumptions. Edit positions and relative areas in data.json.</a:t>
            </a:r>
          </a:p>
        </p:txBody>
      </p:sp>
      <p:sp>
        <p:nvSpPr>
          <p:cNvPr id="36" name="Figure 5 label 35 line 1">
            <a:extLst xmlns:a="http://schemas.openxmlformats.org/drawingml/2006/main">
              <a:ext uri="{FF2B5EF4-FFF2-40B4-BE49-F238E27FC236}">
                <a16:creationId xmlns:a16="http://schemas.microsoft.com/office/drawing/2014/main" id="{FEDBD11D-86A2-4A01-8D30-B048BEF161F5}"/>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37" name="Figure 5 label 36 line 1">
            <a:extLst xmlns:a="http://schemas.openxmlformats.org/drawingml/2006/main">
              <a:ext uri="{FF2B5EF4-FFF2-40B4-BE49-F238E27FC236}">
                <a16:creationId xmlns:a16="http://schemas.microsoft.com/office/drawing/2014/main" id="{5F17D395-500F-4F00-91CB-2C79572474E9}"/>
              </a:ext>
            </a:extLst>
          </p:cNvPr>
          <p:cNvSpPr>
            <a:spLocks xmlns:a="http://schemas.openxmlformats.org/drawingml/2006/main" noGrp="1"/>
          </p:cNvSpPr>
          <p:nvPr/>
        </p:nvSpPr>
        <p:spPr>
          <a:xfrm xmlns:a="http://schemas.openxmlformats.org/drawingml/2006/main" rot="0">
            <a:off x="15812135" y="3271220"/>
            <a:ext cx="1055142"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Bubble area</a:t>
            </a:r>
          </a:p>
        </p:txBody>
      </p:sp>
      <p:sp>
        <p:nvSpPr>
          <p:cNvPr id="38" name="Figure 5 label 37 line 1">
            <a:extLst xmlns:a="http://schemas.openxmlformats.org/drawingml/2006/main">
              <a:ext uri="{FF2B5EF4-FFF2-40B4-BE49-F238E27FC236}">
                <a16:creationId xmlns:a16="http://schemas.microsoft.com/office/drawing/2014/main" id="{22D51345-297E-4A91-82CD-34DC86BFB39D}"/>
              </a:ext>
            </a:extLst>
          </p:cNvPr>
          <p:cNvSpPr>
            <a:spLocks xmlns:a="http://schemas.openxmlformats.org/drawingml/2006/main" noGrp="1"/>
          </p:cNvSpPr>
          <p:nvPr/>
        </p:nvSpPr>
        <p:spPr>
          <a:xfrm xmlns:a="http://schemas.openxmlformats.org/drawingml/2006/main" rot="0">
            <a:off x="15812325" y="3764919"/>
            <a:ext cx="1611491"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Relative opportunity</a:t>
            </a:r>
          </a:p>
        </p:txBody>
      </p:sp>
      <p:sp>
        <p:nvSpPr>
          <p:cNvPr id="39" name="Figure 5 label 38 line 1">
            <a:extLst xmlns:a="http://schemas.openxmlformats.org/drawingml/2006/main">
              <a:ext uri="{FF2B5EF4-FFF2-40B4-BE49-F238E27FC236}">
                <a16:creationId xmlns:a16="http://schemas.microsoft.com/office/drawing/2014/main" id="{03534FE3-8458-4C12-9452-A88DAA3DC23A}"/>
              </a:ext>
            </a:extLst>
          </p:cNvPr>
          <p:cNvSpPr>
            <a:spLocks xmlns:a="http://schemas.openxmlformats.org/drawingml/2006/main" noGrp="1"/>
          </p:cNvSpPr>
          <p:nvPr/>
        </p:nvSpPr>
        <p:spPr>
          <a:xfrm xmlns:a="http://schemas.openxmlformats.org/drawingml/2006/main" rot="0">
            <a:off x="15812325" y="4007283"/>
            <a:ext cx="1205488"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illustration; not</a:t>
            </a:r>
          </a:p>
        </p:txBody>
      </p:sp>
      <p:sp>
        <p:nvSpPr>
          <p:cNvPr id="40" name="Figure 5 label 39 line 1">
            <a:extLst xmlns:a="http://schemas.openxmlformats.org/drawingml/2006/main">
              <a:ext uri="{FF2B5EF4-FFF2-40B4-BE49-F238E27FC236}">
                <a16:creationId xmlns:a16="http://schemas.microsoft.com/office/drawing/2014/main" id="{9334E601-2C47-428D-A9DE-F6B08B712CBA}"/>
              </a:ext>
            </a:extLst>
          </p:cNvPr>
          <p:cNvSpPr>
            <a:spLocks xmlns:a="http://schemas.openxmlformats.org/drawingml/2006/main" noGrp="1"/>
          </p:cNvSpPr>
          <p:nvPr/>
        </p:nvSpPr>
        <p:spPr>
          <a:xfrm xmlns:a="http://schemas.openxmlformats.org/drawingml/2006/main" rot="0">
            <a:off x="15812325" y="4247817"/>
            <a:ext cx="1271419"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measured TAM</a:t>
            </a:r>
          </a:p>
        </p:txBody>
      </p:sp>
      <p:sp>
        <p:nvSpPr>
          <p:cNvPr id="41" name="Figure 5 label 40 line 1">
            <a:extLst xmlns:a="http://schemas.openxmlformats.org/drawingml/2006/main">
              <a:ext uri="{FF2B5EF4-FFF2-40B4-BE49-F238E27FC236}">
                <a16:creationId xmlns:a16="http://schemas.microsoft.com/office/drawing/2014/main" id="{26667DA8-1E6F-4234-8254-A7A003B54429}"/>
              </a:ext>
            </a:extLst>
          </p:cNvPr>
          <p:cNvSpPr>
            <a:spLocks xmlns:a="http://schemas.openxmlformats.org/drawingml/2006/main" noGrp="1"/>
          </p:cNvSpPr>
          <p:nvPr/>
        </p:nvSpPr>
        <p:spPr>
          <a:xfrm xmlns:a="http://schemas.openxmlformats.org/drawingml/2006/main" rot="0">
            <a:off x="15812325" y="6254373"/>
            <a:ext cx="1469807"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Potential elasticity</a:t>
            </a:r>
          </a:p>
        </p:txBody>
      </p:sp>
      <p:sp>
        <p:nvSpPr>
          <p:cNvPr id="42" name="Figure 5 label 41 line 1">
            <a:extLst xmlns:a="http://schemas.openxmlformats.org/drawingml/2006/main">
              <a:ext uri="{FF2B5EF4-FFF2-40B4-BE49-F238E27FC236}">
                <a16:creationId xmlns:a16="http://schemas.microsoft.com/office/drawing/2014/main" id="{B4CDAFC0-573A-485C-B79C-23D87B9E4D71}"/>
              </a:ext>
            </a:extLst>
          </p:cNvPr>
          <p:cNvSpPr>
            <a:spLocks xmlns:a="http://schemas.openxmlformats.org/drawingml/2006/main" noGrp="1"/>
          </p:cNvSpPr>
          <p:nvPr/>
        </p:nvSpPr>
        <p:spPr>
          <a:xfrm xmlns:a="http://schemas.openxmlformats.org/drawingml/2006/main" rot="0">
            <a:off x="15812325" y="6496737"/>
            <a:ext cx="1602413"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needs paid demand</a:t>
            </a:r>
          </a:p>
        </p:txBody>
      </p:sp>
      <p:sp>
        <p:nvSpPr>
          <p:cNvPr id="43" name="Figure 5 label 42 line 1">
            <a:extLst xmlns:a="http://schemas.openxmlformats.org/drawingml/2006/main">
              <a:ext uri="{FF2B5EF4-FFF2-40B4-BE49-F238E27FC236}">
                <a16:creationId xmlns:a16="http://schemas.microsoft.com/office/drawing/2014/main" id="{170B3E23-3FD2-42FB-A924-266E67F4D691}"/>
              </a:ext>
            </a:extLst>
          </p:cNvPr>
          <p:cNvSpPr>
            <a:spLocks xmlns:a="http://schemas.openxmlformats.org/drawingml/2006/main" noGrp="1"/>
          </p:cNvSpPr>
          <p:nvPr/>
        </p:nvSpPr>
        <p:spPr>
          <a:xfrm xmlns:a="http://schemas.openxmlformats.org/drawingml/2006/main" rot="0">
            <a:off x="15812325" y="6737270"/>
            <a:ext cx="1451203"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and repeat orders</a:t>
            </a:r>
          </a:p>
        </p:txBody>
      </p:sp>
    </p:spTree>
    <p:extLst>
      <p:ext uri="{BB962C8B-B14F-4D97-AF65-F5344CB8AC3E}">
        <p14:creationId xmlns:p14="http://schemas.microsoft.com/office/powerpoint/2010/main" val="14788917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a:extLst xmlns:a="http://schemas.openxmlformats.org/drawingml/2006/main">
              <a:ext uri="{FF2B5EF4-FFF2-40B4-BE49-F238E27FC236}">
                <a16:creationId xmlns:a16="http://schemas.microsoft.com/office/drawing/2014/main" id="{BD0551D5-9DD8-4757-A49A-DBB5C9AFE3FA}"/>
              </a:ext>
            </a:extLst>
          </p:cNvPr>
          <p:cNvPicPr>
            <a:picLocks xmlns:a="http://schemas.openxmlformats.org/drawingml/2006/main" noChangeAspect="1"/>
          </p:cNvPicPr>
          <p:nvPr/>
        </p:nvPicPr>
        <p:blipFill>
          <a:blip xmlns:r="http://schemas.openxmlformats.org/officeDocument/2006/relationships" xmlns:a="http://schemas.openxmlformats.org/drawingml/2006/main" r:embed="Rd6a4446a16a341c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6 label 1 line 1">
            <a:extLst xmlns:a="http://schemas.openxmlformats.org/drawingml/2006/main">
              <a:ext uri="{FF2B5EF4-FFF2-40B4-BE49-F238E27FC236}">
                <a16:creationId xmlns:a16="http://schemas.microsoft.com/office/drawing/2014/main" id="{1210BCE5-671A-4E5D-BE49-3A341FD12AC3}"/>
              </a:ext>
            </a:extLst>
          </p:cNvPr>
          <p:cNvSpPr>
            <a:spLocks xmlns:a="http://schemas.openxmlformats.org/drawingml/2006/main" noGrp="1"/>
          </p:cNvSpPr>
          <p:nvPr/>
        </p:nvSpPr>
        <p:spPr>
          <a:xfrm xmlns:a="http://schemas.openxmlformats.org/drawingml/2006/main" rot="0">
            <a:off x="2047400" y="7595447"/>
            <a:ext cx="101337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Traditional</a:t>
            </a:r>
          </a:p>
        </p:txBody>
      </p:sp>
      <p:sp>
        <p:nvSpPr>
          <p:cNvPr id="3" name="Figure 6 label 2 line 1">
            <a:extLst xmlns:a="http://schemas.openxmlformats.org/drawingml/2006/main">
              <a:ext uri="{FF2B5EF4-FFF2-40B4-BE49-F238E27FC236}">
                <a16:creationId xmlns:a16="http://schemas.microsoft.com/office/drawing/2014/main" id="{95A7607C-F8CF-442F-82FF-781320933E9B}"/>
              </a:ext>
            </a:extLst>
          </p:cNvPr>
          <p:cNvSpPr>
            <a:spLocks xmlns:a="http://schemas.openxmlformats.org/drawingml/2006/main" noGrp="1"/>
          </p:cNvSpPr>
          <p:nvPr/>
        </p:nvSpPr>
        <p:spPr>
          <a:xfrm xmlns:a="http://schemas.openxmlformats.org/drawingml/2006/main" rot="0">
            <a:off x="4421385" y="7595447"/>
            <a:ext cx="104522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Automated</a:t>
            </a:r>
          </a:p>
        </p:txBody>
      </p:sp>
      <p:sp>
        <p:nvSpPr>
          <p:cNvPr id="4" name="Figure 6 label 3 line 1">
            <a:extLst xmlns:a="http://schemas.openxmlformats.org/drawingml/2006/main">
              <a:ext uri="{FF2B5EF4-FFF2-40B4-BE49-F238E27FC236}">
                <a16:creationId xmlns:a16="http://schemas.microsoft.com/office/drawing/2014/main" id="{14441F8C-DCC3-4D38-BF91-BC1DD7D32164}"/>
              </a:ext>
            </a:extLst>
          </p:cNvPr>
          <p:cNvSpPr>
            <a:spLocks xmlns:a="http://schemas.openxmlformats.org/drawingml/2006/main" noGrp="1"/>
          </p:cNvSpPr>
          <p:nvPr/>
        </p:nvSpPr>
        <p:spPr>
          <a:xfrm xmlns:a="http://schemas.openxmlformats.org/drawingml/2006/main" rot="0">
            <a:off x="1257379" y="7368519"/>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5" name="Figure 6 label 4 line 1">
            <a:extLst xmlns:a="http://schemas.openxmlformats.org/drawingml/2006/main">
              <a:ext uri="{FF2B5EF4-FFF2-40B4-BE49-F238E27FC236}">
                <a16:creationId xmlns:a16="http://schemas.microsoft.com/office/drawing/2014/main" id="{AE4AF395-63FB-421E-A984-1FD6A45F3B64}"/>
              </a:ext>
            </a:extLst>
          </p:cNvPr>
          <p:cNvSpPr>
            <a:spLocks xmlns:a="http://schemas.openxmlformats.org/drawingml/2006/main" noGrp="1"/>
          </p:cNvSpPr>
          <p:nvPr/>
        </p:nvSpPr>
        <p:spPr>
          <a:xfrm xmlns:a="http://schemas.openxmlformats.org/drawingml/2006/main" rot="0">
            <a:off x="1045448" y="6699864"/>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200</a:t>
            </a:r>
          </a:p>
        </p:txBody>
      </p:sp>
      <p:sp>
        <p:nvSpPr>
          <p:cNvPr id="6" name="Figure 6 label 5 line 1">
            <a:extLst xmlns:a="http://schemas.openxmlformats.org/drawingml/2006/main">
              <a:ext uri="{FF2B5EF4-FFF2-40B4-BE49-F238E27FC236}">
                <a16:creationId xmlns:a16="http://schemas.microsoft.com/office/drawing/2014/main" id="{0A084277-1A26-46DC-B73D-496C0BA736F8}"/>
              </a:ext>
            </a:extLst>
          </p:cNvPr>
          <p:cNvSpPr>
            <a:spLocks xmlns:a="http://schemas.openxmlformats.org/drawingml/2006/main" noGrp="1"/>
          </p:cNvSpPr>
          <p:nvPr/>
        </p:nvSpPr>
        <p:spPr>
          <a:xfrm xmlns:a="http://schemas.openxmlformats.org/drawingml/2006/main" rot="0">
            <a:off x="1045448" y="6031210"/>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400</a:t>
            </a:r>
          </a:p>
        </p:txBody>
      </p:sp>
      <p:sp>
        <p:nvSpPr>
          <p:cNvPr id="7" name="Figure 6 label 6 line 1">
            <a:extLst xmlns:a="http://schemas.openxmlformats.org/drawingml/2006/main">
              <a:ext uri="{FF2B5EF4-FFF2-40B4-BE49-F238E27FC236}">
                <a16:creationId xmlns:a16="http://schemas.microsoft.com/office/drawing/2014/main" id="{4808B8E9-C49A-44CD-93CC-7156EA9460D2}"/>
              </a:ext>
            </a:extLst>
          </p:cNvPr>
          <p:cNvSpPr>
            <a:spLocks xmlns:a="http://schemas.openxmlformats.org/drawingml/2006/main" noGrp="1"/>
          </p:cNvSpPr>
          <p:nvPr/>
        </p:nvSpPr>
        <p:spPr>
          <a:xfrm xmlns:a="http://schemas.openxmlformats.org/drawingml/2006/main" rot="0">
            <a:off x="1045448" y="5362554"/>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600</a:t>
            </a:r>
          </a:p>
        </p:txBody>
      </p:sp>
      <p:sp>
        <p:nvSpPr>
          <p:cNvPr id="8" name="Figure 6 label 7 line 1">
            <a:extLst xmlns:a="http://schemas.openxmlformats.org/drawingml/2006/main">
              <a:ext uri="{FF2B5EF4-FFF2-40B4-BE49-F238E27FC236}">
                <a16:creationId xmlns:a16="http://schemas.microsoft.com/office/drawing/2014/main" id="{29A05A15-6FEE-439C-B61E-98C79DEA63B5}"/>
              </a:ext>
            </a:extLst>
          </p:cNvPr>
          <p:cNvSpPr>
            <a:spLocks xmlns:a="http://schemas.openxmlformats.org/drawingml/2006/main" noGrp="1"/>
          </p:cNvSpPr>
          <p:nvPr/>
        </p:nvSpPr>
        <p:spPr>
          <a:xfrm xmlns:a="http://schemas.openxmlformats.org/drawingml/2006/main" rot="0">
            <a:off x="1045448" y="4693899"/>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800</a:t>
            </a:r>
          </a:p>
        </p:txBody>
      </p:sp>
      <p:sp>
        <p:nvSpPr>
          <p:cNvPr id="9" name="Figure 6 label 8 line 1">
            <a:extLst xmlns:a="http://schemas.openxmlformats.org/drawingml/2006/main">
              <a:ext uri="{FF2B5EF4-FFF2-40B4-BE49-F238E27FC236}">
                <a16:creationId xmlns:a16="http://schemas.microsoft.com/office/drawing/2014/main" id="{9A86DE11-FBA5-4EC2-BC8E-96F661CCFE6B}"/>
              </a:ext>
            </a:extLst>
          </p:cNvPr>
          <p:cNvSpPr>
            <a:spLocks xmlns:a="http://schemas.openxmlformats.org/drawingml/2006/main" noGrp="1"/>
          </p:cNvSpPr>
          <p:nvPr/>
        </p:nvSpPr>
        <p:spPr>
          <a:xfrm xmlns:a="http://schemas.openxmlformats.org/drawingml/2006/main" rot="0">
            <a:off x="939483" y="4025244"/>
            <a:ext cx="54768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1000</a:t>
            </a:r>
          </a:p>
        </p:txBody>
      </p:sp>
      <p:sp>
        <p:nvSpPr>
          <p:cNvPr id="10" name="Figure 6 label 9 line 1">
            <a:extLst xmlns:a="http://schemas.openxmlformats.org/drawingml/2006/main">
              <a:ext uri="{FF2B5EF4-FFF2-40B4-BE49-F238E27FC236}">
                <a16:creationId xmlns:a16="http://schemas.microsoft.com/office/drawing/2014/main" id="{0B0AB871-4E51-431C-AA3E-008E66502274}"/>
              </a:ext>
            </a:extLst>
          </p:cNvPr>
          <p:cNvSpPr>
            <a:spLocks xmlns:a="http://schemas.openxmlformats.org/drawingml/2006/main" noGrp="1"/>
          </p:cNvSpPr>
          <p:nvPr/>
        </p:nvSpPr>
        <p:spPr>
          <a:xfrm xmlns:a="http://schemas.openxmlformats.org/drawingml/2006/main" rot="0">
            <a:off x="939483" y="3356589"/>
            <a:ext cx="54768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1200</a:t>
            </a:r>
          </a:p>
        </p:txBody>
      </p:sp>
      <p:sp>
        <p:nvSpPr>
          <p:cNvPr id="11" name="Figure 6 label 10 line 1">
            <a:extLst xmlns:a="http://schemas.openxmlformats.org/drawingml/2006/main">
              <a:ext uri="{FF2B5EF4-FFF2-40B4-BE49-F238E27FC236}">
                <a16:creationId xmlns:a16="http://schemas.microsoft.com/office/drawing/2014/main" id="{6CABD5E3-68A7-45DD-8926-E42ED6A9DFB4}"/>
              </a:ext>
            </a:extLst>
          </p:cNvPr>
          <p:cNvSpPr>
            <a:spLocks xmlns:a="http://schemas.openxmlformats.org/drawingml/2006/main" noGrp="1"/>
          </p:cNvSpPr>
          <p:nvPr/>
        </p:nvSpPr>
        <p:spPr>
          <a:xfrm xmlns:a="http://schemas.openxmlformats.org/drawingml/2006/main" rot="16200000">
            <a:off x="-210374" y="5335333"/>
            <a:ext cx="226278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Experiment volume index</a:t>
            </a:r>
          </a:p>
        </p:txBody>
      </p:sp>
      <p:sp>
        <p:nvSpPr>
          <p:cNvPr id="12" name="Figure 6 label 11 line 1">
            <a:extLst xmlns:a="http://schemas.openxmlformats.org/drawingml/2006/main">
              <a:ext uri="{FF2B5EF4-FFF2-40B4-BE49-F238E27FC236}">
                <a16:creationId xmlns:a16="http://schemas.microsoft.com/office/drawing/2014/main" id="{F19C733A-D9E6-4728-9CF7-C8E29A908153}"/>
              </a:ext>
            </a:extLst>
          </p:cNvPr>
          <p:cNvSpPr>
            <a:spLocks xmlns:a="http://schemas.openxmlformats.org/drawingml/2006/main" noGrp="1"/>
          </p:cNvSpPr>
          <p:nvPr/>
        </p:nvSpPr>
        <p:spPr>
          <a:xfrm xmlns:a="http://schemas.openxmlformats.org/drawingml/2006/main" rot="0">
            <a:off x="2241199" y="6782419"/>
            <a:ext cx="62577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100</a:t>
            </a:r>
          </a:p>
        </p:txBody>
      </p:sp>
      <p:sp>
        <p:nvSpPr>
          <p:cNvPr id="13" name="Figure 6 label 12 line 1">
            <a:extLst xmlns:a="http://schemas.openxmlformats.org/drawingml/2006/main">
              <a:ext uri="{FF2B5EF4-FFF2-40B4-BE49-F238E27FC236}">
                <a16:creationId xmlns:a16="http://schemas.microsoft.com/office/drawing/2014/main" id="{427461E7-B6A7-42FF-8C49-DE4AD8230A87}"/>
              </a:ext>
            </a:extLst>
          </p:cNvPr>
          <p:cNvSpPr>
            <a:spLocks xmlns:a="http://schemas.openxmlformats.org/drawingml/2006/main" noGrp="1"/>
          </p:cNvSpPr>
          <p:nvPr/>
        </p:nvSpPr>
        <p:spPr>
          <a:xfrm xmlns:a="http://schemas.openxmlformats.org/drawingml/2006/main" rot="0">
            <a:off x="4518595" y="3773471"/>
            <a:ext cx="850801"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1,000</a:t>
            </a:r>
          </a:p>
        </p:txBody>
      </p:sp>
      <p:sp>
        <p:nvSpPr>
          <p:cNvPr id="14" name="Figure 6 label 13 line 1">
            <a:extLst xmlns:a="http://schemas.openxmlformats.org/drawingml/2006/main">
              <a:ext uri="{FF2B5EF4-FFF2-40B4-BE49-F238E27FC236}">
                <a16:creationId xmlns:a16="http://schemas.microsoft.com/office/drawing/2014/main" id="{01D4976A-A5E5-4544-AFEC-D2950E3B3078}"/>
              </a:ext>
            </a:extLst>
          </p:cNvPr>
          <p:cNvSpPr>
            <a:spLocks xmlns:a="http://schemas.openxmlformats.org/drawingml/2006/main" noGrp="1"/>
          </p:cNvSpPr>
          <p:nvPr/>
        </p:nvSpPr>
        <p:spPr>
          <a:xfrm xmlns:a="http://schemas.openxmlformats.org/drawingml/2006/main" rot="0">
            <a:off x="2293774" y="2970276"/>
            <a:ext cx="2910532"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0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2000" b="0">
                <a:solidFill>
                  <a:srgbClr val="00355F"/>
                </a:solidFill>
                <a:latin typeface="Arial Unicode MS"/>
                <a:ea typeface="Arial Unicode MS"/>
                <a:cs typeface="Arial Unicode MS"/>
              </a:defRPr>
            </a:pPr>
            <a:r>
              <a:rPr sz="2000" b="0">
                <a:solidFill>
                  <a:srgbClr val="00355F"/>
                </a:solidFill>
                <a:latin typeface="Arial Unicode MS"/>
                <a:ea typeface="Arial Unicode MS"/>
                <a:cs typeface="Arial Unicode MS"/>
              </a:rPr>
              <a:t>Experiment volume: 10×</a:t>
            </a:r>
          </a:p>
        </p:txBody>
      </p:sp>
      <p:sp>
        <p:nvSpPr>
          <p:cNvPr id="15" name="Figure 6 label 14 line 1">
            <a:extLst xmlns:a="http://schemas.openxmlformats.org/drawingml/2006/main">
              <a:ext uri="{FF2B5EF4-FFF2-40B4-BE49-F238E27FC236}">
                <a16:creationId xmlns:a16="http://schemas.microsoft.com/office/drawing/2014/main" id="{E5B4972A-1414-4B57-9D16-D9607BE72299}"/>
              </a:ext>
            </a:extLst>
          </p:cNvPr>
          <p:cNvSpPr>
            <a:spLocks xmlns:a="http://schemas.openxmlformats.org/drawingml/2006/main" noGrp="1"/>
          </p:cNvSpPr>
          <p:nvPr/>
        </p:nvSpPr>
        <p:spPr>
          <a:xfrm xmlns:a="http://schemas.openxmlformats.org/drawingml/2006/main" rot="0">
            <a:off x="8480147" y="7595447"/>
            <a:ext cx="151120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Reagent volume</a:t>
            </a:r>
          </a:p>
        </p:txBody>
      </p:sp>
      <p:sp>
        <p:nvSpPr>
          <p:cNvPr id="16" name="Figure 6 label 15 line 1">
            <a:extLst xmlns:a="http://schemas.openxmlformats.org/drawingml/2006/main">
              <a:ext uri="{FF2B5EF4-FFF2-40B4-BE49-F238E27FC236}">
                <a16:creationId xmlns:a16="http://schemas.microsoft.com/office/drawing/2014/main" id="{5299C187-9CCA-4235-88BD-0C9D624CCCD1}"/>
              </a:ext>
            </a:extLst>
          </p:cNvPr>
          <p:cNvSpPr>
            <a:spLocks xmlns:a="http://schemas.openxmlformats.org/drawingml/2006/main" noGrp="1"/>
          </p:cNvSpPr>
          <p:nvPr/>
        </p:nvSpPr>
        <p:spPr>
          <a:xfrm xmlns:a="http://schemas.openxmlformats.org/drawingml/2006/main" rot="0">
            <a:off x="11714426" y="7595447"/>
            <a:ext cx="107706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Plate count</a:t>
            </a:r>
          </a:p>
        </p:txBody>
      </p:sp>
      <p:sp>
        <p:nvSpPr>
          <p:cNvPr id="17" name="Figure 6 label 16 line 1">
            <a:extLst xmlns:a="http://schemas.openxmlformats.org/drawingml/2006/main">
              <a:ext uri="{FF2B5EF4-FFF2-40B4-BE49-F238E27FC236}">
                <a16:creationId xmlns:a16="http://schemas.microsoft.com/office/drawing/2014/main" id="{63B635FD-1B3B-4275-8E9D-A6F9D7B2F7D3}"/>
              </a:ext>
            </a:extLst>
          </p:cNvPr>
          <p:cNvSpPr>
            <a:spLocks xmlns:a="http://schemas.openxmlformats.org/drawingml/2006/main" noGrp="1"/>
          </p:cNvSpPr>
          <p:nvPr/>
        </p:nvSpPr>
        <p:spPr>
          <a:xfrm xmlns:a="http://schemas.openxmlformats.org/drawingml/2006/main" rot="0">
            <a:off x="14816471" y="7595447"/>
            <a:ext cx="9074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Tip count</a:t>
            </a:r>
          </a:p>
        </p:txBody>
      </p:sp>
      <p:sp>
        <p:nvSpPr>
          <p:cNvPr id="18" name="Figure 6 label 17 line 1">
            <a:extLst xmlns:a="http://schemas.openxmlformats.org/drawingml/2006/main">
              <a:ext uri="{FF2B5EF4-FFF2-40B4-BE49-F238E27FC236}">
                <a16:creationId xmlns:a16="http://schemas.microsoft.com/office/drawing/2014/main" id="{071E94E3-EA6A-4152-B1ED-9B3F1C8D9E04}"/>
              </a:ext>
            </a:extLst>
          </p:cNvPr>
          <p:cNvSpPr>
            <a:spLocks xmlns:a="http://schemas.openxmlformats.org/drawingml/2006/main" noGrp="1"/>
          </p:cNvSpPr>
          <p:nvPr/>
        </p:nvSpPr>
        <p:spPr>
          <a:xfrm xmlns:a="http://schemas.openxmlformats.org/drawingml/2006/main" rot="0">
            <a:off x="7383860" y="7368519"/>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19" name="Figure 6 label 18 line 1">
            <a:extLst xmlns:a="http://schemas.openxmlformats.org/drawingml/2006/main">
              <a:ext uri="{FF2B5EF4-FFF2-40B4-BE49-F238E27FC236}">
                <a16:creationId xmlns:a16="http://schemas.microsoft.com/office/drawing/2014/main" id="{92B24F9F-2868-4B31-883E-B4CDF6FAE5BA}"/>
              </a:ext>
            </a:extLst>
          </p:cNvPr>
          <p:cNvSpPr>
            <a:spLocks xmlns:a="http://schemas.openxmlformats.org/drawingml/2006/main" noGrp="1"/>
          </p:cNvSpPr>
          <p:nvPr/>
        </p:nvSpPr>
        <p:spPr>
          <a:xfrm xmlns:a="http://schemas.openxmlformats.org/drawingml/2006/main" rot="0">
            <a:off x="7277894" y="6833595"/>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20" name="Figure 6 label 19 line 1">
            <a:extLst xmlns:a="http://schemas.openxmlformats.org/drawingml/2006/main">
              <a:ext uri="{FF2B5EF4-FFF2-40B4-BE49-F238E27FC236}">
                <a16:creationId xmlns:a16="http://schemas.microsoft.com/office/drawing/2014/main" id="{5063BBF5-161D-4442-B5E5-2D7A3D50AA48}"/>
              </a:ext>
            </a:extLst>
          </p:cNvPr>
          <p:cNvSpPr>
            <a:spLocks xmlns:a="http://schemas.openxmlformats.org/drawingml/2006/main" noGrp="1"/>
          </p:cNvSpPr>
          <p:nvPr/>
        </p:nvSpPr>
        <p:spPr>
          <a:xfrm xmlns:a="http://schemas.openxmlformats.org/drawingml/2006/main" rot="0">
            <a:off x="7277894" y="6298671"/>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21" name="Figure 6 label 20 line 1">
            <a:extLst xmlns:a="http://schemas.openxmlformats.org/drawingml/2006/main">
              <a:ext uri="{FF2B5EF4-FFF2-40B4-BE49-F238E27FC236}">
                <a16:creationId xmlns:a16="http://schemas.microsoft.com/office/drawing/2014/main" id="{DE5C3CCA-DFDD-4C45-8DDA-B664F3EF1FDE}"/>
              </a:ext>
            </a:extLst>
          </p:cNvPr>
          <p:cNvSpPr>
            <a:spLocks xmlns:a="http://schemas.openxmlformats.org/drawingml/2006/main" noGrp="1"/>
          </p:cNvSpPr>
          <p:nvPr/>
        </p:nvSpPr>
        <p:spPr>
          <a:xfrm xmlns:a="http://schemas.openxmlformats.org/drawingml/2006/main" rot="0">
            <a:off x="7277894" y="5763747"/>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60</a:t>
            </a:r>
          </a:p>
        </p:txBody>
      </p:sp>
      <p:sp>
        <p:nvSpPr>
          <p:cNvPr id="22" name="Figure 6 label 21 line 1">
            <a:extLst xmlns:a="http://schemas.openxmlformats.org/drawingml/2006/main">
              <a:ext uri="{FF2B5EF4-FFF2-40B4-BE49-F238E27FC236}">
                <a16:creationId xmlns:a16="http://schemas.microsoft.com/office/drawing/2014/main" id="{37FDC482-D823-4270-8226-FDEBC7415008}"/>
              </a:ext>
            </a:extLst>
          </p:cNvPr>
          <p:cNvSpPr>
            <a:spLocks xmlns:a="http://schemas.openxmlformats.org/drawingml/2006/main" noGrp="1"/>
          </p:cNvSpPr>
          <p:nvPr/>
        </p:nvSpPr>
        <p:spPr>
          <a:xfrm xmlns:a="http://schemas.openxmlformats.org/drawingml/2006/main" rot="0">
            <a:off x="7277894" y="522882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80</a:t>
            </a:r>
          </a:p>
        </p:txBody>
      </p:sp>
      <p:sp>
        <p:nvSpPr>
          <p:cNvPr id="23" name="Figure 6 label 22 line 1">
            <a:extLst xmlns:a="http://schemas.openxmlformats.org/drawingml/2006/main">
              <a:ext uri="{FF2B5EF4-FFF2-40B4-BE49-F238E27FC236}">
                <a16:creationId xmlns:a16="http://schemas.microsoft.com/office/drawing/2014/main" id="{DC52014F-93A6-40FA-BF4C-B0CBC8E46CFF}"/>
              </a:ext>
            </a:extLst>
          </p:cNvPr>
          <p:cNvSpPr>
            <a:spLocks xmlns:a="http://schemas.openxmlformats.org/drawingml/2006/main" noGrp="1"/>
          </p:cNvSpPr>
          <p:nvPr/>
        </p:nvSpPr>
        <p:spPr>
          <a:xfrm xmlns:a="http://schemas.openxmlformats.org/drawingml/2006/main" rot="0">
            <a:off x="7171928" y="4693899"/>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24" name="Figure 6 label 23 line 1">
            <a:extLst xmlns:a="http://schemas.openxmlformats.org/drawingml/2006/main">
              <a:ext uri="{FF2B5EF4-FFF2-40B4-BE49-F238E27FC236}">
                <a16:creationId xmlns:a16="http://schemas.microsoft.com/office/drawing/2014/main" id="{A00FC23A-7249-4834-AC76-EB74AE9824DC}"/>
              </a:ext>
            </a:extLst>
          </p:cNvPr>
          <p:cNvSpPr>
            <a:spLocks xmlns:a="http://schemas.openxmlformats.org/drawingml/2006/main" noGrp="1"/>
          </p:cNvSpPr>
          <p:nvPr/>
        </p:nvSpPr>
        <p:spPr>
          <a:xfrm xmlns:a="http://schemas.openxmlformats.org/drawingml/2006/main" rot="0">
            <a:off x="7171928" y="4158975"/>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120</a:t>
            </a:r>
          </a:p>
        </p:txBody>
      </p:sp>
      <p:sp>
        <p:nvSpPr>
          <p:cNvPr id="25" name="Figure 6 label 24 line 1">
            <a:extLst xmlns:a="http://schemas.openxmlformats.org/drawingml/2006/main">
              <a:ext uri="{FF2B5EF4-FFF2-40B4-BE49-F238E27FC236}">
                <a16:creationId xmlns:a16="http://schemas.microsoft.com/office/drawing/2014/main" id="{AE6F2DBD-313F-4942-B3DB-920E2D683799}"/>
              </a:ext>
            </a:extLst>
          </p:cNvPr>
          <p:cNvSpPr>
            <a:spLocks xmlns:a="http://schemas.openxmlformats.org/drawingml/2006/main" noGrp="1"/>
          </p:cNvSpPr>
          <p:nvPr/>
        </p:nvSpPr>
        <p:spPr>
          <a:xfrm xmlns:a="http://schemas.openxmlformats.org/drawingml/2006/main" rot="0">
            <a:off x="7171928" y="3624051"/>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140</a:t>
            </a:r>
          </a:p>
        </p:txBody>
      </p:sp>
      <p:sp>
        <p:nvSpPr>
          <p:cNvPr id="26" name="Figure 6 label 25 line 1">
            <a:extLst xmlns:a="http://schemas.openxmlformats.org/drawingml/2006/main">
              <a:ext uri="{FF2B5EF4-FFF2-40B4-BE49-F238E27FC236}">
                <a16:creationId xmlns:a16="http://schemas.microsoft.com/office/drawing/2014/main" id="{2F175E2E-0454-4727-9570-C831775C6B66}"/>
              </a:ext>
            </a:extLst>
          </p:cNvPr>
          <p:cNvSpPr>
            <a:spLocks xmlns:a="http://schemas.openxmlformats.org/drawingml/2006/main" noGrp="1"/>
          </p:cNvSpPr>
          <p:nvPr/>
        </p:nvSpPr>
        <p:spPr>
          <a:xfrm xmlns:a="http://schemas.openxmlformats.org/drawingml/2006/main" rot="16200000">
            <a:off x="6276092" y="5335333"/>
            <a:ext cx="175468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Consumption index</a:t>
            </a:r>
          </a:p>
        </p:txBody>
      </p:sp>
      <p:sp>
        <p:nvSpPr>
          <p:cNvPr id="27" name="Figure 6 label 26 line 1">
            <a:extLst xmlns:a="http://schemas.openxmlformats.org/drawingml/2006/main">
              <a:ext uri="{FF2B5EF4-FFF2-40B4-BE49-F238E27FC236}">
                <a16:creationId xmlns:a16="http://schemas.microsoft.com/office/drawing/2014/main" id="{08988414-6916-48EE-A0DE-2DF9D4A457CE}"/>
              </a:ext>
            </a:extLst>
          </p:cNvPr>
          <p:cNvSpPr>
            <a:spLocks xmlns:a="http://schemas.openxmlformats.org/drawingml/2006/main" noGrp="1"/>
          </p:cNvSpPr>
          <p:nvPr/>
        </p:nvSpPr>
        <p:spPr>
          <a:xfrm xmlns:a="http://schemas.openxmlformats.org/drawingml/2006/main" rot="0">
            <a:off x="9469656" y="5796039"/>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50.0</a:t>
            </a:r>
          </a:p>
        </p:txBody>
      </p:sp>
      <p:sp>
        <p:nvSpPr>
          <p:cNvPr id="28" name="Figure 6 label 27 line 1">
            <a:extLst xmlns:a="http://schemas.openxmlformats.org/drawingml/2006/main">
              <a:ext uri="{FF2B5EF4-FFF2-40B4-BE49-F238E27FC236}">
                <a16:creationId xmlns:a16="http://schemas.microsoft.com/office/drawing/2014/main" id="{E349AE36-DFB6-4968-8ECA-BD015A0E482F}"/>
              </a:ext>
            </a:extLst>
          </p:cNvPr>
          <p:cNvSpPr>
            <a:spLocks xmlns:a="http://schemas.openxmlformats.org/drawingml/2006/main" noGrp="1"/>
          </p:cNvSpPr>
          <p:nvPr/>
        </p:nvSpPr>
        <p:spPr>
          <a:xfrm xmlns:a="http://schemas.openxmlformats.org/drawingml/2006/main" rot="0">
            <a:off x="12486868" y="5459786"/>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62.6</a:t>
            </a:r>
          </a:p>
        </p:txBody>
      </p:sp>
      <p:sp>
        <p:nvSpPr>
          <p:cNvPr id="29" name="Figure 6 label 28 line 1">
            <a:extLst xmlns:a="http://schemas.openxmlformats.org/drawingml/2006/main">
              <a:ext uri="{FF2B5EF4-FFF2-40B4-BE49-F238E27FC236}">
                <a16:creationId xmlns:a16="http://schemas.microsoft.com/office/drawing/2014/main" id="{E093B21E-F04B-41DD-B7E5-85B9AC2BF5BB}"/>
              </a:ext>
            </a:extLst>
          </p:cNvPr>
          <p:cNvSpPr>
            <a:spLocks xmlns:a="http://schemas.openxmlformats.org/drawingml/2006/main" noGrp="1"/>
          </p:cNvSpPr>
          <p:nvPr/>
        </p:nvSpPr>
        <p:spPr>
          <a:xfrm xmlns:a="http://schemas.openxmlformats.org/drawingml/2006/main" rot="0">
            <a:off x="15437926" y="4458729"/>
            <a:ext cx="750689"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100.0</a:t>
            </a:r>
          </a:p>
        </p:txBody>
      </p:sp>
      <p:sp>
        <p:nvSpPr>
          <p:cNvPr id="30" name="Figure 6 label 29 line 1">
            <a:extLst xmlns:a="http://schemas.openxmlformats.org/drawingml/2006/main">
              <a:ext uri="{FF2B5EF4-FFF2-40B4-BE49-F238E27FC236}">
                <a16:creationId xmlns:a16="http://schemas.microsoft.com/office/drawing/2014/main" id="{FE245B62-2945-46F1-B342-33F15988E3C1}"/>
              </a:ext>
            </a:extLst>
          </p:cNvPr>
          <p:cNvSpPr>
            <a:spLocks xmlns:a="http://schemas.openxmlformats.org/drawingml/2006/main" noGrp="1"/>
          </p:cNvSpPr>
          <p:nvPr/>
        </p:nvSpPr>
        <p:spPr>
          <a:xfrm xmlns:a="http://schemas.openxmlformats.org/drawingml/2006/main" rot="0">
            <a:off x="10208484" y="2970276"/>
            <a:ext cx="4088954"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0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2000" b="0">
                <a:solidFill>
                  <a:srgbClr val="00355F"/>
                </a:solidFill>
                <a:latin typeface="Arial Unicode MS"/>
                <a:ea typeface="Arial Unicode MS"/>
                <a:cs typeface="Arial Unicode MS"/>
              </a:defRPr>
            </a:pPr>
            <a:r>
              <a:rPr sz="2000" b="0">
                <a:solidFill>
                  <a:srgbClr val="00355F"/>
                </a:solidFill>
                <a:latin typeface="Arial Unicode MS"/>
                <a:ea typeface="Arial Unicode MS"/>
                <a:cs typeface="Arial Unicode MS"/>
              </a:rPr>
              <a:t>Consumption can fall or remain flat</a:t>
            </a:r>
          </a:p>
        </p:txBody>
      </p:sp>
      <p:sp>
        <p:nvSpPr>
          <p:cNvPr id="31" name="Figure 6 label 30 line 1">
            <a:extLst xmlns:a="http://schemas.openxmlformats.org/drawingml/2006/main">
              <a:ext uri="{FF2B5EF4-FFF2-40B4-BE49-F238E27FC236}">
                <a16:creationId xmlns:a16="http://schemas.microsoft.com/office/drawing/2014/main" id="{4A18A5C3-05C7-4981-8782-D282036D93DB}"/>
              </a:ext>
            </a:extLst>
          </p:cNvPr>
          <p:cNvSpPr>
            <a:spLocks xmlns:a="http://schemas.openxmlformats.org/drawingml/2006/main" noGrp="1"/>
          </p:cNvSpPr>
          <p:nvPr/>
        </p:nvSpPr>
        <p:spPr>
          <a:xfrm xmlns:a="http://schemas.openxmlformats.org/drawingml/2006/main" rot="0">
            <a:off x="13724368" y="3587745"/>
            <a:ext cx="135478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Traditional = 100</a:t>
            </a:r>
          </a:p>
        </p:txBody>
      </p:sp>
      <p:sp>
        <p:nvSpPr>
          <p:cNvPr id="32" name="Figure 6 label 31 line 1">
            <a:extLst xmlns:a="http://schemas.openxmlformats.org/drawingml/2006/main">
              <a:ext uri="{FF2B5EF4-FFF2-40B4-BE49-F238E27FC236}">
                <a16:creationId xmlns:a16="http://schemas.microsoft.com/office/drawing/2014/main" id="{1DDDF1A9-F554-44D8-8A16-C8891E1EE354}"/>
              </a:ext>
            </a:extLst>
          </p:cNvPr>
          <p:cNvSpPr>
            <a:spLocks xmlns:a="http://schemas.openxmlformats.org/drawingml/2006/main" noGrp="1"/>
          </p:cNvSpPr>
          <p:nvPr/>
        </p:nvSpPr>
        <p:spPr>
          <a:xfrm xmlns:a="http://schemas.openxmlformats.org/drawingml/2006/main" rot="0">
            <a:off x="15770717" y="3587745"/>
            <a:ext cx="91454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Automated</a:t>
            </a:r>
          </a:p>
        </p:txBody>
      </p:sp>
      <p:sp>
        <p:nvSpPr>
          <p:cNvPr id="33" name="Figure 6 label 32 line 1">
            <a:extLst xmlns:a="http://schemas.openxmlformats.org/drawingml/2006/main">
              <a:ext uri="{FF2B5EF4-FFF2-40B4-BE49-F238E27FC236}">
                <a16:creationId xmlns:a16="http://schemas.microsoft.com/office/drawing/2014/main" id="{E4D77DAF-FAC8-4D3D-9690-90F9D55A0608}"/>
              </a:ext>
            </a:extLst>
          </p:cNvPr>
          <p:cNvSpPr>
            <a:spLocks xmlns:a="http://schemas.openxmlformats.org/drawingml/2006/main" noGrp="1"/>
          </p:cNvSpPr>
          <p:nvPr/>
        </p:nvSpPr>
        <p:spPr>
          <a:xfrm xmlns:a="http://schemas.openxmlformats.org/drawingml/2006/main" rot="0">
            <a:off x="991870" y="422275"/>
            <a:ext cx="8087072"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06  More experiments, less material per experiment</a:t>
            </a:r>
          </a:p>
        </p:txBody>
      </p:sp>
      <p:sp>
        <p:nvSpPr>
          <p:cNvPr id="34" name="Figure 6 label 33 line 1">
            <a:extLst xmlns:a="http://schemas.openxmlformats.org/drawingml/2006/main">
              <a:ext uri="{FF2B5EF4-FFF2-40B4-BE49-F238E27FC236}">
                <a16:creationId xmlns:a16="http://schemas.microsoft.com/office/drawing/2014/main" id="{7C18A5EB-8015-442A-B953-E17E8EB5B3FD}"/>
              </a:ext>
            </a:extLst>
          </p:cNvPr>
          <p:cNvSpPr>
            <a:spLocks xmlns:a="http://schemas.openxmlformats.org/drawingml/2006/main" noGrp="1"/>
          </p:cNvSpPr>
          <p:nvPr/>
        </p:nvSpPr>
        <p:spPr>
          <a:xfrm xmlns:a="http://schemas.openxmlformats.org/drawingml/2006/main" rot="0">
            <a:off x="15787788" y="661601"/>
            <a:ext cx="885627"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SCENARIO</a:t>
            </a:r>
          </a:p>
        </p:txBody>
      </p:sp>
      <p:sp>
        <p:nvSpPr>
          <p:cNvPr id="35" name="Figure 6 label 34 line 1">
            <a:extLst xmlns:a="http://schemas.openxmlformats.org/drawingml/2006/main">
              <a:ext uri="{FF2B5EF4-FFF2-40B4-BE49-F238E27FC236}">
                <a16:creationId xmlns:a16="http://schemas.microsoft.com/office/drawing/2014/main" id="{70B2573A-177F-4560-996A-2C5657796EB7}"/>
              </a:ext>
            </a:extLst>
          </p:cNvPr>
          <p:cNvSpPr>
            <a:spLocks xmlns:a="http://schemas.openxmlformats.org/drawingml/2006/main" noGrp="1"/>
          </p:cNvSpPr>
          <p:nvPr/>
        </p:nvSpPr>
        <p:spPr>
          <a:xfrm xmlns:a="http://schemas.openxmlformats.org/drawingml/2006/main" rot="0">
            <a:off x="998220" y="1249680"/>
            <a:ext cx="870644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Traditional: 100k tests, 96 wells, 100 µL/test. Automated: 1m tests, 1,536 wells, 5 µL/test. Base = 100.</a:t>
            </a:r>
          </a:p>
        </p:txBody>
      </p:sp>
      <p:sp>
        <p:nvSpPr>
          <p:cNvPr id="36" name="Figure 6 label 35 line 1">
            <a:extLst xmlns:a="http://schemas.openxmlformats.org/drawingml/2006/main">
              <a:ext uri="{FF2B5EF4-FFF2-40B4-BE49-F238E27FC236}">
                <a16:creationId xmlns:a16="http://schemas.microsoft.com/office/drawing/2014/main" id="{7BA0F837-92CF-48A3-9AA3-3C9BF0B464BF}"/>
              </a:ext>
            </a:extLst>
          </p:cNvPr>
          <p:cNvSpPr>
            <a:spLocks xmlns:a="http://schemas.openxmlformats.org/drawingml/2006/main" noGrp="1"/>
          </p:cNvSpPr>
          <p:nvPr/>
        </p:nvSpPr>
        <p:spPr>
          <a:xfrm xmlns:a="http://schemas.openxmlformats.org/drawingml/2006/main" rot="0">
            <a:off x="999173" y="9256934"/>
            <a:ext cx="817795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Y-axis scales differ. Full plates, no dead volume or control wells; tips fall from 1 to 0.1 per test. ASP excluded.</a:t>
            </a:r>
          </a:p>
        </p:txBody>
      </p:sp>
      <p:sp>
        <p:nvSpPr>
          <p:cNvPr id="37" name="Figure 6 label 36 line 1">
            <a:extLst xmlns:a="http://schemas.openxmlformats.org/drawingml/2006/main">
              <a:ext uri="{FF2B5EF4-FFF2-40B4-BE49-F238E27FC236}">
                <a16:creationId xmlns:a16="http://schemas.microsoft.com/office/drawing/2014/main" id="{43F19C83-8321-48C7-9443-3246938BF098}"/>
              </a:ext>
            </a:extLst>
          </p:cNvPr>
          <p:cNvSpPr>
            <a:spLocks xmlns:a="http://schemas.openxmlformats.org/drawingml/2006/main" noGrp="1"/>
          </p:cNvSpPr>
          <p:nvPr/>
        </p:nvSpPr>
        <p:spPr>
          <a:xfrm xmlns:a="http://schemas.openxmlformats.org/drawingml/2006/main" rot="0">
            <a:off x="1000316" y="9675546"/>
            <a:ext cx="6288911"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scenario and analyst calculation. Test definition and plate utilization affect the result.</a:t>
            </a:r>
          </a:p>
        </p:txBody>
      </p:sp>
      <p:sp>
        <p:nvSpPr>
          <p:cNvPr id="38" name="Figure 6 label 37 line 1">
            <a:extLst xmlns:a="http://schemas.openxmlformats.org/drawingml/2006/main">
              <a:ext uri="{FF2B5EF4-FFF2-40B4-BE49-F238E27FC236}">
                <a16:creationId xmlns:a16="http://schemas.microsoft.com/office/drawing/2014/main" id="{F7477F79-C1BA-426E-A2C3-077E9E788877}"/>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39" name="Figure 6 label 38 line 1">
            <a:extLst xmlns:a="http://schemas.openxmlformats.org/drawingml/2006/main">
              <a:ext uri="{FF2B5EF4-FFF2-40B4-BE49-F238E27FC236}">
                <a16:creationId xmlns:a16="http://schemas.microsoft.com/office/drawing/2014/main" id="{371BF45E-156A-404D-96D5-B90D93FD1353}"/>
              </a:ext>
            </a:extLst>
          </p:cNvPr>
          <p:cNvSpPr>
            <a:spLocks xmlns:a="http://schemas.openxmlformats.org/drawingml/2006/main" noGrp="1"/>
          </p:cNvSpPr>
          <p:nvPr/>
        </p:nvSpPr>
        <p:spPr>
          <a:xfrm xmlns:a="http://schemas.openxmlformats.org/drawingml/2006/main" rot="0">
            <a:off x="1453515" y="2395347"/>
            <a:ext cx="266729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Unicode MS"/>
                <a:ea typeface="Arial Unicode MS"/>
                <a:cs typeface="Arial Unicode MS"/>
              </a:defRPr>
            </a:defPPr>
          </a:lstStyle>
          <a:p xmlns:a="http://schemas.openxmlformats.org/drawingml/2006/main">
            <a:pPr algn="l">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100k → 1m experiments</a:t>
            </a:r>
          </a:p>
        </p:txBody>
      </p:sp>
      <p:sp>
        <p:nvSpPr>
          <p:cNvPr id="40" name="Figure 6 label 39 line 1">
            <a:extLst xmlns:a="http://schemas.openxmlformats.org/drawingml/2006/main">
              <a:ext uri="{FF2B5EF4-FFF2-40B4-BE49-F238E27FC236}">
                <a16:creationId xmlns:a16="http://schemas.microsoft.com/office/drawing/2014/main" id="{E721A9A9-3618-488F-B6B5-9EF0B355CB3F}"/>
              </a:ext>
            </a:extLst>
          </p:cNvPr>
          <p:cNvSpPr>
            <a:spLocks xmlns:a="http://schemas.openxmlformats.org/drawingml/2006/main" noGrp="1"/>
          </p:cNvSpPr>
          <p:nvPr/>
        </p:nvSpPr>
        <p:spPr>
          <a:xfrm xmlns:a="http://schemas.openxmlformats.org/drawingml/2006/main" rot="0">
            <a:off x="7306945" y="2426887"/>
            <a:ext cx="6929041"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Reagents: 10 L → 5 L  ·  Plates: 1,042 → 652  ·  Tips: 100k → 100k (assumed)</a:t>
            </a:r>
          </a:p>
        </p:txBody>
      </p:sp>
      <p:sp>
        <p:nvSpPr>
          <p:cNvPr id="41" name="Figure 6 label 40 line 1">
            <a:extLst xmlns:a="http://schemas.openxmlformats.org/drawingml/2006/main">
              <a:ext uri="{FF2B5EF4-FFF2-40B4-BE49-F238E27FC236}">
                <a16:creationId xmlns:a16="http://schemas.microsoft.com/office/drawing/2014/main" id="{28D1E7AD-0BD7-4134-9558-BE83D5460A92}"/>
              </a:ext>
            </a:extLst>
          </p:cNvPr>
          <p:cNvSpPr>
            <a:spLocks xmlns:a="http://schemas.openxmlformats.org/drawingml/2006/main" noGrp="1"/>
          </p:cNvSpPr>
          <p:nvPr/>
        </p:nvSpPr>
        <p:spPr>
          <a:xfrm xmlns:a="http://schemas.openxmlformats.org/drawingml/2006/main" rot="0">
            <a:off x="4857899" y="8343012"/>
            <a:ext cx="8572202"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Experiment growth does not imply proportional purchasing growth.</a:t>
            </a:r>
          </a:p>
        </p:txBody>
      </p:sp>
    </p:spTree>
    <p:extLst>
      <p:ext uri="{BB962C8B-B14F-4D97-AF65-F5344CB8AC3E}">
        <p14:creationId xmlns:p14="http://schemas.microsoft.com/office/powerpoint/2010/main" val="8166424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1" name="">
            <a:extLst xmlns:a="http://schemas.openxmlformats.org/drawingml/2006/main">
              <a:ext uri="{FF2B5EF4-FFF2-40B4-BE49-F238E27FC236}">
                <a16:creationId xmlns:a16="http://schemas.microsoft.com/office/drawing/2014/main" id="{8040E690-54C6-4979-8086-C9A9D2DB61AE}"/>
              </a:ext>
            </a:extLst>
          </p:cNvPr>
          <p:cNvPicPr>
            <a:picLocks xmlns:a="http://schemas.openxmlformats.org/drawingml/2006/main" noChangeAspect="1"/>
          </p:cNvPicPr>
          <p:nvPr/>
        </p:nvPicPr>
        <p:blipFill>
          <a:blip xmlns:r="http://schemas.openxmlformats.org/officeDocument/2006/relationships" xmlns:a="http://schemas.openxmlformats.org/drawingml/2006/main" r:embed="R3cf22c409f88449b"/>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7 label 1 line 1">
            <a:extLst xmlns:a="http://schemas.openxmlformats.org/drawingml/2006/main">
              <a:ext uri="{FF2B5EF4-FFF2-40B4-BE49-F238E27FC236}">
                <a16:creationId xmlns:a16="http://schemas.microsoft.com/office/drawing/2014/main" id="{440AD335-B274-430A-B34E-7887D8989F9A}"/>
              </a:ext>
            </a:extLst>
          </p:cNvPr>
          <p:cNvSpPr>
            <a:spLocks xmlns:a="http://schemas.openxmlformats.org/drawingml/2006/main" noGrp="1"/>
          </p:cNvSpPr>
          <p:nvPr/>
        </p:nvSpPr>
        <p:spPr>
          <a:xfrm xmlns:a="http://schemas.openxmlformats.org/drawingml/2006/main" rot="0">
            <a:off x="2746180" y="7924632"/>
            <a:ext cx="105578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Scenario A</a:t>
            </a:r>
          </a:p>
        </p:txBody>
      </p:sp>
      <p:sp>
        <p:nvSpPr>
          <p:cNvPr id="3" name="Figure 7 label 2 line 1">
            <a:extLst xmlns:a="http://schemas.openxmlformats.org/drawingml/2006/main">
              <a:ext uri="{FF2B5EF4-FFF2-40B4-BE49-F238E27FC236}">
                <a16:creationId xmlns:a16="http://schemas.microsoft.com/office/drawing/2014/main" id="{3011563F-CCE8-46AE-8487-1699F6B7C93B}"/>
              </a:ext>
            </a:extLst>
          </p:cNvPr>
          <p:cNvSpPr>
            <a:spLocks xmlns:a="http://schemas.openxmlformats.org/drawingml/2006/main" noGrp="1"/>
          </p:cNvSpPr>
          <p:nvPr/>
        </p:nvSpPr>
        <p:spPr>
          <a:xfrm xmlns:a="http://schemas.openxmlformats.org/drawingml/2006/main" rot="0">
            <a:off x="2814924" y="8126210"/>
            <a:ext cx="91827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US$50bn</a:t>
            </a:r>
          </a:p>
        </p:txBody>
      </p:sp>
      <p:sp>
        <p:nvSpPr>
          <p:cNvPr id="4" name="Figure 7 label 3 line 1">
            <a:extLst xmlns:a="http://schemas.openxmlformats.org/drawingml/2006/main">
              <a:ext uri="{FF2B5EF4-FFF2-40B4-BE49-F238E27FC236}">
                <a16:creationId xmlns:a16="http://schemas.microsoft.com/office/drawing/2014/main" id="{4C48E508-E570-47EC-9BF2-B38DAC83C080}"/>
              </a:ext>
            </a:extLst>
          </p:cNvPr>
          <p:cNvSpPr>
            <a:spLocks xmlns:a="http://schemas.openxmlformats.org/drawingml/2006/main" noGrp="1"/>
          </p:cNvSpPr>
          <p:nvPr/>
        </p:nvSpPr>
        <p:spPr>
          <a:xfrm xmlns:a="http://schemas.openxmlformats.org/drawingml/2006/main" rot="0">
            <a:off x="6567354" y="7924632"/>
            <a:ext cx="105578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Scenario B</a:t>
            </a:r>
          </a:p>
        </p:txBody>
      </p:sp>
      <p:sp>
        <p:nvSpPr>
          <p:cNvPr id="5" name="Figure 7 label 4 line 1">
            <a:extLst xmlns:a="http://schemas.openxmlformats.org/drawingml/2006/main">
              <a:ext uri="{FF2B5EF4-FFF2-40B4-BE49-F238E27FC236}">
                <a16:creationId xmlns:a16="http://schemas.microsoft.com/office/drawing/2014/main" id="{7B08D008-0E26-4049-9090-1548DE2AE8DE}"/>
              </a:ext>
            </a:extLst>
          </p:cNvPr>
          <p:cNvSpPr>
            <a:spLocks xmlns:a="http://schemas.openxmlformats.org/drawingml/2006/main" noGrp="1"/>
          </p:cNvSpPr>
          <p:nvPr/>
        </p:nvSpPr>
        <p:spPr>
          <a:xfrm xmlns:a="http://schemas.openxmlformats.org/drawingml/2006/main" rot="0">
            <a:off x="6583129" y="8126210"/>
            <a:ext cx="102423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US$100bn</a:t>
            </a:r>
          </a:p>
        </p:txBody>
      </p:sp>
      <p:sp>
        <p:nvSpPr>
          <p:cNvPr id="6" name="Figure 7 label 5 line 1">
            <a:extLst xmlns:a="http://schemas.openxmlformats.org/drawingml/2006/main">
              <a:ext uri="{FF2B5EF4-FFF2-40B4-BE49-F238E27FC236}">
                <a16:creationId xmlns:a16="http://schemas.microsoft.com/office/drawing/2014/main" id="{DBEB65F0-CD86-4956-B199-AC5FFBD331E5}"/>
              </a:ext>
            </a:extLst>
          </p:cNvPr>
          <p:cNvSpPr>
            <a:spLocks xmlns:a="http://schemas.openxmlformats.org/drawingml/2006/main" noGrp="1"/>
          </p:cNvSpPr>
          <p:nvPr/>
        </p:nvSpPr>
        <p:spPr>
          <a:xfrm xmlns:a="http://schemas.openxmlformats.org/drawingml/2006/main" rot="0">
            <a:off x="10383273" y="7924632"/>
            <a:ext cx="10662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Scenario C</a:t>
            </a:r>
          </a:p>
        </p:txBody>
      </p:sp>
      <p:sp>
        <p:nvSpPr>
          <p:cNvPr id="7" name="Figure 7 label 6 line 1">
            <a:extLst xmlns:a="http://schemas.openxmlformats.org/drawingml/2006/main">
              <a:ext uri="{FF2B5EF4-FFF2-40B4-BE49-F238E27FC236}">
                <a16:creationId xmlns:a16="http://schemas.microsoft.com/office/drawing/2014/main" id="{1BE1EA68-A861-4D4F-BE9D-2BA45B2D6F68}"/>
              </a:ext>
            </a:extLst>
          </p:cNvPr>
          <p:cNvSpPr>
            <a:spLocks xmlns:a="http://schemas.openxmlformats.org/drawingml/2006/main" noGrp="1"/>
          </p:cNvSpPr>
          <p:nvPr/>
        </p:nvSpPr>
        <p:spPr>
          <a:xfrm xmlns:a="http://schemas.openxmlformats.org/drawingml/2006/main" rot="0">
            <a:off x="10404303" y="8126210"/>
            <a:ext cx="102423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US$200bn</a:t>
            </a:r>
          </a:p>
        </p:txBody>
      </p:sp>
      <p:sp>
        <p:nvSpPr>
          <p:cNvPr id="8" name="Figure 7 label 7 line 1">
            <a:extLst xmlns:a="http://schemas.openxmlformats.org/drawingml/2006/main">
              <a:ext uri="{FF2B5EF4-FFF2-40B4-BE49-F238E27FC236}">
                <a16:creationId xmlns:a16="http://schemas.microsoft.com/office/drawing/2014/main" id="{C04487AE-35C3-4969-AEBA-D77C07246543}"/>
              </a:ext>
            </a:extLst>
          </p:cNvPr>
          <p:cNvSpPr>
            <a:spLocks xmlns:a="http://schemas.openxmlformats.org/drawingml/2006/main" noGrp="1"/>
          </p:cNvSpPr>
          <p:nvPr/>
        </p:nvSpPr>
        <p:spPr>
          <a:xfrm xmlns:a="http://schemas.openxmlformats.org/drawingml/2006/main" rot="0">
            <a:off x="1440259" y="7697703"/>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9" name="Figure 7 label 8 line 1">
            <a:extLst xmlns:a="http://schemas.openxmlformats.org/drawingml/2006/main">
              <a:ext uri="{FF2B5EF4-FFF2-40B4-BE49-F238E27FC236}">
                <a16:creationId xmlns:a16="http://schemas.microsoft.com/office/drawing/2014/main" id="{045906B6-F84F-4874-8149-389ECD2D0414}"/>
              </a:ext>
            </a:extLst>
          </p:cNvPr>
          <p:cNvSpPr>
            <a:spLocks xmlns:a="http://schemas.openxmlformats.org/drawingml/2006/main" noGrp="1"/>
          </p:cNvSpPr>
          <p:nvPr/>
        </p:nvSpPr>
        <p:spPr>
          <a:xfrm xmlns:a="http://schemas.openxmlformats.org/drawingml/2006/main" rot="0">
            <a:off x="1334294" y="711477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25</a:t>
            </a:r>
          </a:p>
        </p:txBody>
      </p:sp>
      <p:sp>
        <p:nvSpPr>
          <p:cNvPr id="10" name="Figure 7 label 9 line 1">
            <a:extLst xmlns:a="http://schemas.openxmlformats.org/drawingml/2006/main">
              <a:ext uri="{FF2B5EF4-FFF2-40B4-BE49-F238E27FC236}">
                <a16:creationId xmlns:a16="http://schemas.microsoft.com/office/drawing/2014/main" id="{95B2B29B-FA67-4008-816C-87F10BFA8A60}"/>
              </a:ext>
            </a:extLst>
          </p:cNvPr>
          <p:cNvSpPr>
            <a:spLocks xmlns:a="http://schemas.openxmlformats.org/drawingml/2006/main" noGrp="1"/>
          </p:cNvSpPr>
          <p:nvPr/>
        </p:nvSpPr>
        <p:spPr>
          <a:xfrm xmlns:a="http://schemas.openxmlformats.org/drawingml/2006/main" rot="0">
            <a:off x="1334294" y="653184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50</a:t>
            </a:r>
          </a:p>
        </p:txBody>
      </p:sp>
      <p:sp>
        <p:nvSpPr>
          <p:cNvPr id="11" name="Figure 7 label 10 line 1">
            <a:extLst xmlns:a="http://schemas.openxmlformats.org/drawingml/2006/main">
              <a:ext uri="{FF2B5EF4-FFF2-40B4-BE49-F238E27FC236}">
                <a16:creationId xmlns:a16="http://schemas.microsoft.com/office/drawing/2014/main" id="{C087CB8E-EEF3-4F65-88D1-0B4A591E0332}"/>
              </a:ext>
            </a:extLst>
          </p:cNvPr>
          <p:cNvSpPr>
            <a:spLocks xmlns:a="http://schemas.openxmlformats.org/drawingml/2006/main" noGrp="1"/>
          </p:cNvSpPr>
          <p:nvPr/>
        </p:nvSpPr>
        <p:spPr>
          <a:xfrm xmlns:a="http://schemas.openxmlformats.org/drawingml/2006/main" rot="0">
            <a:off x="1334294" y="594891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75</a:t>
            </a:r>
          </a:p>
        </p:txBody>
      </p:sp>
      <p:sp>
        <p:nvSpPr>
          <p:cNvPr id="12" name="Figure 7 label 11 line 1">
            <a:extLst xmlns:a="http://schemas.openxmlformats.org/drawingml/2006/main">
              <a:ext uri="{FF2B5EF4-FFF2-40B4-BE49-F238E27FC236}">
                <a16:creationId xmlns:a16="http://schemas.microsoft.com/office/drawing/2014/main" id="{96211ACD-61C0-4533-BF8A-8E559ECBB90F}"/>
              </a:ext>
            </a:extLst>
          </p:cNvPr>
          <p:cNvSpPr>
            <a:spLocks xmlns:a="http://schemas.openxmlformats.org/drawingml/2006/main" noGrp="1"/>
          </p:cNvSpPr>
          <p:nvPr/>
        </p:nvSpPr>
        <p:spPr>
          <a:xfrm xmlns:a="http://schemas.openxmlformats.org/drawingml/2006/main" rot="0">
            <a:off x="1228328" y="536598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13" name="Figure 7 label 12 line 1">
            <a:extLst xmlns:a="http://schemas.openxmlformats.org/drawingml/2006/main">
              <a:ext uri="{FF2B5EF4-FFF2-40B4-BE49-F238E27FC236}">
                <a16:creationId xmlns:a16="http://schemas.microsoft.com/office/drawing/2014/main" id="{EEA04536-D1B5-4004-AFE9-CB5F041AE657}"/>
              </a:ext>
            </a:extLst>
          </p:cNvPr>
          <p:cNvSpPr>
            <a:spLocks xmlns:a="http://schemas.openxmlformats.org/drawingml/2006/main" noGrp="1"/>
          </p:cNvSpPr>
          <p:nvPr/>
        </p:nvSpPr>
        <p:spPr>
          <a:xfrm xmlns:a="http://schemas.openxmlformats.org/drawingml/2006/main" rot="0">
            <a:off x="1228328" y="478305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125</a:t>
            </a:r>
          </a:p>
        </p:txBody>
      </p:sp>
      <p:sp>
        <p:nvSpPr>
          <p:cNvPr id="14" name="Figure 7 label 13 line 1">
            <a:extLst xmlns:a="http://schemas.openxmlformats.org/drawingml/2006/main">
              <a:ext uri="{FF2B5EF4-FFF2-40B4-BE49-F238E27FC236}">
                <a16:creationId xmlns:a16="http://schemas.microsoft.com/office/drawing/2014/main" id="{57223824-4411-4FDC-ACC8-7DBC4ECDCA81}"/>
              </a:ext>
            </a:extLst>
          </p:cNvPr>
          <p:cNvSpPr>
            <a:spLocks xmlns:a="http://schemas.openxmlformats.org/drawingml/2006/main" noGrp="1"/>
          </p:cNvSpPr>
          <p:nvPr/>
        </p:nvSpPr>
        <p:spPr>
          <a:xfrm xmlns:a="http://schemas.openxmlformats.org/drawingml/2006/main" rot="0">
            <a:off x="1228328" y="420012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150</a:t>
            </a:r>
          </a:p>
        </p:txBody>
      </p:sp>
      <p:sp>
        <p:nvSpPr>
          <p:cNvPr id="15" name="Figure 7 label 14 line 1">
            <a:extLst xmlns:a="http://schemas.openxmlformats.org/drawingml/2006/main">
              <a:ext uri="{FF2B5EF4-FFF2-40B4-BE49-F238E27FC236}">
                <a16:creationId xmlns:a16="http://schemas.microsoft.com/office/drawing/2014/main" id="{27D2A7B8-CB31-4BEC-9C95-54A54AF5B859}"/>
              </a:ext>
            </a:extLst>
          </p:cNvPr>
          <p:cNvSpPr>
            <a:spLocks xmlns:a="http://schemas.openxmlformats.org/drawingml/2006/main" noGrp="1"/>
          </p:cNvSpPr>
          <p:nvPr/>
        </p:nvSpPr>
        <p:spPr>
          <a:xfrm xmlns:a="http://schemas.openxmlformats.org/drawingml/2006/main" rot="0">
            <a:off x="1228328" y="361719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175</a:t>
            </a:r>
          </a:p>
        </p:txBody>
      </p:sp>
      <p:sp>
        <p:nvSpPr>
          <p:cNvPr id="16" name="Figure 7 label 15 line 1">
            <a:extLst xmlns:a="http://schemas.openxmlformats.org/drawingml/2006/main">
              <a:ext uri="{FF2B5EF4-FFF2-40B4-BE49-F238E27FC236}">
                <a16:creationId xmlns:a16="http://schemas.microsoft.com/office/drawing/2014/main" id="{20054540-3AFB-4B86-B14C-B7D936AE5084}"/>
              </a:ext>
            </a:extLst>
          </p:cNvPr>
          <p:cNvSpPr>
            <a:spLocks xmlns:a="http://schemas.openxmlformats.org/drawingml/2006/main" noGrp="1"/>
          </p:cNvSpPr>
          <p:nvPr/>
        </p:nvSpPr>
        <p:spPr>
          <a:xfrm xmlns:a="http://schemas.openxmlformats.org/drawingml/2006/main" rot="0">
            <a:off x="1228328" y="303426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200</a:t>
            </a:r>
          </a:p>
        </p:txBody>
      </p:sp>
      <p:sp>
        <p:nvSpPr>
          <p:cNvPr id="17" name="Figure 7 label 16 line 1">
            <a:extLst xmlns:a="http://schemas.openxmlformats.org/drawingml/2006/main">
              <a:ext uri="{FF2B5EF4-FFF2-40B4-BE49-F238E27FC236}">
                <a16:creationId xmlns:a16="http://schemas.microsoft.com/office/drawing/2014/main" id="{AA7306DA-9506-440E-985B-60ECFE10C25F}"/>
              </a:ext>
            </a:extLst>
          </p:cNvPr>
          <p:cNvSpPr>
            <a:spLocks xmlns:a="http://schemas.openxmlformats.org/drawingml/2006/main" noGrp="1"/>
          </p:cNvSpPr>
          <p:nvPr/>
        </p:nvSpPr>
        <p:spPr>
          <a:xfrm xmlns:a="http://schemas.openxmlformats.org/drawingml/2006/main" rot="0">
            <a:off x="1228328" y="245133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225</a:t>
            </a:r>
          </a:p>
        </p:txBody>
      </p:sp>
      <p:sp>
        <p:nvSpPr>
          <p:cNvPr id="18" name="Figure 7 label 17 line 1">
            <a:extLst xmlns:a="http://schemas.openxmlformats.org/drawingml/2006/main">
              <a:ext uri="{FF2B5EF4-FFF2-40B4-BE49-F238E27FC236}">
                <a16:creationId xmlns:a16="http://schemas.microsoft.com/office/drawing/2014/main" id="{3A48A3A7-6F80-4AE5-BA7E-A7C2E33867EB}"/>
              </a:ext>
            </a:extLst>
          </p:cNvPr>
          <p:cNvSpPr>
            <a:spLocks xmlns:a="http://schemas.openxmlformats.org/drawingml/2006/main" noGrp="1"/>
          </p:cNvSpPr>
          <p:nvPr/>
        </p:nvSpPr>
        <p:spPr>
          <a:xfrm xmlns:a="http://schemas.openxmlformats.org/drawingml/2006/main" rot="16200000">
            <a:off x="-717610" y="5047298"/>
            <a:ext cx="385077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Cumulative incremental investment (US$bn)</a:t>
            </a:r>
          </a:p>
        </p:txBody>
      </p:sp>
      <p:sp>
        <p:nvSpPr>
          <p:cNvPr id="19" name="Figure 7 label 18 line 1">
            <a:extLst xmlns:a="http://schemas.openxmlformats.org/drawingml/2006/main">
              <a:ext uri="{FF2B5EF4-FFF2-40B4-BE49-F238E27FC236}">
                <a16:creationId xmlns:a16="http://schemas.microsoft.com/office/drawing/2014/main" id="{6BA159A8-D879-465A-8DFA-DCD638FFB11B}"/>
              </a:ext>
            </a:extLst>
          </p:cNvPr>
          <p:cNvSpPr>
            <a:spLocks xmlns:a="http://schemas.openxmlformats.org/drawingml/2006/main" noGrp="1"/>
          </p:cNvSpPr>
          <p:nvPr/>
        </p:nvSpPr>
        <p:spPr>
          <a:xfrm xmlns:a="http://schemas.openxmlformats.org/drawingml/2006/main" rot="0">
            <a:off x="3037889" y="7487946"/>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15</a:t>
            </a:r>
          </a:p>
        </p:txBody>
      </p:sp>
      <p:sp>
        <p:nvSpPr>
          <p:cNvPr id="20" name="Figure 7 label 19 line 1">
            <a:extLst xmlns:a="http://schemas.openxmlformats.org/drawingml/2006/main">
              <a:ext uri="{FF2B5EF4-FFF2-40B4-BE49-F238E27FC236}">
                <a16:creationId xmlns:a16="http://schemas.microsoft.com/office/drawing/2014/main" id="{50FABF1F-6667-48DB-9C6F-BD2C425B11C2}"/>
              </a:ext>
            </a:extLst>
          </p:cNvPr>
          <p:cNvSpPr>
            <a:spLocks xmlns:a="http://schemas.openxmlformats.org/drawingml/2006/main" noGrp="1"/>
          </p:cNvSpPr>
          <p:nvPr/>
        </p:nvSpPr>
        <p:spPr>
          <a:xfrm xmlns:a="http://schemas.openxmlformats.org/drawingml/2006/main" rot="0">
            <a:off x="6859062" y="7313067"/>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30</a:t>
            </a:r>
          </a:p>
        </p:txBody>
      </p:sp>
      <p:sp>
        <p:nvSpPr>
          <p:cNvPr id="21" name="Figure 7 label 20 line 1">
            <a:extLst xmlns:a="http://schemas.openxmlformats.org/drawingml/2006/main">
              <a:ext uri="{FF2B5EF4-FFF2-40B4-BE49-F238E27FC236}">
                <a16:creationId xmlns:a16="http://schemas.microsoft.com/office/drawing/2014/main" id="{157BC033-088E-465E-88A3-AEDBFC1A11B8}"/>
              </a:ext>
            </a:extLst>
          </p:cNvPr>
          <p:cNvSpPr>
            <a:spLocks xmlns:a="http://schemas.openxmlformats.org/drawingml/2006/main" noGrp="1"/>
          </p:cNvSpPr>
          <p:nvPr/>
        </p:nvSpPr>
        <p:spPr>
          <a:xfrm xmlns:a="http://schemas.openxmlformats.org/drawingml/2006/main" rot="0">
            <a:off x="10680235" y="6963310"/>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60</a:t>
            </a:r>
          </a:p>
        </p:txBody>
      </p:sp>
      <p:sp>
        <p:nvSpPr>
          <p:cNvPr id="22" name="Figure 7 label 21 line 1">
            <a:extLst xmlns:a="http://schemas.openxmlformats.org/drawingml/2006/main">
              <a:ext uri="{FF2B5EF4-FFF2-40B4-BE49-F238E27FC236}">
                <a16:creationId xmlns:a16="http://schemas.microsoft.com/office/drawing/2014/main" id="{2B13E4EE-7063-471F-A652-CF3CDBA01B8B}"/>
              </a:ext>
            </a:extLst>
          </p:cNvPr>
          <p:cNvSpPr>
            <a:spLocks xmlns:a="http://schemas.openxmlformats.org/drawingml/2006/main" noGrp="1"/>
          </p:cNvSpPr>
          <p:nvPr/>
        </p:nvSpPr>
        <p:spPr>
          <a:xfrm xmlns:a="http://schemas.openxmlformats.org/drawingml/2006/main" rot="0">
            <a:off x="2951792" y="7167335"/>
            <a:ext cx="535831"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12.5</a:t>
            </a:r>
          </a:p>
        </p:txBody>
      </p:sp>
      <p:sp>
        <p:nvSpPr>
          <p:cNvPr id="23" name="Figure 7 label 22 line 1">
            <a:extLst xmlns:a="http://schemas.openxmlformats.org/drawingml/2006/main">
              <a:ext uri="{FF2B5EF4-FFF2-40B4-BE49-F238E27FC236}">
                <a16:creationId xmlns:a16="http://schemas.microsoft.com/office/drawing/2014/main" id="{0FDA10CA-88ED-4D1F-8ED1-1107329AB640}"/>
              </a:ext>
            </a:extLst>
          </p:cNvPr>
          <p:cNvSpPr>
            <a:spLocks xmlns:a="http://schemas.openxmlformats.org/drawingml/2006/main" noGrp="1"/>
          </p:cNvSpPr>
          <p:nvPr/>
        </p:nvSpPr>
        <p:spPr>
          <a:xfrm xmlns:a="http://schemas.openxmlformats.org/drawingml/2006/main" rot="0">
            <a:off x="6859062" y="6671845"/>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25</a:t>
            </a:r>
          </a:p>
        </p:txBody>
      </p:sp>
      <p:sp>
        <p:nvSpPr>
          <p:cNvPr id="24" name="Figure 7 label 23 line 1">
            <a:extLst xmlns:a="http://schemas.openxmlformats.org/drawingml/2006/main">
              <a:ext uri="{FF2B5EF4-FFF2-40B4-BE49-F238E27FC236}">
                <a16:creationId xmlns:a16="http://schemas.microsoft.com/office/drawing/2014/main" id="{E3FD518A-9093-4980-BA75-B4817D5869DB}"/>
              </a:ext>
            </a:extLst>
          </p:cNvPr>
          <p:cNvSpPr>
            <a:spLocks xmlns:a="http://schemas.openxmlformats.org/drawingml/2006/main" noGrp="1"/>
          </p:cNvSpPr>
          <p:nvPr/>
        </p:nvSpPr>
        <p:spPr>
          <a:xfrm xmlns:a="http://schemas.openxmlformats.org/drawingml/2006/main" rot="0">
            <a:off x="10680235" y="5680863"/>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50</a:t>
            </a:r>
          </a:p>
        </p:txBody>
      </p:sp>
      <p:sp>
        <p:nvSpPr>
          <p:cNvPr id="25" name="Figure 7 label 24 line 1">
            <a:extLst xmlns:a="http://schemas.openxmlformats.org/drawingml/2006/main">
              <a:ext uri="{FF2B5EF4-FFF2-40B4-BE49-F238E27FC236}">
                <a16:creationId xmlns:a16="http://schemas.microsoft.com/office/drawing/2014/main" id="{B5FEB6DC-64DC-47DE-A03C-6CF259EC2B86}"/>
              </a:ext>
            </a:extLst>
          </p:cNvPr>
          <p:cNvSpPr>
            <a:spLocks xmlns:a="http://schemas.openxmlformats.org/drawingml/2006/main" noGrp="1"/>
          </p:cNvSpPr>
          <p:nvPr/>
        </p:nvSpPr>
        <p:spPr>
          <a:xfrm xmlns:a="http://schemas.openxmlformats.org/drawingml/2006/main" rot="0">
            <a:off x="3037889" y="6905017"/>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10</a:t>
            </a:r>
          </a:p>
        </p:txBody>
      </p:sp>
      <p:sp>
        <p:nvSpPr>
          <p:cNvPr id="26" name="Figure 7 label 25 line 1">
            <a:extLst xmlns:a="http://schemas.openxmlformats.org/drawingml/2006/main">
              <a:ext uri="{FF2B5EF4-FFF2-40B4-BE49-F238E27FC236}">
                <a16:creationId xmlns:a16="http://schemas.microsoft.com/office/drawing/2014/main" id="{68B96528-5C18-4CC0-9D7B-E043EAD4061C}"/>
              </a:ext>
            </a:extLst>
          </p:cNvPr>
          <p:cNvSpPr>
            <a:spLocks xmlns:a="http://schemas.openxmlformats.org/drawingml/2006/main" noGrp="1"/>
          </p:cNvSpPr>
          <p:nvPr/>
        </p:nvSpPr>
        <p:spPr>
          <a:xfrm xmlns:a="http://schemas.openxmlformats.org/drawingml/2006/main" rot="0">
            <a:off x="6859062" y="6147208"/>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20</a:t>
            </a:r>
          </a:p>
        </p:txBody>
      </p:sp>
      <p:sp>
        <p:nvSpPr>
          <p:cNvPr id="27" name="Figure 7 label 26 line 1">
            <a:extLst xmlns:a="http://schemas.openxmlformats.org/drawingml/2006/main">
              <a:ext uri="{FF2B5EF4-FFF2-40B4-BE49-F238E27FC236}">
                <a16:creationId xmlns:a16="http://schemas.microsoft.com/office/drawing/2014/main" id="{99EF03D6-77E1-445B-8F09-0DE76AA7CA07}"/>
              </a:ext>
            </a:extLst>
          </p:cNvPr>
          <p:cNvSpPr>
            <a:spLocks xmlns:a="http://schemas.openxmlformats.org/drawingml/2006/main" noGrp="1"/>
          </p:cNvSpPr>
          <p:nvPr/>
        </p:nvSpPr>
        <p:spPr>
          <a:xfrm xmlns:a="http://schemas.openxmlformats.org/drawingml/2006/main" rot="0">
            <a:off x="10680235" y="4631589"/>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40</a:t>
            </a:r>
          </a:p>
        </p:txBody>
      </p:sp>
      <p:sp>
        <p:nvSpPr>
          <p:cNvPr id="28" name="Figure 7 label 27 line 1">
            <a:extLst xmlns:a="http://schemas.openxmlformats.org/drawingml/2006/main">
              <a:ext uri="{FF2B5EF4-FFF2-40B4-BE49-F238E27FC236}">
                <a16:creationId xmlns:a16="http://schemas.microsoft.com/office/drawing/2014/main" id="{26DA955C-968A-4423-8D2A-EC07D4AA9E13}"/>
              </a:ext>
            </a:extLst>
          </p:cNvPr>
          <p:cNvSpPr>
            <a:spLocks xmlns:a="http://schemas.openxmlformats.org/drawingml/2006/main" noGrp="1"/>
          </p:cNvSpPr>
          <p:nvPr/>
        </p:nvSpPr>
        <p:spPr>
          <a:xfrm xmlns:a="http://schemas.openxmlformats.org/drawingml/2006/main" rot="0">
            <a:off x="4892768" y="6788431"/>
            <a:ext cx="421084"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7.5</a:t>
            </a:r>
          </a:p>
        </p:txBody>
      </p:sp>
      <p:sp>
        <p:nvSpPr>
          <p:cNvPr id="29" name="Figure 7 label 28 line 1">
            <a:extLst xmlns:a="http://schemas.openxmlformats.org/drawingml/2006/main">
              <a:ext uri="{FF2B5EF4-FFF2-40B4-BE49-F238E27FC236}">
                <a16:creationId xmlns:a16="http://schemas.microsoft.com/office/drawing/2014/main" id="{8E938806-BE14-4786-898F-182F03486305}"/>
              </a:ext>
            </a:extLst>
          </p:cNvPr>
          <p:cNvSpPr>
            <a:spLocks xmlns:a="http://schemas.openxmlformats.org/drawingml/2006/main" noGrp="1"/>
          </p:cNvSpPr>
          <p:nvPr/>
        </p:nvSpPr>
        <p:spPr>
          <a:xfrm xmlns:a="http://schemas.openxmlformats.org/drawingml/2006/main" rot="0">
            <a:off x="6859062" y="5739156"/>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15</a:t>
            </a:r>
          </a:p>
        </p:txBody>
      </p:sp>
      <p:sp>
        <p:nvSpPr>
          <p:cNvPr id="30" name="Figure 7 label 29 line 1">
            <a:extLst xmlns:a="http://schemas.openxmlformats.org/drawingml/2006/main">
              <a:ext uri="{FF2B5EF4-FFF2-40B4-BE49-F238E27FC236}">
                <a16:creationId xmlns:a16="http://schemas.microsoft.com/office/drawing/2014/main" id="{8DC985E4-53BF-4278-8F05-263B99F65786}"/>
              </a:ext>
            </a:extLst>
          </p:cNvPr>
          <p:cNvSpPr>
            <a:spLocks xmlns:a="http://schemas.openxmlformats.org/drawingml/2006/main" noGrp="1"/>
          </p:cNvSpPr>
          <p:nvPr/>
        </p:nvSpPr>
        <p:spPr>
          <a:xfrm xmlns:a="http://schemas.openxmlformats.org/drawingml/2006/main" rot="0">
            <a:off x="10680235" y="3815487"/>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30</a:t>
            </a:r>
          </a:p>
        </p:txBody>
      </p:sp>
      <p:sp>
        <p:nvSpPr>
          <p:cNvPr id="31" name="Figure 7 label 30 line 1">
            <a:extLst xmlns:a="http://schemas.openxmlformats.org/drawingml/2006/main">
              <a:ext uri="{FF2B5EF4-FFF2-40B4-BE49-F238E27FC236}">
                <a16:creationId xmlns:a16="http://schemas.microsoft.com/office/drawing/2014/main" id="{A09F299B-BF29-4A7C-9CB4-779FBC5953C9}"/>
              </a:ext>
            </a:extLst>
          </p:cNvPr>
          <p:cNvSpPr>
            <a:spLocks xmlns:a="http://schemas.openxmlformats.org/drawingml/2006/main" noGrp="1"/>
          </p:cNvSpPr>
          <p:nvPr/>
        </p:nvSpPr>
        <p:spPr>
          <a:xfrm xmlns:a="http://schemas.openxmlformats.org/drawingml/2006/main" rot="0">
            <a:off x="4892768" y="6427014"/>
            <a:ext cx="248890"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5</a:t>
            </a:r>
          </a:p>
        </p:txBody>
      </p:sp>
      <p:sp>
        <p:nvSpPr>
          <p:cNvPr id="32" name="Figure 7 label 31 line 1">
            <a:extLst xmlns:a="http://schemas.openxmlformats.org/drawingml/2006/main">
              <a:ext uri="{FF2B5EF4-FFF2-40B4-BE49-F238E27FC236}">
                <a16:creationId xmlns:a16="http://schemas.microsoft.com/office/drawing/2014/main" id="{373EA740-17D9-4F51-BDDD-4314539043D8}"/>
              </a:ext>
            </a:extLst>
          </p:cNvPr>
          <p:cNvSpPr>
            <a:spLocks xmlns:a="http://schemas.openxmlformats.org/drawingml/2006/main" noGrp="1"/>
          </p:cNvSpPr>
          <p:nvPr/>
        </p:nvSpPr>
        <p:spPr>
          <a:xfrm xmlns:a="http://schemas.openxmlformats.org/drawingml/2006/main" rot="0">
            <a:off x="6859062" y="5447691"/>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10</a:t>
            </a:r>
          </a:p>
        </p:txBody>
      </p:sp>
      <p:sp>
        <p:nvSpPr>
          <p:cNvPr id="33" name="Figure 7 label 32 line 1">
            <a:extLst xmlns:a="http://schemas.openxmlformats.org/drawingml/2006/main">
              <a:ext uri="{FF2B5EF4-FFF2-40B4-BE49-F238E27FC236}">
                <a16:creationId xmlns:a16="http://schemas.microsoft.com/office/drawing/2014/main" id="{C1D56C51-7D4C-4842-A963-5D0D85683F41}"/>
              </a:ext>
            </a:extLst>
          </p:cNvPr>
          <p:cNvSpPr>
            <a:spLocks xmlns:a="http://schemas.openxmlformats.org/drawingml/2006/main" noGrp="1"/>
          </p:cNvSpPr>
          <p:nvPr/>
        </p:nvSpPr>
        <p:spPr>
          <a:xfrm xmlns:a="http://schemas.openxmlformats.org/drawingml/2006/main" rot="0">
            <a:off x="10680235" y="3232557"/>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20</a:t>
            </a:r>
          </a:p>
        </p:txBody>
      </p:sp>
      <p:sp>
        <p:nvSpPr>
          <p:cNvPr id="34" name="Figure 7 label 33 line 1">
            <a:extLst xmlns:a="http://schemas.openxmlformats.org/drawingml/2006/main">
              <a:ext uri="{FF2B5EF4-FFF2-40B4-BE49-F238E27FC236}">
                <a16:creationId xmlns:a16="http://schemas.microsoft.com/office/drawing/2014/main" id="{98167CD6-63FC-441B-9AC4-A8E8A989076C}"/>
              </a:ext>
            </a:extLst>
          </p:cNvPr>
          <p:cNvSpPr>
            <a:spLocks xmlns:a="http://schemas.openxmlformats.org/drawingml/2006/main" noGrp="1"/>
          </p:cNvSpPr>
          <p:nvPr/>
        </p:nvSpPr>
        <p:spPr>
          <a:xfrm xmlns:a="http://schemas.openxmlformats.org/drawingml/2006/main" rot="0">
            <a:off x="2967890" y="6250381"/>
            <a:ext cx="503634"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50</a:t>
            </a:r>
          </a:p>
        </p:txBody>
      </p:sp>
      <p:sp>
        <p:nvSpPr>
          <p:cNvPr id="35" name="Figure 7 label 34 line 1">
            <a:extLst xmlns:a="http://schemas.openxmlformats.org/drawingml/2006/main">
              <a:ext uri="{FF2B5EF4-FFF2-40B4-BE49-F238E27FC236}">
                <a16:creationId xmlns:a16="http://schemas.microsoft.com/office/drawing/2014/main" id="{BCFAEECD-1AA9-412D-9AA9-5963A2A368BC}"/>
              </a:ext>
            </a:extLst>
          </p:cNvPr>
          <p:cNvSpPr>
            <a:spLocks xmlns:a="http://schemas.openxmlformats.org/drawingml/2006/main" noGrp="1"/>
          </p:cNvSpPr>
          <p:nvPr/>
        </p:nvSpPr>
        <p:spPr>
          <a:xfrm xmlns:a="http://schemas.openxmlformats.org/drawingml/2006/main" rot="0">
            <a:off x="6709589" y="5084522"/>
            <a:ext cx="66258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100</a:t>
            </a:r>
          </a:p>
        </p:txBody>
      </p:sp>
      <p:sp>
        <p:nvSpPr>
          <p:cNvPr id="36" name="Figure 7 label 35 line 1">
            <a:extLst xmlns:a="http://schemas.openxmlformats.org/drawingml/2006/main">
              <a:ext uri="{FF2B5EF4-FFF2-40B4-BE49-F238E27FC236}">
                <a16:creationId xmlns:a16="http://schemas.microsoft.com/office/drawing/2014/main" id="{F2E0BF69-1362-496B-801A-912A90787CF6}"/>
              </a:ext>
            </a:extLst>
          </p:cNvPr>
          <p:cNvSpPr>
            <a:spLocks xmlns:a="http://schemas.openxmlformats.org/drawingml/2006/main" noGrp="1"/>
          </p:cNvSpPr>
          <p:nvPr/>
        </p:nvSpPr>
        <p:spPr>
          <a:xfrm xmlns:a="http://schemas.openxmlformats.org/drawingml/2006/main" rot="0">
            <a:off x="10530762" y="2752801"/>
            <a:ext cx="66258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200</a:t>
            </a:r>
          </a:p>
        </p:txBody>
      </p:sp>
      <p:sp>
        <p:nvSpPr>
          <p:cNvPr id="37" name="Figure 7 label 36 line 1">
            <a:extLst xmlns:a="http://schemas.openxmlformats.org/drawingml/2006/main">
              <a:ext uri="{FF2B5EF4-FFF2-40B4-BE49-F238E27FC236}">
                <a16:creationId xmlns:a16="http://schemas.microsoft.com/office/drawing/2014/main" id="{A32A8D94-BA5E-4F52-9AC5-FB383587B363}"/>
              </a:ext>
            </a:extLst>
          </p:cNvPr>
          <p:cNvSpPr>
            <a:spLocks xmlns:a="http://schemas.openxmlformats.org/drawingml/2006/main" noGrp="1"/>
          </p:cNvSpPr>
          <p:nvPr/>
        </p:nvSpPr>
        <p:spPr>
          <a:xfrm xmlns:a="http://schemas.openxmlformats.org/drawingml/2006/main" rot="0">
            <a:off x="991870" y="421675"/>
            <a:ext cx="7155557"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07  Illustrative AI-driven investment scenarios</a:t>
            </a:r>
          </a:p>
        </p:txBody>
      </p:sp>
      <p:sp>
        <p:nvSpPr>
          <p:cNvPr id="38" name="Figure 7 label 37 line 1">
            <a:extLst xmlns:a="http://schemas.openxmlformats.org/drawingml/2006/main">
              <a:ext uri="{FF2B5EF4-FFF2-40B4-BE49-F238E27FC236}">
                <a16:creationId xmlns:a16="http://schemas.microsoft.com/office/drawing/2014/main" id="{9BCBA1F2-4ADE-4A1C-9DCF-83A8D84E075B}"/>
              </a:ext>
            </a:extLst>
          </p:cNvPr>
          <p:cNvSpPr>
            <a:spLocks xmlns:a="http://schemas.openxmlformats.org/drawingml/2006/main" noGrp="1"/>
          </p:cNvSpPr>
          <p:nvPr/>
        </p:nvSpPr>
        <p:spPr>
          <a:xfrm xmlns:a="http://schemas.openxmlformats.org/drawingml/2006/main" rot="0">
            <a:off x="15787788" y="661601"/>
            <a:ext cx="885627"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SCENARIO</a:t>
            </a:r>
          </a:p>
        </p:txBody>
      </p:sp>
      <p:sp>
        <p:nvSpPr>
          <p:cNvPr id="39" name="Figure 7 label 38 line 1">
            <a:extLst xmlns:a="http://schemas.openxmlformats.org/drawingml/2006/main">
              <a:ext uri="{FF2B5EF4-FFF2-40B4-BE49-F238E27FC236}">
                <a16:creationId xmlns:a16="http://schemas.microsoft.com/office/drawing/2014/main" id="{4EC0B74F-5D56-4323-B026-F3F7F2F03E0F}"/>
              </a:ext>
            </a:extLst>
          </p:cNvPr>
          <p:cNvSpPr>
            <a:spLocks xmlns:a="http://schemas.openxmlformats.org/drawingml/2006/main" noGrp="1"/>
          </p:cNvSpPr>
          <p:nvPr/>
        </p:nvSpPr>
        <p:spPr>
          <a:xfrm xmlns:a="http://schemas.openxmlformats.org/drawingml/2006/main" rot="0">
            <a:off x="998220" y="1255678"/>
            <a:ext cx="842575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US$50bn / 100bn / 200bn are illustrative cumulative investment pools; no time horizon is specified.</a:t>
            </a:r>
          </a:p>
        </p:txBody>
      </p:sp>
      <p:sp>
        <p:nvSpPr>
          <p:cNvPr id="40" name="Figure 7 label 39 line 1">
            <a:extLst xmlns:a="http://schemas.openxmlformats.org/drawingml/2006/main">
              <a:ext uri="{FF2B5EF4-FFF2-40B4-BE49-F238E27FC236}">
                <a16:creationId xmlns:a16="http://schemas.microsoft.com/office/drawing/2014/main" id="{602F4DC1-49F9-45FF-9F5C-913922F588B0}"/>
              </a:ext>
            </a:extLst>
          </p:cNvPr>
          <p:cNvSpPr>
            <a:spLocks xmlns:a="http://schemas.openxmlformats.org/drawingml/2006/main" noGrp="1"/>
          </p:cNvSpPr>
          <p:nvPr/>
        </p:nvSpPr>
        <p:spPr>
          <a:xfrm xmlns:a="http://schemas.openxmlformats.org/drawingml/2006/main" rot="0">
            <a:off x="999173" y="9256035"/>
            <a:ext cx="7817198"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Allocations: 30% / 25% / 20% / 15% / 10%. Research and manufacturing buckets are mutually exclusive.</a:t>
            </a:r>
          </a:p>
        </p:txBody>
      </p:sp>
      <p:sp>
        <p:nvSpPr>
          <p:cNvPr id="41" name="Figure 7 label 40 line 1">
            <a:extLst xmlns:a="http://schemas.openxmlformats.org/drawingml/2006/main">
              <a:ext uri="{FF2B5EF4-FFF2-40B4-BE49-F238E27FC236}">
                <a16:creationId xmlns:a16="http://schemas.microsoft.com/office/drawing/2014/main" id="{01C1C55C-4D11-4D34-90B8-77DA7666F35B}"/>
              </a:ext>
            </a:extLst>
          </p:cNvPr>
          <p:cNvSpPr>
            <a:spLocks xmlns:a="http://schemas.openxmlformats.org/drawingml/2006/main" noGrp="1"/>
          </p:cNvSpPr>
          <p:nvPr/>
        </p:nvSpPr>
        <p:spPr>
          <a:xfrm xmlns:a="http://schemas.openxmlformats.org/drawingml/2006/main" rot="0">
            <a:off x="1000316" y="9675546"/>
            <a:ext cx="6841212"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scenario and allocation assumptions. These are not realized funding, orders or annual TAMs.</a:t>
            </a:r>
          </a:p>
        </p:txBody>
      </p:sp>
      <p:sp>
        <p:nvSpPr>
          <p:cNvPr id="42" name="Figure 7 label 41 line 1">
            <a:extLst xmlns:a="http://schemas.openxmlformats.org/drawingml/2006/main">
              <a:ext uri="{FF2B5EF4-FFF2-40B4-BE49-F238E27FC236}">
                <a16:creationId xmlns:a16="http://schemas.microsoft.com/office/drawing/2014/main" id="{120D11F1-BF3D-42F0-9A12-E36D0B57AD79}"/>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43" name="Figure 7 label 42 line 1">
            <a:extLst xmlns:a="http://schemas.openxmlformats.org/drawingml/2006/main">
              <a:ext uri="{FF2B5EF4-FFF2-40B4-BE49-F238E27FC236}">
                <a16:creationId xmlns:a16="http://schemas.microsoft.com/office/drawing/2014/main" id="{A843CE51-9C53-4284-9203-BD9A9E0F51D5}"/>
              </a:ext>
            </a:extLst>
          </p:cNvPr>
          <p:cNvSpPr>
            <a:spLocks xmlns:a="http://schemas.openxmlformats.org/drawingml/2006/main" noGrp="1"/>
          </p:cNvSpPr>
          <p:nvPr/>
        </p:nvSpPr>
        <p:spPr>
          <a:xfrm xmlns:a="http://schemas.openxmlformats.org/drawingml/2006/main" rot="0">
            <a:off x="13597382" y="5630671"/>
            <a:ext cx="3502620"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Build phase → installed equipment</a:t>
            </a:r>
          </a:p>
        </p:txBody>
      </p:sp>
      <p:sp>
        <p:nvSpPr>
          <p:cNvPr id="44" name="Figure 7 label 43 line 1">
            <a:extLst xmlns:a="http://schemas.openxmlformats.org/drawingml/2006/main">
              <a:ext uri="{FF2B5EF4-FFF2-40B4-BE49-F238E27FC236}">
                <a16:creationId xmlns:a16="http://schemas.microsoft.com/office/drawing/2014/main" id="{9E8BCA61-096B-4C6C-ADCE-CBE1F460D4C2}"/>
              </a:ext>
            </a:extLst>
          </p:cNvPr>
          <p:cNvSpPr>
            <a:spLocks xmlns:a="http://schemas.openxmlformats.org/drawingml/2006/main" noGrp="1"/>
          </p:cNvSpPr>
          <p:nvPr/>
        </p:nvSpPr>
        <p:spPr>
          <a:xfrm xmlns:a="http://schemas.openxmlformats.org/drawingml/2006/main" rot="0">
            <a:off x="13598017" y="6356521"/>
            <a:ext cx="2964706"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Operate → recurring purchases</a:t>
            </a:r>
          </a:p>
        </p:txBody>
      </p:sp>
      <p:sp>
        <p:nvSpPr>
          <p:cNvPr id="45" name="Figure 7 label 44 line 1">
            <a:extLst xmlns:a="http://schemas.openxmlformats.org/drawingml/2006/main">
              <a:ext uri="{FF2B5EF4-FFF2-40B4-BE49-F238E27FC236}">
                <a16:creationId xmlns:a16="http://schemas.microsoft.com/office/drawing/2014/main" id="{13100FB8-A912-4C29-A8CA-AD001F22DFF1}"/>
              </a:ext>
            </a:extLst>
          </p:cNvPr>
          <p:cNvSpPr>
            <a:spLocks xmlns:a="http://schemas.openxmlformats.org/drawingml/2006/main" noGrp="1"/>
          </p:cNvSpPr>
          <p:nvPr/>
        </p:nvSpPr>
        <p:spPr>
          <a:xfrm xmlns:a="http://schemas.openxmlformats.org/drawingml/2006/main" rot="0">
            <a:off x="13599414" y="7029276"/>
            <a:ext cx="267545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Manufacturing needs drug output.</a:t>
            </a:r>
          </a:p>
        </p:txBody>
      </p:sp>
      <p:sp>
        <p:nvSpPr>
          <p:cNvPr id="46" name="Figure 7 label 45 line 1">
            <a:extLst xmlns:a="http://schemas.openxmlformats.org/drawingml/2006/main">
              <a:ext uri="{FF2B5EF4-FFF2-40B4-BE49-F238E27FC236}">
                <a16:creationId xmlns:a16="http://schemas.microsoft.com/office/drawing/2014/main" id="{933A51C7-530C-4C2D-BC55-20140FD1525E}"/>
              </a:ext>
            </a:extLst>
          </p:cNvPr>
          <p:cNvSpPr>
            <a:spLocks xmlns:a="http://schemas.openxmlformats.org/drawingml/2006/main" noGrp="1"/>
          </p:cNvSpPr>
          <p:nvPr/>
        </p:nvSpPr>
        <p:spPr>
          <a:xfrm xmlns:a="http://schemas.openxmlformats.org/drawingml/2006/main" rot="0">
            <a:off x="13631132" y="2528184"/>
            <a:ext cx="2610148"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Research equipment / automation</a:t>
            </a:r>
          </a:p>
        </p:txBody>
      </p:sp>
      <p:sp>
        <p:nvSpPr>
          <p:cNvPr id="47" name="Figure 7 label 46 line 1">
            <a:extLst xmlns:a="http://schemas.openxmlformats.org/drawingml/2006/main">
              <a:ext uri="{FF2B5EF4-FFF2-40B4-BE49-F238E27FC236}">
                <a16:creationId xmlns:a16="http://schemas.microsoft.com/office/drawing/2014/main" id="{074CDB6E-A1B8-4255-9572-AA3B41064B73}"/>
              </a:ext>
            </a:extLst>
          </p:cNvPr>
          <p:cNvSpPr>
            <a:spLocks xmlns:a="http://schemas.openxmlformats.org/drawingml/2006/main" noGrp="1"/>
          </p:cNvSpPr>
          <p:nvPr/>
        </p:nvSpPr>
        <p:spPr>
          <a:xfrm xmlns:a="http://schemas.openxmlformats.org/drawingml/2006/main" rot="0">
            <a:off x="13631132" y="2864060"/>
            <a:ext cx="151685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Research reagents</a:t>
            </a:r>
          </a:p>
        </p:txBody>
      </p:sp>
      <p:sp>
        <p:nvSpPr>
          <p:cNvPr id="48" name="Figure 7 label 47 line 1">
            <a:extLst xmlns:a="http://schemas.openxmlformats.org/drawingml/2006/main">
              <a:ext uri="{FF2B5EF4-FFF2-40B4-BE49-F238E27FC236}">
                <a16:creationId xmlns:a16="http://schemas.microsoft.com/office/drawing/2014/main" id="{41720D1B-0A7C-4BAA-BA27-1E92AD4DF987}"/>
              </a:ext>
            </a:extLst>
          </p:cNvPr>
          <p:cNvSpPr>
            <a:spLocks xmlns:a="http://schemas.openxmlformats.org/drawingml/2006/main" noGrp="1"/>
          </p:cNvSpPr>
          <p:nvPr/>
        </p:nvSpPr>
        <p:spPr>
          <a:xfrm xmlns:a="http://schemas.openxmlformats.org/drawingml/2006/main" rot="0">
            <a:off x="13631132" y="3201732"/>
            <a:ext cx="185023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Research consumables</a:t>
            </a:r>
          </a:p>
        </p:txBody>
      </p:sp>
      <p:sp>
        <p:nvSpPr>
          <p:cNvPr id="49" name="Figure 7 label 48 line 1">
            <a:extLst xmlns:a="http://schemas.openxmlformats.org/drawingml/2006/main">
              <a:ext uri="{FF2B5EF4-FFF2-40B4-BE49-F238E27FC236}">
                <a16:creationId xmlns:a16="http://schemas.microsoft.com/office/drawing/2014/main" id="{C5EB3874-4ACD-45ED-97DC-E634D40CF195}"/>
              </a:ext>
            </a:extLst>
          </p:cNvPr>
          <p:cNvSpPr>
            <a:spLocks xmlns:a="http://schemas.openxmlformats.org/drawingml/2006/main" noGrp="1"/>
          </p:cNvSpPr>
          <p:nvPr/>
        </p:nvSpPr>
        <p:spPr>
          <a:xfrm xmlns:a="http://schemas.openxmlformats.org/drawingml/2006/main" rot="0">
            <a:off x="13631132" y="3539639"/>
            <a:ext cx="241548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Manufacturing bioprocess tools</a:t>
            </a:r>
          </a:p>
        </p:txBody>
      </p:sp>
      <p:sp>
        <p:nvSpPr>
          <p:cNvPr id="50" name="Figure 7 label 49 line 1">
            <a:extLst xmlns:a="http://schemas.openxmlformats.org/drawingml/2006/main">
              <a:ext uri="{FF2B5EF4-FFF2-40B4-BE49-F238E27FC236}">
                <a16:creationId xmlns:a16="http://schemas.microsoft.com/office/drawing/2014/main" id="{7B2E98F0-A7BC-4579-94A3-A566E8A4832F}"/>
              </a:ext>
            </a:extLst>
          </p:cNvPr>
          <p:cNvSpPr>
            <a:spLocks xmlns:a="http://schemas.openxmlformats.org/drawingml/2006/main" noGrp="1"/>
          </p:cNvSpPr>
          <p:nvPr/>
        </p:nvSpPr>
        <p:spPr>
          <a:xfrm xmlns:a="http://schemas.openxmlformats.org/drawingml/2006/main" rot="0">
            <a:off x="13631132" y="3877311"/>
            <a:ext cx="126637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Services / other</a:t>
            </a:r>
          </a:p>
        </p:txBody>
      </p:sp>
    </p:spTree>
    <p:extLst>
      <p:ext uri="{BB962C8B-B14F-4D97-AF65-F5344CB8AC3E}">
        <p14:creationId xmlns:p14="http://schemas.microsoft.com/office/powerpoint/2010/main" val="18678305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4" name="">
            <a:extLst xmlns:a="http://schemas.openxmlformats.org/drawingml/2006/main">
              <a:ext uri="{FF2B5EF4-FFF2-40B4-BE49-F238E27FC236}">
                <a16:creationId xmlns:a16="http://schemas.microsoft.com/office/drawing/2014/main" id="{888E3167-ADBE-4792-A797-3857CFCB7D2E}"/>
              </a:ext>
            </a:extLst>
          </p:cNvPr>
          <p:cNvPicPr>
            <a:picLocks xmlns:a="http://schemas.openxmlformats.org/drawingml/2006/main" noChangeAspect="1"/>
          </p:cNvPicPr>
          <p:nvPr/>
        </p:nvPicPr>
        <p:blipFill>
          <a:blip xmlns:r="http://schemas.openxmlformats.org/officeDocument/2006/relationships" xmlns:a="http://schemas.openxmlformats.org/drawingml/2006/main" r:embed="Rdd6e437ddafe47f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8 label 1 line 1">
            <a:extLst xmlns:a="http://schemas.openxmlformats.org/drawingml/2006/main">
              <a:ext uri="{FF2B5EF4-FFF2-40B4-BE49-F238E27FC236}">
                <a16:creationId xmlns:a16="http://schemas.microsoft.com/office/drawing/2014/main" id="{67FFF197-0DCA-4621-91C7-5D6E8E524691}"/>
              </a:ext>
            </a:extLst>
          </p:cNvPr>
          <p:cNvSpPr>
            <a:spLocks xmlns:a="http://schemas.openxmlformats.org/drawingml/2006/main" noGrp="1"/>
          </p:cNvSpPr>
          <p:nvPr/>
        </p:nvSpPr>
        <p:spPr>
          <a:xfrm xmlns:a="http://schemas.openxmlformats.org/drawingml/2006/main" rot="0">
            <a:off x="26162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8 label 2 line 1">
            <a:extLst xmlns:a="http://schemas.openxmlformats.org/drawingml/2006/main">
              <a:ext uri="{FF2B5EF4-FFF2-40B4-BE49-F238E27FC236}">
                <a16:creationId xmlns:a16="http://schemas.microsoft.com/office/drawing/2014/main" id="{63ECA358-C4BA-421B-BA28-D8D61CF34DE4}"/>
              </a:ext>
            </a:extLst>
          </p:cNvPr>
          <p:cNvSpPr>
            <a:spLocks xmlns:a="http://schemas.openxmlformats.org/drawingml/2006/main" noGrp="1"/>
          </p:cNvSpPr>
          <p:nvPr/>
        </p:nvSpPr>
        <p:spPr>
          <a:xfrm xmlns:a="http://schemas.openxmlformats.org/drawingml/2006/main" rot="0">
            <a:off x="801176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8 label 3 line 1">
            <a:extLst xmlns:a="http://schemas.openxmlformats.org/drawingml/2006/main">
              <a:ext uri="{FF2B5EF4-FFF2-40B4-BE49-F238E27FC236}">
                <a16:creationId xmlns:a16="http://schemas.microsoft.com/office/drawing/2014/main" id="{19EDC4E6-3CC7-4825-841C-68CFDAB6306D}"/>
              </a:ext>
            </a:extLst>
          </p:cNvPr>
          <p:cNvSpPr>
            <a:spLocks xmlns:a="http://schemas.openxmlformats.org/drawingml/2006/main" noGrp="1"/>
          </p:cNvSpPr>
          <p:nvPr/>
        </p:nvSpPr>
        <p:spPr>
          <a:xfrm xmlns:a="http://schemas.openxmlformats.org/drawingml/2006/main" rot="0">
            <a:off x="1371418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8 label 4 line 1">
            <a:extLst xmlns:a="http://schemas.openxmlformats.org/drawingml/2006/main">
              <a:ext uri="{FF2B5EF4-FFF2-40B4-BE49-F238E27FC236}">
                <a16:creationId xmlns:a16="http://schemas.microsoft.com/office/drawing/2014/main" id="{47DE867B-8AE7-4854-90C5-78C02CF76471}"/>
              </a:ext>
            </a:extLst>
          </p:cNvPr>
          <p:cNvSpPr>
            <a:spLocks xmlns:a="http://schemas.openxmlformats.org/drawingml/2006/main" noGrp="1"/>
          </p:cNvSpPr>
          <p:nvPr/>
        </p:nvSpPr>
        <p:spPr>
          <a:xfrm xmlns:a="http://schemas.openxmlformats.org/drawingml/2006/main" rot="0">
            <a:off x="6651992" y="8293814"/>
            <a:ext cx="352097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Expansion difficulty / qualification time →</a:t>
            </a:r>
          </a:p>
        </p:txBody>
      </p:sp>
      <p:sp>
        <p:nvSpPr>
          <p:cNvPr id="6" name="Figure 8 label 5 line 1">
            <a:extLst xmlns:a="http://schemas.openxmlformats.org/drawingml/2006/main">
              <a:ext uri="{FF2B5EF4-FFF2-40B4-BE49-F238E27FC236}">
                <a16:creationId xmlns:a16="http://schemas.microsoft.com/office/drawing/2014/main" id="{766BB48B-8C9E-4B1D-B133-35BEDF6E561C}"/>
              </a:ext>
            </a:extLst>
          </p:cNvPr>
          <p:cNvSpPr>
            <a:spLocks xmlns:a="http://schemas.openxmlformats.org/drawingml/2006/main" noGrp="1"/>
          </p:cNvSpPr>
          <p:nvPr/>
        </p:nvSpPr>
        <p:spPr>
          <a:xfrm xmlns:a="http://schemas.openxmlformats.org/drawingml/2006/main" rot="0">
            <a:off x="83086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8 label 6 line 1">
            <a:extLst xmlns:a="http://schemas.openxmlformats.org/drawingml/2006/main">
              <a:ext uri="{FF2B5EF4-FFF2-40B4-BE49-F238E27FC236}">
                <a16:creationId xmlns:a16="http://schemas.microsoft.com/office/drawing/2014/main" id="{51224D6C-F7BE-4297-BB49-A0774670DDCD}"/>
              </a:ext>
            </a:extLst>
          </p:cNvPr>
          <p:cNvSpPr>
            <a:spLocks xmlns:a="http://schemas.openxmlformats.org/drawingml/2006/main" noGrp="1"/>
          </p:cNvSpPr>
          <p:nvPr/>
        </p:nvSpPr>
        <p:spPr>
          <a:xfrm xmlns:a="http://schemas.openxmlformats.org/drawingml/2006/main" rot="0">
            <a:off x="50285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8 label 7 line 1">
            <a:extLst xmlns:a="http://schemas.openxmlformats.org/drawingml/2006/main">
              <a:ext uri="{FF2B5EF4-FFF2-40B4-BE49-F238E27FC236}">
                <a16:creationId xmlns:a16="http://schemas.microsoft.com/office/drawing/2014/main" id="{810D8F9E-882B-4393-A7BC-A0AE99BC270E}"/>
              </a:ext>
            </a:extLst>
          </p:cNvPr>
          <p:cNvSpPr>
            <a:spLocks xmlns:a="http://schemas.openxmlformats.org/drawingml/2006/main" noGrp="1"/>
          </p:cNvSpPr>
          <p:nvPr/>
        </p:nvSpPr>
        <p:spPr>
          <a:xfrm xmlns:a="http://schemas.openxmlformats.org/drawingml/2006/main" rot="0">
            <a:off x="78860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8 label 8 line 1">
            <a:extLst xmlns:a="http://schemas.openxmlformats.org/drawingml/2006/main">
              <a:ext uri="{FF2B5EF4-FFF2-40B4-BE49-F238E27FC236}">
                <a16:creationId xmlns:a16="http://schemas.microsoft.com/office/drawing/2014/main" id="{2C454BD9-F353-49B7-973A-DCBC77806207}"/>
              </a:ext>
            </a:extLst>
          </p:cNvPr>
          <p:cNvSpPr>
            <a:spLocks xmlns:a="http://schemas.openxmlformats.org/drawingml/2006/main" noGrp="1"/>
          </p:cNvSpPr>
          <p:nvPr/>
        </p:nvSpPr>
        <p:spPr>
          <a:xfrm xmlns:a="http://schemas.openxmlformats.org/drawingml/2006/main" rot="16200000">
            <a:off x="-1498674" y="4918710"/>
            <a:ext cx="37756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Potential benefit from demand expansion →</a:t>
            </a:r>
          </a:p>
        </p:txBody>
      </p:sp>
      <p:sp>
        <p:nvSpPr>
          <p:cNvPr id="10" name="Figure 8 label 9 line 1">
            <a:extLst xmlns:a="http://schemas.openxmlformats.org/drawingml/2006/main">
              <a:ext uri="{FF2B5EF4-FFF2-40B4-BE49-F238E27FC236}">
                <a16:creationId xmlns:a16="http://schemas.microsoft.com/office/drawing/2014/main" id="{93F888CD-85CC-428C-B536-7FCBB176834C}"/>
              </a:ext>
            </a:extLst>
          </p:cNvPr>
          <p:cNvSpPr>
            <a:spLocks xmlns:a="http://schemas.openxmlformats.org/drawingml/2006/main" noGrp="1"/>
          </p:cNvSpPr>
          <p:nvPr/>
        </p:nvSpPr>
        <p:spPr>
          <a:xfrm xmlns:a="http://schemas.openxmlformats.org/drawingml/2006/main" rot="0">
            <a:off x="2012455" y="2407644"/>
            <a:ext cx="3477240"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Verify demand and supply constraints together</a:t>
            </a:r>
          </a:p>
        </p:txBody>
      </p:sp>
      <p:sp>
        <p:nvSpPr>
          <p:cNvPr id="11" name="Figure 8 label 10 line 1">
            <a:extLst xmlns:a="http://schemas.openxmlformats.org/drawingml/2006/main">
              <a:ext uri="{FF2B5EF4-FFF2-40B4-BE49-F238E27FC236}">
                <a16:creationId xmlns:a16="http://schemas.microsoft.com/office/drawing/2014/main" id="{2C72ABD3-E91C-4355-9B16-BEE3E5A22126}"/>
              </a:ext>
            </a:extLst>
          </p:cNvPr>
          <p:cNvSpPr>
            <a:spLocks xmlns:a="http://schemas.openxmlformats.org/drawingml/2006/main" noGrp="1"/>
          </p:cNvSpPr>
          <p:nvPr/>
        </p:nvSpPr>
        <p:spPr>
          <a:xfrm xmlns:a="http://schemas.openxmlformats.org/drawingml/2006/main" rot="0">
            <a:off x="11185779" y="2671608"/>
            <a:ext cx="1221462"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Automation tips</a:t>
            </a:r>
          </a:p>
        </p:txBody>
      </p:sp>
      <p:sp>
        <p:nvSpPr>
          <p:cNvPr id="12" name="Figure 8 label 11 line 1">
            <a:extLst xmlns:a="http://schemas.openxmlformats.org/drawingml/2006/main">
              <a:ext uri="{FF2B5EF4-FFF2-40B4-BE49-F238E27FC236}">
                <a16:creationId xmlns:a16="http://schemas.microsoft.com/office/drawing/2014/main" id="{12AB11AF-971B-4729-BDC2-0ADE5495B45F}"/>
              </a:ext>
            </a:extLst>
          </p:cNvPr>
          <p:cNvSpPr>
            <a:spLocks xmlns:a="http://schemas.openxmlformats.org/drawingml/2006/main" noGrp="1"/>
          </p:cNvSpPr>
          <p:nvPr/>
        </p:nvSpPr>
        <p:spPr>
          <a:xfrm xmlns:a="http://schemas.openxmlformats.org/drawingml/2006/main" rot="0">
            <a:off x="8128026" y="3359665"/>
            <a:ext cx="123947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Specialty plates</a:t>
            </a:r>
          </a:p>
        </p:txBody>
      </p:sp>
      <p:sp>
        <p:nvSpPr>
          <p:cNvPr id="13" name="Figure 8 label 12 line 1">
            <a:extLst xmlns:a="http://schemas.openxmlformats.org/drawingml/2006/main">
              <a:ext uri="{FF2B5EF4-FFF2-40B4-BE49-F238E27FC236}">
                <a16:creationId xmlns:a16="http://schemas.microsoft.com/office/drawing/2014/main" id="{CD79FD8F-339F-4F38-8DCF-06A46E8698D0}"/>
              </a:ext>
            </a:extLst>
          </p:cNvPr>
          <p:cNvSpPr>
            <a:spLocks xmlns:a="http://schemas.openxmlformats.org/drawingml/2006/main" noGrp="1"/>
          </p:cNvSpPr>
          <p:nvPr/>
        </p:nvSpPr>
        <p:spPr>
          <a:xfrm xmlns:a="http://schemas.openxmlformats.org/drawingml/2006/main" rot="0">
            <a:off x="11741734" y="3965928"/>
            <a:ext cx="159025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Custom components</a:t>
            </a:r>
          </a:p>
        </p:txBody>
      </p:sp>
      <p:sp>
        <p:nvSpPr>
          <p:cNvPr id="14" name="Figure 8 label 13 line 1">
            <a:extLst xmlns:a="http://schemas.openxmlformats.org/drawingml/2006/main">
              <a:ext uri="{FF2B5EF4-FFF2-40B4-BE49-F238E27FC236}">
                <a16:creationId xmlns:a16="http://schemas.microsoft.com/office/drawing/2014/main" id="{D268A785-222D-4B84-A4C5-07E35A0EA4AC}"/>
              </a:ext>
            </a:extLst>
          </p:cNvPr>
          <p:cNvSpPr>
            <a:spLocks xmlns:a="http://schemas.openxmlformats.org/drawingml/2006/main" noGrp="1"/>
          </p:cNvSpPr>
          <p:nvPr/>
        </p:nvSpPr>
        <p:spPr>
          <a:xfrm xmlns:a="http://schemas.openxmlformats.org/drawingml/2006/main" rot="0">
            <a:off x="9517914" y="4515295"/>
            <a:ext cx="133859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Functional beads</a:t>
            </a:r>
          </a:p>
        </p:txBody>
      </p:sp>
      <p:sp>
        <p:nvSpPr>
          <p:cNvPr id="15" name="Figure 8 label 14 line 1">
            <a:extLst xmlns:a="http://schemas.openxmlformats.org/drawingml/2006/main">
              <a:ext uri="{FF2B5EF4-FFF2-40B4-BE49-F238E27FC236}">
                <a16:creationId xmlns:a16="http://schemas.microsoft.com/office/drawing/2014/main" id="{6BD1CD05-D7F0-4FB8-B748-9E74F5B857A4}"/>
              </a:ext>
            </a:extLst>
          </p:cNvPr>
          <p:cNvSpPr>
            <a:spLocks xmlns:a="http://schemas.openxmlformats.org/drawingml/2006/main" noGrp="1"/>
          </p:cNvSpPr>
          <p:nvPr/>
        </p:nvSpPr>
        <p:spPr>
          <a:xfrm xmlns:a="http://schemas.openxmlformats.org/drawingml/2006/main" rot="0">
            <a:off x="7850048" y="2670735"/>
            <a:ext cx="181543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High-throughput assays</a:t>
            </a:r>
          </a:p>
        </p:txBody>
      </p:sp>
      <p:sp>
        <p:nvSpPr>
          <p:cNvPr id="16" name="Figure 8 label 15 line 1">
            <a:extLst xmlns:a="http://schemas.openxmlformats.org/drawingml/2006/main">
              <a:ext uri="{FF2B5EF4-FFF2-40B4-BE49-F238E27FC236}">
                <a16:creationId xmlns:a16="http://schemas.microsoft.com/office/drawing/2014/main" id="{7EE7B239-284B-43EC-B947-77E33B760121}"/>
              </a:ext>
            </a:extLst>
          </p:cNvPr>
          <p:cNvSpPr>
            <a:spLocks xmlns:a="http://schemas.openxmlformats.org/drawingml/2006/main" noGrp="1"/>
          </p:cNvSpPr>
          <p:nvPr/>
        </p:nvSpPr>
        <p:spPr>
          <a:xfrm xmlns:a="http://schemas.openxmlformats.org/drawingml/2006/main" rot="0">
            <a:off x="6251677" y="4157679"/>
            <a:ext cx="186946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Specialty building blocks</a:t>
            </a:r>
          </a:p>
        </p:txBody>
      </p:sp>
      <p:sp>
        <p:nvSpPr>
          <p:cNvPr id="17" name="Figure 8 label 16 line 1">
            <a:extLst xmlns:a="http://schemas.openxmlformats.org/drawingml/2006/main">
              <a:ext uri="{FF2B5EF4-FFF2-40B4-BE49-F238E27FC236}">
                <a16:creationId xmlns:a16="http://schemas.microsoft.com/office/drawing/2014/main" id="{18332D25-D3F8-4CF1-9170-D6AD095BD04F}"/>
              </a:ext>
            </a:extLst>
          </p:cNvPr>
          <p:cNvSpPr>
            <a:spLocks xmlns:a="http://schemas.openxmlformats.org/drawingml/2006/main" noGrp="1"/>
          </p:cNvSpPr>
          <p:nvPr/>
        </p:nvSpPr>
        <p:spPr>
          <a:xfrm xmlns:a="http://schemas.openxmlformats.org/drawingml/2006/main" rot="0">
            <a:off x="3124429" y="6193877"/>
            <a:ext cx="128426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Generic labware</a:t>
            </a:r>
          </a:p>
        </p:txBody>
      </p:sp>
      <p:sp>
        <p:nvSpPr>
          <p:cNvPr id="18" name="Figure 8 label 17 line 1">
            <a:extLst xmlns:a="http://schemas.openxmlformats.org/drawingml/2006/main">
              <a:ext uri="{FF2B5EF4-FFF2-40B4-BE49-F238E27FC236}">
                <a16:creationId xmlns:a16="http://schemas.microsoft.com/office/drawing/2014/main" id="{2F40C7A9-EE81-42E9-A614-27958954202F}"/>
              </a:ext>
            </a:extLst>
          </p:cNvPr>
          <p:cNvSpPr>
            <a:spLocks xmlns:a="http://schemas.openxmlformats.org/drawingml/2006/main" noGrp="1"/>
          </p:cNvSpPr>
          <p:nvPr/>
        </p:nvSpPr>
        <p:spPr>
          <a:xfrm xmlns:a="http://schemas.openxmlformats.org/drawingml/2006/main" rot="0">
            <a:off x="12575667" y="5203353"/>
            <a:ext cx="163580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Sequencing reagents</a:t>
            </a:r>
          </a:p>
        </p:txBody>
      </p:sp>
      <p:sp>
        <p:nvSpPr>
          <p:cNvPr id="19" name="Figure 8 label 18 line 1">
            <a:extLst xmlns:a="http://schemas.openxmlformats.org/drawingml/2006/main">
              <a:ext uri="{FF2B5EF4-FFF2-40B4-BE49-F238E27FC236}">
                <a16:creationId xmlns:a16="http://schemas.microsoft.com/office/drawing/2014/main" id="{2EFF51AF-34B5-4D8B-898E-F75EDF784C06}"/>
              </a:ext>
            </a:extLst>
          </p:cNvPr>
          <p:cNvSpPr>
            <a:spLocks xmlns:a="http://schemas.openxmlformats.org/drawingml/2006/main" noGrp="1"/>
          </p:cNvSpPr>
          <p:nvPr/>
        </p:nvSpPr>
        <p:spPr>
          <a:xfrm xmlns:a="http://schemas.openxmlformats.org/drawingml/2006/main" rot="0">
            <a:off x="12089206" y="6056402"/>
            <a:ext cx="160841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Manufacturing resins</a:t>
            </a:r>
          </a:p>
        </p:txBody>
      </p:sp>
      <p:sp>
        <p:nvSpPr>
          <p:cNvPr id="20" name="Figure 8 label 19 line 1">
            <a:extLst xmlns:a="http://schemas.openxmlformats.org/drawingml/2006/main">
              <a:ext uri="{FF2B5EF4-FFF2-40B4-BE49-F238E27FC236}">
                <a16:creationId xmlns:a16="http://schemas.microsoft.com/office/drawing/2014/main" id="{FAF5F4B2-A1A1-49D9-BBE5-9356C729F42B}"/>
              </a:ext>
            </a:extLst>
          </p:cNvPr>
          <p:cNvSpPr>
            <a:spLocks xmlns:a="http://schemas.openxmlformats.org/drawingml/2006/main" noGrp="1"/>
          </p:cNvSpPr>
          <p:nvPr/>
        </p:nvSpPr>
        <p:spPr>
          <a:xfrm xmlns:a="http://schemas.openxmlformats.org/drawingml/2006/main" rot="0">
            <a:off x="991870" y="420392"/>
            <a:ext cx="803007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08  Potential supply constraints over 12–24 months</a:t>
            </a:r>
          </a:p>
        </p:txBody>
      </p:sp>
      <p:sp>
        <p:nvSpPr>
          <p:cNvPr id="21" name="Figure 8 label 20 line 1">
            <a:extLst xmlns:a="http://schemas.openxmlformats.org/drawingml/2006/main">
              <a:ext uri="{FF2B5EF4-FFF2-40B4-BE49-F238E27FC236}">
                <a16:creationId xmlns:a16="http://schemas.microsoft.com/office/drawing/2014/main" id="{7961FE66-C71B-42D0-9B8F-E259038289D7}"/>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22" name="Figure 8 label 21 line 1">
            <a:extLst xmlns:a="http://schemas.openxmlformats.org/drawingml/2006/main">
              <a:ext uri="{FF2B5EF4-FFF2-40B4-BE49-F238E27FC236}">
                <a16:creationId xmlns:a16="http://schemas.microsoft.com/office/drawing/2014/main" id="{8552AB92-06C5-49CC-9D53-C3A3C18F4681}"/>
              </a:ext>
            </a:extLst>
          </p:cNvPr>
          <p:cNvSpPr>
            <a:spLocks xmlns:a="http://schemas.openxmlformats.org/drawingml/2006/main" noGrp="1"/>
          </p:cNvSpPr>
          <p:nvPr/>
        </p:nvSpPr>
        <p:spPr>
          <a:xfrm xmlns:a="http://schemas.openxmlformats.org/drawingml/2006/main" rot="0">
            <a:off x="998220" y="1249487"/>
            <a:ext cx="911438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Relative expansion and qualification constraints over 12–24 months; current shortages are not established.</a:t>
            </a:r>
          </a:p>
        </p:txBody>
      </p:sp>
      <p:sp>
        <p:nvSpPr>
          <p:cNvPr id="23" name="Figure 8 label 22 line 1">
            <a:extLst xmlns:a="http://schemas.openxmlformats.org/drawingml/2006/main">
              <a:ext uri="{FF2B5EF4-FFF2-40B4-BE49-F238E27FC236}">
                <a16:creationId xmlns:a16="http://schemas.microsoft.com/office/drawing/2014/main" id="{96C67B18-AE62-4162-8644-BDD3BD281CD9}"/>
              </a:ext>
            </a:extLst>
          </p:cNvPr>
          <p:cNvSpPr>
            <a:spLocks xmlns:a="http://schemas.openxmlformats.org/drawingml/2006/main" noGrp="1"/>
          </p:cNvSpPr>
          <p:nvPr/>
        </p:nvSpPr>
        <p:spPr>
          <a:xfrm xmlns:a="http://schemas.openxmlformats.org/drawingml/2006/main" rot="0">
            <a:off x="999173" y="9256035"/>
            <a:ext cx="809505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Track lead times, stockouts, qualification, yields and prices. Manufacturing resins have a longer demand lag.</a:t>
            </a:r>
          </a:p>
        </p:txBody>
      </p:sp>
      <p:sp>
        <p:nvSpPr>
          <p:cNvPr id="24" name="Figure 8 label 23 line 1">
            <a:extLst xmlns:a="http://schemas.openxmlformats.org/drawingml/2006/main">
              <a:ext uri="{FF2B5EF4-FFF2-40B4-BE49-F238E27FC236}">
                <a16:creationId xmlns:a16="http://schemas.microsoft.com/office/drawing/2014/main" id="{4B875AA4-EF66-4FB2-BE9A-BE52E44573C3}"/>
              </a:ext>
            </a:extLst>
          </p:cNvPr>
          <p:cNvSpPr>
            <a:spLocks xmlns:a="http://schemas.openxmlformats.org/drawingml/2006/main" noGrp="1"/>
          </p:cNvSpPr>
          <p:nvPr/>
        </p:nvSpPr>
        <p:spPr>
          <a:xfrm xmlns:a="http://schemas.openxmlformats.org/drawingml/2006/main" rot="0">
            <a:off x="1000316" y="9675546"/>
            <a:ext cx="6633895"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analyst hypotheses. Technical barriers do not prove a capacity bottleneck.</a:t>
            </a:r>
          </a:p>
        </p:txBody>
      </p:sp>
      <p:sp>
        <p:nvSpPr>
          <p:cNvPr id="25" name="Figure 8 label 24 line 1">
            <a:extLst xmlns:a="http://schemas.openxmlformats.org/drawingml/2006/main">
              <a:ext uri="{FF2B5EF4-FFF2-40B4-BE49-F238E27FC236}">
                <a16:creationId xmlns:a16="http://schemas.microsoft.com/office/drawing/2014/main" id="{36DFFFCD-E456-4B59-8D47-C7A3ABFFF97C}"/>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26" name="Figure 8 label 25 line 1">
            <a:extLst xmlns:a="http://schemas.openxmlformats.org/drawingml/2006/main">
              <a:ext uri="{FF2B5EF4-FFF2-40B4-BE49-F238E27FC236}">
                <a16:creationId xmlns:a16="http://schemas.microsoft.com/office/drawing/2014/main" id="{FC0DFB0A-69B0-4618-9531-AFF5B523FF91}"/>
              </a:ext>
            </a:extLst>
          </p:cNvPr>
          <p:cNvSpPr>
            <a:spLocks xmlns:a="http://schemas.openxmlformats.org/drawingml/2006/main" noGrp="1"/>
          </p:cNvSpPr>
          <p:nvPr/>
        </p:nvSpPr>
        <p:spPr>
          <a:xfrm xmlns:a="http://schemas.openxmlformats.org/drawingml/2006/main" rot="0">
            <a:off x="15811500" y="3274865"/>
            <a:ext cx="18606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1">
                <a:solidFill>
                  <a:srgbClr val="00355F"/>
                </a:solidFill>
                <a:latin typeface="Arial Unicode MS"/>
                <a:ea typeface="Arial Unicode MS"/>
                <a:cs typeface="Arial Unicode MS"/>
              </a:defRPr>
            </a:pPr>
            <a:r>
              <a:rPr sz="1500" b="1">
                <a:solidFill>
                  <a:srgbClr val="00355F"/>
                </a:solidFill>
                <a:latin typeface="Arial Unicode MS"/>
                <a:ea typeface="Arial Unicode MS"/>
                <a:cs typeface="Arial Unicode MS"/>
              </a:rPr>
              <a:t>Potential opportunity</a:t>
            </a:r>
          </a:p>
        </p:txBody>
      </p:sp>
      <p:sp>
        <p:nvSpPr>
          <p:cNvPr id="27" name="Figure 8 label 26 line 1">
            <a:extLst xmlns:a="http://schemas.openxmlformats.org/drawingml/2006/main">
              <a:ext uri="{FF2B5EF4-FFF2-40B4-BE49-F238E27FC236}">
                <a16:creationId xmlns:a16="http://schemas.microsoft.com/office/drawing/2014/main" id="{52660943-0A97-413E-8335-5CC1E4DA5F99}"/>
              </a:ext>
            </a:extLst>
          </p:cNvPr>
          <p:cNvSpPr>
            <a:spLocks xmlns:a="http://schemas.openxmlformats.org/drawingml/2006/main" noGrp="1"/>
          </p:cNvSpPr>
          <p:nvPr/>
        </p:nvSpPr>
        <p:spPr>
          <a:xfrm xmlns:a="http://schemas.openxmlformats.org/drawingml/2006/main" rot="0">
            <a:off x="15812135" y="4388424"/>
            <a:ext cx="1307406"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Strong demand</a:t>
            </a:r>
          </a:p>
        </p:txBody>
      </p:sp>
      <p:sp>
        <p:nvSpPr>
          <p:cNvPr id="28" name="Figure 8 label 27 line 1">
            <a:extLst xmlns:a="http://schemas.openxmlformats.org/drawingml/2006/main">
              <a:ext uri="{FF2B5EF4-FFF2-40B4-BE49-F238E27FC236}">
                <a16:creationId xmlns:a16="http://schemas.microsoft.com/office/drawing/2014/main" id="{D6A3501A-71F7-41D0-8831-B1DEEF1A7608}"/>
              </a:ext>
            </a:extLst>
          </p:cNvPr>
          <p:cNvSpPr>
            <a:spLocks xmlns:a="http://schemas.openxmlformats.org/drawingml/2006/main" noGrp="1"/>
          </p:cNvSpPr>
          <p:nvPr/>
        </p:nvSpPr>
        <p:spPr>
          <a:xfrm xmlns:a="http://schemas.openxmlformats.org/drawingml/2006/main" rot="0">
            <a:off x="15812135" y="4641202"/>
            <a:ext cx="1336427"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Slow expansion</a:t>
            </a:r>
          </a:p>
        </p:txBody>
      </p:sp>
      <p:sp>
        <p:nvSpPr>
          <p:cNvPr id="29" name="Figure 8 label 28 line 1">
            <a:extLst xmlns:a="http://schemas.openxmlformats.org/drawingml/2006/main">
              <a:ext uri="{FF2B5EF4-FFF2-40B4-BE49-F238E27FC236}">
                <a16:creationId xmlns:a16="http://schemas.microsoft.com/office/drawing/2014/main" id="{4B7D3149-2B43-4093-8CFE-CD9CDDC6896F}"/>
              </a:ext>
            </a:extLst>
          </p:cNvPr>
          <p:cNvSpPr>
            <a:spLocks xmlns:a="http://schemas.openxmlformats.org/drawingml/2006/main" noGrp="1"/>
          </p:cNvSpPr>
          <p:nvPr/>
        </p:nvSpPr>
        <p:spPr>
          <a:xfrm xmlns:a="http://schemas.openxmlformats.org/drawingml/2006/main" rot="0">
            <a:off x="15812135" y="4892097"/>
            <a:ext cx="1462633"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Slow qualification</a:t>
            </a:r>
          </a:p>
        </p:txBody>
      </p:sp>
      <p:sp>
        <p:nvSpPr>
          <p:cNvPr id="30" name="Figure 8 label 29 line 1">
            <a:extLst xmlns:a="http://schemas.openxmlformats.org/drawingml/2006/main">
              <a:ext uri="{FF2B5EF4-FFF2-40B4-BE49-F238E27FC236}">
                <a16:creationId xmlns:a16="http://schemas.microsoft.com/office/drawing/2014/main" id="{5BC5A9D4-EDD2-4C47-BAA9-E12CBB9D4B9C}"/>
              </a:ext>
            </a:extLst>
          </p:cNvPr>
          <p:cNvSpPr>
            <a:spLocks xmlns:a="http://schemas.openxmlformats.org/drawingml/2006/main" noGrp="1"/>
          </p:cNvSpPr>
          <p:nvPr/>
        </p:nvSpPr>
        <p:spPr>
          <a:xfrm xmlns:a="http://schemas.openxmlformats.org/drawingml/2006/main" rot="0">
            <a:off x="15812135" y="5139374"/>
            <a:ext cx="1491952"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All need evidence</a:t>
            </a:r>
          </a:p>
        </p:txBody>
      </p:sp>
      <p:sp>
        <p:nvSpPr>
          <p:cNvPr id="31" name="Figure 8 label 30 line 1">
            <a:extLst xmlns:a="http://schemas.openxmlformats.org/drawingml/2006/main">
              <a:ext uri="{FF2B5EF4-FFF2-40B4-BE49-F238E27FC236}">
                <a16:creationId xmlns:a16="http://schemas.microsoft.com/office/drawing/2014/main" id="{E1962F03-C6FD-4907-8FB4-4310D2FD298E}"/>
              </a:ext>
            </a:extLst>
          </p:cNvPr>
          <p:cNvSpPr>
            <a:spLocks xmlns:a="http://schemas.openxmlformats.org/drawingml/2006/main" noGrp="1"/>
          </p:cNvSpPr>
          <p:nvPr/>
        </p:nvSpPr>
        <p:spPr>
          <a:xfrm xmlns:a="http://schemas.openxmlformats.org/drawingml/2006/main" rot="0">
            <a:off x="15812262" y="6652643"/>
            <a:ext cx="152188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Check inventories,</a:t>
            </a:r>
          </a:p>
        </p:txBody>
      </p:sp>
      <p:sp>
        <p:nvSpPr>
          <p:cNvPr id="32" name="Figure 8 label 31 line 1">
            <a:extLst xmlns:a="http://schemas.openxmlformats.org/drawingml/2006/main">
              <a:ext uri="{FF2B5EF4-FFF2-40B4-BE49-F238E27FC236}">
                <a16:creationId xmlns:a16="http://schemas.microsoft.com/office/drawing/2014/main" id="{2942C45B-B8D6-4855-9C3E-D1551723FEF3}"/>
              </a:ext>
            </a:extLst>
          </p:cNvPr>
          <p:cNvSpPr>
            <a:spLocks xmlns:a="http://schemas.openxmlformats.org/drawingml/2006/main" noGrp="1"/>
          </p:cNvSpPr>
          <p:nvPr/>
        </p:nvSpPr>
        <p:spPr>
          <a:xfrm xmlns:a="http://schemas.openxmlformats.org/drawingml/2006/main" rot="0">
            <a:off x="15812262" y="6895424"/>
            <a:ext cx="93118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orders and</a:t>
            </a:r>
          </a:p>
        </p:txBody>
      </p:sp>
      <p:sp>
        <p:nvSpPr>
          <p:cNvPr id="33" name="Figure 8 label 32 line 1">
            <a:extLst xmlns:a="http://schemas.openxmlformats.org/drawingml/2006/main">
              <a:ext uri="{FF2B5EF4-FFF2-40B4-BE49-F238E27FC236}">
                <a16:creationId xmlns:a16="http://schemas.microsoft.com/office/drawing/2014/main" id="{DC70F69F-0E34-446A-ACB9-ED0005D6255A}"/>
              </a:ext>
            </a:extLst>
          </p:cNvPr>
          <p:cNvSpPr>
            <a:spLocks xmlns:a="http://schemas.openxmlformats.org/drawingml/2006/main" noGrp="1"/>
          </p:cNvSpPr>
          <p:nvPr/>
        </p:nvSpPr>
        <p:spPr>
          <a:xfrm xmlns:a="http://schemas.openxmlformats.org/drawingml/2006/main" rot="0">
            <a:off x="15812262" y="7138206"/>
            <a:ext cx="8929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lead times</a:t>
            </a:r>
          </a:p>
        </p:txBody>
      </p:sp>
    </p:spTree>
    <p:extLst>
      <p:ext uri="{BB962C8B-B14F-4D97-AF65-F5344CB8AC3E}">
        <p14:creationId xmlns:p14="http://schemas.microsoft.com/office/powerpoint/2010/main" val="20245474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648DEABA-FF75-4F0B-AA20-DF3E9B4E09E5}"/>
              </a:ext>
            </a:extLst>
          </p:cNvPr>
          <p:cNvPicPr>
            <a:picLocks xmlns:a="http://schemas.openxmlformats.org/drawingml/2006/main" noChangeAspect="1"/>
          </p:cNvPicPr>
          <p:nvPr/>
        </p:nvPicPr>
        <p:blipFill>
          <a:blip xmlns:r="http://schemas.openxmlformats.org/officeDocument/2006/relationships" xmlns:a="http://schemas.openxmlformats.org/drawingml/2006/main" r:embed="R6bbf8510aebd4f9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9 label 1 line 1">
            <a:extLst xmlns:a="http://schemas.openxmlformats.org/drawingml/2006/main">
              <a:ext uri="{FF2B5EF4-FFF2-40B4-BE49-F238E27FC236}">
                <a16:creationId xmlns:a16="http://schemas.microsoft.com/office/drawing/2014/main" id="{E69EF126-A55F-4C0E-B906-9025E66A34CD}"/>
              </a:ext>
            </a:extLst>
          </p:cNvPr>
          <p:cNvSpPr>
            <a:spLocks xmlns:a="http://schemas.openxmlformats.org/drawingml/2006/main" noGrp="1"/>
          </p:cNvSpPr>
          <p:nvPr/>
        </p:nvSpPr>
        <p:spPr>
          <a:xfrm xmlns:a="http://schemas.openxmlformats.org/drawingml/2006/main" rot="0">
            <a:off x="23876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9 label 2 line 1">
            <a:extLst xmlns:a="http://schemas.openxmlformats.org/drawingml/2006/main">
              <a:ext uri="{FF2B5EF4-FFF2-40B4-BE49-F238E27FC236}">
                <a16:creationId xmlns:a16="http://schemas.microsoft.com/office/drawing/2014/main" id="{A4FD5C84-41F8-4081-AAF4-953E3D033DF1}"/>
              </a:ext>
            </a:extLst>
          </p:cNvPr>
          <p:cNvSpPr>
            <a:spLocks xmlns:a="http://schemas.openxmlformats.org/drawingml/2006/main" noGrp="1"/>
          </p:cNvSpPr>
          <p:nvPr/>
        </p:nvSpPr>
        <p:spPr>
          <a:xfrm xmlns:a="http://schemas.openxmlformats.org/drawingml/2006/main" rot="0">
            <a:off x="650300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9 label 3 line 1">
            <a:extLst xmlns:a="http://schemas.openxmlformats.org/drawingml/2006/main">
              <a:ext uri="{FF2B5EF4-FFF2-40B4-BE49-F238E27FC236}">
                <a16:creationId xmlns:a16="http://schemas.microsoft.com/office/drawing/2014/main" id="{D47C0F4A-269B-49B2-9445-02377226B20B}"/>
              </a:ext>
            </a:extLst>
          </p:cNvPr>
          <p:cNvSpPr>
            <a:spLocks xmlns:a="http://schemas.openxmlformats.org/drawingml/2006/main" noGrp="1"/>
          </p:cNvSpPr>
          <p:nvPr/>
        </p:nvSpPr>
        <p:spPr>
          <a:xfrm xmlns:a="http://schemas.openxmlformats.org/drawingml/2006/main" rot="0">
            <a:off x="1092526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9 label 4 line 1">
            <a:extLst xmlns:a="http://schemas.openxmlformats.org/drawingml/2006/main">
              <a:ext uri="{FF2B5EF4-FFF2-40B4-BE49-F238E27FC236}">
                <a16:creationId xmlns:a16="http://schemas.microsoft.com/office/drawing/2014/main" id="{D7EDB85A-277B-48AC-B291-AF917AEA4765}"/>
              </a:ext>
            </a:extLst>
          </p:cNvPr>
          <p:cNvSpPr>
            <a:spLocks xmlns:a="http://schemas.openxmlformats.org/drawingml/2006/main" noGrp="1"/>
          </p:cNvSpPr>
          <p:nvPr/>
        </p:nvSpPr>
        <p:spPr>
          <a:xfrm xmlns:a="http://schemas.openxmlformats.org/drawingml/2006/main" rot="0">
            <a:off x="4883750" y="8291493"/>
            <a:ext cx="403994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Direct exposure to AI build-and-test demand →</a:t>
            </a:r>
          </a:p>
        </p:txBody>
      </p:sp>
      <p:sp>
        <p:nvSpPr>
          <p:cNvPr id="6" name="Figure 9 label 5 line 1">
            <a:extLst xmlns:a="http://schemas.openxmlformats.org/drawingml/2006/main">
              <a:ext uri="{FF2B5EF4-FFF2-40B4-BE49-F238E27FC236}">
                <a16:creationId xmlns:a16="http://schemas.microsoft.com/office/drawing/2014/main" id="{A74666C6-82AC-45F0-BBD8-A822FEA46E61}"/>
              </a:ext>
            </a:extLst>
          </p:cNvPr>
          <p:cNvSpPr>
            <a:spLocks xmlns:a="http://schemas.openxmlformats.org/drawingml/2006/main" noGrp="1"/>
          </p:cNvSpPr>
          <p:nvPr/>
        </p:nvSpPr>
        <p:spPr>
          <a:xfrm xmlns:a="http://schemas.openxmlformats.org/drawingml/2006/main" rot="0">
            <a:off x="92230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9 label 6 line 1">
            <a:extLst xmlns:a="http://schemas.openxmlformats.org/drawingml/2006/main">
              <a:ext uri="{FF2B5EF4-FFF2-40B4-BE49-F238E27FC236}">
                <a16:creationId xmlns:a16="http://schemas.microsoft.com/office/drawing/2014/main" id="{8363DCCE-DE11-4A0D-BA11-AB88195EB022}"/>
              </a:ext>
            </a:extLst>
          </p:cNvPr>
          <p:cNvSpPr>
            <a:spLocks xmlns:a="http://schemas.openxmlformats.org/drawingml/2006/main" noGrp="1"/>
          </p:cNvSpPr>
          <p:nvPr/>
        </p:nvSpPr>
        <p:spPr>
          <a:xfrm xmlns:a="http://schemas.openxmlformats.org/drawingml/2006/main" rot="0">
            <a:off x="59429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9 label 7 line 1">
            <a:extLst xmlns:a="http://schemas.openxmlformats.org/drawingml/2006/main">
              <a:ext uri="{FF2B5EF4-FFF2-40B4-BE49-F238E27FC236}">
                <a16:creationId xmlns:a16="http://schemas.microsoft.com/office/drawing/2014/main" id="{4D81B275-66AC-4D20-B00C-B3D9FB7F3B6A}"/>
              </a:ext>
            </a:extLst>
          </p:cNvPr>
          <p:cNvSpPr>
            <a:spLocks xmlns:a="http://schemas.openxmlformats.org/drawingml/2006/main" noGrp="1"/>
          </p:cNvSpPr>
          <p:nvPr/>
        </p:nvSpPr>
        <p:spPr>
          <a:xfrm xmlns:a="http://schemas.openxmlformats.org/drawingml/2006/main" rot="0">
            <a:off x="88004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9 label 8 line 1">
            <a:extLst xmlns:a="http://schemas.openxmlformats.org/drawingml/2006/main">
              <a:ext uri="{FF2B5EF4-FFF2-40B4-BE49-F238E27FC236}">
                <a16:creationId xmlns:a16="http://schemas.microsoft.com/office/drawing/2014/main" id="{BC660A58-F7EF-4839-B7C1-48E5073B302B}"/>
              </a:ext>
            </a:extLst>
          </p:cNvPr>
          <p:cNvSpPr>
            <a:spLocks xmlns:a="http://schemas.openxmlformats.org/drawingml/2006/main" noGrp="1"/>
          </p:cNvSpPr>
          <p:nvPr/>
        </p:nvSpPr>
        <p:spPr>
          <a:xfrm xmlns:a="http://schemas.openxmlformats.org/drawingml/2006/main" rot="16200000">
            <a:off x="-1393066" y="4918710"/>
            <a:ext cx="374317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Supply barriers / global customer access →</a:t>
            </a:r>
          </a:p>
        </p:txBody>
      </p:sp>
      <p:sp>
        <p:nvSpPr>
          <p:cNvPr id="10" name="Figure 9 label 9 line 1">
            <a:extLst xmlns:a="http://schemas.openxmlformats.org/drawingml/2006/main">
              <a:ext uri="{FF2B5EF4-FFF2-40B4-BE49-F238E27FC236}">
                <a16:creationId xmlns:a16="http://schemas.microsoft.com/office/drawing/2014/main" id="{A26C8C47-C00D-449E-B247-24C419C2A403}"/>
              </a:ext>
            </a:extLst>
          </p:cNvPr>
          <p:cNvSpPr>
            <a:spLocks xmlns:a="http://schemas.openxmlformats.org/drawingml/2006/main" noGrp="1"/>
          </p:cNvSpPr>
          <p:nvPr/>
        </p:nvSpPr>
        <p:spPr>
          <a:xfrm xmlns:a="http://schemas.openxmlformats.org/drawingml/2006/main" rot="0">
            <a:off x="9366521" y="2832061"/>
            <a:ext cx="144214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ACROBiosystems</a:t>
            </a:r>
          </a:p>
        </p:txBody>
      </p:sp>
      <p:sp>
        <p:nvSpPr>
          <p:cNvPr id="11" name="Figure 9 label 10 line 1">
            <a:extLst xmlns:a="http://schemas.openxmlformats.org/drawingml/2006/main">
              <a:ext uri="{FF2B5EF4-FFF2-40B4-BE49-F238E27FC236}">
                <a16:creationId xmlns:a16="http://schemas.microsoft.com/office/drawing/2014/main" id="{95E47979-BF94-4E96-879A-DF64524BFEA7}"/>
              </a:ext>
            </a:extLst>
          </p:cNvPr>
          <p:cNvSpPr>
            <a:spLocks xmlns:a="http://schemas.openxmlformats.org/drawingml/2006/main" noGrp="1"/>
          </p:cNvSpPr>
          <p:nvPr/>
        </p:nvSpPr>
        <p:spPr>
          <a:xfrm xmlns:a="http://schemas.openxmlformats.org/drawingml/2006/main" rot="0">
            <a:off x="11007531" y="3656577"/>
            <a:ext cx="71050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Vazyme</a:t>
            </a:r>
          </a:p>
        </p:txBody>
      </p:sp>
      <p:sp>
        <p:nvSpPr>
          <p:cNvPr id="12" name="Figure 9 label 11 line 1">
            <a:extLst xmlns:a="http://schemas.openxmlformats.org/drawingml/2006/main">
              <a:ext uri="{FF2B5EF4-FFF2-40B4-BE49-F238E27FC236}">
                <a16:creationId xmlns:a16="http://schemas.microsoft.com/office/drawing/2014/main" id="{D199948A-268A-4862-9F45-3196CFAF932C}"/>
              </a:ext>
            </a:extLst>
          </p:cNvPr>
          <p:cNvSpPr>
            <a:spLocks xmlns:a="http://schemas.openxmlformats.org/drawingml/2006/main" noGrp="1"/>
          </p:cNvSpPr>
          <p:nvPr/>
        </p:nvSpPr>
        <p:spPr>
          <a:xfrm xmlns:a="http://schemas.openxmlformats.org/drawingml/2006/main" rot="0">
            <a:off x="8394840" y="3492487"/>
            <a:ext cx="1201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Sino Biological</a:t>
            </a:r>
          </a:p>
        </p:txBody>
      </p:sp>
      <p:sp>
        <p:nvSpPr>
          <p:cNvPr id="13" name="Figure 9 label 12 line 1">
            <a:extLst xmlns:a="http://schemas.openxmlformats.org/drawingml/2006/main">
              <a:ext uri="{FF2B5EF4-FFF2-40B4-BE49-F238E27FC236}">
                <a16:creationId xmlns:a16="http://schemas.microsoft.com/office/drawing/2014/main" id="{9CDA1CBC-5283-48AD-8360-EF67A605769B}"/>
              </a:ext>
            </a:extLst>
          </p:cNvPr>
          <p:cNvSpPr>
            <a:spLocks xmlns:a="http://schemas.openxmlformats.org/drawingml/2006/main" noGrp="1"/>
          </p:cNvSpPr>
          <p:nvPr/>
        </p:nvSpPr>
        <p:spPr>
          <a:xfrm xmlns:a="http://schemas.openxmlformats.org/drawingml/2006/main" rot="0">
            <a:off x="8180871" y="4400454"/>
            <a:ext cx="100726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Novoprotein</a:t>
            </a:r>
          </a:p>
        </p:txBody>
      </p:sp>
      <p:sp>
        <p:nvSpPr>
          <p:cNvPr id="14" name="Figure 9 label 13 line 1">
            <a:extLst xmlns:a="http://schemas.openxmlformats.org/drawingml/2006/main">
              <a:ext uri="{FF2B5EF4-FFF2-40B4-BE49-F238E27FC236}">
                <a16:creationId xmlns:a16="http://schemas.microsoft.com/office/drawing/2014/main" id="{4157130B-D9BD-4DB7-8CDA-A3060A5E6F98}"/>
              </a:ext>
            </a:extLst>
          </p:cNvPr>
          <p:cNvSpPr>
            <a:spLocks xmlns:a="http://schemas.openxmlformats.org/drawingml/2006/main" noGrp="1"/>
          </p:cNvSpPr>
          <p:nvPr/>
        </p:nvSpPr>
        <p:spPr>
          <a:xfrm xmlns:a="http://schemas.openxmlformats.org/drawingml/2006/main" rot="0">
            <a:off x="5238788" y="3409816"/>
            <a:ext cx="914400"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NanoMicro</a:t>
            </a:r>
          </a:p>
        </p:txBody>
      </p:sp>
      <p:sp>
        <p:nvSpPr>
          <p:cNvPr id="15" name="Figure 9 label 14 line 1">
            <a:extLst xmlns:a="http://schemas.openxmlformats.org/drawingml/2006/main">
              <a:ext uri="{FF2B5EF4-FFF2-40B4-BE49-F238E27FC236}">
                <a16:creationId xmlns:a16="http://schemas.microsoft.com/office/drawing/2014/main" id="{152D6370-3B49-493A-B561-81C805C30C6E}"/>
              </a:ext>
            </a:extLst>
          </p:cNvPr>
          <p:cNvSpPr>
            <a:spLocks xmlns:a="http://schemas.openxmlformats.org/drawingml/2006/main" noGrp="1"/>
          </p:cNvSpPr>
          <p:nvPr/>
        </p:nvSpPr>
        <p:spPr>
          <a:xfrm xmlns:a="http://schemas.openxmlformats.org/drawingml/2006/main" rot="0">
            <a:off x="5773712" y="4153810"/>
            <a:ext cx="58102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Sepax</a:t>
            </a:r>
          </a:p>
        </p:txBody>
      </p:sp>
      <p:sp>
        <p:nvSpPr>
          <p:cNvPr id="16" name="Figure 9 label 15 line 1">
            <a:extLst xmlns:a="http://schemas.openxmlformats.org/drawingml/2006/main">
              <a:ext uri="{FF2B5EF4-FFF2-40B4-BE49-F238E27FC236}">
                <a16:creationId xmlns:a16="http://schemas.microsoft.com/office/drawing/2014/main" id="{8CE561F4-CD96-4812-9FF9-C785E099D5C5}"/>
              </a:ext>
            </a:extLst>
          </p:cNvPr>
          <p:cNvSpPr>
            <a:spLocks xmlns:a="http://schemas.openxmlformats.org/drawingml/2006/main" noGrp="1"/>
          </p:cNvSpPr>
          <p:nvPr/>
        </p:nvSpPr>
        <p:spPr>
          <a:xfrm xmlns:a="http://schemas.openxmlformats.org/drawingml/2006/main" rot="0">
            <a:off x="8662301" y="5336057"/>
            <a:ext cx="81230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JET Biofil</a:t>
            </a:r>
          </a:p>
        </p:txBody>
      </p:sp>
      <p:sp>
        <p:nvSpPr>
          <p:cNvPr id="17" name="Figure 9 label 16 line 1">
            <a:extLst xmlns:a="http://schemas.openxmlformats.org/drawingml/2006/main">
              <a:ext uri="{FF2B5EF4-FFF2-40B4-BE49-F238E27FC236}">
                <a16:creationId xmlns:a16="http://schemas.microsoft.com/office/drawing/2014/main" id="{107D08B6-742C-4163-BC91-AB25D522E0FF}"/>
              </a:ext>
            </a:extLst>
          </p:cNvPr>
          <p:cNvSpPr>
            <a:spLocks xmlns:a="http://schemas.openxmlformats.org/drawingml/2006/main" noGrp="1"/>
          </p:cNvSpPr>
          <p:nvPr/>
        </p:nvSpPr>
        <p:spPr>
          <a:xfrm xmlns:a="http://schemas.openxmlformats.org/drawingml/2006/main" rot="0">
            <a:off x="7271500" y="3795182"/>
            <a:ext cx="97035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Changhong</a:t>
            </a:r>
          </a:p>
        </p:txBody>
      </p:sp>
      <p:sp>
        <p:nvSpPr>
          <p:cNvPr id="18" name="Figure 9 label 17 line 1">
            <a:extLst xmlns:a="http://schemas.openxmlformats.org/drawingml/2006/main">
              <a:ext uri="{FF2B5EF4-FFF2-40B4-BE49-F238E27FC236}">
                <a16:creationId xmlns:a16="http://schemas.microsoft.com/office/drawing/2014/main" id="{4D587231-F9C8-41B6-99FC-5990D5957CA8}"/>
              </a:ext>
            </a:extLst>
          </p:cNvPr>
          <p:cNvSpPr>
            <a:spLocks xmlns:a="http://schemas.openxmlformats.org/drawingml/2006/main" noGrp="1"/>
          </p:cNvSpPr>
          <p:nvPr/>
        </p:nvSpPr>
        <p:spPr>
          <a:xfrm xmlns:a="http://schemas.openxmlformats.org/drawingml/2006/main" rot="0">
            <a:off x="9732150" y="4593078"/>
            <a:ext cx="1387078"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Bide Pharmatech</a:t>
            </a:r>
          </a:p>
        </p:txBody>
      </p:sp>
      <p:sp>
        <p:nvSpPr>
          <p:cNvPr id="19" name="Figure 9 label 18 line 1">
            <a:extLst xmlns:a="http://schemas.openxmlformats.org/drawingml/2006/main">
              <a:ext uri="{FF2B5EF4-FFF2-40B4-BE49-F238E27FC236}">
                <a16:creationId xmlns:a16="http://schemas.microsoft.com/office/drawing/2014/main" id="{285D2120-2106-452B-9950-D4C0D0D435CB}"/>
              </a:ext>
            </a:extLst>
          </p:cNvPr>
          <p:cNvSpPr>
            <a:spLocks xmlns:a="http://schemas.openxmlformats.org/drawingml/2006/main" noGrp="1"/>
          </p:cNvSpPr>
          <p:nvPr/>
        </p:nvSpPr>
        <p:spPr>
          <a:xfrm xmlns:a="http://schemas.openxmlformats.org/drawingml/2006/main" rot="0">
            <a:off x="10669817" y="5337072"/>
            <a:ext cx="115520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ChemExpress</a:t>
            </a:r>
          </a:p>
        </p:txBody>
      </p:sp>
      <p:sp>
        <p:nvSpPr>
          <p:cNvPr id="20" name="Figure 9 label 19 line 1">
            <a:extLst xmlns:a="http://schemas.openxmlformats.org/drawingml/2006/main">
              <a:ext uri="{FF2B5EF4-FFF2-40B4-BE49-F238E27FC236}">
                <a16:creationId xmlns:a16="http://schemas.microsoft.com/office/drawing/2014/main" id="{3BA8BB65-8962-464C-A930-7327CDBBC33F}"/>
              </a:ext>
            </a:extLst>
          </p:cNvPr>
          <p:cNvSpPr>
            <a:spLocks xmlns:a="http://schemas.openxmlformats.org/drawingml/2006/main" noGrp="1"/>
          </p:cNvSpPr>
          <p:nvPr/>
        </p:nvSpPr>
        <p:spPr>
          <a:xfrm xmlns:a="http://schemas.openxmlformats.org/drawingml/2006/main" rot="0">
            <a:off x="6041174" y="2721873"/>
            <a:ext cx="42326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MGI</a:t>
            </a:r>
          </a:p>
        </p:txBody>
      </p:sp>
      <p:sp>
        <p:nvSpPr>
          <p:cNvPr id="21" name="Figure 9 label 20 line 1">
            <a:extLst xmlns:a="http://schemas.openxmlformats.org/drawingml/2006/main">
              <a:ext uri="{FF2B5EF4-FFF2-40B4-BE49-F238E27FC236}">
                <a16:creationId xmlns:a16="http://schemas.microsoft.com/office/drawing/2014/main" id="{8C506471-935D-405C-B382-F334B1F613A4}"/>
              </a:ext>
            </a:extLst>
          </p:cNvPr>
          <p:cNvSpPr>
            <a:spLocks xmlns:a="http://schemas.openxmlformats.org/drawingml/2006/main" noGrp="1"/>
          </p:cNvSpPr>
          <p:nvPr/>
        </p:nvSpPr>
        <p:spPr>
          <a:xfrm xmlns:a="http://schemas.openxmlformats.org/drawingml/2006/main" rot="0">
            <a:off x="4757357" y="4868255"/>
            <a:ext cx="142383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OPM Biosciences</a:t>
            </a:r>
          </a:p>
        </p:txBody>
      </p:sp>
      <p:sp>
        <p:nvSpPr>
          <p:cNvPr id="22" name="Figure 9 label 21 line 1">
            <a:extLst xmlns:a="http://schemas.openxmlformats.org/drawingml/2006/main">
              <a:ext uri="{FF2B5EF4-FFF2-40B4-BE49-F238E27FC236}">
                <a16:creationId xmlns:a16="http://schemas.microsoft.com/office/drawing/2014/main" id="{8C4E7EA0-CBA3-4270-BDDC-522FF5E11F7D}"/>
              </a:ext>
            </a:extLst>
          </p:cNvPr>
          <p:cNvSpPr>
            <a:spLocks xmlns:a="http://schemas.openxmlformats.org/drawingml/2006/main" noGrp="1"/>
          </p:cNvSpPr>
          <p:nvPr/>
        </p:nvSpPr>
        <p:spPr>
          <a:xfrm xmlns:a="http://schemas.openxmlformats.org/drawingml/2006/main" rot="0">
            <a:off x="991870" y="421920"/>
            <a:ext cx="6574235"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09  Mapping Chinese listed LST suppliers</a:t>
            </a:r>
          </a:p>
        </p:txBody>
      </p:sp>
      <p:sp>
        <p:nvSpPr>
          <p:cNvPr id="23" name="Figure 9 label 22 line 1">
            <a:extLst xmlns:a="http://schemas.openxmlformats.org/drawingml/2006/main">
              <a:ext uri="{FF2B5EF4-FFF2-40B4-BE49-F238E27FC236}">
                <a16:creationId xmlns:a16="http://schemas.microsoft.com/office/drawing/2014/main" id="{38DE6EA9-9458-4BC1-A64F-763CCE8D2C82}"/>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24" name="Figure 9 label 23 line 1">
            <a:extLst xmlns:a="http://schemas.openxmlformats.org/drawingml/2006/main">
              <a:ext uri="{FF2B5EF4-FFF2-40B4-BE49-F238E27FC236}">
                <a16:creationId xmlns:a16="http://schemas.microsoft.com/office/drawing/2014/main" id="{2C7B9C16-122C-4121-BC84-4B7EA3F2B0CE}"/>
              </a:ext>
            </a:extLst>
          </p:cNvPr>
          <p:cNvSpPr>
            <a:spLocks xmlns:a="http://schemas.openxmlformats.org/drawingml/2006/main" noGrp="1"/>
          </p:cNvSpPr>
          <p:nvPr/>
        </p:nvSpPr>
        <p:spPr>
          <a:xfrm xmlns:a="http://schemas.openxmlformats.org/drawingml/2006/main" rot="0">
            <a:off x="998220" y="1248326"/>
            <a:ext cx="929401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Product exposure to AI build-and-test stages; positions do not measure AI revenue share or investment rank.</a:t>
            </a:r>
          </a:p>
        </p:txBody>
      </p:sp>
      <p:sp>
        <p:nvSpPr>
          <p:cNvPr id="25" name="Figure 9 label 24 line 1">
            <a:extLst xmlns:a="http://schemas.openxmlformats.org/drawingml/2006/main">
              <a:ext uri="{FF2B5EF4-FFF2-40B4-BE49-F238E27FC236}">
                <a16:creationId xmlns:a16="http://schemas.microsoft.com/office/drawing/2014/main" id="{12321B44-D6CE-44F4-8D6B-BC9AC9FA1EB3}"/>
              </a:ext>
            </a:extLst>
          </p:cNvPr>
          <p:cNvSpPr>
            <a:spLocks xmlns:a="http://schemas.openxmlformats.org/drawingml/2006/main" noGrp="1"/>
          </p:cNvSpPr>
          <p:nvPr/>
        </p:nvSpPr>
        <p:spPr>
          <a:xfrm xmlns:a="http://schemas.openxmlformats.org/drawingml/2006/main" rot="0">
            <a:off x="999173" y="9256035"/>
            <a:ext cx="803954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Axes are qualitative judgments. Qualification, global customer access and paid orders still require evidence.</a:t>
            </a:r>
          </a:p>
        </p:txBody>
      </p:sp>
      <p:sp>
        <p:nvSpPr>
          <p:cNvPr id="26" name="Figure 9 label 25 line 1">
            <a:extLst xmlns:a="http://schemas.openxmlformats.org/drawingml/2006/main">
              <a:ext uri="{FF2B5EF4-FFF2-40B4-BE49-F238E27FC236}">
                <a16:creationId xmlns:a16="http://schemas.microsoft.com/office/drawing/2014/main" id="{47A39011-0C96-420C-B9C8-ED25272FEEEB}"/>
              </a:ext>
            </a:extLst>
          </p:cNvPr>
          <p:cNvSpPr>
            <a:spLocks xmlns:a="http://schemas.openxmlformats.org/drawingml/2006/main" noGrp="1"/>
          </p:cNvSpPr>
          <p:nvPr/>
        </p:nvSpPr>
        <p:spPr>
          <a:xfrm xmlns:a="http://schemas.openxmlformats.org/drawingml/2006/main" rot="0">
            <a:off x="1000316" y="9675546"/>
            <a:ext cx="6595646"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Sources: company filings and official product catalogs. Product rationale and assumptions are in data.json.</a:t>
            </a:r>
          </a:p>
        </p:txBody>
      </p:sp>
      <p:sp>
        <p:nvSpPr>
          <p:cNvPr id="27" name="Figure 9 label 26 line 1">
            <a:extLst xmlns:a="http://schemas.openxmlformats.org/drawingml/2006/main">
              <a:ext uri="{FF2B5EF4-FFF2-40B4-BE49-F238E27FC236}">
                <a16:creationId xmlns:a16="http://schemas.microsoft.com/office/drawing/2014/main" id="{C8162D5B-4319-4AAA-9083-62E7A6CFB0FF}"/>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28" name="Figure 9 label 27 line 1">
            <a:extLst xmlns:a="http://schemas.openxmlformats.org/drawingml/2006/main">
              <a:ext uri="{FF2B5EF4-FFF2-40B4-BE49-F238E27FC236}">
                <a16:creationId xmlns:a16="http://schemas.microsoft.com/office/drawing/2014/main" id="{40F2175D-D961-4BAB-A9BE-EEFFE9120378}"/>
              </a:ext>
            </a:extLst>
          </p:cNvPr>
          <p:cNvSpPr>
            <a:spLocks xmlns:a="http://schemas.openxmlformats.org/drawingml/2006/main" noGrp="1"/>
          </p:cNvSpPr>
          <p:nvPr/>
        </p:nvSpPr>
        <p:spPr>
          <a:xfrm xmlns:a="http://schemas.openxmlformats.org/drawingml/2006/main" rot="0">
            <a:off x="13250545" y="2538787"/>
            <a:ext cx="1017439"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Reagents</a:t>
            </a:r>
          </a:p>
        </p:txBody>
      </p:sp>
      <p:sp>
        <p:nvSpPr>
          <p:cNvPr id="29" name="Figure 9 label 28 line 1">
            <a:extLst xmlns:a="http://schemas.openxmlformats.org/drawingml/2006/main">
              <a:ext uri="{FF2B5EF4-FFF2-40B4-BE49-F238E27FC236}">
                <a16:creationId xmlns:a16="http://schemas.microsoft.com/office/drawing/2014/main" id="{4124C53A-5761-4FF2-9AE4-BD653F84C64D}"/>
              </a:ext>
            </a:extLst>
          </p:cNvPr>
          <p:cNvSpPr>
            <a:spLocks xmlns:a="http://schemas.openxmlformats.org/drawingml/2006/main" noGrp="1"/>
          </p:cNvSpPr>
          <p:nvPr/>
        </p:nvSpPr>
        <p:spPr>
          <a:xfrm xmlns:a="http://schemas.openxmlformats.org/drawingml/2006/main" rot="0">
            <a:off x="13252133" y="3010811"/>
            <a:ext cx="259124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Proteins, enzymes, blocks, media</a:t>
            </a:r>
          </a:p>
        </p:txBody>
      </p:sp>
      <p:sp>
        <p:nvSpPr>
          <p:cNvPr id="30" name="Figure 9 label 29 line 1">
            <a:extLst xmlns:a="http://schemas.openxmlformats.org/drawingml/2006/main">
              <a:ext uri="{FF2B5EF4-FFF2-40B4-BE49-F238E27FC236}">
                <a16:creationId xmlns:a16="http://schemas.microsoft.com/office/drawing/2014/main" id="{D917400A-B1D2-4DEB-A1FE-8AFF71B73F7E}"/>
              </a:ext>
            </a:extLst>
          </p:cNvPr>
          <p:cNvSpPr>
            <a:spLocks xmlns:a="http://schemas.openxmlformats.org/drawingml/2006/main" noGrp="1"/>
          </p:cNvSpPr>
          <p:nvPr/>
        </p:nvSpPr>
        <p:spPr>
          <a:xfrm xmlns:a="http://schemas.openxmlformats.org/drawingml/2006/main" rot="0">
            <a:off x="13250545" y="3620034"/>
            <a:ext cx="1395611"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Consumables</a:t>
            </a:r>
          </a:p>
        </p:txBody>
      </p:sp>
      <p:sp>
        <p:nvSpPr>
          <p:cNvPr id="31" name="Figure 9 label 30 line 1">
            <a:extLst xmlns:a="http://schemas.openxmlformats.org/drawingml/2006/main">
              <a:ext uri="{FF2B5EF4-FFF2-40B4-BE49-F238E27FC236}">
                <a16:creationId xmlns:a16="http://schemas.microsoft.com/office/drawing/2014/main" id="{0AA69522-BC4C-4683-BE2A-32B2571AF967}"/>
              </a:ext>
            </a:extLst>
          </p:cNvPr>
          <p:cNvSpPr>
            <a:spLocks xmlns:a="http://schemas.openxmlformats.org/drawingml/2006/main" noGrp="1"/>
          </p:cNvSpPr>
          <p:nvPr/>
        </p:nvSpPr>
        <p:spPr>
          <a:xfrm xmlns:a="http://schemas.openxmlformats.org/drawingml/2006/main" rot="0">
            <a:off x="13252133" y="4091844"/>
            <a:ext cx="199831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Labware, columns, resins</a:t>
            </a:r>
          </a:p>
        </p:txBody>
      </p:sp>
      <p:sp>
        <p:nvSpPr>
          <p:cNvPr id="32" name="Figure 9 label 31 line 1">
            <a:extLst xmlns:a="http://schemas.openxmlformats.org/drawingml/2006/main">
              <a:ext uri="{FF2B5EF4-FFF2-40B4-BE49-F238E27FC236}">
                <a16:creationId xmlns:a16="http://schemas.microsoft.com/office/drawing/2014/main" id="{E6E5EA2E-2127-47D9-BF70-1E0AF70E1B39}"/>
              </a:ext>
            </a:extLst>
          </p:cNvPr>
          <p:cNvSpPr>
            <a:spLocks xmlns:a="http://schemas.openxmlformats.org/drawingml/2006/main" noGrp="1"/>
          </p:cNvSpPr>
          <p:nvPr/>
        </p:nvSpPr>
        <p:spPr>
          <a:xfrm xmlns:a="http://schemas.openxmlformats.org/drawingml/2006/main" rot="0">
            <a:off x="13250545" y="4701427"/>
            <a:ext cx="2232323"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Instruments / platforms</a:t>
            </a:r>
          </a:p>
        </p:txBody>
      </p:sp>
      <p:sp>
        <p:nvSpPr>
          <p:cNvPr id="33" name="Figure 9 label 32 line 1">
            <a:extLst xmlns:a="http://schemas.openxmlformats.org/drawingml/2006/main">
              <a:ext uri="{FF2B5EF4-FFF2-40B4-BE49-F238E27FC236}">
                <a16:creationId xmlns:a16="http://schemas.microsoft.com/office/drawing/2014/main" id="{3E7A5F52-4F27-4A91-B26A-BF5341FF49E0}"/>
              </a:ext>
            </a:extLst>
          </p:cNvPr>
          <p:cNvSpPr>
            <a:spLocks xmlns:a="http://schemas.openxmlformats.org/drawingml/2006/main" noGrp="1"/>
          </p:cNvSpPr>
          <p:nvPr/>
        </p:nvSpPr>
        <p:spPr>
          <a:xfrm xmlns:a="http://schemas.openxmlformats.org/drawingml/2006/main" rot="0">
            <a:off x="13252133" y="5172097"/>
            <a:ext cx="2184350"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Sequencing and automation</a:t>
            </a:r>
          </a:p>
        </p:txBody>
      </p:sp>
      <p:sp>
        <p:nvSpPr>
          <p:cNvPr id="34" name="Figure 9 label 33 line 1">
            <a:extLst xmlns:a="http://schemas.openxmlformats.org/drawingml/2006/main">
              <a:ext uri="{FF2B5EF4-FFF2-40B4-BE49-F238E27FC236}">
                <a16:creationId xmlns:a16="http://schemas.microsoft.com/office/drawing/2014/main" id="{E20ABD02-7398-4A0A-A810-6711EF9E6775}"/>
              </a:ext>
            </a:extLst>
          </p:cNvPr>
          <p:cNvSpPr>
            <a:spLocks xmlns:a="http://schemas.openxmlformats.org/drawingml/2006/main" noGrp="1"/>
          </p:cNvSpPr>
          <p:nvPr/>
        </p:nvSpPr>
        <p:spPr>
          <a:xfrm xmlns:a="http://schemas.openxmlformats.org/drawingml/2006/main" rot="0">
            <a:off x="13342620" y="6238682"/>
            <a:ext cx="282416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1">
                <a:solidFill>
                  <a:srgbClr val="00355F"/>
                </a:solidFill>
                <a:latin typeface="Arial Unicode MS"/>
                <a:ea typeface="Arial Unicode MS"/>
                <a:cs typeface="Arial Unicode MS"/>
              </a:defRPr>
            </a:pPr>
            <a:r>
              <a:rPr sz="1500" b="1">
                <a:solidFill>
                  <a:srgbClr val="00355F"/>
                </a:solidFill>
                <a:latin typeface="Arial Unicode MS"/>
                <a:ea typeface="Arial Unicode MS"/>
                <a:cs typeface="Arial Unicode MS"/>
              </a:rPr>
              <a:t>Two different demand pathways</a:t>
            </a:r>
          </a:p>
        </p:txBody>
      </p:sp>
      <p:sp>
        <p:nvSpPr>
          <p:cNvPr id="35" name="Figure 9 label 34 line 1">
            <a:extLst xmlns:a="http://schemas.openxmlformats.org/drawingml/2006/main">
              <a:ext uri="{FF2B5EF4-FFF2-40B4-BE49-F238E27FC236}">
                <a16:creationId xmlns:a16="http://schemas.microsoft.com/office/drawing/2014/main" id="{5AFD6A78-AE6D-44B8-AEED-F12E265E3B2A}"/>
              </a:ext>
            </a:extLst>
          </p:cNvPr>
          <p:cNvSpPr>
            <a:spLocks xmlns:a="http://schemas.openxmlformats.org/drawingml/2006/main" noGrp="1"/>
          </p:cNvSpPr>
          <p:nvPr/>
        </p:nvSpPr>
        <p:spPr>
          <a:xfrm xmlns:a="http://schemas.openxmlformats.org/drawingml/2006/main" rot="0">
            <a:off x="13343446" y="6645481"/>
            <a:ext cx="2961065"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ACRO: expression / functional assays</a:t>
            </a:r>
          </a:p>
        </p:txBody>
      </p:sp>
      <p:sp>
        <p:nvSpPr>
          <p:cNvPr id="36" name="Figure 9 label 35 line 1">
            <a:extLst xmlns:a="http://schemas.openxmlformats.org/drawingml/2006/main">
              <a:ext uri="{FF2B5EF4-FFF2-40B4-BE49-F238E27FC236}">
                <a16:creationId xmlns:a16="http://schemas.microsoft.com/office/drawing/2014/main" id="{9E57967D-AE6E-414B-8570-9CCED117E2A1}"/>
              </a:ext>
            </a:extLst>
          </p:cNvPr>
          <p:cNvSpPr>
            <a:spLocks xmlns:a="http://schemas.openxmlformats.org/drawingml/2006/main" noGrp="1"/>
          </p:cNvSpPr>
          <p:nvPr/>
        </p:nvSpPr>
        <p:spPr>
          <a:xfrm xmlns:a="http://schemas.openxmlformats.org/drawingml/2006/main" rot="0">
            <a:off x="13343446" y="6903730"/>
            <a:ext cx="2682756"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NanoMicro: purification + scale-up</a:t>
            </a:r>
          </a:p>
        </p:txBody>
      </p:sp>
    </p:spTree>
    <p:extLst>
      <p:ext uri="{BB962C8B-B14F-4D97-AF65-F5344CB8AC3E}">
        <p14:creationId xmlns:p14="http://schemas.microsoft.com/office/powerpoint/2010/main" val="20304491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
            <a:extLst xmlns:a="http://schemas.openxmlformats.org/drawingml/2006/main">
              <a:ext uri="{FF2B5EF4-FFF2-40B4-BE49-F238E27FC236}">
                <a16:creationId xmlns:a16="http://schemas.microsoft.com/office/drawing/2014/main" id="{3583ACCA-3F15-4FF2-92D7-3936DDAA7C65}"/>
              </a:ext>
            </a:extLst>
          </p:cNvPr>
          <p:cNvPicPr>
            <a:picLocks xmlns:a="http://schemas.openxmlformats.org/drawingml/2006/main" noChangeAspect="1"/>
          </p:cNvPicPr>
          <p:nvPr/>
        </p:nvPicPr>
        <p:blipFill>
          <a:blip xmlns:r="http://schemas.openxmlformats.org/officeDocument/2006/relationships" xmlns:a="http://schemas.openxmlformats.org/drawingml/2006/main" r:embed="Rd12ad6021ba8430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0 label 1 line 1">
            <a:extLst xmlns:a="http://schemas.openxmlformats.org/drawingml/2006/main">
              <a:ext uri="{FF2B5EF4-FFF2-40B4-BE49-F238E27FC236}">
                <a16:creationId xmlns:a16="http://schemas.microsoft.com/office/drawing/2014/main" id="{6BE0E028-0FD0-4663-AD94-A73E404A3526}"/>
              </a:ext>
            </a:extLst>
          </p:cNvPr>
          <p:cNvSpPr>
            <a:spLocks xmlns:a="http://schemas.openxmlformats.org/drawingml/2006/main" noGrp="1"/>
          </p:cNvSpPr>
          <p:nvPr/>
        </p:nvSpPr>
        <p:spPr>
          <a:xfrm xmlns:a="http://schemas.openxmlformats.org/drawingml/2006/main" rot="0">
            <a:off x="991870" y="421920"/>
            <a:ext cx="7447260"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10  From AI funding to LST shareholder returns</a:t>
            </a:r>
          </a:p>
        </p:txBody>
      </p:sp>
      <p:sp>
        <p:nvSpPr>
          <p:cNvPr id="3" name="Figure 10 label 2 line 1">
            <a:extLst xmlns:a="http://schemas.openxmlformats.org/drawingml/2006/main">
              <a:ext uri="{FF2B5EF4-FFF2-40B4-BE49-F238E27FC236}">
                <a16:creationId xmlns:a16="http://schemas.microsoft.com/office/drawing/2014/main" id="{C3DA1050-0870-442F-ADB6-7D962742555C}"/>
              </a:ext>
            </a:extLst>
          </p:cNvPr>
          <p:cNvSpPr>
            <a:spLocks xmlns:a="http://schemas.openxmlformats.org/drawingml/2006/main" noGrp="1"/>
          </p:cNvSpPr>
          <p:nvPr/>
        </p:nvSpPr>
        <p:spPr>
          <a:xfrm xmlns:a="http://schemas.openxmlformats.org/drawingml/2006/main" rot="0">
            <a:off x="15909231" y="661601"/>
            <a:ext cx="64273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THESIS</a:t>
            </a:r>
          </a:p>
        </p:txBody>
      </p:sp>
      <p:sp>
        <p:nvSpPr>
          <p:cNvPr id="4" name="Figure 10 label 3 line 1">
            <a:extLst xmlns:a="http://schemas.openxmlformats.org/drawingml/2006/main">
              <a:ext uri="{FF2B5EF4-FFF2-40B4-BE49-F238E27FC236}">
                <a16:creationId xmlns:a16="http://schemas.microsoft.com/office/drawing/2014/main" id="{927F6BB6-6FDE-4F03-8396-4E1A84120DA9}"/>
              </a:ext>
            </a:extLst>
          </p:cNvPr>
          <p:cNvSpPr>
            <a:spLocks xmlns:a="http://schemas.openxmlformats.org/drawingml/2006/main" noGrp="1"/>
          </p:cNvSpPr>
          <p:nvPr/>
        </p:nvSpPr>
        <p:spPr>
          <a:xfrm xmlns:a="http://schemas.openxmlformats.org/drawingml/2006/main" rot="0">
            <a:off x="998220" y="1248326"/>
            <a:ext cx="953720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Funding starts the chain. Projects, consumption, supply, market share and cash returns determine the outcome.</a:t>
            </a:r>
          </a:p>
        </p:txBody>
      </p:sp>
      <p:sp>
        <p:nvSpPr>
          <p:cNvPr id="5" name="Figure 10 label 4 line 1">
            <a:extLst xmlns:a="http://schemas.openxmlformats.org/drawingml/2006/main">
              <a:ext uri="{FF2B5EF4-FFF2-40B4-BE49-F238E27FC236}">
                <a16:creationId xmlns:a16="http://schemas.microsoft.com/office/drawing/2014/main" id="{001F1B6A-DBF3-4E21-9406-CA525C39B1DF}"/>
              </a:ext>
            </a:extLst>
          </p:cNvPr>
          <p:cNvSpPr>
            <a:spLocks xmlns:a="http://schemas.openxmlformats.org/drawingml/2006/main" noGrp="1"/>
          </p:cNvSpPr>
          <p:nvPr/>
        </p:nvSpPr>
        <p:spPr>
          <a:xfrm xmlns:a="http://schemas.openxmlformats.org/drawingml/2006/main" rot="0">
            <a:off x="999173" y="9256035"/>
            <a:ext cx="778058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Seek experimental relevance, evidenced supply constraints and global access; test the valuation hurdle.</a:t>
            </a:r>
          </a:p>
        </p:txBody>
      </p:sp>
      <p:sp>
        <p:nvSpPr>
          <p:cNvPr id="6" name="Figure 10 label 5 line 1">
            <a:extLst xmlns:a="http://schemas.openxmlformats.org/drawingml/2006/main">
              <a:ext uri="{FF2B5EF4-FFF2-40B4-BE49-F238E27FC236}">
                <a16:creationId xmlns:a16="http://schemas.microsoft.com/office/drawing/2014/main" id="{B7D455B0-AA65-4A1B-89DA-6F94D49234C1}"/>
              </a:ext>
            </a:extLst>
          </p:cNvPr>
          <p:cNvSpPr>
            <a:spLocks xmlns:a="http://schemas.openxmlformats.org/drawingml/2006/main" noGrp="1"/>
          </p:cNvSpPr>
          <p:nvPr/>
        </p:nvSpPr>
        <p:spPr>
          <a:xfrm xmlns:a="http://schemas.openxmlformats.org/drawingml/2006/main" rot="0">
            <a:off x="1000316" y="9675546"/>
            <a:ext cx="6311533"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prior company research. Capital announcements are not LST orders.</a:t>
            </a:r>
          </a:p>
        </p:txBody>
      </p:sp>
      <p:sp>
        <p:nvSpPr>
          <p:cNvPr id="7" name="Figure 10 label 6 line 1">
            <a:extLst xmlns:a="http://schemas.openxmlformats.org/drawingml/2006/main">
              <a:ext uri="{FF2B5EF4-FFF2-40B4-BE49-F238E27FC236}">
                <a16:creationId xmlns:a16="http://schemas.microsoft.com/office/drawing/2014/main" id="{25EAA001-26DB-4385-BC7E-0460CBABE774}"/>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10 label 7 line 1">
            <a:extLst xmlns:a="http://schemas.openxmlformats.org/drawingml/2006/main">
              <a:ext uri="{FF2B5EF4-FFF2-40B4-BE49-F238E27FC236}">
                <a16:creationId xmlns:a16="http://schemas.microsoft.com/office/drawing/2014/main" id="{810F08A6-9E53-46DE-A419-1DFE47EE0DC8}"/>
              </a:ext>
            </a:extLst>
          </p:cNvPr>
          <p:cNvSpPr>
            <a:spLocks xmlns:a="http://schemas.openxmlformats.org/drawingml/2006/main" noGrp="1"/>
          </p:cNvSpPr>
          <p:nvPr/>
        </p:nvSpPr>
        <p:spPr>
          <a:xfrm xmlns:a="http://schemas.openxmlformats.org/drawingml/2006/main" rot="0">
            <a:off x="1372389" y="2964153"/>
            <a:ext cx="1735782"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AI funding grows</a:t>
            </a:r>
          </a:p>
        </p:txBody>
      </p:sp>
      <p:sp>
        <p:nvSpPr>
          <p:cNvPr id="9" name="Figure 10 label 8 line 1">
            <a:extLst xmlns:a="http://schemas.openxmlformats.org/drawingml/2006/main">
              <a:ext uri="{FF2B5EF4-FFF2-40B4-BE49-F238E27FC236}">
                <a16:creationId xmlns:a16="http://schemas.microsoft.com/office/drawing/2014/main" id="{E81408CE-890B-4FA3-8A94-20C25E617492}"/>
              </a:ext>
            </a:extLst>
          </p:cNvPr>
          <p:cNvSpPr>
            <a:spLocks xmlns:a="http://schemas.openxmlformats.org/drawingml/2006/main" noGrp="1"/>
          </p:cNvSpPr>
          <p:nvPr/>
        </p:nvSpPr>
        <p:spPr>
          <a:xfrm xmlns:a="http://schemas.openxmlformats.org/drawingml/2006/main" rot="0">
            <a:off x="1255340" y="3750783"/>
            <a:ext cx="1969879"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Cash reaches customers</a:t>
            </a:r>
          </a:p>
        </p:txBody>
      </p:sp>
      <p:sp>
        <p:nvSpPr>
          <p:cNvPr id="10" name="Figure 10 label 9 line 1">
            <a:extLst xmlns:a="http://schemas.openxmlformats.org/drawingml/2006/main">
              <a:ext uri="{FF2B5EF4-FFF2-40B4-BE49-F238E27FC236}">
                <a16:creationId xmlns:a16="http://schemas.microsoft.com/office/drawing/2014/main" id="{70B06E05-5F7F-472C-A576-B7029575442A}"/>
              </a:ext>
            </a:extLst>
          </p:cNvPr>
          <p:cNvSpPr>
            <a:spLocks xmlns:a="http://schemas.openxmlformats.org/drawingml/2006/main" noGrp="1"/>
          </p:cNvSpPr>
          <p:nvPr/>
        </p:nvSpPr>
        <p:spPr>
          <a:xfrm xmlns:a="http://schemas.openxmlformats.org/drawingml/2006/main" rot="0">
            <a:off x="4485941" y="2964002"/>
            <a:ext cx="1616869"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Lab automation</a:t>
            </a:r>
          </a:p>
        </p:txBody>
      </p:sp>
      <p:sp>
        <p:nvSpPr>
          <p:cNvPr id="11" name="Figure 10 label 10 line 1">
            <a:extLst xmlns:a="http://schemas.openxmlformats.org/drawingml/2006/main">
              <a:ext uri="{FF2B5EF4-FFF2-40B4-BE49-F238E27FC236}">
                <a16:creationId xmlns:a16="http://schemas.microsoft.com/office/drawing/2014/main" id="{2A0A9B89-9FD7-40EB-B4F5-5D13A8C16E03}"/>
              </a:ext>
            </a:extLst>
          </p:cNvPr>
          <p:cNvSpPr>
            <a:spLocks xmlns:a="http://schemas.openxmlformats.org/drawingml/2006/main" noGrp="1"/>
          </p:cNvSpPr>
          <p:nvPr/>
        </p:nvSpPr>
        <p:spPr>
          <a:xfrm xmlns:a="http://schemas.openxmlformats.org/drawingml/2006/main" rot="0">
            <a:off x="4505592" y="3750783"/>
            <a:ext cx="1577568"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Equipment installed</a:t>
            </a:r>
          </a:p>
        </p:txBody>
      </p:sp>
      <p:sp>
        <p:nvSpPr>
          <p:cNvPr id="12" name="Figure 10 label 11 line 1">
            <a:extLst xmlns:a="http://schemas.openxmlformats.org/drawingml/2006/main">
              <a:ext uri="{FF2B5EF4-FFF2-40B4-BE49-F238E27FC236}">
                <a16:creationId xmlns:a16="http://schemas.microsoft.com/office/drawing/2014/main" id="{EE3B01C2-E5F9-4083-96C8-AAE41C6708D3}"/>
              </a:ext>
            </a:extLst>
          </p:cNvPr>
          <p:cNvSpPr>
            <a:spLocks xmlns:a="http://schemas.openxmlformats.org/drawingml/2006/main" noGrp="1"/>
          </p:cNvSpPr>
          <p:nvPr/>
        </p:nvSpPr>
        <p:spPr>
          <a:xfrm xmlns:a="http://schemas.openxmlformats.org/drawingml/2006/main" rot="0">
            <a:off x="7242456" y="2964002"/>
            <a:ext cx="2212032"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Build-and-test volume</a:t>
            </a:r>
          </a:p>
        </p:txBody>
      </p:sp>
      <p:sp>
        <p:nvSpPr>
          <p:cNvPr id="13" name="Figure 10 label 12 line 1">
            <a:extLst xmlns:a="http://schemas.openxmlformats.org/drawingml/2006/main">
              <a:ext uri="{FF2B5EF4-FFF2-40B4-BE49-F238E27FC236}">
                <a16:creationId xmlns:a16="http://schemas.microsoft.com/office/drawing/2014/main" id="{5A00AC15-3B11-4D56-8E35-EA37B17A2056}"/>
              </a:ext>
            </a:extLst>
          </p:cNvPr>
          <p:cNvSpPr>
            <a:spLocks xmlns:a="http://schemas.openxmlformats.org/drawingml/2006/main" noGrp="1"/>
          </p:cNvSpPr>
          <p:nvPr/>
        </p:nvSpPr>
        <p:spPr>
          <a:xfrm xmlns:a="http://schemas.openxmlformats.org/drawingml/2006/main" rot="0">
            <a:off x="7503654" y="3750980"/>
            <a:ext cx="1689636"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More funded projects</a:t>
            </a:r>
          </a:p>
        </p:txBody>
      </p:sp>
      <p:sp>
        <p:nvSpPr>
          <p:cNvPr id="14" name="Figure 10 label 13 line 1">
            <a:extLst xmlns:a="http://schemas.openxmlformats.org/drawingml/2006/main">
              <a:ext uri="{FF2B5EF4-FFF2-40B4-BE49-F238E27FC236}">
                <a16:creationId xmlns:a16="http://schemas.microsoft.com/office/drawing/2014/main" id="{E4301BAD-B9D7-486A-B63D-58A7BF8ED4A1}"/>
              </a:ext>
            </a:extLst>
          </p:cNvPr>
          <p:cNvSpPr>
            <a:spLocks xmlns:a="http://schemas.openxmlformats.org/drawingml/2006/main" noGrp="1"/>
          </p:cNvSpPr>
          <p:nvPr/>
        </p:nvSpPr>
        <p:spPr>
          <a:xfrm xmlns:a="http://schemas.openxmlformats.org/drawingml/2006/main" rot="0">
            <a:off x="10522844" y="2964002"/>
            <a:ext cx="1759446"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FFFFFF"/>
                </a:solidFill>
                <a:latin typeface="Arial Unicode MS"/>
                <a:ea typeface="Arial Unicode MS"/>
                <a:cs typeface="Arial Unicode MS"/>
              </a:defRPr>
            </a:defPPr>
          </a:lstStyle>
          <a:p xmlns:a="http://schemas.openxmlformats.org/drawingml/2006/main">
            <a:pPr algn="ctr">
              <a:lnSpc>
                <a:spcPct val="100000"/>
              </a:lnSpc>
              <a:buNone/>
              <a:defRPr sz="1688" b="1">
                <a:solidFill>
                  <a:srgbClr val="FFFFFF"/>
                </a:solidFill>
                <a:latin typeface="Arial Unicode MS"/>
                <a:ea typeface="Arial Unicode MS"/>
                <a:cs typeface="Arial Unicode MS"/>
              </a:defRPr>
            </a:pPr>
            <a:r>
              <a:rPr sz="1688" b="1">
                <a:solidFill>
                  <a:srgbClr val="FFFFFF"/>
                </a:solidFill>
                <a:latin typeface="Arial Unicode MS"/>
                <a:ea typeface="Arial Unicode MS"/>
                <a:cs typeface="Arial Unicode MS"/>
              </a:rPr>
              <a:t>Net LST demand</a:t>
            </a:r>
          </a:p>
        </p:txBody>
      </p:sp>
      <p:sp>
        <p:nvSpPr>
          <p:cNvPr id="15" name="Figure 10 label 14 line 1">
            <a:extLst xmlns:a="http://schemas.openxmlformats.org/drawingml/2006/main">
              <a:ext uri="{FF2B5EF4-FFF2-40B4-BE49-F238E27FC236}">
                <a16:creationId xmlns:a16="http://schemas.microsoft.com/office/drawing/2014/main" id="{9FC8D1A7-D163-4FCF-B128-BE15F1995CB0}"/>
              </a:ext>
            </a:extLst>
          </p:cNvPr>
          <p:cNvSpPr>
            <a:spLocks xmlns:a="http://schemas.openxmlformats.org/drawingml/2006/main" noGrp="1"/>
          </p:cNvSpPr>
          <p:nvPr/>
        </p:nvSpPr>
        <p:spPr>
          <a:xfrm xmlns:a="http://schemas.openxmlformats.org/drawingml/2006/main" rot="0">
            <a:off x="10429162" y="3750901"/>
            <a:ext cx="1946811"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325" b="0">
                <a:solidFill>
                  <a:srgbClr val="FFFFFF"/>
                </a:solidFill>
                <a:latin typeface="Arial Unicode MS"/>
                <a:ea typeface="Arial Unicode MS"/>
                <a:cs typeface="Arial Unicode MS"/>
              </a:defRPr>
            </a:pPr>
            <a:r>
              <a:rPr sz="1325" b="0">
                <a:solidFill>
                  <a:srgbClr val="FFFFFF"/>
                </a:solidFill>
                <a:latin typeface="Arial Unicode MS"/>
                <a:ea typeface="Arial Unicode MS"/>
                <a:cs typeface="Arial Unicode MS"/>
              </a:rPr>
              <a:t>Intensity + ASP adjusted</a:t>
            </a:r>
          </a:p>
        </p:txBody>
      </p:sp>
      <p:sp>
        <p:nvSpPr>
          <p:cNvPr id="16" name="Figure 10 label 15 line 1">
            <a:extLst xmlns:a="http://schemas.openxmlformats.org/drawingml/2006/main">
              <a:ext uri="{FF2B5EF4-FFF2-40B4-BE49-F238E27FC236}">
                <a16:creationId xmlns:a16="http://schemas.microsoft.com/office/drawing/2014/main" id="{6C5CFA71-75CB-42F1-B00E-DC4FF117332E}"/>
              </a:ext>
            </a:extLst>
          </p:cNvPr>
          <p:cNvSpPr>
            <a:spLocks xmlns:a="http://schemas.openxmlformats.org/drawingml/2006/main" noGrp="1"/>
          </p:cNvSpPr>
          <p:nvPr/>
        </p:nvSpPr>
        <p:spPr>
          <a:xfrm xmlns:a="http://schemas.openxmlformats.org/drawingml/2006/main" rot="0">
            <a:off x="13926566" y="2359405"/>
            <a:ext cx="158958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Direct demand</a:t>
            </a:r>
          </a:p>
        </p:txBody>
      </p:sp>
      <p:sp>
        <p:nvSpPr>
          <p:cNvPr id="17" name="Figure 10 label 16 line 1">
            <a:extLst xmlns:a="http://schemas.openxmlformats.org/drawingml/2006/main">
              <a:ext uri="{FF2B5EF4-FFF2-40B4-BE49-F238E27FC236}">
                <a16:creationId xmlns:a16="http://schemas.microsoft.com/office/drawing/2014/main" id="{2830A90A-2B0D-4D23-A487-9FF8B273643C}"/>
              </a:ext>
            </a:extLst>
          </p:cNvPr>
          <p:cNvSpPr>
            <a:spLocks xmlns:a="http://schemas.openxmlformats.org/drawingml/2006/main" noGrp="1"/>
          </p:cNvSpPr>
          <p:nvPr/>
        </p:nvSpPr>
        <p:spPr>
          <a:xfrm xmlns:a="http://schemas.openxmlformats.org/drawingml/2006/main" rot="0">
            <a:off x="13928598" y="2863125"/>
            <a:ext cx="225575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Assays, automation labware</a:t>
            </a:r>
          </a:p>
        </p:txBody>
      </p:sp>
      <p:sp>
        <p:nvSpPr>
          <p:cNvPr id="18" name="Figure 10 label 17 line 1">
            <a:extLst xmlns:a="http://schemas.openxmlformats.org/drawingml/2006/main">
              <a:ext uri="{FF2B5EF4-FFF2-40B4-BE49-F238E27FC236}">
                <a16:creationId xmlns:a16="http://schemas.microsoft.com/office/drawing/2014/main" id="{1D4D7801-1CFE-494A-B6C3-745A82F9C69F}"/>
              </a:ext>
            </a:extLst>
          </p:cNvPr>
          <p:cNvSpPr>
            <a:spLocks xmlns:a="http://schemas.openxmlformats.org/drawingml/2006/main" noGrp="1"/>
          </p:cNvSpPr>
          <p:nvPr/>
        </p:nvSpPr>
        <p:spPr>
          <a:xfrm xmlns:a="http://schemas.openxmlformats.org/drawingml/2006/main" rot="0">
            <a:off x="13928598" y="3107755"/>
            <a:ext cx="229400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and chemical building blocks</a:t>
            </a:r>
          </a:p>
        </p:txBody>
      </p:sp>
      <p:sp>
        <p:nvSpPr>
          <p:cNvPr id="19" name="Figure 10 label 18 line 1">
            <a:extLst xmlns:a="http://schemas.openxmlformats.org/drawingml/2006/main">
              <a:ext uri="{FF2B5EF4-FFF2-40B4-BE49-F238E27FC236}">
                <a16:creationId xmlns:a16="http://schemas.microsoft.com/office/drawing/2014/main" id="{99D4B7D9-83E9-4635-9ABD-C0E161D08929}"/>
              </a:ext>
            </a:extLst>
          </p:cNvPr>
          <p:cNvSpPr>
            <a:spLocks xmlns:a="http://schemas.openxmlformats.org/drawingml/2006/main" noGrp="1"/>
          </p:cNvSpPr>
          <p:nvPr/>
        </p:nvSpPr>
        <p:spPr>
          <a:xfrm xmlns:a="http://schemas.openxmlformats.org/drawingml/2006/main" rot="0">
            <a:off x="13926566" y="4416961"/>
            <a:ext cx="196031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Supply constraints</a:t>
            </a:r>
          </a:p>
        </p:txBody>
      </p:sp>
      <p:sp>
        <p:nvSpPr>
          <p:cNvPr id="20" name="Figure 10 label 19 line 1">
            <a:extLst xmlns:a="http://schemas.openxmlformats.org/drawingml/2006/main">
              <a:ext uri="{FF2B5EF4-FFF2-40B4-BE49-F238E27FC236}">
                <a16:creationId xmlns:a16="http://schemas.microsoft.com/office/drawing/2014/main" id="{C9E9B417-8910-4BE8-87FA-FB54FA7DD7DC}"/>
              </a:ext>
            </a:extLst>
          </p:cNvPr>
          <p:cNvSpPr>
            <a:spLocks xmlns:a="http://schemas.openxmlformats.org/drawingml/2006/main" noGrp="1"/>
          </p:cNvSpPr>
          <p:nvPr/>
        </p:nvSpPr>
        <p:spPr>
          <a:xfrm xmlns:a="http://schemas.openxmlformats.org/drawingml/2006/main" rot="0">
            <a:off x="13928598" y="4922494"/>
            <a:ext cx="238925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Specialty plates / components</a:t>
            </a:r>
          </a:p>
        </p:txBody>
      </p:sp>
      <p:sp>
        <p:nvSpPr>
          <p:cNvPr id="21" name="Figure 10 label 20 line 1">
            <a:extLst xmlns:a="http://schemas.openxmlformats.org/drawingml/2006/main">
              <a:ext uri="{FF2B5EF4-FFF2-40B4-BE49-F238E27FC236}">
                <a16:creationId xmlns:a16="http://schemas.microsoft.com/office/drawing/2014/main" id="{71B84898-BC9B-43D4-9D61-B02BCE88942D}"/>
              </a:ext>
            </a:extLst>
          </p:cNvPr>
          <p:cNvSpPr>
            <a:spLocks xmlns:a="http://schemas.openxmlformats.org/drawingml/2006/main" noGrp="1"/>
          </p:cNvSpPr>
          <p:nvPr/>
        </p:nvSpPr>
        <p:spPr>
          <a:xfrm xmlns:a="http://schemas.openxmlformats.org/drawingml/2006/main" rot="0">
            <a:off x="13928598" y="5167124"/>
            <a:ext cx="251323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Expansion limits need evidence</a:t>
            </a:r>
          </a:p>
        </p:txBody>
      </p:sp>
      <p:sp>
        <p:nvSpPr>
          <p:cNvPr id="22" name="Figure 10 label 21 line 1">
            <a:extLst xmlns:a="http://schemas.openxmlformats.org/drawingml/2006/main">
              <a:ext uri="{FF2B5EF4-FFF2-40B4-BE49-F238E27FC236}">
                <a16:creationId xmlns:a16="http://schemas.microsoft.com/office/drawing/2014/main" id="{57BFB931-A747-4D38-A28F-9F52A20035D2}"/>
              </a:ext>
            </a:extLst>
          </p:cNvPr>
          <p:cNvSpPr>
            <a:spLocks xmlns:a="http://schemas.openxmlformats.org/drawingml/2006/main" noGrp="1"/>
          </p:cNvSpPr>
          <p:nvPr/>
        </p:nvSpPr>
        <p:spPr>
          <a:xfrm xmlns:a="http://schemas.openxmlformats.org/drawingml/2006/main" rot="0">
            <a:off x="13926566" y="6474205"/>
            <a:ext cx="1874143"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Listed candidates</a:t>
            </a:r>
          </a:p>
        </p:txBody>
      </p:sp>
      <p:sp>
        <p:nvSpPr>
          <p:cNvPr id="23" name="Figure 10 label 22 line 1">
            <a:extLst xmlns:a="http://schemas.openxmlformats.org/drawingml/2006/main">
              <a:ext uri="{FF2B5EF4-FFF2-40B4-BE49-F238E27FC236}">
                <a16:creationId xmlns:a16="http://schemas.microsoft.com/office/drawing/2014/main" id="{8BAF0848-55BF-4245-BC80-0501BD467032}"/>
              </a:ext>
            </a:extLst>
          </p:cNvPr>
          <p:cNvSpPr>
            <a:spLocks xmlns:a="http://schemas.openxmlformats.org/drawingml/2006/main" noGrp="1"/>
          </p:cNvSpPr>
          <p:nvPr/>
        </p:nvSpPr>
        <p:spPr>
          <a:xfrm xmlns:a="http://schemas.openxmlformats.org/drawingml/2006/main" rot="0">
            <a:off x="13928598" y="6977194"/>
            <a:ext cx="268408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ACRO, Vazyme, Sino, NanoMicro</a:t>
            </a:r>
          </a:p>
        </p:txBody>
      </p:sp>
      <p:sp>
        <p:nvSpPr>
          <p:cNvPr id="24" name="Figure 10 label 23 line 1">
            <a:extLst xmlns:a="http://schemas.openxmlformats.org/drawingml/2006/main">
              <a:ext uri="{FF2B5EF4-FFF2-40B4-BE49-F238E27FC236}">
                <a16:creationId xmlns:a16="http://schemas.microsoft.com/office/drawing/2014/main" id="{3CF2ED1B-A918-4FED-AD6D-172E11E4545E}"/>
              </a:ext>
            </a:extLst>
          </p:cNvPr>
          <p:cNvSpPr>
            <a:spLocks xmlns:a="http://schemas.openxmlformats.org/drawingml/2006/main" noGrp="1"/>
          </p:cNvSpPr>
          <p:nvPr/>
        </p:nvSpPr>
        <p:spPr>
          <a:xfrm xmlns:a="http://schemas.openxmlformats.org/drawingml/2006/main" rot="0">
            <a:off x="13928598" y="7225376"/>
            <a:ext cx="225605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JET, Changhong and others</a:t>
            </a:r>
          </a:p>
        </p:txBody>
      </p:sp>
      <p:sp>
        <p:nvSpPr>
          <p:cNvPr id="25" name="Figure 10 label 24 line 1">
            <a:extLst xmlns:a="http://schemas.openxmlformats.org/drawingml/2006/main">
              <a:ext uri="{FF2B5EF4-FFF2-40B4-BE49-F238E27FC236}">
                <a16:creationId xmlns:a16="http://schemas.microsoft.com/office/drawing/2014/main" id="{F96E136E-E7D1-4EB8-95ED-81BF74108791}"/>
              </a:ext>
            </a:extLst>
          </p:cNvPr>
          <p:cNvSpPr>
            <a:spLocks xmlns:a="http://schemas.openxmlformats.org/drawingml/2006/main" noGrp="1"/>
          </p:cNvSpPr>
          <p:nvPr/>
        </p:nvSpPr>
        <p:spPr>
          <a:xfrm xmlns:a="http://schemas.openxmlformats.org/drawingml/2006/main" rot="0">
            <a:off x="1326134" y="5682106"/>
            <a:ext cx="3356620"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Evidence is needed at each step</a:t>
            </a:r>
          </a:p>
        </p:txBody>
      </p:sp>
      <p:sp>
        <p:nvSpPr>
          <p:cNvPr id="26" name="Figure 10 label 25 line 1">
            <a:extLst xmlns:a="http://schemas.openxmlformats.org/drawingml/2006/main">
              <a:ext uri="{FF2B5EF4-FFF2-40B4-BE49-F238E27FC236}">
                <a16:creationId xmlns:a16="http://schemas.microsoft.com/office/drawing/2014/main" id="{15132E0D-4119-4550-9F4D-2527A9070019}"/>
              </a:ext>
            </a:extLst>
          </p:cNvPr>
          <p:cNvSpPr>
            <a:spLocks xmlns:a="http://schemas.openxmlformats.org/drawingml/2006/main" noGrp="1"/>
          </p:cNvSpPr>
          <p:nvPr/>
        </p:nvSpPr>
        <p:spPr>
          <a:xfrm xmlns:a="http://schemas.openxmlformats.org/drawingml/2006/main" rot="0">
            <a:off x="1327404" y="6158944"/>
            <a:ext cx="676825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Customer budgets → orders / repeat purchases → net consumption → utilization</a:t>
            </a:r>
          </a:p>
        </p:txBody>
      </p:sp>
      <p:sp>
        <p:nvSpPr>
          <p:cNvPr id="27" name="Figure 10 label 26 line 1">
            <a:extLst xmlns:a="http://schemas.openxmlformats.org/drawingml/2006/main">
              <a:ext uri="{FF2B5EF4-FFF2-40B4-BE49-F238E27FC236}">
                <a16:creationId xmlns:a16="http://schemas.microsoft.com/office/drawing/2014/main" id="{9E2C9029-16CC-4461-8E0C-E3B2DF5CAAF7}"/>
              </a:ext>
            </a:extLst>
          </p:cNvPr>
          <p:cNvSpPr>
            <a:spLocks xmlns:a="http://schemas.openxmlformats.org/drawingml/2006/main" noGrp="1"/>
          </p:cNvSpPr>
          <p:nvPr/>
        </p:nvSpPr>
        <p:spPr>
          <a:xfrm xmlns:a="http://schemas.openxmlformats.org/drawingml/2006/main" rot="0">
            <a:off x="1327404" y="6462437"/>
            <a:ext cx="697944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 company share → recurring profit / free cash flow → growth priced into the stock</a:t>
            </a:r>
          </a:p>
        </p:txBody>
      </p:sp>
      <p:sp>
        <p:nvSpPr>
          <p:cNvPr id="28" name="Figure 10 label 27 line 1">
            <a:extLst xmlns:a="http://schemas.openxmlformats.org/drawingml/2006/main">
              <a:ext uri="{FF2B5EF4-FFF2-40B4-BE49-F238E27FC236}">
                <a16:creationId xmlns:a16="http://schemas.microsoft.com/office/drawing/2014/main" id="{C2F3C7AE-26D4-42BA-BF28-F16C57DB027B}"/>
              </a:ext>
            </a:extLst>
          </p:cNvPr>
          <p:cNvSpPr>
            <a:spLocks xmlns:a="http://schemas.openxmlformats.org/drawingml/2006/main" noGrp="1"/>
          </p:cNvSpPr>
          <p:nvPr/>
        </p:nvSpPr>
        <p:spPr>
          <a:xfrm xmlns:a="http://schemas.openxmlformats.org/drawingml/2006/main" rot="0">
            <a:off x="4743896" y="8371852"/>
            <a:ext cx="8800207"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Experimental relevance  ∩  Evidenced supply constraints  ∩  Global customer access</a:t>
            </a:r>
          </a:p>
        </p:txBody>
      </p:sp>
    </p:spTree>
    <p:extLst>
      <p:ext uri="{BB962C8B-B14F-4D97-AF65-F5344CB8AC3E}">
        <p14:creationId xmlns:p14="http://schemas.microsoft.com/office/powerpoint/2010/main" val="3654720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DE5C9658-52CC-4D7F-941D-BC54E2CB946E}"/>
              </a:ext>
            </a:extLst>
          </p:cNvPr>
          <p:cNvPicPr>
            <a:picLocks xmlns:a="http://schemas.openxmlformats.org/drawingml/2006/main" noChangeAspect="1"/>
          </p:cNvPicPr>
          <p:nvPr/>
        </p:nvPicPr>
        <p:blipFill>
          <a:blip xmlns:r="http://schemas.openxmlformats.org/officeDocument/2006/relationships" xmlns:a="http://schemas.openxmlformats.org/drawingml/2006/main" r:embed="R3362207af2824f7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1 label 1 line 1">
            <a:extLst xmlns:a="http://schemas.openxmlformats.org/drawingml/2006/main">
              <a:ext uri="{FF2B5EF4-FFF2-40B4-BE49-F238E27FC236}">
                <a16:creationId xmlns:a16="http://schemas.microsoft.com/office/drawing/2014/main" id="{E0BA4E66-EA5D-4745-BA84-38078FD7A37E}"/>
              </a:ext>
            </a:extLst>
          </p:cNvPr>
          <p:cNvSpPr>
            <a:spLocks xmlns:a="http://schemas.openxmlformats.org/drawingml/2006/main" noGrp="1"/>
          </p:cNvSpPr>
          <p:nvPr/>
        </p:nvSpPr>
        <p:spPr>
          <a:xfrm xmlns:a="http://schemas.openxmlformats.org/drawingml/2006/main" rot="0">
            <a:off x="982599" y="311277"/>
            <a:ext cx="10901005" cy="547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lnSpc>
                <a:spcPct val="100000"/>
              </a:lnSpc>
              <a:buNone/>
              <a:defRPr sz="3450" b="1">
                <a:solidFill>
                  <a:srgbClr val="00355F"/>
                </a:solidFill>
                <a:latin typeface="Arial"/>
                <a:ea typeface="Arial"/>
                <a:cs typeface="Arial"/>
              </a:defRPr>
            </a:pPr>
            <a:r>
              <a:rPr sz="3450" b="1">
                <a:solidFill>
                  <a:srgbClr val="00355F"/>
                </a:solidFill>
                <a:latin typeface="Arial"/>
                <a:ea typeface="Arial"/>
                <a:cs typeface="Arial"/>
              </a:rPr>
              <a:t>Design capacity expands. Validation must keep up.</a:t>
            </a:r>
          </a:p>
        </p:txBody>
      </p:sp>
      <p:sp>
        <p:nvSpPr>
          <p:cNvPr id="3" name="Figure 11 label 2 line 1">
            <a:extLst xmlns:a="http://schemas.openxmlformats.org/drawingml/2006/main">
              <a:ext uri="{FF2B5EF4-FFF2-40B4-BE49-F238E27FC236}">
                <a16:creationId xmlns:a16="http://schemas.microsoft.com/office/drawing/2014/main" id="{639D3BBD-3DA4-4480-8E2C-50CA29EA1C3D}"/>
              </a:ext>
            </a:extLst>
          </p:cNvPr>
          <p:cNvSpPr>
            <a:spLocks xmlns:a="http://schemas.openxmlformats.org/drawingml/2006/main" noGrp="1"/>
          </p:cNvSpPr>
          <p:nvPr/>
        </p:nvSpPr>
        <p:spPr>
          <a:xfrm xmlns:a="http://schemas.openxmlformats.org/drawingml/2006/main" rot="0">
            <a:off x="1000887" y="1050989"/>
            <a:ext cx="10699819"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0">
                <a:solidFill>
                  <a:srgbClr val="00355F"/>
                </a:solidFill>
                <a:latin typeface="Arial"/>
                <a:ea typeface="Arial"/>
                <a:cs typeface="Arial"/>
              </a:defRPr>
            </a:defPPr>
          </a:lstStyle>
          <a:p xmlns:a="http://schemas.openxmlformats.org/drawingml/2006/main">
            <a:pPr algn="l">
              <a:lnSpc>
                <a:spcPct val="100000"/>
              </a:lnSpc>
              <a:buNone/>
              <a:defRPr sz="1725" b="0">
                <a:solidFill>
                  <a:srgbClr val="00355F"/>
                </a:solidFill>
                <a:latin typeface="Arial"/>
                <a:ea typeface="Arial"/>
                <a:cs typeface="Arial"/>
              </a:defRPr>
            </a:pPr>
            <a:r>
              <a:rPr sz="1725" b="0">
                <a:solidFill>
                  <a:srgbClr val="00355F"/>
                </a:solidFill>
                <a:latin typeface="Arial"/>
                <a:ea typeface="Arial"/>
                <a:cs typeface="Arial"/>
              </a:rPr>
              <a:t>Illustrative stage comparison, normalized per one clinical entrant. Supplied assumptions, not cohort statistics.</a:t>
            </a:r>
          </a:p>
        </p:txBody>
      </p:sp>
      <p:sp>
        <p:nvSpPr>
          <p:cNvPr id="4" name="Figure 11 label 3 line 1">
            <a:extLst xmlns:a="http://schemas.openxmlformats.org/drawingml/2006/main">
              <a:ext uri="{FF2B5EF4-FFF2-40B4-BE49-F238E27FC236}">
                <a16:creationId xmlns:a16="http://schemas.microsoft.com/office/drawing/2014/main" id="{072AEB57-EBCD-4E0A-AFDB-8380A31182F4}"/>
              </a:ext>
            </a:extLst>
          </p:cNvPr>
          <p:cNvSpPr>
            <a:spLocks xmlns:a="http://schemas.openxmlformats.org/drawingml/2006/main" noGrp="1"/>
          </p:cNvSpPr>
          <p:nvPr/>
        </p:nvSpPr>
        <p:spPr>
          <a:xfrm xmlns:a="http://schemas.openxmlformats.org/drawingml/2006/main" rot="0">
            <a:off x="887730" y="2355533"/>
            <a:ext cx="76601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STAGE</a:t>
            </a:r>
          </a:p>
        </p:txBody>
      </p:sp>
      <p:sp>
        <p:nvSpPr>
          <p:cNvPr id="5" name="Figure 11 label 4 line 1">
            <a:extLst xmlns:a="http://schemas.openxmlformats.org/drawingml/2006/main">
              <a:ext uri="{FF2B5EF4-FFF2-40B4-BE49-F238E27FC236}">
                <a16:creationId xmlns:a16="http://schemas.microsoft.com/office/drawing/2014/main" id="{2B5B156A-2B06-429A-9D2C-FA521ED902B1}"/>
              </a:ext>
            </a:extLst>
          </p:cNvPr>
          <p:cNvSpPr>
            <a:spLocks xmlns:a="http://schemas.openxmlformats.org/drawingml/2006/main" noGrp="1"/>
          </p:cNvSpPr>
          <p:nvPr/>
        </p:nvSpPr>
        <p:spPr>
          <a:xfrm xmlns:a="http://schemas.openxmlformats.org/drawingml/2006/main" rot="0">
            <a:off x="6111255" y="2355533"/>
            <a:ext cx="76959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1">
                <a:solidFill>
                  <a:srgbClr val="FFFFFF"/>
                </a:solidFill>
                <a:latin typeface="Arial"/>
                <a:ea typeface="Arial"/>
                <a:cs typeface="Arial"/>
              </a:defRPr>
            </a:defPPr>
          </a:lstStyle>
          <a:p xmlns:a="http://schemas.openxmlformats.org/drawingml/2006/main">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PRE-AI</a:t>
            </a:r>
          </a:p>
        </p:txBody>
      </p:sp>
      <p:sp>
        <p:nvSpPr>
          <p:cNvPr id="6" name="Figure 11 label 5 line 1">
            <a:extLst xmlns:a="http://schemas.openxmlformats.org/drawingml/2006/main">
              <a:ext uri="{FF2B5EF4-FFF2-40B4-BE49-F238E27FC236}">
                <a16:creationId xmlns:a16="http://schemas.microsoft.com/office/drawing/2014/main" id="{6E0DCFDD-04D3-4601-ABA5-5F328E17C7AB}"/>
              </a:ext>
            </a:extLst>
          </p:cNvPr>
          <p:cNvSpPr>
            <a:spLocks xmlns:a="http://schemas.openxmlformats.org/drawingml/2006/main" noGrp="1"/>
          </p:cNvSpPr>
          <p:nvPr/>
        </p:nvSpPr>
        <p:spPr>
          <a:xfrm xmlns:a="http://schemas.openxmlformats.org/drawingml/2006/main" rot="0">
            <a:off x="8230567" y="2355533"/>
            <a:ext cx="76959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1">
                <a:solidFill>
                  <a:srgbClr val="FFFFFF"/>
                </a:solidFill>
                <a:latin typeface="Arial"/>
                <a:ea typeface="Arial"/>
                <a:cs typeface="Arial"/>
              </a:defRPr>
            </a:defPPr>
          </a:lstStyle>
          <a:p xmlns:a="http://schemas.openxmlformats.org/drawingml/2006/main">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AI ERA</a:t>
            </a:r>
          </a:p>
        </p:txBody>
      </p:sp>
      <p:sp>
        <p:nvSpPr>
          <p:cNvPr id="7" name="Figure 11 label 6 line 1">
            <a:extLst xmlns:a="http://schemas.openxmlformats.org/drawingml/2006/main">
              <a:ext uri="{FF2B5EF4-FFF2-40B4-BE49-F238E27FC236}">
                <a16:creationId xmlns:a16="http://schemas.microsoft.com/office/drawing/2014/main" id="{E7DBF6D8-F7A3-4487-9337-54EAC9EC807A}"/>
              </a:ext>
            </a:extLst>
          </p:cNvPr>
          <p:cNvSpPr>
            <a:spLocks xmlns:a="http://schemas.openxmlformats.org/drawingml/2006/main" noGrp="1"/>
          </p:cNvSpPr>
          <p:nvPr/>
        </p:nvSpPr>
        <p:spPr>
          <a:xfrm xmlns:a="http://schemas.openxmlformats.org/drawingml/2006/main" rot="0">
            <a:off x="10031730" y="2355533"/>
            <a:ext cx="168652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WHAT CHANGES</a:t>
            </a:r>
          </a:p>
        </p:txBody>
      </p:sp>
      <p:sp>
        <p:nvSpPr>
          <p:cNvPr id="8" name="Figure 11 label 7 line 1">
            <a:extLst xmlns:a="http://schemas.openxmlformats.org/drawingml/2006/main">
              <a:ext uri="{FF2B5EF4-FFF2-40B4-BE49-F238E27FC236}">
                <a16:creationId xmlns:a16="http://schemas.microsoft.com/office/drawing/2014/main" id="{BDB1F381-C5D6-47C6-9651-845B47168BB8}"/>
              </a:ext>
            </a:extLst>
          </p:cNvPr>
          <p:cNvSpPr>
            <a:spLocks xmlns:a="http://schemas.openxmlformats.org/drawingml/2006/main" noGrp="1"/>
          </p:cNvSpPr>
          <p:nvPr/>
        </p:nvSpPr>
        <p:spPr>
          <a:xfrm xmlns:a="http://schemas.openxmlformats.org/drawingml/2006/main" rot="0">
            <a:off x="885825" y="3050381"/>
            <a:ext cx="2259657"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Molecules designed</a:t>
            </a:r>
          </a:p>
        </p:txBody>
      </p:sp>
      <p:sp>
        <p:nvSpPr>
          <p:cNvPr id="9" name="Figure 11 label 7 line 2">
            <a:extLst xmlns:a="http://schemas.openxmlformats.org/drawingml/2006/main">
              <a:ext uri="{FF2B5EF4-FFF2-40B4-BE49-F238E27FC236}">
                <a16:creationId xmlns:a16="http://schemas.microsoft.com/office/drawing/2014/main" id="{B22BCF58-36D9-4C97-9006-3E4F2EE3D106}"/>
              </a:ext>
            </a:extLst>
          </p:cNvPr>
          <p:cNvSpPr>
            <a:spLocks xmlns:a="http://schemas.openxmlformats.org/drawingml/2006/main" noGrp="1"/>
          </p:cNvSpPr>
          <p:nvPr/>
        </p:nvSpPr>
        <p:spPr>
          <a:xfrm xmlns:a="http://schemas.openxmlformats.org/drawingml/2006/main" rot="0">
            <a:off x="885825" y="3348038"/>
            <a:ext cx="2259657"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(virtual)</a:t>
            </a:r>
          </a:p>
        </p:txBody>
      </p:sp>
      <p:sp>
        <p:nvSpPr>
          <p:cNvPr id="10" name="Figure 11 label 8 line 1">
            <a:extLst xmlns:a="http://schemas.openxmlformats.org/drawingml/2006/main">
              <a:ext uri="{FF2B5EF4-FFF2-40B4-BE49-F238E27FC236}">
                <a16:creationId xmlns:a16="http://schemas.microsoft.com/office/drawing/2014/main" id="{6C1CA980-1333-4B5D-AFAF-8AE8557036CD}"/>
              </a:ext>
            </a:extLst>
          </p:cNvPr>
          <p:cNvSpPr>
            <a:spLocks xmlns:a="http://schemas.openxmlformats.org/drawingml/2006/main" noGrp="1"/>
          </p:cNvSpPr>
          <p:nvPr/>
        </p:nvSpPr>
        <p:spPr>
          <a:xfrm xmlns:a="http://schemas.openxmlformats.org/drawingml/2006/main" rot="0">
            <a:off x="6087725" y="3140202"/>
            <a:ext cx="816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~10³</a:t>
            </a:r>
          </a:p>
        </p:txBody>
      </p:sp>
      <p:sp>
        <p:nvSpPr>
          <p:cNvPr id="11" name="Figure 11 label 9 line 1">
            <a:extLst xmlns:a="http://schemas.openxmlformats.org/drawingml/2006/main">
              <a:ext uri="{FF2B5EF4-FFF2-40B4-BE49-F238E27FC236}">
                <a16:creationId xmlns:a16="http://schemas.microsoft.com/office/drawing/2014/main" id="{AEFE80AD-4FDC-4A80-8DE0-F8F600A0C837}"/>
              </a:ext>
            </a:extLst>
          </p:cNvPr>
          <p:cNvSpPr>
            <a:spLocks xmlns:a="http://schemas.openxmlformats.org/drawingml/2006/main" noGrp="1"/>
          </p:cNvSpPr>
          <p:nvPr/>
        </p:nvSpPr>
        <p:spPr>
          <a:xfrm xmlns:a="http://schemas.openxmlformats.org/drawingml/2006/main" rot="0">
            <a:off x="8007831" y="3140202"/>
            <a:ext cx="1215063"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10⁵–10⁹</a:t>
            </a:r>
          </a:p>
        </p:txBody>
      </p:sp>
      <p:sp>
        <p:nvSpPr>
          <p:cNvPr id="12" name="Figure 11 label 10 line 1">
            <a:extLst xmlns:a="http://schemas.openxmlformats.org/drawingml/2006/main">
              <a:ext uri="{FF2B5EF4-FFF2-40B4-BE49-F238E27FC236}">
                <a16:creationId xmlns:a16="http://schemas.microsoft.com/office/drawing/2014/main" id="{D98C6307-6A43-493A-9FB4-2C59C3597265}"/>
              </a:ext>
            </a:extLst>
          </p:cNvPr>
          <p:cNvSpPr>
            <a:spLocks xmlns:a="http://schemas.openxmlformats.org/drawingml/2006/main" noGrp="1"/>
          </p:cNvSpPr>
          <p:nvPr/>
        </p:nvSpPr>
        <p:spPr>
          <a:xfrm xmlns:a="http://schemas.openxmlformats.org/drawingml/2006/main" rot="0">
            <a:off x="10029825" y="3050381"/>
            <a:ext cx="4814143"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Generative models can expand</a:t>
            </a:r>
          </a:p>
        </p:txBody>
      </p:sp>
      <p:sp>
        <p:nvSpPr>
          <p:cNvPr id="13" name="Figure 11 label 10 line 2">
            <a:extLst xmlns:a="http://schemas.openxmlformats.org/drawingml/2006/main">
              <a:ext uri="{FF2B5EF4-FFF2-40B4-BE49-F238E27FC236}">
                <a16:creationId xmlns:a16="http://schemas.microsoft.com/office/drawing/2014/main" id="{CAD9F764-E0B2-440E-B63F-F7F98C2C4B07}"/>
              </a:ext>
            </a:extLst>
          </p:cNvPr>
          <p:cNvSpPr>
            <a:spLocks xmlns:a="http://schemas.openxmlformats.org/drawingml/2006/main" noGrp="1"/>
          </p:cNvSpPr>
          <p:nvPr/>
        </p:nvSpPr>
        <p:spPr>
          <a:xfrm xmlns:a="http://schemas.openxmlformats.org/drawingml/2006/main" rot="0">
            <a:off x="10029825" y="3348038"/>
            <a:ext cx="4814143"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candidate enumeration at low marginal cost.</a:t>
            </a:r>
          </a:p>
        </p:txBody>
      </p:sp>
      <p:sp>
        <p:nvSpPr>
          <p:cNvPr id="14" name="Figure 11 label 11 line 1">
            <a:extLst xmlns:a="http://schemas.openxmlformats.org/drawingml/2006/main">
              <a:ext uri="{FF2B5EF4-FFF2-40B4-BE49-F238E27FC236}">
                <a16:creationId xmlns:a16="http://schemas.microsoft.com/office/drawing/2014/main" id="{950E8C2C-90F3-4E3A-B363-B9157C7279EB}"/>
              </a:ext>
            </a:extLst>
          </p:cNvPr>
          <p:cNvSpPr>
            <a:spLocks xmlns:a="http://schemas.openxmlformats.org/drawingml/2006/main" noGrp="1"/>
          </p:cNvSpPr>
          <p:nvPr/>
        </p:nvSpPr>
        <p:spPr>
          <a:xfrm xmlns:a="http://schemas.openxmlformats.org/drawingml/2006/main" rot="0">
            <a:off x="885825" y="4251722"/>
            <a:ext cx="2987129"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Molecules physically made</a:t>
            </a:r>
          </a:p>
        </p:txBody>
      </p:sp>
      <p:sp>
        <p:nvSpPr>
          <p:cNvPr id="15" name="Figure 11 label 12 line 1">
            <a:extLst xmlns:a="http://schemas.openxmlformats.org/drawingml/2006/main">
              <a:ext uri="{FF2B5EF4-FFF2-40B4-BE49-F238E27FC236}">
                <a16:creationId xmlns:a16="http://schemas.microsoft.com/office/drawing/2014/main" id="{5FA37A97-AA47-473A-B158-CF61E2DBAB2C}"/>
              </a:ext>
            </a:extLst>
          </p:cNvPr>
          <p:cNvSpPr>
            <a:spLocks xmlns:a="http://schemas.openxmlformats.org/drawingml/2006/main" noGrp="1"/>
          </p:cNvSpPr>
          <p:nvPr/>
        </p:nvSpPr>
        <p:spPr>
          <a:xfrm xmlns:a="http://schemas.openxmlformats.org/drawingml/2006/main" rot="0">
            <a:off x="6087725" y="4192715"/>
            <a:ext cx="816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~10³</a:t>
            </a:r>
          </a:p>
        </p:txBody>
      </p:sp>
      <p:sp>
        <p:nvSpPr>
          <p:cNvPr id="16" name="Figure 11 label 13 line 1">
            <a:extLst xmlns:a="http://schemas.openxmlformats.org/drawingml/2006/main">
              <a:ext uri="{FF2B5EF4-FFF2-40B4-BE49-F238E27FC236}">
                <a16:creationId xmlns:a16="http://schemas.microsoft.com/office/drawing/2014/main" id="{278D3070-07E7-49A5-8E0E-2BDBF46AA8B6}"/>
              </a:ext>
            </a:extLst>
          </p:cNvPr>
          <p:cNvSpPr>
            <a:spLocks xmlns:a="http://schemas.openxmlformats.org/drawingml/2006/main" noGrp="1"/>
          </p:cNvSpPr>
          <p:nvPr/>
        </p:nvSpPr>
        <p:spPr>
          <a:xfrm xmlns:a="http://schemas.openxmlformats.org/drawingml/2006/main" rot="0">
            <a:off x="7999422" y="4192715"/>
            <a:ext cx="123188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10³–10⁴</a:t>
            </a:r>
          </a:p>
        </p:txBody>
      </p:sp>
      <p:sp>
        <p:nvSpPr>
          <p:cNvPr id="17" name="Figure 11 label 14 line 1">
            <a:extLst xmlns:a="http://schemas.openxmlformats.org/drawingml/2006/main">
              <a:ext uri="{FF2B5EF4-FFF2-40B4-BE49-F238E27FC236}">
                <a16:creationId xmlns:a16="http://schemas.microsoft.com/office/drawing/2014/main" id="{92221B29-DAD7-440A-BB5A-5FDCBF8DA18C}"/>
              </a:ext>
            </a:extLst>
          </p:cNvPr>
          <p:cNvSpPr>
            <a:spLocks xmlns:a="http://schemas.openxmlformats.org/drawingml/2006/main" noGrp="1"/>
          </p:cNvSpPr>
          <p:nvPr/>
        </p:nvSpPr>
        <p:spPr>
          <a:xfrm xmlns:a="http://schemas.openxmlformats.org/drawingml/2006/main" rot="0">
            <a:off x="10029825" y="4102894"/>
            <a:ext cx="428431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Automated synthesis and DNA libraries</a:t>
            </a:r>
          </a:p>
        </p:txBody>
      </p:sp>
      <p:sp>
        <p:nvSpPr>
          <p:cNvPr id="18" name="Figure 11 label 14 line 2">
            <a:extLst xmlns:a="http://schemas.openxmlformats.org/drawingml/2006/main">
              <a:ext uri="{FF2B5EF4-FFF2-40B4-BE49-F238E27FC236}">
                <a16:creationId xmlns:a16="http://schemas.microsoft.com/office/drawing/2014/main" id="{A87E897A-AB74-4F47-99C6-CE9151A5B04E}"/>
              </a:ext>
            </a:extLst>
          </p:cNvPr>
          <p:cNvSpPr>
            <a:spLocks xmlns:a="http://schemas.openxmlformats.org/drawingml/2006/main" noGrp="1"/>
          </p:cNvSpPr>
          <p:nvPr/>
        </p:nvSpPr>
        <p:spPr>
          <a:xfrm xmlns:a="http://schemas.openxmlformats.org/drawingml/2006/main" rot="0">
            <a:off x="10029825" y="4400550"/>
            <a:ext cx="428431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can expand construction capacity.</a:t>
            </a:r>
          </a:p>
        </p:txBody>
      </p:sp>
      <p:sp>
        <p:nvSpPr>
          <p:cNvPr id="19" name="Figure 11 label 15 line 1">
            <a:extLst xmlns:a="http://schemas.openxmlformats.org/drawingml/2006/main">
              <a:ext uri="{FF2B5EF4-FFF2-40B4-BE49-F238E27FC236}">
                <a16:creationId xmlns:a16="http://schemas.microsoft.com/office/drawing/2014/main" id="{DB83BFC5-99EA-4F8B-834D-DFEBDBD94CF0}"/>
              </a:ext>
            </a:extLst>
          </p:cNvPr>
          <p:cNvSpPr>
            <a:spLocks xmlns:a="http://schemas.openxmlformats.org/drawingml/2006/main" noGrp="1"/>
          </p:cNvSpPr>
          <p:nvPr/>
        </p:nvSpPr>
        <p:spPr>
          <a:xfrm xmlns:a="http://schemas.openxmlformats.org/drawingml/2006/main" rot="0">
            <a:off x="885825" y="5251847"/>
            <a:ext cx="2800796"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Fully profiled in wet lab</a:t>
            </a:r>
          </a:p>
        </p:txBody>
      </p:sp>
      <p:sp>
        <p:nvSpPr>
          <p:cNvPr id="20" name="Figure 11 label 16 line 1">
            <a:extLst xmlns:a="http://schemas.openxmlformats.org/drawingml/2006/main">
              <a:ext uri="{FF2B5EF4-FFF2-40B4-BE49-F238E27FC236}">
                <a16:creationId xmlns:a16="http://schemas.microsoft.com/office/drawing/2014/main" id="{C6173B56-81C5-4787-B884-1888AD0CDEB1}"/>
              </a:ext>
            </a:extLst>
          </p:cNvPr>
          <p:cNvSpPr>
            <a:spLocks xmlns:a="http://schemas.openxmlformats.org/drawingml/2006/main" noGrp="1"/>
          </p:cNvSpPr>
          <p:nvPr/>
        </p:nvSpPr>
        <p:spPr>
          <a:xfrm xmlns:a="http://schemas.openxmlformats.org/drawingml/2006/main" rot="0">
            <a:off x="6138476" y="5192839"/>
            <a:ext cx="71514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1">
                <a:solidFill>
                  <a:srgbClr val="00355F"/>
                </a:solidFill>
                <a:latin typeface="Arial"/>
                <a:ea typeface="Arial"/>
                <a:cs typeface="Arial"/>
              </a:defRPr>
            </a:defPPr>
          </a:lstStyle>
          <a:p xmlns:a="http://schemas.openxmlformats.org/drawingml/2006/main">
            <a:pPr algn="ctr">
              <a:lnSpc>
                <a:spcPct val="100000"/>
              </a:lnSpc>
              <a:buNone/>
              <a:defRPr sz="2400" b="1">
                <a:solidFill>
                  <a:srgbClr val="00355F"/>
                </a:solidFill>
                <a:latin typeface="Arial"/>
                <a:ea typeface="Arial"/>
                <a:cs typeface="Arial"/>
              </a:defRPr>
            </a:pPr>
            <a:r>
              <a:rPr sz="2400" b="1">
                <a:solidFill>
                  <a:srgbClr val="00355F"/>
                </a:solidFill>
                <a:latin typeface="Arial"/>
                <a:ea typeface="Arial"/>
                <a:cs typeface="Arial"/>
              </a:rPr>
              <a:t>~50</a:t>
            </a:r>
          </a:p>
        </p:txBody>
      </p:sp>
      <p:sp>
        <p:nvSpPr>
          <p:cNvPr id="21" name="Figure 11 label 17 line 1">
            <a:extLst xmlns:a="http://schemas.openxmlformats.org/drawingml/2006/main">
              <a:ext uri="{FF2B5EF4-FFF2-40B4-BE49-F238E27FC236}">
                <a16:creationId xmlns:a16="http://schemas.microsoft.com/office/drawing/2014/main" id="{2B23C840-84DD-4C12-943F-8E83410BFEBB}"/>
              </a:ext>
            </a:extLst>
          </p:cNvPr>
          <p:cNvSpPr>
            <a:spLocks xmlns:a="http://schemas.openxmlformats.org/drawingml/2006/main" noGrp="1"/>
          </p:cNvSpPr>
          <p:nvPr/>
        </p:nvSpPr>
        <p:spPr>
          <a:xfrm xmlns:a="http://schemas.openxmlformats.org/drawingml/2006/main" rot="0">
            <a:off x="7855431" y="5192839"/>
            <a:ext cx="1519863"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1">
                <a:solidFill>
                  <a:srgbClr val="00355F"/>
                </a:solidFill>
                <a:latin typeface="Arial"/>
                <a:ea typeface="Arial"/>
                <a:cs typeface="Arial"/>
              </a:defRPr>
            </a:defPPr>
          </a:lstStyle>
          <a:p xmlns:a="http://schemas.openxmlformats.org/drawingml/2006/main">
            <a:pPr algn="ctr">
              <a:lnSpc>
                <a:spcPct val="100000"/>
              </a:lnSpc>
              <a:buNone/>
              <a:defRPr sz="2400" b="1">
                <a:solidFill>
                  <a:srgbClr val="00355F"/>
                </a:solidFill>
                <a:latin typeface="Arial"/>
                <a:ea typeface="Arial"/>
                <a:cs typeface="Arial"/>
              </a:defRPr>
            </a:pPr>
            <a:r>
              <a:rPr sz="2400" b="1">
                <a:solidFill>
                  <a:srgbClr val="00355F"/>
                </a:solidFill>
                <a:latin typeface="Arial"/>
                <a:ea typeface="Arial"/>
                <a:cs typeface="Arial"/>
              </a:rPr>
              <a:t>50 → 500</a:t>
            </a:r>
          </a:p>
        </p:txBody>
      </p:sp>
      <p:sp>
        <p:nvSpPr>
          <p:cNvPr id="22" name="Figure 11 label 18 line 1">
            <a:extLst xmlns:a="http://schemas.openxmlformats.org/drawingml/2006/main">
              <a:ext uri="{FF2B5EF4-FFF2-40B4-BE49-F238E27FC236}">
                <a16:creationId xmlns:a16="http://schemas.microsoft.com/office/drawing/2014/main" id="{B84354F5-DA8D-40A4-B0C7-6CF286444A40}"/>
              </a:ext>
            </a:extLst>
          </p:cNvPr>
          <p:cNvSpPr>
            <a:spLocks xmlns:a="http://schemas.openxmlformats.org/drawingml/2006/main" noGrp="1"/>
          </p:cNvSpPr>
          <p:nvPr/>
        </p:nvSpPr>
        <p:spPr>
          <a:xfrm xmlns:a="http://schemas.openxmlformats.org/drawingml/2006/main" rot="0">
            <a:off x="10029825" y="5103019"/>
            <a:ext cx="403101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Illustrative capacity expansion</a:t>
            </a:r>
          </a:p>
        </p:txBody>
      </p:sp>
      <p:sp>
        <p:nvSpPr>
          <p:cNvPr id="23" name="Figure 11 label 18 line 2">
            <a:extLst xmlns:a="http://schemas.openxmlformats.org/drawingml/2006/main">
              <a:ext uri="{FF2B5EF4-FFF2-40B4-BE49-F238E27FC236}">
                <a16:creationId xmlns:a16="http://schemas.microsoft.com/office/drawing/2014/main" id="{A34DDC6B-5F9E-47BA-B35A-D6FB1B0744F1}"/>
              </a:ext>
            </a:extLst>
          </p:cNvPr>
          <p:cNvSpPr>
            <a:spLocks xmlns:a="http://schemas.openxmlformats.org/drawingml/2006/main" noGrp="1"/>
          </p:cNvSpPr>
          <p:nvPr/>
        </p:nvSpPr>
        <p:spPr>
          <a:xfrm xmlns:a="http://schemas.openxmlformats.org/drawingml/2006/main" rot="0">
            <a:off x="10029825" y="5400675"/>
            <a:ext cx="403101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that investors would need to fund.</a:t>
            </a:r>
          </a:p>
        </p:txBody>
      </p:sp>
      <p:sp>
        <p:nvSpPr>
          <p:cNvPr id="24" name="Figure 11 label 19 line 1">
            <a:extLst xmlns:a="http://schemas.openxmlformats.org/drawingml/2006/main">
              <a:ext uri="{FF2B5EF4-FFF2-40B4-BE49-F238E27FC236}">
                <a16:creationId xmlns:a16="http://schemas.microsoft.com/office/drawing/2014/main" id="{38E6FDCF-6353-404A-8E5B-DD8042A2D83C}"/>
              </a:ext>
            </a:extLst>
          </p:cNvPr>
          <p:cNvSpPr>
            <a:spLocks xmlns:a="http://schemas.openxmlformats.org/drawingml/2006/main" noGrp="1"/>
          </p:cNvSpPr>
          <p:nvPr/>
        </p:nvSpPr>
        <p:spPr>
          <a:xfrm xmlns:a="http://schemas.openxmlformats.org/drawingml/2006/main" rot="0">
            <a:off x="885825" y="6251972"/>
            <a:ext cx="151789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Clinical entry</a:t>
            </a:r>
          </a:p>
        </p:txBody>
      </p:sp>
      <p:sp>
        <p:nvSpPr>
          <p:cNvPr id="25" name="Figure 11 label 20 line 1">
            <a:extLst xmlns:a="http://schemas.openxmlformats.org/drawingml/2006/main">
              <a:ext uri="{FF2B5EF4-FFF2-40B4-BE49-F238E27FC236}">
                <a16:creationId xmlns:a16="http://schemas.microsoft.com/office/drawing/2014/main" id="{E64298CF-7416-4F97-A856-A17A0FAC5074}"/>
              </a:ext>
            </a:extLst>
          </p:cNvPr>
          <p:cNvSpPr>
            <a:spLocks xmlns:a="http://schemas.openxmlformats.org/drawingml/2006/main" noGrp="1"/>
          </p:cNvSpPr>
          <p:nvPr/>
        </p:nvSpPr>
        <p:spPr>
          <a:xfrm xmlns:a="http://schemas.openxmlformats.org/drawingml/2006/main" rot="0">
            <a:off x="6312232" y="6192964"/>
            <a:ext cx="36763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1</a:t>
            </a:r>
          </a:p>
        </p:txBody>
      </p:sp>
      <p:sp>
        <p:nvSpPr>
          <p:cNvPr id="26" name="Figure 11 label 21 line 1">
            <a:extLst xmlns:a="http://schemas.openxmlformats.org/drawingml/2006/main">
              <a:ext uri="{FF2B5EF4-FFF2-40B4-BE49-F238E27FC236}">
                <a16:creationId xmlns:a16="http://schemas.microsoft.com/office/drawing/2014/main" id="{937A0892-84C7-4947-96C7-7FEB45CB3593}"/>
              </a:ext>
            </a:extLst>
          </p:cNvPr>
          <p:cNvSpPr>
            <a:spLocks xmlns:a="http://schemas.openxmlformats.org/drawingml/2006/main" noGrp="1"/>
          </p:cNvSpPr>
          <p:nvPr/>
        </p:nvSpPr>
        <p:spPr>
          <a:xfrm xmlns:a="http://schemas.openxmlformats.org/drawingml/2006/main" rot="0">
            <a:off x="8431545" y="6192964"/>
            <a:ext cx="36763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1</a:t>
            </a:r>
          </a:p>
        </p:txBody>
      </p:sp>
      <p:sp>
        <p:nvSpPr>
          <p:cNvPr id="27" name="Figure 11 label 22 line 1">
            <a:extLst xmlns:a="http://schemas.openxmlformats.org/drawingml/2006/main">
              <a:ext uri="{FF2B5EF4-FFF2-40B4-BE49-F238E27FC236}">
                <a16:creationId xmlns:a16="http://schemas.microsoft.com/office/drawing/2014/main" id="{D59C93F8-D894-4684-B920-78858DBDA16E}"/>
              </a:ext>
            </a:extLst>
          </p:cNvPr>
          <p:cNvSpPr>
            <a:spLocks xmlns:a="http://schemas.openxmlformats.org/drawingml/2006/main" noGrp="1"/>
          </p:cNvSpPr>
          <p:nvPr/>
        </p:nvSpPr>
        <p:spPr>
          <a:xfrm xmlns:a="http://schemas.openxmlformats.org/drawingml/2006/main" rot="0">
            <a:off x="10029825" y="6103144"/>
            <a:ext cx="356979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Patients, ethics, capital and time</a:t>
            </a:r>
          </a:p>
        </p:txBody>
      </p:sp>
      <p:sp>
        <p:nvSpPr>
          <p:cNvPr id="28" name="Figure 11 label 22 line 2">
            <a:extLst xmlns:a="http://schemas.openxmlformats.org/drawingml/2006/main">
              <a:ext uri="{FF2B5EF4-FFF2-40B4-BE49-F238E27FC236}">
                <a16:creationId xmlns:a16="http://schemas.microsoft.com/office/drawing/2014/main" id="{1F7A1FDB-46FD-45D5-A901-5DAB214E4307}"/>
              </a:ext>
            </a:extLst>
          </p:cNvPr>
          <p:cNvSpPr>
            <a:spLocks xmlns:a="http://schemas.openxmlformats.org/drawingml/2006/main" noGrp="1"/>
          </p:cNvSpPr>
          <p:nvPr/>
        </p:nvSpPr>
        <p:spPr>
          <a:xfrm xmlns:a="http://schemas.openxmlformats.org/drawingml/2006/main" rot="0">
            <a:off x="10029825" y="6400800"/>
            <a:ext cx="356979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remain hard constraints.</a:t>
            </a:r>
          </a:p>
        </p:txBody>
      </p:sp>
      <p:sp>
        <p:nvSpPr>
          <p:cNvPr id="29" name="Figure 11 label 23 line 1">
            <a:extLst xmlns:a="http://schemas.openxmlformats.org/drawingml/2006/main">
              <a:ext uri="{FF2B5EF4-FFF2-40B4-BE49-F238E27FC236}">
                <a16:creationId xmlns:a16="http://schemas.microsoft.com/office/drawing/2014/main" id="{76702859-5BBB-44F8-9908-A2C6AEE026C4}"/>
              </a:ext>
            </a:extLst>
          </p:cNvPr>
          <p:cNvSpPr>
            <a:spLocks xmlns:a="http://schemas.openxmlformats.org/drawingml/2006/main" noGrp="1"/>
          </p:cNvSpPr>
          <p:nvPr/>
        </p:nvSpPr>
        <p:spPr>
          <a:xfrm xmlns:a="http://schemas.openxmlformats.org/drawingml/2006/main" rot="0">
            <a:off x="885825" y="7252097"/>
            <a:ext cx="2246412"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Expected approvals</a:t>
            </a:r>
          </a:p>
        </p:txBody>
      </p:sp>
      <p:sp>
        <p:nvSpPr>
          <p:cNvPr id="30" name="Figure 11 label 24 line 1">
            <a:extLst xmlns:a="http://schemas.openxmlformats.org/drawingml/2006/main">
              <a:ext uri="{FF2B5EF4-FFF2-40B4-BE49-F238E27FC236}">
                <a16:creationId xmlns:a16="http://schemas.microsoft.com/office/drawing/2014/main" id="{52C9EE72-9CC8-4346-B3D6-1DF85E824927}"/>
              </a:ext>
            </a:extLst>
          </p:cNvPr>
          <p:cNvSpPr>
            <a:spLocks xmlns:a="http://schemas.openxmlformats.org/drawingml/2006/main" noGrp="1"/>
          </p:cNvSpPr>
          <p:nvPr/>
        </p:nvSpPr>
        <p:spPr>
          <a:xfrm xmlns:a="http://schemas.openxmlformats.org/drawingml/2006/main" rot="0">
            <a:off x="6011376" y="7193089"/>
            <a:ext cx="969347"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~0.14</a:t>
            </a:r>
          </a:p>
        </p:txBody>
      </p:sp>
      <p:sp>
        <p:nvSpPr>
          <p:cNvPr id="31" name="Figure 11 label 25 line 1">
            <a:extLst xmlns:a="http://schemas.openxmlformats.org/drawingml/2006/main">
              <a:ext uri="{FF2B5EF4-FFF2-40B4-BE49-F238E27FC236}">
                <a16:creationId xmlns:a16="http://schemas.microsoft.com/office/drawing/2014/main" id="{2C2D4F82-83C9-4356-8C38-0175FAB8136C}"/>
              </a:ext>
            </a:extLst>
          </p:cNvPr>
          <p:cNvSpPr>
            <a:spLocks xmlns:a="http://schemas.openxmlformats.org/drawingml/2006/main" noGrp="1"/>
          </p:cNvSpPr>
          <p:nvPr/>
        </p:nvSpPr>
        <p:spPr>
          <a:xfrm xmlns:a="http://schemas.openxmlformats.org/drawingml/2006/main" rot="0">
            <a:off x="7880955" y="7193089"/>
            <a:ext cx="146881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Unknown</a:t>
            </a:r>
          </a:p>
        </p:txBody>
      </p:sp>
      <p:sp>
        <p:nvSpPr>
          <p:cNvPr id="32" name="Figure 11 label 26 line 1">
            <a:extLst xmlns:a="http://schemas.openxmlformats.org/drawingml/2006/main">
              <a:ext uri="{FF2B5EF4-FFF2-40B4-BE49-F238E27FC236}">
                <a16:creationId xmlns:a16="http://schemas.microsoft.com/office/drawing/2014/main" id="{9BED3FC9-79CD-4481-9814-0B7057602BCB}"/>
              </a:ext>
            </a:extLst>
          </p:cNvPr>
          <p:cNvSpPr>
            <a:spLocks xmlns:a="http://schemas.openxmlformats.org/drawingml/2006/main" noGrp="1"/>
          </p:cNvSpPr>
          <p:nvPr/>
        </p:nvSpPr>
        <p:spPr>
          <a:xfrm xmlns:a="http://schemas.openxmlformats.org/drawingml/2006/main" rot="0">
            <a:off x="10029825" y="7103269"/>
            <a:ext cx="4350246"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Clinical success must be demonstrated;</a:t>
            </a:r>
          </a:p>
        </p:txBody>
      </p:sp>
      <p:sp>
        <p:nvSpPr>
          <p:cNvPr id="33" name="Figure 11 label 26 line 2">
            <a:extLst xmlns:a="http://schemas.openxmlformats.org/drawingml/2006/main">
              <a:ext uri="{FF2B5EF4-FFF2-40B4-BE49-F238E27FC236}">
                <a16:creationId xmlns:a16="http://schemas.microsoft.com/office/drawing/2014/main" id="{15EC6B17-A452-417E-9A49-5D7147A8AF33}"/>
              </a:ext>
            </a:extLst>
          </p:cNvPr>
          <p:cNvSpPr>
            <a:spLocks xmlns:a="http://schemas.openxmlformats.org/drawingml/2006/main" noGrp="1"/>
          </p:cNvSpPr>
          <p:nvPr/>
        </p:nvSpPr>
        <p:spPr>
          <a:xfrm xmlns:a="http://schemas.openxmlformats.org/drawingml/2006/main" rot="0">
            <a:off x="10029825" y="7400925"/>
            <a:ext cx="4350246"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AI does not establish an approval rate.</a:t>
            </a:r>
          </a:p>
        </p:txBody>
      </p:sp>
      <p:sp>
        <p:nvSpPr>
          <p:cNvPr id="34" name="Figure 11 label 27 line 1">
            <a:extLst xmlns:a="http://schemas.openxmlformats.org/drawingml/2006/main">
              <a:ext uri="{FF2B5EF4-FFF2-40B4-BE49-F238E27FC236}">
                <a16:creationId xmlns:a16="http://schemas.microsoft.com/office/drawing/2014/main" id="{69EF5729-F728-491C-9409-E0CF9AEF494C}"/>
              </a:ext>
            </a:extLst>
          </p:cNvPr>
          <p:cNvSpPr>
            <a:spLocks xmlns:a="http://schemas.openxmlformats.org/drawingml/2006/main" noGrp="1"/>
          </p:cNvSpPr>
          <p:nvPr/>
        </p:nvSpPr>
        <p:spPr>
          <a:xfrm xmlns:a="http://schemas.openxmlformats.org/drawingml/2006/main" rot="0">
            <a:off x="1618107" y="8450961"/>
            <a:ext cx="1174384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lnSpc>
                <a:spcPct val="100000"/>
              </a:lnSpc>
              <a:buNone/>
              <a:defRPr sz="2100" b="1">
                <a:solidFill>
                  <a:srgbClr val="FFFFFF"/>
                </a:solidFill>
                <a:latin typeface="Arial"/>
                <a:ea typeface="Arial"/>
                <a:cs typeface="Arial"/>
              </a:defRPr>
            </a:pPr>
            <a:r>
              <a:rPr sz="2100" b="1">
                <a:solidFill>
                  <a:srgbClr val="FFFFFF"/>
                </a:solidFill>
                <a:latin typeface="Arial"/>
                <a:ea typeface="Arial"/>
                <a:cs typeface="Arial"/>
              </a:rPr>
              <a:t>Working thesis: experimental throughput becomes a capacity gate as virtual design scales.</a:t>
            </a:r>
          </a:p>
        </p:txBody>
      </p:sp>
      <p:sp>
        <p:nvSpPr>
          <p:cNvPr id="35" name="Figure 11 label 28 line 1">
            <a:extLst xmlns:a="http://schemas.openxmlformats.org/drawingml/2006/main">
              <a:ext uri="{FF2B5EF4-FFF2-40B4-BE49-F238E27FC236}">
                <a16:creationId xmlns:a16="http://schemas.microsoft.com/office/drawing/2014/main" id="{01F71296-4988-4D77-AEA0-1E0E28D02387}"/>
              </a:ext>
            </a:extLst>
          </p:cNvPr>
          <p:cNvSpPr>
            <a:spLocks xmlns:a="http://schemas.openxmlformats.org/drawingml/2006/main" noGrp="1"/>
          </p:cNvSpPr>
          <p:nvPr/>
        </p:nvSpPr>
        <p:spPr>
          <a:xfrm xmlns:a="http://schemas.openxmlformats.org/drawingml/2006/main" rot="0">
            <a:off x="679323" y="9533192"/>
            <a:ext cx="9740682"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Source: user-supplied comparison. ~0.14 is an illustrative expected approval count per clinical entrant; the AI-era outcome is unknown.</a:t>
            </a:r>
          </a:p>
        </p:txBody>
      </p:sp>
    </p:spTree>
    <p:extLst>
      <p:ext uri="{BB962C8B-B14F-4D97-AF65-F5344CB8AC3E}">
        <p14:creationId xmlns:p14="http://schemas.microsoft.com/office/powerpoint/2010/main" val="136418341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3" name="">
            <a:extLst xmlns:a="http://schemas.openxmlformats.org/drawingml/2006/main">
              <a:ext uri="{FF2B5EF4-FFF2-40B4-BE49-F238E27FC236}">
                <a16:creationId xmlns:a16="http://schemas.microsoft.com/office/drawing/2014/main" id="{B8D87036-E80A-4147-B695-AAD062B078D6}"/>
              </a:ext>
            </a:extLst>
          </p:cNvPr>
          <p:cNvPicPr>
            <a:picLocks xmlns:a="http://schemas.openxmlformats.org/drawingml/2006/main" noChangeAspect="1"/>
          </p:cNvPicPr>
          <p:nvPr/>
        </p:nvPicPr>
        <p:blipFill>
          <a:blip xmlns:r="http://schemas.openxmlformats.org/officeDocument/2006/relationships" xmlns:a="http://schemas.openxmlformats.org/drawingml/2006/main" r:embed="Rafb094fccf26409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2 label 1 line 1">
            <a:extLst xmlns:a="http://schemas.openxmlformats.org/drawingml/2006/main">
              <a:ext uri="{FF2B5EF4-FFF2-40B4-BE49-F238E27FC236}">
                <a16:creationId xmlns:a16="http://schemas.microsoft.com/office/drawing/2014/main" id="{61C58110-AFB6-4232-AAAC-4A5F8016B8F5}"/>
              </a:ext>
            </a:extLst>
          </p:cNvPr>
          <p:cNvSpPr>
            <a:spLocks xmlns:a="http://schemas.openxmlformats.org/drawingml/2006/main" noGrp="1"/>
          </p:cNvSpPr>
          <p:nvPr/>
        </p:nvSpPr>
        <p:spPr>
          <a:xfrm xmlns:a="http://schemas.openxmlformats.org/drawingml/2006/main" rot="0">
            <a:off x="1057351" y="255118"/>
            <a:ext cx="10475369"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360" b="1">
                <a:solidFill>
                  <a:srgbClr val="00355F"/>
                </a:solidFill>
                <a:latin typeface="Arial"/>
                <a:ea typeface="Arial"/>
                <a:cs typeface="Arial"/>
              </a:defRPr>
            </a:defPPr>
          </a:lstStyle>
          <a:p xmlns:a="http://schemas.openxmlformats.org/drawingml/2006/main">
            <a:pPr algn="l">
              <a:lnSpc>
                <a:spcPct val="100000"/>
              </a:lnSpc>
              <a:buNone/>
              <a:defRPr sz="3360" b="1">
                <a:solidFill>
                  <a:srgbClr val="00355F"/>
                </a:solidFill>
                <a:latin typeface="Arial"/>
                <a:ea typeface="Arial"/>
                <a:cs typeface="Arial"/>
              </a:defRPr>
            </a:pPr>
            <a:r>
              <a:rPr sz="3360" b="1">
                <a:solidFill>
                  <a:srgbClr val="00355F"/>
                </a:solidFill>
                <a:latin typeface="Arial"/>
                <a:ea typeface="Arial"/>
                <a:cs typeface="Arial"/>
              </a:rPr>
              <a:t>AI-scale design meets finite experimental capacity</a:t>
            </a:r>
          </a:p>
        </p:txBody>
      </p:sp>
      <p:sp>
        <p:nvSpPr>
          <p:cNvPr id="3" name="Figure 12 label 2 line 1">
            <a:extLst xmlns:a="http://schemas.openxmlformats.org/drawingml/2006/main">
              <a:ext uri="{FF2B5EF4-FFF2-40B4-BE49-F238E27FC236}">
                <a16:creationId xmlns:a16="http://schemas.microsoft.com/office/drawing/2014/main" id="{4864EF66-6B9A-4EE1-9537-BD846CB434AD}"/>
              </a:ext>
            </a:extLst>
          </p:cNvPr>
          <p:cNvSpPr>
            <a:spLocks xmlns:a="http://schemas.openxmlformats.org/drawingml/2006/main" noGrp="1"/>
          </p:cNvSpPr>
          <p:nvPr/>
        </p:nvSpPr>
        <p:spPr>
          <a:xfrm xmlns:a="http://schemas.openxmlformats.org/drawingml/2006/main" rot="0">
            <a:off x="1065581" y="951128"/>
            <a:ext cx="10618012"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0">
                <a:solidFill>
                  <a:srgbClr val="00355F"/>
                </a:solidFill>
                <a:latin typeface="Arial"/>
                <a:ea typeface="Arial"/>
                <a:cs typeface="Arial"/>
              </a:defRPr>
            </a:defPPr>
          </a:lstStyle>
          <a:p xmlns:a="http://schemas.openxmlformats.org/drawingml/2006/main">
            <a:pPr algn="l">
              <a:lnSpc>
                <a:spcPct val="100000"/>
              </a:lnSpc>
              <a:buNone/>
              <a:defRPr sz="1740" b="0">
                <a:solidFill>
                  <a:srgbClr val="00355F"/>
                </a:solidFill>
                <a:latin typeface="Arial"/>
                <a:ea typeface="Arial"/>
                <a:cs typeface="Arial"/>
              </a:defRPr>
            </a:pPr>
            <a:r>
              <a:rPr sz="1740" b="0">
                <a:solidFill>
                  <a:srgbClr val="00355F"/>
                </a:solidFill>
                <a:latin typeface="Arial"/>
                <a:ea typeface="Arial"/>
                <a:cs typeface="Arial"/>
              </a:rPr>
              <a:t>Working scenario: candidate generation expands faster than physical construction and biological validation.</a:t>
            </a:r>
          </a:p>
        </p:txBody>
      </p:sp>
      <p:sp>
        <p:nvSpPr>
          <p:cNvPr id="4" name="Figure 12 label 3 line 1">
            <a:extLst xmlns:a="http://schemas.openxmlformats.org/drawingml/2006/main">
              <a:ext uri="{FF2B5EF4-FFF2-40B4-BE49-F238E27FC236}">
                <a16:creationId xmlns:a16="http://schemas.microsoft.com/office/drawing/2014/main" id="{ADCC31A4-BB07-4C26-8B0E-179421516D9B}"/>
              </a:ext>
            </a:extLst>
          </p:cNvPr>
          <p:cNvSpPr>
            <a:spLocks xmlns:a="http://schemas.openxmlformats.org/drawingml/2006/main" noGrp="1"/>
          </p:cNvSpPr>
          <p:nvPr/>
        </p:nvSpPr>
        <p:spPr>
          <a:xfrm xmlns:a="http://schemas.openxmlformats.org/drawingml/2006/main" rot="0">
            <a:off x="753466" y="2013509"/>
            <a:ext cx="309441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AI-ERA DISCOVERY FUNNEL</a:t>
            </a:r>
          </a:p>
        </p:txBody>
      </p:sp>
      <p:sp>
        <p:nvSpPr>
          <p:cNvPr id="5" name="Figure 12 label 4 line 1">
            <a:extLst xmlns:a="http://schemas.openxmlformats.org/drawingml/2006/main">
              <a:ext uri="{FF2B5EF4-FFF2-40B4-BE49-F238E27FC236}">
                <a16:creationId xmlns:a16="http://schemas.microsoft.com/office/drawing/2014/main" id="{2DFE0EC8-995C-46D0-A3DA-06836E1B7948}"/>
              </a:ext>
            </a:extLst>
          </p:cNvPr>
          <p:cNvSpPr>
            <a:spLocks xmlns:a="http://schemas.openxmlformats.org/drawingml/2006/main" noGrp="1"/>
          </p:cNvSpPr>
          <p:nvPr/>
        </p:nvSpPr>
        <p:spPr>
          <a:xfrm xmlns:a="http://schemas.openxmlformats.org/drawingml/2006/main" rot="0">
            <a:off x="755294" y="2390852"/>
            <a:ext cx="313747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0">
                <a:solidFill>
                  <a:srgbClr val="00355F"/>
                </a:solidFill>
                <a:latin typeface="Arial"/>
                <a:ea typeface="Arial"/>
                <a:cs typeface="Arial"/>
              </a:defRPr>
            </a:defPPr>
          </a:lstStyle>
          <a:p xmlns:a="http://schemas.openxmlformats.org/drawingml/2006/main">
            <a:pPr algn="l">
              <a:lnSpc>
                <a:spcPct val="100000"/>
              </a:lnSpc>
              <a:buNone/>
              <a:defRPr sz="1320" b="0">
                <a:solidFill>
                  <a:srgbClr val="00355F"/>
                </a:solidFill>
                <a:latin typeface="Arial"/>
                <a:ea typeface="Arial"/>
                <a:cs typeface="Arial"/>
              </a:defRPr>
            </a:pPr>
            <a:r>
              <a:rPr sz="1320" b="0">
                <a:solidFill>
                  <a:srgbClr val="00355F"/>
                </a:solidFill>
                <a:latin typeface="Arial"/>
                <a:ea typeface="Arial"/>
                <a:cs typeface="Arial"/>
              </a:rPr>
              <a:t>Illustrative counts per one clinical entrant</a:t>
            </a:r>
          </a:p>
        </p:txBody>
      </p:sp>
      <p:sp>
        <p:nvSpPr>
          <p:cNvPr id="6" name="Figure 12 label 5 line 1">
            <a:extLst xmlns:a="http://schemas.openxmlformats.org/drawingml/2006/main">
              <a:ext uri="{FF2B5EF4-FFF2-40B4-BE49-F238E27FC236}">
                <a16:creationId xmlns:a16="http://schemas.microsoft.com/office/drawing/2014/main" id="{11848BC8-1F80-4111-A49F-015002559005}"/>
              </a:ext>
            </a:extLst>
          </p:cNvPr>
          <p:cNvSpPr>
            <a:spLocks xmlns:a="http://schemas.openxmlformats.org/drawingml/2006/main" noGrp="1"/>
          </p:cNvSpPr>
          <p:nvPr/>
        </p:nvSpPr>
        <p:spPr>
          <a:xfrm xmlns:a="http://schemas.openxmlformats.org/drawingml/2006/main" rot="0">
            <a:off x="2490927" y="3039008"/>
            <a:ext cx="172374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lnSpc>
                <a:spcPct val="100000"/>
              </a:lnSpc>
              <a:buNone/>
              <a:defRPr sz="1740" b="1">
                <a:solidFill>
                  <a:srgbClr val="00355F"/>
                </a:solidFill>
                <a:latin typeface="Arial"/>
                <a:ea typeface="Arial"/>
                <a:cs typeface="Arial"/>
              </a:defRPr>
            </a:pPr>
            <a:r>
              <a:rPr sz="1740" b="1">
                <a:solidFill>
                  <a:srgbClr val="00355F"/>
                </a:solidFill>
                <a:latin typeface="Arial"/>
                <a:ea typeface="Arial"/>
                <a:cs typeface="Arial"/>
              </a:rPr>
              <a:t>Virtual designs</a:t>
            </a:r>
          </a:p>
        </p:txBody>
      </p:sp>
      <p:sp>
        <p:nvSpPr>
          <p:cNvPr id="7" name="Figure 12 label 6 line 1">
            <a:extLst xmlns:a="http://schemas.openxmlformats.org/drawingml/2006/main">
              <a:ext uri="{FF2B5EF4-FFF2-40B4-BE49-F238E27FC236}">
                <a16:creationId xmlns:a16="http://schemas.microsoft.com/office/drawing/2014/main" id="{19F82968-E5BD-484F-A25F-B026FD6FEFCF}"/>
              </a:ext>
            </a:extLst>
          </p:cNvPr>
          <p:cNvSpPr>
            <a:spLocks xmlns:a="http://schemas.openxmlformats.org/drawingml/2006/main" noGrp="1"/>
          </p:cNvSpPr>
          <p:nvPr/>
        </p:nvSpPr>
        <p:spPr>
          <a:xfrm xmlns:a="http://schemas.openxmlformats.org/drawingml/2006/main" rot="0">
            <a:off x="2699665" y="3352343"/>
            <a:ext cx="130627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80" b="1">
                <a:solidFill>
                  <a:srgbClr val="00355F"/>
                </a:solidFill>
                <a:latin typeface="Arial"/>
                <a:ea typeface="Arial"/>
                <a:cs typeface="Arial"/>
              </a:defRPr>
            </a:defPPr>
          </a:lstStyle>
          <a:p xmlns:a="http://schemas.openxmlformats.org/drawingml/2006/main">
            <a:pPr algn="ctr">
              <a:lnSpc>
                <a:spcPct val="100000"/>
              </a:lnSpc>
              <a:buNone/>
              <a:defRPr sz="2580" b="1">
                <a:solidFill>
                  <a:srgbClr val="00355F"/>
                </a:solidFill>
                <a:latin typeface="Arial"/>
                <a:ea typeface="Arial"/>
                <a:cs typeface="Arial"/>
              </a:defRPr>
            </a:pPr>
            <a:r>
              <a:rPr sz="2580" b="1">
                <a:solidFill>
                  <a:srgbClr val="00355F"/>
                </a:solidFill>
                <a:latin typeface="Arial"/>
                <a:ea typeface="Arial"/>
                <a:cs typeface="Arial"/>
              </a:rPr>
              <a:t>10⁵–10⁹</a:t>
            </a:r>
          </a:p>
        </p:txBody>
      </p:sp>
      <p:sp>
        <p:nvSpPr>
          <p:cNvPr id="8" name="Figure 12 label 7 line 1">
            <a:extLst xmlns:a="http://schemas.openxmlformats.org/drawingml/2006/main">
              <a:ext uri="{FF2B5EF4-FFF2-40B4-BE49-F238E27FC236}">
                <a16:creationId xmlns:a16="http://schemas.microsoft.com/office/drawing/2014/main" id="{CE28EBED-B647-43C3-ADEB-4F1ACDBCA9CB}"/>
              </a:ext>
            </a:extLst>
          </p:cNvPr>
          <p:cNvSpPr>
            <a:spLocks xmlns:a="http://schemas.openxmlformats.org/drawingml/2006/main" noGrp="1"/>
          </p:cNvSpPr>
          <p:nvPr/>
        </p:nvSpPr>
        <p:spPr>
          <a:xfrm xmlns:a="http://schemas.openxmlformats.org/drawingml/2006/main" rot="0">
            <a:off x="2421053" y="4242968"/>
            <a:ext cx="186349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lnSpc>
                <a:spcPct val="100000"/>
              </a:lnSpc>
              <a:buNone/>
              <a:defRPr sz="1740" b="1">
                <a:solidFill>
                  <a:srgbClr val="00355F"/>
                </a:solidFill>
                <a:latin typeface="Arial"/>
                <a:ea typeface="Arial"/>
                <a:cs typeface="Arial"/>
              </a:defRPr>
            </a:pPr>
            <a:r>
              <a:rPr sz="1740" b="1">
                <a:solidFill>
                  <a:srgbClr val="00355F"/>
                </a:solidFill>
                <a:latin typeface="Arial"/>
                <a:ea typeface="Arial"/>
                <a:cs typeface="Arial"/>
              </a:rPr>
              <a:t>Physically made</a:t>
            </a:r>
          </a:p>
        </p:txBody>
      </p:sp>
      <p:sp>
        <p:nvSpPr>
          <p:cNvPr id="9" name="Figure 12 label 8 line 1">
            <a:extLst xmlns:a="http://schemas.openxmlformats.org/drawingml/2006/main">
              <a:ext uri="{FF2B5EF4-FFF2-40B4-BE49-F238E27FC236}">
                <a16:creationId xmlns:a16="http://schemas.microsoft.com/office/drawing/2014/main" id="{E1D5B58D-978D-4B81-A75E-2B38AE287A27}"/>
              </a:ext>
            </a:extLst>
          </p:cNvPr>
          <p:cNvSpPr>
            <a:spLocks xmlns:a="http://schemas.openxmlformats.org/drawingml/2006/main" noGrp="1"/>
          </p:cNvSpPr>
          <p:nvPr/>
        </p:nvSpPr>
        <p:spPr>
          <a:xfrm xmlns:a="http://schemas.openxmlformats.org/drawingml/2006/main" rot="0">
            <a:off x="2690512" y="4556303"/>
            <a:ext cx="1324576"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80" b="1">
                <a:solidFill>
                  <a:srgbClr val="00355F"/>
                </a:solidFill>
                <a:latin typeface="Arial"/>
                <a:ea typeface="Arial"/>
                <a:cs typeface="Arial"/>
              </a:defRPr>
            </a:defPPr>
          </a:lstStyle>
          <a:p xmlns:a="http://schemas.openxmlformats.org/drawingml/2006/main">
            <a:pPr algn="ctr">
              <a:lnSpc>
                <a:spcPct val="100000"/>
              </a:lnSpc>
              <a:buNone/>
              <a:defRPr sz="2580" b="1">
                <a:solidFill>
                  <a:srgbClr val="00355F"/>
                </a:solidFill>
                <a:latin typeface="Arial"/>
                <a:ea typeface="Arial"/>
                <a:cs typeface="Arial"/>
              </a:defRPr>
            </a:pPr>
            <a:r>
              <a:rPr sz="2580" b="1">
                <a:solidFill>
                  <a:srgbClr val="00355F"/>
                </a:solidFill>
                <a:latin typeface="Arial"/>
                <a:ea typeface="Arial"/>
                <a:cs typeface="Arial"/>
              </a:rPr>
              <a:t>10³–10⁴</a:t>
            </a:r>
          </a:p>
        </p:txBody>
      </p:sp>
      <p:sp>
        <p:nvSpPr>
          <p:cNvPr id="10" name="Figure 12 label 9 line 1">
            <a:extLst xmlns:a="http://schemas.openxmlformats.org/drawingml/2006/main">
              <a:ext uri="{FF2B5EF4-FFF2-40B4-BE49-F238E27FC236}">
                <a16:creationId xmlns:a16="http://schemas.microsoft.com/office/drawing/2014/main" id="{C7620889-8569-449A-A055-6ED99B4B848E}"/>
              </a:ext>
            </a:extLst>
          </p:cNvPr>
          <p:cNvSpPr>
            <a:spLocks xmlns:a="http://schemas.openxmlformats.org/drawingml/2006/main" noGrp="1"/>
          </p:cNvSpPr>
          <p:nvPr/>
        </p:nvSpPr>
        <p:spPr>
          <a:xfrm xmlns:a="http://schemas.openxmlformats.org/drawingml/2006/main" rot="0">
            <a:off x="2587294" y="5340248"/>
            <a:ext cx="1531013"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FFFFFF"/>
                </a:solidFill>
                <a:latin typeface="Arial"/>
                <a:ea typeface="Arial"/>
                <a:cs typeface="Arial"/>
              </a:defRPr>
            </a:defPPr>
          </a:lstStyle>
          <a:p xmlns:a="http://schemas.openxmlformats.org/drawingml/2006/main">
            <a:pPr algn="ctr">
              <a:lnSpc>
                <a:spcPct val="100000"/>
              </a:lnSpc>
              <a:buNone/>
              <a:defRPr sz="1740" b="1">
                <a:solidFill>
                  <a:srgbClr val="FFFFFF"/>
                </a:solidFill>
                <a:latin typeface="Arial"/>
                <a:ea typeface="Arial"/>
                <a:cs typeface="Arial"/>
              </a:defRPr>
            </a:pPr>
            <a:r>
              <a:rPr sz="1740" b="1">
                <a:solidFill>
                  <a:srgbClr val="FFFFFF"/>
                </a:solidFill>
                <a:latin typeface="Arial"/>
                <a:ea typeface="Arial"/>
                <a:cs typeface="Arial"/>
              </a:rPr>
              <a:t>Fully profiled</a:t>
            </a:r>
          </a:p>
        </p:txBody>
      </p:sp>
      <p:sp>
        <p:nvSpPr>
          <p:cNvPr id="11" name="Figure 12 label 10 line 1">
            <a:extLst xmlns:a="http://schemas.openxmlformats.org/drawingml/2006/main">
              <a:ext uri="{FF2B5EF4-FFF2-40B4-BE49-F238E27FC236}">
                <a16:creationId xmlns:a16="http://schemas.microsoft.com/office/drawing/2014/main" id="{D7D58934-3D55-4FE2-AC4A-91B382FEA512}"/>
              </a:ext>
            </a:extLst>
          </p:cNvPr>
          <p:cNvSpPr>
            <a:spLocks xmlns:a="http://schemas.openxmlformats.org/drawingml/2006/main" noGrp="1"/>
          </p:cNvSpPr>
          <p:nvPr/>
        </p:nvSpPr>
        <p:spPr>
          <a:xfrm xmlns:a="http://schemas.openxmlformats.org/drawingml/2006/main" rot="0">
            <a:off x="2535805" y="5653583"/>
            <a:ext cx="163399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80" b="1">
                <a:solidFill>
                  <a:srgbClr val="FFFFFF"/>
                </a:solidFill>
                <a:latin typeface="Arial"/>
                <a:ea typeface="Arial"/>
                <a:cs typeface="Arial"/>
              </a:defRPr>
            </a:defPPr>
          </a:lstStyle>
          <a:p xmlns:a="http://schemas.openxmlformats.org/drawingml/2006/main">
            <a:pPr algn="ctr">
              <a:lnSpc>
                <a:spcPct val="100000"/>
              </a:lnSpc>
              <a:buNone/>
              <a:defRPr sz="2580" b="1">
                <a:solidFill>
                  <a:srgbClr val="FFFFFF"/>
                </a:solidFill>
                <a:latin typeface="Arial"/>
                <a:ea typeface="Arial"/>
                <a:cs typeface="Arial"/>
              </a:defRPr>
            </a:pPr>
            <a:r>
              <a:rPr sz="2580" b="1">
                <a:solidFill>
                  <a:srgbClr val="FFFFFF"/>
                </a:solidFill>
                <a:latin typeface="Arial"/>
                <a:ea typeface="Arial"/>
                <a:cs typeface="Arial"/>
              </a:rPr>
              <a:t>50 → 500</a:t>
            </a:r>
          </a:p>
        </p:txBody>
      </p:sp>
      <p:sp>
        <p:nvSpPr>
          <p:cNvPr id="12" name="Figure 12 label 11 line 1">
            <a:extLst xmlns:a="http://schemas.openxmlformats.org/drawingml/2006/main">
              <a:ext uri="{FF2B5EF4-FFF2-40B4-BE49-F238E27FC236}">
                <a16:creationId xmlns:a16="http://schemas.microsoft.com/office/drawing/2014/main" id="{C821319F-C569-4DE5-A0D4-B058D4BF7730}"/>
              </a:ext>
            </a:extLst>
          </p:cNvPr>
          <p:cNvSpPr>
            <a:spLocks xmlns:a="http://schemas.openxmlformats.org/drawingml/2006/main" noGrp="1"/>
          </p:cNvSpPr>
          <p:nvPr/>
        </p:nvSpPr>
        <p:spPr>
          <a:xfrm xmlns:a="http://schemas.openxmlformats.org/drawingml/2006/main" rot="0">
            <a:off x="2745474" y="6487211"/>
            <a:ext cx="1214652"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Clinical entry</a:t>
            </a:r>
          </a:p>
        </p:txBody>
      </p:sp>
      <p:sp>
        <p:nvSpPr>
          <p:cNvPr id="13" name="Figure 12 label 12 line 1">
            <a:extLst xmlns:a="http://schemas.openxmlformats.org/drawingml/2006/main">
              <a:ext uri="{FF2B5EF4-FFF2-40B4-BE49-F238E27FC236}">
                <a16:creationId xmlns:a16="http://schemas.microsoft.com/office/drawing/2014/main" id="{8F1FF432-5E5A-44C4-B23B-A1578609497D}"/>
              </a:ext>
            </a:extLst>
          </p:cNvPr>
          <p:cNvSpPr>
            <a:spLocks xmlns:a="http://schemas.openxmlformats.org/drawingml/2006/main" noGrp="1"/>
          </p:cNvSpPr>
          <p:nvPr/>
        </p:nvSpPr>
        <p:spPr>
          <a:xfrm xmlns:a="http://schemas.openxmlformats.org/drawingml/2006/main" rot="0">
            <a:off x="3224076" y="6829349"/>
            <a:ext cx="25744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0" b="1">
                <a:solidFill>
                  <a:srgbClr val="00355F"/>
                </a:solidFill>
                <a:latin typeface="Arial"/>
                <a:ea typeface="Arial"/>
                <a:cs typeface="Arial"/>
              </a:defRPr>
            </a:defPPr>
          </a:lstStyle>
          <a:p xmlns:a="http://schemas.openxmlformats.org/drawingml/2006/main">
            <a:pPr algn="ctr">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1</a:t>
            </a:r>
          </a:p>
        </p:txBody>
      </p:sp>
      <p:sp>
        <p:nvSpPr>
          <p:cNvPr id="14" name="Figure 12 label 13 line 1">
            <a:extLst xmlns:a="http://schemas.openxmlformats.org/drawingml/2006/main">
              <a:ext uri="{FF2B5EF4-FFF2-40B4-BE49-F238E27FC236}">
                <a16:creationId xmlns:a16="http://schemas.microsoft.com/office/drawing/2014/main" id="{3A1ED2FE-82F1-4F3F-8AEA-14A7C6BA04A2}"/>
              </a:ext>
            </a:extLst>
          </p:cNvPr>
          <p:cNvSpPr>
            <a:spLocks xmlns:a="http://schemas.openxmlformats.org/drawingml/2006/main" noGrp="1"/>
          </p:cNvSpPr>
          <p:nvPr/>
        </p:nvSpPr>
        <p:spPr>
          <a:xfrm xmlns:a="http://schemas.openxmlformats.org/drawingml/2006/main" rot="0">
            <a:off x="2867290" y="7424471"/>
            <a:ext cx="97102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Approvals</a:t>
            </a:r>
          </a:p>
        </p:txBody>
      </p:sp>
      <p:sp>
        <p:nvSpPr>
          <p:cNvPr id="15" name="Figure 12 label 14 line 1">
            <a:extLst xmlns:a="http://schemas.openxmlformats.org/drawingml/2006/main">
              <a:ext uri="{FF2B5EF4-FFF2-40B4-BE49-F238E27FC236}">
                <a16:creationId xmlns:a16="http://schemas.microsoft.com/office/drawing/2014/main" id="{89415F42-5BF8-4C7B-816B-A78A478233E4}"/>
              </a:ext>
            </a:extLst>
          </p:cNvPr>
          <p:cNvSpPr>
            <a:spLocks xmlns:a="http://schemas.openxmlformats.org/drawingml/2006/main" noGrp="1"/>
          </p:cNvSpPr>
          <p:nvPr/>
        </p:nvSpPr>
        <p:spPr>
          <a:xfrm xmlns:a="http://schemas.openxmlformats.org/drawingml/2006/main" rot="0">
            <a:off x="2803413" y="7766609"/>
            <a:ext cx="10987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0" b="1">
                <a:solidFill>
                  <a:srgbClr val="00355F"/>
                </a:solidFill>
                <a:latin typeface="Arial"/>
                <a:ea typeface="Arial"/>
                <a:cs typeface="Arial"/>
              </a:defRPr>
            </a:defPPr>
          </a:lstStyle>
          <a:p xmlns:a="http://schemas.openxmlformats.org/drawingml/2006/main">
            <a:pPr algn="ctr">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Unknown</a:t>
            </a:r>
          </a:p>
        </p:txBody>
      </p:sp>
      <p:sp>
        <p:nvSpPr>
          <p:cNvPr id="16" name="Figure 12 label 15 line 1">
            <a:extLst xmlns:a="http://schemas.openxmlformats.org/drawingml/2006/main">
              <a:ext uri="{FF2B5EF4-FFF2-40B4-BE49-F238E27FC236}">
                <a16:creationId xmlns:a16="http://schemas.microsoft.com/office/drawing/2014/main" id="{B345F942-DBD4-483C-B123-BA81696256DC}"/>
              </a:ext>
            </a:extLst>
          </p:cNvPr>
          <p:cNvSpPr>
            <a:spLocks xmlns:a="http://schemas.openxmlformats.org/drawingml/2006/main" noGrp="1"/>
          </p:cNvSpPr>
          <p:nvPr/>
        </p:nvSpPr>
        <p:spPr>
          <a:xfrm xmlns:a="http://schemas.openxmlformats.org/drawingml/2006/main" rot="0">
            <a:off x="1438961" y="8571128"/>
            <a:ext cx="2893832"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1">
                <a:solidFill>
                  <a:srgbClr val="00355F"/>
                </a:solidFill>
                <a:latin typeface="Arial"/>
                <a:ea typeface="Arial"/>
                <a:cs typeface="Arial"/>
              </a:defRPr>
            </a:defPPr>
          </a:lstStyle>
          <a:p xmlns:a="http://schemas.openxmlformats.org/drawingml/2006/main">
            <a:pPr algn="l">
              <a:lnSpc>
                <a:spcPct val="100000"/>
              </a:lnSpc>
              <a:buNone/>
              <a:defRPr sz="1740" b="1">
                <a:solidFill>
                  <a:srgbClr val="00355F"/>
                </a:solidFill>
                <a:latin typeface="Arial"/>
                <a:ea typeface="Arial"/>
                <a:cs typeface="Arial"/>
              </a:defRPr>
            </a:pPr>
            <a:r>
              <a:rPr sz="1740" b="1">
                <a:solidFill>
                  <a:srgbClr val="00355F"/>
                </a:solidFill>
                <a:latin typeface="Arial"/>
                <a:ea typeface="Arial"/>
                <a:cs typeface="Arial"/>
              </a:rPr>
              <a:t>WET LAB = BUILD + TEST</a:t>
            </a:r>
          </a:p>
        </p:txBody>
      </p:sp>
      <p:sp>
        <p:nvSpPr>
          <p:cNvPr id="17" name="Figure 12 label 16 line 1">
            <a:extLst xmlns:a="http://schemas.openxmlformats.org/drawingml/2006/main">
              <a:ext uri="{FF2B5EF4-FFF2-40B4-BE49-F238E27FC236}">
                <a16:creationId xmlns:a16="http://schemas.microsoft.com/office/drawing/2014/main" id="{C5106EEF-1ADD-4B38-8CD1-607B73598875}"/>
              </a:ext>
            </a:extLst>
          </p:cNvPr>
          <p:cNvSpPr>
            <a:spLocks xmlns:a="http://schemas.openxmlformats.org/drawingml/2006/main" noGrp="1"/>
          </p:cNvSpPr>
          <p:nvPr/>
        </p:nvSpPr>
        <p:spPr>
          <a:xfrm xmlns:a="http://schemas.openxmlformats.org/drawingml/2006/main" rot="0">
            <a:off x="755599" y="9236812"/>
            <a:ext cx="256771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Funnel widths are schematic.</a:t>
            </a:r>
          </a:p>
        </p:txBody>
      </p:sp>
      <p:sp>
        <p:nvSpPr>
          <p:cNvPr id="18" name="Figure 12 label 16 line 2">
            <a:extLst xmlns:a="http://schemas.openxmlformats.org/drawingml/2006/main">
              <a:ext uri="{FF2B5EF4-FFF2-40B4-BE49-F238E27FC236}">
                <a16:creationId xmlns:a16="http://schemas.microsoft.com/office/drawing/2014/main" id="{049C4579-3002-497C-91AF-6D92E342CA92}"/>
              </a:ext>
            </a:extLst>
          </p:cNvPr>
          <p:cNvSpPr>
            <a:spLocks xmlns:a="http://schemas.openxmlformats.org/drawingml/2006/main" noGrp="1"/>
          </p:cNvSpPr>
          <p:nvPr/>
        </p:nvSpPr>
        <p:spPr>
          <a:xfrm xmlns:a="http://schemas.openxmlformats.org/drawingml/2006/main" rot="0">
            <a:off x="755599" y="9436837"/>
            <a:ext cx="256771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Clinical success remains unproven</a:t>
            </a:r>
          </a:p>
        </p:txBody>
      </p:sp>
      <p:sp>
        <p:nvSpPr>
          <p:cNvPr id="19" name="Figure 12 label 16 line 3">
            <a:extLst xmlns:a="http://schemas.openxmlformats.org/drawingml/2006/main">
              <a:ext uri="{FF2B5EF4-FFF2-40B4-BE49-F238E27FC236}">
                <a16:creationId xmlns:a16="http://schemas.microsoft.com/office/drawing/2014/main" id="{30E20CC3-B641-4A18-9114-3BFB9F1F0EC7}"/>
              </a:ext>
            </a:extLst>
          </p:cNvPr>
          <p:cNvSpPr>
            <a:spLocks xmlns:a="http://schemas.openxmlformats.org/drawingml/2006/main" noGrp="1"/>
          </p:cNvSpPr>
          <p:nvPr/>
        </p:nvSpPr>
        <p:spPr>
          <a:xfrm xmlns:a="http://schemas.openxmlformats.org/drawingml/2006/main" rot="0">
            <a:off x="755599" y="9636862"/>
            <a:ext cx="256771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in this scenario.</a:t>
            </a:r>
          </a:p>
        </p:txBody>
      </p:sp>
      <p:sp>
        <p:nvSpPr>
          <p:cNvPr id="20" name="Figure 12 label 17 line 1">
            <a:extLst xmlns:a="http://schemas.openxmlformats.org/drawingml/2006/main">
              <a:ext uri="{FF2B5EF4-FFF2-40B4-BE49-F238E27FC236}">
                <a16:creationId xmlns:a16="http://schemas.microsoft.com/office/drawing/2014/main" id="{C49F5A3A-BCF3-4494-B5AC-3653441E0652}"/>
              </a:ext>
            </a:extLst>
          </p:cNvPr>
          <p:cNvSpPr>
            <a:spLocks xmlns:a="http://schemas.openxmlformats.org/drawingml/2006/main" noGrp="1"/>
          </p:cNvSpPr>
          <p:nvPr/>
        </p:nvSpPr>
        <p:spPr>
          <a:xfrm xmlns:a="http://schemas.openxmlformats.org/drawingml/2006/main" rot="0">
            <a:off x="6976568" y="1987906"/>
            <a:ext cx="603216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60" b="1">
                <a:solidFill>
                  <a:srgbClr val="00355F"/>
                </a:solidFill>
                <a:latin typeface="Arial"/>
                <a:ea typeface="Arial"/>
                <a:cs typeface="Arial"/>
              </a:defRPr>
            </a:defPPr>
          </a:lstStyle>
          <a:p xmlns:a="http://schemas.openxmlformats.org/drawingml/2006/main">
            <a:pPr algn="l">
              <a:lnSpc>
                <a:spcPct val="100000"/>
              </a:lnSpc>
              <a:buNone/>
              <a:defRPr sz="2160" b="1">
                <a:solidFill>
                  <a:srgbClr val="00355F"/>
                </a:solidFill>
                <a:latin typeface="Arial"/>
                <a:ea typeface="Arial"/>
                <a:cs typeface="Arial"/>
              </a:defRPr>
            </a:pPr>
            <a:r>
              <a:rPr sz="2160" b="1">
                <a:solidFill>
                  <a:srgbClr val="00355F"/>
                </a:solidFill>
                <a:latin typeface="Arial"/>
                <a:ea typeface="Arial"/>
                <a:cs typeface="Arial"/>
              </a:rPr>
              <a:t>The LST ecosystem behind the capacity gate</a:t>
            </a:r>
          </a:p>
        </p:txBody>
      </p:sp>
      <p:sp>
        <p:nvSpPr>
          <p:cNvPr id="21" name="Figure 12 label 18 line 1">
            <a:extLst xmlns:a="http://schemas.openxmlformats.org/drawingml/2006/main">
              <a:ext uri="{FF2B5EF4-FFF2-40B4-BE49-F238E27FC236}">
                <a16:creationId xmlns:a16="http://schemas.microsoft.com/office/drawing/2014/main" id="{7483BDE0-70AF-4BE2-9D42-E00481E7E5D3}"/>
              </a:ext>
            </a:extLst>
          </p:cNvPr>
          <p:cNvSpPr>
            <a:spLocks xmlns:a="http://schemas.openxmlformats.org/drawingml/2006/main" noGrp="1"/>
          </p:cNvSpPr>
          <p:nvPr/>
        </p:nvSpPr>
        <p:spPr>
          <a:xfrm xmlns:a="http://schemas.openxmlformats.org/drawingml/2006/main" rot="0">
            <a:off x="6981445" y="2450592"/>
            <a:ext cx="5458807"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Selected market anchors · different scopes and years · do not add these values</a:t>
            </a:r>
          </a:p>
        </p:txBody>
      </p:sp>
      <p:sp>
        <p:nvSpPr>
          <p:cNvPr id="22" name="Figure 12 label 19 line 1">
            <a:extLst xmlns:a="http://schemas.openxmlformats.org/drawingml/2006/main">
              <a:ext uri="{FF2B5EF4-FFF2-40B4-BE49-F238E27FC236}">
                <a16:creationId xmlns:a16="http://schemas.microsoft.com/office/drawing/2014/main" id="{02472857-128F-4B6D-8446-A275C775A90B}"/>
              </a:ext>
            </a:extLst>
          </p:cNvPr>
          <p:cNvSpPr>
            <a:spLocks xmlns:a="http://schemas.openxmlformats.org/drawingml/2006/main" noGrp="1"/>
          </p:cNvSpPr>
          <p:nvPr/>
        </p:nvSpPr>
        <p:spPr>
          <a:xfrm xmlns:a="http://schemas.openxmlformats.org/drawingml/2006/main" rot="0">
            <a:off x="7543495" y="2934310"/>
            <a:ext cx="230851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Molecular construction</a:t>
            </a:r>
          </a:p>
        </p:txBody>
      </p:sp>
      <p:sp>
        <p:nvSpPr>
          <p:cNvPr id="23" name="Figure 12 label 20 line 1">
            <a:extLst xmlns:a="http://schemas.openxmlformats.org/drawingml/2006/main">
              <a:ext uri="{FF2B5EF4-FFF2-40B4-BE49-F238E27FC236}">
                <a16:creationId xmlns:a16="http://schemas.microsoft.com/office/drawing/2014/main" id="{538BE4D0-89C3-486C-8878-3B1A93318F64}"/>
              </a:ext>
            </a:extLst>
          </p:cNvPr>
          <p:cNvSpPr>
            <a:spLocks xmlns:a="http://schemas.openxmlformats.org/drawingml/2006/main" noGrp="1"/>
          </p:cNvSpPr>
          <p:nvPr/>
        </p:nvSpPr>
        <p:spPr>
          <a:xfrm xmlns:a="http://schemas.openxmlformats.org/drawingml/2006/main" rot="0">
            <a:off x="7133540" y="3323692"/>
            <a:ext cx="2336286"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DNA / RNA synthesis, enzymes</a:t>
            </a:r>
          </a:p>
        </p:txBody>
      </p:sp>
      <p:sp>
        <p:nvSpPr>
          <p:cNvPr id="24" name="Figure 12 label 20 line 2">
            <a:extLst xmlns:a="http://schemas.openxmlformats.org/drawingml/2006/main">
              <a:ext uri="{FF2B5EF4-FFF2-40B4-BE49-F238E27FC236}">
                <a16:creationId xmlns:a16="http://schemas.microsoft.com/office/drawing/2014/main" id="{09E65A35-A2A3-4E0D-982B-A6C93B9EE668}"/>
              </a:ext>
            </a:extLst>
          </p:cNvPr>
          <p:cNvSpPr>
            <a:spLocks xmlns:a="http://schemas.openxmlformats.org/drawingml/2006/main" noGrp="1"/>
          </p:cNvSpPr>
          <p:nvPr/>
        </p:nvSpPr>
        <p:spPr>
          <a:xfrm xmlns:a="http://schemas.openxmlformats.org/drawingml/2006/main" rot="0">
            <a:off x="7133540" y="3523717"/>
            <a:ext cx="2336286"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Chemical building blocks</a:t>
            </a:r>
          </a:p>
        </p:txBody>
      </p:sp>
      <p:sp>
        <p:nvSpPr>
          <p:cNvPr id="25" name="Figure 12 label 21 line 1">
            <a:extLst xmlns:a="http://schemas.openxmlformats.org/drawingml/2006/main">
              <a:ext uri="{FF2B5EF4-FFF2-40B4-BE49-F238E27FC236}">
                <a16:creationId xmlns:a16="http://schemas.microsoft.com/office/drawing/2014/main" id="{B2E695A5-BA56-4F39-A86A-03456FF08FEA}"/>
              </a:ext>
            </a:extLst>
          </p:cNvPr>
          <p:cNvSpPr>
            <a:spLocks xmlns:a="http://schemas.openxmlformats.org/drawingml/2006/main" noGrp="1"/>
          </p:cNvSpPr>
          <p:nvPr/>
        </p:nvSpPr>
        <p:spPr>
          <a:xfrm xmlns:a="http://schemas.openxmlformats.org/drawingml/2006/main" rot="0">
            <a:off x="7128663" y="3752545"/>
            <a:ext cx="1796856"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RMB 1.33bn</a:t>
            </a:r>
          </a:p>
        </p:txBody>
      </p:sp>
      <p:sp>
        <p:nvSpPr>
          <p:cNvPr id="26" name="Figure 12 label 22 line 1">
            <a:extLst xmlns:a="http://schemas.openxmlformats.org/drawingml/2006/main">
              <a:ext uri="{FF2B5EF4-FFF2-40B4-BE49-F238E27FC236}">
                <a16:creationId xmlns:a16="http://schemas.microsoft.com/office/drawing/2014/main" id="{6990D6E1-EFFC-4CD0-87A1-05BEBA2BABEF}"/>
              </a:ext>
            </a:extLst>
          </p:cNvPr>
          <p:cNvSpPr>
            <a:spLocks xmlns:a="http://schemas.openxmlformats.org/drawingml/2006/main" noGrp="1"/>
          </p:cNvSpPr>
          <p:nvPr/>
        </p:nvSpPr>
        <p:spPr>
          <a:xfrm xmlns:a="http://schemas.openxmlformats.org/drawingml/2006/main" rot="0">
            <a:off x="7134607" y="4195953"/>
            <a:ext cx="2551867"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2025 • DNA synthesis services [1]</a:t>
            </a:r>
          </a:p>
        </p:txBody>
      </p:sp>
      <p:sp>
        <p:nvSpPr>
          <p:cNvPr id="27" name="Figure 12 label 23 line 1">
            <a:extLst xmlns:a="http://schemas.openxmlformats.org/drawingml/2006/main">
              <a:ext uri="{FF2B5EF4-FFF2-40B4-BE49-F238E27FC236}">
                <a16:creationId xmlns:a16="http://schemas.microsoft.com/office/drawing/2014/main" id="{96343535-A518-47D7-8128-F30435D31044}"/>
              </a:ext>
            </a:extLst>
          </p:cNvPr>
          <p:cNvSpPr>
            <a:spLocks xmlns:a="http://schemas.openxmlformats.org/drawingml/2006/main" noGrp="1"/>
          </p:cNvSpPr>
          <p:nvPr/>
        </p:nvSpPr>
        <p:spPr>
          <a:xfrm xmlns:a="http://schemas.openxmlformats.org/drawingml/2006/main" rot="0">
            <a:off x="7134911" y="4420133"/>
            <a:ext cx="1678650"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Oligos + long fragments only</a:t>
            </a:r>
          </a:p>
        </p:txBody>
      </p:sp>
      <p:sp>
        <p:nvSpPr>
          <p:cNvPr id="28" name="Figure 12 label 24 line 1">
            <a:extLst xmlns:a="http://schemas.openxmlformats.org/drawingml/2006/main">
              <a:ext uri="{FF2B5EF4-FFF2-40B4-BE49-F238E27FC236}">
                <a16:creationId xmlns:a16="http://schemas.microsoft.com/office/drawing/2014/main" id="{938D0E1F-9E22-4F67-B23B-992E7D20D2ED}"/>
              </a:ext>
            </a:extLst>
          </p:cNvPr>
          <p:cNvSpPr>
            <a:spLocks xmlns:a="http://schemas.openxmlformats.org/drawingml/2006/main" noGrp="1"/>
          </p:cNvSpPr>
          <p:nvPr/>
        </p:nvSpPr>
        <p:spPr>
          <a:xfrm xmlns:a="http://schemas.openxmlformats.org/drawingml/2006/main" rot="0">
            <a:off x="7135521" y="5066614"/>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29" name="Figure 12 label 25 line 1">
            <a:extLst xmlns:a="http://schemas.openxmlformats.org/drawingml/2006/main">
              <a:ext uri="{FF2B5EF4-FFF2-40B4-BE49-F238E27FC236}">
                <a16:creationId xmlns:a16="http://schemas.microsoft.com/office/drawing/2014/main" id="{C4BEDC0E-538F-4B62-B611-E0D86D8208D4}"/>
              </a:ext>
            </a:extLst>
          </p:cNvPr>
          <p:cNvSpPr>
            <a:spLocks xmlns:a="http://schemas.openxmlformats.org/drawingml/2006/main" noGrp="1"/>
          </p:cNvSpPr>
          <p:nvPr/>
        </p:nvSpPr>
        <p:spPr>
          <a:xfrm xmlns:a="http://schemas.openxmlformats.org/drawingml/2006/main" rot="0">
            <a:off x="8773973" y="506821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30" name="Figure 12 label 26 line 1">
            <a:extLst xmlns:a="http://schemas.openxmlformats.org/drawingml/2006/main">
              <a:ext uri="{FF2B5EF4-FFF2-40B4-BE49-F238E27FC236}">
                <a16:creationId xmlns:a16="http://schemas.microsoft.com/office/drawing/2014/main" id="{910F0A47-B9FC-48EF-85EC-13D9020BC66D}"/>
              </a:ext>
            </a:extLst>
          </p:cNvPr>
          <p:cNvSpPr>
            <a:spLocks xmlns:a="http://schemas.openxmlformats.org/drawingml/2006/main" noGrp="1"/>
          </p:cNvSpPr>
          <p:nvPr/>
        </p:nvSpPr>
        <p:spPr>
          <a:xfrm xmlns:a="http://schemas.openxmlformats.org/drawingml/2006/main" rot="0">
            <a:off x="7134759" y="527959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GenScript · 1548.HK</a:t>
            </a:r>
          </a:p>
        </p:txBody>
      </p:sp>
      <p:sp>
        <p:nvSpPr>
          <p:cNvPr id="31" name="Figure 12 label 26 line 2">
            <a:extLst xmlns:a="http://schemas.openxmlformats.org/drawingml/2006/main">
              <a:ext uri="{FF2B5EF4-FFF2-40B4-BE49-F238E27FC236}">
                <a16:creationId xmlns:a16="http://schemas.microsoft.com/office/drawing/2014/main" id="{5AD44DC4-C3D5-47E3-941F-E667673C7173}"/>
              </a:ext>
            </a:extLst>
          </p:cNvPr>
          <p:cNvSpPr>
            <a:spLocks xmlns:a="http://schemas.openxmlformats.org/drawingml/2006/main" noGrp="1"/>
          </p:cNvSpPr>
          <p:nvPr/>
        </p:nvSpPr>
        <p:spPr>
          <a:xfrm xmlns:a="http://schemas.openxmlformats.org/drawingml/2006/main" rot="0">
            <a:off x="7134759" y="5441519"/>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Vazyme · 688105.SH</a:t>
            </a:r>
          </a:p>
        </p:txBody>
      </p:sp>
      <p:sp>
        <p:nvSpPr>
          <p:cNvPr id="32" name="Figure 12 label 26 line 3">
            <a:extLst xmlns:a="http://schemas.openxmlformats.org/drawingml/2006/main">
              <a:ext uri="{FF2B5EF4-FFF2-40B4-BE49-F238E27FC236}">
                <a16:creationId xmlns:a16="http://schemas.microsoft.com/office/drawing/2014/main" id="{4A673EDE-BFE1-4615-8915-6944086BEA27}"/>
              </a:ext>
            </a:extLst>
          </p:cNvPr>
          <p:cNvSpPr>
            <a:spLocks xmlns:a="http://schemas.openxmlformats.org/drawingml/2006/main" noGrp="1"/>
          </p:cNvSpPr>
          <p:nvPr/>
        </p:nvSpPr>
        <p:spPr>
          <a:xfrm xmlns:a="http://schemas.openxmlformats.org/drawingml/2006/main" rot="0">
            <a:off x="7134759" y="560344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Tsingke · NEEQ:874813</a:t>
            </a:r>
          </a:p>
        </p:txBody>
      </p:sp>
      <p:sp>
        <p:nvSpPr>
          <p:cNvPr id="33" name="Figure 12 label 27 line 1">
            <a:extLst xmlns:a="http://schemas.openxmlformats.org/drawingml/2006/main">
              <a:ext uri="{FF2B5EF4-FFF2-40B4-BE49-F238E27FC236}">
                <a16:creationId xmlns:a16="http://schemas.microsoft.com/office/drawing/2014/main" id="{A92E40DA-E6D6-4F55-B77F-6A481D92B47E}"/>
              </a:ext>
            </a:extLst>
          </p:cNvPr>
          <p:cNvSpPr>
            <a:spLocks xmlns:a="http://schemas.openxmlformats.org/drawingml/2006/main" noGrp="1"/>
          </p:cNvSpPr>
          <p:nvPr/>
        </p:nvSpPr>
        <p:spPr>
          <a:xfrm xmlns:a="http://schemas.openxmlformats.org/drawingml/2006/main" rot="0">
            <a:off x="8773302" y="5282154"/>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Twist · TWST</a:t>
            </a:r>
          </a:p>
        </p:txBody>
      </p:sp>
      <p:sp>
        <p:nvSpPr>
          <p:cNvPr id="34" name="Figure 12 label 27 line 2">
            <a:extLst xmlns:a="http://schemas.openxmlformats.org/drawingml/2006/main">
              <a:ext uri="{FF2B5EF4-FFF2-40B4-BE49-F238E27FC236}">
                <a16:creationId xmlns:a16="http://schemas.microsoft.com/office/drawing/2014/main" id="{FEEAA701-AC13-4F52-89F2-1468A6A4E674}"/>
              </a:ext>
            </a:extLst>
          </p:cNvPr>
          <p:cNvSpPr>
            <a:spLocks xmlns:a="http://schemas.openxmlformats.org/drawingml/2006/main" noGrp="1"/>
          </p:cNvSpPr>
          <p:nvPr/>
        </p:nvSpPr>
        <p:spPr>
          <a:xfrm xmlns:a="http://schemas.openxmlformats.org/drawingml/2006/main" rot="0">
            <a:off x="8773302" y="5436459"/>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35" name="Figure 12 label 28 line 1">
            <a:extLst xmlns:a="http://schemas.openxmlformats.org/drawingml/2006/main">
              <a:ext uri="{FF2B5EF4-FFF2-40B4-BE49-F238E27FC236}">
                <a16:creationId xmlns:a16="http://schemas.microsoft.com/office/drawing/2014/main" id="{EDCF7716-9263-4B16-AC2B-FF2E91A2EB9C}"/>
              </a:ext>
            </a:extLst>
          </p:cNvPr>
          <p:cNvSpPr>
            <a:spLocks xmlns:a="http://schemas.openxmlformats.org/drawingml/2006/main" noGrp="1"/>
          </p:cNvSpPr>
          <p:nvPr/>
        </p:nvSpPr>
        <p:spPr>
          <a:xfrm xmlns:a="http://schemas.openxmlformats.org/drawingml/2006/main" rot="0">
            <a:off x="11071556" y="2934310"/>
            <a:ext cx="2727168"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Protein &amp; functional assays</a:t>
            </a:r>
          </a:p>
        </p:txBody>
      </p:sp>
      <p:sp>
        <p:nvSpPr>
          <p:cNvPr id="36" name="Figure 12 label 29 line 1">
            <a:extLst xmlns:a="http://schemas.openxmlformats.org/drawingml/2006/main">
              <a:ext uri="{FF2B5EF4-FFF2-40B4-BE49-F238E27FC236}">
                <a16:creationId xmlns:a16="http://schemas.microsoft.com/office/drawing/2014/main" id="{E92FF2EF-60AF-458E-9AAF-5DCAE2846367}"/>
              </a:ext>
            </a:extLst>
          </p:cNvPr>
          <p:cNvSpPr>
            <a:spLocks xmlns:a="http://schemas.openxmlformats.org/drawingml/2006/main" noGrp="1"/>
          </p:cNvSpPr>
          <p:nvPr/>
        </p:nvSpPr>
        <p:spPr>
          <a:xfrm xmlns:a="http://schemas.openxmlformats.org/drawingml/2006/main" rot="0">
            <a:off x="10661599" y="3323692"/>
            <a:ext cx="2479161"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Recombinant proteins, antibodies</a:t>
            </a:r>
          </a:p>
        </p:txBody>
      </p:sp>
      <p:sp>
        <p:nvSpPr>
          <p:cNvPr id="37" name="Figure 12 label 29 line 2">
            <a:extLst xmlns:a="http://schemas.openxmlformats.org/drawingml/2006/main">
              <a:ext uri="{FF2B5EF4-FFF2-40B4-BE49-F238E27FC236}">
                <a16:creationId xmlns:a16="http://schemas.microsoft.com/office/drawing/2014/main" id="{B5EDCF01-20F6-488B-B766-31CBDA942282}"/>
              </a:ext>
            </a:extLst>
          </p:cNvPr>
          <p:cNvSpPr>
            <a:spLocks xmlns:a="http://schemas.openxmlformats.org/drawingml/2006/main" noGrp="1"/>
          </p:cNvSpPr>
          <p:nvPr/>
        </p:nvSpPr>
        <p:spPr>
          <a:xfrm xmlns:a="http://schemas.openxmlformats.org/drawingml/2006/main" rot="0">
            <a:off x="10661599" y="3523717"/>
            <a:ext cx="2479161"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Binding and activity assays</a:t>
            </a:r>
          </a:p>
        </p:txBody>
      </p:sp>
      <p:sp>
        <p:nvSpPr>
          <p:cNvPr id="38" name="Figure 12 label 30 line 1">
            <a:extLst xmlns:a="http://schemas.openxmlformats.org/drawingml/2006/main">
              <a:ext uri="{FF2B5EF4-FFF2-40B4-BE49-F238E27FC236}">
                <a16:creationId xmlns:a16="http://schemas.microsoft.com/office/drawing/2014/main" id="{452517F2-D626-4286-B248-D9D5052BA48B}"/>
              </a:ext>
            </a:extLst>
          </p:cNvPr>
          <p:cNvSpPr>
            <a:spLocks xmlns:a="http://schemas.openxmlformats.org/drawingml/2006/main" noGrp="1"/>
          </p:cNvSpPr>
          <p:nvPr/>
        </p:nvSpPr>
        <p:spPr>
          <a:xfrm xmlns:a="http://schemas.openxmlformats.org/drawingml/2006/main" rot="0">
            <a:off x="10656723" y="3752545"/>
            <a:ext cx="1468243"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US$3.5bn</a:t>
            </a:r>
          </a:p>
        </p:txBody>
      </p:sp>
      <p:sp>
        <p:nvSpPr>
          <p:cNvPr id="39" name="Figure 12 label 31 line 1">
            <a:extLst xmlns:a="http://schemas.openxmlformats.org/drawingml/2006/main">
              <a:ext uri="{FF2B5EF4-FFF2-40B4-BE49-F238E27FC236}">
                <a16:creationId xmlns:a16="http://schemas.microsoft.com/office/drawing/2014/main" id="{E4C0F897-5F1B-4048-BE3B-C8B745B9E670}"/>
              </a:ext>
            </a:extLst>
          </p:cNvPr>
          <p:cNvSpPr>
            <a:spLocks xmlns:a="http://schemas.openxmlformats.org/drawingml/2006/main" noGrp="1"/>
          </p:cNvSpPr>
          <p:nvPr/>
        </p:nvSpPr>
        <p:spPr>
          <a:xfrm xmlns:a="http://schemas.openxmlformats.org/drawingml/2006/main" rot="0">
            <a:off x="10662666" y="4195953"/>
            <a:ext cx="2226082"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Global • 2025 • research proteins [2]</a:t>
            </a:r>
          </a:p>
        </p:txBody>
      </p:sp>
      <p:sp>
        <p:nvSpPr>
          <p:cNvPr id="40" name="Figure 12 label 32 line 1">
            <a:extLst xmlns:a="http://schemas.openxmlformats.org/drawingml/2006/main">
              <a:ext uri="{FF2B5EF4-FFF2-40B4-BE49-F238E27FC236}">
                <a16:creationId xmlns:a16="http://schemas.microsoft.com/office/drawing/2014/main" id="{61908804-DCD3-4CDF-9F88-91960E9B44AD}"/>
              </a:ext>
            </a:extLst>
          </p:cNvPr>
          <p:cNvSpPr>
            <a:spLocks xmlns:a="http://schemas.openxmlformats.org/drawingml/2006/main" noGrp="1"/>
          </p:cNvSpPr>
          <p:nvPr/>
        </p:nvSpPr>
        <p:spPr>
          <a:xfrm xmlns:a="http://schemas.openxmlformats.org/drawingml/2006/main" rot="0">
            <a:off x="10662971" y="4420133"/>
            <a:ext cx="1876592"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China: ~US$0.4bn • RUO scope</a:t>
            </a:r>
          </a:p>
        </p:txBody>
      </p:sp>
      <p:sp>
        <p:nvSpPr>
          <p:cNvPr id="41" name="Figure 12 label 33 line 1">
            <a:extLst xmlns:a="http://schemas.openxmlformats.org/drawingml/2006/main">
              <a:ext uri="{FF2B5EF4-FFF2-40B4-BE49-F238E27FC236}">
                <a16:creationId xmlns:a16="http://schemas.microsoft.com/office/drawing/2014/main" id="{CEA16475-BC9F-409A-B8C9-B57FC136F0D3}"/>
              </a:ext>
            </a:extLst>
          </p:cNvPr>
          <p:cNvSpPr>
            <a:spLocks xmlns:a="http://schemas.openxmlformats.org/drawingml/2006/main" noGrp="1"/>
          </p:cNvSpPr>
          <p:nvPr/>
        </p:nvSpPr>
        <p:spPr>
          <a:xfrm xmlns:a="http://schemas.openxmlformats.org/drawingml/2006/main" rot="0">
            <a:off x="10663581" y="5066614"/>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42" name="Figure 12 label 34 line 1">
            <a:extLst xmlns:a="http://schemas.openxmlformats.org/drawingml/2006/main">
              <a:ext uri="{FF2B5EF4-FFF2-40B4-BE49-F238E27FC236}">
                <a16:creationId xmlns:a16="http://schemas.microsoft.com/office/drawing/2014/main" id="{BAE10FC8-4520-4F01-87C2-409A82124F77}"/>
              </a:ext>
            </a:extLst>
          </p:cNvPr>
          <p:cNvSpPr>
            <a:spLocks xmlns:a="http://schemas.openxmlformats.org/drawingml/2006/main" noGrp="1"/>
          </p:cNvSpPr>
          <p:nvPr/>
        </p:nvSpPr>
        <p:spPr>
          <a:xfrm xmlns:a="http://schemas.openxmlformats.org/drawingml/2006/main" rot="0">
            <a:off x="12302033" y="506821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43" name="Figure 12 label 35 line 1">
            <a:extLst xmlns:a="http://schemas.openxmlformats.org/drawingml/2006/main">
              <a:ext uri="{FF2B5EF4-FFF2-40B4-BE49-F238E27FC236}">
                <a16:creationId xmlns:a16="http://schemas.microsoft.com/office/drawing/2014/main" id="{07B5D1E8-8765-42F3-A014-BF1071B923B3}"/>
              </a:ext>
            </a:extLst>
          </p:cNvPr>
          <p:cNvSpPr>
            <a:spLocks xmlns:a="http://schemas.openxmlformats.org/drawingml/2006/main" noGrp="1"/>
          </p:cNvSpPr>
          <p:nvPr/>
        </p:nvSpPr>
        <p:spPr>
          <a:xfrm xmlns:a="http://schemas.openxmlformats.org/drawingml/2006/main" rot="0">
            <a:off x="10662819" y="5279594"/>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ACRO · 301080.SZ</a:t>
            </a:r>
          </a:p>
        </p:txBody>
      </p:sp>
      <p:sp>
        <p:nvSpPr>
          <p:cNvPr id="44" name="Figure 12 label 35 line 2">
            <a:extLst xmlns:a="http://schemas.openxmlformats.org/drawingml/2006/main">
              <a:ext uri="{FF2B5EF4-FFF2-40B4-BE49-F238E27FC236}">
                <a16:creationId xmlns:a16="http://schemas.microsoft.com/office/drawing/2014/main" id="{09F4CF74-176C-44E4-9F07-F962F140FBB9}"/>
              </a:ext>
            </a:extLst>
          </p:cNvPr>
          <p:cNvSpPr>
            <a:spLocks xmlns:a="http://schemas.openxmlformats.org/drawingml/2006/main" noGrp="1"/>
          </p:cNvSpPr>
          <p:nvPr/>
        </p:nvSpPr>
        <p:spPr>
          <a:xfrm xmlns:a="http://schemas.openxmlformats.org/drawingml/2006/main" rot="0">
            <a:off x="10662819" y="5441519"/>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Sino · 301047.SZ</a:t>
            </a:r>
          </a:p>
        </p:txBody>
      </p:sp>
      <p:sp>
        <p:nvSpPr>
          <p:cNvPr id="45" name="Figure 12 label 36 line 1">
            <a:extLst xmlns:a="http://schemas.openxmlformats.org/drawingml/2006/main">
              <a:ext uri="{FF2B5EF4-FFF2-40B4-BE49-F238E27FC236}">
                <a16:creationId xmlns:a16="http://schemas.microsoft.com/office/drawing/2014/main" id="{6EEB02BD-ABFB-4F84-9319-42269970E1D5}"/>
              </a:ext>
            </a:extLst>
          </p:cNvPr>
          <p:cNvSpPr>
            <a:spLocks xmlns:a="http://schemas.openxmlformats.org/drawingml/2006/main" noGrp="1"/>
          </p:cNvSpPr>
          <p:nvPr/>
        </p:nvSpPr>
        <p:spPr>
          <a:xfrm xmlns:a="http://schemas.openxmlformats.org/drawingml/2006/main" rot="0">
            <a:off x="12301362" y="5282154"/>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Bio-Techne · TECH</a:t>
            </a:r>
          </a:p>
        </p:txBody>
      </p:sp>
      <p:sp>
        <p:nvSpPr>
          <p:cNvPr id="46" name="Figure 12 label 36 line 2">
            <a:extLst xmlns:a="http://schemas.openxmlformats.org/drawingml/2006/main">
              <a:ext uri="{FF2B5EF4-FFF2-40B4-BE49-F238E27FC236}">
                <a16:creationId xmlns:a16="http://schemas.microsoft.com/office/drawing/2014/main" id="{269D742D-F7BD-49F7-9C03-9D9D01DC9D6A}"/>
              </a:ext>
            </a:extLst>
          </p:cNvPr>
          <p:cNvSpPr>
            <a:spLocks xmlns:a="http://schemas.openxmlformats.org/drawingml/2006/main" noGrp="1"/>
          </p:cNvSpPr>
          <p:nvPr/>
        </p:nvSpPr>
        <p:spPr>
          <a:xfrm xmlns:a="http://schemas.openxmlformats.org/drawingml/2006/main" rot="0">
            <a:off x="12301362" y="5436459"/>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47" name="Figure 12 label 37 line 1">
            <a:extLst xmlns:a="http://schemas.openxmlformats.org/drawingml/2006/main">
              <a:ext uri="{FF2B5EF4-FFF2-40B4-BE49-F238E27FC236}">
                <a16:creationId xmlns:a16="http://schemas.microsoft.com/office/drawing/2014/main" id="{39B4340D-0038-43FB-9FE6-F9C48EDBCE3B}"/>
              </a:ext>
            </a:extLst>
          </p:cNvPr>
          <p:cNvSpPr>
            <a:spLocks xmlns:a="http://schemas.openxmlformats.org/drawingml/2006/main" noGrp="1"/>
          </p:cNvSpPr>
          <p:nvPr/>
        </p:nvSpPr>
        <p:spPr>
          <a:xfrm xmlns:a="http://schemas.openxmlformats.org/drawingml/2006/main" rot="0">
            <a:off x="14599615" y="2934310"/>
            <a:ext cx="2364176"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Cells &amp; culture systems</a:t>
            </a:r>
          </a:p>
        </p:txBody>
      </p:sp>
      <p:sp>
        <p:nvSpPr>
          <p:cNvPr id="48" name="Figure 12 label 38 line 1">
            <a:extLst xmlns:a="http://schemas.openxmlformats.org/drawingml/2006/main">
              <a:ext uri="{FF2B5EF4-FFF2-40B4-BE49-F238E27FC236}">
                <a16:creationId xmlns:a16="http://schemas.microsoft.com/office/drawing/2014/main" id="{BD3FC450-81B1-4C50-ABE3-624C57B27A49}"/>
              </a:ext>
            </a:extLst>
          </p:cNvPr>
          <p:cNvSpPr>
            <a:spLocks xmlns:a="http://schemas.openxmlformats.org/drawingml/2006/main" noGrp="1"/>
          </p:cNvSpPr>
          <p:nvPr/>
        </p:nvSpPr>
        <p:spPr>
          <a:xfrm xmlns:a="http://schemas.openxmlformats.org/drawingml/2006/main" rot="0">
            <a:off x="14189659" y="3323692"/>
            <a:ext cx="2283452"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Cell models, media, feeds</a:t>
            </a:r>
          </a:p>
        </p:txBody>
      </p:sp>
      <p:sp>
        <p:nvSpPr>
          <p:cNvPr id="49" name="Figure 12 label 38 line 2">
            <a:extLst xmlns:a="http://schemas.openxmlformats.org/drawingml/2006/main">
              <a:ext uri="{FF2B5EF4-FFF2-40B4-BE49-F238E27FC236}">
                <a16:creationId xmlns:a16="http://schemas.microsoft.com/office/drawing/2014/main" id="{1A7A04A2-A891-43BF-AF67-9AD5A0B5C0B1}"/>
              </a:ext>
            </a:extLst>
          </p:cNvPr>
          <p:cNvSpPr>
            <a:spLocks xmlns:a="http://schemas.openxmlformats.org/drawingml/2006/main" noGrp="1"/>
          </p:cNvSpPr>
          <p:nvPr/>
        </p:nvSpPr>
        <p:spPr>
          <a:xfrm xmlns:a="http://schemas.openxmlformats.org/drawingml/2006/main" rot="0">
            <a:off x="14189659" y="3523717"/>
            <a:ext cx="2283452"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Bioreactors and cell expansion</a:t>
            </a:r>
          </a:p>
        </p:txBody>
      </p:sp>
      <p:sp>
        <p:nvSpPr>
          <p:cNvPr id="50" name="Figure 12 label 39 line 1">
            <a:extLst xmlns:a="http://schemas.openxmlformats.org/drawingml/2006/main">
              <a:ext uri="{FF2B5EF4-FFF2-40B4-BE49-F238E27FC236}">
                <a16:creationId xmlns:a16="http://schemas.microsoft.com/office/drawing/2014/main" id="{C35CBC8F-C229-4EAA-9476-B5C4960F6E4D}"/>
              </a:ext>
            </a:extLst>
          </p:cNvPr>
          <p:cNvSpPr>
            <a:spLocks xmlns:a="http://schemas.openxmlformats.org/drawingml/2006/main" noGrp="1"/>
          </p:cNvSpPr>
          <p:nvPr/>
        </p:nvSpPr>
        <p:spPr>
          <a:xfrm xmlns:a="http://schemas.openxmlformats.org/drawingml/2006/main" rot="0">
            <a:off x="14184783" y="3752545"/>
            <a:ext cx="1797749"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US$323.5m*</a:t>
            </a:r>
          </a:p>
        </p:txBody>
      </p:sp>
      <p:sp>
        <p:nvSpPr>
          <p:cNvPr id="51" name="Figure 12 label 40 line 1">
            <a:extLst xmlns:a="http://schemas.openxmlformats.org/drawingml/2006/main">
              <a:ext uri="{FF2B5EF4-FFF2-40B4-BE49-F238E27FC236}">
                <a16:creationId xmlns:a16="http://schemas.microsoft.com/office/drawing/2014/main" id="{54113EAB-D8BE-4BF1-B927-D839F1DB8046}"/>
              </a:ext>
            </a:extLst>
          </p:cNvPr>
          <p:cNvSpPr>
            <a:spLocks xmlns:a="http://schemas.openxmlformats.org/drawingml/2006/main" noGrp="1"/>
          </p:cNvSpPr>
          <p:nvPr/>
        </p:nvSpPr>
        <p:spPr>
          <a:xfrm xmlns:a="http://schemas.openxmlformats.org/drawingml/2006/main" rot="0">
            <a:off x="14190726" y="4195953"/>
            <a:ext cx="2203758"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bioprocess media [3]</a:t>
            </a:r>
          </a:p>
        </p:txBody>
      </p:sp>
      <p:sp>
        <p:nvSpPr>
          <p:cNvPr id="52" name="Figure 12 label 41 line 1">
            <a:extLst xmlns:a="http://schemas.openxmlformats.org/drawingml/2006/main">
              <a:ext uri="{FF2B5EF4-FFF2-40B4-BE49-F238E27FC236}">
                <a16:creationId xmlns:a16="http://schemas.microsoft.com/office/drawing/2014/main" id="{EAC8C048-F5AC-42FC-B365-EA2BAD3EEE6C}"/>
              </a:ext>
            </a:extLst>
          </p:cNvPr>
          <p:cNvSpPr>
            <a:spLocks xmlns:a="http://schemas.openxmlformats.org/drawingml/2006/main" noGrp="1"/>
          </p:cNvSpPr>
          <p:nvPr/>
        </p:nvSpPr>
        <p:spPr>
          <a:xfrm xmlns:a="http://schemas.openxmlformats.org/drawingml/2006/main" rot="0">
            <a:off x="14191031" y="4420133"/>
            <a:ext cx="2297329"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Selected media anchor; not all cell tools</a:t>
            </a:r>
          </a:p>
        </p:txBody>
      </p:sp>
      <p:sp>
        <p:nvSpPr>
          <p:cNvPr id="53" name="Figure 12 label 42 line 1">
            <a:extLst xmlns:a="http://schemas.openxmlformats.org/drawingml/2006/main">
              <a:ext uri="{FF2B5EF4-FFF2-40B4-BE49-F238E27FC236}">
                <a16:creationId xmlns:a16="http://schemas.microsoft.com/office/drawing/2014/main" id="{B1B08A0E-9239-442B-9B18-08AC9AE03F04}"/>
              </a:ext>
            </a:extLst>
          </p:cNvPr>
          <p:cNvSpPr>
            <a:spLocks xmlns:a="http://schemas.openxmlformats.org/drawingml/2006/main" noGrp="1"/>
          </p:cNvSpPr>
          <p:nvPr/>
        </p:nvSpPr>
        <p:spPr>
          <a:xfrm xmlns:a="http://schemas.openxmlformats.org/drawingml/2006/main" rot="0">
            <a:off x="14188440" y="4705350"/>
            <a:ext cx="159514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Gibco / HyClone</a:t>
            </a:r>
          </a:p>
        </p:txBody>
      </p:sp>
      <p:sp>
        <p:nvSpPr>
          <p:cNvPr id="54" name="Figure 12 label 43 line 1">
            <a:extLst xmlns:a="http://schemas.openxmlformats.org/drawingml/2006/main">
              <a:ext uri="{FF2B5EF4-FFF2-40B4-BE49-F238E27FC236}">
                <a16:creationId xmlns:a16="http://schemas.microsoft.com/office/drawing/2014/main" id="{5B9FEA8E-0890-40C1-B118-5A7E32D06D47}"/>
              </a:ext>
            </a:extLst>
          </p:cNvPr>
          <p:cNvSpPr>
            <a:spLocks xmlns:a="http://schemas.openxmlformats.org/drawingml/2006/main" noGrp="1"/>
          </p:cNvSpPr>
          <p:nvPr/>
        </p:nvSpPr>
        <p:spPr>
          <a:xfrm xmlns:a="http://schemas.openxmlformats.org/drawingml/2006/main" rot="0">
            <a:off x="14191641" y="5066614"/>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55" name="Figure 12 label 44 line 1">
            <a:extLst xmlns:a="http://schemas.openxmlformats.org/drawingml/2006/main">
              <a:ext uri="{FF2B5EF4-FFF2-40B4-BE49-F238E27FC236}">
                <a16:creationId xmlns:a16="http://schemas.microsoft.com/office/drawing/2014/main" id="{FA058707-A8DB-4B6B-94FE-067BDB9F6A41}"/>
              </a:ext>
            </a:extLst>
          </p:cNvPr>
          <p:cNvSpPr>
            <a:spLocks xmlns:a="http://schemas.openxmlformats.org/drawingml/2006/main" noGrp="1"/>
          </p:cNvSpPr>
          <p:nvPr/>
        </p:nvSpPr>
        <p:spPr>
          <a:xfrm xmlns:a="http://schemas.openxmlformats.org/drawingml/2006/main" rot="0">
            <a:off x="15830093" y="506821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56" name="Figure 12 label 45 line 1">
            <a:extLst xmlns:a="http://schemas.openxmlformats.org/drawingml/2006/main">
              <a:ext uri="{FF2B5EF4-FFF2-40B4-BE49-F238E27FC236}">
                <a16:creationId xmlns:a16="http://schemas.microsoft.com/office/drawing/2014/main" id="{7E3D8462-B7A8-4A84-BE82-32315196097D}"/>
              </a:ext>
            </a:extLst>
          </p:cNvPr>
          <p:cNvSpPr>
            <a:spLocks xmlns:a="http://schemas.openxmlformats.org/drawingml/2006/main" noGrp="1"/>
          </p:cNvSpPr>
          <p:nvPr/>
        </p:nvSpPr>
        <p:spPr>
          <a:xfrm xmlns:a="http://schemas.openxmlformats.org/drawingml/2006/main" rot="0">
            <a:off x="14190879" y="5279594"/>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OPM · 688293.SH</a:t>
            </a:r>
          </a:p>
        </p:txBody>
      </p:sp>
      <p:sp>
        <p:nvSpPr>
          <p:cNvPr id="57" name="Figure 12 label 45 line 2">
            <a:extLst xmlns:a="http://schemas.openxmlformats.org/drawingml/2006/main">
              <a:ext uri="{FF2B5EF4-FFF2-40B4-BE49-F238E27FC236}">
                <a16:creationId xmlns:a16="http://schemas.microsoft.com/office/drawing/2014/main" id="{9520B652-7D63-4C52-87AD-DD4902379158}"/>
              </a:ext>
            </a:extLst>
          </p:cNvPr>
          <p:cNvSpPr>
            <a:spLocks xmlns:a="http://schemas.openxmlformats.org/drawingml/2006/main" noGrp="1"/>
          </p:cNvSpPr>
          <p:nvPr/>
        </p:nvSpPr>
        <p:spPr>
          <a:xfrm xmlns:a="http://schemas.openxmlformats.org/drawingml/2006/main" rot="0">
            <a:off x="14190879" y="5441519"/>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ACRO · 301080.SZ</a:t>
            </a:r>
          </a:p>
        </p:txBody>
      </p:sp>
      <p:sp>
        <p:nvSpPr>
          <p:cNvPr id="58" name="Figure 12 label 46 line 1">
            <a:extLst xmlns:a="http://schemas.openxmlformats.org/drawingml/2006/main">
              <a:ext uri="{FF2B5EF4-FFF2-40B4-BE49-F238E27FC236}">
                <a16:creationId xmlns:a16="http://schemas.microsoft.com/office/drawing/2014/main" id="{205873B7-17A5-4731-8EDB-70E6C261E540}"/>
              </a:ext>
            </a:extLst>
          </p:cNvPr>
          <p:cNvSpPr>
            <a:spLocks xmlns:a="http://schemas.openxmlformats.org/drawingml/2006/main" noGrp="1"/>
          </p:cNvSpPr>
          <p:nvPr/>
        </p:nvSpPr>
        <p:spPr>
          <a:xfrm xmlns:a="http://schemas.openxmlformats.org/drawingml/2006/main" rot="0">
            <a:off x="15829422" y="5282154"/>
            <a:ext cx="1376680"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Gibco / Thermo · TMO</a:t>
            </a:r>
          </a:p>
        </p:txBody>
      </p:sp>
      <p:sp>
        <p:nvSpPr>
          <p:cNvPr id="59" name="Figure 12 label 46 line 2">
            <a:extLst xmlns:a="http://schemas.openxmlformats.org/drawingml/2006/main">
              <a:ext uri="{FF2B5EF4-FFF2-40B4-BE49-F238E27FC236}">
                <a16:creationId xmlns:a16="http://schemas.microsoft.com/office/drawing/2014/main" id="{EBD84754-061D-4E83-8232-38BE73809547}"/>
              </a:ext>
            </a:extLst>
          </p:cNvPr>
          <p:cNvSpPr>
            <a:spLocks xmlns:a="http://schemas.openxmlformats.org/drawingml/2006/main" noGrp="1"/>
          </p:cNvSpPr>
          <p:nvPr/>
        </p:nvSpPr>
        <p:spPr>
          <a:xfrm xmlns:a="http://schemas.openxmlformats.org/drawingml/2006/main" rot="0">
            <a:off x="15829422" y="5436459"/>
            <a:ext cx="1376680"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Cytiva / HyClone · DHR</a:t>
            </a:r>
          </a:p>
        </p:txBody>
      </p:sp>
      <p:sp>
        <p:nvSpPr>
          <p:cNvPr id="60" name="Figure 12 label 47 line 1">
            <a:extLst xmlns:a="http://schemas.openxmlformats.org/drawingml/2006/main">
              <a:ext uri="{FF2B5EF4-FFF2-40B4-BE49-F238E27FC236}">
                <a16:creationId xmlns:a16="http://schemas.microsoft.com/office/drawing/2014/main" id="{91BC1CB3-4475-4018-A77E-36118E5A89A9}"/>
              </a:ext>
            </a:extLst>
          </p:cNvPr>
          <p:cNvSpPr>
            <a:spLocks xmlns:a="http://schemas.openxmlformats.org/drawingml/2006/main" noGrp="1"/>
          </p:cNvSpPr>
          <p:nvPr/>
        </p:nvSpPr>
        <p:spPr>
          <a:xfrm xmlns:a="http://schemas.openxmlformats.org/drawingml/2006/main" rot="0">
            <a:off x="7543495" y="6111850"/>
            <a:ext cx="2749046"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Labware &amp; sample handling</a:t>
            </a:r>
          </a:p>
        </p:txBody>
      </p:sp>
      <p:sp>
        <p:nvSpPr>
          <p:cNvPr id="61" name="Figure 12 label 48 line 1">
            <a:extLst xmlns:a="http://schemas.openxmlformats.org/drawingml/2006/main">
              <a:ext uri="{FF2B5EF4-FFF2-40B4-BE49-F238E27FC236}">
                <a16:creationId xmlns:a16="http://schemas.microsoft.com/office/drawing/2014/main" id="{F288F247-E1C6-4B83-8ED6-0285C82B4B7F}"/>
              </a:ext>
            </a:extLst>
          </p:cNvPr>
          <p:cNvSpPr>
            <a:spLocks xmlns:a="http://schemas.openxmlformats.org/drawingml/2006/main" noGrp="1"/>
          </p:cNvSpPr>
          <p:nvPr/>
        </p:nvSpPr>
        <p:spPr>
          <a:xfrm xmlns:a="http://schemas.openxmlformats.org/drawingml/2006/main" rot="0">
            <a:off x="7133540" y="6501232"/>
            <a:ext cx="2345513"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Tips, plates, tubes, filtration</a:t>
            </a:r>
          </a:p>
        </p:txBody>
      </p:sp>
      <p:sp>
        <p:nvSpPr>
          <p:cNvPr id="62" name="Figure 12 label 48 line 2">
            <a:extLst xmlns:a="http://schemas.openxmlformats.org/drawingml/2006/main">
              <a:ext uri="{FF2B5EF4-FFF2-40B4-BE49-F238E27FC236}">
                <a16:creationId xmlns:a16="http://schemas.microsoft.com/office/drawing/2014/main" id="{28F69329-C048-41C5-901B-AF6D05A35809}"/>
              </a:ext>
            </a:extLst>
          </p:cNvPr>
          <p:cNvSpPr>
            <a:spLocks xmlns:a="http://schemas.openxmlformats.org/drawingml/2006/main" noGrp="1"/>
          </p:cNvSpPr>
          <p:nvPr/>
        </p:nvSpPr>
        <p:spPr>
          <a:xfrm xmlns:a="http://schemas.openxmlformats.org/drawingml/2006/main" rot="0">
            <a:off x="7133540" y="6701257"/>
            <a:ext cx="2345513"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Automation-compatible labware</a:t>
            </a:r>
          </a:p>
        </p:txBody>
      </p:sp>
      <p:sp>
        <p:nvSpPr>
          <p:cNvPr id="63" name="Figure 12 label 49 line 1">
            <a:extLst xmlns:a="http://schemas.openxmlformats.org/drawingml/2006/main">
              <a:ext uri="{FF2B5EF4-FFF2-40B4-BE49-F238E27FC236}">
                <a16:creationId xmlns:a16="http://schemas.microsoft.com/office/drawing/2014/main" id="{F2B286BC-E6F3-4784-8B34-AB82018D4780}"/>
              </a:ext>
            </a:extLst>
          </p:cNvPr>
          <p:cNvSpPr>
            <a:spLocks xmlns:a="http://schemas.openxmlformats.org/drawingml/2006/main" noGrp="1"/>
          </p:cNvSpPr>
          <p:nvPr/>
        </p:nvSpPr>
        <p:spPr>
          <a:xfrm xmlns:a="http://schemas.openxmlformats.org/drawingml/2006/main" rot="0">
            <a:off x="7128663" y="6930085"/>
            <a:ext cx="172646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~RMB 23bn</a:t>
            </a:r>
          </a:p>
        </p:txBody>
      </p:sp>
      <p:sp>
        <p:nvSpPr>
          <p:cNvPr id="64" name="Figure 12 label 50 line 1">
            <a:extLst xmlns:a="http://schemas.openxmlformats.org/drawingml/2006/main">
              <a:ext uri="{FF2B5EF4-FFF2-40B4-BE49-F238E27FC236}">
                <a16:creationId xmlns:a16="http://schemas.microsoft.com/office/drawing/2014/main" id="{B4B3A500-8152-40C7-A1B2-DF5324B453AF}"/>
              </a:ext>
            </a:extLst>
          </p:cNvPr>
          <p:cNvSpPr>
            <a:spLocks xmlns:a="http://schemas.openxmlformats.org/drawingml/2006/main" noGrp="1"/>
          </p:cNvSpPr>
          <p:nvPr/>
        </p:nvSpPr>
        <p:spPr>
          <a:xfrm xmlns:a="http://schemas.openxmlformats.org/drawingml/2006/main" rot="0">
            <a:off x="7134607" y="7373493"/>
            <a:ext cx="2040642"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plastic labware [4]</a:t>
            </a:r>
          </a:p>
        </p:txBody>
      </p:sp>
      <p:sp>
        <p:nvSpPr>
          <p:cNvPr id="65" name="Figure 12 label 51 line 1">
            <a:extLst xmlns:a="http://schemas.openxmlformats.org/drawingml/2006/main">
              <a:ext uri="{FF2B5EF4-FFF2-40B4-BE49-F238E27FC236}">
                <a16:creationId xmlns:a16="http://schemas.microsoft.com/office/drawing/2014/main" id="{653FE388-4882-42C3-8279-1300B78CE79C}"/>
              </a:ext>
            </a:extLst>
          </p:cNvPr>
          <p:cNvSpPr>
            <a:spLocks xmlns:a="http://schemas.openxmlformats.org/drawingml/2006/main" noGrp="1"/>
          </p:cNvSpPr>
          <p:nvPr/>
        </p:nvSpPr>
        <p:spPr>
          <a:xfrm xmlns:a="http://schemas.openxmlformats.org/drawingml/2006/main" rot="0">
            <a:off x="7134911" y="7597674"/>
            <a:ext cx="2045660"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Includes clinical and industrial uses</a:t>
            </a:r>
          </a:p>
        </p:txBody>
      </p:sp>
      <p:sp>
        <p:nvSpPr>
          <p:cNvPr id="66" name="Figure 12 label 52 line 1">
            <a:extLst xmlns:a="http://schemas.openxmlformats.org/drawingml/2006/main">
              <a:ext uri="{FF2B5EF4-FFF2-40B4-BE49-F238E27FC236}">
                <a16:creationId xmlns:a16="http://schemas.microsoft.com/office/drawing/2014/main" id="{05E04451-77B1-4CEB-995F-43EF24AE8810}"/>
              </a:ext>
            </a:extLst>
          </p:cNvPr>
          <p:cNvSpPr>
            <a:spLocks xmlns:a="http://schemas.openxmlformats.org/drawingml/2006/main" noGrp="1"/>
          </p:cNvSpPr>
          <p:nvPr/>
        </p:nvSpPr>
        <p:spPr>
          <a:xfrm xmlns:a="http://schemas.openxmlformats.org/drawingml/2006/main" rot="0">
            <a:off x="7135521" y="8244155"/>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67" name="Figure 12 label 53 line 1">
            <a:extLst xmlns:a="http://schemas.openxmlformats.org/drawingml/2006/main">
              <a:ext uri="{FF2B5EF4-FFF2-40B4-BE49-F238E27FC236}">
                <a16:creationId xmlns:a16="http://schemas.microsoft.com/office/drawing/2014/main" id="{4E321312-A6EC-4CC2-9AE6-8399D93E2B2A}"/>
              </a:ext>
            </a:extLst>
          </p:cNvPr>
          <p:cNvSpPr>
            <a:spLocks xmlns:a="http://schemas.openxmlformats.org/drawingml/2006/main" noGrp="1"/>
          </p:cNvSpPr>
          <p:nvPr/>
        </p:nvSpPr>
        <p:spPr>
          <a:xfrm xmlns:a="http://schemas.openxmlformats.org/drawingml/2006/main" rot="0">
            <a:off x="8773973" y="824575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68" name="Figure 12 label 54 line 1">
            <a:extLst xmlns:a="http://schemas.openxmlformats.org/drawingml/2006/main">
              <a:ext uri="{FF2B5EF4-FFF2-40B4-BE49-F238E27FC236}">
                <a16:creationId xmlns:a16="http://schemas.microsoft.com/office/drawing/2014/main" id="{B9284A87-D175-4BCD-AE97-600289516750}"/>
              </a:ext>
            </a:extLst>
          </p:cNvPr>
          <p:cNvSpPr>
            <a:spLocks xmlns:a="http://schemas.openxmlformats.org/drawingml/2006/main" noGrp="1"/>
          </p:cNvSpPr>
          <p:nvPr/>
        </p:nvSpPr>
        <p:spPr>
          <a:xfrm xmlns:a="http://schemas.openxmlformats.org/drawingml/2006/main" rot="0">
            <a:off x="7134759" y="8457134"/>
            <a:ext cx="150312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JET Biofil · 688026.SH</a:t>
            </a:r>
          </a:p>
        </p:txBody>
      </p:sp>
      <p:sp>
        <p:nvSpPr>
          <p:cNvPr id="69" name="Figure 12 label 54 line 2">
            <a:extLst xmlns:a="http://schemas.openxmlformats.org/drawingml/2006/main">
              <a:ext uri="{FF2B5EF4-FFF2-40B4-BE49-F238E27FC236}">
                <a16:creationId xmlns:a16="http://schemas.microsoft.com/office/drawing/2014/main" id="{8D5F8B58-0A50-4E7A-A1CC-7AACD0DB6840}"/>
              </a:ext>
            </a:extLst>
          </p:cNvPr>
          <p:cNvSpPr>
            <a:spLocks xmlns:a="http://schemas.openxmlformats.org/drawingml/2006/main" noGrp="1"/>
          </p:cNvSpPr>
          <p:nvPr/>
        </p:nvSpPr>
        <p:spPr>
          <a:xfrm xmlns:a="http://schemas.openxmlformats.org/drawingml/2006/main" rot="0">
            <a:off x="7134759" y="8619059"/>
            <a:ext cx="150312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Changhong · 300151.SZ</a:t>
            </a:r>
          </a:p>
        </p:txBody>
      </p:sp>
      <p:sp>
        <p:nvSpPr>
          <p:cNvPr id="70" name="Figure 12 label 55 line 1">
            <a:extLst xmlns:a="http://schemas.openxmlformats.org/drawingml/2006/main">
              <a:ext uri="{FF2B5EF4-FFF2-40B4-BE49-F238E27FC236}">
                <a16:creationId xmlns:a16="http://schemas.microsoft.com/office/drawing/2014/main" id="{AF8A6C2D-CA50-4D38-8463-A1C20D3ECE44}"/>
              </a:ext>
            </a:extLst>
          </p:cNvPr>
          <p:cNvSpPr>
            <a:spLocks xmlns:a="http://schemas.openxmlformats.org/drawingml/2006/main" noGrp="1"/>
          </p:cNvSpPr>
          <p:nvPr/>
        </p:nvSpPr>
        <p:spPr>
          <a:xfrm xmlns:a="http://schemas.openxmlformats.org/drawingml/2006/main" rot="0">
            <a:off x="8773302" y="8459694"/>
            <a:ext cx="894328"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Corning · GLW</a:t>
            </a:r>
          </a:p>
        </p:txBody>
      </p:sp>
      <p:sp>
        <p:nvSpPr>
          <p:cNvPr id="71" name="Figure 12 label 55 line 2">
            <a:extLst xmlns:a="http://schemas.openxmlformats.org/drawingml/2006/main">
              <a:ext uri="{FF2B5EF4-FFF2-40B4-BE49-F238E27FC236}">
                <a16:creationId xmlns:a16="http://schemas.microsoft.com/office/drawing/2014/main" id="{A7A8E13C-5822-460E-AFDD-A2850FE144A1}"/>
              </a:ext>
            </a:extLst>
          </p:cNvPr>
          <p:cNvSpPr>
            <a:spLocks xmlns:a="http://schemas.openxmlformats.org/drawingml/2006/main" noGrp="1"/>
          </p:cNvSpPr>
          <p:nvPr/>
        </p:nvSpPr>
        <p:spPr>
          <a:xfrm xmlns:a="http://schemas.openxmlformats.org/drawingml/2006/main" rot="0">
            <a:off x="8773302" y="8613999"/>
            <a:ext cx="894328"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BD · BDX</a:t>
            </a:r>
          </a:p>
        </p:txBody>
      </p:sp>
      <p:sp>
        <p:nvSpPr>
          <p:cNvPr id="72" name="Figure 12 label 56 line 1">
            <a:extLst xmlns:a="http://schemas.openxmlformats.org/drawingml/2006/main">
              <a:ext uri="{FF2B5EF4-FFF2-40B4-BE49-F238E27FC236}">
                <a16:creationId xmlns:a16="http://schemas.microsoft.com/office/drawing/2014/main" id="{485117C3-D605-431C-9AAB-93BE42D944F8}"/>
              </a:ext>
            </a:extLst>
          </p:cNvPr>
          <p:cNvSpPr>
            <a:spLocks xmlns:a="http://schemas.openxmlformats.org/drawingml/2006/main" noGrp="1"/>
          </p:cNvSpPr>
          <p:nvPr/>
        </p:nvSpPr>
        <p:spPr>
          <a:xfrm xmlns:a="http://schemas.openxmlformats.org/drawingml/2006/main" rot="0">
            <a:off x="11071556" y="6111850"/>
            <a:ext cx="250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Measurement &amp; analytics</a:t>
            </a:r>
          </a:p>
        </p:txBody>
      </p:sp>
      <p:sp>
        <p:nvSpPr>
          <p:cNvPr id="73" name="Figure 12 label 57 line 1">
            <a:extLst xmlns:a="http://schemas.openxmlformats.org/drawingml/2006/main">
              <a:ext uri="{FF2B5EF4-FFF2-40B4-BE49-F238E27FC236}">
                <a16:creationId xmlns:a16="http://schemas.microsoft.com/office/drawing/2014/main" id="{CBD7A3C8-32F5-41E1-8FD9-8D786DE89BC9}"/>
              </a:ext>
            </a:extLst>
          </p:cNvPr>
          <p:cNvSpPr>
            <a:spLocks xmlns:a="http://schemas.openxmlformats.org/drawingml/2006/main" noGrp="1"/>
          </p:cNvSpPr>
          <p:nvPr/>
        </p:nvSpPr>
        <p:spPr>
          <a:xfrm xmlns:a="http://schemas.openxmlformats.org/drawingml/2006/main" rot="0">
            <a:off x="10661599" y="6501232"/>
            <a:ext cx="224758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Sequencing, LC / LC-MS, flow</a:t>
            </a:r>
          </a:p>
        </p:txBody>
      </p:sp>
      <p:sp>
        <p:nvSpPr>
          <p:cNvPr id="74" name="Figure 12 label 57 line 2">
            <a:extLst xmlns:a="http://schemas.openxmlformats.org/drawingml/2006/main">
              <a:ext uri="{FF2B5EF4-FFF2-40B4-BE49-F238E27FC236}">
                <a16:creationId xmlns:a16="http://schemas.microsoft.com/office/drawing/2014/main" id="{28ACE25C-06E0-4213-A679-04C9E148A053}"/>
              </a:ext>
            </a:extLst>
          </p:cNvPr>
          <p:cNvSpPr>
            <a:spLocks xmlns:a="http://schemas.openxmlformats.org/drawingml/2006/main" noGrp="1"/>
          </p:cNvSpPr>
          <p:nvPr/>
        </p:nvSpPr>
        <p:spPr>
          <a:xfrm xmlns:a="http://schemas.openxmlformats.org/drawingml/2006/main" rot="0">
            <a:off x="10661599" y="6701257"/>
            <a:ext cx="224758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Imaging and quality control</a:t>
            </a:r>
          </a:p>
        </p:txBody>
      </p:sp>
      <p:sp>
        <p:nvSpPr>
          <p:cNvPr id="75" name="Figure 12 label 58 line 1">
            <a:extLst xmlns:a="http://schemas.openxmlformats.org/drawingml/2006/main">
              <a:ext uri="{FF2B5EF4-FFF2-40B4-BE49-F238E27FC236}">
                <a16:creationId xmlns:a16="http://schemas.microsoft.com/office/drawing/2014/main" id="{5AD8EC71-E793-4EAC-9F11-3FE4406F02FE}"/>
              </a:ext>
            </a:extLst>
          </p:cNvPr>
          <p:cNvSpPr>
            <a:spLocks xmlns:a="http://schemas.openxmlformats.org/drawingml/2006/main" noGrp="1"/>
          </p:cNvSpPr>
          <p:nvPr/>
        </p:nvSpPr>
        <p:spPr>
          <a:xfrm xmlns:a="http://schemas.openxmlformats.org/drawingml/2006/main" rot="0">
            <a:off x="10656723" y="6930085"/>
            <a:ext cx="164014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RMB 4.3bn</a:t>
            </a:r>
          </a:p>
        </p:txBody>
      </p:sp>
      <p:sp>
        <p:nvSpPr>
          <p:cNvPr id="76" name="Figure 12 label 59 line 1">
            <a:extLst xmlns:a="http://schemas.openxmlformats.org/drawingml/2006/main">
              <a:ext uri="{FF2B5EF4-FFF2-40B4-BE49-F238E27FC236}">
                <a16:creationId xmlns:a16="http://schemas.microsoft.com/office/drawing/2014/main" id="{9E1C79FE-58B5-4E23-9C2C-9B5853C4C262}"/>
              </a:ext>
            </a:extLst>
          </p:cNvPr>
          <p:cNvSpPr>
            <a:spLocks xmlns:a="http://schemas.openxmlformats.org/drawingml/2006/main" noGrp="1"/>
          </p:cNvSpPr>
          <p:nvPr/>
        </p:nvSpPr>
        <p:spPr>
          <a:xfrm xmlns:a="http://schemas.openxmlformats.org/drawingml/2006/main" rot="0">
            <a:off x="10662666" y="7373493"/>
            <a:ext cx="2159556"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sequencing tools [5]</a:t>
            </a:r>
          </a:p>
        </p:txBody>
      </p:sp>
      <p:sp>
        <p:nvSpPr>
          <p:cNvPr id="77" name="Figure 12 label 60 line 1">
            <a:extLst xmlns:a="http://schemas.openxmlformats.org/drawingml/2006/main">
              <a:ext uri="{FF2B5EF4-FFF2-40B4-BE49-F238E27FC236}">
                <a16:creationId xmlns:a16="http://schemas.microsoft.com/office/drawing/2014/main" id="{DE06EF75-0EF3-4D32-9443-339C04D6E4A7}"/>
              </a:ext>
            </a:extLst>
          </p:cNvPr>
          <p:cNvSpPr>
            <a:spLocks xmlns:a="http://schemas.openxmlformats.org/drawingml/2006/main" noGrp="1"/>
          </p:cNvSpPr>
          <p:nvPr/>
        </p:nvSpPr>
        <p:spPr>
          <a:xfrm xmlns:a="http://schemas.openxmlformats.org/drawingml/2006/main" rot="0">
            <a:off x="10662971" y="7597674"/>
            <a:ext cx="2133023"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Sequencers + consumables; all uses</a:t>
            </a:r>
          </a:p>
        </p:txBody>
      </p:sp>
      <p:sp>
        <p:nvSpPr>
          <p:cNvPr id="78" name="Figure 12 label 61 line 1">
            <a:extLst xmlns:a="http://schemas.openxmlformats.org/drawingml/2006/main">
              <a:ext uri="{FF2B5EF4-FFF2-40B4-BE49-F238E27FC236}">
                <a16:creationId xmlns:a16="http://schemas.microsoft.com/office/drawing/2014/main" id="{DB4153DC-E2EE-4354-A62C-60AB47119EC6}"/>
              </a:ext>
            </a:extLst>
          </p:cNvPr>
          <p:cNvSpPr>
            <a:spLocks xmlns:a="http://schemas.openxmlformats.org/drawingml/2006/main" noGrp="1"/>
          </p:cNvSpPr>
          <p:nvPr/>
        </p:nvSpPr>
        <p:spPr>
          <a:xfrm xmlns:a="http://schemas.openxmlformats.org/drawingml/2006/main" rot="0">
            <a:off x="11758271" y="7912151"/>
            <a:ext cx="151275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BD flow → WAT†</a:t>
            </a:r>
          </a:p>
        </p:txBody>
      </p:sp>
      <p:sp>
        <p:nvSpPr>
          <p:cNvPr id="79" name="Figure 12 label 62 line 1">
            <a:extLst xmlns:a="http://schemas.openxmlformats.org/drawingml/2006/main">
              <a:ext uri="{FF2B5EF4-FFF2-40B4-BE49-F238E27FC236}">
                <a16:creationId xmlns:a16="http://schemas.microsoft.com/office/drawing/2014/main" id="{6D0C7F86-406A-43EA-B7D9-47680DEA9369}"/>
              </a:ext>
            </a:extLst>
          </p:cNvPr>
          <p:cNvSpPr>
            <a:spLocks xmlns:a="http://schemas.openxmlformats.org/drawingml/2006/main" noGrp="1"/>
          </p:cNvSpPr>
          <p:nvPr/>
        </p:nvSpPr>
        <p:spPr>
          <a:xfrm xmlns:a="http://schemas.openxmlformats.org/drawingml/2006/main" rot="0">
            <a:off x="10663581" y="8244155"/>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80" name="Figure 12 label 63 line 1">
            <a:extLst xmlns:a="http://schemas.openxmlformats.org/drawingml/2006/main">
              <a:ext uri="{FF2B5EF4-FFF2-40B4-BE49-F238E27FC236}">
                <a16:creationId xmlns:a16="http://schemas.microsoft.com/office/drawing/2014/main" id="{F0A64B8E-E81C-40A5-898F-D05C3F576986}"/>
              </a:ext>
            </a:extLst>
          </p:cNvPr>
          <p:cNvSpPr>
            <a:spLocks xmlns:a="http://schemas.openxmlformats.org/drawingml/2006/main" noGrp="1"/>
          </p:cNvSpPr>
          <p:nvPr/>
        </p:nvSpPr>
        <p:spPr>
          <a:xfrm xmlns:a="http://schemas.openxmlformats.org/drawingml/2006/main" rot="0">
            <a:off x="12302033" y="824575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81" name="Figure 12 label 64 line 1">
            <a:extLst xmlns:a="http://schemas.openxmlformats.org/drawingml/2006/main">
              <a:ext uri="{FF2B5EF4-FFF2-40B4-BE49-F238E27FC236}">
                <a16:creationId xmlns:a16="http://schemas.microsoft.com/office/drawing/2014/main" id="{2D78E245-84CE-44D1-8260-338DC014AF53}"/>
              </a:ext>
            </a:extLst>
          </p:cNvPr>
          <p:cNvSpPr>
            <a:spLocks xmlns:a="http://schemas.openxmlformats.org/drawingml/2006/main" noGrp="1"/>
          </p:cNvSpPr>
          <p:nvPr/>
        </p:nvSpPr>
        <p:spPr>
          <a:xfrm xmlns:a="http://schemas.openxmlformats.org/drawingml/2006/main" rot="0">
            <a:off x="10662819" y="845713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MGI · 688114.SH</a:t>
            </a:r>
          </a:p>
        </p:txBody>
      </p:sp>
      <p:sp>
        <p:nvSpPr>
          <p:cNvPr id="82" name="Figure 12 label 64 line 2">
            <a:extLst xmlns:a="http://schemas.openxmlformats.org/drawingml/2006/main">
              <a:ext uri="{FF2B5EF4-FFF2-40B4-BE49-F238E27FC236}">
                <a16:creationId xmlns:a16="http://schemas.microsoft.com/office/drawing/2014/main" id="{012FBDF7-FE98-4936-8C84-135F04144C2E}"/>
              </a:ext>
            </a:extLst>
          </p:cNvPr>
          <p:cNvSpPr>
            <a:spLocks xmlns:a="http://schemas.openxmlformats.org/drawingml/2006/main" noGrp="1"/>
          </p:cNvSpPr>
          <p:nvPr/>
        </p:nvSpPr>
        <p:spPr>
          <a:xfrm xmlns:a="http://schemas.openxmlformats.org/drawingml/2006/main" rot="0">
            <a:off x="10662819" y="8619059"/>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p:txBody>
      </p:sp>
      <p:sp>
        <p:nvSpPr>
          <p:cNvPr id="83" name="Figure 12 label 65 line 1">
            <a:extLst xmlns:a="http://schemas.openxmlformats.org/drawingml/2006/main">
              <a:ext uri="{FF2B5EF4-FFF2-40B4-BE49-F238E27FC236}">
                <a16:creationId xmlns:a16="http://schemas.microsoft.com/office/drawing/2014/main" id="{56946123-8D41-4224-84CE-FC4F8D3BAD05}"/>
              </a:ext>
            </a:extLst>
          </p:cNvPr>
          <p:cNvSpPr>
            <a:spLocks xmlns:a="http://schemas.openxmlformats.org/drawingml/2006/main" noGrp="1"/>
          </p:cNvSpPr>
          <p:nvPr/>
        </p:nvSpPr>
        <p:spPr>
          <a:xfrm xmlns:a="http://schemas.openxmlformats.org/drawingml/2006/main" rot="0">
            <a:off x="12301362" y="8459694"/>
            <a:ext cx="91025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Illumina · ILMN</a:t>
            </a:r>
          </a:p>
        </p:txBody>
      </p:sp>
      <p:sp>
        <p:nvSpPr>
          <p:cNvPr id="84" name="Figure 12 label 65 line 2">
            <a:extLst xmlns:a="http://schemas.openxmlformats.org/drawingml/2006/main">
              <a:ext uri="{FF2B5EF4-FFF2-40B4-BE49-F238E27FC236}">
                <a16:creationId xmlns:a16="http://schemas.microsoft.com/office/drawing/2014/main" id="{4A6BEA2D-0519-4C9F-87D0-D72C752935C9}"/>
              </a:ext>
            </a:extLst>
          </p:cNvPr>
          <p:cNvSpPr>
            <a:spLocks xmlns:a="http://schemas.openxmlformats.org/drawingml/2006/main" noGrp="1"/>
          </p:cNvSpPr>
          <p:nvPr/>
        </p:nvSpPr>
        <p:spPr>
          <a:xfrm xmlns:a="http://schemas.openxmlformats.org/drawingml/2006/main" rot="0">
            <a:off x="12301362" y="8613999"/>
            <a:ext cx="91025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Agilent · A</a:t>
            </a:r>
          </a:p>
        </p:txBody>
      </p:sp>
      <p:sp>
        <p:nvSpPr>
          <p:cNvPr id="85" name="Figure 12 label 65 line 3">
            <a:extLst xmlns:a="http://schemas.openxmlformats.org/drawingml/2006/main">
              <a:ext uri="{FF2B5EF4-FFF2-40B4-BE49-F238E27FC236}">
                <a16:creationId xmlns:a16="http://schemas.microsoft.com/office/drawing/2014/main" id="{3648BA0B-AAB6-4C6E-8C9F-893E46507442}"/>
              </a:ext>
            </a:extLst>
          </p:cNvPr>
          <p:cNvSpPr>
            <a:spLocks xmlns:a="http://schemas.openxmlformats.org/drawingml/2006/main" noGrp="1"/>
          </p:cNvSpPr>
          <p:nvPr/>
        </p:nvSpPr>
        <p:spPr>
          <a:xfrm xmlns:a="http://schemas.openxmlformats.org/drawingml/2006/main" rot="0">
            <a:off x="12301362" y="8768304"/>
            <a:ext cx="91025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Waters · WAT†</a:t>
            </a:r>
          </a:p>
        </p:txBody>
      </p:sp>
      <p:sp>
        <p:nvSpPr>
          <p:cNvPr id="86" name="Figure 12 label 66 line 1">
            <a:extLst xmlns:a="http://schemas.openxmlformats.org/drawingml/2006/main">
              <a:ext uri="{FF2B5EF4-FFF2-40B4-BE49-F238E27FC236}">
                <a16:creationId xmlns:a16="http://schemas.microsoft.com/office/drawing/2014/main" id="{E0EBC9D0-1E32-4451-ADD8-CDA81E960D34}"/>
              </a:ext>
            </a:extLst>
          </p:cNvPr>
          <p:cNvSpPr>
            <a:spLocks xmlns:a="http://schemas.openxmlformats.org/drawingml/2006/main" noGrp="1"/>
          </p:cNvSpPr>
          <p:nvPr/>
        </p:nvSpPr>
        <p:spPr>
          <a:xfrm xmlns:a="http://schemas.openxmlformats.org/drawingml/2006/main" rot="0">
            <a:off x="14599615" y="6111850"/>
            <a:ext cx="2275624"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Purification &amp; scale-up</a:t>
            </a:r>
          </a:p>
        </p:txBody>
      </p:sp>
      <p:sp>
        <p:nvSpPr>
          <p:cNvPr id="87" name="Figure 12 label 67 line 1">
            <a:extLst xmlns:a="http://schemas.openxmlformats.org/drawingml/2006/main">
              <a:ext uri="{FF2B5EF4-FFF2-40B4-BE49-F238E27FC236}">
                <a16:creationId xmlns:a16="http://schemas.microsoft.com/office/drawing/2014/main" id="{C8AFA537-47AC-4BA7-BB91-041A478B6634}"/>
              </a:ext>
            </a:extLst>
          </p:cNvPr>
          <p:cNvSpPr>
            <a:spLocks xmlns:a="http://schemas.openxmlformats.org/drawingml/2006/main" noGrp="1"/>
          </p:cNvSpPr>
          <p:nvPr/>
        </p:nvSpPr>
        <p:spPr>
          <a:xfrm xmlns:a="http://schemas.openxmlformats.org/drawingml/2006/main" rot="0">
            <a:off x="14189659" y="6501232"/>
            <a:ext cx="254985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Analytical columns, process resins</a:t>
            </a:r>
          </a:p>
        </p:txBody>
      </p:sp>
      <p:sp>
        <p:nvSpPr>
          <p:cNvPr id="88" name="Figure 12 label 67 line 2">
            <a:extLst xmlns:a="http://schemas.openxmlformats.org/drawingml/2006/main">
              <a:ext uri="{FF2B5EF4-FFF2-40B4-BE49-F238E27FC236}">
                <a16:creationId xmlns:a16="http://schemas.microsoft.com/office/drawing/2014/main" id="{BB961B6A-EC09-4A74-97A9-E422CE3A9C7C}"/>
              </a:ext>
            </a:extLst>
          </p:cNvPr>
          <p:cNvSpPr>
            <a:spLocks xmlns:a="http://schemas.openxmlformats.org/drawingml/2006/main" noGrp="1"/>
          </p:cNvSpPr>
          <p:nvPr/>
        </p:nvSpPr>
        <p:spPr>
          <a:xfrm xmlns:a="http://schemas.openxmlformats.org/drawingml/2006/main" rot="0">
            <a:off x="14189659" y="6701257"/>
            <a:ext cx="254985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Filtration and single-use systems</a:t>
            </a:r>
          </a:p>
        </p:txBody>
      </p:sp>
      <p:sp>
        <p:nvSpPr>
          <p:cNvPr id="89" name="Figure 12 label 68 line 1">
            <a:extLst xmlns:a="http://schemas.openxmlformats.org/drawingml/2006/main">
              <a:ext uri="{FF2B5EF4-FFF2-40B4-BE49-F238E27FC236}">
                <a16:creationId xmlns:a16="http://schemas.microsoft.com/office/drawing/2014/main" id="{2CB1A29E-1F34-479E-BFF1-AEC35DEB4B1B}"/>
              </a:ext>
            </a:extLst>
          </p:cNvPr>
          <p:cNvSpPr>
            <a:spLocks xmlns:a="http://schemas.openxmlformats.org/drawingml/2006/main" noGrp="1"/>
          </p:cNvSpPr>
          <p:nvPr/>
        </p:nvSpPr>
        <p:spPr>
          <a:xfrm xmlns:a="http://schemas.openxmlformats.org/drawingml/2006/main" rot="0">
            <a:off x="14184783" y="6930085"/>
            <a:ext cx="1797749"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US$578.2m*</a:t>
            </a:r>
          </a:p>
        </p:txBody>
      </p:sp>
      <p:sp>
        <p:nvSpPr>
          <p:cNvPr id="90" name="Figure 12 label 69 line 1">
            <a:extLst xmlns:a="http://schemas.openxmlformats.org/drawingml/2006/main">
              <a:ext uri="{FF2B5EF4-FFF2-40B4-BE49-F238E27FC236}">
                <a16:creationId xmlns:a16="http://schemas.microsoft.com/office/drawing/2014/main" id="{B93FBC1B-7436-42FF-A4A4-7962B69CD0D1}"/>
              </a:ext>
            </a:extLst>
          </p:cNvPr>
          <p:cNvSpPr>
            <a:spLocks xmlns:a="http://schemas.openxmlformats.org/drawingml/2006/main" noGrp="1"/>
          </p:cNvSpPr>
          <p:nvPr/>
        </p:nvSpPr>
        <p:spPr>
          <a:xfrm xmlns:a="http://schemas.openxmlformats.org/drawingml/2006/main" rot="0">
            <a:off x="14190726" y="7373493"/>
            <a:ext cx="2196316"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bioprocess resins [3]</a:t>
            </a:r>
          </a:p>
        </p:txBody>
      </p:sp>
      <p:sp>
        <p:nvSpPr>
          <p:cNvPr id="91" name="Figure 12 label 70 line 1">
            <a:extLst xmlns:a="http://schemas.openxmlformats.org/drawingml/2006/main">
              <a:ext uri="{FF2B5EF4-FFF2-40B4-BE49-F238E27FC236}">
                <a16:creationId xmlns:a16="http://schemas.microsoft.com/office/drawing/2014/main" id="{E95E605D-0113-421F-B394-EEEFF1ACB6F4}"/>
              </a:ext>
            </a:extLst>
          </p:cNvPr>
          <p:cNvSpPr>
            <a:spLocks xmlns:a="http://schemas.openxmlformats.org/drawingml/2006/main" noGrp="1"/>
          </p:cNvSpPr>
          <p:nvPr/>
        </p:nvSpPr>
        <p:spPr>
          <a:xfrm xmlns:a="http://schemas.openxmlformats.org/drawingml/2006/main" rot="0">
            <a:off x="14191031" y="7597674"/>
            <a:ext cx="2297478"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Manufacturing demand has a longer lag</a:t>
            </a:r>
          </a:p>
        </p:txBody>
      </p:sp>
      <p:sp>
        <p:nvSpPr>
          <p:cNvPr id="92" name="Figure 12 label 71 line 1">
            <a:extLst xmlns:a="http://schemas.openxmlformats.org/drawingml/2006/main">
              <a:ext uri="{FF2B5EF4-FFF2-40B4-BE49-F238E27FC236}">
                <a16:creationId xmlns:a16="http://schemas.microsoft.com/office/drawing/2014/main" id="{88EB6575-672D-4B8B-B7FB-C06B5DEA2165}"/>
              </a:ext>
            </a:extLst>
          </p:cNvPr>
          <p:cNvSpPr>
            <a:spLocks xmlns:a="http://schemas.openxmlformats.org/drawingml/2006/main" noGrp="1"/>
          </p:cNvSpPr>
          <p:nvPr/>
        </p:nvSpPr>
        <p:spPr>
          <a:xfrm xmlns:a="http://schemas.openxmlformats.org/drawingml/2006/main" rot="0">
            <a:off x="14539266" y="7893711"/>
            <a:ext cx="1063931"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lnSpc>
                <a:spcPct val="100000"/>
              </a:lnSpc>
              <a:buNone/>
              <a:defRPr sz="1440" b="1">
                <a:solidFill>
                  <a:srgbClr val="00355F"/>
                </a:solidFill>
                <a:latin typeface="Arial"/>
                <a:ea typeface="Arial"/>
                <a:cs typeface="Arial"/>
              </a:defRPr>
            </a:pPr>
            <a:r>
              <a:rPr sz="1440" b="1">
                <a:solidFill>
                  <a:srgbClr val="00355F"/>
                </a:solidFill>
                <a:latin typeface="Arial"/>
                <a:ea typeface="Arial"/>
                <a:cs typeface="Arial"/>
              </a:rPr>
              <a:t>NanoMicro</a:t>
            </a:r>
          </a:p>
        </p:txBody>
      </p:sp>
      <p:sp>
        <p:nvSpPr>
          <p:cNvPr id="93" name="Figure 12 label 72 line 1">
            <a:extLst xmlns:a="http://schemas.openxmlformats.org/drawingml/2006/main">
              <a:ext uri="{FF2B5EF4-FFF2-40B4-BE49-F238E27FC236}">
                <a16:creationId xmlns:a16="http://schemas.microsoft.com/office/drawing/2014/main" id="{D5C32004-E8F2-487B-BD88-C0D0A677B89B}"/>
              </a:ext>
            </a:extLst>
          </p:cNvPr>
          <p:cNvSpPr>
            <a:spLocks xmlns:a="http://schemas.openxmlformats.org/drawingml/2006/main" noGrp="1"/>
          </p:cNvSpPr>
          <p:nvPr/>
        </p:nvSpPr>
        <p:spPr>
          <a:xfrm xmlns:a="http://schemas.openxmlformats.org/drawingml/2006/main" rot="0">
            <a:off x="14191641" y="8244155"/>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94" name="Figure 12 label 73 line 1">
            <a:extLst xmlns:a="http://schemas.openxmlformats.org/drawingml/2006/main">
              <a:ext uri="{FF2B5EF4-FFF2-40B4-BE49-F238E27FC236}">
                <a16:creationId xmlns:a16="http://schemas.microsoft.com/office/drawing/2014/main" id="{8F4A2415-9233-42E2-BC07-62B120DF532B}"/>
              </a:ext>
            </a:extLst>
          </p:cNvPr>
          <p:cNvSpPr>
            <a:spLocks xmlns:a="http://schemas.openxmlformats.org/drawingml/2006/main" noGrp="1"/>
          </p:cNvSpPr>
          <p:nvPr/>
        </p:nvSpPr>
        <p:spPr>
          <a:xfrm xmlns:a="http://schemas.openxmlformats.org/drawingml/2006/main" rot="0">
            <a:off x="15830093" y="824575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95" name="Figure 12 label 74 line 1">
            <a:extLst xmlns:a="http://schemas.openxmlformats.org/drawingml/2006/main">
              <a:ext uri="{FF2B5EF4-FFF2-40B4-BE49-F238E27FC236}">
                <a16:creationId xmlns:a16="http://schemas.microsoft.com/office/drawing/2014/main" id="{9A0ABCD1-E67C-43BE-8797-4B9335123BA7}"/>
              </a:ext>
            </a:extLst>
          </p:cNvPr>
          <p:cNvSpPr>
            <a:spLocks xmlns:a="http://schemas.openxmlformats.org/drawingml/2006/main" noGrp="1"/>
          </p:cNvSpPr>
          <p:nvPr/>
        </p:nvSpPr>
        <p:spPr>
          <a:xfrm xmlns:a="http://schemas.openxmlformats.org/drawingml/2006/main" rot="0">
            <a:off x="14190879" y="845713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p:txBody>
      </p:sp>
      <p:sp>
        <p:nvSpPr>
          <p:cNvPr id="96" name="Figure 12 label 74 line 2">
            <a:extLst xmlns:a="http://schemas.openxmlformats.org/drawingml/2006/main">
              <a:ext uri="{FF2B5EF4-FFF2-40B4-BE49-F238E27FC236}">
                <a16:creationId xmlns:a16="http://schemas.microsoft.com/office/drawing/2014/main" id="{69648A4A-D3E9-41F0-BEB6-BF4663A88C05}"/>
              </a:ext>
            </a:extLst>
          </p:cNvPr>
          <p:cNvSpPr>
            <a:spLocks xmlns:a="http://schemas.openxmlformats.org/drawingml/2006/main" noGrp="1"/>
          </p:cNvSpPr>
          <p:nvPr/>
        </p:nvSpPr>
        <p:spPr>
          <a:xfrm xmlns:a="http://schemas.openxmlformats.org/drawingml/2006/main" rot="0">
            <a:off x="14190879" y="8619059"/>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Sepax · 688758.SH</a:t>
            </a:r>
          </a:p>
        </p:txBody>
      </p:sp>
      <p:sp>
        <p:nvSpPr>
          <p:cNvPr id="97" name="Figure 12 label 75 line 1">
            <a:extLst xmlns:a="http://schemas.openxmlformats.org/drawingml/2006/main">
              <a:ext uri="{FF2B5EF4-FFF2-40B4-BE49-F238E27FC236}">
                <a16:creationId xmlns:a16="http://schemas.microsoft.com/office/drawing/2014/main" id="{55D1CF12-4512-4B9C-AA55-FADB86A52E09}"/>
              </a:ext>
            </a:extLst>
          </p:cNvPr>
          <p:cNvSpPr>
            <a:spLocks xmlns:a="http://schemas.openxmlformats.org/drawingml/2006/main" noGrp="1"/>
          </p:cNvSpPr>
          <p:nvPr/>
        </p:nvSpPr>
        <p:spPr>
          <a:xfrm xmlns:a="http://schemas.openxmlformats.org/drawingml/2006/main" rot="0">
            <a:off x="15829422" y="8459694"/>
            <a:ext cx="1033929"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Cytiva · DHR</a:t>
            </a:r>
          </a:p>
        </p:txBody>
      </p:sp>
      <p:sp>
        <p:nvSpPr>
          <p:cNvPr id="98" name="Figure 12 label 75 line 2">
            <a:extLst xmlns:a="http://schemas.openxmlformats.org/drawingml/2006/main">
              <a:ext uri="{FF2B5EF4-FFF2-40B4-BE49-F238E27FC236}">
                <a16:creationId xmlns:a16="http://schemas.microsoft.com/office/drawing/2014/main" id="{06BF020D-059A-44B6-869A-E29DC01C7703}"/>
              </a:ext>
            </a:extLst>
          </p:cNvPr>
          <p:cNvSpPr>
            <a:spLocks xmlns:a="http://schemas.openxmlformats.org/drawingml/2006/main" noGrp="1"/>
          </p:cNvSpPr>
          <p:nvPr/>
        </p:nvSpPr>
        <p:spPr>
          <a:xfrm xmlns:a="http://schemas.openxmlformats.org/drawingml/2006/main" rot="0">
            <a:off x="15829422" y="8613999"/>
            <a:ext cx="1033929"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Repligen · RGEN</a:t>
            </a:r>
          </a:p>
        </p:txBody>
      </p:sp>
      <p:sp>
        <p:nvSpPr>
          <p:cNvPr id="99" name="Figure 12 label 76 line 1">
            <a:extLst xmlns:a="http://schemas.openxmlformats.org/drawingml/2006/main">
              <a:ext uri="{FF2B5EF4-FFF2-40B4-BE49-F238E27FC236}">
                <a16:creationId xmlns:a16="http://schemas.microsoft.com/office/drawing/2014/main" id="{C9CC0946-0A85-4598-A19D-789F2A416955}"/>
              </a:ext>
            </a:extLst>
          </p:cNvPr>
          <p:cNvSpPr>
            <a:spLocks xmlns:a="http://schemas.openxmlformats.org/drawingml/2006/main" noGrp="1"/>
          </p:cNvSpPr>
          <p:nvPr/>
        </p:nvSpPr>
        <p:spPr>
          <a:xfrm xmlns:a="http://schemas.openxmlformats.org/drawingml/2006/main" rot="0">
            <a:off x="7223760" y="9345930"/>
            <a:ext cx="511507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Automation + data orchestration span every tool family</a:t>
            </a:r>
          </a:p>
        </p:txBody>
      </p:sp>
      <p:sp>
        <p:nvSpPr>
          <p:cNvPr id="100" name="Figure 12 label 77 line 1">
            <a:extLst xmlns:a="http://schemas.openxmlformats.org/drawingml/2006/main">
              <a:ext uri="{FF2B5EF4-FFF2-40B4-BE49-F238E27FC236}">
                <a16:creationId xmlns:a16="http://schemas.microsoft.com/office/drawing/2014/main" id="{C9B9262F-4C49-45F6-9DD1-E4CB20FCFE9C}"/>
              </a:ext>
            </a:extLst>
          </p:cNvPr>
          <p:cNvSpPr>
            <a:spLocks xmlns:a="http://schemas.openxmlformats.org/drawingml/2006/main" noGrp="1"/>
          </p:cNvSpPr>
          <p:nvPr/>
        </p:nvSpPr>
        <p:spPr>
          <a:xfrm xmlns:a="http://schemas.openxmlformats.org/drawingml/2006/main" rot="0">
            <a:off x="16255289" y="9380372"/>
            <a:ext cx="810119"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1">
                <a:solidFill>
                  <a:srgbClr val="00355F"/>
                </a:solidFill>
                <a:latin typeface="Arial"/>
                <a:ea typeface="Arial"/>
                <a:cs typeface="Arial"/>
              </a:defRPr>
            </a:defPPr>
          </a:lstStyle>
          <a:p xmlns:a="http://schemas.openxmlformats.org/drawingml/2006/main">
            <a:pPr algn="l">
              <a:lnSpc>
                <a:spcPct val="100000"/>
              </a:lnSpc>
              <a:buNone/>
              <a:defRPr sz="1140" b="1">
                <a:solidFill>
                  <a:srgbClr val="00355F"/>
                </a:solidFill>
                <a:latin typeface="Arial"/>
                <a:ea typeface="Arial"/>
                <a:cs typeface="Arial"/>
              </a:defRPr>
            </a:pPr>
            <a:r>
              <a:rPr sz="1140" b="1">
                <a:solidFill>
                  <a:srgbClr val="00355F"/>
                </a:solidFill>
                <a:latin typeface="Arial"/>
                <a:ea typeface="Arial"/>
                <a:cs typeface="Arial"/>
              </a:rPr>
              <a:t>SIX: TECN</a:t>
            </a:r>
          </a:p>
        </p:txBody>
      </p:sp>
      <p:sp>
        <p:nvSpPr>
          <p:cNvPr id="101" name="Figure 12 label 78 line 1">
            <a:extLst xmlns:a="http://schemas.openxmlformats.org/drawingml/2006/main">
              <a:ext uri="{FF2B5EF4-FFF2-40B4-BE49-F238E27FC236}">
                <a16:creationId xmlns:a16="http://schemas.microsoft.com/office/drawing/2014/main" id="{87570FFC-7B76-443E-AE8A-2351D477DDC7}"/>
              </a:ext>
            </a:extLst>
          </p:cNvPr>
          <p:cNvSpPr>
            <a:spLocks xmlns:a="http://schemas.openxmlformats.org/drawingml/2006/main" noGrp="1"/>
          </p:cNvSpPr>
          <p:nvPr/>
        </p:nvSpPr>
        <p:spPr>
          <a:xfrm xmlns:a="http://schemas.openxmlformats.org/drawingml/2006/main" rot="0">
            <a:off x="6738671" y="9799854"/>
            <a:ext cx="5884236"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 Ex-BD biosciences / flow moved to Waters on 9 Feb 2026; BD (BDX) here means specimen collection.</a:t>
            </a:r>
          </a:p>
        </p:txBody>
      </p:sp>
      <p:sp>
        <p:nvSpPr>
          <p:cNvPr id="102" name="Figure 12 label 79 line 1">
            <a:extLst xmlns:a="http://schemas.openxmlformats.org/drawingml/2006/main">
              <a:ext uri="{FF2B5EF4-FFF2-40B4-BE49-F238E27FC236}">
                <a16:creationId xmlns:a16="http://schemas.microsoft.com/office/drawing/2014/main" id="{C0EFCD04-2F21-4A09-9B90-CEE04B3E5E7A}"/>
              </a:ext>
            </a:extLst>
          </p:cNvPr>
          <p:cNvSpPr>
            <a:spLocks xmlns:a="http://schemas.openxmlformats.org/drawingml/2006/main" noGrp="1"/>
          </p:cNvSpPr>
          <p:nvPr/>
        </p:nvSpPr>
        <p:spPr>
          <a:xfrm xmlns:a="http://schemas.openxmlformats.org/drawingml/2006/main" rot="0">
            <a:off x="6738976" y="10008794"/>
            <a:ext cx="7232279" cy="147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30" b="0">
                <a:solidFill>
                  <a:srgbClr val="00355F"/>
                </a:solidFill>
                <a:latin typeface="Arial"/>
                <a:ea typeface="Arial"/>
                <a:cs typeface="Arial"/>
              </a:defRPr>
            </a:defPPr>
          </a:lstStyle>
          <a:p xmlns:a="http://schemas.openxmlformats.org/drawingml/2006/main">
            <a:pPr algn="l">
              <a:lnSpc>
                <a:spcPct val="100000"/>
              </a:lnSpc>
              <a:buNone/>
              <a:defRPr sz="930" b="0">
                <a:solidFill>
                  <a:srgbClr val="00355F"/>
                </a:solidFill>
                <a:latin typeface="Arial"/>
                <a:ea typeface="Arial"/>
                <a:cs typeface="Arial"/>
              </a:defRPr>
            </a:pPr>
            <a:r>
              <a:rPr sz="930" b="0">
                <a:solidFill>
                  <a:srgbClr val="00355F"/>
                </a:solidFill>
                <a:latin typeface="Arial"/>
                <a:ea typeface="Arial"/>
                <a:cs typeface="Arial"/>
              </a:rPr>
              <a:t>Groups denote listings, not incorporation; brands use parent tickers. * Source access limited. Sources and ticker register: SOURCES.md.</a:t>
            </a:r>
          </a:p>
        </p:txBody>
      </p:sp>
    </p:spTree>
    <p:extLst>
      <p:ext uri="{BB962C8B-B14F-4D97-AF65-F5344CB8AC3E}">
        <p14:creationId xmlns:p14="http://schemas.microsoft.com/office/powerpoint/2010/main" val="43458604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1" name="">
            <a:extLst xmlns:a="http://schemas.openxmlformats.org/drawingml/2006/main">
              <a:ext uri="{FF2B5EF4-FFF2-40B4-BE49-F238E27FC236}">
                <a16:creationId xmlns:a16="http://schemas.microsoft.com/office/drawing/2014/main" id="{3378693A-9D4A-4768-8E00-01E006B07BFF}"/>
              </a:ext>
            </a:extLst>
          </p:cNvPr>
          <p:cNvPicPr>
            <a:picLocks xmlns:a="http://schemas.openxmlformats.org/drawingml/2006/main" noChangeAspect="1"/>
          </p:cNvPicPr>
          <p:nvPr/>
        </p:nvPicPr>
        <p:blipFill>
          <a:blip xmlns:r="http://schemas.openxmlformats.org/officeDocument/2006/relationships" xmlns:a="http://schemas.openxmlformats.org/drawingml/2006/main" r:embed="Rec9f5a22a7a442c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3 label 1 line 1">
            <a:extLst xmlns:a="http://schemas.openxmlformats.org/drawingml/2006/main">
              <a:ext uri="{FF2B5EF4-FFF2-40B4-BE49-F238E27FC236}">
                <a16:creationId xmlns:a16="http://schemas.microsoft.com/office/drawing/2014/main" id="{7FFD0457-2C7D-4611-A313-632BFBC39FC8}"/>
              </a:ext>
            </a:extLst>
          </p:cNvPr>
          <p:cNvSpPr>
            <a:spLocks xmlns:a="http://schemas.openxmlformats.org/drawingml/2006/main" noGrp="1"/>
          </p:cNvSpPr>
          <p:nvPr/>
        </p:nvSpPr>
        <p:spPr>
          <a:xfrm xmlns:a="http://schemas.openxmlformats.org/drawingml/2006/main" rot="0">
            <a:off x="982599" y="270891"/>
            <a:ext cx="9514225" cy="547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lnSpc>
                <a:spcPct val="100000"/>
              </a:lnSpc>
              <a:buNone/>
              <a:defRPr sz="3450" b="1">
                <a:solidFill>
                  <a:srgbClr val="00355F"/>
                </a:solidFill>
                <a:latin typeface="Arial"/>
                <a:ea typeface="Arial"/>
                <a:cs typeface="Arial"/>
              </a:defRPr>
            </a:pPr>
            <a:r>
              <a:rPr sz="3450" b="1">
                <a:solidFill>
                  <a:srgbClr val="00355F"/>
                </a:solidFill>
                <a:latin typeface="Arial"/>
                <a:ea typeface="Arial"/>
                <a:cs typeface="Arial"/>
              </a:rPr>
              <a:t>Fewer molecules. Deeper experimental data.</a:t>
            </a:r>
          </a:p>
        </p:txBody>
      </p:sp>
      <p:sp>
        <p:nvSpPr>
          <p:cNvPr id="3" name="Figure 13 label 2 line 1">
            <a:extLst xmlns:a="http://schemas.openxmlformats.org/drawingml/2006/main">
              <a:ext uri="{FF2B5EF4-FFF2-40B4-BE49-F238E27FC236}">
                <a16:creationId xmlns:a16="http://schemas.microsoft.com/office/drawing/2014/main" id="{27F4634A-2C0E-45C9-BD49-36E72124A7D4}"/>
              </a:ext>
            </a:extLst>
          </p:cNvPr>
          <p:cNvSpPr>
            <a:spLocks xmlns:a="http://schemas.openxmlformats.org/drawingml/2006/main" noGrp="1"/>
          </p:cNvSpPr>
          <p:nvPr/>
        </p:nvSpPr>
        <p:spPr>
          <a:xfrm xmlns:a="http://schemas.openxmlformats.org/drawingml/2006/main" rot="0">
            <a:off x="1008888" y="936117"/>
            <a:ext cx="9173200"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025" b="0">
                <a:solidFill>
                  <a:srgbClr val="00355F"/>
                </a:solidFill>
                <a:latin typeface="Arial"/>
                <a:ea typeface="Arial"/>
                <a:cs typeface="Arial"/>
              </a:defRPr>
            </a:defPPr>
          </a:lstStyle>
          <a:p xmlns:a="http://schemas.openxmlformats.org/drawingml/2006/main">
            <a:pPr algn="l">
              <a:lnSpc>
                <a:spcPct val="100000"/>
              </a:lnSpc>
              <a:buNone/>
              <a:defRPr sz="2025" b="0">
                <a:solidFill>
                  <a:srgbClr val="00355F"/>
                </a:solidFill>
                <a:latin typeface="Arial"/>
                <a:ea typeface="Arial"/>
                <a:cs typeface="Arial"/>
              </a:defRPr>
            </a:pPr>
            <a:r>
              <a:rPr sz="2025" b="0">
                <a:solidFill>
                  <a:srgbClr val="00355F"/>
                </a:solidFill>
                <a:latin typeface="Arial"/>
                <a:ea typeface="Arial"/>
                <a:cs typeface="Arial"/>
              </a:rPr>
              <a:t>AI may reduce candidate counts while increasing characterization per molecule</a:t>
            </a:r>
          </a:p>
        </p:txBody>
      </p:sp>
      <p:sp>
        <p:nvSpPr>
          <p:cNvPr id="4" name="Figure 13 label 3 line 1">
            <a:extLst xmlns:a="http://schemas.openxmlformats.org/drawingml/2006/main">
              <a:ext uri="{FF2B5EF4-FFF2-40B4-BE49-F238E27FC236}">
                <a16:creationId xmlns:a16="http://schemas.microsoft.com/office/drawing/2014/main" id="{4EA14C4A-85F6-470E-8F32-B13914680A75}"/>
              </a:ext>
            </a:extLst>
          </p:cNvPr>
          <p:cNvSpPr>
            <a:spLocks xmlns:a="http://schemas.openxmlformats.org/drawingml/2006/main" noGrp="1"/>
          </p:cNvSpPr>
          <p:nvPr/>
        </p:nvSpPr>
        <p:spPr>
          <a:xfrm xmlns:a="http://schemas.openxmlformats.org/drawingml/2006/main" rot="0">
            <a:off x="1011174" y="1385316"/>
            <a:ext cx="7935307"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From molecule throughput to data density: a potential driver of life science tools demand</a:t>
            </a:r>
          </a:p>
        </p:txBody>
      </p:sp>
      <p:sp>
        <p:nvSpPr>
          <p:cNvPr id="5" name="Figure 13 label 4 line 1">
            <a:extLst xmlns:a="http://schemas.openxmlformats.org/drawingml/2006/main">
              <a:ext uri="{FF2B5EF4-FFF2-40B4-BE49-F238E27FC236}">
                <a16:creationId xmlns:a16="http://schemas.microsoft.com/office/drawing/2014/main" id="{A1255071-12F0-4D9F-9BD7-2C54F4D649A2}"/>
              </a:ext>
            </a:extLst>
          </p:cNvPr>
          <p:cNvSpPr>
            <a:spLocks xmlns:a="http://schemas.openxmlformats.org/drawingml/2006/main" noGrp="1"/>
          </p:cNvSpPr>
          <p:nvPr/>
        </p:nvSpPr>
        <p:spPr>
          <a:xfrm xmlns:a="http://schemas.openxmlformats.org/drawingml/2006/main" rot="0">
            <a:off x="931926" y="2253234"/>
            <a:ext cx="4339441"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1">
                <a:solidFill>
                  <a:srgbClr val="00355F"/>
                </a:solidFill>
                <a:latin typeface="Arial"/>
                <a:ea typeface="Arial"/>
                <a:cs typeface="Arial"/>
              </a:defRPr>
            </a:defPPr>
          </a:lstStyle>
          <a:p xmlns:a="http://schemas.openxmlformats.org/drawingml/2006/main">
            <a:pPr algn="l">
              <a:lnSpc>
                <a:spcPct val="100000"/>
              </a:lnSpc>
              <a:buNone/>
              <a:defRPr sz="2175" b="1">
                <a:solidFill>
                  <a:srgbClr val="00355F"/>
                </a:solidFill>
                <a:latin typeface="Arial"/>
                <a:ea typeface="Arial"/>
                <a:cs typeface="Arial"/>
              </a:defRPr>
            </a:pPr>
            <a:r>
              <a:rPr sz="2175" b="1">
                <a:solidFill>
                  <a:srgbClr val="00355F"/>
                </a:solidFill>
                <a:latin typeface="Arial"/>
                <a:ea typeface="Arial"/>
                <a:cs typeface="Arial"/>
              </a:rPr>
              <a:t>Existing data: staged screening</a:t>
            </a:r>
          </a:p>
        </p:txBody>
      </p:sp>
      <p:sp>
        <p:nvSpPr>
          <p:cNvPr id="6" name="Figure 13 label 5 line 1">
            <a:extLst xmlns:a="http://schemas.openxmlformats.org/drawingml/2006/main">
              <a:ext uri="{FF2B5EF4-FFF2-40B4-BE49-F238E27FC236}">
                <a16:creationId xmlns:a16="http://schemas.microsoft.com/office/drawing/2014/main" id="{37E3ABAA-F8EC-42E3-AF74-C189B64C39F9}"/>
              </a:ext>
            </a:extLst>
          </p:cNvPr>
          <p:cNvSpPr>
            <a:spLocks xmlns:a="http://schemas.openxmlformats.org/drawingml/2006/main" noGrp="1"/>
          </p:cNvSpPr>
          <p:nvPr/>
        </p:nvSpPr>
        <p:spPr>
          <a:xfrm xmlns:a="http://schemas.openxmlformats.org/drawingml/2006/main" rot="0">
            <a:off x="929640" y="2727960"/>
            <a:ext cx="3431828" cy="4167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625" b="1">
                <a:solidFill>
                  <a:srgbClr val="00355F"/>
                </a:solidFill>
                <a:latin typeface="Arial"/>
                <a:ea typeface="Arial"/>
                <a:cs typeface="Arial"/>
              </a:defRPr>
            </a:defPPr>
          </a:lstStyle>
          <a:p xmlns:a="http://schemas.openxmlformats.org/drawingml/2006/main">
            <a:pPr algn="l">
              <a:lnSpc>
                <a:spcPct val="100000"/>
              </a:lnSpc>
              <a:buNone/>
              <a:defRPr sz="2625" b="1">
                <a:solidFill>
                  <a:srgbClr val="00355F"/>
                </a:solidFill>
                <a:latin typeface="Arial"/>
                <a:ea typeface="Arial"/>
                <a:cs typeface="Arial"/>
              </a:defRPr>
            </a:pPr>
            <a:r>
              <a:rPr sz="2625" b="1">
                <a:solidFill>
                  <a:srgbClr val="00355F"/>
                </a:solidFill>
                <a:latin typeface="Arial"/>
                <a:ea typeface="Arial"/>
                <a:cs typeface="Arial"/>
              </a:rPr>
              <a:t>1,000 × 1 initial label</a:t>
            </a:r>
          </a:p>
        </p:txBody>
      </p:sp>
      <p:sp>
        <p:nvSpPr>
          <p:cNvPr id="7" name="Figure 13 label 6 line 1">
            <a:extLst xmlns:a="http://schemas.openxmlformats.org/drawingml/2006/main">
              <a:ext uri="{FF2B5EF4-FFF2-40B4-BE49-F238E27FC236}">
                <a16:creationId xmlns:a16="http://schemas.microsoft.com/office/drawing/2014/main" id="{C2DEA393-B810-4FC0-8348-656E19BDF69A}"/>
              </a:ext>
            </a:extLst>
          </p:cNvPr>
          <p:cNvSpPr>
            <a:spLocks xmlns:a="http://schemas.openxmlformats.org/drawingml/2006/main" noGrp="1"/>
          </p:cNvSpPr>
          <p:nvPr/>
        </p:nvSpPr>
        <p:spPr>
          <a:xfrm xmlns:a="http://schemas.openxmlformats.org/drawingml/2006/main" rot="0">
            <a:off x="935736" y="3240024"/>
            <a:ext cx="2934057"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Illustrative early single-task dataset</a:t>
            </a:r>
          </a:p>
        </p:txBody>
      </p:sp>
      <p:sp>
        <p:nvSpPr>
          <p:cNvPr id="8" name="Figure 13 label 7 line 1">
            <a:extLst xmlns:a="http://schemas.openxmlformats.org/drawingml/2006/main">
              <a:ext uri="{FF2B5EF4-FFF2-40B4-BE49-F238E27FC236}">
                <a16:creationId xmlns:a16="http://schemas.microsoft.com/office/drawing/2014/main" id="{A9327428-8313-4C8C-A395-5C93F11B53EA}"/>
              </a:ext>
            </a:extLst>
          </p:cNvPr>
          <p:cNvSpPr>
            <a:spLocks xmlns:a="http://schemas.openxmlformats.org/drawingml/2006/main" noGrp="1"/>
          </p:cNvSpPr>
          <p:nvPr/>
        </p:nvSpPr>
        <p:spPr>
          <a:xfrm xmlns:a="http://schemas.openxmlformats.org/drawingml/2006/main" rot="0">
            <a:off x="1563529" y="3777805"/>
            <a:ext cx="85439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Antibody</a:t>
            </a:r>
          </a:p>
        </p:txBody>
      </p:sp>
      <p:sp>
        <p:nvSpPr>
          <p:cNvPr id="9" name="Figure 13 label 8 line 1">
            <a:extLst xmlns:a="http://schemas.openxmlformats.org/drawingml/2006/main">
              <a:ext uri="{FF2B5EF4-FFF2-40B4-BE49-F238E27FC236}">
                <a16:creationId xmlns:a16="http://schemas.microsoft.com/office/drawing/2014/main" id="{5D066ECD-51A2-4DC5-A337-9BBCCAF06824}"/>
              </a:ext>
            </a:extLst>
          </p:cNvPr>
          <p:cNvSpPr>
            <a:spLocks xmlns:a="http://schemas.openxmlformats.org/drawingml/2006/main" noGrp="1"/>
          </p:cNvSpPr>
          <p:nvPr/>
        </p:nvSpPr>
        <p:spPr>
          <a:xfrm xmlns:a="http://schemas.openxmlformats.org/drawingml/2006/main" rot="0">
            <a:off x="4192429" y="3777805"/>
            <a:ext cx="69246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Binds?</a:t>
            </a:r>
          </a:p>
        </p:txBody>
      </p:sp>
      <p:sp>
        <p:nvSpPr>
          <p:cNvPr id="10" name="Figure 13 label 9 line 1">
            <a:extLst xmlns:a="http://schemas.openxmlformats.org/drawingml/2006/main">
              <a:ext uri="{FF2B5EF4-FFF2-40B4-BE49-F238E27FC236}">
                <a16:creationId xmlns:a16="http://schemas.microsoft.com/office/drawing/2014/main" id="{CDBED6E7-30B4-4A87-9C82-A9BDC2028094}"/>
              </a:ext>
            </a:extLst>
          </p:cNvPr>
          <p:cNvSpPr>
            <a:spLocks xmlns:a="http://schemas.openxmlformats.org/drawingml/2006/main" noGrp="1"/>
          </p:cNvSpPr>
          <p:nvPr/>
        </p:nvSpPr>
        <p:spPr>
          <a:xfrm xmlns:a="http://schemas.openxmlformats.org/drawingml/2006/main" rot="0">
            <a:off x="1658556" y="4134993"/>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Ab-001</a:t>
            </a:r>
          </a:p>
        </p:txBody>
      </p:sp>
      <p:sp>
        <p:nvSpPr>
          <p:cNvPr id="11" name="Figure 13 label 10 line 1">
            <a:extLst xmlns:a="http://schemas.openxmlformats.org/drawingml/2006/main">
              <a:ext uri="{FF2B5EF4-FFF2-40B4-BE49-F238E27FC236}">
                <a16:creationId xmlns:a16="http://schemas.microsoft.com/office/drawing/2014/main" id="{7B73199C-5464-4A59-B562-6E3D2EF99AB7}"/>
              </a:ext>
            </a:extLst>
          </p:cNvPr>
          <p:cNvSpPr>
            <a:spLocks xmlns:a="http://schemas.openxmlformats.org/drawingml/2006/main" noGrp="1"/>
          </p:cNvSpPr>
          <p:nvPr/>
        </p:nvSpPr>
        <p:spPr>
          <a:xfrm xmlns:a="http://schemas.openxmlformats.org/drawingml/2006/main" rot="0">
            <a:off x="4332208" y="4126325"/>
            <a:ext cx="412909"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Yes</a:t>
            </a:r>
          </a:p>
        </p:txBody>
      </p:sp>
      <p:sp>
        <p:nvSpPr>
          <p:cNvPr id="12" name="Figure 13 label 11 line 1">
            <a:extLst xmlns:a="http://schemas.openxmlformats.org/drawingml/2006/main">
              <a:ext uri="{FF2B5EF4-FFF2-40B4-BE49-F238E27FC236}">
                <a16:creationId xmlns:a16="http://schemas.microsoft.com/office/drawing/2014/main" id="{63A8E4BE-0779-40FA-8E3D-BCC5594EB36D}"/>
              </a:ext>
            </a:extLst>
          </p:cNvPr>
          <p:cNvSpPr>
            <a:spLocks xmlns:a="http://schemas.openxmlformats.org/drawingml/2006/main" noGrp="1"/>
          </p:cNvSpPr>
          <p:nvPr/>
        </p:nvSpPr>
        <p:spPr>
          <a:xfrm xmlns:a="http://schemas.openxmlformats.org/drawingml/2006/main" rot="0">
            <a:off x="1658556" y="4449318"/>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Ab-002</a:t>
            </a:r>
          </a:p>
        </p:txBody>
      </p:sp>
      <p:sp>
        <p:nvSpPr>
          <p:cNvPr id="13" name="Figure 13 label 12 line 1">
            <a:extLst xmlns:a="http://schemas.openxmlformats.org/drawingml/2006/main">
              <a:ext uri="{FF2B5EF4-FFF2-40B4-BE49-F238E27FC236}">
                <a16:creationId xmlns:a16="http://schemas.microsoft.com/office/drawing/2014/main" id="{8616F105-EEBF-45B6-8472-7873CB41B657}"/>
              </a:ext>
            </a:extLst>
          </p:cNvPr>
          <p:cNvSpPr>
            <a:spLocks xmlns:a="http://schemas.openxmlformats.org/drawingml/2006/main" noGrp="1"/>
          </p:cNvSpPr>
          <p:nvPr/>
        </p:nvSpPr>
        <p:spPr>
          <a:xfrm xmlns:a="http://schemas.openxmlformats.org/drawingml/2006/main" rot="0">
            <a:off x="4364132" y="4440650"/>
            <a:ext cx="349061"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No</a:t>
            </a:r>
          </a:p>
        </p:txBody>
      </p:sp>
      <p:sp>
        <p:nvSpPr>
          <p:cNvPr id="14" name="Figure 13 label 13 line 1">
            <a:extLst xmlns:a="http://schemas.openxmlformats.org/drawingml/2006/main">
              <a:ext uri="{FF2B5EF4-FFF2-40B4-BE49-F238E27FC236}">
                <a16:creationId xmlns:a16="http://schemas.microsoft.com/office/drawing/2014/main" id="{39C17C4A-F425-472D-81BD-8931E7D80680}"/>
              </a:ext>
            </a:extLst>
          </p:cNvPr>
          <p:cNvSpPr>
            <a:spLocks xmlns:a="http://schemas.openxmlformats.org/drawingml/2006/main" noGrp="1"/>
          </p:cNvSpPr>
          <p:nvPr/>
        </p:nvSpPr>
        <p:spPr>
          <a:xfrm xmlns:a="http://schemas.openxmlformats.org/drawingml/2006/main" rot="0">
            <a:off x="1658556" y="4763643"/>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Ab-003</a:t>
            </a:r>
          </a:p>
        </p:txBody>
      </p:sp>
      <p:sp>
        <p:nvSpPr>
          <p:cNvPr id="15" name="Figure 13 label 14 line 1">
            <a:extLst xmlns:a="http://schemas.openxmlformats.org/drawingml/2006/main">
              <a:ext uri="{FF2B5EF4-FFF2-40B4-BE49-F238E27FC236}">
                <a16:creationId xmlns:a16="http://schemas.microsoft.com/office/drawing/2014/main" id="{E66B642D-C6BA-4EE3-8606-A4D7B17E7B6C}"/>
              </a:ext>
            </a:extLst>
          </p:cNvPr>
          <p:cNvSpPr>
            <a:spLocks xmlns:a="http://schemas.openxmlformats.org/drawingml/2006/main" noGrp="1"/>
          </p:cNvSpPr>
          <p:nvPr/>
        </p:nvSpPr>
        <p:spPr>
          <a:xfrm xmlns:a="http://schemas.openxmlformats.org/drawingml/2006/main" rot="0">
            <a:off x="4332208" y="4754975"/>
            <a:ext cx="412909"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Yes</a:t>
            </a:r>
          </a:p>
        </p:txBody>
      </p:sp>
      <p:sp>
        <p:nvSpPr>
          <p:cNvPr id="16" name="Figure 13 label 15 line 1">
            <a:extLst xmlns:a="http://schemas.openxmlformats.org/drawingml/2006/main">
              <a:ext uri="{FF2B5EF4-FFF2-40B4-BE49-F238E27FC236}">
                <a16:creationId xmlns:a16="http://schemas.microsoft.com/office/drawing/2014/main" id="{F2F5283F-C9A1-479D-AB0F-71072C46E3D7}"/>
              </a:ext>
            </a:extLst>
          </p:cNvPr>
          <p:cNvSpPr>
            <a:spLocks xmlns:a="http://schemas.openxmlformats.org/drawingml/2006/main" noGrp="1"/>
          </p:cNvSpPr>
          <p:nvPr/>
        </p:nvSpPr>
        <p:spPr>
          <a:xfrm xmlns:a="http://schemas.openxmlformats.org/drawingml/2006/main" rot="0">
            <a:off x="1658556" y="5077968"/>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Ab-004</a:t>
            </a:r>
          </a:p>
        </p:txBody>
      </p:sp>
      <p:sp>
        <p:nvSpPr>
          <p:cNvPr id="17" name="Figure 13 label 16 line 1">
            <a:extLst xmlns:a="http://schemas.openxmlformats.org/drawingml/2006/main">
              <a:ext uri="{FF2B5EF4-FFF2-40B4-BE49-F238E27FC236}">
                <a16:creationId xmlns:a16="http://schemas.microsoft.com/office/drawing/2014/main" id="{1339ACCB-0C45-4FB2-BE00-B1292067F4BF}"/>
              </a:ext>
            </a:extLst>
          </p:cNvPr>
          <p:cNvSpPr>
            <a:spLocks xmlns:a="http://schemas.openxmlformats.org/drawingml/2006/main" noGrp="1"/>
          </p:cNvSpPr>
          <p:nvPr/>
        </p:nvSpPr>
        <p:spPr>
          <a:xfrm xmlns:a="http://schemas.openxmlformats.org/drawingml/2006/main" rot="0">
            <a:off x="4332208" y="5069300"/>
            <a:ext cx="412909"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Yes</a:t>
            </a:r>
          </a:p>
        </p:txBody>
      </p:sp>
      <p:sp>
        <p:nvSpPr>
          <p:cNvPr id="18" name="Figure 13 label 17 line 1">
            <a:extLst xmlns:a="http://schemas.openxmlformats.org/drawingml/2006/main">
              <a:ext uri="{FF2B5EF4-FFF2-40B4-BE49-F238E27FC236}">
                <a16:creationId xmlns:a16="http://schemas.microsoft.com/office/drawing/2014/main" id="{D44E042F-F81D-4A42-BBC1-EFEE5E36ECAF}"/>
              </a:ext>
            </a:extLst>
          </p:cNvPr>
          <p:cNvSpPr>
            <a:spLocks xmlns:a="http://schemas.openxmlformats.org/drawingml/2006/main" noGrp="1"/>
          </p:cNvSpPr>
          <p:nvPr/>
        </p:nvSpPr>
        <p:spPr>
          <a:xfrm xmlns:a="http://schemas.openxmlformats.org/drawingml/2006/main" rot="0">
            <a:off x="1658556" y="5392293"/>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Ab-005</a:t>
            </a:r>
          </a:p>
        </p:txBody>
      </p:sp>
      <p:sp>
        <p:nvSpPr>
          <p:cNvPr id="19" name="Figure 13 label 18 line 1">
            <a:extLst xmlns:a="http://schemas.openxmlformats.org/drawingml/2006/main">
              <a:ext uri="{FF2B5EF4-FFF2-40B4-BE49-F238E27FC236}">
                <a16:creationId xmlns:a16="http://schemas.microsoft.com/office/drawing/2014/main" id="{733E6DC1-BE41-4B87-BCA6-CADA4384E590}"/>
              </a:ext>
            </a:extLst>
          </p:cNvPr>
          <p:cNvSpPr>
            <a:spLocks xmlns:a="http://schemas.openxmlformats.org/drawingml/2006/main" noGrp="1"/>
          </p:cNvSpPr>
          <p:nvPr/>
        </p:nvSpPr>
        <p:spPr>
          <a:xfrm xmlns:a="http://schemas.openxmlformats.org/drawingml/2006/main" rot="0">
            <a:off x="4364132" y="5383625"/>
            <a:ext cx="349061"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No</a:t>
            </a:r>
          </a:p>
        </p:txBody>
      </p:sp>
      <p:sp>
        <p:nvSpPr>
          <p:cNvPr id="20" name="Figure 13 label 19 line 1">
            <a:extLst xmlns:a="http://schemas.openxmlformats.org/drawingml/2006/main">
              <a:ext uri="{FF2B5EF4-FFF2-40B4-BE49-F238E27FC236}">
                <a16:creationId xmlns:a16="http://schemas.microsoft.com/office/drawing/2014/main" id="{094CCCF6-708F-43EA-9BD4-C9AF2542299A}"/>
              </a:ext>
            </a:extLst>
          </p:cNvPr>
          <p:cNvSpPr>
            <a:spLocks xmlns:a="http://schemas.openxmlformats.org/drawingml/2006/main" noGrp="1"/>
          </p:cNvSpPr>
          <p:nvPr/>
        </p:nvSpPr>
        <p:spPr>
          <a:xfrm xmlns:a="http://schemas.openxmlformats.org/drawingml/2006/main" rot="0">
            <a:off x="1658556" y="5706618"/>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Ab-006</a:t>
            </a:r>
          </a:p>
        </p:txBody>
      </p:sp>
      <p:sp>
        <p:nvSpPr>
          <p:cNvPr id="21" name="Figure 13 label 20 line 1">
            <a:extLst xmlns:a="http://schemas.openxmlformats.org/drawingml/2006/main">
              <a:ext uri="{FF2B5EF4-FFF2-40B4-BE49-F238E27FC236}">
                <a16:creationId xmlns:a16="http://schemas.microsoft.com/office/drawing/2014/main" id="{BE329D12-B00D-42AB-A24C-31E7BAF52057}"/>
              </a:ext>
            </a:extLst>
          </p:cNvPr>
          <p:cNvSpPr>
            <a:spLocks xmlns:a="http://schemas.openxmlformats.org/drawingml/2006/main" noGrp="1"/>
          </p:cNvSpPr>
          <p:nvPr/>
        </p:nvSpPr>
        <p:spPr>
          <a:xfrm xmlns:a="http://schemas.openxmlformats.org/drawingml/2006/main" rot="0">
            <a:off x="4332208" y="5697950"/>
            <a:ext cx="412909"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Yes</a:t>
            </a:r>
          </a:p>
        </p:txBody>
      </p:sp>
      <p:sp>
        <p:nvSpPr>
          <p:cNvPr id="22" name="Figure 13 label 21 line 1">
            <a:extLst xmlns:a="http://schemas.openxmlformats.org/drawingml/2006/main">
              <a:ext uri="{FF2B5EF4-FFF2-40B4-BE49-F238E27FC236}">
                <a16:creationId xmlns:a16="http://schemas.microsoft.com/office/drawing/2014/main" id="{CE151935-A322-44A4-A616-F195E0D81D26}"/>
              </a:ext>
            </a:extLst>
          </p:cNvPr>
          <p:cNvSpPr>
            <a:spLocks xmlns:a="http://schemas.openxmlformats.org/drawingml/2006/main" noGrp="1"/>
          </p:cNvSpPr>
          <p:nvPr/>
        </p:nvSpPr>
        <p:spPr>
          <a:xfrm xmlns:a="http://schemas.openxmlformats.org/drawingml/2006/main" rot="0">
            <a:off x="934593" y="6058662"/>
            <a:ext cx="4398050"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Binding first; deeper tests for selected hits</a:t>
            </a:r>
          </a:p>
        </p:txBody>
      </p:sp>
      <p:sp>
        <p:nvSpPr>
          <p:cNvPr id="23" name="Figure 13 label 22 line 1">
            <a:extLst xmlns:a="http://schemas.openxmlformats.org/drawingml/2006/main">
              <a:ext uri="{FF2B5EF4-FFF2-40B4-BE49-F238E27FC236}">
                <a16:creationId xmlns:a16="http://schemas.microsoft.com/office/drawing/2014/main" id="{CA3C2AD6-C2E1-4149-A002-72C0ED6811B3}"/>
              </a:ext>
            </a:extLst>
          </p:cNvPr>
          <p:cNvSpPr>
            <a:spLocks xmlns:a="http://schemas.openxmlformats.org/drawingml/2006/main" noGrp="1"/>
          </p:cNvSpPr>
          <p:nvPr/>
        </p:nvSpPr>
        <p:spPr>
          <a:xfrm xmlns:a="http://schemas.openxmlformats.org/drawingml/2006/main" rot="0">
            <a:off x="936117" y="6415278"/>
            <a:ext cx="333223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Multi-assay characterization already exists</a:t>
            </a:r>
          </a:p>
        </p:txBody>
      </p:sp>
      <p:sp>
        <p:nvSpPr>
          <p:cNvPr id="24" name="Figure 13 label 23 line 1">
            <a:extLst xmlns:a="http://schemas.openxmlformats.org/drawingml/2006/main">
              <a:ext uri="{FF2B5EF4-FFF2-40B4-BE49-F238E27FC236}">
                <a16:creationId xmlns:a16="http://schemas.microsoft.com/office/drawing/2014/main" id="{BACE4142-1E02-40CD-9B3F-D2A3A8CE7C37}"/>
              </a:ext>
            </a:extLst>
          </p:cNvPr>
          <p:cNvSpPr>
            <a:spLocks xmlns:a="http://schemas.openxmlformats.org/drawingml/2006/main" noGrp="1"/>
          </p:cNvSpPr>
          <p:nvPr/>
        </p:nvSpPr>
        <p:spPr>
          <a:xfrm xmlns:a="http://schemas.openxmlformats.org/drawingml/2006/main" rot="0">
            <a:off x="7208901" y="2253234"/>
            <a:ext cx="4062919"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1">
                <a:solidFill>
                  <a:srgbClr val="00355F"/>
                </a:solidFill>
                <a:latin typeface="Arial"/>
                <a:ea typeface="Arial"/>
                <a:cs typeface="Arial"/>
              </a:defRPr>
            </a:defPPr>
          </a:lstStyle>
          <a:p xmlns:a="http://schemas.openxmlformats.org/drawingml/2006/main">
            <a:pPr algn="l">
              <a:lnSpc>
                <a:spcPct val="100000"/>
              </a:lnSpc>
              <a:buNone/>
              <a:defRPr sz="2175" b="1">
                <a:solidFill>
                  <a:srgbClr val="00355F"/>
                </a:solidFill>
                <a:latin typeface="Arial"/>
                <a:ea typeface="Arial"/>
                <a:cs typeface="Arial"/>
              </a:defRPr>
            </a:pPr>
            <a:r>
              <a:rPr sz="2175" b="1">
                <a:solidFill>
                  <a:srgbClr val="00355F"/>
                </a:solidFill>
                <a:latin typeface="Arial"/>
                <a:ea typeface="Arial"/>
                <a:cs typeface="Arial"/>
              </a:rPr>
              <a:t>AI: richer, linked training data</a:t>
            </a:r>
          </a:p>
        </p:txBody>
      </p:sp>
      <p:sp>
        <p:nvSpPr>
          <p:cNvPr id="25" name="Figure 13 label 24 line 1">
            <a:extLst xmlns:a="http://schemas.openxmlformats.org/drawingml/2006/main">
              <a:ext uri="{FF2B5EF4-FFF2-40B4-BE49-F238E27FC236}">
                <a16:creationId xmlns:a16="http://schemas.microsoft.com/office/drawing/2014/main" id="{CA54B669-83CA-44C2-9A44-299034EDEB04}"/>
              </a:ext>
            </a:extLst>
          </p:cNvPr>
          <p:cNvSpPr>
            <a:spLocks xmlns:a="http://schemas.openxmlformats.org/drawingml/2006/main" noGrp="1"/>
          </p:cNvSpPr>
          <p:nvPr/>
        </p:nvSpPr>
        <p:spPr>
          <a:xfrm xmlns:a="http://schemas.openxmlformats.org/drawingml/2006/main" rot="0">
            <a:off x="7206615" y="2727960"/>
            <a:ext cx="6794153" cy="4167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625" b="1">
                <a:solidFill>
                  <a:srgbClr val="00355F"/>
                </a:solidFill>
                <a:latin typeface="Arial"/>
                <a:ea typeface="Arial"/>
                <a:cs typeface="Arial"/>
              </a:defRPr>
            </a:defPPr>
          </a:lstStyle>
          <a:p xmlns:a="http://schemas.openxmlformats.org/drawingml/2006/main">
            <a:pPr algn="l">
              <a:lnSpc>
                <a:spcPct val="100000"/>
              </a:lnSpc>
              <a:buNone/>
              <a:defRPr sz="2625" b="1">
                <a:solidFill>
                  <a:srgbClr val="00355F"/>
                </a:solidFill>
                <a:latin typeface="Arial"/>
                <a:ea typeface="Arial"/>
                <a:cs typeface="Arial"/>
              </a:defRPr>
            </a:pPr>
            <a:r>
              <a:rPr sz="2625" b="1">
                <a:solidFill>
                  <a:srgbClr val="00355F"/>
                </a:solidFill>
                <a:latin typeface="Arial"/>
                <a:ea typeface="Arial"/>
                <a:cs typeface="Arial"/>
              </a:rPr>
              <a:t>300–1,000 antibodies · Up to 9 label types</a:t>
            </a:r>
          </a:p>
        </p:txBody>
      </p:sp>
      <p:sp>
        <p:nvSpPr>
          <p:cNvPr id="26" name="Figure 13 label 25 line 1">
            <a:extLst xmlns:a="http://schemas.openxmlformats.org/drawingml/2006/main">
              <a:ext uri="{FF2B5EF4-FFF2-40B4-BE49-F238E27FC236}">
                <a16:creationId xmlns:a16="http://schemas.microsoft.com/office/drawing/2014/main" id="{34B840B9-9FCC-43C0-9641-130D32E18571}"/>
              </a:ext>
            </a:extLst>
          </p:cNvPr>
          <p:cNvSpPr>
            <a:spLocks xmlns:a="http://schemas.openxmlformats.org/drawingml/2006/main" noGrp="1"/>
          </p:cNvSpPr>
          <p:nvPr/>
        </p:nvSpPr>
        <p:spPr>
          <a:xfrm xmlns:a="http://schemas.openxmlformats.org/drawingml/2006/main" rot="0">
            <a:off x="7212711" y="3240024"/>
            <a:ext cx="60829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Measure selected properties on shared molecules; fill the information gaps</a:t>
            </a:r>
          </a:p>
        </p:txBody>
      </p:sp>
      <p:sp>
        <p:nvSpPr>
          <p:cNvPr id="27" name="Figure 13 label 26 line 1">
            <a:extLst xmlns:a="http://schemas.openxmlformats.org/drawingml/2006/main">
              <a:ext uri="{FF2B5EF4-FFF2-40B4-BE49-F238E27FC236}">
                <a16:creationId xmlns:a16="http://schemas.microsoft.com/office/drawing/2014/main" id="{02E0C9AF-659C-4E02-807D-217830848B7E}"/>
              </a:ext>
            </a:extLst>
          </p:cNvPr>
          <p:cNvSpPr>
            <a:spLocks xmlns:a="http://schemas.openxmlformats.org/drawingml/2006/main" noGrp="1"/>
          </p:cNvSpPr>
          <p:nvPr/>
        </p:nvSpPr>
        <p:spPr>
          <a:xfrm xmlns:a="http://schemas.openxmlformats.org/drawingml/2006/main" rot="0">
            <a:off x="7354729" y="3777805"/>
            <a:ext cx="85439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Antibody</a:t>
            </a:r>
          </a:p>
        </p:txBody>
      </p:sp>
      <p:sp>
        <p:nvSpPr>
          <p:cNvPr id="28" name="Figure 13 label 27 line 1">
            <a:extLst xmlns:a="http://schemas.openxmlformats.org/drawingml/2006/main">
              <a:ext uri="{FF2B5EF4-FFF2-40B4-BE49-F238E27FC236}">
                <a16:creationId xmlns:a16="http://schemas.microsoft.com/office/drawing/2014/main" id="{FC75CD59-7E17-486A-82E2-B4DF4A7E48FA}"/>
              </a:ext>
            </a:extLst>
          </p:cNvPr>
          <p:cNvSpPr>
            <a:spLocks xmlns:a="http://schemas.openxmlformats.org/drawingml/2006/main" noGrp="1"/>
          </p:cNvSpPr>
          <p:nvPr/>
        </p:nvSpPr>
        <p:spPr>
          <a:xfrm xmlns:a="http://schemas.openxmlformats.org/drawingml/2006/main" rot="0">
            <a:off x="8612029" y="3777805"/>
            <a:ext cx="35909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KD</a:t>
            </a:r>
          </a:p>
        </p:txBody>
      </p:sp>
      <p:sp>
        <p:nvSpPr>
          <p:cNvPr id="29" name="Figure 13 label 28 line 1">
            <a:extLst xmlns:a="http://schemas.openxmlformats.org/drawingml/2006/main">
              <a:ext uri="{FF2B5EF4-FFF2-40B4-BE49-F238E27FC236}">
                <a16:creationId xmlns:a16="http://schemas.microsoft.com/office/drawing/2014/main" id="{DED020C8-EFD6-4028-8467-4FC0724F9895}"/>
              </a:ext>
            </a:extLst>
          </p:cNvPr>
          <p:cNvSpPr>
            <a:spLocks xmlns:a="http://schemas.openxmlformats.org/drawingml/2006/main" noGrp="1"/>
          </p:cNvSpPr>
          <p:nvPr/>
        </p:nvSpPr>
        <p:spPr>
          <a:xfrm xmlns:a="http://schemas.openxmlformats.org/drawingml/2006/main" rot="0">
            <a:off x="9478729" y="3777805"/>
            <a:ext cx="41639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kon</a:t>
            </a:r>
          </a:p>
        </p:txBody>
      </p:sp>
      <p:sp>
        <p:nvSpPr>
          <p:cNvPr id="30" name="Figure 13 label 29 line 1">
            <a:extLst xmlns:a="http://schemas.openxmlformats.org/drawingml/2006/main">
              <a:ext uri="{FF2B5EF4-FFF2-40B4-BE49-F238E27FC236}">
                <a16:creationId xmlns:a16="http://schemas.microsoft.com/office/drawing/2014/main" id="{6E838E8F-81AD-402B-9DB1-79A709CC5820}"/>
              </a:ext>
            </a:extLst>
          </p:cNvPr>
          <p:cNvSpPr>
            <a:spLocks xmlns:a="http://schemas.openxmlformats.org/drawingml/2006/main" noGrp="1"/>
          </p:cNvSpPr>
          <p:nvPr/>
        </p:nvSpPr>
        <p:spPr>
          <a:xfrm xmlns:a="http://schemas.openxmlformats.org/drawingml/2006/main" rot="0">
            <a:off x="10369391" y="3777805"/>
            <a:ext cx="42576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koff</a:t>
            </a:r>
          </a:p>
        </p:txBody>
      </p:sp>
      <p:sp>
        <p:nvSpPr>
          <p:cNvPr id="31" name="Figure 13 label 30 line 1">
            <a:extLst xmlns:a="http://schemas.openxmlformats.org/drawingml/2006/main">
              <a:ext uri="{FF2B5EF4-FFF2-40B4-BE49-F238E27FC236}">
                <a16:creationId xmlns:a16="http://schemas.microsoft.com/office/drawing/2014/main" id="{D3ED1206-6B85-42BB-BEF3-860E83CEC29E}"/>
              </a:ext>
            </a:extLst>
          </p:cNvPr>
          <p:cNvSpPr>
            <a:spLocks xmlns:a="http://schemas.openxmlformats.org/drawingml/2006/main" noGrp="1"/>
          </p:cNvSpPr>
          <p:nvPr/>
        </p:nvSpPr>
        <p:spPr>
          <a:xfrm xmlns:a="http://schemas.openxmlformats.org/drawingml/2006/main" rot="0">
            <a:off x="11393180" y="3777805"/>
            <a:ext cx="47369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expr</a:t>
            </a:r>
          </a:p>
        </p:txBody>
      </p:sp>
      <p:sp>
        <p:nvSpPr>
          <p:cNvPr id="32" name="Figure 13 label 31 line 1">
            <a:extLst xmlns:a="http://schemas.openxmlformats.org/drawingml/2006/main">
              <a:ext uri="{FF2B5EF4-FFF2-40B4-BE49-F238E27FC236}">
                <a16:creationId xmlns:a16="http://schemas.microsoft.com/office/drawing/2014/main" id="{1D970A46-4CE5-49F8-AA2E-06BFB399A119}"/>
              </a:ext>
            </a:extLst>
          </p:cNvPr>
          <p:cNvSpPr>
            <a:spLocks xmlns:a="http://schemas.openxmlformats.org/drawingml/2006/main" noGrp="1"/>
          </p:cNvSpPr>
          <p:nvPr/>
        </p:nvSpPr>
        <p:spPr>
          <a:xfrm xmlns:a="http://schemas.openxmlformats.org/drawingml/2006/main" rot="0">
            <a:off x="12445841" y="3777805"/>
            <a:ext cx="36861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Tm</a:t>
            </a:r>
          </a:p>
        </p:txBody>
      </p:sp>
      <p:sp>
        <p:nvSpPr>
          <p:cNvPr id="33" name="Figure 13 label 32 line 1">
            <a:extLst xmlns:a="http://schemas.openxmlformats.org/drawingml/2006/main">
              <a:ext uri="{FF2B5EF4-FFF2-40B4-BE49-F238E27FC236}">
                <a16:creationId xmlns:a16="http://schemas.microsoft.com/office/drawing/2014/main" id="{31D71B57-06DE-46BA-895F-BFEFD330957A}"/>
              </a:ext>
            </a:extLst>
          </p:cNvPr>
          <p:cNvSpPr>
            <a:spLocks xmlns:a="http://schemas.openxmlformats.org/drawingml/2006/main" noGrp="1"/>
          </p:cNvSpPr>
          <p:nvPr/>
        </p:nvSpPr>
        <p:spPr>
          <a:xfrm xmlns:a="http://schemas.openxmlformats.org/drawingml/2006/main" rot="0">
            <a:off x="13307779" y="3777805"/>
            <a:ext cx="41639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agg</a:t>
            </a:r>
          </a:p>
        </p:txBody>
      </p:sp>
      <p:sp>
        <p:nvSpPr>
          <p:cNvPr id="34" name="Figure 13 label 33 line 1">
            <a:extLst xmlns:a="http://schemas.openxmlformats.org/drawingml/2006/main">
              <a:ext uri="{FF2B5EF4-FFF2-40B4-BE49-F238E27FC236}">
                <a16:creationId xmlns:a16="http://schemas.microsoft.com/office/drawing/2014/main" id="{DF36719C-C55C-4B1D-8735-561B8107138E}"/>
              </a:ext>
            </a:extLst>
          </p:cNvPr>
          <p:cNvSpPr>
            <a:spLocks xmlns:a="http://schemas.openxmlformats.org/drawingml/2006/main" noGrp="1"/>
          </p:cNvSpPr>
          <p:nvPr/>
        </p:nvSpPr>
        <p:spPr>
          <a:xfrm xmlns:a="http://schemas.openxmlformats.org/drawingml/2006/main" rot="0">
            <a:off x="14312667" y="3777805"/>
            <a:ext cx="46401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poly</a:t>
            </a:r>
          </a:p>
        </p:txBody>
      </p:sp>
      <p:sp>
        <p:nvSpPr>
          <p:cNvPr id="35" name="Figure 13 label 34 line 1">
            <a:extLst xmlns:a="http://schemas.openxmlformats.org/drawingml/2006/main">
              <a:ext uri="{FF2B5EF4-FFF2-40B4-BE49-F238E27FC236}">
                <a16:creationId xmlns:a16="http://schemas.microsoft.com/office/drawing/2014/main" id="{A217BADF-C4D8-4713-9DCA-B5AA0994402B}"/>
              </a:ext>
            </a:extLst>
          </p:cNvPr>
          <p:cNvSpPr>
            <a:spLocks xmlns:a="http://schemas.openxmlformats.org/drawingml/2006/main" noGrp="1"/>
          </p:cNvSpPr>
          <p:nvPr/>
        </p:nvSpPr>
        <p:spPr>
          <a:xfrm xmlns:a="http://schemas.openxmlformats.org/drawingml/2006/main" rot="0">
            <a:off x="15403279" y="3777805"/>
            <a:ext cx="35924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epi</a:t>
            </a:r>
          </a:p>
        </p:txBody>
      </p:sp>
      <p:sp>
        <p:nvSpPr>
          <p:cNvPr id="36" name="Figure 13 label 35 line 1">
            <a:extLst xmlns:a="http://schemas.openxmlformats.org/drawingml/2006/main">
              <a:ext uri="{FF2B5EF4-FFF2-40B4-BE49-F238E27FC236}">
                <a16:creationId xmlns:a16="http://schemas.microsoft.com/office/drawing/2014/main" id="{B25C6D67-78B6-44DF-ADD6-D78792380E49}"/>
              </a:ext>
            </a:extLst>
          </p:cNvPr>
          <p:cNvSpPr>
            <a:spLocks xmlns:a="http://schemas.openxmlformats.org/drawingml/2006/main" noGrp="1"/>
          </p:cNvSpPr>
          <p:nvPr/>
        </p:nvSpPr>
        <p:spPr>
          <a:xfrm xmlns:a="http://schemas.openxmlformats.org/drawingml/2006/main" rot="0">
            <a:off x="16508105" y="3777805"/>
            <a:ext cx="39749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cell</a:t>
            </a:r>
          </a:p>
        </p:txBody>
      </p:sp>
      <p:sp>
        <p:nvSpPr>
          <p:cNvPr id="37" name="Figure 13 label 36 line 1">
            <a:extLst xmlns:a="http://schemas.openxmlformats.org/drawingml/2006/main">
              <a:ext uri="{FF2B5EF4-FFF2-40B4-BE49-F238E27FC236}">
                <a16:creationId xmlns:a16="http://schemas.microsoft.com/office/drawing/2014/main" id="{45D2CB1E-D269-4377-9F62-E93762952B49}"/>
              </a:ext>
            </a:extLst>
          </p:cNvPr>
          <p:cNvSpPr>
            <a:spLocks xmlns:a="http://schemas.openxmlformats.org/drawingml/2006/main" noGrp="1"/>
          </p:cNvSpPr>
          <p:nvPr/>
        </p:nvSpPr>
        <p:spPr>
          <a:xfrm xmlns:a="http://schemas.openxmlformats.org/drawingml/2006/main" rot="0">
            <a:off x="7449756" y="4134993"/>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Ab-001</a:t>
            </a:r>
          </a:p>
        </p:txBody>
      </p:sp>
      <p:sp>
        <p:nvSpPr>
          <p:cNvPr id="38" name="Figure 13 label 37 line 1">
            <a:extLst xmlns:a="http://schemas.openxmlformats.org/drawingml/2006/main">
              <a:ext uri="{FF2B5EF4-FFF2-40B4-BE49-F238E27FC236}">
                <a16:creationId xmlns:a16="http://schemas.microsoft.com/office/drawing/2014/main" id="{409ACD2E-E897-478F-BC15-F8E29747F03F}"/>
              </a:ext>
            </a:extLst>
          </p:cNvPr>
          <p:cNvSpPr>
            <a:spLocks xmlns:a="http://schemas.openxmlformats.org/drawingml/2006/main" noGrp="1"/>
          </p:cNvSpPr>
          <p:nvPr/>
        </p:nvSpPr>
        <p:spPr>
          <a:xfrm xmlns:a="http://schemas.openxmlformats.org/drawingml/2006/main" rot="0">
            <a:off x="8678064" y="41263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39" name="Figure 13 label 38 line 1">
            <a:extLst xmlns:a="http://schemas.openxmlformats.org/drawingml/2006/main">
              <a:ext uri="{FF2B5EF4-FFF2-40B4-BE49-F238E27FC236}">
                <a16:creationId xmlns:a16="http://schemas.microsoft.com/office/drawing/2014/main" id="{B6FDB3E8-18C6-4F98-A6C4-D4D1D20F33E9}"/>
              </a:ext>
            </a:extLst>
          </p:cNvPr>
          <p:cNvSpPr>
            <a:spLocks xmlns:a="http://schemas.openxmlformats.org/drawingml/2006/main" noGrp="1"/>
          </p:cNvSpPr>
          <p:nvPr/>
        </p:nvSpPr>
        <p:spPr>
          <a:xfrm xmlns:a="http://schemas.openxmlformats.org/drawingml/2006/main" rot="0">
            <a:off x="9573414" y="41263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40" name="Figure 13 label 39 line 1">
            <a:extLst xmlns:a="http://schemas.openxmlformats.org/drawingml/2006/main">
              <a:ext uri="{FF2B5EF4-FFF2-40B4-BE49-F238E27FC236}">
                <a16:creationId xmlns:a16="http://schemas.microsoft.com/office/drawing/2014/main" id="{1A2B2E54-6FCE-4516-8FA6-986EFBD2667E}"/>
              </a:ext>
            </a:extLst>
          </p:cNvPr>
          <p:cNvSpPr>
            <a:spLocks xmlns:a="http://schemas.openxmlformats.org/drawingml/2006/main" noGrp="1"/>
          </p:cNvSpPr>
          <p:nvPr/>
        </p:nvSpPr>
        <p:spPr>
          <a:xfrm xmlns:a="http://schemas.openxmlformats.org/drawingml/2006/main" rot="0">
            <a:off x="10468764" y="41263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41" name="Figure 13 label 40 line 1">
            <a:extLst xmlns:a="http://schemas.openxmlformats.org/drawingml/2006/main">
              <a:ext uri="{FF2B5EF4-FFF2-40B4-BE49-F238E27FC236}">
                <a16:creationId xmlns:a16="http://schemas.microsoft.com/office/drawing/2014/main" id="{025CD9D2-E392-427E-A636-CC6EEB6C41AC}"/>
              </a:ext>
            </a:extLst>
          </p:cNvPr>
          <p:cNvSpPr>
            <a:spLocks xmlns:a="http://schemas.openxmlformats.org/drawingml/2006/main" noGrp="1"/>
          </p:cNvSpPr>
          <p:nvPr/>
        </p:nvSpPr>
        <p:spPr>
          <a:xfrm xmlns:a="http://schemas.openxmlformats.org/drawingml/2006/main" rot="0">
            <a:off x="11516514" y="41263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42" name="Figure 13 label 41 line 1">
            <a:extLst xmlns:a="http://schemas.openxmlformats.org/drawingml/2006/main">
              <a:ext uri="{FF2B5EF4-FFF2-40B4-BE49-F238E27FC236}">
                <a16:creationId xmlns:a16="http://schemas.microsoft.com/office/drawing/2014/main" id="{AFC2F8FC-2053-443E-9698-9220CF379407}"/>
              </a:ext>
            </a:extLst>
          </p:cNvPr>
          <p:cNvSpPr>
            <a:spLocks xmlns:a="http://schemas.openxmlformats.org/drawingml/2006/main" noGrp="1"/>
          </p:cNvSpPr>
          <p:nvPr/>
        </p:nvSpPr>
        <p:spPr>
          <a:xfrm xmlns:a="http://schemas.openxmlformats.org/drawingml/2006/main" rot="0">
            <a:off x="12516639" y="41263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43" name="Figure 13 label 42 line 1">
            <a:extLst xmlns:a="http://schemas.openxmlformats.org/drawingml/2006/main">
              <a:ext uri="{FF2B5EF4-FFF2-40B4-BE49-F238E27FC236}">
                <a16:creationId xmlns:a16="http://schemas.microsoft.com/office/drawing/2014/main" id="{6CFA551B-61A0-40C4-8295-50849ED54620}"/>
              </a:ext>
            </a:extLst>
          </p:cNvPr>
          <p:cNvSpPr>
            <a:spLocks xmlns:a="http://schemas.openxmlformats.org/drawingml/2006/main" noGrp="1"/>
          </p:cNvSpPr>
          <p:nvPr/>
        </p:nvSpPr>
        <p:spPr>
          <a:xfrm xmlns:a="http://schemas.openxmlformats.org/drawingml/2006/main" rot="0">
            <a:off x="13402464" y="41263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44" name="Figure 13 label 43 line 1">
            <a:extLst xmlns:a="http://schemas.openxmlformats.org/drawingml/2006/main">
              <a:ext uri="{FF2B5EF4-FFF2-40B4-BE49-F238E27FC236}">
                <a16:creationId xmlns:a16="http://schemas.microsoft.com/office/drawing/2014/main" id="{CD51BEB9-C7E7-405B-9CC5-1BF47035A114}"/>
              </a:ext>
            </a:extLst>
          </p:cNvPr>
          <p:cNvSpPr>
            <a:spLocks xmlns:a="http://schemas.openxmlformats.org/drawingml/2006/main" noGrp="1"/>
          </p:cNvSpPr>
          <p:nvPr/>
        </p:nvSpPr>
        <p:spPr>
          <a:xfrm xmlns:a="http://schemas.openxmlformats.org/drawingml/2006/main" rot="0">
            <a:off x="14431164" y="41263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45" name="Figure 13 label 44 line 1">
            <a:extLst xmlns:a="http://schemas.openxmlformats.org/drawingml/2006/main">
              <a:ext uri="{FF2B5EF4-FFF2-40B4-BE49-F238E27FC236}">
                <a16:creationId xmlns:a16="http://schemas.microsoft.com/office/drawing/2014/main" id="{6C7C8923-5C48-40D4-9F72-3B23B17B7BF3}"/>
              </a:ext>
            </a:extLst>
          </p:cNvPr>
          <p:cNvSpPr>
            <a:spLocks xmlns:a="http://schemas.openxmlformats.org/drawingml/2006/main" noGrp="1"/>
          </p:cNvSpPr>
          <p:nvPr/>
        </p:nvSpPr>
        <p:spPr>
          <a:xfrm xmlns:a="http://schemas.openxmlformats.org/drawingml/2006/main" rot="0">
            <a:off x="15469389" y="41263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46" name="Figure 13 label 45 line 1">
            <a:extLst xmlns:a="http://schemas.openxmlformats.org/drawingml/2006/main">
              <a:ext uri="{FF2B5EF4-FFF2-40B4-BE49-F238E27FC236}">
                <a16:creationId xmlns:a16="http://schemas.microsoft.com/office/drawing/2014/main" id="{B04A1E05-EAB9-4CD8-BA60-F4503E216EA9}"/>
              </a:ext>
            </a:extLst>
          </p:cNvPr>
          <p:cNvSpPr>
            <a:spLocks xmlns:a="http://schemas.openxmlformats.org/drawingml/2006/main" noGrp="1"/>
          </p:cNvSpPr>
          <p:nvPr/>
        </p:nvSpPr>
        <p:spPr>
          <a:xfrm xmlns:a="http://schemas.openxmlformats.org/drawingml/2006/main" rot="0">
            <a:off x="16593339" y="41263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47" name="Figure 13 label 46 line 1">
            <a:extLst xmlns:a="http://schemas.openxmlformats.org/drawingml/2006/main">
              <a:ext uri="{FF2B5EF4-FFF2-40B4-BE49-F238E27FC236}">
                <a16:creationId xmlns:a16="http://schemas.microsoft.com/office/drawing/2014/main" id="{44550972-F2B6-475B-9B2F-113B0F0299F9}"/>
              </a:ext>
            </a:extLst>
          </p:cNvPr>
          <p:cNvSpPr>
            <a:spLocks xmlns:a="http://schemas.openxmlformats.org/drawingml/2006/main" noGrp="1"/>
          </p:cNvSpPr>
          <p:nvPr/>
        </p:nvSpPr>
        <p:spPr>
          <a:xfrm xmlns:a="http://schemas.openxmlformats.org/drawingml/2006/main" rot="0">
            <a:off x="7449756" y="4449318"/>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Ab-002</a:t>
            </a:r>
          </a:p>
        </p:txBody>
      </p:sp>
      <p:sp>
        <p:nvSpPr>
          <p:cNvPr id="48" name="Figure 13 label 47 line 1">
            <a:extLst xmlns:a="http://schemas.openxmlformats.org/drawingml/2006/main">
              <a:ext uri="{FF2B5EF4-FFF2-40B4-BE49-F238E27FC236}">
                <a16:creationId xmlns:a16="http://schemas.microsoft.com/office/drawing/2014/main" id="{47EA94FE-329E-40FE-9D6B-4563A667E1E4}"/>
              </a:ext>
            </a:extLst>
          </p:cNvPr>
          <p:cNvSpPr>
            <a:spLocks xmlns:a="http://schemas.openxmlformats.org/drawingml/2006/main" noGrp="1"/>
          </p:cNvSpPr>
          <p:nvPr/>
        </p:nvSpPr>
        <p:spPr>
          <a:xfrm xmlns:a="http://schemas.openxmlformats.org/drawingml/2006/main" rot="0">
            <a:off x="8678064" y="44406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49" name="Figure 13 label 48 line 1">
            <a:extLst xmlns:a="http://schemas.openxmlformats.org/drawingml/2006/main">
              <a:ext uri="{FF2B5EF4-FFF2-40B4-BE49-F238E27FC236}">
                <a16:creationId xmlns:a16="http://schemas.microsoft.com/office/drawing/2014/main" id="{9D9E3E5C-BF9C-4F29-BCEA-F26408FA0CB8}"/>
              </a:ext>
            </a:extLst>
          </p:cNvPr>
          <p:cNvSpPr>
            <a:spLocks xmlns:a="http://schemas.openxmlformats.org/drawingml/2006/main" noGrp="1"/>
          </p:cNvSpPr>
          <p:nvPr/>
        </p:nvSpPr>
        <p:spPr>
          <a:xfrm xmlns:a="http://schemas.openxmlformats.org/drawingml/2006/main" rot="0">
            <a:off x="9573414" y="44406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50" name="Figure 13 label 49 line 1">
            <a:extLst xmlns:a="http://schemas.openxmlformats.org/drawingml/2006/main">
              <a:ext uri="{FF2B5EF4-FFF2-40B4-BE49-F238E27FC236}">
                <a16:creationId xmlns:a16="http://schemas.microsoft.com/office/drawing/2014/main" id="{59A2052E-2B15-454F-BC1A-AEA4D64C15A6}"/>
              </a:ext>
            </a:extLst>
          </p:cNvPr>
          <p:cNvSpPr>
            <a:spLocks xmlns:a="http://schemas.openxmlformats.org/drawingml/2006/main" noGrp="1"/>
          </p:cNvSpPr>
          <p:nvPr/>
        </p:nvSpPr>
        <p:spPr>
          <a:xfrm xmlns:a="http://schemas.openxmlformats.org/drawingml/2006/main" rot="0">
            <a:off x="10468764" y="44406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51" name="Figure 13 label 50 line 1">
            <a:extLst xmlns:a="http://schemas.openxmlformats.org/drawingml/2006/main">
              <a:ext uri="{FF2B5EF4-FFF2-40B4-BE49-F238E27FC236}">
                <a16:creationId xmlns:a16="http://schemas.microsoft.com/office/drawing/2014/main" id="{D3EA5480-1DFB-4E2D-A08B-5D8BA577D46A}"/>
              </a:ext>
            </a:extLst>
          </p:cNvPr>
          <p:cNvSpPr>
            <a:spLocks xmlns:a="http://schemas.openxmlformats.org/drawingml/2006/main" noGrp="1"/>
          </p:cNvSpPr>
          <p:nvPr/>
        </p:nvSpPr>
        <p:spPr>
          <a:xfrm xmlns:a="http://schemas.openxmlformats.org/drawingml/2006/main" rot="0">
            <a:off x="11516514" y="44406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52" name="Figure 13 label 51 line 1">
            <a:extLst xmlns:a="http://schemas.openxmlformats.org/drawingml/2006/main">
              <a:ext uri="{FF2B5EF4-FFF2-40B4-BE49-F238E27FC236}">
                <a16:creationId xmlns:a16="http://schemas.microsoft.com/office/drawing/2014/main" id="{1D1489C9-CF28-401A-877D-90557C16DABC}"/>
              </a:ext>
            </a:extLst>
          </p:cNvPr>
          <p:cNvSpPr>
            <a:spLocks xmlns:a="http://schemas.openxmlformats.org/drawingml/2006/main" noGrp="1"/>
          </p:cNvSpPr>
          <p:nvPr/>
        </p:nvSpPr>
        <p:spPr>
          <a:xfrm xmlns:a="http://schemas.openxmlformats.org/drawingml/2006/main" rot="0">
            <a:off x="12516639" y="44406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53" name="Figure 13 label 52 line 1">
            <a:extLst xmlns:a="http://schemas.openxmlformats.org/drawingml/2006/main">
              <a:ext uri="{FF2B5EF4-FFF2-40B4-BE49-F238E27FC236}">
                <a16:creationId xmlns:a16="http://schemas.microsoft.com/office/drawing/2014/main" id="{94DB6E6B-E0B8-47C4-8313-049DBFA988ED}"/>
              </a:ext>
            </a:extLst>
          </p:cNvPr>
          <p:cNvSpPr>
            <a:spLocks xmlns:a="http://schemas.openxmlformats.org/drawingml/2006/main" noGrp="1"/>
          </p:cNvSpPr>
          <p:nvPr/>
        </p:nvSpPr>
        <p:spPr>
          <a:xfrm xmlns:a="http://schemas.openxmlformats.org/drawingml/2006/main" rot="0">
            <a:off x="13402464" y="44406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54" name="Figure 13 label 53 line 1">
            <a:extLst xmlns:a="http://schemas.openxmlformats.org/drawingml/2006/main">
              <a:ext uri="{FF2B5EF4-FFF2-40B4-BE49-F238E27FC236}">
                <a16:creationId xmlns:a16="http://schemas.microsoft.com/office/drawing/2014/main" id="{A7D730B6-A392-4A8F-944F-8613C9BBF54E}"/>
              </a:ext>
            </a:extLst>
          </p:cNvPr>
          <p:cNvSpPr>
            <a:spLocks xmlns:a="http://schemas.openxmlformats.org/drawingml/2006/main" noGrp="1"/>
          </p:cNvSpPr>
          <p:nvPr/>
        </p:nvSpPr>
        <p:spPr>
          <a:xfrm xmlns:a="http://schemas.openxmlformats.org/drawingml/2006/main" rot="0">
            <a:off x="14431164" y="44406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55" name="Figure 13 label 54 line 1">
            <a:extLst xmlns:a="http://schemas.openxmlformats.org/drawingml/2006/main">
              <a:ext uri="{FF2B5EF4-FFF2-40B4-BE49-F238E27FC236}">
                <a16:creationId xmlns:a16="http://schemas.microsoft.com/office/drawing/2014/main" id="{677CC928-B850-4FE6-9C08-EA48FED46063}"/>
              </a:ext>
            </a:extLst>
          </p:cNvPr>
          <p:cNvSpPr>
            <a:spLocks xmlns:a="http://schemas.openxmlformats.org/drawingml/2006/main" noGrp="1"/>
          </p:cNvSpPr>
          <p:nvPr/>
        </p:nvSpPr>
        <p:spPr>
          <a:xfrm xmlns:a="http://schemas.openxmlformats.org/drawingml/2006/main" rot="0">
            <a:off x="15469389" y="44406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56" name="Figure 13 label 55 line 1">
            <a:extLst xmlns:a="http://schemas.openxmlformats.org/drawingml/2006/main">
              <a:ext uri="{FF2B5EF4-FFF2-40B4-BE49-F238E27FC236}">
                <a16:creationId xmlns:a16="http://schemas.microsoft.com/office/drawing/2014/main" id="{7A922952-D3A7-48C3-BBFF-E78964F90DE2}"/>
              </a:ext>
            </a:extLst>
          </p:cNvPr>
          <p:cNvSpPr>
            <a:spLocks xmlns:a="http://schemas.openxmlformats.org/drawingml/2006/main" noGrp="1"/>
          </p:cNvSpPr>
          <p:nvPr/>
        </p:nvSpPr>
        <p:spPr>
          <a:xfrm xmlns:a="http://schemas.openxmlformats.org/drawingml/2006/main" rot="0">
            <a:off x="16593339" y="44406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57" name="Figure 13 label 56 line 1">
            <a:extLst xmlns:a="http://schemas.openxmlformats.org/drawingml/2006/main">
              <a:ext uri="{FF2B5EF4-FFF2-40B4-BE49-F238E27FC236}">
                <a16:creationId xmlns:a16="http://schemas.microsoft.com/office/drawing/2014/main" id="{160F1B12-D322-4679-A98A-00A8B8809A4C}"/>
              </a:ext>
            </a:extLst>
          </p:cNvPr>
          <p:cNvSpPr>
            <a:spLocks xmlns:a="http://schemas.openxmlformats.org/drawingml/2006/main" noGrp="1"/>
          </p:cNvSpPr>
          <p:nvPr/>
        </p:nvSpPr>
        <p:spPr>
          <a:xfrm xmlns:a="http://schemas.openxmlformats.org/drawingml/2006/main" rot="0">
            <a:off x="7449756" y="4763643"/>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Ab-003</a:t>
            </a:r>
          </a:p>
        </p:txBody>
      </p:sp>
      <p:sp>
        <p:nvSpPr>
          <p:cNvPr id="58" name="Figure 13 label 57 line 1">
            <a:extLst xmlns:a="http://schemas.openxmlformats.org/drawingml/2006/main">
              <a:ext uri="{FF2B5EF4-FFF2-40B4-BE49-F238E27FC236}">
                <a16:creationId xmlns:a16="http://schemas.microsoft.com/office/drawing/2014/main" id="{81A0C932-74E9-41BF-9103-C59F8DF47870}"/>
              </a:ext>
            </a:extLst>
          </p:cNvPr>
          <p:cNvSpPr>
            <a:spLocks xmlns:a="http://schemas.openxmlformats.org/drawingml/2006/main" noGrp="1"/>
          </p:cNvSpPr>
          <p:nvPr/>
        </p:nvSpPr>
        <p:spPr>
          <a:xfrm xmlns:a="http://schemas.openxmlformats.org/drawingml/2006/main" rot="0">
            <a:off x="8678064" y="475497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59" name="Figure 13 label 58 line 1">
            <a:extLst xmlns:a="http://schemas.openxmlformats.org/drawingml/2006/main">
              <a:ext uri="{FF2B5EF4-FFF2-40B4-BE49-F238E27FC236}">
                <a16:creationId xmlns:a16="http://schemas.microsoft.com/office/drawing/2014/main" id="{02AAE03E-74C3-4875-B03B-3D8647996E6B}"/>
              </a:ext>
            </a:extLst>
          </p:cNvPr>
          <p:cNvSpPr>
            <a:spLocks xmlns:a="http://schemas.openxmlformats.org/drawingml/2006/main" noGrp="1"/>
          </p:cNvSpPr>
          <p:nvPr/>
        </p:nvSpPr>
        <p:spPr>
          <a:xfrm xmlns:a="http://schemas.openxmlformats.org/drawingml/2006/main" rot="0">
            <a:off x="9573414" y="475497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60" name="Figure 13 label 59 line 1">
            <a:extLst xmlns:a="http://schemas.openxmlformats.org/drawingml/2006/main">
              <a:ext uri="{FF2B5EF4-FFF2-40B4-BE49-F238E27FC236}">
                <a16:creationId xmlns:a16="http://schemas.microsoft.com/office/drawing/2014/main" id="{0F873156-12D5-4393-A476-9938B4DF62CD}"/>
              </a:ext>
            </a:extLst>
          </p:cNvPr>
          <p:cNvSpPr>
            <a:spLocks xmlns:a="http://schemas.openxmlformats.org/drawingml/2006/main" noGrp="1"/>
          </p:cNvSpPr>
          <p:nvPr/>
        </p:nvSpPr>
        <p:spPr>
          <a:xfrm xmlns:a="http://schemas.openxmlformats.org/drawingml/2006/main" rot="0">
            <a:off x="10468764" y="475497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61" name="Figure 13 label 60 line 1">
            <a:extLst xmlns:a="http://schemas.openxmlformats.org/drawingml/2006/main">
              <a:ext uri="{FF2B5EF4-FFF2-40B4-BE49-F238E27FC236}">
                <a16:creationId xmlns:a16="http://schemas.microsoft.com/office/drawing/2014/main" id="{742FFD10-C893-40E8-8F43-158328F62270}"/>
              </a:ext>
            </a:extLst>
          </p:cNvPr>
          <p:cNvSpPr>
            <a:spLocks xmlns:a="http://schemas.openxmlformats.org/drawingml/2006/main" noGrp="1"/>
          </p:cNvSpPr>
          <p:nvPr/>
        </p:nvSpPr>
        <p:spPr>
          <a:xfrm xmlns:a="http://schemas.openxmlformats.org/drawingml/2006/main" rot="0">
            <a:off x="11516514" y="475497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62" name="Figure 13 label 61 line 1">
            <a:extLst xmlns:a="http://schemas.openxmlformats.org/drawingml/2006/main">
              <a:ext uri="{FF2B5EF4-FFF2-40B4-BE49-F238E27FC236}">
                <a16:creationId xmlns:a16="http://schemas.microsoft.com/office/drawing/2014/main" id="{9B3FB178-713D-4845-A587-41FD3C12916B}"/>
              </a:ext>
            </a:extLst>
          </p:cNvPr>
          <p:cNvSpPr>
            <a:spLocks xmlns:a="http://schemas.openxmlformats.org/drawingml/2006/main" noGrp="1"/>
          </p:cNvSpPr>
          <p:nvPr/>
        </p:nvSpPr>
        <p:spPr>
          <a:xfrm xmlns:a="http://schemas.openxmlformats.org/drawingml/2006/main" rot="0">
            <a:off x="12516639" y="475497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63" name="Figure 13 label 62 line 1">
            <a:extLst xmlns:a="http://schemas.openxmlformats.org/drawingml/2006/main">
              <a:ext uri="{FF2B5EF4-FFF2-40B4-BE49-F238E27FC236}">
                <a16:creationId xmlns:a16="http://schemas.microsoft.com/office/drawing/2014/main" id="{D8ACDD0E-9BAB-40D0-8DA5-A3ABB13B068E}"/>
              </a:ext>
            </a:extLst>
          </p:cNvPr>
          <p:cNvSpPr>
            <a:spLocks xmlns:a="http://schemas.openxmlformats.org/drawingml/2006/main" noGrp="1"/>
          </p:cNvSpPr>
          <p:nvPr/>
        </p:nvSpPr>
        <p:spPr>
          <a:xfrm xmlns:a="http://schemas.openxmlformats.org/drawingml/2006/main" rot="0">
            <a:off x="13402464" y="475497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64" name="Figure 13 label 63 line 1">
            <a:extLst xmlns:a="http://schemas.openxmlformats.org/drawingml/2006/main">
              <a:ext uri="{FF2B5EF4-FFF2-40B4-BE49-F238E27FC236}">
                <a16:creationId xmlns:a16="http://schemas.microsoft.com/office/drawing/2014/main" id="{1573955B-85C3-4370-BFE2-14D4A6107188}"/>
              </a:ext>
            </a:extLst>
          </p:cNvPr>
          <p:cNvSpPr>
            <a:spLocks xmlns:a="http://schemas.openxmlformats.org/drawingml/2006/main" noGrp="1"/>
          </p:cNvSpPr>
          <p:nvPr/>
        </p:nvSpPr>
        <p:spPr>
          <a:xfrm xmlns:a="http://schemas.openxmlformats.org/drawingml/2006/main" rot="0">
            <a:off x="14431164" y="475497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65" name="Figure 13 label 64 line 1">
            <a:extLst xmlns:a="http://schemas.openxmlformats.org/drawingml/2006/main">
              <a:ext uri="{FF2B5EF4-FFF2-40B4-BE49-F238E27FC236}">
                <a16:creationId xmlns:a16="http://schemas.microsoft.com/office/drawing/2014/main" id="{8CDA6D03-60DF-4175-A1E8-AE12097E689D}"/>
              </a:ext>
            </a:extLst>
          </p:cNvPr>
          <p:cNvSpPr>
            <a:spLocks xmlns:a="http://schemas.openxmlformats.org/drawingml/2006/main" noGrp="1"/>
          </p:cNvSpPr>
          <p:nvPr/>
        </p:nvSpPr>
        <p:spPr>
          <a:xfrm xmlns:a="http://schemas.openxmlformats.org/drawingml/2006/main" rot="0">
            <a:off x="15469389" y="475497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66" name="Figure 13 label 65 line 1">
            <a:extLst xmlns:a="http://schemas.openxmlformats.org/drawingml/2006/main">
              <a:ext uri="{FF2B5EF4-FFF2-40B4-BE49-F238E27FC236}">
                <a16:creationId xmlns:a16="http://schemas.microsoft.com/office/drawing/2014/main" id="{C305298B-874A-43B5-99B5-6BDFF9BDEFC5}"/>
              </a:ext>
            </a:extLst>
          </p:cNvPr>
          <p:cNvSpPr>
            <a:spLocks xmlns:a="http://schemas.openxmlformats.org/drawingml/2006/main" noGrp="1"/>
          </p:cNvSpPr>
          <p:nvPr/>
        </p:nvSpPr>
        <p:spPr>
          <a:xfrm xmlns:a="http://schemas.openxmlformats.org/drawingml/2006/main" rot="0">
            <a:off x="16593339" y="475497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67" name="Figure 13 label 66 line 1">
            <a:extLst xmlns:a="http://schemas.openxmlformats.org/drawingml/2006/main">
              <a:ext uri="{FF2B5EF4-FFF2-40B4-BE49-F238E27FC236}">
                <a16:creationId xmlns:a16="http://schemas.microsoft.com/office/drawing/2014/main" id="{E2E2A431-8C7D-4FB8-924B-275848B41F46}"/>
              </a:ext>
            </a:extLst>
          </p:cNvPr>
          <p:cNvSpPr>
            <a:spLocks xmlns:a="http://schemas.openxmlformats.org/drawingml/2006/main" noGrp="1"/>
          </p:cNvSpPr>
          <p:nvPr/>
        </p:nvSpPr>
        <p:spPr>
          <a:xfrm xmlns:a="http://schemas.openxmlformats.org/drawingml/2006/main" rot="0">
            <a:off x="7449756" y="5077968"/>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Ab-004</a:t>
            </a:r>
          </a:p>
        </p:txBody>
      </p:sp>
      <p:sp>
        <p:nvSpPr>
          <p:cNvPr id="68" name="Figure 13 label 67 line 1">
            <a:extLst xmlns:a="http://schemas.openxmlformats.org/drawingml/2006/main">
              <a:ext uri="{FF2B5EF4-FFF2-40B4-BE49-F238E27FC236}">
                <a16:creationId xmlns:a16="http://schemas.microsoft.com/office/drawing/2014/main" id="{8C0FDFE6-C647-4951-93CA-07675EC9A057}"/>
              </a:ext>
            </a:extLst>
          </p:cNvPr>
          <p:cNvSpPr>
            <a:spLocks xmlns:a="http://schemas.openxmlformats.org/drawingml/2006/main" noGrp="1"/>
          </p:cNvSpPr>
          <p:nvPr/>
        </p:nvSpPr>
        <p:spPr>
          <a:xfrm xmlns:a="http://schemas.openxmlformats.org/drawingml/2006/main" rot="0">
            <a:off x="8678064" y="506930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69" name="Figure 13 label 68 line 1">
            <a:extLst xmlns:a="http://schemas.openxmlformats.org/drawingml/2006/main">
              <a:ext uri="{FF2B5EF4-FFF2-40B4-BE49-F238E27FC236}">
                <a16:creationId xmlns:a16="http://schemas.microsoft.com/office/drawing/2014/main" id="{EA10CE36-CAF2-4EE3-9211-E32454BAF856}"/>
              </a:ext>
            </a:extLst>
          </p:cNvPr>
          <p:cNvSpPr>
            <a:spLocks xmlns:a="http://schemas.openxmlformats.org/drawingml/2006/main" noGrp="1"/>
          </p:cNvSpPr>
          <p:nvPr/>
        </p:nvSpPr>
        <p:spPr>
          <a:xfrm xmlns:a="http://schemas.openxmlformats.org/drawingml/2006/main" rot="0">
            <a:off x="9573414" y="506930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70" name="Figure 13 label 69 line 1">
            <a:extLst xmlns:a="http://schemas.openxmlformats.org/drawingml/2006/main">
              <a:ext uri="{FF2B5EF4-FFF2-40B4-BE49-F238E27FC236}">
                <a16:creationId xmlns:a16="http://schemas.microsoft.com/office/drawing/2014/main" id="{9B1AB5BF-44B3-4A73-9235-019C78A28558}"/>
              </a:ext>
            </a:extLst>
          </p:cNvPr>
          <p:cNvSpPr>
            <a:spLocks xmlns:a="http://schemas.openxmlformats.org/drawingml/2006/main" noGrp="1"/>
          </p:cNvSpPr>
          <p:nvPr/>
        </p:nvSpPr>
        <p:spPr>
          <a:xfrm xmlns:a="http://schemas.openxmlformats.org/drawingml/2006/main" rot="0">
            <a:off x="10468764" y="506930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71" name="Figure 13 label 70 line 1">
            <a:extLst xmlns:a="http://schemas.openxmlformats.org/drawingml/2006/main">
              <a:ext uri="{FF2B5EF4-FFF2-40B4-BE49-F238E27FC236}">
                <a16:creationId xmlns:a16="http://schemas.microsoft.com/office/drawing/2014/main" id="{965D7370-2452-4B3B-944D-34925EA838D7}"/>
              </a:ext>
            </a:extLst>
          </p:cNvPr>
          <p:cNvSpPr>
            <a:spLocks xmlns:a="http://schemas.openxmlformats.org/drawingml/2006/main" noGrp="1"/>
          </p:cNvSpPr>
          <p:nvPr/>
        </p:nvSpPr>
        <p:spPr>
          <a:xfrm xmlns:a="http://schemas.openxmlformats.org/drawingml/2006/main" rot="0">
            <a:off x="11516514" y="506930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72" name="Figure 13 label 71 line 1">
            <a:extLst xmlns:a="http://schemas.openxmlformats.org/drawingml/2006/main">
              <a:ext uri="{FF2B5EF4-FFF2-40B4-BE49-F238E27FC236}">
                <a16:creationId xmlns:a16="http://schemas.microsoft.com/office/drawing/2014/main" id="{B15B879B-DE6C-4CF3-B734-EF0A896FA65E}"/>
              </a:ext>
            </a:extLst>
          </p:cNvPr>
          <p:cNvSpPr>
            <a:spLocks xmlns:a="http://schemas.openxmlformats.org/drawingml/2006/main" noGrp="1"/>
          </p:cNvSpPr>
          <p:nvPr/>
        </p:nvSpPr>
        <p:spPr>
          <a:xfrm xmlns:a="http://schemas.openxmlformats.org/drawingml/2006/main" rot="0">
            <a:off x="12516639" y="506930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73" name="Figure 13 label 72 line 1">
            <a:extLst xmlns:a="http://schemas.openxmlformats.org/drawingml/2006/main">
              <a:ext uri="{FF2B5EF4-FFF2-40B4-BE49-F238E27FC236}">
                <a16:creationId xmlns:a16="http://schemas.microsoft.com/office/drawing/2014/main" id="{A537447C-D7DF-4D18-8239-DB7A6D52933B}"/>
              </a:ext>
            </a:extLst>
          </p:cNvPr>
          <p:cNvSpPr>
            <a:spLocks xmlns:a="http://schemas.openxmlformats.org/drawingml/2006/main" noGrp="1"/>
          </p:cNvSpPr>
          <p:nvPr/>
        </p:nvSpPr>
        <p:spPr>
          <a:xfrm xmlns:a="http://schemas.openxmlformats.org/drawingml/2006/main" rot="0">
            <a:off x="13402464" y="506930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74" name="Figure 13 label 73 line 1">
            <a:extLst xmlns:a="http://schemas.openxmlformats.org/drawingml/2006/main">
              <a:ext uri="{FF2B5EF4-FFF2-40B4-BE49-F238E27FC236}">
                <a16:creationId xmlns:a16="http://schemas.microsoft.com/office/drawing/2014/main" id="{4B3EFA57-72AC-431F-993B-CB11C630CA38}"/>
              </a:ext>
            </a:extLst>
          </p:cNvPr>
          <p:cNvSpPr>
            <a:spLocks xmlns:a="http://schemas.openxmlformats.org/drawingml/2006/main" noGrp="1"/>
          </p:cNvSpPr>
          <p:nvPr/>
        </p:nvSpPr>
        <p:spPr>
          <a:xfrm xmlns:a="http://schemas.openxmlformats.org/drawingml/2006/main" rot="0">
            <a:off x="14431164" y="506930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75" name="Figure 13 label 74 line 1">
            <a:extLst xmlns:a="http://schemas.openxmlformats.org/drawingml/2006/main">
              <a:ext uri="{FF2B5EF4-FFF2-40B4-BE49-F238E27FC236}">
                <a16:creationId xmlns:a16="http://schemas.microsoft.com/office/drawing/2014/main" id="{52E0B29E-FDFC-4768-86DB-42ABD27D1639}"/>
              </a:ext>
            </a:extLst>
          </p:cNvPr>
          <p:cNvSpPr>
            <a:spLocks xmlns:a="http://schemas.openxmlformats.org/drawingml/2006/main" noGrp="1"/>
          </p:cNvSpPr>
          <p:nvPr/>
        </p:nvSpPr>
        <p:spPr>
          <a:xfrm xmlns:a="http://schemas.openxmlformats.org/drawingml/2006/main" rot="0">
            <a:off x="15469389" y="506930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76" name="Figure 13 label 75 line 1">
            <a:extLst xmlns:a="http://schemas.openxmlformats.org/drawingml/2006/main">
              <a:ext uri="{FF2B5EF4-FFF2-40B4-BE49-F238E27FC236}">
                <a16:creationId xmlns:a16="http://schemas.microsoft.com/office/drawing/2014/main" id="{7161BBF6-913C-4EA1-B9F6-4CFF4D4C8362}"/>
              </a:ext>
            </a:extLst>
          </p:cNvPr>
          <p:cNvSpPr>
            <a:spLocks xmlns:a="http://schemas.openxmlformats.org/drawingml/2006/main" noGrp="1"/>
          </p:cNvSpPr>
          <p:nvPr/>
        </p:nvSpPr>
        <p:spPr>
          <a:xfrm xmlns:a="http://schemas.openxmlformats.org/drawingml/2006/main" rot="0">
            <a:off x="16593339" y="506930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77" name="Figure 13 label 76 line 1">
            <a:extLst xmlns:a="http://schemas.openxmlformats.org/drawingml/2006/main">
              <a:ext uri="{FF2B5EF4-FFF2-40B4-BE49-F238E27FC236}">
                <a16:creationId xmlns:a16="http://schemas.microsoft.com/office/drawing/2014/main" id="{88B7CCAE-28BF-4889-ABF4-CDF08E802A75}"/>
              </a:ext>
            </a:extLst>
          </p:cNvPr>
          <p:cNvSpPr>
            <a:spLocks xmlns:a="http://schemas.openxmlformats.org/drawingml/2006/main" noGrp="1"/>
          </p:cNvSpPr>
          <p:nvPr/>
        </p:nvSpPr>
        <p:spPr>
          <a:xfrm xmlns:a="http://schemas.openxmlformats.org/drawingml/2006/main" rot="0">
            <a:off x="7449756" y="5392293"/>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Ab-005</a:t>
            </a:r>
          </a:p>
        </p:txBody>
      </p:sp>
      <p:sp>
        <p:nvSpPr>
          <p:cNvPr id="78" name="Figure 13 label 77 line 1">
            <a:extLst xmlns:a="http://schemas.openxmlformats.org/drawingml/2006/main">
              <a:ext uri="{FF2B5EF4-FFF2-40B4-BE49-F238E27FC236}">
                <a16:creationId xmlns:a16="http://schemas.microsoft.com/office/drawing/2014/main" id="{45F376FA-663D-458B-A2C2-87302B445846}"/>
              </a:ext>
            </a:extLst>
          </p:cNvPr>
          <p:cNvSpPr>
            <a:spLocks xmlns:a="http://schemas.openxmlformats.org/drawingml/2006/main" noGrp="1"/>
          </p:cNvSpPr>
          <p:nvPr/>
        </p:nvSpPr>
        <p:spPr>
          <a:xfrm xmlns:a="http://schemas.openxmlformats.org/drawingml/2006/main" rot="0">
            <a:off x="8678064" y="53836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79" name="Figure 13 label 78 line 1">
            <a:extLst xmlns:a="http://schemas.openxmlformats.org/drawingml/2006/main">
              <a:ext uri="{FF2B5EF4-FFF2-40B4-BE49-F238E27FC236}">
                <a16:creationId xmlns:a16="http://schemas.microsoft.com/office/drawing/2014/main" id="{AA94D7F4-B713-4E4F-AA9F-3979B97BCB9C}"/>
              </a:ext>
            </a:extLst>
          </p:cNvPr>
          <p:cNvSpPr>
            <a:spLocks xmlns:a="http://schemas.openxmlformats.org/drawingml/2006/main" noGrp="1"/>
          </p:cNvSpPr>
          <p:nvPr/>
        </p:nvSpPr>
        <p:spPr>
          <a:xfrm xmlns:a="http://schemas.openxmlformats.org/drawingml/2006/main" rot="0">
            <a:off x="9573414" y="53836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80" name="Figure 13 label 79 line 1">
            <a:extLst xmlns:a="http://schemas.openxmlformats.org/drawingml/2006/main">
              <a:ext uri="{FF2B5EF4-FFF2-40B4-BE49-F238E27FC236}">
                <a16:creationId xmlns:a16="http://schemas.microsoft.com/office/drawing/2014/main" id="{4BEB2792-BCF3-47D3-AF09-32C550735FB1}"/>
              </a:ext>
            </a:extLst>
          </p:cNvPr>
          <p:cNvSpPr>
            <a:spLocks xmlns:a="http://schemas.openxmlformats.org/drawingml/2006/main" noGrp="1"/>
          </p:cNvSpPr>
          <p:nvPr/>
        </p:nvSpPr>
        <p:spPr>
          <a:xfrm xmlns:a="http://schemas.openxmlformats.org/drawingml/2006/main" rot="0">
            <a:off x="10468764" y="53836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81" name="Figure 13 label 80 line 1">
            <a:extLst xmlns:a="http://schemas.openxmlformats.org/drawingml/2006/main">
              <a:ext uri="{FF2B5EF4-FFF2-40B4-BE49-F238E27FC236}">
                <a16:creationId xmlns:a16="http://schemas.microsoft.com/office/drawing/2014/main" id="{83A54039-1C04-4A4D-9E02-72A7956AFAC4}"/>
              </a:ext>
            </a:extLst>
          </p:cNvPr>
          <p:cNvSpPr>
            <a:spLocks xmlns:a="http://schemas.openxmlformats.org/drawingml/2006/main" noGrp="1"/>
          </p:cNvSpPr>
          <p:nvPr/>
        </p:nvSpPr>
        <p:spPr>
          <a:xfrm xmlns:a="http://schemas.openxmlformats.org/drawingml/2006/main" rot="0">
            <a:off x="11516514" y="53836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82" name="Figure 13 label 81 line 1">
            <a:extLst xmlns:a="http://schemas.openxmlformats.org/drawingml/2006/main">
              <a:ext uri="{FF2B5EF4-FFF2-40B4-BE49-F238E27FC236}">
                <a16:creationId xmlns:a16="http://schemas.microsoft.com/office/drawing/2014/main" id="{79DACB35-21A3-4E3A-A83D-188A461ED66F}"/>
              </a:ext>
            </a:extLst>
          </p:cNvPr>
          <p:cNvSpPr>
            <a:spLocks xmlns:a="http://schemas.openxmlformats.org/drawingml/2006/main" noGrp="1"/>
          </p:cNvSpPr>
          <p:nvPr/>
        </p:nvSpPr>
        <p:spPr>
          <a:xfrm xmlns:a="http://schemas.openxmlformats.org/drawingml/2006/main" rot="0">
            <a:off x="12516639" y="53836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83" name="Figure 13 label 82 line 1">
            <a:extLst xmlns:a="http://schemas.openxmlformats.org/drawingml/2006/main">
              <a:ext uri="{FF2B5EF4-FFF2-40B4-BE49-F238E27FC236}">
                <a16:creationId xmlns:a16="http://schemas.microsoft.com/office/drawing/2014/main" id="{8A3C2DE9-FE87-4ADA-87D7-B0E9C94C44D5}"/>
              </a:ext>
            </a:extLst>
          </p:cNvPr>
          <p:cNvSpPr>
            <a:spLocks xmlns:a="http://schemas.openxmlformats.org/drawingml/2006/main" noGrp="1"/>
          </p:cNvSpPr>
          <p:nvPr/>
        </p:nvSpPr>
        <p:spPr>
          <a:xfrm xmlns:a="http://schemas.openxmlformats.org/drawingml/2006/main" rot="0">
            <a:off x="13402464" y="53836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84" name="Figure 13 label 83 line 1">
            <a:extLst xmlns:a="http://schemas.openxmlformats.org/drawingml/2006/main">
              <a:ext uri="{FF2B5EF4-FFF2-40B4-BE49-F238E27FC236}">
                <a16:creationId xmlns:a16="http://schemas.microsoft.com/office/drawing/2014/main" id="{8A23098D-452A-497A-B6CC-A8C9E7AE385F}"/>
              </a:ext>
            </a:extLst>
          </p:cNvPr>
          <p:cNvSpPr>
            <a:spLocks xmlns:a="http://schemas.openxmlformats.org/drawingml/2006/main" noGrp="1"/>
          </p:cNvSpPr>
          <p:nvPr/>
        </p:nvSpPr>
        <p:spPr>
          <a:xfrm xmlns:a="http://schemas.openxmlformats.org/drawingml/2006/main" rot="0">
            <a:off x="14395371" y="5383625"/>
            <a:ext cx="298609"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85" name="Figure 13 label 84 line 1">
            <a:extLst xmlns:a="http://schemas.openxmlformats.org/drawingml/2006/main">
              <a:ext uri="{FF2B5EF4-FFF2-40B4-BE49-F238E27FC236}">
                <a16:creationId xmlns:a16="http://schemas.microsoft.com/office/drawing/2014/main" id="{18CF7396-8190-45E9-AB49-FCEF4DB5F3A4}"/>
              </a:ext>
            </a:extLst>
          </p:cNvPr>
          <p:cNvSpPr>
            <a:spLocks xmlns:a="http://schemas.openxmlformats.org/drawingml/2006/main" noGrp="1"/>
          </p:cNvSpPr>
          <p:nvPr/>
        </p:nvSpPr>
        <p:spPr>
          <a:xfrm xmlns:a="http://schemas.openxmlformats.org/drawingml/2006/main" rot="0">
            <a:off x="15469389" y="5383625"/>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86" name="Figure 13 label 85 line 1">
            <a:extLst xmlns:a="http://schemas.openxmlformats.org/drawingml/2006/main">
              <a:ext uri="{FF2B5EF4-FFF2-40B4-BE49-F238E27FC236}">
                <a16:creationId xmlns:a16="http://schemas.microsoft.com/office/drawing/2014/main" id="{FA0D4503-70E1-4F03-8D66-23DC27A040AD}"/>
              </a:ext>
            </a:extLst>
          </p:cNvPr>
          <p:cNvSpPr>
            <a:spLocks xmlns:a="http://schemas.openxmlformats.org/drawingml/2006/main" noGrp="1"/>
          </p:cNvSpPr>
          <p:nvPr/>
        </p:nvSpPr>
        <p:spPr>
          <a:xfrm xmlns:a="http://schemas.openxmlformats.org/drawingml/2006/main" rot="0">
            <a:off x="16557546" y="5383625"/>
            <a:ext cx="298609"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87" name="Figure 13 label 86 line 1">
            <a:extLst xmlns:a="http://schemas.openxmlformats.org/drawingml/2006/main">
              <a:ext uri="{FF2B5EF4-FFF2-40B4-BE49-F238E27FC236}">
                <a16:creationId xmlns:a16="http://schemas.microsoft.com/office/drawing/2014/main" id="{47328F8D-D93B-44FB-B671-1EA8286F7DD9}"/>
              </a:ext>
            </a:extLst>
          </p:cNvPr>
          <p:cNvSpPr>
            <a:spLocks xmlns:a="http://schemas.openxmlformats.org/drawingml/2006/main" noGrp="1"/>
          </p:cNvSpPr>
          <p:nvPr/>
        </p:nvSpPr>
        <p:spPr>
          <a:xfrm xmlns:a="http://schemas.openxmlformats.org/drawingml/2006/main" rot="0">
            <a:off x="7449756" y="5706618"/>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Ab-006</a:t>
            </a:r>
          </a:p>
        </p:txBody>
      </p:sp>
      <p:sp>
        <p:nvSpPr>
          <p:cNvPr id="88" name="Figure 13 label 87 line 1">
            <a:extLst xmlns:a="http://schemas.openxmlformats.org/drawingml/2006/main">
              <a:ext uri="{FF2B5EF4-FFF2-40B4-BE49-F238E27FC236}">
                <a16:creationId xmlns:a16="http://schemas.microsoft.com/office/drawing/2014/main" id="{29286884-4D7A-40D9-A390-2192B1098771}"/>
              </a:ext>
            </a:extLst>
          </p:cNvPr>
          <p:cNvSpPr>
            <a:spLocks xmlns:a="http://schemas.openxmlformats.org/drawingml/2006/main" noGrp="1"/>
          </p:cNvSpPr>
          <p:nvPr/>
        </p:nvSpPr>
        <p:spPr>
          <a:xfrm xmlns:a="http://schemas.openxmlformats.org/drawingml/2006/main" rot="0">
            <a:off x="8678064" y="56979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89" name="Figure 13 label 88 line 1">
            <a:extLst xmlns:a="http://schemas.openxmlformats.org/drawingml/2006/main">
              <a:ext uri="{FF2B5EF4-FFF2-40B4-BE49-F238E27FC236}">
                <a16:creationId xmlns:a16="http://schemas.microsoft.com/office/drawing/2014/main" id="{E1EB421A-DA82-490B-B9B5-53E864284A9B}"/>
              </a:ext>
            </a:extLst>
          </p:cNvPr>
          <p:cNvSpPr>
            <a:spLocks xmlns:a="http://schemas.openxmlformats.org/drawingml/2006/main" noGrp="1"/>
          </p:cNvSpPr>
          <p:nvPr/>
        </p:nvSpPr>
        <p:spPr>
          <a:xfrm xmlns:a="http://schemas.openxmlformats.org/drawingml/2006/main" rot="0">
            <a:off x="9573414" y="56979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90" name="Figure 13 label 89 line 1">
            <a:extLst xmlns:a="http://schemas.openxmlformats.org/drawingml/2006/main">
              <a:ext uri="{FF2B5EF4-FFF2-40B4-BE49-F238E27FC236}">
                <a16:creationId xmlns:a16="http://schemas.microsoft.com/office/drawing/2014/main" id="{CE3060B7-DD70-45F8-8151-903506082744}"/>
              </a:ext>
            </a:extLst>
          </p:cNvPr>
          <p:cNvSpPr>
            <a:spLocks xmlns:a="http://schemas.openxmlformats.org/drawingml/2006/main" noGrp="1"/>
          </p:cNvSpPr>
          <p:nvPr/>
        </p:nvSpPr>
        <p:spPr>
          <a:xfrm xmlns:a="http://schemas.openxmlformats.org/drawingml/2006/main" rot="0">
            <a:off x="10468764" y="56979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91" name="Figure 13 label 90 line 1">
            <a:extLst xmlns:a="http://schemas.openxmlformats.org/drawingml/2006/main">
              <a:ext uri="{FF2B5EF4-FFF2-40B4-BE49-F238E27FC236}">
                <a16:creationId xmlns:a16="http://schemas.microsoft.com/office/drawing/2014/main" id="{749DCEF2-31BE-4A2F-B241-CA29863922D6}"/>
              </a:ext>
            </a:extLst>
          </p:cNvPr>
          <p:cNvSpPr>
            <a:spLocks xmlns:a="http://schemas.openxmlformats.org/drawingml/2006/main" noGrp="1"/>
          </p:cNvSpPr>
          <p:nvPr/>
        </p:nvSpPr>
        <p:spPr>
          <a:xfrm xmlns:a="http://schemas.openxmlformats.org/drawingml/2006/main" rot="0">
            <a:off x="11516514" y="56979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92" name="Figure 13 label 91 line 1">
            <a:extLst xmlns:a="http://schemas.openxmlformats.org/drawingml/2006/main">
              <a:ext uri="{FF2B5EF4-FFF2-40B4-BE49-F238E27FC236}">
                <a16:creationId xmlns:a16="http://schemas.microsoft.com/office/drawing/2014/main" id="{88844164-A1AD-4268-AD60-BFADD3521690}"/>
              </a:ext>
            </a:extLst>
          </p:cNvPr>
          <p:cNvSpPr>
            <a:spLocks xmlns:a="http://schemas.openxmlformats.org/drawingml/2006/main" noGrp="1"/>
          </p:cNvSpPr>
          <p:nvPr/>
        </p:nvSpPr>
        <p:spPr>
          <a:xfrm xmlns:a="http://schemas.openxmlformats.org/drawingml/2006/main" rot="0">
            <a:off x="12516639" y="56979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93" name="Figure 13 label 92 line 1">
            <a:extLst xmlns:a="http://schemas.openxmlformats.org/drawingml/2006/main">
              <a:ext uri="{FF2B5EF4-FFF2-40B4-BE49-F238E27FC236}">
                <a16:creationId xmlns:a16="http://schemas.microsoft.com/office/drawing/2014/main" id="{284D6990-29B3-411A-8E12-D05B66E3BB1A}"/>
              </a:ext>
            </a:extLst>
          </p:cNvPr>
          <p:cNvSpPr>
            <a:spLocks xmlns:a="http://schemas.openxmlformats.org/drawingml/2006/main" noGrp="1"/>
          </p:cNvSpPr>
          <p:nvPr/>
        </p:nvSpPr>
        <p:spPr>
          <a:xfrm xmlns:a="http://schemas.openxmlformats.org/drawingml/2006/main" rot="0">
            <a:off x="13402464" y="56979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94" name="Figure 13 label 93 line 1">
            <a:extLst xmlns:a="http://schemas.openxmlformats.org/drawingml/2006/main">
              <a:ext uri="{FF2B5EF4-FFF2-40B4-BE49-F238E27FC236}">
                <a16:creationId xmlns:a16="http://schemas.microsoft.com/office/drawing/2014/main" id="{4400447D-777B-46A5-B50D-34204C55F8D8}"/>
              </a:ext>
            </a:extLst>
          </p:cNvPr>
          <p:cNvSpPr>
            <a:spLocks xmlns:a="http://schemas.openxmlformats.org/drawingml/2006/main" noGrp="1"/>
          </p:cNvSpPr>
          <p:nvPr/>
        </p:nvSpPr>
        <p:spPr>
          <a:xfrm xmlns:a="http://schemas.openxmlformats.org/drawingml/2006/main" rot="0">
            <a:off x="14431164" y="56979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95" name="Figure 13 label 94 line 1">
            <a:extLst xmlns:a="http://schemas.openxmlformats.org/drawingml/2006/main">
              <a:ext uri="{FF2B5EF4-FFF2-40B4-BE49-F238E27FC236}">
                <a16:creationId xmlns:a16="http://schemas.microsoft.com/office/drawing/2014/main" id="{2387EDFC-F1AA-4A18-9D61-326A8E9561A1}"/>
              </a:ext>
            </a:extLst>
          </p:cNvPr>
          <p:cNvSpPr>
            <a:spLocks xmlns:a="http://schemas.openxmlformats.org/drawingml/2006/main" noGrp="1"/>
          </p:cNvSpPr>
          <p:nvPr/>
        </p:nvSpPr>
        <p:spPr>
          <a:xfrm xmlns:a="http://schemas.openxmlformats.org/drawingml/2006/main" rot="0">
            <a:off x="15433596" y="5697950"/>
            <a:ext cx="298609"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96" name="Figure 13 label 95 line 1">
            <a:extLst xmlns:a="http://schemas.openxmlformats.org/drawingml/2006/main">
              <a:ext uri="{FF2B5EF4-FFF2-40B4-BE49-F238E27FC236}">
                <a16:creationId xmlns:a16="http://schemas.microsoft.com/office/drawing/2014/main" id="{D201C029-41D3-4AB8-BA13-94CA3E917A22}"/>
              </a:ext>
            </a:extLst>
          </p:cNvPr>
          <p:cNvSpPr>
            <a:spLocks xmlns:a="http://schemas.openxmlformats.org/drawingml/2006/main" noGrp="1"/>
          </p:cNvSpPr>
          <p:nvPr/>
        </p:nvSpPr>
        <p:spPr>
          <a:xfrm xmlns:a="http://schemas.openxmlformats.org/drawingml/2006/main" rot="0">
            <a:off x="16593339" y="5697950"/>
            <a:ext cx="22702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a:t>
            </a:r>
          </a:p>
        </p:txBody>
      </p:sp>
      <p:sp>
        <p:nvSpPr>
          <p:cNvPr id="97" name="Figure 13 label 96 line 1">
            <a:extLst xmlns:a="http://schemas.openxmlformats.org/drawingml/2006/main">
              <a:ext uri="{FF2B5EF4-FFF2-40B4-BE49-F238E27FC236}">
                <a16:creationId xmlns:a16="http://schemas.microsoft.com/office/drawing/2014/main" id="{F7707B7F-0EA3-47F5-AC10-5E2A437D0F96}"/>
              </a:ext>
            </a:extLst>
          </p:cNvPr>
          <p:cNvSpPr>
            <a:spLocks xmlns:a="http://schemas.openxmlformats.org/drawingml/2006/main" noGrp="1"/>
          </p:cNvSpPr>
          <p:nvPr/>
        </p:nvSpPr>
        <p:spPr>
          <a:xfrm xmlns:a="http://schemas.openxmlformats.org/drawingml/2006/main" rot="0">
            <a:off x="7211568" y="6058662"/>
            <a:ext cx="6505307"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Learn binding, expression, stability and functional relationships</a:t>
            </a:r>
          </a:p>
        </p:txBody>
      </p:sp>
      <p:sp>
        <p:nvSpPr>
          <p:cNvPr id="98" name="Figure 13 label 97 line 1">
            <a:extLst xmlns:a="http://schemas.openxmlformats.org/drawingml/2006/main">
              <a:ext uri="{FF2B5EF4-FFF2-40B4-BE49-F238E27FC236}">
                <a16:creationId xmlns:a16="http://schemas.microsoft.com/office/drawing/2014/main" id="{44CE3861-0D23-4629-AE6A-D1116C1FC375}"/>
              </a:ext>
            </a:extLst>
          </p:cNvPr>
          <p:cNvSpPr>
            <a:spLocks xmlns:a="http://schemas.openxmlformats.org/drawingml/2006/main" noGrp="1"/>
          </p:cNvSpPr>
          <p:nvPr/>
        </p:nvSpPr>
        <p:spPr>
          <a:xfrm xmlns:a="http://schemas.openxmlformats.org/drawingml/2006/main" rot="0">
            <a:off x="7213473" y="6437757"/>
            <a:ext cx="667288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 Measured label   ○ KD derived from shared kinetics   — Unmeasured; colors show coverage</a:t>
            </a:r>
          </a:p>
        </p:txBody>
      </p:sp>
      <p:sp>
        <p:nvSpPr>
          <p:cNvPr id="99" name="Figure 13 label 98 line 1">
            <a:extLst xmlns:a="http://schemas.openxmlformats.org/drawingml/2006/main">
              <a:ext uri="{FF2B5EF4-FFF2-40B4-BE49-F238E27FC236}">
                <a16:creationId xmlns:a16="http://schemas.microsoft.com/office/drawing/2014/main" id="{4239AEF6-A21C-4278-88B7-6150F7772495}"/>
              </a:ext>
            </a:extLst>
          </p:cNvPr>
          <p:cNvSpPr>
            <a:spLocks xmlns:a="http://schemas.openxmlformats.org/drawingml/2006/main" noGrp="1"/>
          </p:cNvSpPr>
          <p:nvPr/>
        </p:nvSpPr>
        <p:spPr>
          <a:xfrm xmlns:a="http://schemas.openxmlformats.org/drawingml/2006/main" rot="0">
            <a:off x="904875" y="7229475"/>
            <a:ext cx="239137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Reuse existing data</a:t>
            </a:r>
          </a:p>
        </p:txBody>
      </p:sp>
      <p:sp>
        <p:nvSpPr>
          <p:cNvPr id="100" name="Figure 13 label 99 line 1">
            <a:extLst xmlns:a="http://schemas.openxmlformats.org/drawingml/2006/main">
              <a:ext uri="{FF2B5EF4-FFF2-40B4-BE49-F238E27FC236}">
                <a16:creationId xmlns:a16="http://schemas.microsoft.com/office/drawing/2014/main" id="{0CACD3B8-3BAC-43E4-B0D7-4E05CEA2D4D9}"/>
              </a:ext>
            </a:extLst>
          </p:cNvPr>
          <p:cNvSpPr>
            <a:spLocks xmlns:a="http://schemas.openxmlformats.org/drawingml/2006/main" noGrp="1"/>
          </p:cNvSpPr>
          <p:nvPr/>
        </p:nvSpPr>
        <p:spPr>
          <a:xfrm xmlns:a="http://schemas.openxmlformats.org/drawingml/2006/main" rot="0">
            <a:off x="906780" y="7665720"/>
            <a:ext cx="38619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Normalize formats, conditions and access</a:t>
            </a:r>
          </a:p>
        </p:txBody>
      </p:sp>
      <p:sp>
        <p:nvSpPr>
          <p:cNvPr id="101" name="Figure 13 label 99 line 2">
            <a:extLst xmlns:a="http://schemas.openxmlformats.org/drawingml/2006/main">
              <a:ext uri="{FF2B5EF4-FFF2-40B4-BE49-F238E27FC236}">
                <a16:creationId xmlns:a16="http://schemas.microsoft.com/office/drawing/2014/main" id="{C96229AE-A191-472B-B7B5-3BCDD58A6DA8}"/>
              </a:ext>
            </a:extLst>
          </p:cNvPr>
          <p:cNvSpPr>
            <a:spLocks xmlns:a="http://schemas.openxmlformats.org/drawingml/2006/main" noGrp="1"/>
          </p:cNvSpPr>
          <p:nvPr/>
        </p:nvSpPr>
        <p:spPr>
          <a:xfrm xmlns:a="http://schemas.openxmlformats.org/drawingml/2006/main" rot="0">
            <a:off x="906780" y="7903845"/>
            <a:ext cx="38619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Better training may need no new experiment</a:t>
            </a:r>
          </a:p>
        </p:txBody>
      </p:sp>
      <p:sp>
        <p:nvSpPr>
          <p:cNvPr id="102" name="Figure 13 label 100 line 1">
            <a:extLst xmlns:a="http://schemas.openxmlformats.org/drawingml/2006/main">
              <a:ext uri="{FF2B5EF4-FFF2-40B4-BE49-F238E27FC236}">
                <a16:creationId xmlns:a16="http://schemas.microsoft.com/office/drawing/2014/main" id="{6D98DC19-65A9-49E9-9BA7-624D0A6A5F52}"/>
              </a:ext>
            </a:extLst>
          </p:cNvPr>
          <p:cNvSpPr>
            <a:spLocks xmlns:a="http://schemas.openxmlformats.org/drawingml/2006/main" noGrp="1"/>
          </p:cNvSpPr>
          <p:nvPr/>
        </p:nvSpPr>
        <p:spPr>
          <a:xfrm xmlns:a="http://schemas.openxmlformats.org/drawingml/2006/main" rot="0">
            <a:off x="6410325" y="7229475"/>
            <a:ext cx="260285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Stage 0: fill data gaps</a:t>
            </a:r>
          </a:p>
        </p:txBody>
      </p:sp>
      <p:sp>
        <p:nvSpPr>
          <p:cNvPr id="103" name="Figure 13 label 101 line 1">
            <a:extLst xmlns:a="http://schemas.openxmlformats.org/drawingml/2006/main">
              <a:ext uri="{FF2B5EF4-FFF2-40B4-BE49-F238E27FC236}">
                <a16:creationId xmlns:a16="http://schemas.microsoft.com/office/drawing/2014/main" id="{F03E203B-E29C-47A5-B3D4-0C7DA7741517}"/>
              </a:ext>
            </a:extLst>
          </p:cNvPr>
          <p:cNvSpPr>
            <a:spLocks xmlns:a="http://schemas.openxmlformats.org/drawingml/2006/main" noGrp="1"/>
          </p:cNvSpPr>
          <p:nvPr/>
        </p:nvSpPr>
        <p:spPr>
          <a:xfrm xmlns:a="http://schemas.openxmlformats.org/drawingml/2006/main" rot="0">
            <a:off x="6412230" y="7665720"/>
            <a:ext cx="377681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Add missing assays and biological diversity</a:t>
            </a:r>
          </a:p>
        </p:txBody>
      </p:sp>
      <p:sp>
        <p:nvSpPr>
          <p:cNvPr id="104" name="Figure 13 label 101 line 2">
            <a:extLst xmlns:a="http://schemas.openxmlformats.org/drawingml/2006/main">
              <a:ext uri="{FF2B5EF4-FFF2-40B4-BE49-F238E27FC236}">
                <a16:creationId xmlns:a16="http://schemas.microsoft.com/office/drawing/2014/main" id="{8BCD564A-3D10-4FEE-9927-460D66DF15FA}"/>
              </a:ext>
            </a:extLst>
          </p:cNvPr>
          <p:cNvSpPr>
            <a:spLocks xmlns:a="http://schemas.openxmlformats.org/drawingml/2006/main" noGrp="1"/>
          </p:cNvSpPr>
          <p:nvPr/>
        </p:nvSpPr>
        <p:spPr>
          <a:xfrm xmlns:a="http://schemas.openxmlformats.org/drawingml/2006/main" rot="0">
            <a:off x="6412230" y="7903845"/>
            <a:ext cx="377681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Create reusable model-training datasets</a:t>
            </a:r>
          </a:p>
        </p:txBody>
      </p:sp>
      <p:sp>
        <p:nvSpPr>
          <p:cNvPr id="105" name="Figure 13 label 102 line 1">
            <a:extLst xmlns:a="http://schemas.openxmlformats.org/drawingml/2006/main">
              <a:ext uri="{FF2B5EF4-FFF2-40B4-BE49-F238E27FC236}">
                <a16:creationId xmlns:a16="http://schemas.microsoft.com/office/drawing/2014/main" id="{73441A9B-31C0-4AE7-A332-8FF8E80158A8}"/>
              </a:ext>
            </a:extLst>
          </p:cNvPr>
          <p:cNvSpPr>
            <a:spLocks xmlns:a="http://schemas.openxmlformats.org/drawingml/2006/main" noGrp="1"/>
          </p:cNvSpPr>
          <p:nvPr/>
        </p:nvSpPr>
        <p:spPr>
          <a:xfrm xmlns:a="http://schemas.openxmlformats.org/drawingml/2006/main" rot="0">
            <a:off x="11915775" y="7229475"/>
            <a:ext cx="4257973"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Active learning: measure selectively</a:t>
            </a:r>
          </a:p>
        </p:txBody>
      </p:sp>
      <p:sp>
        <p:nvSpPr>
          <p:cNvPr id="106" name="Figure 13 label 103 line 1">
            <a:extLst xmlns:a="http://schemas.openxmlformats.org/drawingml/2006/main">
              <a:ext uri="{FF2B5EF4-FFF2-40B4-BE49-F238E27FC236}">
                <a16:creationId xmlns:a16="http://schemas.microsoft.com/office/drawing/2014/main" id="{B6CB5553-0254-4289-B1BD-348D858D73D5}"/>
              </a:ext>
            </a:extLst>
          </p:cNvPr>
          <p:cNvSpPr>
            <a:spLocks xmlns:a="http://schemas.openxmlformats.org/drawingml/2006/main" noGrp="1"/>
          </p:cNvSpPr>
          <p:nvPr/>
        </p:nvSpPr>
        <p:spPr>
          <a:xfrm xmlns:a="http://schemas.openxmlformats.org/drawingml/2006/main" rot="0">
            <a:off x="11917680" y="7665720"/>
            <a:ext cx="358601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Prioritize informative molecules and tests</a:t>
            </a:r>
          </a:p>
        </p:txBody>
      </p:sp>
      <p:sp>
        <p:nvSpPr>
          <p:cNvPr id="107" name="Figure 13 label 103 line 2">
            <a:extLst xmlns:a="http://schemas.openxmlformats.org/drawingml/2006/main">
              <a:ext uri="{FF2B5EF4-FFF2-40B4-BE49-F238E27FC236}">
                <a16:creationId xmlns:a16="http://schemas.microsoft.com/office/drawing/2014/main" id="{8540AF29-C2CA-40E7-B577-D42842C2549A}"/>
              </a:ext>
            </a:extLst>
          </p:cNvPr>
          <p:cNvSpPr>
            <a:spLocks xmlns:a="http://schemas.openxmlformats.org/drawingml/2006/main" noGrp="1"/>
          </p:cNvSpPr>
          <p:nvPr/>
        </p:nvSpPr>
        <p:spPr>
          <a:xfrm xmlns:a="http://schemas.openxmlformats.org/drawingml/2006/main" rot="0">
            <a:off x="11917680" y="7903845"/>
            <a:ext cx="358601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Limit coverage of costly measurements</a:t>
            </a:r>
          </a:p>
        </p:txBody>
      </p:sp>
      <p:sp>
        <p:nvSpPr>
          <p:cNvPr id="108" name="Figure 13 label 104 line 1">
            <a:extLst xmlns:a="http://schemas.openxmlformats.org/drawingml/2006/main">
              <a:ext uri="{FF2B5EF4-FFF2-40B4-BE49-F238E27FC236}">
                <a16:creationId xmlns:a16="http://schemas.microsoft.com/office/drawing/2014/main" id="{4C628BDD-007D-49F4-8359-93FEDEB11AB5}"/>
              </a:ext>
            </a:extLst>
          </p:cNvPr>
          <p:cNvSpPr>
            <a:spLocks xmlns:a="http://schemas.openxmlformats.org/drawingml/2006/main" noGrp="1"/>
          </p:cNvSpPr>
          <p:nvPr/>
        </p:nvSpPr>
        <p:spPr>
          <a:xfrm xmlns:a="http://schemas.openxmlformats.org/drawingml/2006/main" rot="0">
            <a:off x="1446657" y="8752713"/>
            <a:ext cx="11430417"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lnSpc>
                <a:spcPct val="100000"/>
              </a:lnSpc>
              <a:buNone/>
              <a:defRPr sz="2100" b="1">
                <a:solidFill>
                  <a:srgbClr val="FFFFFF"/>
                </a:solidFill>
                <a:latin typeface="Arial"/>
                <a:ea typeface="Arial"/>
                <a:cs typeface="Arial"/>
              </a:defRPr>
            </a:pPr>
            <a:r>
              <a:rPr sz="2100" b="1">
                <a:solidFill>
                  <a:srgbClr val="FFFFFF"/>
                </a:solidFill>
                <a:latin typeface="Arial"/>
                <a:ea typeface="Arial"/>
                <a:cs typeface="Arial"/>
              </a:rPr>
              <a:t>Wet-lab demand depends on funded experiments, assay depth and net tool consumption</a:t>
            </a:r>
          </a:p>
        </p:txBody>
      </p:sp>
      <p:sp>
        <p:nvSpPr>
          <p:cNvPr id="109" name="Figure 13 label 105 line 1">
            <a:extLst xmlns:a="http://schemas.openxmlformats.org/drawingml/2006/main">
              <a:ext uri="{FF2B5EF4-FFF2-40B4-BE49-F238E27FC236}">
                <a16:creationId xmlns:a16="http://schemas.microsoft.com/office/drawing/2014/main" id="{6AC783A9-4C9F-41DD-B684-F4E3BE322EC0}"/>
              </a:ext>
            </a:extLst>
          </p:cNvPr>
          <p:cNvSpPr>
            <a:spLocks xmlns:a="http://schemas.openxmlformats.org/drawingml/2006/main" noGrp="1"/>
          </p:cNvSpPr>
          <p:nvPr/>
        </p:nvSpPr>
        <p:spPr>
          <a:xfrm xmlns:a="http://schemas.openxmlformats.org/drawingml/2006/main" rot="0">
            <a:off x="679323" y="9495282"/>
            <a:ext cx="836863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Illustrative counts. Nine label types are not nine independent assays; richer data need not come at unchanged cost.</a:t>
            </a:r>
          </a:p>
        </p:txBody>
      </p:sp>
      <p:sp>
        <p:nvSpPr>
          <p:cNvPr id="110" name="Figure 13 label 106 line 1">
            <a:extLst xmlns:a="http://schemas.openxmlformats.org/drawingml/2006/main">
              <a:ext uri="{FF2B5EF4-FFF2-40B4-BE49-F238E27FC236}">
                <a16:creationId xmlns:a16="http://schemas.microsoft.com/office/drawing/2014/main" id="{13546318-0BCF-4177-A160-4DCA317D5E8D}"/>
              </a:ext>
            </a:extLst>
          </p:cNvPr>
          <p:cNvSpPr>
            <a:spLocks xmlns:a="http://schemas.openxmlformats.org/drawingml/2006/main" noGrp="1"/>
          </p:cNvSpPr>
          <p:nvPr/>
        </p:nvSpPr>
        <p:spPr>
          <a:xfrm xmlns:a="http://schemas.openxmlformats.org/drawingml/2006/main" rot="0">
            <a:off x="679895" y="9824275"/>
            <a:ext cx="8925788" cy="184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0">
                <a:solidFill>
                  <a:srgbClr val="00355F"/>
                </a:solidFill>
                <a:latin typeface="Arial"/>
                <a:ea typeface="Arial"/>
                <a:cs typeface="Arial"/>
              </a:defRPr>
            </a:defPPr>
          </a:lstStyle>
          <a:p xmlns:a="http://schemas.openxmlformats.org/drawingml/2006/main">
            <a:pPr algn="l">
              <a:lnSpc>
                <a:spcPct val="100000"/>
              </a:lnSpc>
              <a:buNone/>
              <a:defRPr sz="1163" b="0">
                <a:solidFill>
                  <a:srgbClr val="00355F"/>
                </a:solidFill>
                <a:latin typeface="Arial"/>
                <a:ea typeface="Arial"/>
                <a:cs typeface="Arial"/>
              </a:defRPr>
            </a:pPr>
            <a:r>
              <a:rPr sz="1163" b="0">
                <a:solidFill>
                  <a:srgbClr val="00355F"/>
                </a:solidFill>
                <a:latin typeface="Arial"/>
                <a:ea typeface="Arial"/>
                <a:cs typeface="Arial"/>
              </a:rPr>
              <a:t>Sources: Jain et al., 2017; Arsiwala et al., 2025; van Niekerk et al., 2026. Mechanism illustration; definitions and links in SOURCES.md.</a:t>
            </a:r>
          </a:p>
        </p:txBody>
      </p:sp>
    </p:spTree>
    <p:extLst>
      <p:ext uri="{BB962C8B-B14F-4D97-AF65-F5344CB8AC3E}">
        <p14:creationId xmlns:p14="http://schemas.microsoft.com/office/powerpoint/2010/main" val="131158119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5" name="">
            <a:extLst xmlns:a="http://schemas.openxmlformats.org/drawingml/2006/main">
              <a:ext uri="{FF2B5EF4-FFF2-40B4-BE49-F238E27FC236}">
                <a16:creationId xmlns:a16="http://schemas.microsoft.com/office/drawing/2014/main" id="{6ECEE8D5-03D1-4559-95FC-430D4DBE27F6}"/>
              </a:ext>
            </a:extLst>
          </p:cNvPr>
          <p:cNvPicPr>
            <a:picLocks xmlns:a="http://schemas.openxmlformats.org/drawingml/2006/main" noChangeAspect="1"/>
          </p:cNvPicPr>
          <p:nvPr/>
        </p:nvPicPr>
        <p:blipFill>
          <a:blip xmlns:r="http://schemas.openxmlformats.org/officeDocument/2006/relationships" xmlns:a="http://schemas.openxmlformats.org/drawingml/2006/main" r:embed="R34f1d593b37d498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4 label 1 line 1">
            <a:extLst xmlns:a="http://schemas.openxmlformats.org/drawingml/2006/main">
              <a:ext uri="{FF2B5EF4-FFF2-40B4-BE49-F238E27FC236}">
                <a16:creationId xmlns:a16="http://schemas.microsoft.com/office/drawing/2014/main" id="{3B3AFE36-6322-48E5-BDE7-8B386399661B}"/>
              </a:ext>
            </a:extLst>
          </p:cNvPr>
          <p:cNvSpPr>
            <a:spLocks xmlns:a="http://schemas.openxmlformats.org/drawingml/2006/main" noGrp="1"/>
          </p:cNvSpPr>
          <p:nvPr/>
        </p:nvSpPr>
        <p:spPr>
          <a:xfrm xmlns:a="http://schemas.openxmlformats.org/drawingml/2006/main" rot="0">
            <a:off x="982599" y="270891"/>
            <a:ext cx="10730746" cy="547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lnSpc>
                <a:spcPct val="100000"/>
              </a:lnSpc>
              <a:buNone/>
              <a:defRPr sz="3450" b="1">
                <a:solidFill>
                  <a:srgbClr val="00355F"/>
                </a:solidFill>
                <a:latin typeface="Arial"/>
                <a:ea typeface="Arial"/>
                <a:cs typeface="Arial"/>
              </a:defRPr>
            </a:pPr>
            <a:r>
              <a:rPr sz="3450" b="1">
                <a:solidFill>
                  <a:srgbClr val="00355F"/>
                </a:solidFill>
                <a:latin typeface="Arial"/>
                <a:ea typeface="Arial"/>
                <a:cs typeface="Arial"/>
              </a:rPr>
              <a:t>Experimental data density and the LST ecosystem</a:t>
            </a:r>
          </a:p>
        </p:txBody>
      </p:sp>
      <p:sp>
        <p:nvSpPr>
          <p:cNvPr id="3" name="Figure 14 label 2 line 1">
            <a:extLst xmlns:a="http://schemas.openxmlformats.org/drawingml/2006/main">
              <a:ext uri="{FF2B5EF4-FFF2-40B4-BE49-F238E27FC236}">
                <a16:creationId xmlns:a16="http://schemas.microsoft.com/office/drawing/2014/main" id="{18D9B2EB-8F35-4C7C-A46E-CA98EEF4B1B3}"/>
              </a:ext>
            </a:extLst>
          </p:cNvPr>
          <p:cNvSpPr>
            <a:spLocks xmlns:a="http://schemas.openxmlformats.org/drawingml/2006/main" noGrp="1"/>
          </p:cNvSpPr>
          <p:nvPr/>
        </p:nvSpPr>
        <p:spPr>
          <a:xfrm xmlns:a="http://schemas.openxmlformats.org/drawingml/2006/main" rot="0">
            <a:off x="1008888" y="936117"/>
            <a:ext cx="7243941"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025" b="0">
                <a:solidFill>
                  <a:srgbClr val="00355F"/>
                </a:solidFill>
                <a:latin typeface="Arial"/>
                <a:ea typeface="Arial"/>
                <a:cs typeface="Arial"/>
              </a:defRPr>
            </a:defPPr>
          </a:lstStyle>
          <a:p xmlns:a="http://schemas.openxmlformats.org/drawingml/2006/main">
            <a:pPr algn="l">
              <a:lnSpc>
                <a:spcPct val="100000"/>
              </a:lnSpc>
              <a:buNone/>
              <a:defRPr sz="2025" b="0">
                <a:solidFill>
                  <a:srgbClr val="00355F"/>
                </a:solidFill>
                <a:latin typeface="Arial"/>
                <a:ea typeface="Arial"/>
                <a:cs typeface="Arial"/>
              </a:defRPr>
            </a:pPr>
            <a:r>
              <a:rPr sz="2025" b="0">
                <a:solidFill>
                  <a:srgbClr val="00355F"/>
                </a:solidFill>
                <a:latin typeface="Arial"/>
                <a:ea typeface="Arial"/>
                <a:cs typeface="Arial"/>
              </a:rPr>
              <a:t>Stage 0: biological data production creates a wet-lab use case</a:t>
            </a:r>
          </a:p>
        </p:txBody>
      </p:sp>
      <p:sp>
        <p:nvSpPr>
          <p:cNvPr id="4" name="Figure 14 label 3 line 1">
            <a:extLst xmlns:a="http://schemas.openxmlformats.org/drawingml/2006/main">
              <a:ext uri="{FF2B5EF4-FFF2-40B4-BE49-F238E27FC236}">
                <a16:creationId xmlns:a16="http://schemas.microsoft.com/office/drawing/2014/main" id="{5C1D2F36-E2BE-409C-8054-2C43D6E8FAAA}"/>
              </a:ext>
            </a:extLst>
          </p:cNvPr>
          <p:cNvSpPr>
            <a:spLocks xmlns:a="http://schemas.openxmlformats.org/drawingml/2006/main" noGrp="1"/>
          </p:cNvSpPr>
          <p:nvPr/>
        </p:nvSpPr>
        <p:spPr>
          <a:xfrm xmlns:a="http://schemas.openxmlformats.org/drawingml/2006/main" rot="0">
            <a:off x="1011174" y="1385316"/>
            <a:ext cx="7902416"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Learning developability requires comparable assay data and an integrated tool workflow</a:t>
            </a:r>
          </a:p>
        </p:txBody>
      </p:sp>
      <p:sp>
        <p:nvSpPr>
          <p:cNvPr id="5" name="Figure 14 label 4 line 1">
            <a:extLst xmlns:a="http://schemas.openxmlformats.org/drawingml/2006/main">
              <a:ext uri="{FF2B5EF4-FFF2-40B4-BE49-F238E27FC236}">
                <a16:creationId xmlns:a16="http://schemas.microsoft.com/office/drawing/2014/main" id="{9EF9CA6B-B93C-411A-8FD7-D544980600F2}"/>
              </a:ext>
            </a:extLst>
          </p:cNvPr>
          <p:cNvSpPr>
            <a:spLocks xmlns:a="http://schemas.openxmlformats.org/drawingml/2006/main" noGrp="1"/>
          </p:cNvSpPr>
          <p:nvPr/>
        </p:nvSpPr>
        <p:spPr>
          <a:xfrm xmlns:a="http://schemas.openxmlformats.org/drawingml/2006/main" rot="0">
            <a:off x="932307" y="2256663"/>
            <a:ext cx="4618702"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00355F"/>
                </a:solidFill>
                <a:latin typeface="Arial"/>
                <a:ea typeface="Arial"/>
                <a:cs typeface="Arial"/>
              </a:defRPr>
            </a:defPPr>
          </a:lstStyle>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Stage 0: biological data production</a:t>
            </a:r>
          </a:p>
        </p:txBody>
      </p:sp>
      <p:sp>
        <p:nvSpPr>
          <p:cNvPr id="6" name="Figure 14 label 5 line 1">
            <a:extLst xmlns:a="http://schemas.openxmlformats.org/drawingml/2006/main">
              <a:ext uri="{FF2B5EF4-FFF2-40B4-BE49-F238E27FC236}">
                <a16:creationId xmlns:a16="http://schemas.microsoft.com/office/drawing/2014/main" id="{A3179364-4CBE-4DB0-BE14-D711DBDFAC21}"/>
              </a:ext>
            </a:extLst>
          </p:cNvPr>
          <p:cNvSpPr>
            <a:spLocks xmlns:a="http://schemas.openxmlformats.org/drawingml/2006/main" noGrp="1"/>
          </p:cNvSpPr>
          <p:nvPr/>
        </p:nvSpPr>
        <p:spPr>
          <a:xfrm xmlns:a="http://schemas.openxmlformats.org/drawingml/2006/main" rot="0">
            <a:off x="935355" y="2703195"/>
            <a:ext cx="35446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Continuous input to training and iteration</a:t>
            </a:r>
          </a:p>
        </p:txBody>
      </p:sp>
      <p:sp>
        <p:nvSpPr>
          <p:cNvPr id="7" name="Figure 14 label 6 line 1">
            <a:extLst xmlns:a="http://schemas.openxmlformats.org/drawingml/2006/main">
              <a:ext uri="{FF2B5EF4-FFF2-40B4-BE49-F238E27FC236}">
                <a16:creationId xmlns:a16="http://schemas.microsoft.com/office/drawing/2014/main" id="{99A8C76B-0B64-4309-A94E-8688B9E952C3}"/>
              </a:ext>
            </a:extLst>
          </p:cNvPr>
          <p:cNvSpPr>
            <a:spLocks xmlns:a="http://schemas.openxmlformats.org/drawingml/2006/main" noGrp="1"/>
          </p:cNvSpPr>
          <p:nvPr/>
        </p:nvSpPr>
        <p:spPr>
          <a:xfrm xmlns:a="http://schemas.openxmlformats.org/drawingml/2006/main" rot="0">
            <a:off x="1097661" y="3249549"/>
            <a:ext cx="1375231"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Binding kinetics</a:t>
            </a:r>
          </a:p>
        </p:txBody>
      </p:sp>
      <p:sp>
        <p:nvSpPr>
          <p:cNvPr id="8" name="Figure 14 label 7 line 1">
            <a:extLst xmlns:a="http://schemas.openxmlformats.org/drawingml/2006/main">
              <a:ext uri="{FF2B5EF4-FFF2-40B4-BE49-F238E27FC236}">
                <a16:creationId xmlns:a16="http://schemas.microsoft.com/office/drawing/2014/main" id="{9C45BC36-0E5E-4671-804C-EE0558084DA5}"/>
              </a:ext>
            </a:extLst>
          </p:cNvPr>
          <p:cNvSpPr>
            <a:spLocks xmlns:a="http://schemas.openxmlformats.org/drawingml/2006/main" noGrp="1"/>
          </p:cNvSpPr>
          <p:nvPr/>
        </p:nvSpPr>
        <p:spPr>
          <a:xfrm xmlns:a="http://schemas.openxmlformats.org/drawingml/2006/main" rot="0">
            <a:off x="1096137" y="3512058"/>
            <a:ext cx="1615202"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KD / kon / koff</a:t>
            </a:r>
          </a:p>
        </p:txBody>
      </p:sp>
      <p:sp>
        <p:nvSpPr>
          <p:cNvPr id="9" name="Figure 14 label 8 line 1">
            <a:extLst xmlns:a="http://schemas.openxmlformats.org/drawingml/2006/main">
              <a:ext uri="{FF2B5EF4-FFF2-40B4-BE49-F238E27FC236}">
                <a16:creationId xmlns:a16="http://schemas.microsoft.com/office/drawing/2014/main" id="{F9B20968-B20B-4AE1-9F23-164A886C7B1B}"/>
              </a:ext>
            </a:extLst>
          </p:cNvPr>
          <p:cNvSpPr>
            <a:spLocks xmlns:a="http://schemas.openxmlformats.org/drawingml/2006/main" noGrp="1"/>
          </p:cNvSpPr>
          <p:nvPr/>
        </p:nvSpPr>
        <p:spPr>
          <a:xfrm xmlns:a="http://schemas.openxmlformats.org/drawingml/2006/main" rot="0">
            <a:off x="1097661" y="4202049"/>
            <a:ext cx="3417004"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Expression &amp; physicochemical properties</a:t>
            </a:r>
          </a:p>
        </p:txBody>
      </p:sp>
      <p:sp>
        <p:nvSpPr>
          <p:cNvPr id="10" name="Figure 14 label 9 line 1">
            <a:extLst xmlns:a="http://schemas.openxmlformats.org/drawingml/2006/main">
              <a:ext uri="{FF2B5EF4-FFF2-40B4-BE49-F238E27FC236}">
                <a16:creationId xmlns:a16="http://schemas.microsoft.com/office/drawing/2014/main" id="{29DF624F-911C-4A97-A90D-B1141BE0EE0F}"/>
              </a:ext>
            </a:extLst>
          </p:cNvPr>
          <p:cNvSpPr>
            <a:spLocks xmlns:a="http://schemas.openxmlformats.org/drawingml/2006/main" noGrp="1"/>
          </p:cNvSpPr>
          <p:nvPr/>
        </p:nvSpPr>
        <p:spPr>
          <a:xfrm xmlns:a="http://schemas.openxmlformats.org/drawingml/2006/main" rot="0">
            <a:off x="1096137" y="4464558"/>
            <a:ext cx="324680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expression / Tm / aggregation</a:t>
            </a:r>
          </a:p>
        </p:txBody>
      </p:sp>
      <p:sp>
        <p:nvSpPr>
          <p:cNvPr id="11" name="Figure 14 label 10 line 1">
            <a:extLst xmlns:a="http://schemas.openxmlformats.org/drawingml/2006/main">
              <a:ext uri="{FF2B5EF4-FFF2-40B4-BE49-F238E27FC236}">
                <a16:creationId xmlns:a16="http://schemas.microsoft.com/office/drawing/2014/main" id="{55867F33-4BB6-4BC0-B95E-1C88FA0CA443}"/>
              </a:ext>
            </a:extLst>
          </p:cNvPr>
          <p:cNvSpPr>
            <a:spLocks xmlns:a="http://schemas.openxmlformats.org/drawingml/2006/main" noGrp="1"/>
          </p:cNvSpPr>
          <p:nvPr/>
        </p:nvSpPr>
        <p:spPr>
          <a:xfrm xmlns:a="http://schemas.openxmlformats.org/drawingml/2006/main" rot="0">
            <a:off x="1097661" y="5154549"/>
            <a:ext cx="210925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Specificity &amp; cell function</a:t>
            </a:r>
          </a:p>
        </p:txBody>
      </p:sp>
      <p:sp>
        <p:nvSpPr>
          <p:cNvPr id="12" name="Figure 14 label 11 line 1">
            <a:extLst xmlns:a="http://schemas.openxmlformats.org/drawingml/2006/main">
              <a:ext uri="{FF2B5EF4-FFF2-40B4-BE49-F238E27FC236}">
                <a16:creationId xmlns:a16="http://schemas.microsoft.com/office/drawing/2014/main" id="{5F367900-037A-4D35-8327-FAB6519E72DA}"/>
              </a:ext>
            </a:extLst>
          </p:cNvPr>
          <p:cNvSpPr>
            <a:spLocks xmlns:a="http://schemas.openxmlformats.org/drawingml/2006/main" noGrp="1"/>
          </p:cNvSpPr>
          <p:nvPr/>
        </p:nvSpPr>
        <p:spPr>
          <a:xfrm xmlns:a="http://schemas.openxmlformats.org/drawingml/2006/main" rot="0">
            <a:off x="1097280" y="5427345"/>
            <a:ext cx="3448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polyreactivity / epitope / cell potency</a:t>
            </a:r>
          </a:p>
        </p:txBody>
      </p:sp>
      <p:sp>
        <p:nvSpPr>
          <p:cNvPr id="13" name="Figure 14 label 12 line 1">
            <a:extLst xmlns:a="http://schemas.openxmlformats.org/drawingml/2006/main">
              <a:ext uri="{FF2B5EF4-FFF2-40B4-BE49-F238E27FC236}">
                <a16:creationId xmlns:a16="http://schemas.microsoft.com/office/drawing/2014/main" id="{29CBBA1B-86A2-49A0-8BC8-1635FFD06772}"/>
              </a:ext>
            </a:extLst>
          </p:cNvPr>
          <p:cNvSpPr>
            <a:spLocks xmlns:a="http://schemas.openxmlformats.org/drawingml/2006/main" noGrp="1"/>
          </p:cNvSpPr>
          <p:nvPr/>
        </p:nvSpPr>
        <p:spPr>
          <a:xfrm xmlns:a="http://schemas.openxmlformats.org/drawingml/2006/main" rot="0">
            <a:off x="935736" y="6126099"/>
            <a:ext cx="3833128"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Training records: sequence, target, conditions,</a:t>
            </a:r>
          </a:p>
        </p:txBody>
      </p:sp>
      <p:sp>
        <p:nvSpPr>
          <p:cNvPr id="14" name="Figure 14 label 12 line 2">
            <a:extLst xmlns:a="http://schemas.openxmlformats.org/drawingml/2006/main">
              <a:ext uri="{FF2B5EF4-FFF2-40B4-BE49-F238E27FC236}">
                <a16:creationId xmlns:a16="http://schemas.microsoft.com/office/drawing/2014/main" id="{F9C07A95-75E0-4575-B8C2-279F6B056D39}"/>
              </a:ext>
            </a:extLst>
          </p:cNvPr>
          <p:cNvSpPr>
            <a:spLocks xmlns:a="http://schemas.openxmlformats.org/drawingml/2006/main" noGrp="1"/>
          </p:cNvSpPr>
          <p:nvPr/>
        </p:nvSpPr>
        <p:spPr>
          <a:xfrm xmlns:a="http://schemas.openxmlformats.org/drawingml/2006/main" rot="0">
            <a:off x="935736" y="6352318"/>
            <a:ext cx="3833128"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raw curves, replicates, batches and failures</a:t>
            </a:r>
          </a:p>
        </p:txBody>
      </p:sp>
      <p:sp>
        <p:nvSpPr>
          <p:cNvPr id="15" name="Figure 14 label 13 line 1">
            <a:extLst xmlns:a="http://schemas.openxmlformats.org/drawingml/2006/main">
              <a:ext uri="{FF2B5EF4-FFF2-40B4-BE49-F238E27FC236}">
                <a16:creationId xmlns:a16="http://schemas.microsoft.com/office/drawing/2014/main" id="{9F8D883F-0DE4-4141-80E9-9454CDDE0884}"/>
              </a:ext>
            </a:extLst>
          </p:cNvPr>
          <p:cNvSpPr>
            <a:spLocks xmlns:a="http://schemas.openxmlformats.org/drawingml/2006/main" noGrp="1"/>
          </p:cNvSpPr>
          <p:nvPr/>
        </p:nvSpPr>
        <p:spPr>
          <a:xfrm xmlns:a="http://schemas.openxmlformats.org/drawingml/2006/main" rot="0">
            <a:off x="1091565" y="6906387"/>
            <a:ext cx="1626870"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1">
                <a:solidFill>
                  <a:srgbClr val="00355F"/>
                </a:solidFill>
                <a:latin typeface="Arial"/>
                <a:ea typeface="Arial"/>
                <a:cs typeface="Arial"/>
              </a:defRPr>
            </a:defPPr>
          </a:lstStyle>
          <a:p xmlns:a="http://schemas.openxmlformats.org/drawingml/2006/main">
            <a:pPr algn="ctr">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Train / improve</a:t>
            </a:r>
          </a:p>
        </p:txBody>
      </p:sp>
      <p:sp>
        <p:nvSpPr>
          <p:cNvPr id="16" name="Figure 14 label 14 line 1">
            <a:extLst xmlns:a="http://schemas.openxmlformats.org/drawingml/2006/main">
              <a:ext uri="{FF2B5EF4-FFF2-40B4-BE49-F238E27FC236}">
                <a16:creationId xmlns:a16="http://schemas.microsoft.com/office/drawing/2014/main" id="{2E68478A-ABC9-4DCD-B6E1-FED45C8F3BBE}"/>
              </a:ext>
            </a:extLst>
          </p:cNvPr>
          <p:cNvSpPr>
            <a:spLocks xmlns:a="http://schemas.openxmlformats.org/drawingml/2006/main" noGrp="1"/>
          </p:cNvSpPr>
          <p:nvPr/>
        </p:nvSpPr>
        <p:spPr>
          <a:xfrm xmlns:a="http://schemas.openxmlformats.org/drawingml/2006/main" rot="0">
            <a:off x="4019907" y="6906387"/>
            <a:ext cx="1789986"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1">
                <a:solidFill>
                  <a:srgbClr val="00355F"/>
                </a:solidFill>
                <a:latin typeface="Arial"/>
                <a:ea typeface="Arial"/>
                <a:cs typeface="Arial"/>
              </a:defRPr>
            </a:defPPr>
          </a:lstStyle>
          <a:p xmlns:a="http://schemas.openxmlformats.org/drawingml/2006/main">
            <a:pPr algn="ctr">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Design / validate</a:t>
            </a:r>
          </a:p>
        </p:txBody>
      </p:sp>
      <p:sp>
        <p:nvSpPr>
          <p:cNvPr id="17" name="Figure 14 label 15 line 1">
            <a:extLst xmlns:a="http://schemas.openxmlformats.org/drawingml/2006/main">
              <a:ext uri="{FF2B5EF4-FFF2-40B4-BE49-F238E27FC236}">
                <a16:creationId xmlns:a16="http://schemas.microsoft.com/office/drawing/2014/main" id="{BA050824-F9F5-46B7-A823-234380E07A92}"/>
              </a:ext>
            </a:extLst>
          </p:cNvPr>
          <p:cNvSpPr>
            <a:spLocks xmlns:a="http://schemas.openxmlformats.org/drawingml/2006/main" noGrp="1"/>
          </p:cNvSpPr>
          <p:nvPr/>
        </p:nvSpPr>
        <p:spPr>
          <a:xfrm xmlns:a="http://schemas.openxmlformats.org/drawingml/2006/main" rot="0">
            <a:off x="2491919" y="7491603"/>
            <a:ext cx="178843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Assays inform models</a:t>
            </a:r>
          </a:p>
        </p:txBody>
      </p:sp>
      <p:sp>
        <p:nvSpPr>
          <p:cNvPr id="18" name="Figure 14 label 16 line 1">
            <a:extLst xmlns:a="http://schemas.openxmlformats.org/drawingml/2006/main">
              <a:ext uri="{FF2B5EF4-FFF2-40B4-BE49-F238E27FC236}">
                <a16:creationId xmlns:a16="http://schemas.microsoft.com/office/drawing/2014/main" id="{4FC6BA16-3323-4D27-9BA3-827B85C57CB8}"/>
              </a:ext>
            </a:extLst>
          </p:cNvPr>
          <p:cNvSpPr>
            <a:spLocks xmlns:a="http://schemas.openxmlformats.org/drawingml/2006/main" noGrp="1"/>
          </p:cNvSpPr>
          <p:nvPr/>
        </p:nvSpPr>
        <p:spPr>
          <a:xfrm xmlns:a="http://schemas.openxmlformats.org/drawingml/2006/main" rot="0">
            <a:off x="7399782" y="2237613"/>
            <a:ext cx="407220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00355F"/>
                </a:solidFill>
                <a:latin typeface="Arial"/>
                <a:ea typeface="Arial"/>
                <a:cs typeface="Arial"/>
              </a:defRPr>
            </a:defPPr>
          </a:lstStyle>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Labels → assays → purchases</a:t>
            </a:r>
          </a:p>
        </p:txBody>
      </p:sp>
      <p:sp>
        <p:nvSpPr>
          <p:cNvPr id="19" name="Figure 14 label 17 line 1">
            <a:extLst xmlns:a="http://schemas.openxmlformats.org/drawingml/2006/main">
              <a:ext uri="{FF2B5EF4-FFF2-40B4-BE49-F238E27FC236}">
                <a16:creationId xmlns:a16="http://schemas.microsoft.com/office/drawing/2014/main" id="{2CBCF623-F452-4361-9E4F-8FE62851C801}"/>
              </a:ext>
            </a:extLst>
          </p:cNvPr>
          <p:cNvSpPr>
            <a:spLocks xmlns:a="http://schemas.openxmlformats.org/drawingml/2006/main" noGrp="1"/>
          </p:cNvSpPr>
          <p:nvPr/>
        </p:nvSpPr>
        <p:spPr>
          <a:xfrm xmlns:a="http://schemas.openxmlformats.org/drawingml/2006/main" rot="0">
            <a:off x="7403592" y="2691003"/>
            <a:ext cx="701156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Tool revenue needs a bridge from label coverage to workflow volume and unit consumption</a:t>
            </a:r>
          </a:p>
        </p:txBody>
      </p:sp>
      <p:sp>
        <p:nvSpPr>
          <p:cNvPr id="20" name="Figure 14 label 18 line 1">
            <a:extLst xmlns:a="http://schemas.openxmlformats.org/drawingml/2006/main">
              <a:ext uri="{FF2B5EF4-FFF2-40B4-BE49-F238E27FC236}">
                <a16:creationId xmlns:a16="http://schemas.microsoft.com/office/drawing/2014/main" id="{7B5BB6AA-850E-4E14-80DD-814D735A9777}"/>
              </a:ext>
            </a:extLst>
          </p:cNvPr>
          <p:cNvSpPr>
            <a:spLocks xmlns:a="http://schemas.openxmlformats.org/drawingml/2006/main" noGrp="1"/>
          </p:cNvSpPr>
          <p:nvPr/>
        </p:nvSpPr>
        <p:spPr>
          <a:xfrm xmlns:a="http://schemas.openxmlformats.org/drawingml/2006/main" rot="0">
            <a:off x="7972806" y="3241929"/>
            <a:ext cx="307008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Construction &amp; expression</a:t>
            </a:r>
          </a:p>
        </p:txBody>
      </p:sp>
      <p:sp>
        <p:nvSpPr>
          <p:cNvPr id="21" name="Figure 14 label 19 line 1">
            <a:extLst xmlns:a="http://schemas.openxmlformats.org/drawingml/2006/main">
              <a:ext uri="{FF2B5EF4-FFF2-40B4-BE49-F238E27FC236}">
                <a16:creationId xmlns:a16="http://schemas.microsoft.com/office/drawing/2014/main" id="{297C75BF-403F-4C6C-8F88-F6B9E8C0682D}"/>
              </a:ext>
            </a:extLst>
          </p:cNvPr>
          <p:cNvSpPr>
            <a:spLocks xmlns:a="http://schemas.openxmlformats.org/drawingml/2006/main" noGrp="1"/>
          </p:cNvSpPr>
          <p:nvPr/>
        </p:nvSpPr>
        <p:spPr>
          <a:xfrm xmlns:a="http://schemas.openxmlformats.org/drawingml/2006/main" rot="0">
            <a:off x="7555230" y="3655695"/>
            <a:ext cx="413667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DNA synthesis, vectors, expression, purification</a:t>
            </a:r>
          </a:p>
        </p:txBody>
      </p:sp>
      <p:sp>
        <p:nvSpPr>
          <p:cNvPr id="22" name="Figure 14 label 20 line 1">
            <a:extLst xmlns:a="http://schemas.openxmlformats.org/drawingml/2006/main">
              <a:ext uri="{FF2B5EF4-FFF2-40B4-BE49-F238E27FC236}">
                <a16:creationId xmlns:a16="http://schemas.microsoft.com/office/drawing/2014/main" id="{94DAC02C-129C-421A-B769-29AA97FA0FEB}"/>
              </a:ext>
            </a:extLst>
          </p:cNvPr>
          <p:cNvSpPr>
            <a:spLocks xmlns:a="http://schemas.openxmlformats.org/drawingml/2006/main" noGrp="1"/>
          </p:cNvSpPr>
          <p:nvPr/>
        </p:nvSpPr>
        <p:spPr>
          <a:xfrm xmlns:a="http://schemas.openxmlformats.org/drawingml/2006/main" rot="0">
            <a:off x="7555992" y="3995928"/>
            <a:ext cx="355636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Expression labels + samples for other assays</a:t>
            </a:r>
          </a:p>
        </p:txBody>
      </p:sp>
      <p:sp>
        <p:nvSpPr>
          <p:cNvPr id="23" name="Figure 14 label 21 line 1">
            <a:extLst xmlns:a="http://schemas.openxmlformats.org/drawingml/2006/main">
              <a:ext uri="{FF2B5EF4-FFF2-40B4-BE49-F238E27FC236}">
                <a16:creationId xmlns:a16="http://schemas.microsoft.com/office/drawing/2014/main" id="{85228CC2-6684-444A-A3E9-003127E6B1C4}"/>
              </a:ext>
            </a:extLst>
          </p:cNvPr>
          <p:cNvSpPr>
            <a:spLocks xmlns:a="http://schemas.openxmlformats.org/drawingml/2006/main" noGrp="1"/>
          </p:cNvSpPr>
          <p:nvPr/>
        </p:nvSpPr>
        <p:spPr>
          <a:xfrm xmlns:a="http://schemas.openxmlformats.org/drawingml/2006/main" rot="0">
            <a:off x="7556373" y="4294632"/>
            <a:ext cx="290470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Count shared sample preparation once</a:t>
            </a:r>
          </a:p>
        </p:txBody>
      </p:sp>
      <p:sp>
        <p:nvSpPr>
          <p:cNvPr id="24" name="Figure 14 label 22 line 1">
            <a:extLst xmlns:a="http://schemas.openxmlformats.org/drawingml/2006/main">
              <a:ext uri="{FF2B5EF4-FFF2-40B4-BE49-F238E27FC236}">
                <a16:creationId xmlns:a16="http://schemas.microsoft.com/office/drawing/2014/main" id="{A55A9247-05C9-4727-AF89-D752024F186C}"/>
              </a:ext>
            </a:extLst>
          </p:cNvPr>
          <p:cNvSpPr>
            <a:spLocks xmlns:a="http://schemas.openxmlformats.org/drawingml/2006/main" noGrp="1"/>
          </p:cNvSpPr>
          <p:nvPr/>
        </p:nvSpPr>
        <p:spPr>
          <a:xfrm xmlns:a="http://schemas.openxmlformats.org/drawingml/2006/main" rot="0">
            <a:off x="13011531" y="3241929"/>
            <a:ext cx="313318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Protein &amp; functional testing</a:t>
            </a:r>
          </a:p>
        </p:txBody>
      </p:sp>
      <p:sp>
        <p:nvSpPr>
          <p:cNvPr id="25" name="Figure 14 label 23 line 1">
            <a:extLst xmlns:a="http://schemas.openxmlformats.org/drawingml/2006/main">
              <a:ext uri="{FF2B5EF4-FFF2-40B4-BE49-F238E27FC236}">
                <a16:creationId xmlns:a16="http://schemas.microsoft.com/office/drawing/2014/main" id="{F1717EF8-EF7C-43D5-AAEA-7B88A3243F65}"/>
              </a:ext>
            </a:extLst>
          </p:cNvPr>
          <p:cNvSpPr>
            <a:spLocks xmlns:a="http://schemas.openxmlformats.org/drawingml/2006/main" noGrp="1"/>
          </p:cNvSpPr>
          <p:nvPr/>
        </p:nvSpPr>
        <p:spPr>
          <a:xfrm xmlns:a="http://schemas.openxmlformats.org/drawingml/2006/main" rot="0">
            <a:off x="12593955" y="3655695"/>
            <a:ext cx="369272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SPR / BLI, binding curves, epitope binning</a:t>
            </a:r>
          </a:p>
        </p:txBody>
      </p:sp>
      <p:sp>
        <p:nvSpPr>
          <p:cNvPr id="26" name="Figure 14 label 24 line 1">
            <a:extLst xmlns:a="http://schemas.openxmlformats.org/drawingml/2006/main">
              <a:ext uri="{FF2B5EF4-FFF2-40B4-BE49-F238E27FC236}">
                <a16:creationId xmlns:a16="http://schemas.microsoft.com/office/drawing/2014/main" id="{A2999987-C510-44D5-88B3-F4B6BF0DDF35}"/>
              </a:ext>
            </a:extLst>
          </p:cNvPr>
          <p:cNvSpPr>
            <a:spLocks xmlns:a="http://schemas.openxmlformats.org/drawingml/2006/main" noGrp="1"/>
          </p:cNvSpPr>
          <p:nvPr/>
        </p:nvSpPr>
        <p:spPr>
          <a:xfrm xmlns:a="http://schemas.openxmlformats.org/drawingml/2006/main" rot="0">
            <a:off x="12594717" y="3995928"/>
            <a:ext cx="310065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Target proteins, sensors / chips, buffers</a:t>
            </a:r>
          </a:p>
        </p:txBody>
      </p:sp>
      <p:sp>
        <p:nvSpPr>
          <p:cNvPr id="27" name="Figure 14 label 25 line 1">
            <a:extLst xmlns:a="http://schemas.openxmlformats.org/drawingml/2006/main">
              <a:ext uri="{FF2B5EF4-FFF2-40B4-BE49-F238E27FC236}">
                <a16:creationId xmlns:a16="http://schemas.microsoft.com/office/drawing/2014/main" id="{042A888F-4CAE-43FF-9287-B6804E9D60BF}"/>
              </a:ext>
            </a:extLst>
          </p:cNvPr>
          <p:cNvSpPr>
            <a:spLocks xmlns:a="http://schemas.openxmlformats.org/drawingml/2006/main" noGrp="1"/>
          </p:cNvSpPr>
          <p:nvPr/>
        </p:nvSpPr>
        <p:spPr>
          <a:xfrm xmlns:a="http://schemas.openxmlformats.org/drawingml/2006/main" rot="0">
            <a:off x="12595098" y="4294632"/>
            <a:ext cx="2973616"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KD / kon / koff can share one kinetic run</a:t>
            </a:r>
          </a:p>
        </p:txBody>
      </p:sp>
      <p:sp>
        <p:nvSpPr>
          <p:cNvPr id="28" name="Figure 14 label 26 line 1">
            <a:extLst xmlns:a="http://schemas.openxmlformats.org/drawingml/2006/main">
              <a:ext uri="{FF2B5EF4-FFF2-40B4-BE49-F238E27FC236}">
                <a16:creationId xmlns:a16="http://schemas.microsoft.com/office/drawing/2014/main" id="{4A541FE0-B099-4E0D-82E5-86A56AF4929B}"/>
              </a:ext>
            </a:extLst>
          </p:cNvPr>
          <p:cNvSpPr>
            <a:spLocks xmlns:a="http://schemas.openxmlformats.org/drawingml/2006/main" noGrp="1"/>
          </p:cNvSpPr>
          <p:nvPr/>
        </p:nvSpPr>
        <p:spPr>
          <a:xfrm xmlns:a="http://schemas.openxmlformats.org/drawingml/2006/main" rot="0">
            <a:off x="7972806" y="4927854"/>
            <a:ext cx="272793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Cells &amp; culture systems</a:t>
            </a:r>
          </a:p>
        </p:txBody>
      </p:sp>
      <p:sp>
        <p:nvSpPr>
          <p:cNvPr id="29" name="Figure 14 label 27 line 1">
            <a:extLst xmlns:a="http://schemas.openxmlformats.org/drawingml/2006/main">
              <a:ext uri="{FF2B5EF4-FFF2-40B4-BE49-F238E27FC236}">
                <a16:creationId xmlns:a16="http://schemas.microsoft.com/office/drawing/2014/main" id="{007C9BC7-1DBF-4067-A14C-730B5E25356F}"/>
              </a:ext>
            </a:extLst>
          </p:cNvPr>
          <p:cNvSpPr>
            <a:spLocks xmlns:a="http://schemas.openxmlformats.org/drawingml/2006/main" noGrp="1"/>
          </p:cNvSpPr>
          <p:nvPr/>
        </p:nvSpPr>
        <p:spPr>
          <a:xfrm xmlns:a="http://schemas.openxmlformats.org/drawingml/2006/main" rot="0">
            <a:off x="7555230" y="5341620"/>
            <a:ext cx="412655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Functional cells, media, transfection, expansion</a:t>
            </a:r>
          </a:p>
        </p:txBody>
      </p:sp>
      <p:sp>
        <p:nvSpPr>
          <p:cNvPr id="30" name="Figure 14 label 28 line 1">
            <a:extLst xmlns:a="http://schemas.openxmlformats.org/drawingml/2006/main">
              <a:ext uri="{FF2B5EF4-FFF2-40B4-BE49-F238E27FC236}">
                <a16:creationId xmlns:a16="http://schemas.microsoft.com/office/drawing/2014/main" id="{9C39B5CF-4705-4A58-A85C-EDA72E02876C}"/>
              </a:ext>
            </a:extLst>
          </p:cNvPr>
          <p:cNvSpPr>
            <a:spLocks xmlns:a="http://schemas.openxmlformats.org/drawingml/2006/main" noGrp="1"/>
          </p:cNvSpPr>
          <p:nvPr/>
        </p:nvSpPr>
        <p:spPr>
          <a:xfrm xmlns:a="http://schemas.openxmlformats.org/drawingml/2006/main" rot="0">
            <a:off x="7555992" y="5681853"/>
            <a:ext cx="340873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Cell potency; selected polyreactivity assays</a:t>
            </a:r>
          </a:p>
        </p:txBody>
      </p:sp>
      <p:sp>
        <p:nvSpPr>
          <p:cNvPr id="31" name="Figure 14 label 29 line 1">
            <a:extLst xmlns:a="http://schemas.openxmlformats.org/drawingml/2006/main">
              <a:ext uri="{FF2B5EF4-FFF2-40B4-BE49-F238E27FC236}">
                <a16:creationId xmlns:a16="http://schemas.microsoft.com/office/drawing/2014/main" id="{2A2D3D51-3A11-4756-95D0-AB2A7BE1F842}"/>
              </a:ext>
            </a:extLst>
          </p:cNvPr>
          <p:cNvSpPr>
            <a:spLocks xmlns:a="http://schemas.openxmlformats.org/drawingml/2006/main" noGrp="1"/>
          </p:cNvSpPr>
          <p:nvPr/>
        </p:nvSpPr>
        <p:spPr>
          <a:xfrm xmlns:a="http://schemas.openxmlformats.org/drawingml/2006/main" rot="0">
            <a:off x="7556373" y="5980557"/>
            <a:ext cx="3372624"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Record cell model, target level and conditions</a:t>
            </a:r>
          </a:p>
        </p:txBody>
      </p:sp>
      <p:sp>
        <p:nvSpPr>
          <p:cNvPr id="32" name="Figure 14 label 30 line 1">
            <a:extLst xmlns:a="http://schemas.openxmlformats.org/drawingml/2006/main">
              <a:ext uri="{FF2B5EF4-FFF2-40B4-BE49-F238E27FC236}">
                <a16:creationId xmlns:a16="http://schemas.microsoft.com/office/drawing/2014/main" id="{D6957463-BB5D-4D5F-8A05-0A46C6D418E0}"/>
              </a:ext>
            </a:extLst>
          </p:cNvPr>
          <p:cNvSpPr>
            <a:spLocks xmlns:a="http://schemas.openxmlformats.org/drawingml/2006/main" noGrp="1"/>
          </p:cNvSpPr>
          <p:nvPr/>
        </p:nvSpPr>
        <p:spPr>
          <a:xfrm xmlns:a="http://schemas.openxmlformats.org/drawingml/2006/main" rot="0">
            <a:off x="13011531" y="4927854"/>
            <a:ext cx="281678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Measurement &amp; analysis</a:t>
            </a:r>
          </a:p>
        </p:txBody>
      </p:sp>
      <p:sp>
        <p:nvSpPr>
          <p:cNvPr id="33" name="Figure 14 label 31 line 1">
            <a:extLst xmlns:a="http://schemas.openxmlformats.org/drawingml/2006/main">
              <a:ext uri="{FF2B5EF4-FFF2-40B4-BE49-F238E27FC236}">
                <a16:creationId xmlns:a16="http://schemas.microsoft.com/office/drawing/2014/main" id="{4BC99F00-D168-4A69-976D-3E2ACB5D1A0F}"/>
              </a:ext>
            </a:extLst>
          </p:cNvPr>
          <p:cNvSpPr>
            <a:spLocks xmlns:a="http://schemas.openxmlformats.org/drawingml/2006/main" noGrp="1"/>
          </p:cNvSpPr>
          <p:nvPr/>
        </p:nvSpPr>
        <p:spPr>
          <a:xfrm xmlns:a="http://schemas.openxmlformats.org/drawingml/2006/main" rot="0">
            <a:off x="12593955" y="5341620"/>
            <a:ext cx="391373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SEC / HIC, nanoDSF, LC-MS, flow cytometry</a:t>
            </a:r>
          </a:p>
        </p:txBody>
      </p:sp>
      <p:sp>
        <p:nvSpPr>
          <p:cNvPr id="34" name="Figure 14 label 32 line 1">
            <a:extLst xmlns:a="http://schemas.openxmlformats.org/drawingml/2006/main">
              <a:ext uri="{FF2B5EF4-FFF2-40B4-BE49-F238E27FC236}">
                <a16:creationId xmlns:a16="http://schemas.microsoft.com/office/drawing/2014/main" id="{97CA900C-7A52-4CD4-BCCF-A9B494F92A9C}"/>
              </a:ext>
            </a:extLst>
          </p:cNvPr>
          <p:cNvSpPr>
            <a:spLocks xmlns:a="http://schemas.openxmlformats.org/drawingml/2006/main" noGrp="1"/>
          </p:cNvSpPr>
          <p:nvPr/>
        </p:nvSpPr>
        <p:spPr>
          <a:xfrm xmlns:a="http://schemas.openxmlformats.org/drawingml/2006/main" rot="0">
            <a:off x="12594717" y="5681853"/>
            <a:ext cx="340560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Stability, aggregation, characterization / QC</a:t>
            </a:r>
          </a:p>
        </p:txBody>
      </p:sp>
      <p:sp>
        <p:nvSpPr>
          <p:cNvPr id="35" name="Figure 14 label 33 line 1">
            <a:extLst xmlns:a="http://schemas.openxmlformats.org/drawingml/2006/main">
              <a:ext uri="{FF2B5EF4-FFF2-40B4-BE49-F238E27FC236}">
                <a16:creationId xmlns:a16="http://schemas.microsoft.com/office/drawing/2014/main" id="{D58958FC-837E-4E18-B556-1960B098FFB3}"/>
              </a:ext>
            </a:extLst>
          </p:cNvPr>
          <p:cNvSpPr>
            <a:spLocks xmlns:a="http://schemas.openxmlformats.org/drawingml/2006/main" noGrp="1"/>
          </p:cNvSpPr>
          <p:nvPr/>
        </p:nvSpPr>
        <p:spPr>
          <a:xfrm xmlns:a="http://schemas.openxmlformats.org/drawingml/2006/main" rot="0">
            <a:off x="12595098" y="5980557"/>
            <a:ext cx="428136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Columns are reused; model instrument CAPEX separately</a:t>
            </a:r>
          </a:p>
        </p:txBody>
      </p:sp>
      <p:sp>
        <p:nvSpPr>
          <p:cNvPr id="36" name="Figure 14 label 34 line 1">
            <a:extLst xmlns:a="http://schemas.openxmlformats.org/drawingml/2006/main">
              <a:ext uri="{FF2B5EF4-FFF2-40B4-BE49-F238E27FC236}">
                <a16:creationId xmlns:a16="http://schemas.microsoft.com/office/drawing/2014/main" id="{87EA751A-AC11-4E83-AAE1-42FA0CEBB10D}"/>
              </a:ext>
            </a:extLst>
          </p:cNvPr>
          <p:cNvSpPr>
            <a:spLocks xmlns:a="http://schemas.openxmlformats.org/drawingml/2006/main" noGrp="1"/>
          </p:cNvSpPr>
          <p:nvPr/>
        </p:nvSpPr>
        <p:spPr>
          <a:xfrm xmlns:a="http://schemas.openxmlformats.org/drawingml/2006/main" rot="0">
            <a:off x="7972806" y="6613779"/>
            <a:ext cx="447993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Sample handling, labware &amp; automation</a:t>
            </a:r>
          </a:p>
        </p:txBody>
      </p:sp>
      <p:sp>
        <p:nvSpPr>
          <p:cNvPr id="37" name="Figure 14 label 35 line 1">
            <a:extLst xmlns:a="http://schemas.openxmlformats.org/drawingml/2006/main">
              <a:ext uri="{FF2B5EF4-FFF2-40B4-BE49-F238E27FC236}">
                <a16:creationId xmlns:a16="http://schemas.microsoft.com/office/drawing/2014/main" id="{6BDDF059-2439-4016-B52A-049403992F31}"/>
              </a:ext>
            </a:extLst>
          </p:cNvPr>
          <p:cNvSpPr>
            <a:spLocks xmlns:a="http://schemas.openxmlformats.org/drawingml/2006/main" noGrp="1"/>
          </p:cNvSpPr>
          <p:nvPr/>
        </p:nvSpPr>
        <p:spPr>
          <a:xfrm xmlns:a="http://schemas.openxmlformats.org/drawingml/2006/main" rot="0">
            <a:off x="7555230" y="7027545"/>
            <a:ext cx="440218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Plates, tips, tubes, filtration / beads, liquid handling</a:t>
            </a:r>
          </a:p>
        </p:txBody>
      </p:sp>
      <p:sp>
        <p:nvSpPr>
          <p:cNvPr id="38" name="Figure 14 label 36 line 1">
            <a:extLst xmlns:a="http://schemas.openxmlformats.org/drawingml/2006/main">
              <a:ext uri="{FF2B5EF4-FFF2-40B4-BE49-F238E27FC236}">
                <a16:creationId xmlns:a16="http://schemas.microsoft.com/office/drawing/2014/main" id="{6574389D-81BC-4520-A5D8-3D64B79DD041}"/>
              </a:ext>
            </a:extLst>
          </p:cNvPr>
          <p:cNvSpPr>
            <a:spLocks xmlns:a="http://schemas.openxmlformats.org/drawingml/2006/main" noGrp="1"/>
          </p:cNvSpPr>
          <p:nvPr/>
        </p:nvSpPr>
        <p:spPr>
          <a:xfrm xmlns:a="http://schemas.openxmlformats.org/drawingml/2006/main" rot="0">
            <a:off x="7555992" y="7367778"/>
            <a:ext cx="626756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Across all workflows; miniaturization, reuse and scheduling alter net consumption</a:t>
            </a:r>
          </a:p>
        </p:txBody>
      </p:sp>
      <p:sp>
        <p:nvSpPr>
          <p:cNvPr id="39" name="Figure 14 label 37 line 1">
            <a:extLst xmlns:a="http://schemas.openxmlformats.org/drawingml/2006/main">
              <a:ext uri="{FF2B5EF4-FFF2-40B4-BE49-F238E27FC236}">
                <a16:creationId xmlns:a16="http://schemas.microsoft.com/office/drawing/2014/main" id="{52B43D2F-FCCB-49E7-9665-6613BEB836DA}"/>
              </a:ext>
            </a:extLst>
          </p:cNvPr>
          <p:cNvSpPr>
            <a:spLocks xmlns:a="http://schemas.openxmlformats.org/drawingml/2006/main" noGrp="1"/>
          </p:cNvSpPr>
          <p:nvPr/>
        </p:nvSpPr>
        <p:spPr>
          <a:xfrm xmlns:a="http://schemas.openxmlformats.org/drawingml/2006/main" rot="0">
            <a:off x="858012" y="8141208"/>
            <a:ext cx="7361456"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ACROBiosystems: target proteins, functional cells &amp; characterization</a:t>
            </a:r>
          </a:p>
        </p:txBody>
      </p:sp>
      <p:sp>
        <p:nvSpPr>
          <p:cNvPr id="40" name="Figure 14 label 38 line 1">
            <a:extLst xmlns:a="http://schemas.openxmlformats.org/drawingml/2006/main">
              <a:ext uri="{FF2B5EF4-FFF2-40B4-BE49-F238E27FC236}">
                <a16:creationId xmlns:a16="http://schemas.microsoft.com/office/drawing/2014/main" id="{040C8DF2-36C7-4103-BE0E-B9C88BE9F3CA}"/>
              </a:ext>
            </a:extLst>
          </p:cNvPr>
          <p:cNvSpPr>
            <a:spLocks xmlns:a="http://schemas.openxmlformats.org/drawingml/2006/main" noGrp="1"/>
          </p:cNvSpPr>
          <p:nvPr/>
        </p:nvSpPr>
        <p:spPr>
          <a:xfrm xmlns:a="http://schemas.openxmlformats.org/drawingml/2006/main" rot="0">
            <a:off x="860298" y="8466582"/>
            <a:ext cx="6069687"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AIDD-Ready offering exists; paid orders and repeat purchases still need verification</a:t>
            </a:r>
          </a:p>
        </p:txBody>
      </p:sp>
      <p:sp>
        <p:nvSpPr>
          <p:cNvPr id="41" name="Figure 14 label 39 line 1">
            <a:extLst xmlns:a="http://schemas.openxmlformats.org/drawingml/2006/main">
              <a:ext uri="{FF2B5EF4-FFF2-40B4-BE49-F238E27FC236}">
                <a16:creationId xmlns:a16="http://schemas.microsoft.com/office/drawing/2014/main" id="{4BA1CDF0-21FD-4298-B626-BE5CC8F0CA40}"/>
              </a:ext>
            </a:extLst>
          </p:cNvPr>
          <p:cNvSpPr>
            <a:spLocks xmlns:a="http://schemas.openxmlformats.org/drawingml/2006/main" noGrp="1"/>
          </p:cNvSpPr>
          <p:nvPr/>
        </p:nvSpPr>
        <p:spPr>
          <a:xfrm xmlns:a="http://schemas.openxmlformats.org/drawingml/2006/main" rot="0">
            <a:off x="9287637" y="8141208"/>
            <a:ext cx="6448544"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NanoMicro: analytical separation &amp; lab purification materials</a:t>
            </a:r>
          </a:p>
        </p:txBody>
      </p:sp>
      <p:sp>
        <p:nvSpPr>
          <p:cNvPr id="42" name="Figure 14 label 40 line 1">
            <a:extLst xmlns:a="http://schemas.openxmlformats.org/drawingml/2006/main">
              <a:ext uri="{FF2B5EF4-FFF2-40B4-BE49-F238E27FC236}">
                <a16:creationId xmlns:a16="http://schemas.microsoft.com/office/drawing/2014/main" id="{F3525462-95E7-4D0C-AF1F-09CD63BA25AE}"/>
              </a:ext>
            </a:extLst>
          </p:cNvPr>
          <p:cNvSpPr>
            <a:spLocks xmlns:a="http://schemas.openxmlformats.org/drawingml/2006/main" noGrp="1"/>
          </p:cNvSpPr>
          <p:nvPr/>
        </p:nvSpPr>
        <p:spPr>
          <a:xfrm xmlns:a="http://schemas.openxmlformats.org/drawingml/2006/main" rot="0">
            <a:off x="9289923" y="8466582"/>
            <a:ext cx="6309747"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Track sample runs, column life and ASP; manufacturing resin demand has a longer lag</a:t>
            </a:r>
          </a:p>
        </p:txBody>
      </p:sp>
      <p:sp>
        <p:nvSpPr>
          <p:cNvPr id="43" name="Figure 14 label 41 line 1">
            <a:extLst xmlns:a="http://schemas.openxmlformats.org/drawingml/2006/main">
              <a:ext uri="{FF2B5EF4-FFF2-40B4-BE49-F238E27FC236}">
                <a16:creationId xmlns:a16="http://schemas.microsoft.com/office/drawing/2014/main" id="{6E87AEC7-4C4A-4EA7-ACEF-C66010F2E276}"/>
              </a:ext>
            </a:extLst>
          </p:cNvPr>
          <p:cNvSpPr>
            <a:spLocks xmlns:a="http://schemas.openxmlformats.org/drawingml/2006/main" noGrp="1"/>
          </p:cNvSpPr>
          <p:nvPr/>
        </p:nvSpPr>
        <p:spPr>
          <a:xfrm xmlns:a="http://schemas.openxmlformats.org/drawingml/2006/main" rot="0">
            <a:off x="3835420" y="9130284"/>
            <a:ext cx="1061716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lnSpc>
                <a:spcPct val="100000"/>
              </a:lnSpc>
              <a:buNone/>
              <a:defRPr sz="2175" b="1">
                <a:solidFill>
                  <a:srgbClr val="FFFFFF"/>
                </a:solidFill>
                <a:latin typeface="Arial"/>
                <a:ea typeface="Arial"/>
                <a:cs typeface="Arial"/>
              </a:defRPr>
            </a:pPr>
            <a:r>
              <a:rPr sz="2175" b="1">
                <a:solidFill>
                  <a:srgbClr val="FFFFFF"/>
                </a:solidFill>
                <a:latin typeface="Arial"/>
                <a:ea typeface="Arial"/>
                <a:cs typeface="Arial"/>
              </a:rPr>
              <a:t>LST purchases ≈ Σ [workflow executions × net purchased inputs per run × ASP]</a:t>
            </a:r>
          </a:p>
        </p:txBody>
      </p:sp>
      <p:sp>
        <p:nvSpPr>
          <p:cNvPr id="44" name="Figure 14 label 42 line 1">
            <a:extLst xmlns:a="http://schemas.openxmlformats.org/drawingml/2006/main">
              <a:ext uri="{FF2B5EF4-FFF2-40B4-BE49-F238E27FC236}">
                <a16:creationId xmlns:a16="http://schemas.microsoft.com/office/drawing/2014/main" id="{BABD4B58-62C6-41FE-B3A7-9BAC36BDFB30}"/>
              </a:ext>
            </a:extLst>
          </p:cNvPr>
          <p:cNvSpPr>
            <a:spLocks xmlns:a="http://schemas.openxmlformats.org/drawingml/2006/main" noGrp="1"/>
          </p:cNvSpPr>
          <p:nvPr/>
        </p:nvSpPr>
        <p:spPr>
          <a:xfrm xmlns:a="http://schemas.openxmlformats.org/drawingml/2006/main" rot="0">
            <a:off x="679514" y="9754171"/>
            <a:ext cx="10017234" cy="1964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0">
                <a:solidFill>
                  <a:srgbClr val="00355F"/>
                </a:solidFill>
                <a:latin typeface="Arial"/>
                <a:ea typeface="Arial"/>
                <a:cs typeface="Arial"/>
              </a:defRPr>
            </a:defPPr>
          </a:lstStyle>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Instrument CAPEX is separate. Product alignment does not establish AI orders or revenue. Sources: Ginkgo, Sartorius and company websites.</a:t>
            </a:r>
          </a:p>
        </p:txBody>
      </p:sp>
    </p:spTree>
    <p:extLst>
      <p:ext uri="{BB962C8B-B14F-4D97-AF65-F5344CB8AC3E}">
        <p14:creationId xmlns:p14="http://schemas.microsoft.com/office/powerpoint/2010/main" val="1897394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6" name="">
            <a:extLst xmlns:a="http://schemas.openxmlformats.org/drawingml/2006/main">
              <a:ext uri="{FF2B5EF4-FFF2-40B4-BE49-F238E27FC236}">
                <a16:creationId xmlns:a16="http://schemas.microsoft.com/office/drawing/2014/main" id="{BC499A34-E118-419D-AF2D-4AC33B297002}"/>
              </a:ext>
            </a:extLst>
          </p:cNvPr>
          <p:cNvPicPr>
            <a:picLocks xmlns:a="http://schemas.openxmlformats.org/drawingml/2006/main" noChangeAspect="1"/>
          </p:cNvPicPr>
          <p:nvPr/>
        </p:nvPicPr>
        <p:blipFill>
          <a:blip xmlns:r="http://schemas.openxmlformats.org/officeDocument/2006/relationships" xmlns:a="http://schemas.openxmlformats.org/drawingml/2006/main" r:embed="R34d402677fd6460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5 label 1 line 1">
            <a:extLst xmlns:a="http://schemas.openxmlformats.org/drawingml/2006/main">
              <a:ext uri="{FF2B5EF4-FFF2-40B4-BE49-F238E27FC236}">
                <a16:creationId xmlns:a16="http://schemas.microsoft.com/office/drawing/2014/main" id="{5EED4B10-5A46-49ED-905B-836E1CFC77CF}"/>
              </a:ext>
            </a:extLst>
          </p:cNvPr>
          <p:cNvSpPr>
            <a:spLocks xmlns:a="http://schemas.openxmlformats.org/drawingml/2006/main" noGrp="1"/>
          </p:cNvSpPr>
          <p:nvPr/>
        </p:nvSpPr>
        <p:spPr>
          <a:xfrm xmlns:a="http://schemas.openxmlformats.org/drawingml/2006/main" rot="0">
            <a:off x="1057351" y="295961"/>
            <a:ext cx="9516469"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360" b="1">
                <a:solidFill>
                  <a:srgbClr val="00355F"/>
                </a:solidFill>
                <a:latin typeface="Arial"/>
                <a:ea typeface="Arial"/>
                <a:cs typeface="Arial"/>
              </a:defRPr>
            </a:defPPr>
          </a:lstStyle>
          <a:p xmlns:a="http://schemas.openxmlformats.org/drawingml/2006/main">
            <a:pPr algn="l">
              <a:lnSpc>
                <a:spcPct val="100000"/>
              </a:lnSpc>
              <a:buNone/>
              <a:defRPr sz="3360" b="1">
                <a:solidFill>
                  <a:srgbClr val="00355F"/>
                </a:solidFill>
                <a:latin typeface="Arial"/>
                <a:ea typeface="Arial"/>
                <a:cs typeface="Arial"/>
              </a:defRPr>
            </a:pPr>
            <a:r>
              <a:rPr sz="3360" b="1">
                <a:solidFill>
                  <a:srgbClr val="00355F"/>
                </a:solidFill>
                <a:latin typeface="Arial"/>
                <a:ea typeface="Arial"/>
                <a:cs typeface="Arial"/>
              </a:rPr>
              <a:t>Typical protein / antibody screening workflow</a:t>
            </a:r>
          </a:p>
        </p:txBody>
      </p:sp>
      <p:sp>
        <p:nvSpPr>
          <p:cNvPr id="3" name="Figure 15 label 2 line 1">
            <a:extLst xmlns:a="http://schemas.openxmlformats.org/drawingml/2006/main">
              <a:ext uri="{FF2B5EF4-FFF2-40B4-BE49-F238E27FC236}">
                <a16:creationId xmlns:a16="http://schemas.microsoft.com/office/drawing/2014/main" id="{4066F242-3F8D-4B0F-A58A-42F7CDA0A70D}"/>
              </a:ext>
            </a:extLst>
          </p:cNvPr>
          <p:cNvSpPr>
            <a:spLocks xmlns:a="http://schemas.openxmlformats.org/drawingml/2006/main" noGrp="1"/>
          </p:cNvSpPr>
          <p:nvPr/>
        </p:nvSpPr>
        <p:spPr>
          <a:xfrm xmlns:a="http://schemas.openxmlformats.org/drawingml/2006/main" rot="0">
            <a:off x="1065581" y="956767"/>
            <a:ext cx="8299716"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0">
                <a:solidFill>
                  <a:srgbClr val="00355F"/>
                </a:solidFill>
                <a:latin typeface="Arial"/>
                <a:ea typeface="Arial"/>
                <a:cs typeface="Arial"/>
              </a:defRPr>
            </a:defPPr>
          </a:lstStyle>
          <a:p xmlns:a="http://schemas.openxmlformats.org/drawingml/2006/main">
            <a:pPr algn="l">
              <a:lnSpc>
                <a:spcPct val="100000"/>
              </a:lnSpc>
              <a:buNone/>
              <a:defRPr sz="1740" b="0">
                <a:solidFill>
                  <a:srgbClr val="00355F"/>
                </a:solidFill>
                <a:latin typeface="Arial"/>
                <a:ea typeface="Arial"/>
                <a:cs typeface="Arial"/>
              </a:defRPr>
            </a:pPr>
            <a:r>
              <a:rPr sz="1740" b="0">
                <a:solidFill>
                  <a:srgbClr val="00355F"/>
                </a:solidFill>
                <a:latin typeface="Arial"/>
                <a:ea typeface="Arial"/>
                <a:cs typeface="Arial"/>
              </a:rPr>
              <a:t>From DNA constructs to functional evidence: the life science tools behind each step</a:t>
            </a:r>
          </a:p>
        </p:txBody>
      </p:sp>
      <p:sp>
        <p:nvSpPr>
          <p:cNvPr id="4" name="Figure 15 label 3 line 1">
            <a:extLst xmlns:a="http://schemas.openxmlformats.org/drawingml/2006/main">
              <a:ext uri="{FF2B5EF4-FFF2-40B4-BE49-F238E27FC236}">
                <a16:creationId xmlns:a16="http://schemas.microsoft.com/office/drawing/2014/main" id="{C8BEBD26-D238-4905-8734-A1BF93480FBF}"/>
              </a:ext>
            </a:extLst>
          </p:cNvPr>
          <p:cNvSpPr>
            <a:spLocks xmlns:a="http://schemas.openxmlformats.org/drawingml/2006/main" noGrp="1"/>
          </p:cNvSpPr>
          <p:nvPr/>
        </p:nvSpPr>
        <p:spPr>
          <a:xfrm xmlns:a="http://schemas.openxmlformats.org/drawingml/2006/main" rot="0">
            <a:off x="1067714" y="1341730"/>
            <a:ext cx="6222677"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0">
                <a:solidFill>
                  <a:srgbClr val="00355F"/>
                </a:solidFill>
                <a:latin typeface="Arial"/>
                <a:ea typeface="Arial"/>
                <a:cs typeface="Arial"/>
              </a:defRPr>
            </a:defPPr>
          </a:lstStyle>
          <a:p xmlns:a="http://schemas.openxmlformats.org/drawingml/2006/main">
            <a:pPr algn="l">
              <a:lnSpc>
                <a:spcPct val="100000"/>
              </a:lnSpc>
              <a:buNone/>
              <a:defRPr sz="1320" b="0">
                <a:solidFill>
                  <a:srgbClr val="00355F"/>
                </a:solidFill>
                <a:latin typeface="Arial"/>
                <a:ea typeface="Arial"/>
                <a:cs typeface="Arial"/>
              </a:defRPr>
            </a:pPr>
            <a:r>
              <a:rPr sz="1320" b="0">
                <a:solidFill>
                  <a:srgbClr val="00355F"/>
                </a:solidFill>
                <a:latin typeface="Arial"/>
                <a:ea typeface="Arial"/>
                <a:cs typeface="Arial"/>
              </a:rPr>
              <a:t>Example: sequence-defined antibody candidates screened against a protein target</a:t>
            </a:r>
          </a:p>
        </p:txBody>
      </p:sp>
      <p:sp>
        <p:nvSpPr>
          <p:cNvPr id="5" name="Figure 15 label 4 line 1">
            <a:extLst xmlns:a="http://schemas.openxmlformats.org/drawingml/2006/main">
              <a:ext uri="{FF2B5EF4-FFF2-40B4-BE49-F238E27FC236}">
                <a16:creationId xmlns:a16="http://schemas.microsoft.com/office/drawing/2014/main" id="{34B820C6-B437-4BB8-87C3-C79021946619}"/>
              </a:ext>
            </a:extLst>
          </p:cNvPr>
          <p:cNvSpPr>
            <a:spLocks xmlns:a="http://schemas.openxmlformats.org/drawingml/2006/main" noGrp="1"/>
          </p:cNvSpPr>
          <p:nvPr/>
        </p:nvSpPr>
        <p:spPr>
          <a:xfrm xmlns:a="http://schemas.openxmlformats.org/drawingml/2006/main" rot="0">
            <a:off x="754990" y="1880006"/>
            <a:ext cx="2743861"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BUILD  ·  Make physical samples</a:t>
            </a:r>
          </a:p>
        </p:txBody>
      </p:sp>
      <p:sp>
        <p:nvSpPr>
          <p:cNvPr id="6" name="Figure 15 label 5 line 1">
            <a:extLst xmlns:a="http://schemas.openxmlformats.org/drawingml/2006/main">
              <a:ext uri="{FF2B5EF4-FFF2-40B4-BE49-F238E27FC236}">
                <a16:creationId xmlns:a16="http://schemas.microsoft.com/office/drawing/2014/main" id="{CB11587A-6FB1-487B-B180-4E3E2770590B}"/>
              </a:ext>
            </a:extLst>
          </p:cNvPr>
          <p:cNvSpPr>
            <a:spLocks xmlns:a="http://schemas.openxmlformats.org/drawingml/2006/main" noGrp="1"/>
          </p:cNvSpPr>
          <p:nvPr/>
        </p:nvSpPr>
        <p:spPr>
          <a:xfrm xmlns:a="http://schemas.openxmlformats.org/drawingml/2006/main" rot="0">
            <a:off x="6637630" y="1880006"/>
            <a:ext cx="176918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TEST  ·  Find binders</a:t>
            </a:r>
          </a:p>
        </p:txBody>
      </p:sp>
      <p:sp>
        <p:nvSpPr>
          <p:cNvPr id="7" name="Figure 15 label 6 line 1">
            <a:extLst xmlns:a="http://schemas.openxmlformats.org/drawingml/2006/main">
              <a:ext uri="{FF2B5EF4-FFF2-40B4-BE49-F238E27FC236}">
                <a16:creationId xmlns:a16="http://schemas.microsoft.com/office/drawing/2014/main" id="{C5E640C2-32F5-40A3-A568-43F44B5E8201}"/>
              </a:ext>
            </a:extLst>
          </p:cNvPr>
          <p:cNvSpPr>
            <a:spLocks xmlns:a="http://schemas.openxmlformats.org/drawingml/2006/main" noGrp="1"/>
          </p:cNvSpPr>
          <p:nvPr/>
        </p:nvSpPr>
        <p:spPr>
          <a:xfrm xmlns:a="http://schemas.openxmlformats.org/drawingml/2006/main" rot="0">
            <a:off x="9700565" y="1900123"/>
            <a:ext cx="337091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lnSpc>
                <a:spcPct val="100000"/>
              </a:lnSpc>
              <a:buNone/>
              <a:defRPr sz="1440" b="1">
                <a:solidFill>
                  <a:srgbClr val="00355F"/>
                </a:solidFill>
                <a:latin typeface="Arial"/>
                <a:ea typeface="Arial"/>
                <a:cs typeface="Arial"/>
              </a:defRPr>
            </a:pPr>
            <a:r>
              <a:rPr sz="1440" b="1">
                <a:solidFill>
                  <a:srgbClr val="00355F"/>
                </a:solidFill>
                <a:latin typeface="Arial"/>
                <a:ea typeface="Arial"/>
                <a:cs typeface="Arial"/>
              </a:rPr>
              <a:t>AI learning needs depth per molecule</a:t>
            </a:r>
          </a:p>
        </p:txBody>
      </p:sp>
      <p:sp>
        <p:nvSpPr>
          <p:cNvPr id="8" name="Figure 15 label 7 line 1">
            <a:extLst xmlns:a="http://schemas.openxmlformats.org/drawingml/2006/main">
              <a:ext uri="{FF2B5EF4-FFF2-40B4-BE49-F238E27FC236}">
                <a16:creationId xmlns:a16="http://schemas.microsoft.com/office/drawing/2014/main" id="{2EE7012F-5FF3-42A8-BE45-79A315F93EBA}"/>
              </a:ext>
            </a:extLst>
          </p:cNvPr>
          <p:cNvSpPr>
            <a:spLocks xmlns:a="http://schemas.openxmlformats.org/drawingml/2006/main" noGrp="1"/>
          </p:cNvSpPr>
          <p:nvPr/>
        </p:nvSpPr>
        <p:spPr>
          <a:xfrm xmlns:a="http://schemas.openxmlformats.org/drawingml/2006/main" rot="0">
            <a:off x="9702089" y="2180539"/>
            <a:ext cx="3780133"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0">
                <a:solidFill>
                  <a:srgbClr val="00355F"/>
                </a:solidFill>
                <a:latin typeface="Arial"/>
                <a:ea typeface="Arial"/>
                <a:cs typeface="Arial"/>
              </a:defRPr>
            </a:defPPr>
          </a:lstStyle>
          <a:p xmlns:a="http://schemas.openxmlformats.org/drawingml/2006/main">
            <a:pPr algn="l">
              <a:lnSpc>
                <a:spcPct val="100000"/>
              </a:lnSpc>
              <a:buNone/>
              <a:defRPr sz="1140" b="0">
                <a:solidFill>
                  <a:srgbClr val="00355F"/>
                </a:solidFill>
                <a:latin typeface="Arial"/>
                <a:ea typeface="Arial"/>
                <a:cs typeface="Arial"/>
              </a:defRPr>
            </a:pPr>
            <a:r>
              <a:rPr sz="1140" b="0">
                <a:solidFill>
                  <a:srgbClr val="00355F"/>
                </a:solidFill>
                <a:latin typeface="Arial"/>
                <a:ea typeface="Arial"/>
                <a:cs typeface="Arial"/>
              </a:rPr>
              <a:t>Potential constraint: comparable, reproducible assay data</a:t>
            </a:r>
          </a:p>
        </p:txBody>
      </p:sp>
      <p:sp>
        <p:nvSpPr>
          <p:cNvPr id="9" name="Figure 15 label 8 line 1">
            <a:extLst xmlns:a="http://schemas.openxmlformats.org/drawingml/2006/main">
              <a:ext uri="{FF2B5EF4-FFF2-40B4-BE49-F238E27FC236}">
                <a16:creationId xmlns:a16="http://schemas.microsoft.com/office/drawing/2014/main" id="{9CD529A8-9D8F-4AFC-8ECA-E3D598CEAF1F}"/>
              </a:ext>
            </a:extLst>
          </p:cNvPr>
          <p:cNvSpPr>
            <a:spLocks xmlns:a="http://schemas.openxmlformats.org/drawingml/2006/main" noGrp="1"/>
          </p:cNvSpPr>
          <p:nvPr/>
        </p:nvSpPr>
        <p:spPr>
          <a:xfrm xmlns:a="http://schemas.openxmlformats.org/drawingml/2006/main" rot="0">
            <a:off x="15613990" y="1880006"/>
            <a:ext cx="1399496"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LEARN  ·  Iterate</a:t>
            </a:r>
          </a:p>
        </p:txBody>
      </p:sp>
      <p:sp>
        <p:nvSpPr>
          <p:cNvPr id="10" name="Figure 15 label 9 line 1">
            <a:extLst xmlns:a="http://schemas.openxmlformats.org/drawingml/2006/main">
              <a:ext uri="{FF2B5EF4-FFF2-40B4-BE49-F238E27FC236}">
                <a16:creationId xmlns:a16="http://schemas.microsoft.com/office/drawing/2014/main" id="{DC41FBB3-C4F2-418A-B339-023877FA63F9}"/>
              </a:ext>
            </a:extLst>
          </p:cNvPr>
          <p:cNvSpPr>
            <a:spLocks xmlns:a="http://schemas.openxmlformats.org/drawingml/2006/main" noGrp="1"/>
          </p:cNvSpPr>
          <p:nvPr/>
        </p:nvSpPr>
        <p:spPr>
          <a:xfrm xmlns:a="http://schemas.openxmlformats.org/drawingml/2006/main" rot="0">
            <a:off x="923544" y="2726436"/>
            <a:ext cx="861209"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01  /  BUILD</a:t>
            </a:r>
          </a:p>
        </p:txBody>
      </p:sp>
      <p:sp>
        <p:nvSpPr>
          <p:cNvPr id="11" name="Figure 15 label 10 line 1">
            <a:extLst xmlns:a="http://schemas.openxmlformats.org/drawingml/2006/main">
              <a:ext uri="{FF2B5EF4-FFF2-40B4-BE49-F238E27FC236}">
                <a16:creationId xmlns:a16="http://schemas.microsoft.com/office/drawing/2014/main" id="{174B6216-F3BA-4679-BB54-5235E7D57FE4}"/>
              </a:ext>
            </a:extLst>
          </p:cNvPr>
          <p:cNvSpPr>
            <a:spLocks xmlns:a="http://schemas.openxmlformats.org/drawingml/2006/main" noGrp="1"/>
          </p:cNvSpPr>
          <p:nvPr/>
        </p:nvSpPr>
        <p:spPr>
          <a:xfrm xmlns:a="http://schemas.openxmlformats.org/drawingml/2006/main" rot="0">
            <a:off x="920191" y="3100121"/>
            <a:ext cx="222716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Construct design /</a:t>
            </a:r>
          </a:p>
        </p:txBody>
      </p:sp>
      <p:sp>
        <p:nvSpPr>
          <p:cNvPr id="12" name="Figure 15 label 10 line 2">
            <a:extLst xmlns:a="http://schemas.openxmlformats.org/drawingml/2006/main">
              <a:ext uri="{FF2B5EF4-FFF2-40B4-BE49-F238E27FC236}">
                <a16:creationId xmlns:a16="http://schemas.microsoft.com/office/drawing/2014/main" id="{5DA0EC18-CD3E-4B7F-90B6-3F5E8E31C433}"/>
              </a:ext>
            </a:extLst>
          </p:cNvPr>
          <p:cNvSpPr>
            <a:spLocks xmlns:a="http://schemas.openxmlformats.org/drawingml/2006/main" noGrp="1"/>
          </p:cNvSpPr>
          <p:nvPr/>
        </p:nvSpPr>
        <p:spPr>
          <a:xfrm xmlns:a="http://schemas.openxmlformats.org/drawingml/2006/main" rot="0">
            <a:off x="920191" y="3395396"/>
            <a:ext cx="222716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DNA synthesis</a:t>
            </a:r>
          </a:p>
        </p:txBody>
      </p:sp>
      <p:sp>
        <p:nvSpPr>
          <p:cNvPr id="13" name="Figure 15 label 11 line 1">
            <a:extLst xmlns:a="http://schemas.openxmlformats.org/drawingml/2006/main">
              <a:ext uri="{FF2B5EF4-FFF2-40B4-BE49-F238E27FC236}">
                <a16:creationId xmlns:a16="http://schemas.microsoft.com/office/drawing/2014/main" id="{D0964C8B-11F8-4149-9657-347BEAE427F4}"/>
              </a:ext>
            </a:extLst>
          </p:cNvPr>
          <p:cNvSpPr>
            <a:spLocks xmlns:a="http://schemas.openxmlformats.org/drawingml/2006/main" noGrp="1"/>
          </p:cNvSpPr>
          <p:nvPr/>
        </p:nvSpPr>
        <p:spPr>
          <a:xfrm xmlns:a="http://schemas.openxmlformats.org/drawingml/2006/main" rot="0">
            <a:off x="923239" y="3813353"/>
            <a:ext cx="2114681"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Encode antibody candidates</a:t>
            </a:r>
          </a:p>
        </p:txBody>
      </p:sp>
      <p:sp>
        <p:nvSpPr>
          <p:cNvPr id="14" name="Figure 15 label 11 line 2">
            <a:extLst xmlns:a="http://schemas.openxmlformats.org/drawingml/2006/main">
              <a:ext uri="{FF2B5EF4-FFF2-40B4-BE49-F238E27FC236}">
                <a16:creationId xmlns:a16="http://schemas.microsoft.com/office/drawing/2014/main" id="{4BD12161-91DE-4675-9926-10431EA19F7C}"/>
              </a:ext>
            </a:extLst>
          </p:cNvPr>
          <p:cNvSpPr>
            <a:spLocks xmlns:a="http://schemas.openxmlformats.org/drawingml/2006/main" noGrp="1"/>
          </p:cNvSpPr>
          <p:nvPr/>
        </p:nvSpPr>
        <p:spPr>
          <a:xfrm xmlns:a="http://schemas.openxmlformats.org/drawingml/2006/main" rot="0">
            <a:off x="923239" y="4013378"/>
            <a:ext cx="2114681"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as DNA constructs</a:t>
            </a:r>
          </a:p>
        </p:txBody>
      </p:sp>
      <p:sp>
        <p:nvSpPr>
          <p:cNvPr id="15" name="Figure 15 label 12 line 1">
            <a:extLst xmlns:a="http://schemas.openxmlformats.org/drawingml/2006/main">
              <a:ext uri="{FF2B5EF4-FFF2-40B4-BE49-F238E27FC236}">
                <a16:creationId xmlns:a16="http://schemas.microsoft.com/office/drawing/2014/main" id="{23503621-30AA-4AAE-9955-4C02B621C1D2}"/>
              </a:ext>
            </a:extLst>
          </p:cNvPr>
          <p:cNvSpPr>
            <a:spLocks xmlns:a="http://schemas.openxmlformats.org/drawingml/2006/main" noGrp="1"/>
          </p:cNvSpPr>
          <p:nvPr/>
        </p:nvSpPr>
        <p:spPr>
          <a:xfrm xmlns:a="http://schemas.openxmlformats.org/drawingml/2006/main" rot="0">
            <a:off x="970940" y="4448404"/>
            <a:ext cx="526042"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OUTPUT</a:t>
            </a:r>
          </a:p>
        </p:txBody>
      </p:sp>
      <p:sp>
        <p:nvSpPr>
          <p:cNvPr id="16" name="Figure 15 label 13 line 1">
            <a:extLst xmlns:a="http://schemas.openxmlformats.org/drawingml/2006/main">
              <a:ext uri="{FF2B5EF4-FFF2-40B4-BE49-F238E27FC236}">
                <a16:creationId xmlns:a16="http://schemas.microsoft.com/office/drawing/2014/main" id="{7DFAEBB6-10F8-4554-8E5C-A4F86A92DB96}"/>
              </a:ext>
            </a:extLst>
          </p:cNvPr>
          <p:cNvSpPr>
            <a:spLocks xmlns:a="http://schemas.openxmlformats.org/drawingml/2006/main" noGrp="1"/>
          </p:cNvSpPr>
          <p:nvPr/>
        </p:nvSpPr>
        <p:spPr>
          <a:xfrm xmlns:a="http://schemas.openxmlformats.org/drawingml/2006/main" rot="0">
            <a:off x="969264" y="4661916"/>
            <a:ext cx="168705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Sequence + construct</a:t>
            </a:r>
          </a:p>
        </p:txBody>
      </p:sp>
      <p:sp>
        <p:nvSpPr>
          <p:cNvPr id="17" name="Figure 15 label 14 line 1">
            <a:extLst xmlns:a="http://schemas.openxmlformats.org/drawingml/2006/main">
              <a:ext uri="{FF2B5EF4-FFF2-40B4-BE49-F238E27FC236}">
                <a16:creationId xmlns:a16="http://schemas.microsoft.com/office/drawing/2014/main" id="{B6AD4240-DB20-4C10-9134-31F4599F6D23}"/>
              </a:ext>
            </a:extLst>
          </p:cNvPr>
          <p:cNvSpPr>
            <a:spLocks xmlns:a="http://schemas.openxmlformats.org/drawingml/2006/main" noGrp="1"/>
          </p:cNvSpPr>
          <p:nvPr/>
        </p:nvSpPr>
        <p:spPr>
          <a:xfrm xmlns:a="http://schemas.openxmlformats.org/drawingml/2006/main" rot="0">
            <a:off x="924611" y="4983937"/>
            <a:ext cx="780324"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REAGENTS</a:t>
            </a:r>
          </a:p>
        </p:txBody>
      </p:sp>
      <p:sp>
        <p:nvSpPr>
          <p:cNvPr id="18" name="Figure 15 label 15 line 1">
            <a:extLst xmlns:a="http://schemas.openxmlformats.org/drawingml/2006/main">
              <a:ext uri="{FF2B5EF4-FFF2-40B4-BE49-F238E27FC236}">
                <a16:creationId xmlns:a16="http://schemas.microsoft.com/office/drawing/2014/main" id="{3E284BCE-B757-455E-8CEE-ABAD132B870B}"/>
              </a:ext>
            </a:extLst>
          </p:cNvPr>
          <p:cNvSpPr>
            <a:spLocks xmlns:a="http://schemas.openxmlformats.org/drawingml/2006/main" noGrp="1"/>
          </p:cNvSpPr>
          <p:nvPr/>
        </p:nvSpPr>
        <p:spPr>
          <a:xfrm xmlns:a="http://schemas.openxmlformats.org/drawingml/2006/main" rot="0">
            <a:off x="923696" y="5196688"/>
            <a:ext cx="1674162"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Oligos / gene fragments</a:t>
            </a:r>
          </a:p>
        </p:txBody>
      </p:sp>
      <p:sp>
        <p:nvSpPr>
          <p:cNvPr id="19" name="Figure 15 label 15 line 2">
            <a:extLst xmlns:a="http://schemas.openxmlformats.org/drawingml/2006/main">
              <a:ext uri="{FF2B5EF4-FFF2-40B4-BE49-F238E27FC236}">
                <a16:creationId xmlns:a16="http://schemas.microsoft.com/office/drawing/2014/main" id="{AC43964C-D678-40F4-819B-94A081E25A93}"/>
              </a:ext>
            </a:extLst>
          </p:cNvPr>
          <p:cNvSpPr>
            <a:spLocks xmlns:a="http://schemas.openxmlformats.org/drawingml/2006/main" noGrp="1"/>
          </p:cNvSpPr>
          <p:nvPr/>
        </p:nvSpPr>
        <p:spPr>
          <a:xfrm xmlns:a="http://schemas.openxmlformats.org/drawingml/2006/main" rot="0">
            <a:off x="923696" y="5382425"/>
            <a:ext cx="1674162"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PCR enzymes, vectors</a:t>
            </a:r>
          </a:p>
        </p:txBody>
      </p:sp>
      <p:sp>
        <p:nvSpPr>
          <p:cNvPr id="20" name="Figure 15 label 15 line 3">
            <a:extLst xmlns:a="http://schemas.openxmlformats.org/drawingml/2006/main">
              <a:ext uri="{FF2B5EF4-FFF2-40B4-BE49-F238E27FC236}">
                <a16:creationId xmlns:a16="http://schemas.microsoft.com/office/drawing/2014/main" id="{8EEE4FE1-4A85-4E4C-A7EA-11330FA6A9B1}"/>
              </a:ext>
            </a:extLst>
          </p:cNvPr>
          <p:cNvSpPr>
            <a:spLocks xmlns:a="http://schemas.openxmlformats.org/drawingml/2006/main" noGrp="1"/>
          </p:cNvSpPr>
          <p:nvPr/>
        </p:nvSpPr>
        <p:spPr>
          <a:xfrm xmlns:a="http://schemas.openxmlformats.org/drawingml/2006/main" rot="0">
            <a:off x="923696" y="5568163"/>
            <a:ext cx="1674162"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Cloning reagents</a:t>
            </a:r>
          </a:p>
        </p:txBody>
      </p:sp>
      <p:sp>
        <p:nvSpPr>
          <p:cNvPr id="21" name="Figure 15 label 16 line 1">
            <a:extLst xmlns:a="http://schemas.openxmlformats.org/drawingml/2006/main">
              <a:ext uri="{FF2B5EF4-FFF2-40B4-BE49-F238E27FC236}">
                <a16:creationId xmlns:a16="http://schemas.microsoft.com/office/drawing/2014/main" id="{F94B0F9A-B33D-4360-ACED-45C6EDD3EA89}"/>
              </a:ext>
            </a:extLst>
          </p:cNvPr>
          <p:cNvSpPr>
            <a:spLocks xmlns:a="http://schemas.openxmlformats.org/drawingml/2006/main" noGrp="1"/>
          </p:cNvSpPr>
          <p:nvPr/>
        </p:nvSpPr>
        <p:spPr>
          <a:xfrm xmlns:a="http://schemas.openxmlformats.org/drawingml/2006/main" rot="0">
            <a:off x="924611" y="5745937"/>
            <a:ext cx="989874"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INSTRUMENTS</a:t>
            </a:r>
          </a:p>
        </p:txBody>
      </p:sp>
      <p:sp>
        <p:nvSpPr>
          <p:cNvPr id="22" name="Figure 15 label 17 line 1">
            <a:extLst xmlns:a="http://schemas.openxmlformats.org/drawingml/2006/main">
              <a:ext uri="{FF2B5EF4-FFF2-40B4-BE49-F238E27FC236}">
                <a16:creationId xmlns:a16="http://schemas.microsoft.com/office/drawing/2014/main" id="{9764CEBE-B6EE-47E3-9A70-C5D5C7BA7314}"/>
              </a:ext>
            </a:extLst>
          </p:cNvPr>
          <p:cNvSpPr>
            <a:spLocks xmlns:a="http://schemas.openxmlformats.org/drawingml/2006/main" noGrp="1"/>
          </p:cNvSpPr>
          <p:nvPr/>
        </p:nvSpPr>
        <p:spPr>
          <a:xfrm xmlns:a="http://schemas.openxmlformats.org/drawingml/2006/main" rot="0">
            <a:off x="923696" y="5958688"/>
            <a:ext cx="1889218"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Thermocycler</a:t>
            </a:r>
          </a:p>
        </p:txBody>
      </p:sp>
      <p:sp>
        <p:nvSpPr>
          <p:cNvPr id="23" name="Figure 15 label 17 line 2">
            <a:extLst xmlns:a="http://schemas.openxmlformats.org/drawingml/2006/main">
              <a:ext uri="{FF2B5EF4-FFF2-40B4-BE49-F238E27FC236}">
                <a16:creationId xmlns:a16="http://schemas.microsoft.com/office/drawing/2014/main" id="{9995CC5D-B3A8-442F-84DE-8638069201E9}"/>
              </a:ext>
            </a:extLst>
          </p:cNvPr>
          <p:cNvSpPr>
            <a:spLocks xmlns:a="http://schemas.openxmlformats.org/drawingml/2006/main" noGrp="1"/>
          </p:cNvSpPr>
          <p:nvPr/>
        </p:nvSpPr>
        <p:spPr>
          <a:xfrm xmlns:a="http://schemas.openxmlformats.org/drawingml/2006/main" rot="0">
            <a:off x="923696" y="6144425"/>
            <a:ext cx="1889218"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Spectrophotometer</a:t>
            </a:r>
          </a:p>
        </p:txBody>
      </p:sp>
      <p:sp>
        <p:nvSpPr>
          <p:cNvPr id="24" name="Figure 15 label 17 line 3">
            <a:extLst xmlns:a="http://schemas.openxmlformats.org/drawingml/2006/main">
              <a:ext uri="{FF2B5EF4-FFF2-40B4-BE49-F238E27FC236}">
                <a16:creationId xmlns:a16="http://schemas.microsoft.com/office/drawing/2014/main" id="{822E63EA-30C2-49F6-ACF0-45BA152654B3}"/>
              </a:ext>
            </a:extLst>
          </p:cNvPr>
          <p:cNvSpPr>
            <a:spLocks xmlns:a="http://schemas.openxmlformats.org/drawingml/2006/main" noGrp="1"/>
          </p:cNvSpPr>
          <p:nvPr/>
        </p:nvSpPr>
        <p:spPr>
          <a:xfrm xmlns:a="http://schemas.openxmlformats.org/drawingml/2006/main" rot="0">
            <a:off x="923696" y="6330163"/>
            <a:ext cx="1889218"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Liquid handling workstation</a:t>
            </a:r>
          </a:p>
        </p:txBody>
      </p:sp>
      <p:sp>
        <p:nvSpPr>
          <p:cNvPr id="25" name="Figure 15 label 18 line 1">
            <a:extLst xmlns:a="http://schemas.openxmlformats.org/drawingml/2006/main">
              <a:ext uri="{FF2B5EF4-FFF2-40B4-BE49-F238E27FC236}">
                <a16:creationId xmlns:a16="http://schemas.microsoft.com/office/drawing/2014/main" id="{4447B950-D10A-45A4-A9D4-C477C9D582F2}"/>
              </a:ext>
            </a:extLst>
          </p:cNvPr>
          <p:cNvSpPr>
            <a:spLocks xmlns:a="http://schemas.openxmlformats.org/drawingml/2006/main" noGrp="1"/>
          </p:cNvSpPr>
          <p:nvPr/>
        </p:nvSpPr>
        <p:spPr>
          <a:xfrm xmlns:a="http://schemas.openxmlformats.org/drawingml/2006/main" rot="0">
            <a:off x="924611" y="6507937"/>
            <a:ext cx="1066669"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CONSUMABLES</a:t>
            </a:r>
          </a:p>
        </p:txBody>
      </p:sp>
      <p:sp>
        <p:nvSpPr>
          <p:cNvPr id="26" name="Figure 15 label 19 line 1">
            <a:extLst xmlns:a="http://schemas.openxmlformats.org/drawingml/2006/main">
              <a:ext uri="{FF2B5EF4-FFF2-40B4-BE49-F238E27FC236}">
                <a16:creationId xmlns:a16="http://schemas.microsoft.com/office/drawing/2014/main" id="{1B99C5BA-C019-4335-B6DF-A6A9E6C4C027}"/>
              </a:ext>
            </a:extLst>
          </p:cNvPr>
          <p:cNvSpPr>
            <a:spLocks xmlns:a="http://schemas.openxmlformats.org/drawingml/2006/main" noGrp="1"/>
          </p:cNvSpPr>
          <p:nvPr/>
        </p:nvSpPr>
        <p:spPr>
          <a:xfrm xmlns:a="http://schemas.openxmlformats.org/drawingml/2006/main" rot="0">
            <a:off x="923696" y="6720688"/>
            <a:ext cx="1608082"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PCR / deep-well plates</a:t>
            </a:r>
          </a:p>
        </p:txBody>
      </p:sp>
      <p:sp>
        <p:nvSpPr>
          <p:cNvPr id="27" name="Figure 15 label 19 line 2">
            <a:extLst xmlns:a="http://schemas.openxmlformats.org/drawingml/2006/main">
              <a:ext uri="{FF2B5EF4-FFF2-40B4-BE49-F238E27FC236}">
                <a16:creationId xmlns:a16="http://schemas.microsoft.com/office/drawing/2014/main" id="{CA5D4525-BF63-4C6C-917F-B340A687A6DE}"/>
              </a:ext>
            </a:extLst>
          </p:cNvPr>
          <p:cNvSpPr>
            <a:spLocks xmlns:a="http://schemas.openxmlformats.org/drawingml/2006/main" noGrp="1"/>
          </p:cNvSpPr>
          <p:nvPr/>
        </p:nvSpPr>
        <p:spPr>
          <a:xfrm xmlns:a="http://schemas.openxmlformats.org/drawingml/2006/main" rot="0">
            <a:off x="923696" y="6906425"/>
            <a:ext cx="1608082"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Tubes, pipette tips</a:t>
            </a:r>
          </a:p>
        </p:txBody>
      </p:sp>
      <p:sp>
        <p:nvSpPr>
          <p:cNvPr id="28" name="Figure 15 label 20 line 1">
            <a:extLst xmlns:a="http://schemas.openxmlformats.org/drawingml/2006/main">
              <a:ext uri="{FF2B5EF4-FFF2-40B4-BE49-F238E27FC236}">
                <a16:creationId xmlns:a16="http://schemas.microsoft.com/office/drawing/2014/main" id="{533C38A4-A5EE-456E-8A4C-7C1B76F11B3A}"/>
              </a:ext>
            </a:extLst>
          </p:cNvPr>
          <p:cNvSpPr>
            <a:spLocks xmlns:a="http://schemas.openxmlformats.org/drawingml/2006/main" noGrp="1"/>
          </p:cNvSpPr>
          <p:nvPr/>
        </p:nvSpPr>
        <p:spPr>
          <a:xfrm xmlns:a="http://schemas.openxmlformats.org/drawingml/2006/main" rot="0">
            <a:off x="924916" y="7455561"/>
            <a:ext cx="1831306" cy="147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30" b="1">
                <a:solidFill>
                  <a:srgbClr val="00355F"/>
                </a:solidFill>
                <a:latin typeface="Arial"/>
                <a:ea typeface="Arial"/>
                <a:cs typeface="Arial"/>
              </a:defRPr>
            </a:defPPr>
          </a:lstStyle>
          <a:p xmlns:a="http://schemas.openxmlformats.org/drawingml/2006/main">
            <a:pPr algn="l">
              <a:lnSpc>
                <a:spcPct val="100000"/>
              </a:lnSpc>
              <a:buNone/>
              <a:defRPr sz="930" b="1">
                <a:solidFill>
                  <a:srgbClr val="00355F"/>
                </a:solidFill>
                <a:latin typeface="Arial"/>
                <a:ea typeface="Arial"/>
                <a:cs typeface="Arial"/>
              </a:defRPr>
            </a:pPr>
            <a:r>
              <a:rPr sz="930" b="1">
                <a:solidFill>
                  <a:srgbClr val="00355F"/>
                </a:solidFill>
                <a:latin typeface="Arial"/>
                <a:ea typeface="Arial"/>
                <a:cs typeface="Arial"/>
              </a:rPr>
              <a:t>REPRESENTATIVE SUPPLIERS</a:t>
            </a:r>
          </a:p>
        </p:txBody>
      </p:sp>
      <p:sp>
        <p:nvSpPr>
          <p:cNvPr id="29" name="Figure 15 label 21 line 1">
            <a:extLst xmlns:a="http://schemas.openxmlformats.org/drawingml/2006/main">
              <a:ext uri="{FF2B5EF4-FFF2-40B4-BE49-F238E27FC236}">
                <a16:creationId xmlns:a16="http://schemas.microsoft.com/office/drawing/2014/main" id="{CA311957-D7E6-4102-B48B-26CCE7EBF562}"/>
              </a:ext>
            </a:extLst>
          </p:cNvPr>
          <p:cNvSpPr>
            <a:spLocks xmlns:a="http://schemas.openxmlformats.org/drawingml/2006/main" noGrp="1"/>
          </p:cNvSpPr>
          <p:nvPr/>
        </p:nvSpPr>
        <p:spPr>
          <a:xfrm xmlns:a="http://schemas.openxmlformats.org/drawingml/2006/main" rot="0">
            <a:off x="924458" y="8122006"/>
            <a:ext cx="1096976"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Tsingke · Vazyme</a:t>
            </a:r>
          </a:p>
        </p:txBody>
      </p:sp>
      <p:sp>
        <p:nvSpPr>
          <p:cNvPr id="30" name="Figure 15 label 21 line 2">
            <a:extLst xmlns:a="http://schemas.openxmlformats.org/drawingml/2006/main">
              <a:ext uri="{FF2B5EF4-FFF2-40B4-BE49-F238E27FC236}">
                <a16:creationId xmlns:a16="http://schemas.microsoft.com/office/drawing/2014/main" id="{BAAF0558-E5AB-40C7-9998-3B7EC6E6E248}"/>
              </a:ext>
            </a:extLst>
          </p:cNvPr>
          <p:cNvSpPr>
            <a:spLocks xmlns:a="http://schemas.openxmlformats.org/drawingml/2006/main" noGrp="1"/>
          </p:cNvSpPr>
          <p:nvPr/>
        </p:nvSpPr>
        <p:spPr>
          <a:xfrm xmlns:a="http://schemas.openxmlformats.org/drawingml/2006/main" rot="0">
            <a:off x="924458" y="8283931"/>
            <a:ext cx="1096976"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Thermo Fisher</a:t>
            </a:r>
          </a:p>
        </p:txBody>
      </p:sp>
      <p:sp>
        <p:nvSpPr>
          <p:cNvPr id="31" name="Figure 15 label 22 line 1">
            <a:extLst xmlns:a="http://schemas.openxmlformats.org/drawingml/2006/main">
              <a:ext uri="{FF2B5EF4-FFF2-40B4-BE49-F238E27FC236}">
                <a16:creationId xmlns:a16="http://schemas.microsoft.com/office/drawing/2014/main" id="{52F8AB72-4080-446B-92C2-C7E4018863FE}"/>
              </a:ext>
            </a:extLst>
          </p:cNvPr>
          <p:cNvSpPr>
            <a:spLocks xmlns:a="http://schemas.openxmlformats.org/drawingml/2006/main" noGrp="1"/>
          </p:cNvSpPr>
          <p:nvPr/>
        </p:nvSpPr>
        <p:spPr>
          <a:xfrm xmlns:a="http://schemas.openxmlformats.org/drawingml/2006/main" rot="0">
            <a:off x="3864864" y="2726436"/>
            <a:ext cx="861209"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02  /  BUILD</a:t>
            </a:r>
          </a:p>
        </p:txBody>
      </p:sp>
      <p:sp>
        <p:nvSpPr>
          <p:cNvPr id="32" name="Figure 15 label 23 line 1">
            <a:extLst xmlns:a="http://schemas.openxmlformats.org/drawingml/2006/main">
              <a:ext uri="{FF2B5EF4-FFF2-40B4-BE49-F238E27FC236}">
                <a16:creationId xmlns:a16="http://schemas.microsoft.com/office/drawing/2014/main" id="{D106D987-A8A8-49DA-815E-8B9AB9A45FF6}"/>
              </a:ext>
            </a:extLst>
          </p:cNvPr>
          <p:cNvSpPr>
            <a:spLocks xmlns:a="http://schemas.openxmlformats.org/drawingml/2006/main" noGrp="1"/>
          </p:cNvSpPr>
          <p:nvPr/>
        </p:nvSpPr>
        <p:spPr>
          <a:xfrm xmlns:a="http://schemas.openxmlformats.org/drawingml/2006/main" rot="0">
            <a:off x="3861511" y="3100121"/>
            <a:ext cx="2280297"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Protein expression</a:t>
            </a:r>
          </a:p>
        </p:txBody>
      </p:sp>
      <p:sp>
        <p:nvSpPr>
          <p:cNvPr id="33" name="Figure 15 label 23 line 2">
            <a:extLst xmlns:a="http://schemas.openxmlformats.org/drawingml/2006/main">
              <a:ext uri="{FF2B5EF4-FFF2-40B4-BE49-F238E27FC236}">
                <a16:creationId xmlns:a16="http://schemas.microsoft.com/office/drawing/2014/main" id="{422370E2-F177-481C-B801-2E5961161CCC}"/>
              </a:ext>
            </a:extLst>
          </p:cNvPr>
          <p:cNvSpPr>
            <a:spLocks xmlns:a="http://schemas.openxmlformats.org/drawingml/2006/main" noGrp="1"/>
          </p:cNvSpPr>
          <p:nvPr/>
        </p:nvSpPr>
        <p:spPr>
          <a:xfrm xmlns:a="http://schemas.openxmlformats.org/drawingml/2006/main" rot="0">
            <a:off x="3861511" y="3395396"/>
            <a:ext cx="2280297"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&amp; purification</a:t>
            </a:r>
          </a:p>
        </p:txBody>
      </p:sp>
      <p:sp>
        <p:nvSpPr>
          <p:cNvPr id="34" name="Figure 15 label 24 line 1">
            <a:extLst xmlns:a="http://schemas.openxmlformats.org/drawingml/2006/main">
              <a:ext uri="{FF2B5EF4-FFF2-40B4-BE49-F238E27FC236}">
                <a16:creationId xmlns:a16="http://schemas.microsoft.com/office/drawing/2014/main" id="{799C9529-8CA3-45DB-8C18-576622F4B55E}"/>
              </a:ext>
            </a:extLst>
          </p:cNvPr>
          <p:cNvSpPr>
            <a:spLocks xmlns:a="http://schemas.openxmlformats.org/drawingml/2006/main" noGrp="1"/>
          </p:cNvSpPr>
          <p:nvPr/>
        </p:nvSpPr>
        <p:spPr>
          <a:xfrm xmlns:a="http://schemas.openxmlformats.org/drawingml/2006/main" rot="0">
            <a:off x="3864559" y="3813353"/>
            <a:ext cx="221261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Produce candidate antibodies</a:t>
            </a:r>
          </a:p>
        </p:txBody>
      </p:sp>
      <p:sp>
        <p:nvSpPr>
          <p:cNvPr id="35" name="Figure 15 label 24 line 2">
            <a:extLst xmlns:a="http://schemas.openxmlformats.org/drawingml/2006/main">
              <a:ext uri="{FF2B5EF4-FFF2-40B4-BE49-F238E27FC236}">
                <a16:creationId xmlns:a16="http://schemas.microsoft.com/office/drawing/2014/main" id="{FBE033E6-EC81-4706-A465-BB9BEA5C23E7}"/>
              </a:ext>
            </a:extLst>
          </p:cNvPr>
          <p:cNvSpPr>
            <a:spLocks xmlns:a="http://schemas.openxmlformats.org/drawingml/2006/main" noGrp="1"/>
          </p:cNvSpPr>
          <p:nvPr/>
        </p:nvSpPr>
        <p:spPr>
          <a:xfrm xmlns:a="http://schemas.openxmlformats.org/drawingml/2006/main" rot="0">
            <a:off x="3864559" y="4013378"/>
            <a:ext cx="221261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and target-protein samples</a:t>
            </a:r>
          </a:p>
        </p:txBody>
      </p:sp>
      <p:sp>
        <p:nvSpPr>
          <p:cNvPr id="36" name="Figure 15 label 25 line 1">
            <a:extLst xmlns:a="http://schemas.openxmlformats.org/drawingml/2006/main">
              <a:ext uri="{FF2B5EF4-FFF2-40B4-BE49-F238E27FC236}">
                <a16:creationId xmlns:a16="http://schemas.microsoft.com/office/drawing/2014/main" id="{00E45B56-F85F-4E3C-9790-C23BB08CA505}"/>
              </a:ext>
            </a:extLst>
          </p:cNvPr>
          <p:cNvSpPr>
            <a:spLocks xmlns:a="http://schemas.openxmlformats.org/drawingml/2006/main" noGrp="1"/>
          </p:cNvSpPr>
          <p:nvPr/>
        </p:nvSpPr>
        <p:spPr>
          <a:xfrm xmlns:a="http://schemas.openxmlformats.org/drawingml/2006/main" rot="0">
            <a:off x="3912260" y="4448404"/>
            <a:ext cx="526042"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OUTPUT</a:t>
            </a:r>
          </a:p>
        </p:txBody>
      </p:sp>
      <p:sp>
        <p:nvSpPr>
          <p:cNvPr id="37" name="Figure 15 label 26 line 1">
            <a:extLst xmlns:a="http://schemas.openxmlformats.org/drawingml/2006/main">
              <a:ext uri="{FF2B5EF4-FFF2-40B4-BE49-F238E27FC236}">
                <a16:creationId xmlns:a16="http://schemas.microsoft.com/office/drawing/2014/main" id="{7F21BA51-1601-4E92-A1D2-78CAB8EDC888}"/>
              </a:ext>
            </a:extLst>
          </p:cNvPr>
          <p:cNvSpPr>
            <a:spLocks xmlns:a="http://schemas.openxmlformats.org/drawingml/2006/main" noGrp="1"/>
          </p:cNvSpPr>
          <p:nvPr/>
        </p:nvSpPr>
        <p:spPr>
          <a:xfrm xmlns:a="http://schemas.openxmlformats.org/drawingml/2006/main" rot="0">
            <a:off x="3910584" y="4661916"/>
            <a:ext cx="1839754"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Purified samples + yield</a:t>
            </a:r>
          </a:p>
        </p:txBody>
      </p:sp>
      <p:sp>
        <p:nvSpPr>
          <p:cNvPr id="38" name="Figure 15 label 27 line 1">
            <a:extLst xmlns:a="http://schemas.openxmlformats.org/drawingml/2006/main">
              <a:ext uri="{FF2B5EF4-FFF2-40B4-BE49-F238E27FC236}">
                <a16:creationId xmlns:a16="http://schemas.microsoft.com/office/drawing/2014/main" id="{645D1BEF-7E33-4F98-B537-7D90BE465396}"/>
              </a:ext>
            </a:extLst>
          </p:cNvPr>
          <p:cNvSpPr>
            <a:spLocks xmlns:a="http://schemas.openxmlformats.org/drawingml/2006/main" noGrp="1"/>
          </p:cNvSpPr>
          <p:nvPr/>
        </p:nvSpPr>
        <p:spPr>
          <a:xfrm xmlns:a="http://schemas.openxmlformats.org/drawingml/2006/main" rot="0">
            <a:off x="3865931" y="4983937"/>
            <a:ext cx="780324"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REAGENTS</a:t>
            </a:r>
          </a:p>
        </p:txBody>
      </p:sp>
      <p:sp>
        <p:nvSpPr>
          <p:cNvPr id="39" name="Figure 15 label 28 line 1">
            <a:extLst xmlns:a="http://schemas.openxmlformats.org/drawingml/2006/main">
              <a:ext uri="{FF2B5EF4-FFF2-40B4-BE49-F238E27FC236}">
                <a16:creationId xmlns:a16="http://schemas.microsoft.com/office/drawing/2014/main" id="{E75BFD7A-CC3A-47F4-AF2D-F404E7772179}"/>
              </a:ext>
            </a:extLst>
          </p:cNvPr>
          <p:cNvSpPr>
            <a:spLocks xmlns:a="http://schemas.openxmlformats.org/drawingml/2006/main" noGrp="1"/>
          </p:cNvSpPr>
          <p:nvPr/>
        </p:nvSpPr>
        <p:spPr>
          <a:xfrm xmlns:a="http://schemas.openxmlformats.org/drawingml/2006/main" rot="0">
            <a:off x="3865016" y="5196688"/>
            <a:ext cx="1764947"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Cells, media, transfection</a:t>
            </a:r>
          </a:p>
        </p:txBody>
      </p:sp>
      <p:sp>
        <p:nvSpPr>
          <p:cNvPr id="40" name="Figure 15 label 28 line 2">
            <a:extLst xmlns:a="http://schemas.openxmlformats.org/drawingml/2006/main">
              <a:ext uri="{FF2B5EF4-FFF2-40B4-BE49-F238E27FC236}">
                <a16:creationId xmlns:a16="http://schemas.microsoft.com/office/drawing/2014/main" id="{C29C9C8D-A762-4A01-B6EB-4E6DC33527E2}"/>
              </a:ext>
            </a:extLst>
          </p:cNvPr>
          <p:cNvSpPr>
            <a:spLocks xmlns:a="http://schemas.openxmlformats.org/drawingml/2006/main" noGrp="1"/>
          </p:cNvSpPr>
          <p:nvPr/>
        </p:nvSpPr>
        <p:spPr>
          <a:xfrm xmlns:a="http://schemas.openxmlformats.org/drawingml/2006/main" rot="0">
            <a:off x="3865016" y="5382425"/>
            <a:ext cx="1764947"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Affinity resin, buffers</a:t>
            </a:r>
          </a:p>
        </p:txBody>
      </p:sp>
      <p:sp>
        <p:nvSpPr>
          <p:cNvPr id="41" name="Figure 15 label 29 line 1">
            <a:extLst xmlns:a="http://schemas.openxmlformats.org/drawingml/2006/main">
              <a:ext uri="{FF2B5EF4-FFF2-40B4-BE49-F238E27FC236}">
                <a16:creationId xmlns:a16="http://schemas.microsoft.com/office/drawing/2014/main" id="{1A564A1D-1F6C-480A-BE79-4CA03BBB3A2D}"/>
              </a:ext>
            </a:extLst>
          </p:cNvPr>
          <p:cNvSpPr>
            <a:spLocks xmlns:a="http://schemas.openxmlformats.org/drawingml/2006/main" noGrp="1"/>
          </p:cNvSpPr>
          <p:nvPr/>
        </p:nvSpPr>
        <p:spPr>
          <a:xfrm xmlns:a="http://schemas.openxmlformats.org/drawingml/2006/main" rot="0">
            <a:off x="3865931" y="5745937"/>
            <a:ext cx="989874"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INSTRUMENTS</a:t>
            </a:r>
          </a:p>
        </p:txBody>
      </p:sp>
      <p:sp>
        <p:nvSpPr>
          <p:cNvPr id="42" name="Figure 15 label 30 line 1">
            <a:extLst xmlns:a="http://schemas.openxmlformats.org/drawingml/2006/main">
              <a:ext uri="{FF2B5EF4-FFF2-40B4-BE49-F238E27FC236}">
                <a16:creationId xmlns:a16="http://schemas.microsoft.com/office/drawing/2014/main" id="{61E15202-E80E-4DD9-BB79-3464B2829B72}"/>
              </a:ext>
            </a:extLst>
          </p:cNvPr>
          <p:cNvSpPr>
            <a:spLocks xmlns:a="http://schemas.openxmlformats.org/drawingml/2006/main" noGrp="1"/>
          </p:cNvSpPr>
          <p:nvPr/>
        </p:nvSpPr>
        <p:spPr>
          <a:xfrm xmlns:a="http://schemas.openxmlformats.org/drawingml/2006/main" rot="0">
            <a:off x="3865016" y="5958688"/>
            <a:ext cx="1480983"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Shaker / bioreactor*</a:t>
            </a:r>
          </a:p>
        </p:txBody>
      </p:sp>
      <p:sp>
        <p:nvSpPr>
          <p:cNvPr id="43" name="Figure 15 label 30 line 2">
            <a:extLst xmlns:a="http://schemas.openxmlformats.org/drawingml/2006/main">
              <a:ext uri="{FF2B5EF4-FFF2-40B4-BE49-F238E27FC236}">
                <a16:creationId xmlns:a16="http://schemas.microsoft.com/office/drawing/2014/main" id="{76D4804B-7AD0-4FF1-91E8-231DF3E45913}"/>
              </a:ext>
            </a:extLst>
          </p:cNvPr>
          <p:cNvSpPr>
            <a:spLocks xmlns:a="http://schemas.openxmlformats.org/drawingml/2006/main" noGrp="1"/>
          </p:cNvSpPr>
          <p:nvPr/>
        </p:nvSpPr>
        <p:spPr>
          <a:xfrm xmlns:a="http://schemas.openxmlformats.org/drawingml/2006/main" rot="0">
            <a:off x="3865016" y="6144425"/>
            <a:ext cx="1480983"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ÄKTA / FPLC system</a:t>
            </a:r>
          </a:p>
        </p:txBody>
      </p:sp>
      <p:sp>
        <p:nvSpPr>
          <p:cNvPr id="44" name="Figure 15 label 30 line 3">
            <a:extLst xmlns:a="http://schemas.openxmlformats.org/drawingml/2006/main">
              <a:ext uri="{FF2B5EF4-FFF2-40B4-BE49-F238E27FC236}">
                <a16:creationId xmlns:a16="http://schemas.microsoft.com/office/drawing/2014/main" id="{3F19114E-BE68-4C0F-BC64-CF9B9D281F58}"/>
              </a:ext>
            </a:extLst>
          </p:cNvPr>
          <p:cNvSpPr>
            <a:spLocks xmlns:a="http://schemas.openxmlformats.org/drawingml/2006/main" noGrp="1"/>
          </p:cNvSpPr>
          <p:nvPr/>
        </p:nvSpPr>
        <p:spPr>
          <a:xfrm xmlns:a="http://schemas.openxmlformats.org/drawingml/2006/main" rot="0">
            <a:off x="3865016" y="6330163"/>
            <a:ext cx="1480983"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Centrifuge</a:t>
            </a:r>
          </a:p>
        </p:txBody>
      </p:sp>
      <p:sp>
        <p:nvSpPr>
          <p:cNvPr id="45" name="Figure 15 label 31 line 1">
            <a:extLst xmlns:a="http://schemas.openxmlformats.org/drawingml/2006/main">
              <a:ext uri="{FF2B5EF4-FFF2-40B4-BE49-F238E27FC236}">
                <a16:creationId xmlns:a16="http://schemas.microsoft.com/office/drawing/2014/main" id="{F3FFB423-E4BC-460F-B7C3-C3AAB073D981}"/>
              </a:ext>
            </a:extLst>
          </p:cNvPr>
          <p:cNvSpPr>
            <a:spLocks xmlns:a="http://schemas.openxmlformats.org/drawingml/2006/main" noGrp="1"/>
          </p:cNvSpPr>
          <p:nvPr/>
        </p:nvSpPr>
        <p:spPr>
          <a:xfrm xmlns:a="http://schemas.openxmlformats.org/drawingml/2006/main" rot="0">
            <a:off x="3865931" y="6507937"/>
            <a:ext cx="1066669"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CONSUMABLES</a:t>
            </a:r>
          </a:p>
        </p:txBody>
      </p:sp>
      <p:sp>
        <p:nvSpPr>
          <p:cNvPr id="46" name="Figure 15 label 32 line 1">
            <a:extLst xmlns:a="http://schemas.openxmlformats.org/drawingml/2006/main">
              <a:ext uri="{FF2B5EF4-FFF2-40B4-BE49-F238E27FC236}">
                <a16:creationId xmlns:a16="http://schemas.microsoft.com/office/drawing/2014/main" id="{79B01FE8-8A38-4518-8434-4D181A8BC0E2}"/>
              </a:ext>
            </a:extLst>
          </p:cNvPr>
          <p:cNvSpPr>
            <a:spLocks xmlns:a="http://schemas.openxmlformats.org/drawingml/2006/main" noGrp="1"/>
          </p:cNvSpPr>
          <p:nvPr/>
        </p:nvSpPr>
        <p:spPr>
          <a:xfrm xmlns:a="http://schemas.openxmlformats.org/drawingml/2006/main" rot="0">
            <a:off x="3865016" y="6720688"/>
            <a:ext cx="156655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Flasks / culture bags*</a:t>
            </a:r>
          </a:p>
        </p:txBody>
      </p:sp>
      <p:sp>
        <p:nvSpPr>
          <p:cNvPr id="47" name="Figure 15 label 32 line 2">
            <a:extLst xmlns:a="http://schemas.openxmlformats.org/drawingml/2006/main">
              <a:ext uri="{FF2B5EF4-FFF2-40B4-BE49-F238E27FC236}">
                <a16:creationId xmlns:a16="http://schemas.microsoft.com/office/drawing/2014/main" id="{B573FC8E-0A54-4A57-BA49-CA2BE5D50CBF}"/>
              </a:ext>
            </a:extLst>
          </p:cNvPr>
          <p:cNvSpPr>
            <a:spLocks xmlns:a="http://schemas.openxmlformats.org/drawingml/2006/main" noGrp="1"/>
          </p:cNvSpPr>
          <p:nvPr/>
        </p:nvSpPr>
        <p:spPr>
          <a:xfrm xmlns:a="http://schemas.openxmlformats.org/drawingml/2006/main" rot="0">
            <a:off x="3865016" y="6906425"/>
            <a:ext cx="156655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Columns, filters, tubes</a:t>
            </a:r>
          </a:p>
        </p:txBody>
      </p:sp>
      <p:sp>
        <p:nvSpPr>
          <p:cNvPr id="48" name="Figure 15 label 33 line 1">
            <a:extLst xmlns:a="http://schemas.openxmlformats.org/drawingml/2006/main">
              <a:ext uri="{FF2B5EF4-FFF2-40B4-BE49-F238E27FC236}">
                <a16:creationId xmlns:a16="http://schemas.microsoft.com/office/drawing/2014/main" id="{206C5BB9-1B89-45AE-9035-BDD1E7D5C463}"/>
              </a:ext>
            </a:extLst>
          </p:cNvPr>
          <p:cNvSpPr>
            <a:spLocks xmlns:a="http://schemas.openxmlformats.org/drawingml/2006/main" noGrp="1"/>
          </p:cNvSpPr>
          <p:nvPr/>
        </p:nvSpPr>
        <p:spPr>
          <a:xfrm xmlns:a="http://schemas.openxmlformats.org/drawingml/2006/main" rot="0">
            <a:off x="3866236" y="7455561"/>
            <a:ext cx="1831306" cy="147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30" b="1">
                <a:solidFill>
                  <a:srgbClr val="00355F"/>
                </a:solidFill>
                <a:latin typeface="Arial"/>
                <a:ea typeface="Arial"/>
                <a:cs typeface="Arial"/>
              </a:defRPr>
            </a:defPPr>
          </a:lstStyle>
          <a:p xmlns:a="http://schemas.openxmlformats.org/drawingml/2006/main">
            <a:pPr algn="l">
              <a:lnSpc>
                <a:spcPct val="100000"/>
              </a:lnSpc>
              <a:buNone/>
              <a:defRPr sz="930" b="1">
                <a:solidFill>
                  <a:srgbClr val="00355F"/>
                </a:solidFill>
                <a:latin typeface="Arial"/>
                <a:ea typeface="Arial"/>
                <a:cs typeface="Arial"/>
              </a:defRPr>
            </a:pPr>
            <a:r>
              <a:rPr sz="930" b="1">
                <a:solidFill>
                  <a:srgbClr val="00355F"/>
                </a:solidFill>
                <a:latin typeface="Arial"/>
                <a:ea typeface="Arial"/>
                <a:cs typeface="Arial"/>
              </a:rPr>
              <a:t>REPRESENTATIVE SUPPLIERS</a:t>
            </a:r>
          </a:p>
        </p:txBody>
      </p:sp>
      <p:sp>
        <p:nvSpPr>
          <p:cNvPr id="49" name="Figure 15 label 34 line 1">
            <a:extLst xmlns:a="http://schemas.openxmlformats.org/drawingml/2006/main">
              <a:ext uri="{FF2B5EF4-FFF2-40B4-BE49-F238E27FC236}">
                <a16:creationId xmlns:a16="http://schemas.microsoft.com/office/drawing/2014/main" id="{E3218BC4-3180-42EC-B2A9-976314EC5133}"/>
              </a:ext>
            </a:extLst>
          </p:cNvPr>
          <p:cNvSpPr>
            <a:spLocks xmlns:a="http://schemas.openxmlformats.org/drawingml/2006/main" noGrp="1"/>
          </p:cNvSpPr>
          <p:nvPr/>
        </p:nvSpPr>
        <p:spPr>
          <a:xfrm xmlns:a="http://schemas.openxmlformats.org/drawingml/2006/main" rot="0">
            <a:off x="3865778" y="8122006"/>
            <a:ext cx="180465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GenScript · ACROBiosystems</a:t>
            </a:r>
          </a:p>
        </p:txBody>
      </p:sp>
      <p:sp>
        <p:nvSpPr>
          <p:cNvPr id="50" name="Figure 15 label 34 line 2">
            <a:extLst xmlns:a="http://schemas.openxmlformats.org/drawingml/2006/main">
              <a:ext uri="{FF2B5EF4-FFF2-40B4-BE49-F238E27FC236}">
                <a16:creationId xmlns:a16="http://schemas.microsoft.com/office/drawing/2014/main" id="{D568E7BC-0077-4375-B6C3-05133D23C2D0}"/>
              </a:ext>
            </a:extLst>
          </p:cNvPr>
          <p:cNvSpPr>
            <a:spLocks xmlns:a="http://schemas.openxmlformats.org/drawingml/2006/main" noGrp="1"/>
          </p:cNvSpPr>
          <p:nvPr/>
        </p:nvSpPr>
        <p:spPr>
          <a:xfrm xmlns:a="http://schemas.openxmlformats.org/drawingml/2006/main" rot="0">
            <a:off x="3865778" y="8283931"/>
            <a:ext cx="180465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Sino Biological · Gibco</a:t>
            </a:r>
          </a:p>
        </p:txBody>
      </p:sp>
      <p:sp>
        <p:nvSpPr>
          <p:cNvPr id="51" name="Figure 15 label 34 line 3">
            <a:extLst xmlns:a="http://schemas.openxmlformats.org/drawingml/2006/main">
              <a:ext uri="{FF2B5EF4-FFF2-40B4-BE49-F238E27FC236}">
                <a16:creationId xmlns:a16="http://schemas.microsoft.com/office/drawing/2014/main" id="{8B6A17C4-A1DF-40B2-B4BA-A9759DB8ED3A}"/>
              </a:ext>
            </a:extLst>
          </p:cNvPr>
          <p:cNvSpPr>
            <a:spLocks xmlns:a="http://schemas.openxmlformats.org/drawingml/2006/main" noGrp="1"/>
          </p:cNvSpPr>
          <p:nvPr/>
        </p:nvSpPr>
        <p:spPr>
          <a:xfrm xmlns:a="http://schemas.openxmlformats.org/drawingml/2006/main" rot="0">
            <a:off x="3865778" y="8445856"/>
            <a:ext cx="180465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OPM · Duoning</a:t>
            </a:r>
          </a:p>
        </p:txBody>
      </p:sp>
      <p:sp>
        <p:nvSpPr>
          <p:cNvPr id="52" name="Figure 15 label 35 line 1">
            <a:extLst xmlns:a="http://schemas.openxmlformats.org/drawingml/2006/main">
              <a:ext uri="{FF2B5EF4-FFF2-40B4-BE49-F238E27FC236}">
                <a16:creationId xmlns:a16="http://schemas.microsoft.com/office/drawing/2014/main" id="{627CD0BD-4F33-47D0-B4A1-5021599F4038}"/>
              </a:ext>
            </a:extLst>
          </p:cNvPr>
          <p:cNvSpPr>
            <a:spLocks xmlns:a="http://schemas.openxmlformats.org/drawingml/2006/main" noGrp="1"/>
          </p:cNvSpPr>
          <p:nvPr/>
        </p:nvSpPr>
        <p:spPr>
          <a:xfrm xmlns:a="http://schemas.openxmlformats.org/drawingml/2006/main" rot="0">
            <a:off x="6806184" y="2726436"/>
            <a:ext cx="78515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03  /  TEST</a:t>
            </a:r>
          </a:p>
        </p:txBody>
      </p:sp>
      <p:sp>
        <p:nvSpPr>
          <p:cNvPr id="53" name="Figure 15 label 36 line 1">
            <a:extLst xmlns:a="http://schemas.openxmlformats.org/drawingml/2006/main">
              <a:ext uri="{FF2B5EF4-FFF2-40B4-BE49-F238E27FC236}">
                <a16:creationId xmlns:a16="http://schemas.microsoft.com/office/drawing/2014/main" id="{4D5FA3A2-5B2D-4B93-AC01-D492BEA4F061}"/>
              </a:ext>
            </a:extLst>
          </p:cNvPr>
          <p:cNvSpPr>
            <a:spLocks xmlns:a="http://schemas.openxmlformats.org/drawingml/2006/main" noGrp="1"/>
          </p:cNvSpPr>
          <p:nvPr/>
        </p:nvSpPr>
        <p:spPr>
          <a:xfrm xmlns:a="http://schemas.openxmlformats.org/drawingml/2006/main" rot="0">
            <a:off x="6802831" y="3100121"/>
            <a:ext cx="195183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Primary binding</a:t>
            </a:r>
          </a:p>
        </p:txBody>
      </p:sp>
      <p:sp>
        <p:nvSpPr>
          <p:cNvPr id="54" name="Figure 15 label 36 line 2">
            <a:extLst xmlns:a="http://schemas.openxmlformats.org/drawingml/2006/main">
              <a:ext uri="{FF2B5EF4-FFF2-40B4-BE49-F238E27FC236}">
                <a16:creationId xmlns:a16="http://schemas.microsoft.com/office/drawing/2014/main" id="{CB37F941-31A7-44BD-A480-CADBCE73FB49}"/>
              </a:ext>
            </a:extLst>
          </p:cNvPr>
          <p:cNvSpPr>
            <a:spLocks xmlns:a="http://schemas.openxmlformats.org/drawingml/2006/main" noGrp="1"/>
          </p:cNvSpPr>
          <p:nvPr/>
        </p:nvSpPr>
        <p:spPr>
          <a:xfrm xmlns:a="http://schemas.openxmlformats.org/drawingml/2006/main" rot="0">
            <a:off x="6802831" y="3395396"/>
            <a:ext cx="195183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screen</a:t>
            </a:r>
          </a:p>
        </p:txBody>
      </p:sp>
      <p:sp>
        <p:nvSpPr>
          <p:cNvPr id="55" name="Figure 15 label 37 line 1">
            <a:extLst xmlns:a="http://schemas.openxmlformats.org/drawingml/2006/main">
              <a:ext uri="{FF2B5EF4-FFF2-40B4-BE49-F238E27FC236}">
                <a16:creationId xmlns:a16="http://schemas.microsoft.com/office/drawing/2014/main" id="{D37B2256-2A9E-4A0D-89F5-C5ADB30FA1CF}"/>
              </a:ext>
            </a:extLst>
          </p:cNvPr>
          <p:cNvSpPr>
            <a:spLocks xmlns:a="http://schemas.openxmlformats.org/drawingml/2006/main" noGrp="1"/>
          </p:cNvSpPr>
          <p:nvPr/>
        </p:nvSpPr>
        <p:spPr>
          <a:xfrm xmlns:a="http://schemas.openxmlformats.org/drawingml/2006/main" rot="0">
            <a:off x="6805879" y="3813353"/>
            <a:ext cx="192760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Identify binders and</a:t>
            </a:r>
          </a:p>
        </p:txBody>
      </p:sp>
      <p:sp>
        <p:nvSpPr>
          <p:cNvPr id="56" name="Figure 15 label 37 line 2">
            <a:extLst xmlns:a="http://schemas.openxmlformats.org/drawingml/2006/main">
              <a:ext uri="{FF2B5EF4-FFF2-40B4-BE49-F238E27FC236}">
                <a16:creationId xmlns:a16="http://schemas.microsoft.com/office/drawing/2014/main" id="{EA16A0C7-CDDC-4356-9044-4FF2F1666344}"/>
              </a:ext>
            </a:extLst>
          </p:cNvPr>
          <p:cNvSpPr>
            <a:spLocks xmlns:a="http://schemas.openxmlformats.org/drawingml/2006/main" noGrp="1"/>
          </p:cNvSpPr>
          <p:nvPr/>
        </p:nvSpPr>
        <p:spPr>
          <a:xfrm xmlns:a="http://schemas.openxmlformats.org/drawingml/2006/main" rot="0">
            <a:off x="6805879" y="4013378"/>
            <a:ext cx="192760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rank initial binding signals</a:t>
            </a:r>
          </a:p>
        </p:txBody>
      </p:sp>
      <p:sp>
        <p:nvSpPr>
          <p:cNvPr id="57" name="Figure 15 label 38 line 1">
            <a:extLst xmlns:a="http://schemas.openxmlformats.org/drawingml/2006/main">
              <a:ext uri="{FF2B5EF4-FFF2-40B4-BE49-F238E27FC236}">
                <a16:creationId xmlns:a16="http://schemas.microsoft.com/office/drawing/2014/main" id="{C88528E4-3053-4A58-93D2-9CF245D9EB10}"/>
              </a:ext>
            </a:extLst>
          </p:cNvPr>
          <p:cNvSpPr>
            <a:spLocks xmlns:a="http://schemas.openxmlformats.org/drawingml/2006/main" noGrp="1"/>
          </p:cNvSpPr>
          <p:nvPr/>
        </p:nvSpPr>
        <p:spPr>
          <a:xfrm xmlns:a="http://schemas.openxmlformats.org/drawingml/2006/main" rot="0">
            <a:off x="6853580" y="4448404"/>
            <a:ext cx="526042"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OUTPUT</a:t>
            </a:r>
          </a:p>
        </p:txBody>
      </p:sp>
      <p:sp>
        <p:nvSpPr>
          <p:cNvPr id="58" name="Figure 15 label 39 line 1">
            <a:extLst xmlns:a="http://schemas.openxmlformats.org/drawingml/2006/main">
              <a:ext uri="{FF2B5EF4-FFF2-40B4-BE49-F238E27FC236}">
                <a16:creationId xmlns:a16="http://schemas.microsoft.com/office/drawing/2014/main" id="{90011E52-7BBB-4ED7-940F-70F196A9247D}"/>
              </a:ext>
            </a:extLst>
          </p:cNvPr>
          <p:cNvSpPr>
            <a:spLocks xmlns:a="http://schemas.openxmlformats.org/drawingml/2006/main" noGrp="1"/>
          </p:cNvSpPr>
          <p:nvPr/>
        </p:nvSpPr>
        <p:spPr>
          <a:xfrm xmlns:a="http://schemas.openxmlformats.org/drawingml/2006/main" rot="0">
            <a:off x="6851904" y="4661916"/>
            <a:ext cx="1462177"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Hit / binding signal</a:t>
            </a:r>
          </a:p>
        </p:txBody>
      </p:sp>
      <p:sp>
        <p:nvSpPr>
          <p:cNvPr id="59" name="Figure 15 label 40 line 1">
            <a:extLst xmlns:a="http://schemas.openxmlformats.org/drawingml/2006/main">
              <a:ext uri="{FF2B5EF4-FFF2-40B4-BE49-F238E27FC236}">
                <a16:creationId xmlns:a16="http://schemas.microsoft.com/office/drawing/2014/main" id="{B730F670-944A-46A9-A236-957E36C57E80}"/>
              </a:ext>
            </a:extLst>
          </p:cNvPr>
          <p:cNvSpPr>
            <a:spLocks xmlns:a="http://schemas.openxmlformats.org/drawingml/2006/main" noGrp="1"/>
          </p:cNvSpPr>
          <p:nvPr/>
        </p:nvSpPr>
        <p:spPr>
          <a:xfrm xmlns:a="http://schemas.openxmlformats.org/drawingml/2006/main" rot="0">
            <a:off x="6807251" y="4983937"/>
            <a:ext cx="780324"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REAGENTS</a:t>
            </a:r>
          </a:p>
        </p:txBody>
      </p:sp>
      <p:sp>
        <p:nvSpPr>
          <p:cNvPr id="60" name="Figure 15 label 41 line 1">
            <a:extLst xmlns:a="http://schemas.openxmlformats.org/drawingml/2006/main">
              <a:ext uri="{FF2B5EF4-FFF2-40B4-BE49-F238E27FC236}">
                <a16:creationId xmlns:a16="http://schemas.microsoft.com/office/drawing/2014/main" id="{AF1A77D6-A547-4E8A-8D7B-E4406F579D74}"/>
              </a:ext>
            </a:extLst>
          </p:cNvPr>
          <p:cNvSpPr>
            <a:spLocks xmlns:a="http://schemas.openxmlformats.org/drawingml/2006/main" noGrp="1"/>
          </p:cNvSpPr>
          <p:nvPr/>
        </p:nvSpPr>
        <p:spPr>
          <a:xfrm xmlns:a="http://schemas.openxmlformats.org/drawingml/2006/main" rot="0">
            <a:off x="6806336" y="5196688"/>
            <a:ext cx="1963335"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Recombinant target proteins</a:t>
            </a:r>
          </a:p>
        </p:txBody>
      </p:sp>
      <p:sp>
        <p:nvSpPr>
          <p:cNvPr id="61" name="Figure 15 label 41 line 2">
            <a:extLst xmlns:a="http://schemas.openxmlformats.org/drawingml/2006/main">
              <a:ext uri="{FF2B5EF4-FFF2-40B4-BE49-F238E27FC236}">
                <a16:creationId xmlns:a16="http://schemas.microsoft.com/office/drawing/2014/main" id="{E01953B8-833F-4644-8A2D-46EBF593D659}"/>
              </a:ext>
            </a:extLst>
          </p:cNvPr>
          <p:cNvSpPr>
            <a:spLocks xmlns:a="http://schemas.openxmlformats.org/drawingml/2006/main" noGrp="1"/>
          </p:cNvSpPr>
          <p:nvPr/>
        </p:nvSpPr>
        <p:spPr>
          <a:xfrm xmlns:a="http://schemas.openxmlformats.org/drawingml/2006/main" rot="0">
            <a:off x="6806336" y="5382425"/>
            <a:ext cx="1963335"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Antibody candidates</a:t>
            </a:r>
          </a:p>
        </p:txBody>
      </p:sp>
      <p:sp>
        <p:nvSpPr>
          <p:cNvPr id="62" name="Figure 15 label 41 line 3">
            <a:extLst xmlns:a="http://schemas.openxmlformats.org/drawingml/2006/main">
              <a:ext uri="{FF2B5EF4-FFF2-40B4-BE49-F238E27FC236}">
                <a16:creationId xmlns:a16="http://schemas.microsoft.com/office/drawing/2014/main" id="{1B58B53C-D85C-4DB9-B1A3-5845F30A6AE5}"/>
              </a:ext>
            </a:extLst>
          </p:cNvPr>
          <p:cNvSpPr>
            <a:spLocks xmlns:a="http://schemas.openxmlformats.org/drawingml/2006/main" noGrp="1"/>
          </p:cNvSpPr>
          <p:nvPr/>
        </p:nvSpPr>
        <p:spPr>
          <a:xfrm xmlns:a="http://schemas.openxmlformats.org/drawingml/2006/main" rot="0">
            <a:off x="6806336" y="5568163"/>
            <a:ext cx="1963335"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Detection reagents, buffers</a:t>
            </a:r>
          </a:p>
        </p:txBody>
      </p:sp>
      <p:sp>
        <p:nvSpPr>
          <p:cNvPr id="63" name="Figure 15 label 42 line 1">
            <a:extLst xmlns:a="http://schemas.openxmlformats.org/drawingml/2006/main">
              <a:ext uri="{FF2B5EF4-FFF2-40B4-BE49-F238E27FC236}">
                <a16:creationId xmlns:a16="http://schemas.microsoft.com/office/drawing/2014/main" id="{2CEB6798-3414-441D-9B4A-319651BC831C}"/>
              </a:ext>
            </a:extLst>
          </p:cNvPr>
          <p:cNvSpPr>
            <a:spLocks xmlns:a="http://schemas.openxmlformats.org/drawingml/2006/main" noGrp="1"/>
          </p:cNvSpPr>
          <p:nvPr/>
        </p:nvSpPr>
        <p:spPr>
          <a:xfrm xmlns:a="http://schemas.openxmlformats.org/drawingml/2006/main" rot="0">
            <a:off x="6807251" y="5745937"/>
            <a:ext cx="989874"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INSTRUMENTS</a:t>
            </a:r>
          </a:p>
        </p:txBody>
      </p:sp>
      <p:sp>
        <p:nvSpPr>
          <p:cNvPr id="64" name="Figure 15 label 43 line 1">
            <a:extLst xmlns:a="http://schemas.openxmlformats.org/drawingml/2006/main">
              <a:ext uri="{FF2B5EF4-FFF2-40B4-BE49-F238E27FC236}">
                <a16:creationId xmlns:a16="http://schemas.microsoft.com/office/drawing/2014/main" id="{FAB9C1E3-B8DB-4B75-ACD6-E6D67464E450}"/>
              </a:ext>
            </a:extLst>
          </p:cNvPr>
          <p:cNvSpPr>
            <a:spLocks xmlns:a="http://schemas.openxmlformats.org/drawingml/2006/main" noGrp="1"/>
          </p:cNvSpPr>
          <p:nvPr/>
        </p:nvSpPr>
        <p:spPr>
          <a:xfrm xmlns:a="http://schemas.openxmlformats.org/drawingml/2006/main" rot="0">
            <a:off x="6806336" y="5958688"/>
            <a:ext cx="1426512"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ELISA / plate reader</a:t>
            </a:r>
          </a:p>
        </p:txBody>
      </p:sp>
      <p:sp>
        <p:nvSpPr>
          <p:cNvPr id="65" name="Figure 15 label 43 line 2">
            <a:extLst xmlns:a="http://schemas.openxmlformats.org/drawingml/2006/main">
              <a:ext uri="{FF2B5EF4-FFF2-40B4-BE49-F238E27FC236}">
                <a16:creationId xmlns:a16="http://schemas.microsoft.com/office/drawing/2014/main" id="{7E6F002B-A1F1-4307-9AC2-13FF7F3C300F}"/>
              </a:ext>
            </a:extLst>
          </p:cNvPr>
          <p:cNvSpPr>
            <a:spLocks xmlns:a="http://schemas.openxmlformats.org/drawingml/2006/main" noGrp="1"/>
          </p:cNvSpPr>
          <p:nvPr/>
        </p:nvSpPr>
        <p:spPr>
          <a:xfrm xmlns:a="http://schemas.openxmlformats.org/drawingml/2006/main" rot="0">
            <a:off x="6806336" y="6144425"/>
            <a:ext cx="1426512"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BLI or SPR platform</a:t>
            </a:r>
          </a:p>
        </p:txBody>
      </p:sp>
      <p:sp>
        <p:nvSpPr>
          <p:cNvPr id="66" name="Figure 15 label 44 line 1">
            <a:extLst xmlns:a="http://schemas.openxmlformats.org/drawingml/2006/main">
              <a:ext uri="{FF2B5EF4-FFF2-40B4-BE49-F238E27FC236}">
                <a16:creationId xmlns:a16="http://schemas.microsoft.com/office/drawing/2014/main" id="{86186570-75A0-496F-8969-F38D5AD9165B}"/>
              </a:ext>
            </a:extLst>
          </p:cNvPr>
          <p:cNvSpPr>
            <a:spLocks xmlns:a="http://schemas.openxmlformats.org/drawingml/2006/main" noGrp="1"/>
          </p:cNvSpPr>
          <p:nvPr/>
        </p:nvSpPr>
        <p:spPr>
          <a:xfrm xmlns:a="http://schemas.openxmlformats.org/drawingml/2006/main" rot="0">
            <a:off x="6807251" y="6507937"/>
            <a:ext cx="1066669"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CONSUMABLES</a:t>
            </a:r>
          </a:p>
        </p:txBody>
      </p:sp>
      <p:sp>
        <p:nvSpPr>
          <p:cNvPr id="67" name="Figure 15 label 45 line 1">
            <a:extLst xmlns:a="http://schemas.openxmlformats.org/drawingml/2006/main">
              <a:ext uri="{FF2B5EF4-FFF2-40B4-BE49-F238E27FC236}">
                <a16:creationId xmlns:a16="http://schemas.microsoft.com/office/drawing/2014/main" id="{F0826B84-A065-49D9-8E1F-DD328D5E1112}"/>
              </a:ext>
            </a:extLst>
          </p:cNvPr>
          <p:cNvSpPr>
            <a:spLocks xmlns:a="http://schemas.openxmlformats.org/drawingml/2006/main" noGrp="1"/>
          </p:cNvSpPr>
          <p:nvPr/>
        </p:nvSpPr>
        <p:spPr>
          <a:xfrm xmlns:a="http://schemas.openxmlformats.org/drawingml/2006/main" rot="0">
            <a:off x="6806336" y="6720688"/>
            <a:ext cx="1905292"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96 / 384-well plates</a:t>
            </a:r>
          </a:p>
        </p:txBody>
      </p:sp>
      <p:sp>
        <p:nvSpPr>
          <p:cNvPr id="68" name="Figure 15 label 45 line 2">
            <a:extLst xmlns:a="http://schemas.openxmlformats.org/drawingml/2006/main">
              <a:ext uri="{FF2B5EF4-FFF2-40B4-BE49-F238E27FC236}">
                <a16:creationId xmlns:a16="http://schemas.microsoft.com/office/drawing/2014/main" id="{BD0E150E-576E-4479-B095-DD31F56FBC9B}"/>
              </a:ext>
            </a:extLst>
          </p:cNvPr>
          <p:cNvSpPr>
            <a:spLocks xmlns:a="http://schemas.openxmlformats.org/drawingml/2006/main" noGrp="1"/>
          </p:cNvSpPr>
          <p:nvPr/>
        </p:nvSpPr>
        <p:spPr>
          <a:xfrm xmlns:a="http://schemas.openxmlformats.org/drawingml/2006/main" rot="0">
            <a:off x="6806336" y="6906425"/>
            <a:ext cx="1905292"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BLI sensors / SPR chips</a:t>
            </a:r>
          </a:p>
        </p:txBody>
      </p:sp>
      <p:sp>
        <p:nvSpPr>
          <p:cNvPr id="69" name="Figure 15 label 45 line 3">
            <a:extLst xmlns:a="http://schemas.openxmlformats.org/drawingml/2006/main">
              <a:ext uri="{FF2B5EF4-FFF2-40B4-BE49-F238E27FC236}">
                <a16:creationId xmlns:a16="http://schemas.microsoft.com/office/drawing/2014/main" id="{39743AE0-B41B-47E7-85F7-BF1F101D55E6}"/>
              </a:ext>
            </a:extLst>
          </p:cNvPr>
          <p:cNvSpPr>
            <a:spLocks xmlns:a="http://schemas.openxmlformats.org/drawingml/2006/main" noGrp="1"/>
          </p:cNvSpPr>
          <p:nvPr/>
        </p:nvSpPr>
        <p:spPr>
          <a:xfrm xmlns:a="http://schemas.openxmlformats.org/drawingml/2006/main" rot="0">
            <a:off x="6806336" y="7092163"/>
            <a:ext cx="1905292"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Sealing films, sample tubes</a:t>
            </a:r>
          </a:p>
        </p:txBody>
      </p:sp>
      <p:sp>
        <p:nvSpPr>
          <p:cNvPr id="70" name="Figure 15 label 46 line 1">
            <a:extLst xmlns:a="http://schemas.openxmlformats.org/drawingml/2006/main">
              <a:ext uri="{FF2B5EF4-FFF2-40B4-BE49-F238E27FC236}">
                <a16:creationId xmlns:a16="http://schemas.microsoft.com/office/drawing/2014/main" id="{3C470B3C-1CB3-4A70-AD4A-0D06F846E679}"/>
              </a:ext>
            </a:extLst>
          </p:cNvPr>
          <p:cNvSpPr>
            <a:spLocks xmlns:a="http://schemas.openxmlformats.org/drawingml/2006/main" noGrp="1"/>
          </p:cNvSpPr>
          <p:nvPr/>
        </p:nvSpPr>
        <p:spPr>
          <a:xfrm xmlns:a="http://schemas.openxmlformats.org/drawingml/2006/main" rot="0">
            <a:off x="6807556" y="7455561"/>
            <a:ext cx="1831306" cy="147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30" b="1">
                <a:solidFill>
                  <a:srgbClr val="00355F"/>
                </a:solidFill>
                <a:latin typeface="Arial"/>
                <a:ea typeface="Arial"/>
                <a:cs typeface="Arial"/>
              </a:defRPr>
            </a:defPPr>
          </a:lstStyle>
          <a:p xmlns:a="http://schemas.openxmlformats.org/drawingml/2006/main">
            <a:pPr algn="l">
              <a:lnSpc>
                <a:spcPct val="100000"/>
              </a:lnSpc>
              <a:buNone/>
              <a:defRPr sz="930" b="1">
                <a:solidFill>
                  <a:srgbClr val="00355F"/>
                </a:solidFill>
                <a:latin typeface="Arial"/>
                <a:ea typeface="Arial"/>
                <a:cs typeface="Arial"/>
              </a:defRPr>
            </a:pPr>
            <a:r>
              <a:rPr sz="930" b="1">
                <a:solidFill>
                  <a:srgbClr val="00355F"/>
                </a:solidFill>
                <a:latin typeface="Arial"/>
                <a:ea typeface="Arial"/>
                <a:cs typeface="Arial"/>
              </a:rPr>
              <a:t>REPRESENTATIVE SUPPLIERS</a:t>
            </a:r>
          </a:p>
        </p:txBody>
      </p:sp>
      <p:sp>
        <p:nvSpPr>
          <p:cNvPr id="71" name="Figure 15 label 47 line 1">
            <a:extLst xmlns:a="http://schemas.openxmlformats.org/drawingml/2006/main">
              <a:ext uri="{FF2B5EF4-FFF2-40B4-BE49-F238E27FC236}">
                <a16:creationId xmlns:a16="http://schemas.microsoft.com/office/drawing/2014/main" id="{ADBFCE78-7F5D-4CB3-AA75-FF1F2198D192}"/>
              </a:ext>
            </a:extLst>
          </p:cNvPr>
          <p:cNvSpPr>
            <a:spLocks xmlns:a="http://schemas.openxmlformats.org/drawingml/2006/main" noGrp="1"/>
          </p:cNvSpPr>
          <p:nvPr/>
        </p:nvSpPr>
        <p:spPr>
          <a:xfrm xmlns:a="http://schemas.openxmlformats.org/drawingml/2006/main" rot="0">
            <a:off x="6807098" y="8122006"/>
            <a:ext cx="153616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Sino Biological · Bioss</a:t>
            </a:r>
          </a:p>
        </p:txBody>
      </p:sp>
      <p:sp>
        <p:nvSpPr>
          <p:cNvPr id="72" name="Figure 15 label 47 line 2">
            <a:extLst xmlns:a="http://schemas.openxmlformats.org/drawingml/2006/main">
              <a:ext uri="{FF2B5EF4-FFF2-40B4-BE49-F238E27FC236}">
                <a16:creationId xmlns:a16="http://schemas.microsoft.com/office/drawing/2014/main" id="{6A76AD0A-9C22-4B10-B902-1B892DC9EB03}"/>
              </a:ext>
            </a:extLst>
          </p:cNvPr>
          <p:cNvSpPr>
            <a:spLocks xmlns:a="http://schemas.openxmlformats.org/drawingml/2006/main" noGrp="1"/>
          </p:cNvSpPr>
          <p:nvPr/>
        </p:nvSpPr>
        <p:spPr>
          <a:xfrm xmlns:a="http://schemas.openxmlformats.org/drawingml/2006/main" rot="0">
            <a:off x="6807098" y="8283931"/>
            <a:ext cx="153616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Sartorius · Cytiva · Tecan</a:t>
            </a:r>
          </a:p>
        </p:txBody>
      </p:sp>
      <p:sp>
        <p:nvSpPr>
          <p:cNvPr id="73" name="Figure 15 label 47 line 3">
            <a:extLst xmlns:a="http://schemas.openxmlformats.org/drawingml/2006/main">
              <a:ext uri="{FF2B5EF4-FFF2-40B4-BE49-F238E27FC236}">
                <a16:creationId xmlns:a16="http://schemas.microsoft.com/office/drawing/2014/main" id="{AED74B46-CE49-4F90-8127-B9297CB79497}"/>
              </a:ext>
            </a:extLst>
          </p:cNvPr>
          <p:cNvSpPr>
            <a:spLocks xmlns:a="http://schemas.openxmlformats.org/drawingml/2006/main" noGrp="1"/>
          </p:cNvSpPr>
          <p:nvPr/>
        </p:nvSpPr>
        <p:spPr>
          <a:xfrm xmlns:a="http://schemas.openxmlformats.org/drawingml/2006/main" rot="0">
            <a:off x="6807098" y="8445856"/>
            <a:ext cx="153616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JET Biofil</a:t>
            </a:r>
          </a:p>
        </p:txBody>
      </p:sp>
      <p:sp>
        <p:nvSpPr>
          <p:cNvPr id="74" name="Figure 15 label 48 line 1">
            <a:extLst xmlns:a="http://schemas.openxmlformats.org/drawingml/2006/main">
              <a:ext uri="{FF2B5EF4-FFF2-40B4-BE49-F238E27FC236}">
                <a16:creationId xmlns:a16="http://schemas.microsoft.com/office/drawing/2014/main" id="{63FCA533-44D2-445E-9C11-60A22CE655B8}"/>
              </a:ext>
            </a:extLst>
          </p:cNvPr>
          <p:cNvSpPr>
            <a:spLocks xmlns:a="http://schemas.openxmlformats.org/drawingml/2006/main" noGrp="1"/>
          </p:cNvSpPr>
          <p:nvPr/>
        </p:nvSpPr>
        <p:spPr>
          <a:xfrm xmlns:a="http://schemas.openxmlformats.org/drawingml/2006/main" rot="0">
            <a:off x="9747504" y="2726436"/>
            <a:ext cx="78515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04  /  TEST</a:t>
            </a:r>
          </a:p>
        </p:txBody>
      </p:sp>
      <p:sp>
        <p:nvSpPr>
          <p:cNvPr id="75" name="Figure 15 label 49 line 1">
            <a:extLst xmlns:a="http://schemas.openxmlformats.org/drawingml/2006/main">
              <a:ext uri="{FF2B5EF4-FFF2-40B4-BE49-F238E27FC236}">
                <a16:creationId xmlns:a16="http://schemas.microsoft.com/office/drawing/2014/main" id="{E986F69F-D3BF-4E58-962D-925269400466}"/>
              </a:ext>
            </a:extLst>
          </p:cNvPr>
          <p:cNvSpPr>
            <a:spLocks xmlns:a="http://schemas.openxmlformats.org/drawingml/2006/main" noGrp="1"/>
          </p:cNvSpPr>
          <p:nvPr/>
        </p:nvSpPr>
        <p:spPr>
          <a:xfrm xmlns:a="http://schemas.openxmlformats.org/drawingml/2006/main" rot="0">
            <a:off x="9744151" y="3100121"/>
            <a:ext cx="1965228"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Multi-property</a:t>
            </a:r>
          </a:p>
        </p:txBody>
      </p:sp>
      <p:sp>
        <p:nvSpPr>
          <p:cNvPr id="76" name="Figure 15 label 49 line 2">
            <a:extLst xmlns:a="http://schemas.openxmlformats.org/drawingml/2006/main">
              <a:ext uri="{FF2B5EF4-FFF2-40B4-BE49-F238E27FC236}">
                <a16:creationId xmlns:a16="http://schemas.microsoft.com/office/drawing/2014/main" id="{D3E3B770-FBE0-467D-BA61-C62D1199FB1C}"/>
              </a:ext>
            </a:extLst>
          </p:cNvPr>
          <p:cNvSpPr>
            <a:spLocks xmlns:a="http://schemas.openxmlformats.org/drawingml/2006/main" noGrp="1"/>
          </p:cNvSpPr>
          <p:nvPr/>
        </p:nvSpPr>
        <p:spPr>
          <a:xfrm xmlns:a="http://schemas.openxmlformats.org/drawingml/2006/main" rot="0">
            <a:off x="9744151" y="3395396"/>
            <a:ext cx="1965228"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characterization</a:t>
            </a:r>
          </a:p>
        </p:txBody>
      </p:sp>
      <p:sp>
        <p:nvSpPr>
          <p:cNvPr id="77" name="Figure 15 label 50 line 1">
            <a:extLst xmlns:a="http://schemas.openxmlformats.org/drawingml/2006/main">
              <a:ext uri="{FF2B5EF4-FFF2-40B4-BE49-F238E27FC236}">
                <a16:creationId xmlns:a16="http://schemas.microsoft.com/office/drawing/2014/main" id="{1A2C3419-DF36-400B-A418-013D865A361D}"/>
              </a:ext>
            </a:extLst>
          </p:cNvPr>
          <p:cNvSpPr>
            <a:spLocks xmlns:a="http://schemas.openxmlformats.org/drawingml/2006/main" noGrp="1"/>
          </p:cNvSpPr>
          <p:nvPr/>
        </p:nvSpPr>
        <p:spPr>
          <a:xfrm xmlns:a="http://schemas.openxmlformats.org/drawingml/2006/main" rot="0">
            <a:off x="9747199" y="3813353"/>
            <a:ext cx="206988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Evaluate binding, specificity</a:t>
            </a:r>
          </a:p>
        </p:txBody>
      </p:sp>
      <p:sp>
        <p:nvSpPr>
          <p:cNvPr id="78" name="Figure 15 label 50 line 2">
            <a:extLst xmlns:a="http://schemas.openxmlformats.org/drawingml/2006/main">
              <a:ext uri="{FF2B5EF4-FFF2-40B4-BE49-F238E27FC236}">
                <a16:creationId xmlns:a16="http://schemas.microsoft.com/office/drawing/2014/main" id="{9EE4A15D-DB64-4F43-8353-4DDB7A6B9875}"/>
              </a:ext>
            </a:extLst>
          </p:cNvPr>
          <p:cNvSpPr>
            <a:spLocks xmlns:a="http://schemas.openxmlformats.org/drawingml/2006/main" noGrp="1"/>
          </p:cNvSpPr>
          <p:nvPr/>
        </p:nvSpPr>
        <p:spPr>
          <a:xfrm xmlns:a="http://schemas.openxmlformats.org/drawingml/2006/main" rot="0">
            <a:off x="9747199" y="4013378"/>
            <a:ext cx="206988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and developability risks</a:t>
            </a:r>
          </a:p>
        </p:txBody>
      </p:sp>
      <p:sp>
        <p:nvSpPr>
          <p:cNvPr id="79" name="Figure 15 label 51 line 1">
            <a:extLst xmlns:a="http://schemas.openxmlformats.org/drawingml/2006/main">
              <a:ext uri="{FF2B5EF4-FFF2-40B4-BE49-F238E27FC236}">
                <a16:creationId xmlns:a16="http://schemas.microsoft.com/office/drawing/2014/main" id="{62C523C2-04A9-41C5-8445-E5C607E4B7B7}"/>
              </a:ext>
            </a:extLst>
          </p:cNvPr>
          <p:cNvSpPr>
            <a:spLocks xmlns:a="http://schemas.openxmlformats.org/drawingml/2006/main" noGrp="1"/>
          </p:cNvSpPr>
          <p:nvPr/>
        </p:nvSpPr>
        <p:spPr>
          <a:xfrm xmlns:a="http://schemas.openxmlformats.org/drawingml/2006/main" rot="0">
            <a:off x="9793681" y="4429811"/>
            <a:ext cx="2175075"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KD · kon · koff · expression†</a:t>
            </a:r>
          </a:p>
        </p:txBody>
      </p:sp>
      <p:sp>
        <p:nvSpPr>
          <p:cNvPr id="80" name="Figure 15 label 51 line 2">
            <a:extLst xmlns:a="http://schemas.openxmlformats.org/drawingml/2006/main">
              <a:ext uri="{FF2B5EF4-FFF2-40B4-BE49-F238E27FC236}">
                <a16:creationId xmlns:a16="http://schemas.microsoft.com/office/drawing/2014/main" id="{6A75EE6E-63F2-4BD0-A47C-9F30AFBF6A98}"/>
              </a:ext>
            </a:extLst>
          </p:cNvPr>
          <p:cNvSpPr>
            <a:spLocks xmlns:a="http://schemas.openxmlformats.org/drawingml/2006/main" noGrp="1"/>
          </p:cNvSpPr>
          <p:nvPr/>
        </p:nvSpPr>
        <p:spPr>
          <a:xfrm xmlns:a="http://schemas.openxmlformats.org/drawingml/2006/main" rot="0">
            <a:off x="9793681" y="4606023"/>
            <a:ext cx="2175075"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Tm · aggregation</a:t>
            </a:r>
          </a:p>
        </p:txBody>
      </p:sp>
      <p:sp>
        <p:nvSpPr>
          <p:cNvPr id="81" name="Figure 15 label 51 line 3">
            <a:extLst xmlns:a="http://schemas.openxmlformats.org/drawingml/2006/main">
              <a:ext uri="{FF2B5EF4-FFF2-40B4-BE49-F238E27FC236}">
                <a16:creationId xmlns:a16="http://schemas.microsoft.com/office/drawing/2014/main" id="{A256F218-F2D3-4D45-B345-A585B2CE138F}"/>
              </a:ext>
            </a:extLst>
          </p:cNvPr>
          <p:cNvSpPr>
            <a:spLocks xmlns:a="http://schemas.openxmlformats.org/drawingml/2006/main" noGrp="1"/>
          </p:cNvSpPr>
          <p:nvPr/>
        </p:nvSpPr>
        <p:spPr>
          <a:xfrm xmlns:a="http://schemas.openxmlformats.org/drawingml/2006/main" rot="0">
            <a:off x="9793681" y="4782236"/>
            <a:ext cx="2175075"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polyreactivity · epitope binning</a:t>
            </a:r>
          </a:p>
        </p:txBody>
      </p:sp>
      <p:sp>
        <p:nvSpPr>
          <p:cNvPr id="82" name="Figure 15 label 52 line 1">
            <a:extLst xmlns:a="http://schemas.openxmlformats.org/drawingml/2006/main">
              <a:ext uri="{FF2B5EF4-FFF2-40B4-BE49-F238E27FC236}">
                <a16:creationId xmlns:a16="http://schemas.microsoft.com/office/drawing/2014/main" id="{880C660A-CE36-418B-AA8F-086C6D25D019}"/>
              </a:ext>
            </a:extLst>
          </p:cNvPr>
          <p:cNvSpPr>
            <a:spLocks xmlns:a="http://schemas.openxmlformats.org/drawingml/2006/main" noGrp="1"/>
          </p:cNvSpPr>
          <p:nvPr/>
        </p:nvSpPr>
        <p:spPr>
          <a:xfrm xmlns:a="http://schemas.openxmlformats.org/drawingml/2006/main" rot="0">
            <a:off x="9748571" y="4983937"/>
            <a:ext cx="780324"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REAGENTS</a:t>
            </a:r>
          </a:p>
        </p:txBody>
      </p:sp>
      <p:sp>
        <p:nvSpPr>
          <p:cNvPr id="83" name="Figure 15 label 53 line 1">
            <a:extLst xmlns:a="http://schemas.openxmlformats.org/drawingml/2006/main">
              <a:ext uri="{FF2B5EF4-FFF2-40B4-BE49-F238E27FC236}">
                <a16:creationId xmlns:a16="http://schemas.microsoft.com/office/drawing/2014/main" id="{F8799C9D-9985-4717-8F44-0A9649C2B8BF}"/>
              </a:ext>
            </a:extLst>
          </p:cNvPr>
          <p:cNvSpPr>
            <a:spLocks xmlns:a="http://schemas.openxmlformats.org/drawingml/2006/main" noGrp="1"/>
          </p:cNvSpPr>
          <p:nvPr/>
        </p:nvSpPr>
        <p:spPr>
          <a:xfrm xmlns:a="http://schemas.openxmlformats.org/drawingml/2006/main" rot="0">
            <a:off x="9747656" y="5196688"/>
            <a:ext cx="1748576"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Reference proteins, dyes</a:t>
            </a:r>
          </a:p>
        </p:txBody>
      </p:sp>
      <p:sp>
        <p:nvSpPr>
          <p:cNvPr id="84" name="Figure 15 label 53 line 2">
            <a:extLst xmlns:a="http://schemas.openxmlformats.org/drawingml/2006/main">
              <a:ext uri="{FF2B5EF4-FFF2-40B4-BE49-F238E27FC236}">
                <a16:creationId xmlns:a16="http://schemas.microsoft.com/office/drawing/2014/main" id="{804CC35A-EF18-4E7E-9A12-61731F17A2D6}"/>
              </a:ext>
            </a:extLst>
          </p:cNvPr>
          <p:cNvSpPr>
            <a:spLocks xmlns:a="http://schemas.openxmlformats.org/drawingml/2006/main" noGrp="1"/>
          </p:cNvSpPr>
          <p:nvPr/>
        </p:nvSpPr>
        <p:spPr>
          <a:xfrm xmlns:a="http://schemas.openxmlformats.org/drawingml/2006/main" rot="0">
            <a:off x="9747656" y="5382425"/>
            <a:ext cx="1748576"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Assay panels, buffers</a:t>
            </a:r>
          </a:p>
        </p:txBody>
      </p:sp>
      <p:sp>
        <p:nvSpPr>
          <p:cNvPr id="85" name="Figure 15 label 53 line 3">
            <a:extLst xmlns:a="http://schemas.openxmlformats.org/drawingml/2006/main">
              <a:ext uri="{FF2B5EF4-FFF2-40B4-BE49-F238E27FC236}">
                <a16:creationId xmlns:a16="http://schemas.microsoft.com/office/drawing/2014/main" id="{CAB58BBB-9560-44F3-8D2A-CAC29AEEBBB0}"/>
              </a:ext>
            </a:extLst>
          </p:cNvPr>
          <p:cNvSpPr>
            <a:spLocks xmlns:a="http://schemas.openxmlformats.org/drawingml/2006/main" noGrp="1"/>
          </p:cNvSpPr>
          <p:nvPr/>
        </p:nvSpPr>
        <p:spPr>
          <a:xfrm xmlns:a="http://schemas.openxmlformats.org/drawingml/2006/main" rot="0">
            <a:off x="9747656" y="5568163"/>
            <a:ext cx="1748576"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Analytical reagents</a:t>
            </a:r>
          </a:p>
        </p:txBody>
      </p:sp>
      <p:sp>
        <p:nvSpPr>
          <p:cNvPr id="86" name="Figure 15 label 54 line 1">
            <a:extLst xmlns:a="http://schemas.openxmlformats.org/drawingml/2006/main">
              <a:ext uri="{FF2B5EF4-FFF2-40B4-BE49-F238E27FC236}">
                <a16:creationId xmlns:a16="http://schemas.microsoft.com/office/drawing/2014/main" id="{1575E18E-F30E-4C2B-9309-E301BA0C8757}"/>
              </a:ext>
            </a:extLst>
          </p:cNvPr>
          <p:cNvSpPr>
            <a:spLocks xmlns:a="http://schemas.openxmlformats.org/drawingml/2006/main" noGrp="1"/>
          </p:cNvSpPr>
          <p:nvPr/>
        </p:nvSpPr>
        <p:spPr>
          <a:xfrm xmlns:a="http://schemas.openxmlformats.org/drawingml/2006/main" rot="0">
            <a:off x="9748571" y="5745937"/>
            <a:ext cx="989874"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INSTRUMENTS</a:t>
            </a:r>
          </a:p>
        </p:txBody>
      </p:sp>
      <p:sp>
        <p:nvSpPr>
          <p:cNvPr id="87" name="Figure 15 label 55 line 1">
            <a:extLst xmlns:a="http://schemas.openxmlformats.org/drawingml/2006/main">
              <a:ext uri="{FF2B5EF4-FFF2-40B4-BE49-F238E27FC236}">
                <a16:creationId xmlns:a16="http://schemas.microsoft.com/office/drawing/2014/main" id="{5D22B633-FCB4-419C-90DF-F2549CDB6142}"/>
              </a:ext>
            </a:extLst>
          </p:cNvPr>
          <p:cNvSpPr>
            <a:spLocks xmlns:a="http://schemas.openxmlformats.org/drawingml/2006/main" noGrp="1"/>
          </p:cNvSpPr>
          <p:nvPr/>
        </p:nvSpPr>
        <p:spPr>
          <a:xfrm xmlns:a="http://schemas.openxmlformats.org/drawingml/2006/main" rot="0">
            <a:off x="9747656" y="5958688"/>
            <a:ext cx="1582930"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SPR / BLI; SEC-HPLC</a:t>
            </a:r>
          </a:p>
        </p:txBody>
      </p:sp>
      <p:sp>
        <p:nvSpPr>
          <p:cNvPr id="88" name="Figure 15 label 55 line 2">
            <a:extLst xmlns:a="http://schemas.openxmlformats.org/drawingml/2006/main">
              <a:ext uri="{FF2B5EF4-FFF2-40B4-BE49-F238E27FC236}">
                <a16:creationId xmlns:a16="http://schemas.microsoft.com/office/drawing/2014/main" id="{93116AB3-E64E-4607-98B3-5631C179B6F7}"/>
              </a:ext>
            </a:extLst>
          </p:cNvPr>
          <p:cNvSpPr>
            <a:spLocks xmlns:a="http://schemas.openxmlformats.org/drawingml/2006/main" noGrp="1"/>
          </p:cNvSpPr>
          <p:nvPr/>
        </p:nvSpPr>
        <p:spPr>
          <a:xfrm xmlns:a="http://schemas.openxmlformats.org/drawingml/2006/main" rot="0">
            <a:off x="9747656" y="6144425"/>
            <a:ext cx="1582930"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LC / LC-MS</a:t>
            </a:r>
          </a:p>
        </p:txBody>
      </p:sp>
      <p:sp>
        <p:nvSpPr>
          <p:cNvPr id="89" name="Figure 15 label 55 line 3">
            <a:extLst xmlns:a="http://schemas.openxmlformats.org/drawingml/2006/main">
              <a:ext uri="{FF2B5EF4-FFF2-40B4-BE49-F238E27FC236}">
                <a16:creationId xmlns:a16="http://schemas.microsoft.com/office/drawing/2014/main" id="{B82EEC64-1C46-4EA3-BA8A-E7446053F658}"/>
              </a:ext>
            </a:extLst>
          </p:cNvPr>
          <p:cNvSpPr>
            <a:spLocks xmlns:a="http://schemas.openxmlformats.org/drawingml/2006/main" noGrp="1"/>
          </p:cNvSpPr>
          <p:nvPr/>
        </p:nvSpPr>
        <p:spPr>
          <a:xfrm xmlns:a="http://schemas.openxmlformats.org/drawingml/2006/main" rot="0">
            <a:off x="9747656" y="6330163"/>
            <a:ext cx="1582930"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nanoDSF / DLS</a:t>
            </a:r>
          </a:p>
        </p:txBody>
      </p:sp>
      <p:sp>
        <p:nvSpPr>
          <p:cNvPr id="90" name="Figure 15 label 56 line 1">
            <a:extLst xmlns:a="http://schemas.openxmlformats.org/drawingml/2006/main">
              <a:ext uri="{FF2B5EF4-FFF2-40B4-BE49-F238E27FC236}">
                <a16:creationId xmlns:a16="http://schemas.microsoft.com/office/drawing/2014/main" id="{AD9CCAF2-F7A3-49AA-973B-636E0877AA06}"/>
              </a:ext>
            </a:extLst>
          </p:cNvPr>
          <p:cNvSpPr>
            <a:spLocks xmlns:a="http://schemas.openxmlformats.org/drawingml/2006/main" noGrp="1"/>
          </p:cNvSpPr>
          <p:nvPr/>
        </p:nvSpPr>
        <p:spPr>
          <a:xfrm xmlns:a="http://schemas.openxmlformats.org/drawingml/2006/main" rot="0">
            <a:off x="9748571" y="6507937"/>
            <a:ext cx="1066669"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CONSUMABLES</a:t>
            </a:r>
          </a:p>
        </p:txBody>
      </p:sp>
      <p:sp>
        <p:nvSpPr>
          <p:cNvPr id="91" name="Figure 15 label 57 line 1">
            <a:extLst xmlns:a="http://schemas.openxmlformats.org/drawingml/2006/main">
              <a:ext uri="{FF2B5EF4-FFF2-40B4-BE49-F238E27FC236}">
                <a16:creationId xmlns:a16="http://schemas.microsoft.com/office/drawing/2014/main" id="{0D950762-8B5E-4990-9B05-3B65EEDA3CDD}"/>
              </a:ext>
            </a:extLst>
          </p:cNvPr>
          <p:cNvSpPr>
            <a:spLocks xmlns:a="http://schemas.openxmlformats.org/drawingml/2006/main" noGrp="1"/>
          </p:cNvSpPr>
          <p:nvPr/>
        </p:nvSpPr>
        <p:spPr>
          <a:xfrm xmlns:a="http://schemas.openxmlformats.org/drawingml/2006/main" rot="0">
            <a:off x="9747656" y="6720688"/>
            <a:ext cx="176211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Columns, capillaries</a:t>
            </a:r>
          </a:p>
        </p:txBody>
      </p:sp>
      <p:sp>
        <p:nvSpPr>
          <p:cNvPr id="92" name="Figure 15 label 57 line 2">
            <a:extLst xmlns:a="http://schemas.openxmlformats.org/drawingml/2006/main">
              <a:ext uri="{FF2B5EF4-FFF2-40B4-BE49-F238E27FC236}">
                <a16:creationId xmlns:a16="http://schemas.microsoft.com/office/drawing/2014/main" id="{AC6CB49B-D8D4-404D-A64D-E9D0BE3B211E}"/>
              </a:ext>
            </a:extLst>
          </p:cNvPr>
          <p:cNvSpPr>
            <a:spLocks xmlns:a="http://schemas.openxmlformats.org/drawingml/2006/main" noGrp="1"/>
          </p:cNvSpPr>
          <p:nvPr/>
        </p:nvSpPr>
        <p:spPr>
          <a:xfrm xmlns:a="http://schemas.openxmlformats.org/drawingml/2006/main" rot="0">
            <a:off x="9747656" y="6906425"/>
            <a:ext cx="176211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Vials, filters, assay plates</a:t>
            </a:r>
          </a:p>
        </p:txBody>
      </p:sp>
      <p:sp>
        <p:nvSpPr>
          <p:cNvPr id="93" name="Figure 15 label 57 line 3">
            <a:extLst xmlns:a="http://schemas.openxmlformats.org/drawingml/2006/main">
              <a:ext uri="{FF2B5EF4-FFF2-40B4-BE49-F238E27FC236}">
                <a16:creationId xmlns:a16="http://schemas.microsoft.com/office/drawing/2014/main" id="{38EA1357-5CDA-4F68-97A1-1B28DD52DFFA}"/>
              </a:ext>
            </a:extLst>
          </p:cNvPr>
          <p:cNvSpPr>
            <a:spLocks xmlns:a="http://schemas.openxmlformats.org/drawingml/2006/main" noGrp="1"/>
          </p:cNvSpPr>
          <p:nvPr/>
        </p:nvSpPr>
        <p:spPr>
          <a:xfrm xmlns:a="http://schemas.openxmlformats.org/drawingml/2006/main" rot="0">
            <a:off x="9747656" y="7092163"/>
            <a:ext cx="1762119"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Sensors / chips</a:t>
            </a:r>
          </a:p>
        </p:txBody>
      </p:sp>
      <p:sp>
        <p:nvSpPr>
          <p:cNvPr id="94" name="Figure 15 label 58 line 1">
            <a:extLst xmlns:a="http://schemas.openxmlformats.org/drawingml/2006/main">
              <a:ext uri="{FF2B5EF4-FFF2-40B4-BE49-F238E27FC236}">
                <a16:creationId xmlns:a16="http://schemas.microsoft.com/office/drawing/2014/main" id="{49FCC06D-0D3E-4104-9873-1C04FEA8C3C9}"/>
              </a:ext>
            </a:extLst>
          </p:cNvPr>
          <p:cNvSpPr>
            <a:spLocks xmlns:a="http://schemas.openxmlformats.org/drawingml/2006/main" noGrp="1"/>
          </p:cNvSpPr>
          <p:nvPr/>
        </p:nvSpPr>
        <p:spPr>
          <a:xfrm xmlns:a="http://schemas.openxmlformats.org/drawingml/2006/main" rot="0">
            <a:off x="9748876" y="7455561"/>
            <a:ext cx="1831306" cy="147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30" b="1">
                <a:solidFill>
                  <a:srgbClr val="00355F"/>
                </a:solidFill>
                <a:latin typeface="Arial"/>
                <a:ea typeface="Arial"/>
                <a:cs typeface="Arial"/>
              </a:defRPr>
            </a:defPPr>
          </a:lstStyle>
          <a:p xmlns:a="http://schemas.openxmlformats.org/drawingml/2006/main">
            <a:pPr algn="l">
              <a:lnSpc>
                <a:spcPct val="100000"/>
              </a:lnSpc>
              <a:buNone/>
              <a:defRPr sz="930" b="1">
                <a:solidFill>
                  <a:srgbClr val="00355F"/>
                </a:solidFill>
                <a:latin typeface="Arial"/>
                <a:ea typeface="Arial"/>
                <a:cs typeface="Arial"/>
              </a:defRPr>
            </a:pPr>
            <a:r>
              <a:rPr sz="930" b="1">
                <a:solidFill>
                  <a:srgbClr val="00355F"/>
                </a:solidFill>
                <a:latin typeface="Arial"/>
                <a:ea typeface="Arial"/>
                <a:cs typeface="Arial"/>
              </a:rPr>
              <a:t>REPRESENTATIVE SUPPLIERS</a:t>
            </a:r>
          </a:p>
        </p:txBody>
      </p:sp>
      <p:sp>
        <p:nvSpPr>
          <p:cNvPr id="95" name="Figure 15 label 59 line 1">
            <a:extLst xmlns:a="http://schemas.openxmlformats.org/drawingml/2006/main">
              <a:ext uri="{FF2B5EF4-FFF2-40B4-BE49-F238E27FC236}">
                <a16:creationId xmlns:a16="http://schemas.microsoft.com/office/drawing/2014/main" id="{C275DBA2-6FEF-4399-B082-BD8AC216651A}"/>
              </a:ext>
            </a:extLst>
          </p:cNvPr>
          <p:cNvSpPr>
            <a:spLocks xmlns:a="http://schemas.openxmlformats.org/drawingml/2006/main" noGrp="1"/>
          </p:cNvSpPr>
          <p:nvPr/>
        </p:nvSpPr>
        <p:spPr>
          <a:xfrm xmlns:a="http://schemas.openxmlformats.org/drawingml/2006/main" rot="0">
            <a:off x="10104120" y="7711440"/>
            <a:ext cx="110817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NanoMicro</a:t>
            </a:r>
          </a:p>
        </p:txBody>
      </p:sp>
      <p:sp>
        <p:nvSpPr>
          <p:cNvPr id="96" name="Figure 15 label 60 line 1">
            <a:extLst xmlns:a="http://schemas.openxmlformats.org/drawingml/2006/main">
              <a:ext uri="{FF2B5EF4-FFF2-40B4-BE49-F238E27FC236}">
                <a16:creationId xmlns:a16="http://schemas.microsoft.com/office/drawing/2014/main" id="{14EBEC99-3F59-447C-8B9D-8FB719C31D13}"/>
              </a:ext>
            </a:extLst>
          </p:cNvPr>
          <p:cNvSpPr>
            <a:spLocks xmlns:a="http://schemas.openxmlformats.org/drawingml/2006/main" noGrp="1"/>
          </p:cNvSpPr>
          <p:nvPr/>
        </p:nvSpPr>
        <p:spPr>
          <a:xfrm xmlns:a="http://schemas.openxmlformats.org/drawingml/2006/main" rot="0">
            <a:off x="9748571" y="8123377"/>
            <a:ext cx="1891475"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Waters · Agilent · Thermo Fisher</a:t>
            </a:r>
          </a:p>
        </p:txBody>
      </p:sp>
      <p:sp>
        <p:nvSpPr>
          <p:cNvPr id="97" name="Figure 15 label 60 line 2">
            <a:extLst xmlns:a="http://schemas.openxmlformats.org/drawingml/2006/main">
              <a:ext uri="{FF2B5EF4-FFF2-40B4-BE49-F238E27FC236}">
                <a16:creationId xmlns:a16="http://schemas.microsoft.com/office/drawing/2014/main" id="{D5DF671B-7640-46D4-B806-0E7A929F0172}"/>
              </a:ext>
            </a:extLst>
          </p:cNvPr>
          <p:cNvSpPr>
            <a:spLocks xmlns:a="http://schemas.openxmlformats.org/drawingml/2006/main" noGrp="1"/>
          </p:cNvSpPr>
          <p:nvPr/>
        </p:nvSpPr>
        <p:spPr>
          <a:xfrm xmlns:a="http://schemas.openxmlformats.org/drawingml/2006/main" rot="0">
            <a:off x="9748571" y="8280540"/>
            <a:ext cx="1891475"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NanoTemper · Sepax</a:t>
            </a:r>
          </a:p>
        </p:txBody>
      </p:sp>
      <p:sp>
        <p:nvSpPr>
          <p:cNvPr id="98" name="Figure 15 label 60 line 3">
            <a:extLst xmlns:a="http://schemas.openxmlformats.org/drawingml/2006/main">
              <a:ext uri="{FF2B5EF4-FFF2-40B4-BE49-F238E27FC236}">
                <a16:creationId xmlns:a16="http://schemas.microsoft.com/office/drawing/2014/main" id="{1FE50931-46F1-4F6D-9556-7D0E22D8D4A2}"/>
              </a:ext>
            </a:extLst>
          </p:cNvPr>
          <p:cNvSpPr>
            <a:spLocks xmlns:a="http://schemas.openxmlformats.org/drawingml/2006/main" noGrp="1"/>
          </p:cNvSpPr>
          <p:nvPr/>
        </p:nvSpPr>
        <p:spPr>
          <a:xfrm xmlns:a="http://schemas.openxmlformats.org/drawingml/2006/main" rot="0">
            <a:off x="9748571" y="8437702"/>
            <a:ext cx="1891475"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SPR / BLI: Cytiva · Sartorius</a:t>
            </a:r>
          </a:p>
        </p:txBody>
      </p:sp>
      <p:sp>
        <p:nvSpPr>
          <p:cNvPr id="99" name="Figure 15 label 61 line 1">
            <a:extLst xmlns:a="http://schemas.openxmlformats.org/drawingml/2006/main">
              <a:ext uri="{FF2B5EF4-FFF2-40B4-BE49-F238E27FC236}">
                <a16:creationId xmlns:a16="http://schemas.microsoft.com/office/drawing/2014/main" id="{4EC597CB-AE10-4518-9474-3550D6629009}"/>
              </a:ext>
            </a:extLst>
          </p:cNvPr>
          <p:cNvSpPr>
            <a:spLocks xmlns:a="http://schemas.openxmlformats.org/drawingml/2006/main" noGrp="1"/>
          </p:cNvSpPr>
          <p:nvPr/>
        </p:nvSpPr>
        <p:spPr>
          <a:xfrm xmlns:a="http://schemas.openxmlformats.org/drawingml/2006/main" rot="0">
            <a:off x="12841224" y="2726436"/>
            <a:ext cx="78515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05  /  TEST</a:t>
            </a:r>
          </a:p>
        </p:txBody>
      </p:sp>
      <p:sp>
        <p:nvSpPr>
          <p:cNvPr id="100" name="Figure 15 label 62 line 1">
            <a:extLst xmlns:a="http://schemas.openxmlformats.org/drawingml/2006/main">
              <a:ext uri="{FF2B5EF4-FFF2-40B4-BE49-F238E27FC236}">
                <a16:creationId xmlns:a16="http://schemas.microsoft.com/office/drawing/2014/main" id="{F289249F-6319-4628-9DC8-36CFF8201CD7}"/>
              </a:ext>
            </a:extLst>
          </p:cNvPr>
          <p:cNvSpPr>
            <a:spLocks xmlns:a="http://schemas.openxmlformats.org/drawingml/2006/main" noGrp="1"/>
          </p:cNvSpPr>
          <p:nvPr/>
        </p:nvSpPr>
        <p:spPr>
          <a:xfrm xmlns:a="http://schemas.openxmlformats.org/drawingml/2006/main" rot="0">
            <a:off x="12837871" y="3100121"/>
            <a:ext cx="1597027"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Cell-function</a:t>
            </a:r>
          </a:p>
        </p:txBody>
      </p:sp>
      <p:sp>
        <p:nvSpPr>
          <p:cNvPr id="101" name="Figure 15 label 62 line 2">
            <a:extLst xmlns:a="http://schemas.openxmlformats.org/drawingml/2006/main">
              <a:ext uri="{FF2B5EF4-FFF2-40B4-BE49-F238E27FC236}">
                <a16:creationId xmlns:a16="http://schemas.microsoft.com/office/drawing/2014/main" id="{F2D549D6-42B5-4FCB-9A19-9DA6B181B4A7}"/>
              </a:ext>
            </a:extLst>
          </p:cNvPr>
          <p:cNvSpPr>
            <a:spLocks xmlns:a="http://schemas.openxmlformats.org/drawingml/2006/main" noGrp="1"/>
          </p:cNvSpPr>
          <p:nvPr/>
        </p:nvSpPr>
        <p:spPr>
          <a:xfrm xmlns:a="http://schemas.openxmlformats.org/drawingml/2006/main" rot="0">
            <a:off x="12837871" y="3395396"/>
            <a:ext cx="1597027"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validation</a:t>
            </a:r>
          </a:p>
        </p:txBody>
      </p:sp>
      <p:sp>
        <p:nvSpPr>
          <p:cNvPr id="102" name="Figure 15 label 63 line 1">
            <a:extLst xmlns:a="http://schemas.openxmlformats.org/drawingml/2006/main">
              <a:ext uri="{FF2B5EF4-FFF2-40B4-BE49-F238E27FC236}">
                <a16:creationId xmlns:a16="http://schemas.microsoft.com/office/drawing/2014/main" id="{2DAF4011-9D9F-4139-BBB1-25925BBEF27D}"/>
              </a:ext>
            </a:extLst>
          </p:cNvPr>
          <p:cNvSpPr>
            <a:spLocks xmlns:a="http://schemas.openxmlformats.org/drawingml/2006/main" noGrp="1"/>
          </p:cNvSpPr>
          <p:nvPr/>
        </p:nvSpPr>
        <p:spPr>
          <a:xfrm xmlns:a="http://schemas.openxmlformats.org/drawingml/2006/main" rot="0">
            <a:off x="12840919" y="3813353"/>
            <a:ext cx="1847237"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Test activity in a relevant</a:t>
            </a:r>
          </a:p>
        </p:txBody>
      </p:sp>
      <p:sp>
        <p:nvSpPr>
          <p:cNvPr id="103" name="Figure 15 label 63 line 2">
            <a:extLst xmlns:a="http://schemas.openxmlformats.org/drawingml/2006/main">
              <a:ext uri="{FF2B5EF4-FFF2-40B4-BE49-F238E27FC236}">
                <a16:creationId xmlns:a16="http://schemas.microsoft.com/office/drawing/2014/main" id="{8658658F-9016-465B-BAD4-B323DB8CEC40}"/>
              </a:ext>
            </a:extLst>
          </p:cNvPr>
          <p:cNvSpPr>
            <a:spLocks xmlns:a="http://schemas.openxmlformats.org/drawingml/2006/main" noGrp="1"/>
          </p:cNvSpPr>
          <p:nvPr/>
        </p:nvSpPr>
        <p:spPr>
          <a:xfrm xmlns:a="http://schemas.openxmlformats.org/drawingml/2006/main" rot="0">
            <a:off x="12840919" y="4013378"/>
            <a:ext cx="1847237"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cellular model</a:t>
            </a:r>
          </a:p>
        </p:txBody>
      </p:sp>
      <p:sp>
        <p:nvSpPr>
          <p:cNvPr id="104" name="Figure 15 label 64 line 1">
            <a:extLst xmlns:a="http://schemas.openxmlformats.org/drawingml/2006/main">
              <a:ext uri="{FF2B5EF4-FFF2-40B4-BE49-F238E27FC236}">
                <a16:creationId xmlns:a16="http://schemas.microsoft.com/office/drawing/2014/main" id="{3C8DC90C-171D-43E9-ACDD-4BD66C257DF8}"/>
              </a:ext>
            </a:extLst>
          </p:cNvPr>
          <p:cNvSpPr>
            <a:spLocks xmlns:a="http://schemas.openxmlformats.org/drawingml/2006/main" noGrp="1"/>
          </p:cNvSpPr>
          <p:nvPr/>
        </p:nvSpPr>
        <p:spPr>
          <a:xfrm xmlns:a="http://schemas.openxmlformats.org/drawingml/2006/main" rot="0">
            <a:off x="12888620" y="4448404"/>
            <a:ext cx="440168"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LABEL</a:t>
            </a:r>
          </a:p>
        </p:txBody>
      </p:sp>
      <p:sp>
        <p:nvSpPr>
          <p:cNvPr id="105" name="Figure 15 label 65 line 1">
            <a:extLst xmlns:a="http://schemas.openxmlformats.org/drawingml/2006/main">
              <a:ext uri="{FF2B5EF4-FFF2-40B4-BE49-F238E27FC236}">
                <a16:creationId xmlns:a16="http://schemas.microsoft.com/office/drawing/2014/main" id="{41E5D0B1-4D13-4D6E-B2BE-4FFCE543D930}"/>
              </a:ext>
            </a:extLst>
          </p:cNvPr>
          <p:cNvSpPr>
            <a:spLocks xmlns:a="http://schemas.openxmlformats.org/drawingml/2006/main" noGrp="1"/>
          </p:cNvSpPr>
          <p:nvPr/>
        </p:nvSpPr>
        <p:spPr>
          <a:xfrm xmlns:a="http://schemas.openxmlformats.org/drawingml/2006/main" rot="0">
            <a:off x="12886944" y="4661916"/>
            <a:ext cx="1005274"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Cell potency</a:t>
            </a:r>
          </a:p>
        </p:txBody>
      </p:sp>
      <p:sp>
        <p:nvSpPr>
          <p:cNvPr id="106" name="Figure 15 label 66 line 1">
            <a:extLst xmlns:a="http://schemas.openxmlformats.org/drawingml/2006/main">
              <a:ext uri="{FF2B5EF4-FFF2-40B4-BE49-F238E27FC236}">
                <a16:creationId xmlns:a16="http://schemas.microsoft.com/office/drawing/2014/main" id="{D7A8885C-B07F-4E94-90B8-E65CDCEA5E63}"/>
              </a:ext>
            </a:extLst>
          </p:cNvPr>
          <p:cNvSpPr>
            <a:spLocks xmlns:a="http://schemas.openxmlformats.org/drawingml/2006/main" noGrp="1"/>
          </p:cNvSpPr>
          <p:nvPr/>
        </p:nvSpPr>
        <p:spPr>
          <a:xfrm xmlns:a="http://schemas.openxmlformats.org/drawingml/2006/main" rot="0">
            <a:off x="12842291" y="4983937"/>
            <a:ext cx="780324"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REAGENTS</a:t>
            </a:r>
          </a:p>
        </p:txBody>
      </p:sp>
      <p:sp>
        <p:nvSpPr>
          <p:cNvPr id="107" name="Figure 15 label 67 line 1">
            <a:extLst xmlns:a="http://schemas.openxmlformats.org/drawingml/2006/main">
              <a:ext uri="{FF2B5EF4-FFF2-40B4-BE49-F238E27FC236}">
                <a16:creationId xmlns:a16="http://schemas.microsoft.com/office/drawing/2014/main" id="{B47D055C-BC85-46BF-9612-35BF03EDE38B}"/>
              </a:ext>
            </a:extLst>
          </p:cNvPr>
          <p:cNvSpPr>
            <a:spLocks xmlns:a="http://schemas.openxmlformats.org/drawingml/2006/main" noGrp="1"/>
          </p:cNvSpPr>
          <p:nvPr/>
        </p:nvSpPr>
        <p:spPr>
          <a:xfrm xmlns:a="http://schemas.openxmlformats.org/drawingml/2006/main" rot="0">
            <a:off x="12841376" y="5196688"/>
            <a:ext cx="2062157"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Cell models, media, cytokines</a:t>
            </a:r>
          </a:p>
        </p:txBody>
      </p:sp>
      <p:sp>
        <p:nvSpPr>
          <p:cNvPr id="108" name="Figure 15 label 67 line 2">
            <a:extLst xmlns:a="http://schemas.openxmlformats.org/drawingml/2006/main">
              <a:ext uri="{FF2B5EF4-FFF2-40B4-BE49-F238E27FC236}">
                <a16:creationId xmlns:a16="http://schemas.microsoft.com/office/drawing/2014/main" id="{EBA03956-B895-4926-9FB8-95F9B9CCB46B}"/>
              </a:ext>
            </a:extLst>
          </p:cNvPr>
          <p:cNvSpPr>
            <a:spLocks xmlns:a="http://schemas.openxmlformats.org/drawingml/2006/main" noGrp="1"/>
          </p:cNvSpPr>
          <p:nvPr/>
        </p:nvSpPr>
        <p:spPr>
          <a:xfrm xmlns:a="http://schemas.openxmlformats.org/drawingml/2006/main" rot="0">
            <a:off x="12841376" y="5382425"/>
            <a:ext cx="2062157"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Staining antibodies</a:t>
            </a:r>
          </a:p>
        </p:txBody>
      </p:sp>
      <p:sp>
        <p:nvSpPr>
          <p:cNvPr id="109" name="Figure 15 label 67 line 3">
            <a:extLst xmlns:a="http://schemas.openxmlformats.org/drawingml/2006/main">
              <a:ext uri="{FF2B5EF4-FFF2-40B4-BE49-F238E27FC236}">
                <a16:creationId xmlns:a16="http://schemas.microsoft.com/office/drawing/2014/main" id="{E02D728C-A71A-4D7D-97BA-B9EC23CD724B}"/>
              </a:ext>
            </a:extLst>
          </p:cNvPr>
          <p:cNvSpPr>
            <a:spLocks xmlns:a="http://schemas.openxmlformats.org/drawingml/2006/main" noGrp="1"/>
          </p:cNvSpPr>
          <p:nvPr/>
        </p:nvSpPr>
        <p:spPr>
          <a:xfrm xmlns:a="http://schemas.openxmlformats.org/drawingml/2006/main" rot="0">
            <a:off x="12841376" y="5568163"/>
            <a:ext cx="2062157"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Reporter-assay reagents</a:t>
            </a:r>
          </a:p>
        </p:txBody>
      </p:sp>
      <p:sp>
        <p:nvSpPr>
          <p:cNvPr id="110" name="Figure 15 label 68 line 1">
            <a:extLst xmlns:a="http://schemas.openxmlformats.org/drawingml/2006/main">
              <a:ext uri="{FF2B5EF4-FFF2-40B4-BE49-F238E27FC236}">
                <a16:creationId xmlns:a16="http://schemas.microsoft.com/office/drawing/2014/main" id="{B17D0A22-3EAF-4796-A22E-78F7B7287BFC}"/>
              </a:ext>
            </a:extLst>
          </p:cNvPr>
          <p:cNvSpPr>
            <a:spLocks xmlns:a="http://schemas.openxmlformats.org/drawingml/2006/main" noGrp="1"/>
          </p:cNvSpPr>
          <p:nvPr/>
        </p:nvSpPr>
        <p:spPr>
          <a:xfrm xmlns:a="http://schemas.openxmlformats.org/drawingml/2006/main" rot="0">
            <a:off x="12842291" y="5745937"/>
            <a:ext cx="989874"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INSTRUMENTS</a:t>
            </a:r>
          </a:p>
        </p:txBody>
      </p:sp>
      <p:sp>
        <p:nvSpPr>
          <p:cNvPr id="111" name="Figure 15 label 69 line 1">
            <a:extLst xmlns:a="http://schemas.openxmlformats.org/drawingml/2006/main">
              <a:ext uri="{FF2B5EF4-FFF2-40B4-BE49-F238E27FC236}">
                <a16:creationId xmlns:a16="http://schemas.microsoft.com/office/drawing/2014/main" id="{7DEE95F2-186E-40CC-8923-D2007E538FD5}"/>
              </a:ext>
            </a:extLst>
          </p:cNvPr>
          <p:cNvSpPr>
            <a:spLocks xmlns:a="http://schemas.openxmlformats.org/drawingml/2006/main" noGrp="1"/>
          </p:cNvSpPr>
          <p:nvPr/>
        </p:nvSpPr>
        <p:spPr>
          <a:xfrm xmlns:a="http://schemas.openxmlformats.org/drawingml/2006/main" rot="0">
            <a:off x="12841376" y="5958688"/>
            <a:ext cx="1500777"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Flow cytometer</a:t>
            </a:r>
          </a:p>
        </p:txBody>
      </p:sp>
      <p:sp>
        <p:nvSpPr>
          <p:cNvPr id="112" name="Figure 15 label 69 line 2">
            <a:extLst xmlns:a="http://schemas.openxmlformats.org/drawingml/2006/main">
              <a:ext uri="{FF2B5EF4-FFF2-40B4-BE49-F238E27FC236}">
                <a16:creationId xmlns:a16="http://schemas.microsoft.com/office/drawing/2014/main" id="{A9E759C6-A88D-4E5C-B0EE-B8FF1270E9C4}"/>
              </a:ext>
            </a:extLst>
          </p:cNvPr>
          <p:cNvSpPr>
            <a:spLocks xmlns:a="http://schemas.openxmlformats.org/drawingml/2006/main" noGrp="1"/>
          </p:cNvSpPr>
          <p:nvPr/>
        </p:nvSpPr>
        <p:spPr>
          <a:xfrm xmlns:a="http://schemas.openxmlformats.org/drawingml/2006/main" rot="0">
            <a:off x="12841376" y="6144425"/>
            <a:ext cx="1500777"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High-content imaging</a:t>
            </a:r>
          </a:p>
        </p:txBody>
      </p:sp>
      <p:sp>
        <p:nvSpPr>
          <p:cNvPr id="113" name="Figure 15 label 69 line 3">
            <a:extLst xmlns:a="http://schemas.openxmlformats.org/drawingml/2006/main">
              <a:ext uri="{FF2B5EF4-FFF2-40B4-BE49-F238E27FC236}">
                <a16:creationId xmlns:a16="http://schemas.microsoft.com/office/drawing/2014/main" id="{5C2F5415-AD12-4BDE-AC38-B1CF37F3F920}"/>
              </a:ext>
            </a:extLst>
          </p:cNvPr>
          <p:cNvSpPr>
            <a:spLocks xmlns:a="http://schemas.openxmlformats.org/drawingml/2006/main" noGrp="1"/>
          </p:cNvSpPr>
          <p:nvPr/>
        </p:nvSpPr>
        <p:spPr>
          <a:xfrm xmlns:a="http://schemas.openxmlformats.org/drawingml/2006/main" rot="0">
            <a:off x="12841376" y="6330163"/>
            <a:ext cx="1500777"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Plate reader</a:t>
            </a:r>
          </a:p>
        </p:txBody>
      </p:sp>
      <p:sp>
        <p:nvSpPr>
          <p:cNvPr id="114" name="Figure 15 label 70 line 1">
            <a:extLst xmlns:a="http://schemas.openxmlformats.org/drawingml/2006/main">
              <a:ext uri="{FF2B5EF4-FFF2-40B4-BE49-F238E27FC236}">
                <a16:creationId xmlns:a16="http://schemas.microsoft.com/office/drawing/2014/main" id="{D6ED3E70-A7D3-48D4-B4F8-4FF27EA389C2}"/>
              </a:ext>
            </a:extLst>
          </p:cNvPr>
          <p:cNvSpPr>
            <a:spLocks xmlns:a="http://schemas.openxmlformats.org/drawingml/2006/main" noGrp="1"/>
          </p:cNvSpPr>
          <p:nvPr/>
        </p:nvSpPr>
        <p:spPr>
          <a:xfrm xmlns:a="http://schemas.openxmlformats.org/drawingml/2006/main" rot="0">
            <a:off x="12842291" y="6507937"/>
            <a:ext cx="1066669"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CONSUMABLES</a:t>
            </a:r>
          </a:p>
        </p:txBody>
      </p:sp>
      <p:sp>
        <p:nvSpPr>
          <p:cNvPr id="115" name="Figure 15 label 71 line 1">
            <a:extLst xmlns:a="http://schemas.openxmlformats.org/drawingml/2006/main">
              <a:ext uri="{FF2B5EF4-FFF2-40B4-BE49-F238E27FC236}">
                <a16:creationId xmlns:a16="http://schemas.microsoft.com/office/drawing/2014/main" id="{F59037CF-752D-4A2D-A551-0A31C7EDF7FF}"/>
              </a:ext>
            </a:extLst>
          </p:cNvPr>
          <p:cNvSpPr>
            <a:spLocks xmlns:a="http://schemas.openxmlformats.org/drawingml/2006/main" noGrp="1"/>
          </p:cNvSpPr>
          <p:nvPr/>
        </p:nvSpPr>
        <p:spPr>
          <a:xfrm xmlns:a="http://schemas.openxmlformats.org/drawingml/2006/main" rot="0">
            <a:off x="12841376" y="6720688"/>
            <a:ext cx="1789503"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Cell-culture plates / flasks</a:t>
            </a:r>
          </a:p>
        </p:txBody>
      </p:sp>
      <p:sp>
        <p:nvSpPr>
          <p:cNvPr id="116" name="Figure 15 label 71 line 2">
            <a:extLst xmlns:a="http://schemas.openxmlformats.org/drawingml/2006/main">
              <a:ext uri="{FF2B5EF4-FFF2-40B4-BE49-F238E27FC236}">
                <a16:creationId xmlns:a16="http://schemas.microsoft.com/office/drawing/2014/main" id="{0E27EA2F-5D4A-4562-A967-2F8BCAA00EFA}"/>
              </a:ext>
            </a:extLst>
          </p:cNvPr>
          <p:cNvSpPr>
            <a:spLocks xmlns:a="http://schemas.openxmlformats.org/drawingml/2006/main" noGrp="1"/>
          </p:cNvSpPr>
          <p:nvPr/>
        </p:nvSpPr>
        <p:spPr>
          <a:xfrm xmlns:a="http://schemas.openxmlformats.org/drawingml/2006/main" rot="0">
            <a:off x="12841376" y="6906425"/>
            <a:ext cx="1789503"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70" b="0">
                <a:solidFill>
                  <a:srgbClr val="00355F"/>
                </a:solidFill>
                <a:latin typeface="Arial"/>
                <a:ea typeface="Arial"/>
                <a:cs typeface="Arial"/>
              </a:defRPr>
            </a:defPPr>
          </a:lstStyle>
          <a:p xmlns:a="http://schemas.openxmlformats.org/drawingml/2006/main">
            <a:pPr algn="l">
              <a:lnSpc>
                <a:spcPct val="100000"/>
              </a:lnSpc>
              <a:buNone/>
              <a:defRPr sz="1170" b="0">
                <a:solidFill>
                  <a:srgbClr val="00355F"/>
                </a:solidFill>
                <a:latin typeface="Arial"/>
                <a:ea typeface="Arial"/>
                <a:cs typeface="Arial"/>
              </a:defRPr>
            </a:pPr>
            <a:r>
              <a:rPr sz="1170" b="0">
                <a:solidFill>
                  <a:srgbClr val="00355F"/>
                </a:solidFill>
                <a:latin typeface="Arial"/>
                <a:ea typeface="Arial"/>
                <a:cs typeface="Arial"/>
              </a:rPr>
              <a:t>Pipette tips, filters</a:t>
            </a:r>
          </a:p>
        </p:txBody>
      </p:sp>
      <p:sp>
        <p:nvSpPr>
          <p:cNvPr id="117" name="Figure 15 label 72 line 1">
            <a:extLst xmlns:a="http://schemas.openxmlformats.org/drawingml/2006/main">
              <a:ext uri="{FF2B5EF4-FFF2-40B4-BE49-F238E27FC236}">
                <a16:creationId xmlns:a16="http://schemas.microsoft.com/office/drawing/2014/main" id="{60FFEDCE-0B22-41AE-9D44-2DC3BFD10738}"/>
              </a:ext>
            </a:extLst>
          </p:cNvPr>
          <p:cNvSpPr>
            <a:spLocks xmlns:a="http://schemas.openxmlformats.org/drawingml/2006/main" noGrp="1"/>
          </p:cNvSpPr>
          <p:nvPr/>
        </p:nvSpPr>
        <p:spPr>
          <a:xfrm xmlns:a="http://schemas.openxmlformats.org/drawingml/2006/main" rot="0">
            <a:off x="12842596" y="7455561"/>
            <a:ext cx="1831306" cy="147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30" b="1">
                <a:solidFill>
                  <a:srgbClr val="00355F"/>
                </a:solidFill>
                <a:latin typeface="Arial"/>
                <a:ea typeface="Arial"/>
                <a:cs typeface="Arial"/>
              </a:defRPr>
            </a:defPPr>
          </a:lstStyle>
          <a:p xmlns:a="http://schemas.openxmlformats.org/drawingml/2006/main">
            <a:pPr algn="l">
              <a:lnSpc>
                <a:spcPct val="100000"/>
              </a:lnSpc>
              <a:buNone/>
              <a:defRPr sz="930" b="1">
                <a:solidFill>
                  <a:srgbClr val="00355F"/>
                </a:solidFill>
                <a:latin typeface="Arial"/>
                <a:ea typeface="Arial"/>
                <a:cs typeface="Arial"/>
              </a:defRPr>
            </a:pPr>
            <a:r>
              <a:rPr sz="930" b="1">
                <a:solidFill>
                  <a:srgbClr val="00355F"/>
                </a:solidFill>
                <a:latin typeface="Arial"/>
                <a:ea typeface="Arial"/>
                <a:cs typeface="Arial"/>
              </a:rPr>
              <a:t>REPRESENTATIVE SUPPLIERS</a:t>
            </a:r>
          </a:p>
        </p:txBody>
      </p:sp>
      <p:sp>
        <p:nvSpPr>
          <p:cNvPr id="118" name="Figure 15 label 73 line 1">
            <a:extLst xmlns:a="http://schemas.openxmlformats.org/drawingml/2006/main">
              <a:ext uri="{FF2B5EF4-FFF2-40B4-BE49-F238E27FC236}">
                <a16:creationId xmlns:a16="http://schemas.microsoft.com/office/drawing/2014/main" id="{F5155D68-132E-4069-A5A3-F91BC5F365E5}"/>
              </a:ext>
            </a:extLst>
          </p:cNvPr>
          <p:cNvSpPr>
            <a:spLocks xmlns:a="http://schemas.openxmlformats.org/drawingml/2006/main" noGrp="1"/>
          </p:cNvSpPr>
          <p:nvPr/>
        </p:nvSpPr>
        <p:spPr>
          <a:xfrm xmlns:a="http://schemas.openxmlformats.org/drawingml/2006/main" rot="0">
            <a:off x="12842291" y="8123377"/>
            <a:ext cx="2105638"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Gibco · OPM · Vazyme · Bio-Techne</a:t>
            </a:r>
          </a:p>
        </p:txBody>
      </p:sp>
      <p:sp>
        <p:nvSpPr>
          <p:cNvPr id="119" name="Figure 15 label 73 line 2">
            <a:extLst xmlns:a="http://schemas.openxmlformats.org/drawingml/2006/main">
              <a:ext uri="{FF2B5EF4-FFF2-40B4-BE49-F238E27FC236}">
                <a16:creationId xmlns:a16="http://schemas.microsoft.com/office/drawing/2014/main" id="{E640F9AC-A385-443B-8C01-3CFF578C75ED}"/>
              </a:ext>
            </a:extLst>
          </p:cNvPr>
          <p:cNvSpPr>
            <a:spLocks xmlns:a="http://schemas.openxmlformats.org/drawingml/2006/main" noGrp="1"/>
          </p:cNvSpPr>
          <p:nvPr/>
        </p:nvSpPr>
        <p:spPr>
          <a:xfrm xmlns:a="http://schemas.openxmlformats.org/drawingml/2006/main" rot="0">
            <a:off x="12842291" y="8280540"/>
            <a:ext cx="2105638"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Molecular Devices · Corning</a:t>
            </a:r>
          </a:p>
        </p:txBody>
      </p:sp>
      <p:sp>
        <p:nvSpPr>
          <p:cNvPr id="120" name="Figure 15 label 73 line 3">
            <a:extLst xmlns:a="http://schemas.openxmlformats.org/drawingml/2006/main">
              <a:ext uri="{FF2B5EF4-FFF2-40B4-BE49-F238E27FC236}">
                <a16:creationId xmlns:a16="http://schemas.microsoft.com/office/drawing/2014/main" id="{5F0C13FD-1C46-49EA-A82E-626E4718EE3C}"/>
              </a:ext>
            </a:extLst>
          </p:cNvPr>
          <p:cNvSpPr>
            <a:spLocks xmlns:a="http://schemas.openxmlformats.org/drawingml/2006/main" noGrp="1"/>
          </p:cNvSpPr>
          <p:nvPr/>
        </p:nvSpPr>
        <p:spPr>
          <a:xfrm xmlns:a="http://schemas.openxmlformats.org/drawingml/2006/main" rot="0">
            <a:off x="12842291" y="8437702"/>
            <a:ext cx="2105638"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Waters Biosciences (ex-BD)</a:t>
            </a:r>
          </a:p>
        </p:txBody>
      </p:sp>
      <p:sp>
        <p:nvSpPr>
          <p:cNvPr id="121" name="Figure 15 label 74 line 1">
            <a:extLst xmlns:a="http://schemas.openxmlformats.org/drawingml/2006/main">
              <a:ext uri="{FF2B5EF4-FFF2-40B4-BE49-F238E27FC236}">
                <a16:creationId xmlns:a16="http://schemas.microsoft.com/office/drawing/2014/main" id="{50A82756-AF63-40FD-A5CC-9CA4C73F48D1}"/>
              </a:ext>
            </a:extLst>
          </p:cNvPr>
          <p:cNvSpPr>
            <a:spLocks xmlns:a="http://schemas.openxmlformats.org/drawingml/2006/main" noGrp="1"/>
          </p:cNvSpPr>
          <p:nvPr/>
        </p:nvSpPr>
        <p:spPr>
          <a:xfrm xmlns:a="http://schemas.openxmlformats.org/drawingml/2006/main" rot="0">
            <a:off x="15782544" y="2726436"/>
            <a:ext cx="920591"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06  /  LEARN</a:t>
            </a:r>
          </a:p>
        </p:txBody>
      </p:sp>
      <p:sp>
        <p:nvSpPr>
          <p:cNvPr id="122" name="Figure 15 label 75 line 1">
            <a:extLst xmlns:a="http://schemas.openxmlformats.org/drawingml/2006/main">
              <a:ext uri="{FF2B5EF4-FFF2-40B4-BE49-F238E27FC236}">
                <a16:creationId xmlns:a16="http://schemas.microsoft.com/office/drawing/2014/main" id="{2716BE12-FBF4-4B72-B284-62DD3234CBB8}"/>
              </a:ext>
            </a:extLst>
          </p:cNvPr>
          <p:cNvSpPr>
            <a:spLocks xmlns:a="http://schemas.openxmlformats.org/drawingml/2006/main" noGrp="1"/>
          </p:cNvSpPr>
          <p:nvPr/>
        </p:nvSpPr>
        <p:spPr>
          <a:xfrm xmlns:a="http://schemas.openxmlformats.org/drawingml/2006/main" rot="0">
            <a:off x="15780106" y="3108351"/>
            <a:ext cx="176284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Data integration</a:t>
            </a:r>
          </a:p>
        </p:txBody>
      </p:sp>
      <p:sp>
        <p:nvSpPr>
          <p:cNvPr id="123" name="Figure 15 label 75 line 2">
            <a:extLst xmlns:a="http://schemas.openxmlformats.org/drawingml/2006/main">
              <a:ext uri="{FF2B5EF4-FFF2-40B4-BE49-F238E27FC236}">
                <a16:creationId xmlns:a16="http://schemas.microsoft.com/office/drawing/2014/main" id="{D8B21194-7BBF-43CE-86B5-4D11B0BC8698}"/>
              </a:ext>
            </a:extLst>
          </p:cNvPr>
          <p:cNvSpPr>
            <a:spLocks xmlns:a="http://schemas.openxmlformats.org/drawingml/2006/main" noGrp="1"/>
          </p:cNvSpPr>
          <p:nvPr/>
        </p:nvSpPr>
        <p:spPr>
          <a:xfrm xmlns:a="http://schemas.openxmlformats.org/drawingml/2006/main" rot="0">
            <a:off x="15780106" y="3375051"/>
            <a:ext cx="176284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&amp; feedback</a:t>
            </a:r>
          </a:p>
        </p:txBody>
      </p:sp>
      <p:sp>
        <p:nvSpPr>
          <p:cNvPr id="124" name="Figure 15 label 76 line 1">
            <a:extLst xmlns:a="http://schemas.openxmlformats.org/drawingml/2006/main">
              <a:ext uri="{FF2B5EF4-FFF2-40B4-BE49-F238E27FC236}">
                <a16:creationId xmlns:a16="http://schemas.microsoft.com/office/drawing/2014/main" id="{1C43C38E-CCF2-4626-B965-65D552F788A7}"/>
              </a:ext>
            </a:extLst>
          </p:cNvPr>
          <p:cNvSpPr>
            <a:spLocks xmlns:a="http://schemas.openxmlformats.org/drawingml/2006/main" noGrp="1"/>
          </p:cNvSpPr>
          <p:nvPr/>
        </p:nvSpPr>
        <p:spPr>
          <a:xfrm xmlns:a="http://schemas.openxmlformats.org/drawingml/2006/main" rot="0">
            <a:off x="15782544" y="3816096"/>
            <a:ext cx="148018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Link assay results</a:t>
            </a:r>
          </a:p>
        </p:txBody>
      </p:sp>
      <p:sp>
        <p:nvSpPr>
          <p:cNvPr id="125" name="Figure 15 label 76 line 2">
            <a:extLst xmlns:a="http://schemas.openxmlformats.org/drawingml/2006/main">
              <a:ext uri="{FF2B5EF4-FFF2-40B4-BE49-F238E27FC236}">
                <a16:creationId xmlns:a16="http://schemas.microsoft.com/office/drawing/2014/main" id="{770B65F6-8B08-4E68-8BD1-6E18CD45A3C2}"/>
              </a:ext>
            </a:extLst>
          </p:cNvPr>
          <p:cNvSpPr>
            <a:spLocks xmlns:a="http://schemas.openxmlformats.org/drawingml/2006/main" noGrp="1"/>
          </p:cNvSpPr>
          <p:nvPr/>
        </p:nvSpPr>
        <p:spPr>
          <a:xfrm xmlns:a="http://schemas.openxmlformats.org/drawingml/2006/main" rot="0">
            <a:off x="15782544" y="4006596"/>
            <a:ext cx="148018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to the next AI design</a:t>
            </a:r>
          </a:p>
        </p:txBody>
      </p:sp>
      <p:sp>
        <p:nvSpPr>
          <p:cNvPr id="126" name="Figure 15 label 77 line 1">
            <a:extLst xmlns:a="http://schemas.openxmlformats.org/drawingml/2006/main">
              <a:ext uri="{FF2B5EF4-FFF2-40B4-BE49-F238E27FC236}">
                <a16:creationId xmlns:a16="http://schemas.microsoft.com/office/drawing/2014/main" id="{4FC589DC-3DDE-4768-B09B-A967DF67C29A}"/>
              </a:ext>
            </a:extLst>
          </p:cNvPr>
          <p:cNvSpPr>
            <a:spLocks xmlns:a="http://schemas.openxmlformats.org/drawingml/2006/main" noGrp="1"/>
          </p:cNvSpPr>
          <p:nvPr/>
        </p:nvSpPr>
        <p:spPr>
          <a:xfrm xmlns:a="http://schemas.openxmlformats.org/drawingml/2006/main" rot="0">
            <a:off x="15829940" y="4448404"/>
            <a:ext cx="526042"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OUTPUT</a:t>
            </a:r>
          </a:p>
        </p:txBody>
      </p:sp>
      <p:sp>
        <p:nvSpPr>
          <p:cNvPr id="127" name="Figure 15 label 78 line 1">
            <a:extLst xmlns:a="http://schemas.openxmlformats.org/drawingml/2006/main">
              <a:ext uri="{FF2B5EF4-FFF2-40B4-BE49-F238E27FC236}">
                <a16:creationId xmlns:a16="http://schemas.microsoft.com/office/drawing/2014/main" id="{1AE7D775-FC17-4EFC-ADFA-090F2973E245}"/>
              </a:ext>
            </a:extLst>
          </p:cNvPr>
          <p:cNvSpPr>
            <a:spLocks xmlns:a="http://schemas.openxmlformats.org/drawingml/2006/main" noGrp="1"/>
          </p:cNvSpPr>
          <p:nvPr/>
        </p:nvSpPr>
        <p:spPr>
          <a:xfrm xmlns:a="http://schemas.openxmlformats.org/drawingml/2006/main" rot="0">
            <a:off x="15828874" y="4667402"/>
            <a:ext cx="158324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0" b="1">
                <a:solidFill>
                  <a:srgbClr val="00355F"/>
                </a:solidFill>
                <a:latin typeface="Arial"/>
                <a:ea typeface="Arial"/>
                <a:cs typeface="Arial"/>
              </a:defRPr>
            </a:defPPr>
          </a:lstStyle>
          <a:p xmlns:a="http://schemas.openxmlformats.org/drawingml/2006/main">
            <a:pPr algn="l">
              <a:lnSpc>
                <a:spcPct val="100000"/>
              </a:lnSpc>
              <a:buNone/>
              <a:defRPr sz="1080" b="1">
                <a:solidFill>
                  <a:srgbClr val="00355F"/>
                </a:solidFill>
                <a:latin typeface="Arial"/>
                <a:ea typeface="Arial"/>
                <a:cs typeface="Arial"/>
              </a:defRPr>
            </a:pPr>
            <a:r>
              <a:rPr sz="1080" b="1">
                <a:solidFill>
                  <a:srgbClr val="00355F"/>
                </a:solidFill>
                <a:latin typeface="Arial"/>
                <a:ea typeface="Arial"/>
                <a:cs typeface="Arial"/>
              </a:rPr>
              <a:t>Traceable training data</a:t>
            </a:r>
          </a:p>
        </p:txBody>
      </p:sp>
      <p:sp>
        <p:nvSpPr>
          <p:cNvPr id="128" name="Figure 15 label 79 line 1">
            <a:extLst xmlns:a="http://schemas.openxmlformats.org/drawingml/2006/main">
              <a:ext uri="{FF2B5EF4-FFF2-40B4-BE49-F238E27FC236}">
                <a16:creationId xmlns:a16="http://schemas.microsoft.com/office/drawing/2014/main" id="{867D678D-6A61-4A25-8442-7DE8900172D0}"/>
              </a:ext>
            </a:extLst>
          </p:cNvPr>
          <p:cNvSpPr>
            <a:spLocks xmlns:a="http://schemas.openxmlformats.org/drawingml/2006/main" noGrp="1"/>
          </p:cNvSpPr>
          <p:nvPr/>
        </p:nvSpPr>
        <p:spPr>
          <a:xfrm xmlns:a="http://schemas.openxmlformats.org/drawingml/2006/main" rot="0">
            <a:off x="15783611" y="4983937"/>
            <a:ext cx="780324"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REAGENTS</a:t>
            </a:r>
          </a:p>
        </p:txBody>
      </p:sp>
      <p:sp>
        <p:nvSpPr>
          <p:cNvPr id="129" name="Figure 15 label 80 line 1">
            <a:extLst xmlns:a="http://schemas.openxmlformats.org/drawingml/2006/main">
              <a:ext uri="{FF2B5EF4-FFF2-40B4-BE49-F238E27FC236}">
                <a16:creationId xmlns:a16="http://schemas.microsoft.com/office/drawing/2014/main" id="{F295BAC6-F043-4166-A6EB-C842937CE91E}"/>
              </a:ext>
            </a:extLst>
          </p:cNvPr>
          <p:cNvSpPr>
            <a:spLocks xmlns:a="http://schemas.openxmlformats.org/drawingml/2006/main" noGrp="1"/>
          </p:cNvSpPr>
          <p:nvPr/>
        </p:nvSpPr>
        <p:spPr>
          <a:xfrm xmlns:a="http://schemas.openxmlformats.org/drawingml/2006/main" rot="0">
            <a:off x="15783154" y="5200803"/>
            <a:ext cx="1019479"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0" b="0">
                <a:solidFill>
                  <a:srgbClr val="00355F"/>
                </a:solidFill>
                <a:latin typeface="Arial"/>
                <a:ea typeface="Arial"/>
                <a:cs typeface="Arial"/>
              </a:defRPr>
            </a:defPPr>
          </a:lstStyle>
          <a:p xmlns:a="http://schemas.openxmlformats.org/drawingml/2006/main">
            <a:pPr algn="l">
              <a:lnSpc>
                <a:spcPct val="100000"/>
              </a:lnSpc>
              <a:buNone/>
              <a:defRPr sz="1080" b="0">
                <a:solidFill>
                  <a:srgbClr val="00355F"/>
                </a:solidFill>
                <a:latin typeface="Arial"/>
                <a:ea typeface="Arial"/>
                <a:cs typeface="Arial"/>
              </a:defRPr>
            </a:pPr>
            <a:r>
              <a:rPr sz="1080" b="0">
                <a:solidFill>
                  <a:srgbClr val="00355F"/>
                </a:solidFill>
                <a:latin typeface="Arial"/>
                <a:ea typeface="Arial"/>
                <a:cs typeface="Arial"/>
              </a:rPr>
              <a:t>No direct</a:t>
            </a:r>
          </a:p>
        </p:txBody>
      </p:sp>
      <p:sp>
        <p:nvSpPr>
          <p:cNvPr id="130" name="Figure 15 label 80 line 2">
            <a:extLst xmlns:a="http://schemas.openxmlformats.org/drawingml/2006/main">
              <a:ext uri="{FF2B5EF4-FFF2-40B4-BE49-F238E27FC236}">
                <a16:creationId xmlns:a16="http://schemas.microsoft.com/office/drawing/2014/main" id="{E08955EF-8818-4ED4-93B0-FE74E8D841FF}"/>
              </a:ext>
            </a:extLst>
          </p:cNvPr>
          <p:cNvSpPr>
            <a:spLocks xmlns:a="http://schemas.openxmlformats.org/drawingml/2006/main" noGrp="1"/>
          </p:cNvSpPr>
          <p:nvPr/>
        </p:nvSpPr>
        <p:spPr>
          <a:xfrm xmlns:a="http://schemas.openxmlformats.org/drawingml/2006/main" rot="0">
            <a:off x="15783154" y="5372253"/>
            <a:ext cx="1019479"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0" b="0">
                <a:solidFill>
                  <a:srgbClr val="00355F"/>
                </a:solidFill>
                <a:latin typeface="Arial"/>
                <a:ea typeface="Arial"/>
                <a:cs typeface="Arial"/>
              </a:defRPr>
            </a:defPPr>
          </a:lstStyle>
          <a:p xmlns:a="http://schemas.openxmlformats.org/drawingml/2006/main">
            <a:pPr algn="l">
              <a:lnSpc>
                <a:spcPct val="100000"/>
              </a:lnSpc>
              <a:buNone/>
              <a:defRPr sz="1080" b="0">
                <a:solidFill>
                  <a:srgbClr val="00355F"/>
                </a:solidFill>
                <a:latin typeface="Arial"/>
                <a:ea typeface="Arial"/>
                <a:cs typeface="Arial"/>
              </a:defRPr>
            </a:pPr>
            <a:r>
              <a:rPr sz="1080" b="0">
                <a:solidFill>
                  <a:srgbClr val="00355F"/>
                </a:solidFill>
                <a:latin typeface="Arial"/>
                <a:ea typeface="Arial"/>
                <a:cs typeface="Arial"/>
              </a:rPr>
              <a:t>assay reagents</a:t>
            </a:r>
          </a:p>
        </p:txBody>
      </p:sp>
      <p:sp>
        <p:nvSpPr>
          <p:cNvPr id="131" name="Figure 15 label 81 line 1">
            <a:extLst xmlns:a="http://schemas.openxmlformats.org/drawingml/2006/main">
              <a:ext uri="{FF2B5EF4-FFF2-40B4-BE49-F238E27FC236}">
                <a16:creationId xmlns:a16="http://schemas.microsoft.com/office/drawing/2014/main" id="{387500C1-CA99-405D-AAB1-42E290204C4A}"/>
              </a:ext>
            </a:extLst>
          </p:cNvPr>
          <p:cNvSpPr>
            <a:spLocks xmlns:a="http://schemas.openxmlformats.org/drawingml/2006/main" noGrp="1"/>
          </p:cNvSpPr>
          <p:nvPr/>
        </p:nvSpPr>
        <p:spPr>
          <a:xfrm xmlns:a="http://schemas.openxmlformats.org/drawingml/2006/main" rot="0">
            <a:off x="15783611" y="5745937"/>
            <a:ext cx="1499908"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SYSTEMS / SOFTWARE</a:t>
            </a:r>
          </a:p>
        </p:txBody>
      </p:sp>
      <p:sp>
        <p:nvSpPr>
          <p:cNvPr id="132" name="Figure 15 label 82 line 1">
            <a:extLst xmlns:a="http://schemas.openxmlformats.org/drawingml/2006/main">
              <a:ext uri="{FF2B5EF4-FFF2-40B4-BE49-F238E27FC236}">
                <a16:creationId xmlns:a16="http://schemas.microsoft.com/office/drawing/2014/main" id="{12468082-0BBC-443B-B57F-A0F2360A32EA}"/>
              </a:ext>
            </a:extLst>
          </p:cNvPr>
          <p:cNvSpPr>
            <a:spLocks xmlns:a="http://schemas.openxmlformats.org/drawingml/2006/main" noGrp="1"/>
          </p:cNvSpPr>
          <p:nvPr/>
        </p:nvSpPr>
        <p:spPr>
          <a:xfrm xmlns:a="http://schemas.openxmlformats.org/drawingml/2006/main" rot="0">
            <a:off x="15783154" y="5962803"/>
            <a:ext cx="133201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0" b="0">
                <a:solidFill>
                  <a:srgbClr val="00355F"/>
                </a:solidFill>
                <a:latin typeface="Arial"/>
                <a:ea typeface="Arial"/>
                <a:cs typeface="Arial"/>
              </a:defRPr>
            </a:defPPr>
          </a:lstStyle>
          <a:p xmlns:a="http://schemas.openxmlformats.org/drawingml/2006/main">
            <a:pPr algn="l">
              <a:lnSpc>
                <a:spcPct val="100000"/>
              </a:lnSpc>
              <a:buNone/>
              <a:defRPr sz="1080" b="0">
                <a:solidFill>
                  <a:srgbClr val="00355F"/>
                </a:solidFill>
                <a:latin typeface="Arial"/>
                <a:ea typeface="Arial"/>
                <a:cs typeface="Arial"/>
              </a:defRPr>
            </a:pPr>
            <a:r>
              <a:rPr sz="1080" b="0">
                <a:solidFill>
                  <a:srgbClr val="00355F"/>
                </a:solidFill>
                <a:latin typeface="Arial"/>
                <a:ea typeface="Arial"/>
                <a:cs typeface="Arial"/>
              </a:rPr>
              <a:t>LIMS / ELN</a:t>
            </a:r>
          </a:p>
        </p:txBody>
      </p:sp>
      <p:sp>
        <p:nvSpPr>
          <p:cNvPr id="133" name="Figure 15 label 82 line 2">
            <a:extLst xmlns:a="http://schemas.openxmlformats.org/drawingml/2006/main">
              <a:ext uri="{FF2B5EF4-FFF2-40B4-BE49-F238E27FC236}">
                <a16:creationId xmlns:a16="http://schemas.microsoft.com/office/drawing/2014/main" id="{213D0596-22FC-4F8C-B776-9BAFEE3636CE}"/>
              </a:ext>
            </a:extLst>
          </p:cNvPr>
          <p:cNvSpPr>
            <a:spLocks xmlns:a="http://schemas.openxmlformats.org/drawingml/2006/main" noGrp="1"/>
          </p:cNvSpPr>
          <p:nvPr/>
        </p:nvSpPr>
        <p:spPr>
          <a:xfrm xmlns:a="http://schemas.openxmlformats.org/drawingml/2006/main" rot="0">
            <a:off x="15783154" y="6134253"/>
            <a:ext cx="133201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0" b="0">
                <a:solidFill>
                  <a:srgbClr val="00355F"/>
                </a:solidFill>
                <a:latin typeface="Arial"/>
                <a:ea typeface="Arial"/>
                <a:cs typeface="Arial"/>
              </a:defRPr>
            </a:defPPr>
          </a:lstStyle>
          <a:p xmlns:a="http://schemas.openxmlformats.org/drawingml/2006/main">
            <a:pPr algn="l">
              <a:lnSpc>
                <a:spcPct val="100000"/>
              </a:lnSpc>
              <a:buNone/>
              <a:defRPr sz="1080" b="0">
                <a:solidFill>
                  <a:srgbClr val="00355F"/>
                </a:solidFill>
                <a:latin typeface="Arial"/>
                <a:ea typeface="Arial"/>
                <a:cs typeface="Arial"/>
              </a:defRPr>
            </a:pPr>
            <a:r>
              <a:rPr sz="1080" b="0">
                <a:solidFill>
                  <a:srgbClr val="00355F"/>
                </a:solidFill>
                <a:latin typeface="Arial"/>
                <a:ea typeface="Arial"/>
                <a:cs typeface="Arial"/>
              </a:rPr>
              <a:t>Linked data platform</a:t>
            </a:r>
          </a:p>
        </p:txBody>
      </p:sp>
      <p:sp>
        <p:nvSpPr>
          <p:cNvPr id="134" name="Figure 15 label 82 line 3">
            <a:extLst xmlns:a="http://schemas.openxmlformats.org/drawingml/2006/main">
              <a:ext uri="{FF2B5EF4-FFF2-40B4-BE49-F238E27FC236}">
                <a16:creationId xmlns:a16="http://schemas.microsoft.com/office/drawing/2014/main" id="{735F6ABB-87D4-4941-96C8-94C06CAA969E}"/>
              </a:ext>
            </a:extLst>
          </p:cNvPr>
          <p:cNvSpPr>
            <a:spLocks xmlns:a="http://schemas.openxmlformats.org/drawingml/2006/main" noGrp="1"/>
          </p:cNvSpPr>
          <p:nvPr/>
        </p:nvSpPr>
        <p:spPr>
          <a:xfrm xmlns:a="http://schemas.openxmlformats.org/drawingml/2006/main" rot="0">
            <a:off x="15783154" y="6305703"/>
            <a:ext cx="133201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0" b="0">
                <a:solidFill>
                  <a:srgbClr val="00355F"/>
                </a:solidFill>
                <a:latin typeface="Arial"/>
                <a:ea typeface="Arial"/>
                <a:cs typeface="Arial"/>
              </a:defRPr>
            </a:defPPr>
          </a:lstStyle>
          <a:p xmlns:a="http://schemas.openxmlformats.org/drawingml/2006/main">
            <a:pPr algn="l">
              <a:lnSpc>
                <a:spcPct val="100000"/>
              </a:lnSpc>
              <a:buNone/>
              <a:defRPr sz="1080" b="0">
                <a:solidFill>
                  <a:srgbClr val="00355F"/>
                </a:solidFill>
                <a:latin typeface="Arial"/>
                <a:ea typeface="Arial"/>
                <a:cs typeface="Arial"/>
              </a:defRPr>
            </a:pPr>
            <a:r>
              <a:rPr sz="1080" b="0">
                <a:solidFill>
                  <a:srgbClr val="00355F"/>
                </a:solidFill>
                <a:latin typeface="Arial"/>
                <a:ea typeface="Arial"/>
                <a:cs typeface="Arial"/>
              </a:rPr>
              <a:t>Lab orchestration</a:t>
            </a:r>
          </a:p>
        </p:txBody>
      </p:sp>
      <p:sp>
        <p:nvSpPr>
          <p:cNvPr id="135" name="Figure 15 label 83 line 1">
            <a:extLst xmlns:a="http://schemas.openxmlformats.org/drawingml/2006/main">
              <a:ext uri="{FF2B5EF4-FFF2-40B4-BE49-F238E27FC236}">
                <a16:creationId xmlns:a16="http://schemas.microsoft.com/office/drawing/2014/main" id="{68F7F486-4A42-4DF6-8257-3DB889C669F0}"/>
              </a:ext>
            </a:extLst>
          </p:cNvPr>
          <p:cNvSpPr>
            <a:spLocks xmlns:a="http://schemas.openxmlformats.org/drawingml/2006/main" noGrp="1"/>
          </p:cNvSpPr>
          <p:nvPr/>
        </p:nvSpPr>
        <p:spPr>
          <a:xfrm xmlns:a="http://schemas.openxmlformats.org/drawingml/2006/main" rot="0">
            <a:off x="15783611" y="6507937"/>
            <a:ext cx="1066669"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1">
                <a:solidFill>
                  <a:srgbClr val="00355F"/>
                </a:solidFill>
                <a:latin typeface="Arial"/>
                <a:ea typeface="Arial"/>
                <a:cs typeface="Arial"/>
              </a:defRPr>
            </a:defPPr>
          </a:lstStyle>
          <a:p xmlns:a="http://schemas.openxmlformats.org/drawingml/2006/main">
            <a:pPr algn="l">
              <a:lnSpc>
                <a:spcPct val="100000"/>
              </a:lnSpc>
              <a:buNone/>
              <a:defRPr sz="990" b="1">
                <a:solidFill>
                  <a:srgbClr val="00355F"/>
                </a:solidFill>
                <a:latin typeface="Arial"/>
                <a:ea typeface="Arial"/>
                <a:cs typeface="Arial"/>
              </a:defRPr>
            </a:pPr>
            <a:r>
              <a:rPr sz="990" b="1">
                <a:solidFill>
                  <a:srgbClr val="00355F"/>
                </a:solidFill>
                <a:latin typeface="Arial"/>
                <a:ea typeface="Arial"/>
                <a:cs typeface="Arial"/>
              </a:rPr>
              <a:t>CONSUMABLES</a:t>
            </a:r>
          </a:p>
        </p:txBody>
      </p:sp>
      <p:sp>
        <p:nvSpPr>
          <p:cNvPr id="136" name="Figure 15 label 84 line 1">
            <a:extLst xmlns:a="http://schemas.openxmlformats.org/drawingml/2006/main">
              <a:ext uri="{FF2B5EF4-FFF2-40B4-BE49-F238E27FC236}">
                <a16:creationId xmlns:a16="http://schemas.microsoft.com/office/drawing/2014/main" id="{3FA26210-201B-4B1A-949E-3AC43D1F4C34}"/>
              </a:ext>
            </a:extLst>
          </p:cNvPr>
          <p:cNvSpPr>
            <a:spLocks xmlns:a="http://schemas.openxmlformats.org/drawingml/2006/main" noGrp="1"/>
          </p:cNvSpPr>
          <p:nvPr/>
        </p:nvSpPr>
        <p:spPr>
          <a:xfrm xmlns:a="http://schemas.openxmlformats.org/drawingml/2006/main" rot="0">
            <a:off x="15783154" y="6724803"/>
            <a:ext cx="1293769"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0" b="0">
                <a:solidFill>
                  <a:srgbClr val="00355F"/>
                </a:solidFill>
                <a:latin typeface="Arial"/>
                <a:ea typeface="Arial"/>
                <a:cs typeface="Arial"/>
              </a:defRPr>
            </a:defPPr>
          </a:lstStyle>
          <a:p xmlns:a="http://schemas.openxmlformats.org/drawingml/2006/main">
            <a:pPr algn="l">
              <a:lnSpc>
                <a:spcPct val="100000"/>
              </a:lnSpc>
              <a:buNone/>
              <a:defRPr sz="1080" b="0">
                <a:solidFill>
                  <a:srgbClr val="00355F"/>
                </a:solidFill>
                <a:latin typeface="Arial"/>
                <a:ea typeface="Arial"/>
                <a:cs typeface="Arial"/>
              </a:defRPr>
            </a:pPr>
            <a:r>
              <a:rPr sz="1080" b="0">
                <a:solidFill>
                  <a:srgbClr val="00355F"/>
                </a:solidFill>
                <a:latin typeface="Arial"/>
                <a:ea typeface="Arial"/>
                <a:cs typeface="Arial"/>
              </a:rPr>
              <a:t>No direct</a:t>
            </a:r>
          </a:p>
        </p:txBody>
      </p:sp>
      <p:sp>
        <p:nvSpPr>
          <p:cNvPr id="137" name="Figure 15 label 84 line 2">
            <a:extLst xmlns:a="http://schemas.openxmlformats.org/drawingml/2006/main">
              <a:ext uri="{FF2B5EF4-FFF2-40B4-BE49-F238E27FC236}">
                <a16:creationId xmlns:a16="http://schemas.microsoft.com/office/drawing/2014/main" id="{478253B2-01A6-4597-BDBD-4210B3EE79BD}"/>
              </a:ext>
            </a:extLst>
          </p:cNvPr>
          <p:cNvSpPr>
            <a:spLocks xmlns:a="http://schemas.openxmlformats.org/drawingml/2006/main" noGrp="1"/>
          </p:cNvSpPr>
          <p:nvPr/>
        </p:nvSpPr>
        <p:spPr>
          <a:xfrm xmlns:a="http://schemas.openxmlformats.org/drawingml/2006/main" rot="0">
            <a:off x="15783154" y="6896253"/>
            <a:ext cx="1293769"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0" b="0">
                <a:solidFill>
                  <a:srgbClr val="00355F"/>
                </a:solidFill>
                <a:latin typeface="Arial"/>
                <a:ea typeface="Arial"/>
                <a:cs typeface="Arial"/>
              </a:defRPr>
            </a:defPPr>
          </a:lstStyle>
          <a:p xmlns:a="http://schemas.openxmlformats.org/drawingml/2006/main">
            <a:pPr algn="l">
              <a:lnSpc>
                <a:spcPct val="100000"/>
              </a:lnSpc>
              <a:buNone/>
              <a:defRPr sz="1080" b="0">
                <a:solidFill>
                  <a:srgbClr val="00355F"/>
                </a:solidFill>
                <a:latin typeface="Arial"/>
                <a:ea typeface="Arial"/>
                <a:cs typeface="Arial"/>
              </a:defRPr>
            </a:pPr>
            <a:r>
              <a:rPr sz="1080" b="0">
                <a:solidFill>
                  <a:srgbClr val="00355F"/>
                </a:solidFill>
                <a:latin typeface="Arial"/>
                <a:ea typeface="Arial"/>
                <a:cs typeface="Arial"/>
              </a:rPr>
              <a:t>assay consumables</a:t>
            </a:r>
          </a:p>
        </p:txBody>
      </p:sp>
      <p:sp>
        <p:nvSpPr>
          <p:cNvPr id="138" name="Figure 15 label 85 line 1">
            <a:extLst xmlns:a="http://schemas.openxmlformats.org/drawingml/2006/main">
              <a:ext uri="{FF2B5EF4-FFF2-40B4-BE49-F238E27FC236}">
                <a16:creationId xmlns:a16="http://schemas.microsoft.com/office/drawing/2014/main" id="{0F0D7201-C460-4A18-8121-DF386EC176CC}"/>
              </a:ext>
            </a:extLst>
          </p:cNvPr>
          <p:cNvSpPr>
            <a:spLocks xmlns:a="http://schemas.openxmlformats.org/drawingml/2006/main" noGrp="1"/>
          </p:cNvSpPr>
          <p:nvPr/>
        </p:nvSpPr>
        <p:spPr>
          <a:xfrm xmlns:a="http://schemas.openxmlformats.org/drawingml/2006/main" rot="0">
            <a:off x="15784373" y="7459675"/>
            <a:ext cx="1654064"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REPRESENTATIVE SUPPLIERS</a:t>
            </a:r>
          </a:p>
        </p:txBody>
      </p:sp>
      <p:sp>
        <p:nvSpPr>
          <p:cNvPr id="139" name="Figure 15 label 86 line 1">
            <a:extLst xmlns:a="http://schemas.openxmlformats.org/drawingml/2006/main">
              <a:ext uri="{FF2B5EF4-FFF2-40B4-BE49-F238E27FC236}">
                <a16:creationId xmlns:a16="http://schemas.microsoft.com/office/drawing/2014/main" id="{D047DB7E-C0A5-401C-932E-B36638BBCF09}"/>
              </a:ext>
            </a:extLst>
          </p:cNvPr>
          <p:cNvSpPr>
            <a:spLocks xmlns:a="http://schemas.openxmlformats.org/drawingml/2006/main" noGrp="1"/>
          </p:cNvSpPr>
          <p:nvPr/>
        </p:nvSpPr>
        <p:spPr>
          <a:xfrm xmlns:a="http://schemas.openxmlformats.org/drawingml/2006/main" rot="0">
            <a:off x="15783458" y="8122006"/>
            <a:ext cx="133733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Hamilton</a:t>
            </a:r>
          </a:p>
        </p:txBody>
      </p:sp>
      <p:sp>
        <p:nvSpPr>
          <p:cNvPr id="140" name="Figure 15 label 86 line 2">
            <a:extLst xmlns:a="http://schemas.openxmlformats.org/drawingml/2006/main">
              <a:ext uri="{FF2B5EF4-FFF2-40B4-BE49-F238E27FC236}">
                <a16:creationId xmlns:a16="http://schemas.microsoft.com/office/drawing/2014/main" id="{7CC1D7A3-BFD9-4C1C-B666-A8ACFBD8B170}"/>
              </a:ext>
            </a:extLst>
          </p:cNvPr>
          <p:cNvSpPr>
            <a:spLocks xmlns:a="http://schemas.openxmlformats.org/drawingml/2006/main" noGrp="1"/>
          </p:cNvSpPr>
          <p:nvPr/>
        </p:nvSpPr>
        <p:spPr>
          <a:xfrm xmlns:a="http://schemas.openxmlformats.org/drawingml/2006/main" rot="0">
            <a:off x="15783458" y="8283931"/>
            <a:ext cx="133733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Benchling · Genedata</a:t>
            </a:r>
          </a:p>
        </p:txBody>
      </p:sp>
      <p:sp>
        <p:nvSpPr>
          <p:cNvPr id="141" name="Figure 15 label 87 line 1">
            <a:extLst xmlns:a="http://schemas.openxmlformats.org/drawingml/2006/main">
              <a:ext uri="{FF2B5EF4-FFF2-40B4-BE49-F238E27FC236}">
                <a16:creationId xmlns:a16="http://schemas.microsoft.com/office/drawing/2014/main" id="{488E646E-B7A5-4424-93D2-861518BD2F10}"/>
              </a:ext>
            </a:extLst>
          </p:cNvPr>
          <p:cNvSpPr>
            <a:spLocks xmlns:a="http://schemas.openxmlformats.org/drawingml/2006/main" noGrp="1"/>
          </p:cNvSpPr>
          <p:nvPr/>
        </p:nvSpPr>
        <p:spPr>
          <a:xfrm xmlns:a="http://schemas.openxmlformats.org/drawingml/2006/main" rot="0">
            <a:off x="7171019" y="8786470"/>
            <a:ext cx="4311723"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0" b="0">
                <a:solidFill>
                  <a:srgbClr val="00355F"/>
                </a:solidFill>
                <a:latin typeface="Arial"/>
                <a:ea typeface="Arial"/>
                <a:cs typeface="Arial"/>
              </a:defRPr>
            </a:defPPr>
          </a:lstStyle>
          <a:p xmlns:a="http://schemas.openxmlformats.org/drawingml/2006/main">
            <a:pPr algn="ctr">
              <a:lnSpc>
                <a:spcPct val="100000"/>
              </a:lnSpc>
              <a:buNone/>
              <a:defRPr sz="1320" b="0">
                <a:solidFill>
                  <a:srgbClr val="00355F"/>
                </a:solidFill>
                <a:latin typeface="Arial"/>
                <a:ea typeface="Arial"/>
                <a:cs typeface="Arial"/>
              </a:defRPr>
            </a:pPr>
            <a:r>
              <a:rPr sz="1320" b="0">
                <a:solidFill>
                  <a:srgbClr val="00355F"/>
                </a:solidFill>
                <a:latin typeface="Arial"/>
                <a:ea typeface="Arial"/>
                <a:cs typeface="Arial"/>
              </a:rPr>
              <a:t>Sequence + assay context + results → next design cycle</a:t>
            </a:r>
          </a:p>
        </p:txBody>
      </p:sp>
      <p:sp>
        <p:nvSpPr>
          <p:cNvPr id="142" name="Figure 15 label 88 line 1">
            <a:extLst xmlns:a="http://schemas.openxmlformats.org/drawingml/2006/main">
              <a:ext uri="{FF2B5EF4-FFF2-40B4-BE49-F238E27FC236}">
                <a16:creationId xmlns:a16="http://schemas.microsoft.com/office/drawing/2014/main" id="{45D541ED-2A76-4E29-8A90-582466304AED}"/>
              </a:ext>
            </a:extLst>
          </p:cNvPr>
          <p:cNvSpPr>
            <a:spLocks xmlns:a="http://schemas.openxmlformats.org/drawingml/2006/main" noGrp="1"/>
          </p:cNvSpPr>
          <p:nvPr/>
        </p:nvSpPr>
        <p:spPr>
          <a:xfrm xmlns:a="http://schemas.openxmlformats.org/drawingml/2006/main" rot="0">
            <a:off x="1362456" y="9122664"/>
            <a:ext cx="546487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FFFFFF"/>
                </a:solidFill>
                <a:latin typeface="Arial"/>
                <a:ea typeface="Arial"/>
                <a:cs typeface="Arial"/>
              </a:defRPr>
            </a:defPPr>
          </a:lstStyle>
          <a:p xmlns:a="http://schemas.openxmlformats.org/drawingml/2006/main">
            <a:pPr algn="l">
              <a:lnSpc>
                <a:spcPct val="100000"/>
              </a:lnSpc>
              <a:buNone/>
              <a:defRPr sz="1800" b="1">
                <a:solidFill>
                  <a:srgbClr val="FFFFFF"/>
                </a:solidFill>
                <a:latin typeface="Arial"/>
                <a:ea typeface="Arial"/>
                <a:cs typeface="Arial"/>
              </a:defRPr>
            </a:pPr>
            <a:r>
              <a:rPr sz="1800" b="1">
                <a:solidFill>
                  <a:srgbClr val="FFFFFF"/>
                </a:solidFill>
                <a:latin typeface="Arial"/>
                <a:ea typeface="Arial"/>
                <a:cs typeface="Arial"/>
              </a:rPr>
              <a:t>Automation + data orchestration span every step</a:t>
            </a:r>
          </a:p>
        </p:txBody>
      </p:sp>
      <p:sp>
        <p:nvSpPr>
          <p:cNvPr id="143" name="Figure 15 label 89 line 1">
            <a:extLst xmlns:a="http://schemas.openxmlformats.org/drawingml/2006/main">
              <a:ext uri="{FF2B5EF4-FFF2-40B4-BE49-F238E27FC236}">
                <a16:creationId xmlns:a16="http://schemas.microsoft.com/office/drawing/2014/main" id="{FB3AC23D-019A-4620-BA42-DA6D9A3169FB}"/>
              </a:ext>
            </a:extLst>
          </p:cNvPr>
          <p:cNvSpPr>
            <a:spLocks xmlns:a="http://schemas.openxmlformats.org/drawingml/2006/main" noGrp="1"/>
          </p:cNvSpPr>
          <p:nvPr/>
        </p:nvSpPr>
        <p:spPr>
          <a:xfrm xmlns:a="http://schemas.openxmlformats.org/drawingml/2006/main" rot="0">
            <a:off x="754990" y="9606686"/>
            <a:ext cx="881143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Wet lab = build + test. AI may test fewer molecules while increasing characterization depth per molecule.</a:t>
            </a:r>
          </a:p>
        </p:txBody>
      </p:sp>
      <p:sp>
        <p:nvSpPr>
          <p:cNvPr id="144" name="Figure 15 label 90 line 1">
            <a:extLst xmlns:a="http://schemas.openxmlformats.org/drawingml/2006/main">
              <a:ext uri="{FF2B5EF4-FFF2-40B4-BE49-F238E27FC236}">
                <a16:creationId xmlns:a16="http://schemas.microsoft.com/office/drawing/2014/main" id="{E73A61F7-C089-4A02-9EDD-A0F4C9EE27D5}"/>
              </a:ext>
            </a:extLst>
          </p:cNvPr>
          <p:cNvSpPr>
            <a:spLocks xmlns:a="http://schemas.openxmlformats.org/drawingml/2006/main" noGrp="1"/>
          </p:cNvSpPr>
          <p:nvPr/>
        </p:nvSpPr>
        <p:spPr>
          <a:xfrm xmlns:a="http://schemas.openxmlformats.org/drawingml/2006/main" rot="0">
            <a:off x="755904" y="9873996"/>
            <a:ext cx="7814012"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LST demand depends on molecule count × assay depth × net inputs per assay; instrument investment is separate.</a:t>
            </a:r>
          </a:p>
        </p:txBody>
      </p:sp>
      <p:sp>
        <p:nvSpPr>
          <p:cNvPr id="145" name="Figure 15 label 91 line 1">
            <a:extLst xmlns:a="http://schemas.openxmlformats.org/drawingml/2006/main">
              <a:ext uri="{FF2B5EF4-FFF2-40B4-BE49-F238E27FC236}">
                <a16:creationId xmlns:a16="http://schemas.microsoft.com/office/drawing/2014/main" id="{E1547B3E-684B-4FC6-97B3-DF0489C84327}"/>
              </a:ext>
            </a:extLst>
          </p:cNvPr>
          <p:cNvSpPr>
            <a:spLocks xmlns:a="http://schemas.openxmlformats.org/drawingml/2006/main" noGrp="1"/>
          </p:cNvSpPr>
          <p:nvPr/>
        </p:nvSpPr>
        <p:spPr>
          <a:xfrm xmlns:a="http://schemas.openxmlformats.org/drawingml/2006/main" rot="0">
            <a:off x="757733" y="10073336"/>
            <a:ext cx="7593497"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0">
                <a:solidFill>
                  <a:srgbClr val="00355F"/>
                </a:solidFill>
                <a:latin typeface="Arial"/>
                <a:ea typeface="Arial"/>
                <a:cs typeface="Arial"/>
              </a:defRPr>
            </a:defPPr>
          </a:lstStyle>
          <a:p xmlns:a="http://schemas.openxmlformats.org/drawingml/2006/main">
            <a:pPr algn="l">
              <a:lnSpc>
                <a:spcPct val="100000"/>
              </a:lnSpc>
              <a:buNone/>
              <a:defRPr sz="840" b="0">
                <a:solidFill>
                  <a:srgbClr val="00355F"/>
                </a:solidFill>
                <a:latin typeface="Arial"/>
                <a:ea typeface="Arial"/>
                <a:cs typeface="Arial"/>
              </a:defRPr>
            </a:pPr>
            <a:r>
              <a:rPr sz="840" b="0">
                <a:solidFill>
                  <a:srgbClr val="00355F"/>
                </a:solidFill>
                <a:latin typeface="Arial"/>
                <a:ea typeface="Arial"/>
                <a:cs typeface="Arial"/>
              </a:rPr>
              <a:t>Illustrative workflow; assays may run in parallel. * Scale-dependent. † Expression comes from stage 2. Supplier examples and primary sources: SOURCES.md.</a:t>
            </a:r>
          </a:p>
        </p:txBody>
      </p:sp>
    </p:spTree>
    <p:extLst>
      <p:ext uri="{BB962C8B-B14F-4D97-AF65-F5344CB8AC3E}">
        <p14:creationId xmlns:p14="http://schemas.microsoft.com/office/powerpoint/2010/main" val="39266089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9" name="">
            <a:extLst xmlns:a="http://schemas.openxmlformats.org/drawingml/2006/main">
              <a:ext uri="{FF2B5EF4-FFF2-40B4-BE49-F238E27FC236}">
                <a16:creationId xmlns:a16="http://schemas.microsoft.com/office/drawing/2014/main" id="{A740221E-4220-4615-9003-B741CE98401C}"/>
              </a:ext>
            </a:extLst>
          </p:cNvPr>
          <p:cNvPicPr>
            <a:picLocks xmlns:a="http://schemas.openxmlformats.org/drawingml/2006/main" noChangeAspect="1"/>
          </p:cNvPicPr>
          <p:nvPr/>
        </p:nvPicPr>
        <p:blipFill>
          <a:blip xmlns:r="http://schemas.openxmlformats.org/officeDocument/2006/relationships" xmlns:a="http://schemas.openxmlformats.org/drawingml/2006/main" r:embed="R12e723ab4d4541b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6 label 1 line 1">
            <a:extLst xmlns:a="http://schemas.openxmlformats.org/drawingml/2006/main">
              <a:ext uri="{FF2B5EF4-FFF2-40B4-BE49-F238E27FC236}">
                <a16:creationId xmlns:a16="http://schemas.microsoft.com/office/drawing/2014/main" id="{5152B71F-66DE-46E5-A94F-DD0DFAFB58E9}"/>
              </a:ext>
            </a:extLst>
          </p:cNvPr>
          <p:cNvSpPr>
            <a:spLocks xmlns:a="http://schemas.openxmlformats.org/drawingml/2006/main" noGrp="1"/>
          </p:cNvSpPr>
          <p:nvPr/>
        </p:nvSpPr>
        <p:spPr>
          <a:xfrm xmlns:a="http://schemas.openxmlformats.org/drawingml/2006/main" rot="0">
            <a:off x="1057351" y="288341"/>
            <a:ext cx="8251579"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360" b="1">
                <a:solidFill>
                  <a:srgbClr val="00355F"/>
                </a:solidFill>
                <a:latin typeface="Arial"/>
                <a:ea typeface="Arial"/>
                <a:cs typeface="Arial"/>
              </a:defRPr>
            </a:defPPr>
          </a:lstStyle>
          <a:p xmlns:a="http://schemas.openxmlformats.org/drawingml/2006/main">
            <a:pPr algn="l">
              <a:lnSpc>
                <a:spcPct val="100000"/>
              </a:lnSpc>
              <a:buNone/>
              <a:defRPr sz="3360" b="1">
                <a:solidFill>
                  <a:srgbClr val="00355F"/>
                </a:solidFill>
                <a:latin typeface="Arial"/>
                <a:ea typeface="Arial"/>
                <a:cs typeface="Arial"/>
              </a:defRPr>
            </a:pPr>
            <a:r>
              <a:rPr sz="3360" b="1">
                <a:solidFill>
                  <a:srgbClr val="00355F"/>
                </a:solidFill>
                <a:latin typeface="Arial"/>
                <a:ea typeface="Arial"/>
                <a:cs typeface="Arial"/>
              </a:rPr>
              <a:t>RSI: AI design and biological validation</a:t>
            </a:r>
          </a:p>
        </p:txBody>
      </p:sp>
      <p:sp>
        <p:nvSpPr>
          <p:cNvPr id="3" name="Figure 16 label 2 line 1">
            <a:extLst xmlns:a="http://schemas.openxmlformats.org/drawingml/2006/main">
              <a:ext uri="{FF2B5EF4-FFF2-40B4-BE49-F238E27FC236}">
                <a16:creationId xmlns:a16="http://schemas.microsoft.com/office/drawing/2014/main" id="{226DFC1E-5DD6-4644-AD56-C01785032834}"/>
              </a:ext>
            </a:extLst>
          </p:cNvPr>
          <p:cNvSpPr>
            <a:spLocks xmlns:a="http://schemas.openxmlformats.org/drawingml/2006/main" noGrp="1"/>
          </p:cNvSpPr>
          <p:nvPr/>
        </p:nvSpPr>
        <p:spPr>
          <a:xfrm xmlns:a="http://schemas.openxmlformats.org/drawingml/2006/main" rot="0">
            <a:off x="1065581" y="964387"/>
            <a:ext cx="9209353"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0">
                <a:solidFill>
                  <a:srgbClr val="00355F"/>
                </a:solidFill>
                <a:latin typeface="Arial"/>
                <a:ea typeface="Arial"/>
                <a:cs typeface="Arial"/>
              </a:defRPr>
            </a:defPPr>
          </a:lstStyle>
          <a:p xmlns:a="http://schemas.openxmlformats.org/drawingml/2006/main">
            <a:pPr algn="l">
              <a:lnSpc>
                <a:spcPct val="100000"/>
              </a:lnSpc>
              <a:buNone/>
              <a:defRPr sz="1740" b="0">
                <a:solidFill>
                  <a:srgbClr val="00355F"/>
                </a:solidFill>
                <a:latin typeface="Arial"/>
                <a:ea typeface="Arial"/>
                <a:cs typeface="Arial"/>
              </a:defRPr>
            </a:pPr>
            <a:r>
              <a:rPr sz="1740" b="0">
                <a:solidFill>
                  <a:srgbClr val="00355F"/>
                </a:solidFill>
                <a:latin typeface="Arial"/>
                <a:ea typeface="Arial"/>
                <a:cs typeface="Arial"/>
              </a:rPr>
              <a:t>How experimental feedback could improve both biological designs and the AI design process</a:t>
            </a:r>
          </a:p>
        </p:txBody>
      </p:sp>
      <p:sp>
        <p:nvSpPr>
          <p:cNvPr id="4" name="Figure 16 label 3 line 1">
            <a:extLst xmlns:a="http://schemas.openxmlformats.org/drawingml/2006/main">
              <a:ext uri="{FF2B5EF4-FFF2-40B4-BE49-F238E27FC236}">
                <a16:creationId xmlns:a16="http://schemas.microsoft.com/office/drawing/2014/main" id="{96D1AA8A-CF40-434B-9206-054E0D2075DB}"/>
              </a:ext>
            </a:extLst>
          </p:cNvPr>
          <p:cNvSpPr>
            <a:spLocks xmlns:a="http://schemas.openxmlformats.org/drawingml/2006/main" noGrp="1"/>
          </p:cNvSpPr>
          <p:nvPr/>
        </p:nvSpPr>
        <p:spPr>
          <a:xfrm xmlns:a="http://schemas.openxmlformats.org/drawingml/2006/main" rot="0">
            <a:off x="1068324" y="1362456"/>
            <a:ext cx="4778514"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RECURSIVE SELF-IMPROVEMENT  ·  CONCEPTUAL MECHANISM</a:t>
            </a:r>
          </a:p>
        </p:txBody>
      </p:sp>
      <p:sp>
        <p:nvSpPr>
          <p:cNvPr id="5" name="Figure 16 label 4 line 1">
            <a:extLst xmlns:a="http://schemas.openxmlformats.org/drawingml/2006/main">
              <a:ext uri="{FF2B5EF4-FFF2-40B4-BE49-F238E27FC236}">
                <a16:creationId xmlns:a16="http://schemas.microsoft.com/office/drawing/2014/main" id="{D0E56AF6-3C38-4543-9A85-FCD2AF36A946}"/>
              </a:ext>
            </a:extLst>
          </p:cNvPr>
          <p:cNvSpPr>
            <a:spLocks xmlns:a="http://schemas.openxmlformats.org/drawingml/2006/main" noGrp="1"/>
          </p:cNvSpPr>
          <p:nvPr/>
        </p:nvSpPr>
        <p:spPr>
          <a:xfrm xmlns:a="http://schemas.openxmlformats.org/drawingml/2006/main" rot="0">
            <a:off x="1517294" y="2042770"/>
            <a:ext cx="180397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1">
                <a:solidFill>
                  <a:srgbClr val="00355F"/>
                </a:solidFill>
                <a:latin typeface="Arial"/>
                <a:ea typeface="Arial"/>
                <a:cs typeface="Arial"/>
              </a:defRPr>
            </a:defPPr>
          </a:lstStyle>
          <a:p xmlns:a="http://schemas.openxmlformats.org/drawingml/2006/main">
            <a:pPr algn="l">
              <a:lnSpc>
                <a:spcPct val="100000"/>
              </a:lnSpc>
              <a:buNone/>
              <a:defRPr sz="1320" b="1">
                <a:solidFill>
                  <a:srgbClr val="00355F"/>
                </a:solidFill>
                <a:latin typeface="Arial"/>
                <a:ea typeface="Arial"/>
                <a:cs typeface="Arial"/>
              </a:defRPr>
            </a:pPr>
            <a:r>
              <a:rPr sz="1320" b="1">
                <a:solidFill>
                  <a:srgbClr val="00355F"/>
                </a:solidFill>
                <a:latin typeface="Arial"/>
                <a:ea typeface="Arial"/>
                <a:cs typeface="Arial"/>
              </a:rPr>
              <a:t>DIGITAL CAPABILITY</a:t>
            </a:r>
          </a:p>
        </p:txBody>
      </p:sp>
      <p:sp>
        <p:nvSpPr>
          <p:cNvPr id="6" name="Figure 16 label 5 line 1">
            <a:extLst xmlns:a="http://schemas.openxmlformats.org/drawingml/2006/main">
              <a:ext uri="{FF2B5EF4-FFF2-40B4-BE49-F238E27FC236}">
                <a16:creationId xmlns:a16="http://schemas.microsoft.com/office/drawing/2014/main" id="{BD64F399-D4F1-4F3A-8F41-9347CFDCC0B1}"/>
              </a:ext>
            </a:extLst>
          </p:cNvPr>
          <p:cNvSpPr>
            <a:spLocks xmlns:a="http://schemas.openxmlformats.org/drawingml/2006/main" noGrp="1"/>
          </p:cNvSpPr>
          <p:nvPr/>
        </p:nvSpPr>
        <p:spPr>
          <a:xfrm xmlns:a="http://schemas.openxmlformats.org/drawingml/2006/main" rot="0">
            <a:off x="7270394" y="2042770"/>
            <a:ext cx="235374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1">
                <a:solidFill>
                  <a:srgbClr val="00355F"/>
                </a:solidFill>
                <a:latin typeface="Arial"/>
                <a:ea typeface="Arial"/>
                <a:cs typeface="Arial"/>
              </a:defRPr>
            </a:defPPr>
          </a:lstStyle>
          <a:p xmlns:a="http://schemas.openxmlformats.org/drawingml/2006/main">
            <a:pPr algn="l">
              <a:lnSpc>
                <a:spcPct val="100000"/>
              </a:lnSpc>
              <a:buNone/>
              <a:defRPr sz="1320" b="1">
                <a:solidFill>
                  <a:srgbClr val="00355F"/>
                </a:solidFill>
                <a:latin typeface="Arial"/>
                <a:ea typeface="Arial"/>
                <a:cs typeface="Arial"/>
              </a:defRPr>
            </a:pPr>
            <a:r>
              <a:rPr sz="1320" b="1">
                <a:solidFill>
                  <a:srgbClr val="00355F"/>
                </a:solidFill>
                <a:latin typeface="Arial"/>
                <a:ea typeface="Arial"/>
                <a:cs typeface="Arial"/>
              </a:rPr>
              <a:t>EXPERIMENTAL STRATEGY</a:t>
            </a:r>
          </a:p>
        </p:txBody>
      </p:sp>
      <p:sp>
        <p:nvSpPr>
          <p:cNvPr id="7" name="Figure 16 label 6 line 1">
            <a:extLst xmlns:a="http://schemas.openxmlformats.org/drawingml/2006/main">
              <a:ext uri="{FF2B5EF4-FFF2-40B4-BE49-F238E27FC236}">
                <a16:creationId xmlns:a16="http://schemas.microsoft.com/office/drawing/2014/main" id="{5221CBA9-0DA8-476D-AAC1-ABE914CC4D5E}"/>
              </a:ext>
            </a:extLst>
          </p:cNvPr>
          <p:cNvSpPr>
            <a:spLocks xmlns:a="http://schemas.openxmlformats.org/drawingml/2006/main" noGrp="1"/>
          </p:cNvSpPr>
          <p:nvPr/>
        </p:nvSpPr>
        <p:spPr>
          <a:xfrm xmlns:a="http://schemas.openxmlformats.org/drawingml/2006/main" rot="0">
            <a:off x="13023494" y="2042770"/>
            <a:ext cx="204328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1">
                <a:solidFill>
                  <a:srgbClr val="00355F"/>
                </a:solidFill>
                <a:latin typeface="Arial"/>
                <a:ea typeface="Arial"/>
                <a:cs typeface="Arial"/>
              </a:defRPr>
            </a:defPPr>
          </a:lstStyle>
          <a:p xmlns:a="http://schemas.openxmlformats.org/drawingml/2006/main">
            <a:pPr algn="l">
              <a:lnSpc>
                <a:spcPct val="100000"/>
              </a:lnSpc>
              <a:buNone/>
              <a:defRPr sz="1320" b="1">
                <a:solidFill>
                  <a:srgbClr val="00355F"/>
                </a:solidFill>
                <a:latin typeface="Arial"/>
                <a:ea typeface="Arial"/>
                <a:cs typeface="Arial"/>
              </a:defRPr>
            </a:pPr>
            <a:r>
              <a:rPr sz="1320" b="1">
                <a:solidFill>
                  <a:srgbClr val="00355F"/>
                </a:solidFill>
                <a:latin typeface="Arial"/>
                <a:ea typeface="Arial"/>
                <a:cs typeface="Arial"/>
              </a:rPr>
              <a:t>PHYSICAL GROUNDING</a:t>
            </a:r>
          </a:p>
        </p:txBody>
      </p:sp>
      <p:sp>
        <p:nvSpPr>
          <p:cNvPr id="8" name="Figure 16 label 7 line 1">
            <a:extLst xmlns:a="http://schemas.openxmlformats.org/drawingml/2006/main">
              <a:ext uri="{FF2B5EF4-FFF2-40B4-BE49-F238E27FC236}">
                <a16:creationId xmlns:a16="http://schemas.microsoft.com/office/drawing/2014/main" id="{9E0D9FAB-994C-49FE-A66C-0532303CB3B6}"/>
              </a:ext>
            </a:extLst>
          </p:cNvPr>
          <p:cNvSpPr>
            <a:spLocks xmlns:a="http://schemas.openxmlformats.org/drawingml/2006/main" noGrp="1"/>
          </p:cNvSpPr>
          <p:nvPr/>
        </p:nvSpPr>
        <p:spPr>
          <a:xfrm xmlns:a="http://schemas.openxmlformats.org/drawingml/2006/main" rot="0">
            <a:off x="1731721" y="2540051"/>
            <a:ext cx="875062"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01  /  MODEL</a:t>
            </a:r>
          </a:p>
        </p:txBody>
      </p:sp>
      <p:sp>
        <p:nvSpPr>
          <p:cNvPr id="9" name="Figure 16 label 8 line 1">
            <a:extLst xmlns:a="http://schemas.openxmlformats.org/drawingml/2006/main">
              <a:ext uri="{FF2B5EF4-FFF2-40B4-BE49-F238E27FC236}">
                <a16:creationId xmlns:a16="http://schemas.microsoft.com/office/drawing/2014/main" id="{ECEEEDC9-4545-480B-BE67-4B9355049BAC}"/>
              </a:ext>
            </a:extLst>
          </p:cNvPr>
          <p:cNvSpPr>
            <a:spLocks xmlns:a="http://schemas.openxmlformats.org/drawingml/2006/main" noGrp="1"/>
          </p:cNvSpPr>
          <p:nvPr/>
        </p:nvSpPr>
        <p:spPr>
          <a:xfrm xmlns:a="http://schemas.openxmlformats.org/drawingml/2006/main" rot="0">
            <a:off x="1727911" y="2886761"/>
            <a:ext cx="2450407"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AI scientist · Model t</a:t>
            </a:r>
          </a:p>
        </p:txBody>
      </p:sp>
      <p:sp>
        <p:nvSpPr>
          <p:cNvPr id="10" name="Figure 16 label 9 line 1">
            <a:extLst xmlns:a="http://schemas.openxmlformats.org/drawingml/2006/main">
              <a:ext uri="{FF2B5EF4-FFF2-40B4-BE49-F238E27FC236}">
                <a16:creationId xmlns:a16="http://schemas.microsoft.com/office/drawing/2014/main" id="{FD724234-BC92-4612-B6EF-A2C4E258DBDF}"/>
              </a:ext>
            </a:extLst>
          </p:cNvPr>
          <p:cNvSpPr>
            <a:spLocks xmlns:a="http://schemas.openxmlformats.org/drawingml/2006/main" noGrp="1"/>
          </p:cNvSpPr>
          <p:nvPr/>
        </p:nvSpPr>
        <p:spPr>
          <a:xfrm xmlns:a="http://schemas.openxmlformats.org/drawingml/2006/main" rot="0">
            <a:off x="1730502" y="3321558"/>
            <a:ext cx="267515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Predict properties and uncertainty</a:t>
            </a:r>
          </a:p>
        </p:txBody>
      </p:sp>
      <p:sp>
        <p:nvSpPr>
          <p:cNvPr id="11" name="Figure 16 label 9 line 2">
            <a:extLst xmlns:a="http://schemas.openxmlformats.org/drawingml/2006/main">
              <a:ext uri="{FF2B5EF4-FFF2-40B4-BE49-F238E27FC236}">
                <a16:creationId xmlns:a16="http://schemas.microsoft.com/office/drawing/2014/main" id="{FAA6F8A2-5A9C-4770-88C3-BA263D352326}"/>
              </a:ext>
            </a:extLst>
          </p:cNvPr>
          <p:cNvSpPr>
            <a:spLocks xmlns:a="http://schemas.openxmlformats.org/drawingml/2006/main" noGrp="1"/>
          </p:cNvSpPr>
          <p:nvPr/>
        </p:nvSpPr>
        <p:spPr>
          <a:xfrm xmlns:a="http://schemas.openxmlformats.org/drawingml/2006/main" rot="0">
            <a:off x="1730502" y="3535871"/>
            <a:ext cx="267515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Use the current model / policy</a:t>
            </a:r>
          </a:p>
        </p:txBody>
      </p:sp>
      <p:sp>
        <p:nvSpPr>
          <p:cNvPr id="12" name="Figure 16 label 10 line 1">
            <a:extLst xmlns:a="http://schemas.openxmlformats.org/drawingml/2006/main">
              <a:ext uri="{FF2B5EF4-FFF2-40B4-BE49-F238E27FC236}">
                <a16:creationId xmlns:a16="http://schemas.microsoft.com/office/drawing/2014/main" id="{815E36E9-D926-4080-A42A-39A1E480E89A}"/>
              </a:ext>
            </a:extLst>
          </p:cNvPr>
          <p:cNvSpPr>
            <a:spLocks xmlns:a="http://schemas.openxmlformats.org/drawingml/2006/main" noGrp="1"/>
          </p:cNvSpPr>
          <p:nvPr/>
        </p:nvSpPr>
        <p:spPr>
          <a:xfrm xmlns:a="http://schemas.openxmlformats.org/drawingml/2006/main" rot="0">
            <a:off x="7484821" y="2540051"/>
            <a:ext cx="906464"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02  /  DESIGN</a:t>
            </a:r>
          </a:p>
        </p:txBody>
      </p:sp>
      <p:sp>
        <p:nvSpPr>
          <p:cNvPr id="13" name="Figure 16 label 11 line 1">
            <a:extLst xmlns:a="http://schemas.openxmlformats.org/drawingml/2006/main">
              <a:ext uri="{FF2B5EF4-FFF2-40B4-BE49-F238E27FC236}">
                <a16:creationId xmlns:a16="http://schemas.microsoft.com/office/drawing/2014/main" id="{D7F38DCA-A0FE-46E4-802E-348DC1EBB85C}"/>
              </a:ext>
            </a:extLst>
          </p:cNvPr>
          <p:cNvSpPr>
            <a:spLocks xmlns:a="http://schemas.openxmlformats.org/drawingml/2006/main" noGrp="1"/>
          </p:cNvSpPr>
          <p:nvPr/>
        </p:nvSpPr>
        <p:spPr>
          <a:xfrm xmlns:a="http://schemas.openxmlformats.org/drawingml/2006/main" rot="0">
            <a:off x="7481011" y="2886761"/>
            <a:ext cx="224056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Design &amp; prioritize</a:t>
            </a:r>
          </a:p>
        </p:txBody>
      </p:sp>
      <p:sp>
        <p:nvSpPr>
          <p:cNvPr id="14" name="Figure 16 label 12 line 1">
            <a:extLst xmlns:a="http://schemas.openxmlformats.org/drawingml/2006/main">
              <a:ext uri="{FF2B5EF4-FFF2-40B4-BE49-F238E27FC236}">
                <a16:creationId xmlns:a16="http://schemas.microsoft.com/office/drawing/2014/main" id="{D3439E7F-F4B9-48B2-9219-922E1025649E}"/>
              </a:ext>
            </a:extLst>
          </p:cNvPr>
          <p:cNvSpPr>
            <a:spLocks xmlns:a="http://schemas.openxmlformats.org/drawingml/2006/main" noGrp="1"/>
          </p:cNvSpPr>
          <p:nvPr/>
        </p:nvSpPr>
        <p:spPr>
          <a:xfrm xmlns:a="http://schemas.openxmlformats.org/drawingml/2006/main" rot="0">
            <a:off x="7483602" y="3321558"/>
            <a:ext cx="249433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Choose candidates and assays</a:t>
            </a:r>
          </a:p>
        </p:txBody>
      </p:sp>
      <p:sp>
        <p:nvSpPr>
          <p:cNvPr id="15" name="Figure 16 label 12 line 2">
            <a:extLst xmlns:a="http://schemas.openxmlformats.org/drawingml/2006/main">
              <a:ext uri="{FF2B5EF4-FFF2-40B4-BE49-F238E27FC236}">
                <a16:creationId xmlns:a16="http://schemas.microsoft.com/office/drawing/2014/main" id="{55C66045-E68D-4EFE-BFC0-3840C00EE587}"/>
              </a:ext>
            </a:extLst>
          </p:cNvPr>
          <p:cNvSpPr>
            <a:spLocks xmlns:a="http://schemas.openxmlformats.org/drawingml/2006/main" noGrp="1"/>
          </p:cNvSpPr>
          <p:nvPr/>
        </p:nvSpPr>
        <p:spPr>
          <a:xfrm xmlns:a="http://schemas.openxmlformats.org/drawingml/2006/main" rot="0">
            <a:off x="7483602" y="3535871"/>
            <a:ext cx="249433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for function and information</a:t>
            </a:r>
          </a:p>
        </p:txBody>
      </p:sp>
      <p:sp>
        <p:nvSpPr>
          <p:cNvPr id="16" name="Figure 16 label 13 line 1">
            <a:extLst xmlns:a="http://schemas.openxmlformats.org/drawingml/2006/main">
              <a:ext uri="{FF2B5EF4-FFF2-40B4-BE49-F238E27FC236}">
                <a16:creationId xmlns:a16="http://schemas.microsoft.com/office/drawing/2014/main" id="{688E6035-AB96-4527-BF35-A7D8CB9E97BA}"/>
              </a:ext>
            </a:extLst>
          </p:cNvPr>
          <p:cNvSpPr>
            <a:spLocks xmlns:a="http://schemas.openxmlformats.org/drawingml/2006/main" noGrp="1"/>
          </p:cNvSpPr>
          <p:nvPr/>
        </p:nvSpPr>
        <p:spPr>
          <a:xfrm xmlns:a="http://schemas.openxmlformats.org/drawingml/2006/main" rot="0">
            <a:off x="13237921" y="2540051"/>
            <a:ext cx="796629"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03  /  BUILD</a:t>
            </a:r>
          </a:p>
        </p:txBody>
      </p:sp>
      <p:sp>
        <p:nvSpPr>
          <p:cNvPr id="17" name="Figure 16 label 14 line 1">
            <a:extLst xmlns:a="http://schemas.openxmlformats.org/drawingml/2006/main">
              <a:ext uri="{FF2B5EF4-FFF2-40B4-BE49-F238E27FC236}">
                <a16:creationId xmlns:a16="http://schemas.microsoft.com/office/drawing/2014/main" id="{8AF33492-8A57-4A27-994B-3ABBD48FC1F5}"/>
              </a:ext>
            </a:extLst>
          </p:cNvPr>
          <p:cNvSpPr>
            <a:spLocks xmlns:a="http://schemas.openxmlformats.org/drawingml/2006/main" noGrp="1"/>
          </p:cNvSpPr>
          <p:nvPr/>
        </p:nvSpPr>
        <p:spPr>
          <a:xfrm xmlns:a="http://schemas.openxmlformats.org/drawingml/2006/main" rot="0">
            <a:off x="13234111" y="2886761"/>
            <a:ext cx="2976068"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Build physical molecules</a:t>
            </a:r>
          </a:p>
        </p:txBody>
      </p:sp>
      <p:sp>
        <p:nvSpPr>
          <p:cNvPr id="18" name="Figure 16 label 15 line 1">
            <a:extLst xmlns:a="http://schemas.openxmlformats.org/drawingml/2006/main">
              <a:ext uri="{FF2B5EF4-FFF2-40B4-BE49-F238E27FC236}">
                <a16:creationId xmlns:a16="http://schemas.microsoft.com/office/drawing/2014/main" id="{BB5E388E-578B-4A31-A859-774770CE55F0}"/>
              </a:ext>
            </a:extLst>
          </p:cNvPr>
          <p:cNvSpPr>
            <a:spLocks xmlns:a="http://schemas.openxmlformats.org/drawingml/2006/main" noGrp="1"/>
          </p:cNvSpPr>
          <p:nvPr/>
        </p:nvSpPr>
        <p:spPr>
          <a:xfrm xmlns:a="http://schemas.openxmlformats.org/drawingml/2006/main" rot="0">
            <a:off x="13236702" y="3321558"/>
            <a:ext cx="307520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DNA synthesis, expression, purification</a:t>
            </a:r>
          </a:p>
        </p:txBody>
      </p:sp>
      <p:sp>
        <p:nvSpPr>
          <p:cNvPr id="19" name="Figure 16 label 15 line 2">
            <a:extLst xmlns:a="http://schemas.openxmlformats.org/drawingml/2006/main">
              <a:ext uri="{FF2B5EF4-FFF2-40B4-BE49-F238E27FC236}">
                <a16:creationId xmlns:a16="http://schemas.microsoft.com/office/drawing/2014/main" id="{EEFE319C-1CD2-4476-9CA8-3BBA5C2219D2}"/>
              </a:ext>
            </a:extLst>
          </p:cNvPr>
          <p:cNvSpPr>
            <a:spLocks xmlns:a="http://schemas.openxmlformats.org/drawingml/2006/main" noGrp="1"/>
          </p:cNvSpPr>
          <p:nvPr/>
        </p:nvSpPr>
        <p:spPr>
          <a:xfrm xmlns:a="http://schemas.openxmlformats.org/drawingml/2006/main" rot="0">
            <a:off x="13236702" y="3535871"/>
            <a:ext cx="307520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Prepare samples for actual assays</a:t>
            </a:r>
          </a:p>
        </p:txBody>
      </p:sp>
      <p:sp>
        <p:nvSpPr>
          <p:cNvPr id="20" name="Figure 16 label 16 line 1">
            <a:extLst xmlns:a="http://schemas.openxmlformats.org/drawingml/2006/main">
              <a:ext uri="{FF2B5EF4-FFF2-40B4-BE49-F238E27FC236}">
                <a16:creationId xmlns:a16="http://schemas.microsoft.com/office/drawing/2014/main" id="{33FA984B-F60A-4B4E-8C7D-B1CFBD4AF232}"/>
              </a:ext>
            </a:extLst>
          </p:cNvPr>
          <p:cNvSpPr>
            <a:spLocks xmlns:a="http://schemas.openxmlformats.org/drawingml/2006/main" noGrp="1"/>
          </p:cNvSpPr>
          <p:nvPr/>
        </p:nvSpPr>
        <p:spPr>
          <a:xfrm xmlns:a="http://schemas.openxmlformats.org/drawingml/2006/main" rot="0">
            <a:off x="13237921" y="5588051"/>
            <a:ext cx="726234"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04  /  TEST</a:t>
            </a:r>
          </a:p>
        </p:txBody>
      </p:sp>
      <p:sp>
        <p:nvSpPr>
          <p:cNvPr id="21" name="Figure 16 label 17 line 1">
            <a:extLst xmlns:a="http://schemas.openxmlformats.org/drawingml/2006/main">
              <a:ext uri="{FF2B5EF4-FFF2-40B4-BE49-F238E27FC236}">
                <a16:creationId xmlns:a16="http://schemas.microsoft.com/office/drawing/2014/main" id="{A0A7A2B3-D20B-4A84-928F-0C777D683EA7}"/>
              </a:ext>
            </a:extLst>
          </p:cNvPr>
          <p:cNvSpPr>
            <a:spLocks xmlns:a="http://schemas.openxmlformats.org/drawingml/2006/main" noGrp="1"/>
          </p:cNvSpPr>
          <p:nvPr/>
        </p:nvSpPr>
        <p:spPr>
          <a:xfrm xmlns:a="http://schemas.openxmlformats.org/drawingml/2006/main" rot="0">
            <a:off x="13234111" y="5934761"/>
            <a:ext cx="222746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Validate in biology</a:t>
            </a:r>
          </a:p>
        </p:txBody>
      </p:sp>
      <p:sp>
        <p:nvSpPr>
          <p:cNvPr id="22" name="Figure 16 label 18 line 1">
            <a:extLst xmlns:a="http://schemas.openxmlformats.org/drawingml/2006/main">
              <a:ext uri="{FF2B5EF4-FFF2-40B4-BE49-F238E27FC236}">
                <a16:creationId xmlns:a16="http://schemas.microsoft.com/office/drawing/2014/main" id="{59995A18-ED5C-4C10-A3B7-CB1ED4DF3C99}"/>
              </a:ext>
            </a:extLst>
          </p:cNvPr>
          <p:cNvSpPr>
            <a:spLocks xmlns:a="http://schemas.openxmlformats.org/drawingml/2006/main" noGrp="1"/>
          </p:cNvSpPr>
          <p:nvPr/>
        </p:nvSpPr>
        <p:spPr>
          <a:xfrm xmlns:a="http://schemas.openxmlformats.org/drawingml/2006/main" rot="0">
            <a:off x="13236702" y="6369558"/>
            <a:ext cx="272263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Binding, stability and cell function</a:t>
            </a:r>
          </a:p>
        </p:txBody>
      </p:sp>
      <p:sp>
        <p:nvSpPr>
          <p:cNvPr id="23" name="Figure 16 label 18 line 2">
            <a:extLst xmlns:a="http://schemas.openxmlformats.org/drawingml/2006/main">
              <a:ext uri="{FF2B5EF4-FFF2-40B4-BE49-F238E27FC236}">
                <a16:creationId xmlns:a16="http://schemas.microsoft.com/office/drawing/2014/main" id="{0DCE0954-E888-4BAE-BA6F-1C334D7383D7}"/>
              </a:ext>
            </a:extLst>
          </p:cNvPr>
          <p:cNvSpPr>
            <a:spLocks xmlns:a="http://schemas.openxmlformats.org/drawingml/2006/main" noGrp="1"/>
          </p:cNvSpPr>
          <p:nvPr/>
        </p:nvSpPr>
        <p:spPr>
          <a:xfrm xmlns:a="http://schemas.openxmlformats.org/drawingml/2006/main" rot="0">
            <a:off x="13236702" y="6583871"/>
            <a:ext cx="272263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Keep failures as informative labels</a:t>
            </a:r>
          </a:p>
        </p:txBody>
      </p:sp>
      <p:sp>
        <p:nvSpPr>
          <p:cNvPr id="24" name="Figure 16 label 19 line 1">
            <a:extLst xmlns:a="http://schemas.openxmlformats.org/drawingml/2006/main">
              <a:ext uri="{FF2B5EF4-FFF2-40B4-BE49-F238E27FC236}">
                <a16:creationId xmlns:a16="http://schemas.microsoft.com/office/drawing/2014/main" id="{34BDE8CB-03AA-475B-8E19-B81A4854A97A}"/>
              </a:ext>
            </a:extLst>
          </p:cNvPr>
          <p:cNvSpPr>
            <a:spLocks xmlns:a="http://schemas.openxmlformats.org/drawingml/2006/main" noGrp="1"/>
          </p:cNvSpPr>
          <p:nvPr/>
        </p:nvSpPr>
        <p:spPr>
          <a:xfrm xmlns:a="http://schemas.openxmlformats.org/drawingml/2006/main" rot="0">
            <a:off x="7484821" y="5588051"/>
            <a:ext cx="736652"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05  /  DATA</a:t>
            </a:r>
          </a:p>
        </p:txBody>
      </p:sp>
      <p:sp>
        <p:nvSpPr>
          <p:cNvPr id="25" name="Figure 16 label 20 line 1">
            <a:extLst xmlns:a="http://schemas.openxmlformats.org/drawingml/2006/main">
              <a:ext uri="{FF2B5EF4-FFF2-40B4-BE49-F238E27FC236}">
                <a16:creationId xmlns:a16="http://schemas.microsoft.com/office/drawing/2014/main" id="{C5BC66CA-3185-4284-A6A7-C0B70F2BBDE7}"/>
              </a:ext>
            </a:extLst>
          </p:cNvPr>
          <p:cNvSpPr>
            <a:spLocks xmlns:a="http://schemas.openxmlformats.org/drawingml/2006/main" noGrp="1"/>
          </p:cNvSpPr>
          <p:nvPr/>
        </p:nvSpPr>
        <p:spPr>
          <a:xfrm xmlns:a="http://schemas.openxmlformats.org/drawingml/2006/main" rot="0">
            <a:off x="7481011" y="5934761"/>
            <a:ext cx="2976217"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Curate experimental data</a:t>
            </a:r>
          </a:p>
        </p:txBody>
      </p:sp>
      <p:sp>
        <p:nvSpPr>
          <p:cNvPr id="26" name="Figure 16 label 21 line 1">
            <a:extLst xmlns:a="http://schemas.openxmlformats.org/drawingml/2006/main">
              <a:ext uri="{FF2B5EF4-FFF2-40B4-BE49-F238E27FC236}">
                <a16:creationId xmlns:a16="http://schemas.microsoft.com/office/drawing/2014/main" id="{50724D80-ED5F-4455-8B2C-4910C123A337}"/>
              </a:ext>
            </a:extLst>
          </p:cNvPr>
          <p:cNvSpPr>
            <a:spLocks xmlns:a="http://schemas.openxmlformats.org/drawingml/2006/main" noGrp="1"/>
          </p:cNvSpPr>
          <p:nvPr/>
        </p:nvSpPr>
        <p:spPr>
          <a:xfrm xmlns:a="http://schemas.openxmlformats.org/drawingml/2006/main" rot="0">
            <a:off x="7483602" y="6369558"/>
            <a:ext cx="318057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Link sequence, target and assay context</a:t>
            </a:r>
          </a:p>
        </p:txBody>
      </p:sp>
      <p:sp>
        <p:nvSpPr>
          <p:cNvPr id="27" name="Figure 16 label 21 line 2">
            <a:extLst xmlns:a="http://schemas.openxmlformats.org/drawingml/2006/main">
              <a:ext uri="{FF2B5EF4-FFF2-40B4-BE49-F238E27FC236}">
                <a16:creationId xmlns:a16="http://schemas.microsoft.com/office/drawing/2014/main" id="{963D786A-D61E-4C4D-A671-F2B6C3AB0D97}"/>
              </a:ext>
            </a:extLst>
          </p:cNvPr>
          <p:cNvSpPr>
            <a:spLocks xmlns:a="http://schemas.openxmlformats.org/drawingml/2006/main" noGrp="1"/>
          </p:cNvSpPr>
          <p:nvPr/>
        </p:nvSpPr>
        <p:spPr>
          <a:xfrm xmlns:a="http://schemas.openxmlformats.org/drawingml/2006/main" rot="0">
            <a:off x="7483602" y="6583871"/>
            <a:ext cx="318057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Retain replicates, raw data and failures</a:t>
            </a:r>
          </a:p>
        </p:txBody>
      </p:sp>
      <p:sp>
        <p:nvSpPr>
          <p:cNvPr id="28" name="Figure 16 label 22 line 1">
            <a:extLst xmlns:a="http://schemas.openxmlformats.org/drawingml/2006/main">
              <a:ext uri="{FF2B5EF4-FFF2-40B4-BE49-F238E27FC236}">
                <a16:creationId xmlns:a16="http://schemas.microsoft.com/office/drawing/2014/main" id="{3012650A-BE0D-418A-A932-7AB6040DD96C}"/>
              </a:ext>
            </a:extLst>
          </p:cNvPr>
          <p:cNvSpPr>
            <a:spLocks xmlns:a="http://schemas.openxmlformats.org/drawingml/2006/main" noGrp="1"/>
          </p:cNvSpPr>
          <p:nvPr/>
        </p:nvSpPr>
        <p:spPr>
          <a:xfrm xmlns:a="http://schemas.openxmlformats.org/drawingml/2006/main" rot="0">
            <a:off x="1731721" y="5588051"/>
            <a:ext cx="851547"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06  /  LEARN</a:t>
            </a:r>
          </a:p>
        </p:txBody>
      </p:sp>
      <p:sp>
        <p:nvSpPr>
          <p:cNvPr id="29" name="Figure 16 label 23 line 1">
            <a:extLst xmlns:a="http://schemas.openxmlformats.org/drawingml/2006/main">
              <a:ext uri="{FF2B5EF4-FFF2-40B4-BE49-F238E27FC236}">
                <a16:creationId xmlns:a16="http://schemas.microsoft.com/office/drawing/2014/main" id="{0E2209EF-FDBC-4FD1-8C01-9957065955A5}"/>
              </a:ext>
            </a:extLst>
          </p:cNvPr>
          <p:cNvSpPr>
            <a:spLocks xmlns:a="http://schemas.openxmlformats.org/drawingml/2006/main" noGrp="1"/>
          </p:cNvSpPr>
          <p:nvPr/>
        </p:nvSpPr>
        <p:spPr>
          <a:xfrm xmlns:a="http://schemas.openxmlformats.org/drawingml/2006/main" rot="0">
            <a:off x="1727911" y="5934761"/>
            <a:ext cx="2785568"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Improve model + policy</a:t>
            </a:r>
          </a:p>
        </p:txBody>
      </p:sp>
      <p:sp>
        <p:nvSpPr>
          <p:cNvPr id="30" name="Figure 16 label 24 line 1">
            <a:extLst xmlns:a="http://schemas.openxmlformats.org/drawingml/2006/main">
              <a:ext uri="{FF2B5EF4-FFF2-40B4-BE49-F238E27FC236}">
                <a16:creationId xmlns:a16="http://schemas.microsoft.com/office/drawing/2014/main" id="{12FA673B-F241-4209-8A24-580F926661B9}"/>
              </a:ext>
            </a:extLst>
          </p:cNvPr>
          <p:cNvSpPr>
            <a:spLocks xmlns:a="http://schemas.openxmlformats.org/drawingml/2006/main" noGrp="1"/>
          </p:cNvSpPr>
          <p:nvPr/>
        </p:nvSpPr>
        <p:spPr>
          <a:xfrm xmlns:a="http://schemas.openxmlformats.org/drawingml/2006/main" rot="0">
            <a:off x="1730502" y="6369558"/>
            <a:ext cx="289452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Retrain / adapt models and selection</a:t>
            </a:r>
          </a:p>
        </p:txBody>
      </p:sp>
      <p:sp>
        <p:nvSpPr>
          <p:cNvPr id="31" name="Figure 16 label 24 line 2">
            <a:extLst xmlns:a="http://schemas.openxmlformats.org/drawingml/2006/main">
              <a:ext uri="{FF2B5EF4-FFF2-40B4-BE49-F238E27FC236}">
                <a16:creationId xmlns:a16="http://schemas.microsoft.com/office/drawing/2014/main" id="{BED56167-607A-4120-AE26-25F41B880491}"/>
              </a:ext>
            </a:extLst>
          </p:cNvPr>
          <p:cNvSpPr>
            <a:spLocks xmlns:a="http://schemas.openxmlformats.org/drawingml/2006/main" noGrp="1"/>
          </p:cNvSpPr>
          <p:nvPr/>
        </p:nvSpPr>
        <p:spPr>
          <a:xfrm xmlns:a="http://schemas.openxmlformats.org/drawingml/2006/main" rot="0">
            <a:off x="1730502" y="6583871"/>
            <a:ext cx="289452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Benchmark on held-out experiments</a:t>
            </a:r>
          </a:p>
        </p:txBody>
      </p:sp>
      <p:sp>
        <p:nvSpPr>
          <p:cNvPr id="32" name="Figure 16 label 25 line 1">
            <a:extLst xmlns:a="http://schemas.openxmlformats.org/drawingml/2006/main">
              <a:ext uri="{FF2B5EF4-FFF2-40B4-BE49-F238E27FC236}">
                <a16:creationId xmlns:a16="http://schemas.microsoft.com/office/drawing/2014/main" id="{A170127B-2B85-47C2-A116-32AA8AC57BAB}"/>
              </a:ext>
            </a:extLst>
          </p:cNvPr>
          <p:cNvSpPr>
            <a:spLocks xmlns:a="http://schemas.openxmlformats.org/drawingml/2006/main" noGrp="1"/>
          </p:cNvSpPr>
          <p:nvPr/>
        </p:nvSpPr>
        <p:spPr>
          <a:xfrm xmlns:a="http://schemas.openxmlformats.org/drawingml/2006/main" rot="0">
            <a:off x="5799029" y="2810256"/>
            <a:ext cx="77682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200" b="0">
                <a:solidFill>
                  <a:srgbClr val="00355F"/>
                </a:solidFill>
                <a:latin typeface="Arial"/>
                <a:ea typeface="Arial"/>
                <a:cs typeface="Arial"/>
              </a:defRPr>
            </a:defPPr>
          </a:lstStyle>
          <a:p xmlns:a="http://schemas.openxmlformats.org/drawingml/2006/main">
            <a:pPr algn="ctr">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Proposals</a:t>
            </a:r>
          </a:p>
        </p:txBody>
      </p:sp>
      <p:sp>
        <p:nvSpPr>
          <p:cNvPr id="33" name="Figure 16 label 26 line 1">
            <a:extLst xmlns:a="http://schemas.openxmlformats.org/drawingml/2006/main">
              <a:ext uri="{FF2B5EF4-FFF2-40B4-BE49-F238E27FC236}">
                <a16:creationId xmlns:a16="http://schemas.microsoft.com/office/drawing/2014/main" id="{A685FD2E-6484-4E65-9E99-E45E0415129F}"/>
              </a:ext>
            </a:extLst>
          </p:cNvPr>
          <p:cNvSpPr>
            <a:spLocks xmlns:a="http://schemas.openxmlformats.org/drawingml/2006/main" noGrp="1"/>
          </p:cNvSpPr>
          <p:nvPr/>
        </p:nvSpPr>
        <p:spPr>
          <a:xfrm xmlns:a="http://schemas.openxmlformats.org/drawingml/2006/main" rot="0">
            <a:off x="11607627" y="2810256"/>
            <a:ext cx="734407"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200" b="0">
                <a:solidFill>
                  <a:srgbClr val="00355F"/>
                </a:solidFill>
                <a:latin typeface="Arial"/>
                <a:ea typeface="Arial"/>
                <a:cs typeface="Arial"/>
              </a:defRPr>
            </a:defPPr>
          </a:lstStyle>
          <a:p xmlns:a="http://schemas.openxmlformats.org/drawingml/2006/main">
            <a:pPr algn="ctr">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Protocols</a:t>
            </a:r>
          </a:p>
        </p:txBody>
      </p:sp>
      <p:sp>
        <p:nvSpPr>
          <p:cNvPr id="34" name="Figure 16 label 27 line 1">
            <a:extLst xmlns:a="http://schemas.openxmlformats.org/drawingml/2006/main">
              <a:ext uri="{FF2B5EF4-FFF2-40B4-BE49-F238E27FC236}">
                <a16:creationId xmlns:a16="http://schemas.microsoft.com/office/drawing/2014/main" id="{DCB5DCB4-A07F-4557-A5F9-7F73F290348E}"/>
              </a:ext>
            </a:extLst>
          </p:cNvPr>
          <p:cNvSpPr>
            <a:spLocks xmlns:a="http://schemas.openxmlformats.org/drawingml/2006/main" noGrp="1"/>
          </p:cNvSpPr>
          <p:nvPr/>
        </p:nvSpPr>
        <p:spPr>
          <a:xfrm xmlns:a="http://schemas.openxmlformats.org/drawingml/2006/main" rot="0">
            <a:off x="11425104" y="5850636"/>
            <a:ext cx="110707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200" b="0">
                <a:solidFill>
                  <a:srgbClr val="00355F"/>
                </a:solidFill>
                <a:latin typeface="Arial"/>
                <a:ea typeface="Arial"/>
                <a:cs typeface="Arial"/>
              </a:defRPr>
            </a:defPPr>
          </a:lstStyle>
          <a:p xmlns:a="http://schemas.openxmlformats.org/drawingml/2006/main">
            <a:pPr algn="ctr">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Measurements</a:t>
            </a:r>
          </a:p>
        </p:txBody>
      </p:sp>
      <p:sp>
        <p:nvSpPr>
          <p:cNvPr id="35" name="Figure 16 label 28 line 1">
            <a:extLst xmlns:a="http://schemas.openxmlformats.org/drawingml/2006/main">
              <a:ext uri="{FF2B5EF4-FFF2-40B4-BE49-F238E27FC236}">
                <a16:creationId xmlns:a16="http://schemas.microsoft.com/office/drawing/2014/main" id="{F0EA772A-3DE8-484B-87C3-EF20749273FE}"/>
              </a:ext>
            </a:extLst>
          </p:cNvPr>
          <p:cNvSpPr>
            <a:spLocks xmlns:a="http://schemas.openxmlformats.org/drawingml/2006/main" noGrp="1"/>
          </p:cNvSpPr>
          <p:nvPr/>
        </p:nvSpPr>
        <p:spPr>
          <a:xfrm xmlns:a="http://schemas.openxmlformats.org/drawingml/2006/main" rot="0">
            <a:off x="5577349" y="5850636"/>
            <a:ext cx="1296382"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200" b="0">
                <a:solidFill>
                  <a:srgbClr val="00355F"/>
                </a:solidFill>
                <a:latin typeface="Arial"/>
                <a:ea typeface="Arial"/>
                <a:cs typeface="Arial"/>
              </a:defRPr>
            </a:defPPr>
          </a:lstStyle>
          <a:p xmlns:a="http://schemas.openxmlformats.org/drawingml/2006/main">
            <a:pPr algn="ctr">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Training evidence</a:t>
            </a:r>
          </a:p>
        </p:txBody>
      </p:sp>
      <p:sp>
        <p:nvSpPr>
          <p:cNvPr id="36" name="Figure 16 label 29 line 1">
            <a:extLst xmlns:a="http://schemas.openxmlformats.org/drawingml/2006/main">
              <a:ext uri="{FF2B5EF4-FFF2-40B4-BE49-F238E27FC236}">
                <a16:creationId xmlns:a16="http://schemas.microsoft.com/office/drawing/2014/main" id="{9050082D-A050-48EB-974F-2650F80A4E65}"/>
              </a:ext>
            </a:extLst>
          </p:cNvPr>
          <p:cNvSpPr>
            <a:spLocks xmlns:a="http://schemas.openxmlformats.org/drawingml/2006/main" noGrp="1"/>
          </p:cNvSpPr>
          <p:nvPr/>
        </p:nvSpPr>
        <p:spPr>
          <a:xfrm xmlns:a="http://schemas.openxmlformats.org/drawingml/2006/main" rot="0">
            <a:off x="1600810" y="4204106"/>
            <a:ext cx="131198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Deploy only</a:t>
            </a:r>
          </a:p>
        </p:txBody>
      </p:sp>
      <p:sp>
        <p:nvSpPr>
          <p:cNvPr id="37" name="Figure 16 label 29 line 2">
            <a:extLst xmlns:a="http://schemas.openxmlformats.org/drawingml/2006/main">
              <a:ext uri="{FF2B5EF4-FFF2-40B4-BE49-F238E27FC236}">
                <a16:creationId xmlns:a16="http://schemas.microsoft.com/office/drawing/2014/main" id="{455C874D-9929-40B9-BFD5-F9F900416E9D}"/>
              </a:ext>
            </a:extLst>
          </p:cNvPr>
          <p:cNvSpPr>
            <a:spLocks xmlns:a="http://schemas.openxmlformats.org/drawingml/2006/main" noGrp="1"/>
          </p:cNvSpPr>
          <p:nvPr/>
        </p:nvSpPr>
        <p:spPr>
          <a:xfrm xmlns:a="http://schemas.openxmlformats.org/drawingml/2006/main" rot="0">
            <a:off x="1600810" y="4423181"/>
            <a:ext cx="131198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verified</a:t>
            </a:r>
          </a:p>
        </p:txBody>
      </p:sp>
      <p:sp>
        <p:nvSpPr>
          <p:cNvPr id="38" name="Figure 16 label 29 line 3">
            <a:extLst xmlns:a="http://schemas.openxmlformats.org/drawingml/2006/main">
              <a:ext uri="{FF2B5EF4-FFF2-40B4-BE49-F238E27FC236}">
                <a16:creationId xmlns:a16="http://schemas.microsoft.com/office/drawing/2014/main" id="{06CF23E7-102C-4BFF-9DE8-6B6D26651E54}"/>
              </a:ext>
            </a:extLst>
          </p:cNvPr>
          <p:cNvSpPr>
            <a:spLocks xmlns:a="http://schemas.openxmlformats.org/drawingml/2006/main" noGrp="1"/>
          </p:cNvSpPr>
          <p:nvPr/>
        </p:nvSpPr>
        <p:spPr>
          <a:xfrm xmlns:a="http://schemas.openxmlformats.org/drawingml/2006/main" rot="0">
            <a:off x="1600810" y="4642256"/>
            <a:ext cx="131198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improvements</a:t>
            </a:r>
          </a:p>
        </p:txBody>
      </p:sp>
      <p:sp>
        <p:nvSpPr>
          <p:cNvPr id="39" name="Figure 16 label 30 line 1">
            <a:extLst xmlns:a="http://schemas.openxmlformats.org/drawingml/2006/main">
              <a:ext uri="{FF2B5EF4-FFF2-40B4-BE49-F238E27FC236}">
                <a16:creationId xmlns:a16="http://schemas.microsoft.com/office/drawing/2014/main" id="{A5D3EC1D-B910-46D7-9442-01D9580F46CC}"/>
              </a:ext>
            </a:extLst>
          </p:cNvPr>
          <p:cNvSpPr>
            <a:spLocks xmlns:a="http://schemas.openxmlformats.org/drawingml/2006/main" noGrp="1"/>
          </p:cNvSpPr>
          <p:nvPr/>
        </p:nvSpPr>
        <p:spPr>
          <a:xfrm xmlns:a="http://schemas.openxmlformats.org/drawingml/2006/main" rot="0">
            <a:off x="15232990" y="4211726"/>
            <a:ext cx="1243971"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Throughput</a:t>
            </a:r>
          </a:p>
        </p:txBody>
      </p:sp>
      <p:sp>
        <p:nvSpPr>
          <p:cNvPr id="40" name="Figure 16 label 30 line 2">
            <a:extLst xmlns:a="http://schemas.openxmlformats.org/drawingml/2006/main">
              <a:ext uri="{FF2B5EF4-FFF2-40B4-BE49-F238E27FC236}">
                <a16:creationId xmlns:a16="http://schemas.microsoft.com/office/drawing/2014/main" id="{DC644C27-F531-4E4A-8FDF-99730070A674}"/>
              </a:ext>
            </a:extLst>
          </p:cNvPr>
          <p:cNvSpPr>
            <a:spLocks xmlns:a="http://schemas.openxmlformats.org/drawingml/2006/main" noGrp="1"/>
          </p:cNvSpPr>
          <p:nvPr/>
        </p:nvSpPr>
        <p:spPr>
          <a:xfrm xmlns:a="http://schemas.openxmlformats.org/drawingml/2006/main" rot="0">
            <a:off x="15232990" y="4430801"/>
            <a:ext cx="1243971"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Assay quality</a:t>
            </a:r>
          </a:p>
        </p:txBody>
      </p:sp>
      <p:sp>
        <p:nvSpPr>
          <p:cNvPr id="41" name="Figure 16 label 30 line 3">
            <a:extLst xmlns:a="http://schemas.openxmlformats.org/drawingml/2006/main">
              <a:ext uri="{FF2B5EF4-FFF2-40B4-BE49-F238E27FC236}">
                <a16:creationId xmlns:a16="http://schemas.microsoft.com/office/drawing/2014/main" id="{2BBB42EC-6927-482B-9A2E-58FE7B729438}"/>
              </a:ext>
            </a:extLst>
          </p:cNvPr>
          <p:cNvSpPr>
            <a:spLocks xmlns:a="http://schemas.openxmlformats.org/drawingml/2006/main" noGrp="1"/>
          </p:cNvSpPr>
          <p:nvPr/>
        </p:nvSpPr>
        <p:spPr>
          <a:xfrm xmlns:a="http://schemas.openxmlformats.org/drawingml/2006/main" rot="0">
            <a:off x="15232990" y="4649876"/>
            <a:ext cx="1243971"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Money + time</a:t>
            </a:r>
          </a:p>
        </p:txBody>
      </p:sp>
      <p:sp>
        <p:nvSpPr>
          <p:cNvPr id="42" name="Figure 16 label 31 line 1">
            <a:extLst xmlns:a="http://schemas.openxmlformats.org/drawingml/2006/main">
              <a:ext uri="{FF2B5EF4-FFF2-40B4-BE49-F238E27FC236}">
                <a16:creationId xmlns:a16="http://schemas.microsoft.com/office/drawing/2014/main" id="{B327235C-1CCC-48A0-B152-887F3947EE9D}"/>
              </a:ext>
            </a:extLst>
          </p:cNvPr>
          <p:cNvSpPr>
            <a:spLocks xmlns:a="http://schemas.openxmlformats.org/drawingml/2006/main" noGrp="1"/>
          </p:cNvSpPr>
          <p:nvPr/>
        </p:nvSpPr>
        <p:spPr>
          <a:xfrm xmlns:a="http://schemas.openxmlformats.org/drawingml/2006/main" rot="0">
            <a:off x="6912126" y="4071518"/>
            <a:ext cx="4425648"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80" b="1">
                <a:solidFill>
                  <a:srgbClr val="00355F"/>
                </a:solidFill>
                <a:latin typeface="Arial"/>
                <a:ea typeface="Arial"/>
                <a:cs typeface="Arial"/>
              </a:defRPr>
            </a:defPPr>
          </a:lstStyle>
          <a:p xmlns:a="http://schemas.openxmlformats.org/drawingml/2006/main">
            <a:pPr algn="ctr">
              <a:lnSpc>
                <a:spcPct val="100000"/>
              </a:lnSpc>
              <a:buNone/>
              <a:defRPr sz="2280" b="1">
                <a:solidFill>
                  <a:srgbClr val="00355F"/>
                </a:solidFill>
                <a:latin typeface="Arial"/>
                <a:ea typeface="Arial"/>
                <a:cs typeface="Arial"/>
              </a:defRPr>
            </a:pPr>
            <a:r>
              <a:rPr sz="2280" b="1">
                <a:solidFill>
                  <a:srgbClr val="00355F"/>
                </a:solidFill>
                <a:latin typeface="Arial"/>
                <a:ea typeface="Arial"/>
                <a:cs typeface="Arial"/>
              </a:rPr>
              <a:t>Better AI → better experiments</a:t>
            </a:r>
          </a:p>
        </p:txBody>
      </p:sp>
      <p:sp>
        <p:nvSpPr>
          <p:cNvPr id="43" name="Figure 16 label 31 line 2">
            <a:extLst xmlns:a="http://schemas.openxmlformats.org/drawingml/2006/main">
              <a:ext uri="{FF2B5EF4-FFF2-40B4-BE49-F238E27FC236}">
                <a16:creationId xmlns:a16="http://schemas.microsoft.com/office/drawing/2014/main" id="{2076D26B-727E-4170-A048-95FD432C4455}"/>
              </a:ext>
            </a:extLst>
          </p:cNvPr>
          <p:cNvSpPr>
            <a:spLocks xmlns:a="http://schemas.openxmlformats.org/drawingml/2006/main" noGrp="1"/>
          </p:cNvSpPr>
          <p:nvPr/>
        </p:nvSpPr>
        <p:spPr>
          <a:xfrm xmlns:a="http://schemas.openxmlformats.org/drawingml/2006/main" rot="0">
            <a:off x="6912126" y="4433468"/>
            <a:ext cx="4425648"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80" b="1">
                <a:solidFill>
                  <a:srgbClr val="00355F"/>
                </a:solidFill>
                <a:latin typeface="Arial"/>
                <a:ea typeface="Arial"/>
                <a:cs typeface="Arial"/>
              </a:defRPr>
            </a:defPPr>
          </a:lstStyle>
          <a:p xmlns:a="http://schemas.openxmlformats.org/drawingml/2006/main">
            <a:pPr algn="ctr">
              <a:lnSpc>
                <a:spcPct val="100000"/>
              </a:lnSpc>
              <a:buNone/>
              <a:defRPr sz="2280" b="1">
                <a:solidFill>
                  <a:srgbClr val="00355F"/>
                </a:solidFill>
                <a:latin typeface="Arial"/>
                <a:ea typeface="Arial"/>
                <a:cs typeface="Arial"/>
              </a:defRPr>
            </a:pPr>
            <a:r>
              <a:rPr sz="2280" b="1">
                <a:solidFill>
                  <a:srgbClr val="00355F"/>
                </a:solidFill>
                <a:latin typeface="Arial"/>
                <a:ea typeface="Arial"/>
                <a:cs typeface="Arial"/>
              </a:rPr>
              <a:t>→ better AI</a:t>
            </a:r>
          </a:p>
        </p:txBody>
      </p:sp>
      <p:sp>
        <p:nvSpPr>
          <p:cNvPr id="44" name="Figure 16 label 32 line 1">
            <a:extLst xmlns:a="http://schemas.openxmlformats.org/drawingml/2006/main">
              <a:ext uri="{FF2B5EF4-FFF2-40B4-BE49-F238E27FC236}">
                <a16:creationId xmlns:a16="http://schemas.microsoft.com/office/drawing/2014/main" id="{C49280D6-2169-421B-9A86-ECA1A949A63B}"/>
              </a:ext>
            </a:extLst>
          </p:cNvPr>
          <p:cNvSpPr>
            <a:spLocks xmlns:a="http://schemas.openxmlformats.org/drawingml/2006/main" noGrp="1"/>
          </p:cNvSpPr>
          <p:nvPr/>
        </p:nvSpPr>
        <p:spPr>
          <a:xfrm xmlns:a="http://schemas.openxmlformats.org/drawingml/2006/main" rot="0">
            <a:off x="7369882" y="4907890"/>
            <a:ext cx="351013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0" b="0">
                <a:solidFill>
                  <a:srgbClr val="00355F"/>
                </a:solidFill>
                <a:latin typeface="Arial"/>
                <a:ea typeface="Arial"/>
                <a:cs typeface="Arial"/>
              </a:defRPr>
            </a:defPPr>
          </a:lstStyle>
          <a:p xmlns:a="http://schemas.openxmlformats.org/drawingml/2006/main">
            <a:pPr algn="ctr">
              <a:lnSpc>
                <a:spcPct val="100000"/>
              </a:lnSpc>
              <a:buNone/>
              <a:defRPr sz="1320" b="0">
                <a:solidFill>
                  <a:srgbClr val="00355F"/>
                </a:solidFill>
                <a:latin typeface="Arial"/>
                <a:ea typeface="Arial"/>
                <a:cs typeface="Arial"/>
              </a:defRPr>
            </a:pPr>
            <a:r>
              <a:rPr sz="1320" b="0">
                <a:solidFill>
                  <a:srgbClr val="00355F"/>
                </a:solidFill>
                <a:latin typeface="Arial"/>
                <a:ea typeface="Arial"/>
                <a:cs typeface="Arial"/>
              </a:rPr>
              <a:t>Potential recursive gains need comparable,</a:t>
            </a:r>
          </a:p>
        </p:txBody>
      </p:sp>
      <p:sp>
        <p:nvSpPr>
          <p:cNvPr id="45" name="Figure 16 label 32 line 2">
            <a:extLst xmlns:a="http://schemas.openxmlformats.org/drawingml/2006/main">
              <a:ext uri="{FF2B5EF4-FFF2-40B4-BE49-F238E27FC236}">
                <a16:creationId xmlns:a16="http://schemas.microsoft.com/office/drawing/2014/main" id="{76D1FF2A-0739-4CF6-936D-BCE2DEDEBDB3}"/>
              </a:ext>
            </a:extLst>
          </p:cNvPr>
          <p:cNvSpPr>
            <a:spLocks xmlns:a="http://schemas.openxmlformats.org/drawingml/2006/main" noGrp="1"/>
          </p:cNvSpPr>
          <p:nvPr/>
        </p:nvSpPr>
        <p:spPr>
          <a:xfrm xmlns:a="http://schemas.openxmlformats.org/drawingml/2006/main" rot="0">
            <a:off x="7369882" y="5117440"/>
            <a:ext cx="351013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0" b="0">
                <a:solidFill>
                  <a:srgbClr val="00355F"/>
                </a:solidFill>
                <a:latin typeface="Arial"/>
                <a:ea typeface="Arial"/>
                <a:cs typeface="Arial"/>
              </a:defRPr>
            </a:defPPr>
          </a:lstStyle>
          <a:p xmlns:a="http://schemas.openxmlformats.org/drawingml/2006/main">
            <a:pPr algn="ctr">
              <a:lnSpc>
                <a:spcPct val="100000"/>
              </a:lnSpc>
              <a:buNone/>
              <a:defRPr sz="1320" b="0">
                <a:solidFill>
                  <a:srgbClr val="00355F"/>
                </a:solidFill>
                <a:latin typeface="Arial"/>
                <a:ea typeface="Arial"/>
                <a:cs typeface="Arial"/>
              </a:defRPr>
            </a:pPr>
            <a:r>
              <a:rPr sz="1320" b="0">
                <a:solidFill>
                  <a:srgbClr val="00355F"/>
                </a:solidFill>
                <a:latin typeface="Arial"/>
                <a:ea typeface="Arial"/>
                <a:cs typeface="Arial"/>
              </a:rPr>
              <a:t>reproducible evidence from the physical world</a:t>
            </a:r>
          </a:p>
        </p:txBody>
      </p:sp>
      <p:sp>
        <p:nvSpPr>
          <p:cNvPr id="46" name="Figure 16 label 33 line 1">
            <a:extLst xmlns:a="http://schemas.openxmlformats.org/drawingml/2006/main">
              <a:ext uri="{FF2B5EF4-FFF2-40B4-BE49-F238E27FC236}">
                <a16:creationId xmlns:a16="http://schemas.microsoft.com/office/drawing/2014/main" id="{3B6D2445-B0F1-46CB-A992-A0EC7AEEC120}"/>
              </a:ext>
            </a:extLst>
          </p:cNvPr>
          <p:cNvSpPr>
            <a:spLocks xmlns:a="http://schemas.openxmlformats.org/drawingml/2006/main" noGrp="1"/>
          </p:cNvSpPr>
          <p:nvPr/>
        </p:nvSpPr>
        <p:spPr>
          <a:xfrm xmlns:a="http://schemas.openxmlformats.org/drawingml/2006/main" rot="0">
            <a:off x="753466" y="7131710"/>
            <a:ext cx="479804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LST supports every return to physical biology</a:t>
            </a:r>
          </a:p>
        </p:txBody>
      </p:sp>
      <p:sp>
        <p:nvSpPr>
          <p:cNvPr id="47" name="Figure 16 label 34 line 1">
            <a:extLst xmlns:a="http://schemas.openxmlformats.org/drawingml/2006/main">
              <a:ext uri="{FF2B5EF4-FFF2-40B4-BE49-F238E27FC236}">
                <a16:creationId xmlns:a16="http://schemas.microsoft.com/office/drawing/2014/main" id="{858932F6-2F46-4B0A-A991-C85F2C23754A}"/>
              </a:ext>
            </a:extLst>
          </p:cNvPr>
          <p:cNvSpPr>
            <a:spLocks xmlns:a="http://schemas.openxmlformats.org/drawingml/2006/main" noGrp="1"/>
          </p:cNvSpPr>
          <p:nvPr/>
        </p:nvSpPr>
        <p:spPr>
          <a:xfrm xmlns:a="http://schemas.openxmlformats.org/drawingml/2006/main" rot="0">
            <a:off x="1334110" y="7686446"/>
            <a:ext cx="649403"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BUILD</a:t>
            </a:r>
          </a:p>
        </p:txBody>
      </p:sp>
      <p:sp>
        <p:nvSpPr>
          <p:cNvPr id="48" name="Figure 16 label 35 line 1">
            <a:extLst xmlns:a="http://schemas.openxmlformats.org/drawingml/2006/main">
              <a:ext uri="{FF2B5EF4-FFF2-40B4-BE49-F238E27FC236}">
                <a16:creationId xmlns:a16="http://schemas.microsoft.com/office/drawing/2014/main" id="{57614F62-6B14-43E8-8367-D11579132D2D}"/>
              </a:ext>
            </a:extLst>
          </p:cNvPr>
          <p:cNvSpPr>
            <a:spLocks xmlns:a="http://schemas.openxmlformats.org/drawingml/2006/main" noGrp="1"/>
          </p:cNvSpPr>
          <p:nvPr/>
        </p:nvSpPr>
        <p:spPr>
          <a:xfrm xmlns:a="http://schemas.openxmlformats.org/drawingml/2006/main" rot="0">
            <a:off x="946099" y="8034833"/>
            <a:ext cx="2976693"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DNA synthesis · expression · purification</a:t>
            </a:r>
          </a:p>
        </p:txBody>
      </p:sp>
      <p:sp>
        <p:nvSpPr>
          <p:cNvPr id="49" name="Figure 16 label 36 line 1">
            <a:extLst xmlns:a="http://schemas.openxmlformats.org/drawingml/2006/main">
              <a:ext uri="{FF2B5EF4-FFF2-40B4-BE49-F238E27FC236}">
                <a16:creationId xmlns:a16="http://schemas.microsoft.com/office/drawing/2014/main" id="{624875AF-2678-4E57-A011-D53126B1B8F5}"/>
              </a:ext>
            </a:extLst>
          </p:cNvPr>
          <p:cNvSpPr>
            <a:spLocks xmlns:a="http://schemas.openxmlformats.org/drawingml/2006/main" noGrp="1"/>
          </p:cNvSpPr>
          <p:nvPr/>
        </p:nvSpPr>
        <p:spPr>
          <a:xfrm xmlns:a="http://schemas.openxmlformats.org/drawingml/2006/main" rot="0">
            <a:off x="6858610" y="7686446"/>
            <a:ext cx="561892"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TEST</a:t>
            </a:r>
          </a:p>
        </p:txBody>
      </p:sp>
      <p:sp>
        <p:nvSpPr>
          <p:cNvPr id="50" name="Figure 16 label 37 line 1">
            <a:extLst xmlns:a="http://schemas.openxmlformats.org/drawingml/2006/main">
              <a:ext uri="{FF2B5EF4-FFF2-40B4-BE49-F238E27FC236}">
                <a16:creationId xmlns:a16="http://schemas.microsoft.com/office/drawing/2014/main" id="{D9D1B9C3-D2A5-4879-B6DD-B0CAD9EE4426}"/>
              </a:ext>
            </a:extLst>
          </p:cNvPr>
          <p:cNvSpPr>
            <a:spLocks xmlns:a="http://schemas.openxmlformats.org/drawingml/2006/main" noGrp="1"/>
          </p:cNvSpPr>
          <p:nvPr/>
        </p:nvSpPr>
        <p:spPr>
          <a:xfrm xmlns:a="http://schemas.openxmlformats.org/drawingml/2006/main" rot="0">
            <a:off x="6470599" y="8027213"/>
            <a:ext cx="3056763"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Proteins · biosensors · analytical columns</a:t>
            </a:r>
          </a:p>
        </p:txBody>
      </p:sp>
      <p:sp>
        <p:nvSpPr>
          <p:cNvPr id="51" name="Figure 16 label 37 line 2">
            <a:extLst xmlns:a="http://schemas.openxmlformats.org/drawingml/2006/main">
              <a:ext uri="{FF2B5EF4-FFF2-40B4-BE49-F238E27FC236}">
                <a16:creationId xmlns:a16="http://schemas.microsoft.com/office/drawing/2014/main" id="{CBC37B78-860F-4127-A966-4EAD2F25FEB4}"/>
              </a:ext>
            </a:extLst>
          </p:cNvPr>
          <p:cNvSpPr>
            <a:spLocks xmlns:a="http://schemas.openxmlformats.org/drawingml/2006/main" noGrp="1"/>
          </p:cNvSpPr>
          <p:nvPr/>
        </p:nvSpPr>
        <p:spPr>
          <a:xfrm xmlns:a="http://schemas.openxmlformats.org/drawingml/2006/main" rot="0">
            <a:off x="6470599" y="8227238"/>
            <a:ext cx="3056763"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Cell assays · measurement platforms</a:t>
            </a:r>
          </a:p>
        </p:txBody>
      </p:sp>
      <p:sp>
        <p:nvSpPr>
          <p:cNvPr id="52" name="Figure 16 label 38 line 1">
            <a:extLst xmlns:a="http://schemas.openxmlformats.org/drawingml/2006/main">
              <a:ext uri="{FF2B5EF4-FFF2-40B4-BE49-F238E27FC236}">
                <a16:creationId xmlns:a16="http://schemas.microsoft.com/office/drawing/2014/main" id="{82A20294-1A4F-40B3-86F8-E346C425E877}"/>
              </a:ext>
            </a:extLst>
          </p:cNvPr>
          <p:cNvSpPr>
            <a:spLocks xmlns:a="http://schemas.openxmlformats.org/drawingml/2006/main" noGrp="1"/>
          </p:cNvSpPr>
          <p:nvPr/>
        </p:nvSpPr>
        <p:spPr>
          <a:xfrm xmlns:a="http://schemas.openxmlformats.org/drawingml/2006/main" rot="0">
            <a:off x="12497410" y="7686446"/>
            <a:ext cx="1774246"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CONNECT + SCALE</a:t>
            </a:r>
          </a:p>
        </p:txBody>
      </p:sp>
      <p:sp>
        <p:nvSpPr>
          <p:cNvPr id="53" name="Figure 16 label 39 line 1">
            <a:extLst xmlns:a="http://schemas.openxmlformats.org/drawingml/2006/main">
              <a:ext uri="{FF2B5EF4-FFF2-40B4-BE49-F238E27FC236}">
                <a16:creationId xmlns:a16="http://schemas.microsoft.com/office/drawing/2014/main" id="{6E97C00B-26AE-4BD4-839F-C01AEBB21237}"/>
              </a:ext>
            </a:extLst>
          </p:cNvPr>
          <p:cNvSpPr>
            <a:spLocks xmlns:a="http://schemas.openxmlformats.org/drawingml/2006/main" noGrp="1"/>
          </p:cNvSpPr>
          <p:nvPr/>
        </p:nvSpPr>
        <p:spPr>
          <a:xfrm xmlns:a="http://schemas.openxmlformats.org/drawingml/2006/main" rot="0">
            <a:off x="12109399" y="8027213"/>
            <a:ext cx="2808071"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Labware · automation · data platforms</a:t>
            </a:r>
          </a:p>
        </p:txBody>
      </p:sp>
      <p:sp>
        <p:nvSpPr>
          <p:cNvPr id="54" name="Figure 16 label 39 line 2">
            <a:extLst xmlns:a="http://schemas.openxmlformats.org/drawingml/2006/main">
              <a:ext uri="{FF2B5EF4-FFF2-40B4-BE49-F238E27FC236}">
                <a16:creationId xmlns:a16="http://schemas.microsoft.com/office/drawing/2014/main" id="{7DC9BD3F-FC0D-452C-B393-03D32CB2CB55}"/>
              </a:ext>
            </a:extLst>
          </p:cNvPr>
          <p:cNvSpPr>
            <a:spLocks xmlns:a="http://schemas.openxmlformats.org/drawingml/2006/main" noGrp="1"/>
          </p:cNvSpPr>
          <p:nvPr/>
        </p:nvSpPr>
        <p:spPr>
          <a:xfrm xmlns:a="http://schemas.openxmlformats.org/drawingml/2006/main" rot="0">
            <a:off x="12109399" y="8227238"/>
            <a:ext cx="2808071"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Comparable records across batches</a:t>
            </a:r>
          </a:p>
        </p:txBody>
      </p:sp>
      <p:sp>
        <p:nvSpPr>
          <p:cNvPr id="55" name="Figure 16 label 40 line 1">
            <a:extLst xmlns:a="http://schemas.openxmlformats.org/drawingml/2006/main">
              <a:ext uri="{FF2B5EF4-FFF2-40B4-BE49-F238E27FC236}">
                <a16:creationId xmlns:a16="http://schemas.microsoft.com/office/drawing/2014/main" id="{485BD840-6DBD-45F3-AF32-C25491619600}"/>
              </a:ext>
            </a:extLst>
          </p:cNvPr>
          <p:cNvSpPr>
            <a:spLocks xmlns:a="http://schemas.openxmlformats.org/drawingml/2006/main" noGrp="1"/>
          </p:cNvSpPr>
          <p:nvPr/>
        </p:nvSpPr>
        <p:spPr>
          <a:xfrm xmlns:a="http://schemas.openxmlformats.org/drawingml/2006/main" rot="0">
            <a:off x="4572524" y="8759038"/>
            <a:ext cx="9142952"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920" b="1">
                <a:solidFill>
                  <a:srgbClr val="FFFFFF"/>
                </a:solidFill>
                <a:latin typeface="Arial"/>
                <a:ea typeface="Arial"/>
                <a:cs typeface="Arial"/>
              </a:defRPr>
            </a:defPPr>
          </a:lstStyle>
          <a:p xmlns:a="http://schemas.openxmlformats.org/drawingml/2006/main">
            <a:pPr algn="ctr">
              <a:lnSpc>
                <a:spcPct val="100000"/>
              </a:lnSpc>
              <a:buNone/>
              <a:defRPr sz="1920" b="1">
                <a:solidFill>
                  <a:srgbClr val="FFFFFF"/>
                </a:solidFill>
                <a:latin typeface="Arial"/>
                <a:ea typeface="Arial"/>
                <a:cs typeface="Arial"/>
              </a:defRPr>
            </a:pPr>
            <a:r>
              <a:rPr sz="1920" b="1">
                <a:solidFill>
                  <a:srgbClr val="FFFFFF"/>
                </a:solidFill>
                <a:latin typeface="Arial"/>
                <a:ea typeface="Arial"/>
                <a:cs typeface="Arial"/>
              </a:rPr>
              <a:t>The pace of improvement depends on useful experimental evidence per cycle</a:t>
            </a:r>
          </a:p>
        </p:txBody>
      </p:sp>
      <p:sp>
        <p:nvSpPr>
          <p:cNvPr id="56" name="Figure 16 label 41 line 1">
            <a:extLst xmlns:a="http://schemas.openxmlformats.org/drawingml/2006/main">
              <a:ext uri="{FF2B5EF4-FFF2-40B4-BE49-F238E27FC236}">
                <a16:creationId xmlns:a16="http://schemas.microsoft.com/office/drawing/2014/main" id="{8B7817A1-78D8-4677-81D3-9BE0AFACAA9A}"/>
              </a:ext>
            </a:extLst>
          </p:cNvPr>
          <p:cNvSpPr>
            <a:spLocks xmlns:a="http://schemas.openxmlformats.org/drawingml/2006/main" noGrp="1"/>
          </p:cNvSpPr>
          <p:nvPr/>
        </p:nvSpPr>
        <p:spPr>
          <a:xfrm xmlns:a="http://schemas.openxmlformats.org/drawingml/2006/main" rot="0">
            <a:off x="753161" y="9369247"/>
            <a:ext cx="809984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1">
                <a:solidFill>
                  <a:srgbClr val="00355F"/>
                </a:solidFill>
                <a:latin typeface="Arial"/>
                <a:ea typeface="Arial"/>
                <a:cs typeface="Arial"/>
              </a:defRPr>
            </a:defPPr>
          </a:lstStyle>
          <a:p xmlns:a="http://schemas.openxmlformats.org/drawingml/2006/main">
            <a:pPr algn="l">
              <a:lnSpc>
                <a:spcPct val="100000"/>
              </a:lnSpc>
              <a:buNone/>
              <a:defRPr sz="1740" b="1">
                <a:solidFill>
                  <a:srgbClr val="00355F"/>
                </a:solidFill>
                <a:latin typeface="Arial"/>
                <a:ea typeface="Arial"/>
                <a:cs typeface="Arial"/>
              </a:defRPr>
            </a:pPr>
            <a:r>
              <a:rPr sz="1740" b="1">
                <a:solidFill>
                  <a:srgbClr val="00355F"/>
                </a:solidFill>
                <a:latin typeface="Arial"/>
                <a:ea typeface="Arial"/>
                <a:cs typeface="Arial"/>
              </a:rPr>
              <a:t>Potential LST demand ∝ funded cycles × assay depth × net inputs per assay</a:t>
            </a:r>
          </a:p>
        </p:txBody>
      </p:sp>
      <p:sp>
        <p:nvSpPr>
          <p:cNvPr id="57" name="Figure 16 label 42 line 1">
            <a:extLst xmlns:a="http://schemas.openxmlformats.org/drawingml/2006/main">
              <a:ext uri="{FF2B5EF4-FFF2-40B4-BE49-F238E27FC236}">
                <a16:creationId xmlns:a16="http://schemas.microsoft.com/office/drawing/2014/main" id="{8EC469BE-C6DF-4A11-BB49-44A234C90F86}"/>
              </a:ext>
            </a:extLst>
          </p:cNvPr>
          <p:cNvSpPr>
            <a:spLocks xmlns:a="http://schemas.openxmlformats.org/drawingml/2006/main" noGrp="1"/>
          </p:cNvSpPr>
          <p:nvPr/>
        </p:nvSpPr>
        <p:spPr>
          <a:xfrm xmlns:a="http://schemas.openxmlformats.org/drawingml/2006/main" rot="0">
            <a:off x="755904" y="9736836"/>
            <a:ext cx="6858982"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Automation and miniaturization can reduce inputs per measurement; instrument CAPEX is separate.</a:t>
            </a:r>
          </a:p>
        </p:txBody>
      </p:sp>
      <p:sp>
        <p:nvSpPr>
          <p:cNvPr id="58" name="Figure 16 label 43 line 1">
            <a:extLst xmlns:a="http://schemas.openxmlformats.org/drawingml/2006/main">
              <a:ext uri="{FF2B5EF4-FFF2-40B4-BE49-F238E27FC236}">
                <a16:creationId xmlns:a16="http://schemas.microsoft.com/office/drawing/2014/main" id="{1AAAE68C-6093-4A38-9221-3EB2995B9864}"/>
              </a:ext>
            </a:extLst>
          </p:cNvPr>
          <p:cNvSpPr>
            <a:spLocks xmlns:a="http://schemas.openxmlformats.org/drawingml/2006/main" noGrp="1"/>
          </p:cNvSpPr>
          <p:nvPr/>
        </p:nvSpPr>
        <p:spPr>
          <a:xfrm xmlns:a="http://schemas.openxmlformats.org/drawingml/2006/main" rot="0">
            <a:off x="757123" y="10037369"/>
            <a:ext cx="7147244"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60" b="0">
                <a:solidFill>
                  <a:srgbClr val="00355F"/>
                </a:solidFill>
                <a:latin typeface="Arial"/>
                <a:ea typeface="Arial"/>
                <a:cs typeface="Arial"/>
              </a:defRPr>
            </a:defPPr>
          </a:lstStyle>
          <a:p xmlns:a="http://schemas.openxmlformats.org/drawingml/2006/main">
            <a:pPr algn="l">
              <a:lnSpc>
                <a:spcPct val="100000"/>
              </a:lnSpc>
              <a:buNone/>
              <a:defRPr sz="960" b="0">
                <a:solidFill>
                  <a:srgbClr val="00355F"/>
                </a:solidFill>
                <a:latin typeface="Arial"/>
                <a:ea typeface="Arial"/>
                <a:cs typeface="Arial"/>
              </a:defRPr>
            </a:pPr>
            <a:r>
              <a:rPr sz="960" b="0">
                <a:solidFill>
                  <a:srgbClr val="00355F"/>
                </a:solidFill>
                <a:latin typeface="Arial"/>
                <a:ea typeface="Arial"/>
                <a:cs typeface="Arial"/>
              </a:rPr>
              <a:t>Conceptual RSI mechanism. Closed-loop learning does not establish sustained autonomous RSI. Primary sources: SOURCES.md.</a:t>
            </a:r>
          </a:p>
        </p:txBody>
      </p:sp>
    </p:spTree>
    <p:extLst>
      <p:ext uri="{BB962C8B-B14F-4D97-AF65-F5344CB8AC3E}">
        <p14:creationId xmlns:p14="http://schemas.microsoft.com/office/powerpoint/2010/main" val="17763478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2026-10-13T05:19:32.7620000Z</dcterms:created>
  <dcterms:modified xsi:type="dcterms:W3CDTF">2026-10-13T05:19:32.7620000Z</dcterms:modified>
</coreProperties>
</file>