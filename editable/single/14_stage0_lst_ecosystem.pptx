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af2444dd57417c" /><Relationship Type="http://schemas.openxmlformats.org/officeDocument/2006/relationships/extended-properties" Target="/docProps/app.xml" Id="Ra686f68b8bb546d3" /><Relationship Type="http://schemas.openxmlformats.org/officeDocument/2006/relationships/officeDocument" Target="/ppt/presentation.xml" Id="R36a05362079a48db" /></Relationships>
</file>

<file path=ppt/presentation.xml><?xml version="1.0" encoding="utf-8"?>
<p:presentation xmlns:p="http://schemas.openxmlformats.org/presentationml/2006/main">
  <p:sldMasterIdLst>
    <p:sldMasterId xmlns:r="http://schemas.openxmlformats.org/officeDocument/2006/relationships" id="2147483648" r:id="R7f1c8b86e9cf4169"/>
  </p:sldMasterIdLst>
  <p:notesMasterIdLst>
    <p:notesMasterId xmlns:r="http://schemas.openxmlformats.org/officeDocument/2006/relationships" r:id="Rdfb9b8a5822b4fcb"/>
  </p:notesMasterIdLst>
  <p:sldIdLst>
    <p:sldId xmlns:r="http://schemas.openxmlformats.org/officeDocument/2006/relationships" id="256" r:id="Rfc525f5f492645b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1d0420bafa49d1" /><Relationship Type="http://schemas.openxmlformats.org/officeDocument/2006/relationships/slideMaster" Target="/ppt/slideMasters/slideMaster1.xml" Id="R7f1c8b86e9cf4169" /><Relationship Type="http://schemas.openxmlformats.org/officeDocument/2006/relationships/notesMaster" Target="/ppt/notesMasters/notesMaster1.xml" Id="Rdfb9b8a5822b4fcb" /><Relationship Type="http://schemas.openxmlformats.org/officeDocument/2006/relationships/presProps" Target="/ppt/presProps.xml" Id="Raa831d394cbc48db" /><Relationship Type="http://schemas.openxmlformats.org/officeDocument/2006/relationships/tableStyles" Target="/ppt/tableStyles.xml" Id="R588861fb462b487e" /><Relationship Type="http://schemas.openxmlformats.org/officeDocument/2006/relationships/slide" Target="/ppt/slides/slide1.xml" Id="Rfc525f5f492645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3a142910bb43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a20f46e3b44308" /><Relationship Type="http://schemas.openxmlformats.org/officeDocument/2006/relationships/notesMaster" Target="/ppt/notesMasters/notesMaster1.xml" Id="R1971f03fcae04f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14. Qualitative workflow and listed-supplier exposure mapping. Stage 0 is an analyst demand framework, not a claim of incremental realized revenue. Antigen-specific affinity, epitope and cell potency require target/condition context; PROPHET-Ab has a different set of ten developability assays. Recurring procurement is modeled by actual workflow executions and net material use; instruments CAPEX and services are separate. Logo artwork is omitted by user preference. Icons are Lucide originals, ISC licensed.</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is a coverage schematic: solid dot = measured label; hollow dot = KD derived from shared kinetics; dash = unmeasured. Colors do not encode performance. Figure 14 maps properties to workflows and procurement. Original Lucide SVG icons use the [ISC license](https://github.com/lucide-icons/lucide). No company logos or paper figures are reproduced.</a:t>
            </a:r>
          </a:p>
          <a:p xmlns:a="http://schemas.openxmlformats.org/drawingml/2006/main">
            <a:r>
              <a:t/>
            </a:r>
          </a:p>
          <a:p xmlns:a="http://schemas.openxmlformats.org/drawingml/2006/main">
            <a:r>
              <a:t/>
            </a:r>
          </a:p>
          <a:p xmlns:a="http://schemas.openxmlformats.org/drawingml/2006/main">
            <a:r>
              <a:t>Palette updated to the user's eight RGB colors on 13 October 2026. Original company marks retain their brand colors.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38c250970846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097efc43de45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f6e5d51701246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d1e236de9e4c6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ab77ed753c4c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1c90f076f940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BF7B23-15D3-42A3-8188-3C6C6CC2EBC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B1B44E-4500-4743-99C0-33B4A5A12FF2}"/>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620BBE-8FAF-4E71-83EC-3EBCF730A9B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AB2AB0-0361-44B4-B933-B6926B193DD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A8BD50-3A46-41E2-A7EB-F2A7EA2EB3E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8E687E-6C22-4A03-B8A1-C353CC6CD7C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25E284-2A8B-4AE6-8B79-731A7122BB9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539200-0219-4E05-95FE-93351599A46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A690AA-0C4B-4BF0-8ADA-D26A55A5232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10A507-3ECC-4DF4-99EC-CE20EE62AFA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459ffd90214efd" /><Relationship Type="http://schemas.openxmlformats.org/officeDocument/2006/relationships/slideLayout" Target="/ppt/slideLayouts/slideLayout1.xml" Id="R405b9686ee424a90" /><Relationship Type="http://schemas.openxmlformats.org/officeDocument/2006/relationships/slideLayout" Target="/ppt/slideLayouts/slideLayout2.xml" Id="Rb4d1079983324743" /><Relationship Type="http://schemas.openxmlformats.org/officeDocument/2006/relationships/slideLayout" Target="/ppt/slideLayouts/slideLayout3.xml" Id="R74972b31713e4c76" /><Relationship Type="http://schemas.openxmlformats.org/officeDocument/2006/relationships/slideLayout" Target="/ppt/slideLayouts/slideLayout4.xml" Id="Rb4bc5d9f947f4b94" /><Relationship Type="http://schemas.openxmlformats.org/officeDocument/2006/relationships/slideLayout" Target="/ppt/slideLayouts/slideLayout5.xml" Id="R60500d13079344dd" /><Relationship Type="http://schemas.openxmlformats.org/officeDocument/2006/relationships/slideLayout" Target="/ppt/slideLayouts/slideLayout6.xml" Id="R009b32936a3e41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5b9686ee424a90"/>
    <p:sldLayoutId xmlns:r="http://schemas.openxmlformats.org/officeDocument/2006/relationships" id="2147483650" r:id="Rb4d1079983324743"/>
    <p:sldLayoutId xmlns:r="http://schemas.openxmlformats.org/officeDocument/2006/relationships" id="2147483651" r:id="R74972b31713e4c76"/>
    <p:sldLayoutId xmlns:r="http://schemas.openxmlformats.org/officeDocument/2006/relationships" id="2147483652" r:id="Rb4bc5d9f947f4b94"/>
    <p:sldLayoutId xmlns:r="http://schemas.openxmlformats.org/officeDocument/2006/relationships" id="2147483653" r:id="R60500d13079344dd"/>
    <p:sldLayoutId xmlns:r="http://schemas.openxmlformats.org/officeDocument/2006/relationships" id="2147483654" r:id="R009b32936a3e41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6fa0779f154ce6" /><Relationship Type="http://schemas.openxmlformats.org/officeDocument/2006/relationships/image" Target="/ppt/media/image.png" Id="R91586e0cc12d405e" /><Relationship Type="http://schemas.openxmlformats.org/officeDocument/2006/relationships/image" Target="/ppt/media/image.svg" Id="Rd92e9ca29f5d4bcb" /><Relationship Type="http://schemas.openxmlformats.org/officeDocument/2006/relationships/image" Target="/ppt/media/image2.png" Id="R871f9b8b919a4d3d" /><Relationship Type="http://schemas.openxmlformats.org/officeDocument/2006/relationships/image" Target="/ppt/media/image2.svg" Id="Rb5dad2cc68d34ddf" /><Relationship Type="http://schemas.openxmlformats.org/officeDocument/2006/relationships/image" Target="/ppt/media/image3.png" Id="Rb46b74d76085414f" /><Relationship Type="http://schemas.openxmlformats.org/officeDocument/2006/relationships/image" Target="/ppt/media/image3.svg" Id="Rdcddc6985ae74fa7" /><Relationship Type="http://schemas.openxmlformats.org/officeDocument/2006/relationships/image" Target="/ppt/media/image4.png" Id="Rcfcd7f6d4afb4989" /><Relationship Type="http://schemas.openxmlformats.org/officeDocument/2006/relationships/image" Target="/ppt/media/image4.svg" Id="R7b636fc3235a4f95" /><Relationship Type="http://schemas.openxmlformats.org/officeDocument/2006/relationships/image" Target="/ppt/media/image5.png" Id="R6c9bcee9eb854ae2" /><Relationship Type="http://schemas.openxmlformats.org/officeDocument/2006/relationships/image" Target="/ppt/media/image5.svg" Id="R3bf886a9a17d4778" /><Relationship Type="http://schemas.openxmlformats.org/officeDocument/2006/relationships/notesSlide" Target="/ppt/notesSlides/notesSlide1.xml" Id="Rc80871079dba4f6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
            <a:extLst xmlns:a="http://schemas.openxmlformats.org/drawingml/2006/main">
              <a:ext uri="{FF2B5EF4-FFF2-40B4-BE49-F238E27FC236}">
                <a16:creationId xmlns:a16="http://schemas.microsoft.com/office/drawing/2014/main" id="{8A146AF6-5BC4-47D6-8446-2D333B0AF25C}"/>
              </a:ext>
            </a:extLst>
          </p:cNvPr>
          <p:cNvSpPr>
            <a:spLocks xmlns:a="http://schemas.openxmlformats.org/drawingml/2006/main" noGrp="1"/>
          </p:cNvSpPr>
          <p:nvPr/>
        </p:nvSpPr>
        <p:spPr>
          <a:xfrm xmlns:a="http://schemas.openxmlformats.org/drawingml/2006/main">
            <a:off x="685800" y="457200"/>
            <a:ext cx="85725" cy="10001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Experimental data density and the LST ecosystem">
            <a:extLst xmlns:a="http://schemas.openxmlformats.org/drawingml/2006/main">
              <a:ext uri="{FF2B5EF4-FFF2-40B4-BE49-F238E27FC236}">
                <a16:creationId xmlns:a16="http://schemas.microsoft.com/office/drawing/2014/main" id="{7A3AE92C-ED72-456C-B04A-121FFF431267}"/>
              </a:ext>
            </a:extLst>
          </p:cNvPr>
          <p:cNvSpPr>
            <a:spLocks xmlns:a="http://schemas.openxmlformats.org/drawingml/2006/main" noGrp="1"/>
          </p:cNvSpPr>
          <p:nvPr/>
        </p:nvSpPr>
        <p:spPr>
          <a:xfrm xmlns:a="http://schemas.openxmlformats.org/drawingml/2006/main">
            <a:off x="1000125" y="428625"/>
            <a:ext cx="1652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Experimental data density and the LST ecosystem</a:t>
            </a:r>
          </a:p>
        </p:txBody>
      </p:sp>
      <p:sp>
        <p:nvSpPr>
          <p:cNvPr id="3" name="Stage 0: biological data production creates a wet-lab use case">
            <a:extLst xmlns:a="http://schemas.openxmlformats.org/drawingml/2006/main">
              <a:ext uri="{FF2B5EF4-FFF2-40B4-BE49-F238E27FC236}">
                <a16:creationId xmlns:a16="http://schemas.microsoft.com/office/drawing/2014/main" id="{AF57FB39-5F66-4F27-9AAF-7AFE3DF06164}"/>
              </a:ext>
            </a:extLst>
          </p:cNvPr>
          <p:cNvSpPr>
            <a:spLocks xmlns:a="http://schemas.openxmlformats.org/drawingml/2006/main" noGrp="1"/>
          </p:cNvSpPr>
          <p:nvPr/>
        </p:nvSpPr>
        <p:spPr>
          <a:xfrm xmlns:a="http://schemas.openxmlformats.org/drawingml/2006/main">
            <a:off x="1019175" y="1028700"/>
            <a:ext cx="1652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00355F"/>
                </a:solidFill>
                <a:latin typeface="Arial"/>
                <a:ea typeface="Arial"/>
                <a:cs typeface="Arial"/>
              </a:defRPr>
            </a:defPPr>
          </a:lstStyle>
          <a:p xmlns:a="http://schemas.openxmlformats.org/drawingml/2006/main">
            <a:pPr algn="l">
              <a:lnSpc>
                <a:spcPct val="100000"/>
              </a:lnSpc>
              <a:buNone/>
              <a:defRPr sz="2025" b="0">
                <a:solidFill>
                  <a:srgbClr val="00355F"/>
                </a:solidFill>
                <a:latin typeface="Arial"/>
                <a:ea typeface="Arial"/>
                <a:cs typeface="Arial"/>
              </a:defRPr>
            </a:pPr>
            <a:r>
              <a:rPr sz="2025" b="0">
                <a:solidFill>
                  <a:srgbClr val="00355F"/>
                </a:solidFill>
                <a:latin typeface="Arial"/>
                <a:ea typeface="Arial"/>
                <a:cs typeface="Arial"/>
              </a:rPr>
              <a:t>Stage 0: biological data production creates a wet-lab use case</a:t>
            </a:r>
          </a:p>
        </p:txBody>
      </p:sp>
      <p:sp>
        <p:nvSpPr>
          <p:cNvPr id="4" name="Learning developability requires comparable assay data and an integrated tool workflow">
            <a:extLst xmlns:a="http://schemas.openxmlformats.org/drawingml/2006/main">
              <a:ext uri="{FF2B5EF4-FFF2-40B4-BE49-F238E27FC236}">
                <a16:creationId xmlns:a16="http://schemas.microsoft.com/office/drawing/2014/main" id="{6AD4DDED-3F33-4C78-B41B-F327D0E16F2E}"/>
              </a:ext>
            </a:extLst>
          </p:cNvPr>
          <p:cNvSpPr>
            <a:spLocks xmlns:a="http://schemas.openxmlformats.org/drawingml/2006/main" noGrp="1"/>
          </p:cNvSpPr>
          <p:nvPr/>
        </p:nvSpPr>
        <p:spPr>
          <a:xfrm xmlns:a="http://schemas.openxmlformats.org/drawingml/2006/main">
            <a:off x="1019175" y="1457325"/>
            <a:ext cx="1652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Learning developability requires comparable assay data and an integrated tool workflow</a:t>
            </a:r>
          </a:p>
        </p:txBody>
      </p:sp>
      <p:sp>
        <p:nvSpPr>
          <p:cNvPr id="5" name="">
            <a:extLst xmlns:a="http://schemas.openxmlformats.org/drawingml/2006/main">
              <a:ext uri="{FF2B5EF4-FFF2-40B4-BE49-F238E27FC236}">
                <a16:creationId xmlns:a16="http://schemas.microsoft.com/office/drawing/2014/main" id="{3178CD12-9D11-4861-86F1-7E0EE4AC1180}"/>
              </a:ext>
            </a:extLst>
          </p:cNvPr>
          <p:cNvSpPr>
            <a:spLocks xmlns:a="http://schemas.openxmlformats.org/drawingml/2006/main" noGrp="1"/>
          </p:cNvSpPr>
          <p:nvPr/>
        </p:nvSpPr>
        <p:spPr>
          <a:xfrm xmlns:a="http://schemas.openxmlformats.org/drawingml/2006/main">
            <a:off x="685800" y="1885950"/>
            <a:ext cx="16916400" cy="953"/>
          </a:xfrm>
          <a:custGeom xmlns:a="http://schemas.openxmlformats.org/drawingml/2006/main">
            <a:pathLst>
              <a:path w="16916400" h="953">
                <a:moveTo>
                  <a:pt x="0" y="0"/>
                </a:moveTo>
                <a:lnTo>
                  <a:pt x="16916400" y="0"/>
                </a:lnTo>
              </a:path>
            </a:pathLst>
          </a:custGeom>
          <a:noFill xmlns:a="http://schemas.openxmlformats.org/drawingml/2006/main"/>
          <a:ln xmlns:a="http://schemas.openxmlformats.org/drawingml/2006/main" w="9525">
            <a:solidFill>
              <a:srgbClr val="A5A5A5"/>
            </a:solidFill>
          </a:ln>
        </p:spPr>
      </p:sp>
      <p:sp>
        <p:nvSpPr>
          <p:cNvPr id="6" name="">
            <a:extLst xmlns:a="http://schemas.openxmlformats.org/drawingml/2006/main">
              <a:ext uri="{FF2B5EF4-FFF2-40B4-BE49-F238E27FC236}">
                <a16:creationId xmlns:a16="http://schemas.microsoft.com/office/drawing/2014/main" id="{1B0CDDBC-CF82-434C-BDC9-4DC0FBE3875C}"/>
              </a:ext>
            </a:extLst>
          </p:cNvPr>
          <p:cNvSpPr>
            <a:spLocks xmlns:a="http://schemas.openxmlformats.org/drawingml/2006/main" noGrp="1"/>
          </p:cNvSpPr>
          <p:nvPr/>
        </p:nvSpPr>
        <p:spPr>
          <a:xfrm xmlns:a="http://schemas.openxmlformats.org/drawingml/2006/main">
            <a:off x="685800" y="2124075"/>
            <a:ext cx="5591175" cy="5781675"/>
          </a:xfrm>
          <a:prstGeom xmlns:a="http://schemas.openxmlformats.org/drawingml/2006/main" prst="roundRect">
            <a:avLst>
              <a:gd name="adj" fmla="val 2385"/>
            </a:avLst>
          </a:prstGeom>
          <a:solidFill xmlns:a="http://schemas.openxmlformats.org/drawingml/2006/main">
            <a:srgbClr val="F4F9FD"/>
          </a:solidFill>
          <a:ln xmlns:a="http://schemas.openxmlformats.org/drawingml/2006/main" w="9525">
            <a:solidFill>
              <a:srgbClr val="A5A5A5"/>
            </a:solidFill>
          </a:ln>
        </p:spPr>
      </p:sp>
      <p:sp>
        <p:nvSpPr>
          <p:cNvPr id="7" name="Stage 0: biological data production">
            <a:extLst xmlns:a="http://schemas.openxmlformats.org/drawingml/2006/main">
              <a:ext uri="{FF2B5EF4-FFF2-40B4-BE49-F238E27FC236}">
                <a16:creationId xmlns:a16="http://schemas.microsoft.com/office/drawing/2014/main" id="{F88A7251-AF0E-4952-AAD0-B45A84BDAC3A}"/>
              </a:ext>
            </a:extLst>
          </p:cNvPr>
          <p:cNvSpPr>
            <a:spLocks xmlns:a="http://schemas.openxmlformats.org/drawingml/2006/main" noGrp="1"/>
          </p:cNvSpPr>
          <p:nvPr/>
        </p:nvSpPr>
        <p:spPr>
          <a:xfrm xmlns:a="http://schemas.openxmlformats.org/drawingml/2006/main">
            <a:off x="942975" y="2352675"/>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Stage 0: biological data production</a:t>
            </a:r>
          </a:p>
        </p:txBody>
      </p:sp>
      <p:sp>
        <p:nvSpPr>
          <p:cNvPr id="8" name="Continuous input to training and iteration">
            <a:extLst xmlns:a="http://schemas.openxmlformats.org/drawingml/2006/main">
              <a:ext uri="{FF2B5EF4-FFF2-40B4-BE49-F238E27FC236}">
                <a16:creationId xmlns:a16="http://schemas.microsoft.com/office/drawing/2014/main" id="{0CB81708-21DE-41AA-A7CF-D0891E660A84}"/>
              </a:ext>
            </a:extLst>
          </p:cNvPr>
          <p:cNvSpPr>
            <a:spLocks xmlns:a="http://schemas.openxmlformats.org/drawingml/2006/main" noGrp="1"/>
          </p:cNvSpPr>
          <p:nvPr/>
        </p:nvSpPr>
        <p:spPr>
          <a:xfrm xmlns:a="http://schemas.openxmlformats.org/drawingml/2006/main">
            <a:off x="942975" y="2771775"/>
            <a:ext cx="5076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Continuous input to training and iteration</a:t>
            </a:r>
          </a:p>
        </p:txBody>
      </p:sp>
      <p:sp>
        <p:nvSpPr>
          <p:cNvPr id="9" name="">
            <a:extLst xmlns:a="http://schemas.openxmlformats.org/drawingml/2006/main">
              <a:ext uri="{FF2B5EF4-FFF2-40B4-BE49-F238E27FC236}">
                <a16:creationId xmlns:a16="http://schemas.microsoft.com/office/drawing/2014/main" id="{54F9313D-829C-45AD-976D-57715DA64423}"/>
              </a:ext>
            </a:extLst>
          </p:cNvPr>
          <p:cNvSpPr>
            <a:spLocks xmlns:a="http://schemas.openxmlformats.org/drawingml/2006/main" noGrp="1"/>
          </p:cNvSpPr>
          <p:nvPr/>
        </p:nvSpPr>
        <p:spPr>
          <a:xfrm xmlns:a="http://schemas.openxmlformats.org/drawingml/2006/main">
            <a:off x="942975" y="3219450"/>
            <a:ext cx="5076825" cy="838200"/>
          </a:xfrm>
          <a:prstGeom xmlns:a="http://schemas.openxmlformats.org/drawingml/2006/main" prst="roundRect">
            <a:avLst>
              <a:gd name="adj" fmla="val 9091"/>
            </a:avLst>
          </a:prstGeom>
          <a:solidFill xmlns:a="http://schemas.openxmlformats.org/drawingml/2006/main">
            <a:srgbClr val="EEF6FC"/>
          </a:solidFill>
          <a:ln xmlns:a="http://schemas.openxmlformats.org/drawingml/2006/main" w="9525">
            <a:noFill/>
          </a:ln>
        </p:spPr>
      </p:sp>
      <p:sp>
        <p:nvSpPr>
          <p:cNvPr id="10" name="Binding kinetics">
            <a:extLst xmlns:a="http://schemas.openxmlformats.org/drawingml/2006/main">
              <a:ext uri="{FF2B5EF4-FFF2-40B4-BE49-F238E27FC236}">
                <a16:creationId xmlns:a16="http://schemas.microsoft.com/office/drawing/2014/main" id="{519F21E6-2178-48AC-A602-8D233D018066}"/>
              </a:ext>
            </a:extLst>
          </p:cNvPr>
          <p:cNvSpPr>
            <a:spLocks xmlns:a="http://schemas.openxmlformats.org/drawingml/2006/main" noGrp="1"/>
          </p:cNvSpPr>
          <p:nvPr/>
        </p:nvSpPr>
        <p:spPr>
          <a:xfrm xmlns:a="http://schemas.openxmlformats.org/drawingml/2006/main">
            <a:off x="1104900" y="3314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Binding kinetics</a:t>
            </a:r>
          </a:p>
        </p:txBody>
      </p:sp>
      <p:sp>
        <p:nvSpPr>
          <p:cNvPr id="11" name="KD / kon / koff">
            <a:extLst xmlns:a="http://schemas.openxmlformats.org/drawingml/2006/main">
              <a:ext uri="{FF2B5EF4-FFF2-40B4-BE49-F238E27FC236}">
                <a16:creationId xmlns:a16="http://schemas.microsoft.com/office/drawing/2014/main" id="{0C56D2DC-969C-4713-865E-861716FE7FCB}"/>
              </a:ext>
            </a:extLst>
          </p:cNvPr>
          <p:cNvSpPr>
            <a:spLocks xmlns:a="http://schemas.openxmlformats.org/drawingml/2006/main" noGrp="1"/>
          </p:cNvSpPr>
          <p:nvPr/>
        </p:nvSpPr>
        <p:spPr>
          <a:xfrm xmlns:a="http://schemas.openxmlformats.org/drawingml/2006/main">
            <a:off x="1104900" y="35909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KD / kon / koff</a:t>
            </a:r>
          </a:p>
        </p:txBody>
      </p:sp>
      <p:sp>
        <p:nvSpPr>
          <p:cNvPr id="12" name="">
            <a:extLst xmlns:a="http://schemas.openxmlformats.org/drawingml/2006/main">
              <a:ext uri="{FF2B5EF4-FFF2-40B4-BE49-F238E27FC236}">
                <a16:creationId xmlns:a16="http://schemas.microsoft.com/office/drawing/2014/main" id="{C6AD0970-C38E-43DE-BB7B-16EC10EC0CF6}"/>
              </a:ext>
            </a:extLst>
          </p:cNvPr>
          <p:cNvSpPr>
            <a:spLocks xmlns:a="http://schemas.openxmlformats.org/drawingml/2006/main" noGrp="1"/>
          </p:cNvSpPr>
          <p:nvPr/>
        </p:nvSpPr>
        <p:spPr>
          <a:xfrm xmlns:a="http://schemas.openxmlformats.org/drawingml/2006/main">
            <a:off x="942975" y="4171950"/>
            <a:ext cx="5076825" cy="838200"/>
          </a:xfrm>
          <a:prstGeom xmlns:a="http://schemas.openxmlformats.org/drawingml/2006/main" prst="roundRect">
            <a:avLst>
              <a:gd name="adj" fmla="val 9091"/>
            </a:avLst>
          </a:prstGeom>
          <a:solidFill xmlns:a="http://schemas.openxmlformats.org/drawingml/2006/main">
            <a:srgbClr val="EEF6FC"/>
          </a:solidFill>
          <a:ln xmlns:a="http://schemas.openxmlformats.org/drawingml/2006/main" w="9525">
            <a:noFill/>
          </a:ln>
        </p:spPr>
      </p:sp>
      <p:sp>
        <p:nvSpPr>
          <p:cNvPr id="13" name="Expression &amp; physicochemical properties">
            <a:extLst xmlns:a="http://schemas.openxmlformats.org/drawingml/2006/main">
              <a:ext uri="{FF2B5EF4-FFF2-40B4-BE49-F238E27FC236}">
                <a16:creationId xmlns:a16="http://schemas.microsoft.com/office/drawing/2014/main" id="{D88B308F-B747-481E-997F-25B3180E4227}"/>
              </a:ext>
            </a:extLst>
          </p:cNvPr>
          <p:cNvSpPr>
            <a:spLocks xmlns:a="http://schemas.openxmlformats.org/drawingml/2006/main" noGrp="1"/>
          </p:cNvSpPr>
          <p:nvPr/>
        </p:nvSpPr>
        <p:spPr>
          <a:xfrm xmlns:a="http://schemas.openxmlformats.org/drawingml/2006/main">
            <a:off x="1104900" y="42672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Expression &amp; physicochemical properties</a:t>
            </a:r>
          </a:p>
        </p:txBody>
      </p:sp>
      <p:sp>
        <p:nvSpPr>
          <p:cNvPr id="14" name="expression / Tm / aggregation">
            <a:extLst xmlns:a="http://schemas.openxmlformats.org/drawingml/2006/main">
              <a:ext uri="{FF2B5EF4-FFF2-40B4-BE49-F238E27FC236}">
                <a16:creationId xmlns:a16="http://schemas.microsoft.com/office/drawing/2014/main" id="{73C57E56-1625-4B07-9F0A-25C69B2BA0F9}"/>
              </a:ext>
            </a:extLst>
          </p:cNvPr>
          <p:cNvSpPr>
            <a:spLocks xmlns:a="http://schemas.openxmlformats.org/drawingml/2006/main" noGrp="1"/>
          </p:cNvSpPr>
          <p:nvPr/>
        </p:nvSpPr>
        <p:spPr>
          <a:xfrm xmlns:a="http://schemas.openxmlformats.org/drawingml/2006/main">
            <a:off x="1104900" y="45434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expression / Tm / aggregation</a:t>
            </a:r>
          </a:p>
        </p:txBody>
      </p:sp>
      <p:sp>
        <p:nvSpPr>
          <p:cNvPr id="15" name="">
            <a:extLst xmlns:a="http://schemas.openxmlformats.org/drawingml/2006/main">
              <a:ext uri="{FF2B5EF4-FFF2-40B4-BE49-F238E27FC236}">
                <a16:creationId xmlns:a16="http://schemas.microsoft.com/office/drawing/2014/main" id="{E81E970A-F77C-46AA-9C8F-25DB8B7841A6}"/>
              </a:ext>
            </a:extLst>
          </p:cNvPr>
          <p:cNvSpPr>
            <a:spLocks xmlns:a="http://schemas.openxmlformats.org/drawingml/2006/main" noGrp="1"/>
          </p:cNvSpPr>
          <p:nvPr/>
        </p:nvSpPr>
        <p:spPr>
          <a:xfrm xmlns:a="http://schemas.openxmlformats.org/drawingml/2006/main">
            <a:off x="942975" y="5124450"/>
            <a:ext cx="5076825" cy="838200"/>
          </a:xfrm>
          <a:prstGeom xmlns:a="http://schemas.openxmlformats.org/drawingml/2006/main" prst="roundRect">
            <a:avLst>
              <a:gd name="adj" fmla="val 9091"/>
            </a:avLst>
          </a:prstGeom>
          <a:solidFill xmlns:a="http://schemas.openxmlformats.org/drawingml/2006/main">
            <a:srgbClr val="EEF6FC"/>
          </a:solidFill>
          <a:ln xmlns:a="http://schemas.openxmlformats.org/drawingml/2006/main" w="9525">
            <a:noFill/>
          </a:ln>
        </p:spPr>
      </p:sp>
      <p:sp>
        <p:nvSpPr>
          <p:cNvPr id="16" name="Specificity &amp; cell function">
            <a:extLst xmlns:a="http://schemas.openxmlformats.org/drawingml/2006/main">
              <a:ext uri="{FF2B5EF4-FFF2-40B4-BE49-F238E27FC236}">
                <a16:creationId xmlns:a16="http://schemas.microsoft.com/office/drawing/2014/main" id="{9C55FB2E-2837-4577-8C74-518CB8A1ACF5}"/>
              </a:ext>
            </a:extLst>
          </p:cNvPr>
          <p:cNvSpPr>
            <a:spLocks xmlns:a="http://schemas.openxmlformats.org/drawingml/2006/main" noGrp="1"/>
          </p:cNvSpPr>
          <p:nvPr/>
        </p:nvSpPr>
        <p:spPr>
          <a:xfrm xmlns:a="http://schemas.openxmlformats.org/drawingml/2006/main">
            <a:off x="1104900" y="5219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Specificity &amp; cell function</a:t>
            </a:r>
          </a:p>
        </p:txBody>
      </p:sp>
      <p:sp>
        <p:nvSpPr>
          <p:cNvPr id="17" name="polyreactivity / epitope / cell potency">
            <a:extLst xmlns:a="http://schemas.openxmlformats.org/drawingml/2006/main">
              <a:ext uri="{FF2B5EF4-FFF2-40B4-BE49-F238E27FC236}">
                <a16:creationId xmlns:a16="http://schemas.microsoft.com/office/drawing/2014/main" id="{A9388E49-DB74-4791-9E8B-1F448DEFD8AC}"/>
              </a:ext>
            </a:extLst>
          </p:cNvPr>
          <p:cNvSpPr>
            <a:spLocks xmlns:a="http://schemas.openxmlformats.org/drawingml/2006/main" noGrp="1"/>
          </p:cNvSpPr>
          <p:nvPr/>
        </p:nvSpPr>
        <p:spPr>
          <a:xfrm xmlns:a="http://schemas.openxmlformats.org/drawingml/2006/main">
            <a:off x="1104900" y="54959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polyreactivity / epitope / cell potency</a:t>
            </a:r>
          </a:p>
        </p:txBody>
      </p:sp>
      <p:sp>
        <p:nvSpPr>
          <p:cNvPr id="18" name="Training records: sequence, target, conditions,">
            <a:extLst xmlns:a="http://schemas.openxmlformats.org/drawingml/2006/main">
              <a:ext uri="{FF2B5EF4-FFF2-40B4-BE49-F238E27FC236}">
                <a16:creationId xmlns:a16="http://schemas.microsoft.com/office/drawing/2014/main" id="{8EDD4EC2-81F3-46BF-B417-CD1AFFF79A21}"/>
              </a:ext>
            </a:extLst>
          </p:cNvPr>
          <p:cNvSpPr>
            <a:spLocks xmlns:a="http://schemas.openxmlformats.org/drawingml/2006/main" noGrp="1"/>
          </p:cNvSpPr>
          <p:nvPr/>
        </p:nvSpPr>
        <p:spPr>
          <a:xfrm xmlns:a="http://schemas.openxmlformats.org/drawingml/2006/main">
            <a:off x="942975" y="6191250"/>
            <a:ext cx="5076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Training records: sequence, target, conditions,</a:t>
            </a:r>
          </a:p>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raw curves, replicates, batches and failures</a:t>
            </a:r>
          </a:p>
        </p:txBody>
      </p:sp>
      <p:sp>
        <p:nvSpPr>
          <p:cNvPr id="19" name="">
            <a:extLst xmlns:a="http://schemas.openxmlformats.org/drawingml/2006/main">
              <a:ext uri="{FF2B5EF4-FFF2-40B4-BE49-F238E27FC236}">
                <a16:creationId xmlns:a16="http://schemas.microsoft.com/office/drawing/2014/main" id="{97C0FDDA-4810-42D0-AE90-166668EEAD62}"/>
              </a:ext>
            </a:extLst>
          </p:cNvPr>
          <p:cNvSpPr>
            <a:spLocks xmlns:a="http://schemas.openxmlformats.org/drawingml/2006/main" noGrp="1"/>
          </p:cNvSpPr>
          <p:nvPr/>
        </p:nvSpPr>
        <p:spPr>
          <a:xfrm xmlns:a="http://schemas.openxmlformats.org/drawingml/2006/main">
            <a:off x="942975" y="6905625"/>
            <a:ext cx="1924050" cy="504825"/>
          </a:xfrm>
          <a:prstGeom xmlns:a="http://schemas.openxmlformats.org/drawingml/2006/main" prst="roundRect">
            <a:avLst>
              <a:gd name="adj" fmla="val 13208"/>
            </a:avLst>
          </a:prstGeom>
          <a:solidFill xmlns:a="http://schemas.openxmlformats.org/drawingml/2006/main">
            <a:srgbClr val="FFFFFF"/>
          </a:solidFill>
          <a:ln xmlns:a="http://schemas.openxmlformats.org/drawingml/2006/main" w="9525">
            <a:solidFill>
              <a:srgbClr val="A5A5A5"/>
            </a:solidFill>
          </a:ln>
        </p:spPr>
      </p:sp>
      <p:sp>
        <p:nvSpPr>
          <p:cNvPr id="20" name="">
            <a:extLst xmlns:a="http://schemas.openxmlformats.org/drawingml/2006/main">
              <a:ext uri="{FF2B5EF4-FFF2-40B4-BE49-F238E27FC236}">
                <a16:creationId xmlns:a16="http://schemas.microsoft.com/office/drawing/2014/main" id="{D63AFB2A-0785-495D-AC67-2ADBEB672D8A}"/>
              </a:ext>
            </a:extLst>
          </p:cNvPr>
          <p:cNvSpPr>
            <a:spLocks xmlns:a="http://schemas.openxmlformats.org/drawingml/2006/main" noGrp="1"/>
          </p:cNvSpPr>
          <p:nvPr/>
        </p:nvSpPr>
        <p:spPr>
          <a:xfrm xmlns:a="http://schemas.openxmlformats.org/drawingml/2006/main">
            <a:off x="3810000" y="6905625"/>
            <a:ext cx="2209800" cy="504825"/>
          </a:xfrm>
          <a:prstGeom xmlns:a="http://schemas.openxmlformats.org/drawingml/2006/main" prst="roundRect">
            <a:avLst>
              <a:gd name="adj" fmla="val 13208"/>
            </a:avLst>
          </a:prstGeom>
          <a:solidFill xmlns:a="http://schemas.openxmlformats.org/drawingml/2006/main">
            <a:srgbClr val="FFFFFF"/>
          </a:solidFill>
          <a:ln xmlns:a="http://schemas.openxmlformats.org/drawingml/2006/main" w="9525">
            <a:solidFill>
              <a:srgbClr val="A5A5A5"/>
            </a:solidFill>
          </a:ln>
        </p:spPr>
      </p:sp>
      <p:sp>
        <p:nvSpPr>
          <p:cNvPr id="21" name="Train / improve">
            <a:extLst xmlns:a="http://schemas.openxmlformats.org/drawingml/2006/main">
              <a:ext uri="{FF2B5EF4-FFF2-40B4-BE49-F238E27FC236}">
                <a16:creationId xmlns:a16="http://schemas.microsoft.com/office/drawing/2014/main" id="{7AD1A853-37EA-4CFF-AD3F-B0A5CB775028}"/>
              </a:ext>
            </a:extLst>
          </p:cNvPr>
          <p:cNvSpPr>
            <a:spLocks xmlns:a="http://schemas.openxmlformats.org/drawingml/2006/main" noGrp="1"/>
          </p:cNvSpPr>
          <p:nvPr/>
        </p:nvSpPr>
        <p:spPr>
          <a:xfrm xmlns:a="http://schemas.openxmlformats.org/drawingml/2006/main">
            <a:off x="942975" y="6981825"/>
            <a:ext cx="1924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00355F"/>
                </a:solidFill>
                <a:latin typeface="Arial"/>
                <a:ea typeface="Arial"/>
                <a:cs typeface="Arial"/>
              </a:defRPr>
            </a:defPPr>
          </a:lstStyle>
          <a:p xmlns:a="http://schemas.openxmlformats.org/drawingml/2006/main">
            <a:pPr algn="ctr">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Train / improve</a:t>
            </a:r>
          </a:p>
        </p:txBody>
      </p:sp>
      <p:sp>
        <p:nvSpPr>
          <p:cNvPr id="22" name="Design / validate">
            <a:extLst xmlns:a="http://schemas.openxmlformats.org/drawingml/2006/main">
              <a:ext uri="{FF2B5EF4-FFF2-40B4-BE49-F238E27FC236}">
                <a16:creationId xmlns:a16="http://schemas.microsoft.com/office/drawing/2014/main" id="{E9E12D42-4C81-4696-8B77-1BE3F41992D1}"/>
              </a:ext>
            </a:extLst>
          </p:cNvPr>
          <p:cNvSpPr>
            <a:spLocks xmlns:a="http://schemas.openxmlformats.org/drawingml/2006/main" noGrp="1"/>
          </p:cNvSpPr>
          <p:nvPr/>
        </p:nvSpPr>
        <p:spPr>
          <a:xfrm xmlns:a="http://schemas.openxmlformats.org/drawingml/2006/main">
            <a:off x="3810000" y="6981825"/>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00355F"/>
                </a:solidFill>
                <a:latin typeface="Arial"/>
                <a:ea typeface="Arial"/>
                <a:cs typeface="Arial"/>
              </a:defRPr>
            </a:defPPr>
          </a:lstStyle>
          <a:p xmlns:a="http://schemas.openxmlformats.org/drawingml/2006/main">
            <a:pPr algn="ctr">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Design / validate</a:t>
            </a:r>
          </a:p>
        </p:txBody>
      </p:sp>
      <p:sp>
        <p:nvSpPr>
          <p:cNvPr id="23" name="">
            <a:extLst xmlns:a="http://schemas.openxmlformats.org/drawingml/2006/main">
              <a:ext uri="{FF2B5EF4-FFF2-40B4-BE49-F238E27FC236}">
                <a16:creationId xmlns:a16="http://schemas.microsoft.com/office/drawing/2014/main" id="{5B81C497-7425-4B04-AC41-E6D816D71C8E}"/>
              </a:ext>
            </a:extLst>
          </p:cNvPr>
          <p:cNvSpPr>
            <a:spLocks xmlns:a="http://schemas.openxmlformats.org/drawingml/2006/main" noGrp="1"/>
          </p:cNvSpPr>
          <p:nvPr/>
        </p:nvSpPr>
        <p:spPr>
          <a:xfrm xmlns:a="http://schemas.openxmlformats.org/drawingml/2006/main">
            <a:off x="2971800" y="7153275"/>
            <a:ext cx="733425" cy="953"/>
          </a:xfrm>
          <a:custGeom xmlns:a="http://schemas.openxmlformats.org/drawingml/2006/main">
            <a:pathLst>
              <a:path w="733425" h="953">
                <a:moveTo>
                  <a:pt x="0" y="0"/>
                </a:moveTo>
                <a:lnTo>
                  <a:pt x="733425" y="0"/>
                </a:lnTo>
              </a:path>
            </a:pathLst>
          </a:custGeom>
          <a:noFill xmlns:a="http://schemas.openxmlformats.org/drawingml/2006/main"/>
          <a:ln xmlns:a="http://schemas.openxmlformats.org/drawingml/2006/main" w="19050">
            <a:solidFill>
              <a:srgbClr val="00355F"/>
            </a:solidFill>
          </a:ln>
        </p:spPr>
      </p:sp>
      <p:sp>
        <p:nvSpPr>
          <p:cNvPr id="24" name="">
            <a:extLst xmlns:a="http://schemas.openxmlformats.org/drawingml/2006/main">
              <a:ext uri="{FF2B5EF4-FFF2-40B4-BE49-F238E27FC236}">
                <a16:creationId xmlns:a16="http://schemas.microsoft.com/office/drawing/2014/main" id="{17FAE9EA-FAB9-4D4B-9BE0-D975B0545A42}"/>
              </a:ext>
            </a:extLst>
          </p:cNvPr>
          <p:cNvSpPr>
            <a:spLocks xmlns:a="http://schemas.openxmlformats.org/drawingml/2006/main" noGrp="1"/>
          </p:cNvSpPr>
          <p:nvPr/>
        </p:nvSpPr>
        <p:spPr>
          <a:xfrm xmlns:a="http://schemas.openxmlformats.org/drawingml/2006/main">
            <a:off x="3621635" y="710761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9525">
            <a:noFill/>
          </a:ln>
        </p:spPr>
      </p:sp>
      <p:sp>
        <p:nvSpPr>
          <p:cNvPr id="25" name="">
            <a:extLst xmlns:a="http://schemas.openxmlformats.org/drawingml/2006/main">
              <a:ext uri="{FF2B5EF4-FFF2-40B4-BE49-F238E27FC236}">
                <a16:creationId xmlns:a16="http://schemas.microsoft.com/office/drawing/2014/main" id="{61793ED1-AE04-4538-9FF4-56DBDF62464C}"/>
              </a:ext>
            </a:extLst>
          </p:cNvPr>
          <p:cNvSpPr>
            <a:spLocks xmlns:a="http://schemas.openxmlformats.org/drawingml/2006/main" noGrp="1"/>
          </p:cNvSpPr>
          <p:nvPr/>
        </p:nvSpPr>
        <p:spPr>
          <a:xfrm xmlns:a="http://schemas.openxmlformats.org/drawingml/2006/main">
            <a:off x="4914900" y="7477125"/>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14288">
            <a:solidFill>
              <a:srgbClr val="00355F"/>
            </a:solidFill>
          </a:ln>
        </p:spPr>
      </p:sp>
      <p:sp>
        <p:nvSpPr>
          <p:cNvPr id="26" name="">
            <a:extLst xmlns:a="http://schemas.openxmlformats.org/drawingml/2006/main">
              <a:ext uri="{FF2B5EF4-FFF2-40B4-BE49-F238E27FC236}">
                <a16:creationId xmlns:a16="http://schemas.microsoft.com/office/drawing/2014/main" id="{C5A4A880-E8F1-4CDE-9C39-E37FE68D7EE8}"/>
              </a:ext>
            </a:extLst>
          </p:cNvPr>
          <p:cNvSpPr>
            <a:spLocks xmlns:a="http://schemas.openxmlformats.org/drawingml/2006/main" noGrp="1"/>
          </p:cNvSpPr>
          <p:nvPr/>
        </p:nvSpPr>
        <p:spPr>
          <a:xfrm xmlns:a="http://schemas.openxmlformats.org/drawingml/2006/main">
            <a:off x="1905000" y="7696200"/>
            <a:ext cx="3009900" cy="953"/>
          </a:xfrm>
          <a:custGeom xmlns:a="http://schemas.openxmlformats.org/drawingml/2006/main">
            <a:pathLst>
              <a:path w="3009900" h="953">
                <a:moveTo>
                  <a:pt x="3009900" y="0"/>
                </a:moveTo>
                <a:lnTo>
                  <a:pt x="0" y="0"/>
                </a:lnTo>
              </a:path>
            </a:pathLst>
          </a:custGeom>
          <a:noFill xmlns:a="http://schemas.openxmlformats.org/drawingml/2006/main"/>
          <a:ln xmlns:a="http://schemas.openxmlformats.org/drawingml/2006/main" w="14288">
            <a:solidFill>
              <a:srgbClr val="00355F"/>
            </a:solidFill>
          </a:ln>
        </p:spPr>
      </p:sp>
      <p:sp>
        <p:nvSpPr>
          <p:cNvPr id="27" name="">
            <a:extLst xmlns:a="http://schemas.openxmlformats.org/drawingml/2006/main">
              <a:ext uri="{FF2B5EF4-FFF2-40B4-BE49-F238E27FC236}">
                <a16:creationId xmlns:a16="http://schemas.microsoft.com/office/drawing/2014/main" id="{43453E81-B5E6-412A-8A16-A8673873B3E4}"/>
              </a:ext>
            </a:extLst>
          </p:cNvPr>
          <p:cNvSpPr>
            <a:spLocks xmlns:a="http://schemas.openxmlformats.org/drawingml/2006/main" noGrp="1"/>
          </p:cNvSpPr>
          <p:nvPr/>
        </p:nvSpPr>
        <p:spPr>
          <a:xfrm xmlns:a="http://schemas.openxmlformats.org/drawingml/2006/main">
            <a:off x="1905000" y="7477125"/>
            <a:ext cx="953" cy="219075"/>
          </a:xfrm>
          <a:custGeom xmlns:a="http://schemas.openxmlformats.org/drawingml/2006/main">
            <a:pathLst>
              <a:path w="953" h="219075">
                <a:moveTo>
                  <a:pt x="0" y="219075"/>
                </a:moveTo>
                <a:lnTo>
                  <a:pt x="0" y="0"/>
                </a:lnTo>
              </a:path>
            </a:pathLst>
          </a:custGeom>
          <a:noFill xmlns:a="http://schemas.openxmlformats.org/drawingml/2006/main"/>
          <a:ln xmlns:a="http://schemas.openxmlformats.org/drawingml/2006/main" w="14288">
            <a:solidFill>
              <a:srgbClr val="00355F"/>
            </a:solidFill>
          </a:ln>
        </p:spPr>
      </p:sp>
      <p:sp>
        <p:nvSpPr>
          <p:cNvPr id="28" name="">
            <a:extLst xmlns:a="http://schemas.openxmlformats.org/drawingml/2006/main">
              <a:ext uri="{FF2B5EF4-FFF2-40B4-BE49-F238E27FC236}">
                <a16:creationId xmlns:a16="http://schemas.microsoft.com/office/drawing/2014/main" id="{C820AACC-E3C2-47AC-9298-05E49A2465AC}"/>
              </a:ext>
            </a:extLst>
          </p:cNvPr>
          <p:cNvSpPr>
            <a:spLocks xmlns:a="http://schemas.openxmlformats.org/drawingml/2006/main" noGrp="1"/>
          </p:cNvSpPr>
          <p:nvPr/>
        </p:nvSpPr>
        <p:spPr>
          <a:xfrm xmlns:a="http://schemas.openxmlformats.org/drawingml/2006/main">
            <a:off x="1859335" y="7477125"/>
            <a:ext cx="91331" cy="83590"/>
          </a:xfrm>
          <a:custGeom xmlns:a="http://schemas.openxmlformats.org/drawingml/2006/main">
            <a:pathLst>
              <a:path w="91331" h="83590">
                <a:moveTo>
                  <a:pt x="45665" y="0"/>
                </a:moveTo>
                <a:lnTo>
                  <a:pt x="91331" y="83590"/>
                </a:lnTo>
                <a:lnTo>
                  <a:pt x="0" y="83590"/>
                </a:lnTo>
                <a:close/>
              </a:path>
            </a:pathLst>
          </a:custGeom>
          <a:solidFill xmlns:a="http://schemas.openxmlformats.org/drawingml/2006/main">
            <a:srgbClr val="00355F"/>
          </a:solidFill>
          <a:ln xmlns:a="http://schemas.openxmlformats.org/drawingml/2006/main" w="9525">
            <a:noFill/>
          </a:ln>
        </p:spPr>
      </p:sp>
      <p:sp>
        <p:nvSpPr>
          <p:cNvPr id="29" name="">
            <a:extLst xmlns:a="http://schemas.openxmlformats.org/drawingml/2006/main">
              <a:ext uri="{FF2B5EF4-FFF2-40B4-BE49-F238E27FC236}">
                <a16:creationId xmlns:a16="http://schemas.microsoft.com/office/drawing/2014/main" id="{B01A163D-D691-40AB-82B3-D8DCB63A0A8B}"/>
              </a:ext>
            </a:extLst>
          </p:cNvPr>
          <p:cNvSpPr>
            <a:spLocks xmlns:a="http://schemas.openxmlformats.org/drawingml/2006/main" noGrp="1"/>
          </p:cNvSpPr>
          <p:nvPr/>
        </p:nvSpPr>
        <p:spPr>
          <a:xfrm xmlns:a="http://schemas.openxmlformats.org/drawingml/2006/main">
            <a:off x="2400300" y="7534275"/>
            <a:ext cx="1971675" cy="323850"/>
          </a:xfrm>
          <a:prstGeom xmlns:a="http://schemas.openxmlformats.org/drawingml/2006/main" prst="rect">
            <a:avLst/>
          </a:prstGeom>
          <a:solidFill xmlns:a="http://schemas.openxmlformats.org/drawingml/2006/main">
            <a:srgbClr val="F4F9FD"/>
          </a:solidFill>
          <a:ln xmlns:a="http://schemas.openxmlformats.org/drawingml/2006/main" w="9525">
            <a:noFill/>
          </a:ln>
        </p:spPr>
      </p:sp>
      <p:sp>
        <p:nvSpPr>
          <p:cNvPr id="30" name="Assays inform models">
            <a:extLst xmlns:a="http://schemas.openxmlformats.org/drawingml/2006/main">
              <a:ext uri="{FF2B5EF4-FFF2-40B4-BE49-F238E27FC236}">
                <a16:creationId xmlns:a16="http://schemas.microsoft.com/office/drawing/2014/main" id="{1C924804-3673-4398-8AA5-6FE938B973D7}"/>
              </a:ext>
            </a:extLst>
          </p:cNvPr>
          <p:cNvSpPr>
            <a:spLocks xmlns:a="http://schemas.openxmlformats.org/drawingml/2006/main" noGrp="1"/>
          </p:cNvSpPr>
          <p:nvPr/>
        </p:nvSpPr>
        <p:spPr>
          <a:xfrm xmlns:a="http://schemas.openxmlformats.org/drawingml/2006/main">
            <a:off x="2400300" y="7553325"/>
            <a:ext cx="1971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Assays inform models</a:t>
            </a:r>
          </a:p>
        </p:txBody>
      </p:sp>
      <p:sp>
        <p:nvSpPr>
          <p:cNvPr id="31" name="">
            <a:extLst xmlns:a="http://schemas.openxmlformats.org/drawingml/2006/main">
              <a:ext uri="{FF2B5EF4-FFF2-40B4-BE49-F238E27FC236}">
                <a16:creationId xmlns:a16="http://schemas.microsoft.com/office/drawing/2014/main" id="{7522FB1D-B88D-4BC5-92F4-B76CB6B0D830}"/>
              </a:ext>
            </a:extLst>
          </p:cNvPr>
          <p:cNvSpPr>
            <a:spLocks xmlns:a="http://schemas.openxmlformats.org/drawingml/2006/main" noGrp="1"/>
          </p:cNvSpPr>
          <p:nvPr/>
        </p:nvSpPr>
        <p:spPr>
          <a:xfrm xmlns:a="http://schemas.openxmlformats.org/drawingml/2006/main">
            <a:off x="6391275" y="3219450"/>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1908">
            <a:solidFill>
              <a:srgbClr val="00355F"/>
            </a:solidFill>
          </a:ln>
        </p:spPr>
      </p:sp>
      <p:sp>
        <p:nvSpPr>
          <p:cNvPr id="32" name="">
            <a:extLst xmlns:a="http://schemas.openxmlformats.org/drawingml/2006/main">
              <a:ext uri="{FF2B5EF4-FFF2-40B4-BE49-F238E27FC236}">
                <a16:creationId xmlns:a16="http://schemas.microsoft.com/office/drawing/2014/main" id="{45A2FDD4-DD8B-4D65-ADCD-F2418427DC5B}"/>
              </a:ext>
            </a:extLst>
          </p:cNvPr>
          <p:cNvSpPr>
            <a:spLocks xmlns:a="http://schemas.openxmlformats.org/drawingml/2006/main" noGrp="1"/>
          </p:cNvSpPr>
          <p:nvPr/>
        </p:nvSpPr>
        <p:spPr>
          <a:xfrm xmlns:a="http://schemas.openxmlformats.org/drawingml/2006/main">
            <a:off x="6667500" y="3219450"/>
            <a:ext cx="953" cy="2743200"/>
          </a:xfrm>
          <a:custGeom xmlns:a="http://schemas.openxmlformats.org/drawingml/2006/main">
            <a:pathLst>
              <a:path w="953" h="2743200">
                <a:moveTo>
                  <a:pt x="0" y="0"/>
                </a:moveTo>
                <a:lnTo>
                  <a:pt x="0" y="2743200"/>
                </a:lnTo>
              </a:path>
            </a:pathLst>
          </a:custGeom>
          <a:noFill xmlns:a="http://schemas.openxmlformats.org/drawingml/2006/main"/>
          <a:ln xmlns:a="http://schemas.openxmlformats.org/drawingml/2006/main" w="21908">
            <a:solidFill>
              <a:srgbClr val="00355F"/>
            </a:solidFill>
          </a:ln>
        </p:spPr>
      </p:sp>
      <p:sp>
        <p:nvSpPr>
          <p:cNvPr id="33" name="">
            <a:extLst xmlns:a="http://schemas.openxmlformats.org/drawingml/2006/main">
              <a:ext uri="{FF2B5EF4-FFF2-40B4-BE49-F238E27FC236}">
                <a16:creationId xmlns:a16="http://schemas.microsoft.com/office/drawing/2014/main" id="{022D896C-5F3B-4B7B-A768-8B4A80721EBE}"/>
              </a:ext>
            </a:extLst>
          </p:cNvPr>
          <p:cNvSpPr>
            <a:spLocks xmlns:a="http://schemas.openxmlformats.org/drawingml/2006/main" noGrp="1"/>
          </p:cNvSpPr>
          <p:nvPr/>
        </p:nvSpPr>
        <p:spPr>
          <a:xfrm xmlns:a="http://schemas.openxmlformats.org/drawingml/2006/main">
            <a:off x="6391275" y="5962650"/>
            <a:ext cx="276225" cy="953"/>
          </a:xfrm>
          <a:custGeom xmlns:a="http://schemas.openxmlformats.org/drawingml/2006/main">
            <a:pathLst>
              <a:path w="276225" h="953">
                <a:moveTo>
                  <a:pt x="276225" y="0"/>
                </a:moveTo>
                <a:lnTo>
                  <a:pt x="0" y="0"/>
                </a:lnTo>
              </a:path>
            </a:pathLst>
          </a:custGeom>
          <a:noFill xmlns:a="http://schemas.openxmlformats.org/drawingml/2006/main"/>
          <a:ln xmlns:a="http://schemas.openxmlformats.org/drawingml/2006/main" w="21908">
            <a:solidFill>
              <a:srgbClr val="00355F"/>
            </a:solidFill>
          </a:ln>
        </p:spPr>
      </p:sp>
      <p:sp>
        <p:nvSpPr>
          <p:cNvPr id="34" name="">
            <a:extLst xmlns:a="http://schemas.openxmlformats.org/drawingml/2006/main">
              <a:ext uri="{FF2B5EF4-FFF2-40B4-BE49-F238E27FC236}">
                <a16:creationId xmlns:a16="http://schemas.microsoft.com/office/drawing/2014/main" id="{0952CBCE-3A04-4051-89CF-6513E0A7775F}"/>
              </a:ext>
            </a:extLst>
          </p:cNvPr>
          <p:cNvSpPr>
            <a:spLocks xmlns:a="http://schemas.openxmlformats.org/drawingml/2006/main" noGrp="1"/>
          </p:cNvSpPr>
          <p:nvPr/>
        </p:nvSpPr>
        <p:spPr>
          <a:xfrm xmlns:a="http://schemas.openxmlformats.org/drawingml/2006/main">
            <a:off x="6772275" y="2533650"/>
            <a:ext cx="371475" cy="4867275"/>
          </a:xfrm>
          <a:custGeom xmlns:a="http://schemas.openxmlformats.org/drawingml/2006/main">
            <a:pathLst>
              <a:path w="371475" h="4867275">
                <a:moveTo>
                  <a:pt x="0" y="790575"/>
                </a:moveTo>
                <a:lnTo>
                  <a:pt x="371475" y="0"/>
                </a:lnTo>
                <a:lnTo>
                  <a:pt x="371475" y="4867275"/>
                </a:lnTo>
                <a:lnTo>
                  <a:pt x="0" y="3305175"/>
                </a:lnTo>
                <a:close/>
              </a:path>
            </a:pathLst>
          </a:custGeom>
          <a:solidFill xmlns:a="http://schemas.openxmlformats.org/drawingml/2006/main">
            <a:srgbClr val="F4F9FD"/>
          </a:solidFill>
          <a:ln xmlns:a="http://schemas.openxmlformats.org/drawingml/2006/main" w="9525">
            <a:noFill/>
          </a:ln>
        </p:spPr>
      </p:sp>
      <p:sp>
        <p:nvSpPr>
          <p:cNvPr id="35" name="">
            <a:extLst xmlns:a="http://schemas.openxmlformats.org/drawingml/2006/main">
              <a:ext uri="{FF2B5EF4-FFF2-40B4-BE49-F238E27FC236}">
                <a16:creationId xmlns:a16="http://schemas.microsoft.com/office/drawing/2014/main" id="{F36D0E8D-ED3B-48B9-8C1D-6AD4951E31BA}"/>
              </a:ext>
            </a:extLst>
          </p:cNvPr>
          <p:cNvSpPr>
            <a:spLocks xmlns:a="http://schemas.openxmlformats.org/drawingml/2006/main" noGrp="1"/>
          </p:cNvSpPr>
          <p:nvPr/>
        </p:nvSpPr>
        <p:spPr>
          <a:xfrm xmlns:a="http://schemas.openxmlformats.org/drawingml/2006/main">
            <a:off x="6772275" y="2533650"/>
            <a:ext cx="371475" cy="790575"/>
          </a:xfrm>
          <a:custGeom xmlns:a="http://schemas.openxmlformats.org/drawingml/2006/main">
            <a:pathLst>
              <a:path w="371475" h="790575">
                <a:moveTo>
                  <a:pt x="0" y="790575"/>
                </a:moveTo>
                <a:lnTo>
                  <a:pt x="371475" y="0"/>
                </a:lnTo>
              </a:path>
            </a:pathLst>
          </a:custGeom>
          <a:noFill xmlns:a="http://schemas.openxmlformats.org/drawingml/2006/main"/>
          <a:ln xmlns:a="http://schemas.openxmlformats.org/drawingml/2006/main" w="13335">
            <a:solidFill>
              <a:srgbClr val="7399C6"/>
            </a:solidFill>
          </a:ln>
        </p:spPr>
      </p:sp>
      <p:sp>
        <p:nvSpPr>
          <p:cNvPr id="36" name="">
            <a:extLst xmlns:a="http://schemas.openxmlformats.org/drawingml/2006/main">
              <a:ext uri="{FF2B5EF4-FFF2-40B4-BE49-F238E27FC236}">
                <a16:creationId xmlns:a16="http://schemas.microsoft.com/office/drawing/2014/main" id="{0F2EF029-6E6C-4844-91E4-E15E570783D8}"/>
              </a:ext>
            </a:extLst>
          </p:cNvPr>
          <p:cNvSpPr>
            <a:spLocks xmlns:a="http://schemas.openxmlformats.org/drawingml/2006/main" noGrp="1"/>
          </p:cNvSpPr>
          <p:nvPr/>
        </p:nvSpPr>
        <p:spPr>
          <a:xfrm xmlns:a="http://schemas.openxmlformats.org/drawingml/2006/main">
            <a:off x="6772275" y="5838825"/>
            <a:ext cx="371475" cy="1562100"/>
          </a:xfrm>
          <a:custGeom xmlns:a="http://schemas.openxmlformats.org/drawingml/2006/main">
            <a:pathLst>
              <a:path w="371475" h="1562100">
                <a:moveTo>
                  <a:pt x="0" y="0"/>
                </a:moveTo>
                <a:lnTo>
                  <a:pt x="371475" y="1562100"/>
                </a:lnTo>
              </a:path>
            </a:pathLst>
          </a:custGeom>
          <a:noFill xmlns:a="http://schemas.openxmlformats.org/drawingml/2006/main"/>
          <a:ln xmlns:a="http://schemas.openxmlformats.org/drawingml/2006/main" w="13335">
            <a:solidFill>
              <a:srgbClr val="7399C6"/>
            </a:solidFill>
          </a:ln>
        </p:spPr>
      </p:sp>
      <p:sp>
        <p:nvSpPr>
          <p:cNvPr id="37" name="">
            <a:extLst xmlns:a="http://schemas.openxmlformats.org/drawingml/2006/main">
              <a:ext uri="{FF2B5EF4-FFF2-40B4-BE49-F238E27FC236}">
                <a16:creationId xmlns:a16="http://schemas.microsoft.com/office/drawing/2014/main" id="{53065982-7680-43E1-978D-909E31CE17F7}"/>
              </a:ext>
            </a:extLst>
          </p:cNvPr>
          <p:cNvSpPr>
            <a:spLocks xmlns:a="http://schemas.openxmlformats.org/drawingml/2006/main" noGrp="1"/>
          </p:cNvSpPr>
          <p:nvPr/>
        </p:nvSpPr>
        <p:spPr>
          <a:xfrm xmlns:a="http://schemas.openxmlformats.org/drawingml/2006/main">
            <a:off x="7162800" y="2124075"/>
            <a:ext cx="10439400" cy="5781675"/>
          </a:xfrm>
          <a:prstGeom xmlns:a="http://schemas.openxmlformats.org/drawingml/2006/main" prst="roundRect">
            <a:avLst>
              <a:gd name="adj" fmla="val 2306"/>
            </a:avLst>
          </a:prstGeom>
          <a:solidFill xmlns:a="http://schemas.openxmlformats.org/drawingml/2006/main">
            <a:srgbClr val="F4F9FD"/>
          </a:solidFill>
          <a:ln xmlns:a="http://schemas.openxmlformats.org/drawingml/2006/main" w="9525">
            <a:solidFill>
              <a:srgbClr val="A5A5A5"/>
            </a:solidFill>
          </a:ln>
        </p:spPr>
      </p:sp>
      <p:sp>
        <p:nvSpPr>
          <p:cNvPr id="38" name="Labels → assays → purchases">
            <a:extLst xmlns:a="http://schemas.openxmlformats.org/drawingml/2006/main">
              <a:ext uri="{FF2B5EF4-FFF2-40B4-BE49-F238E27FC236}">
                <a16:creationId xmlns:a16="http://schemas.microsoft.com/office/drawing/2014/main" id="{91C4A504-0760-46C5-84B7-9073896CC036}"/>
              </a:ext>
            </a:extLst>
          </p:cNvPr>
          <p:cNvSpPr>
            <a:spLocks xmlns:a="http://schemas.openxmlformats.org/drawingml/2006/main" noGrp="1"/>
          </p:cNvSpPr>
          <p:nvPr/>
        </p:nvSpPr>
        <p:spPr>
          <a:xfrm xmlns:a="http://schemas.openxmlformats.org/drawingml/2006/main">
            <a:off x="7410450" y="2333625"/>
            <a:ext cx="99441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Labels → assays → purchases</a:t>
            </a:r>
          </a:p>
        </p:txBody>
      </p:sp>
      <p:sp>
        <p:nvSpPr>
          <p:cNvPr id="39" name="Tool revenue needs a bridge from label coverage to workflow volume and unit consumption">
            <a:extLst xmlns:a="http://schemas.openxmlformats.org/drawingml/2006/main">
              <a:ext uri="{FF2B5EF4-FFF2-40B4-BE49-F238E27FC236}">
                <a16:creationId xmlns:a16="http://schemas.microsoft.com/office/drawing/2014/main" id="{4AC87B5E-ADDE-4C9D-86A1-63698CCAC0CD}"/>
              </a:ext>
            </a:extLst>
          </p:cNvPr>
          <p:cNvSpPr>
            <a:spLocks xmlns:a="http://schemas.openxmlformats.org/drawingml/2006/main" noGrp="1"/>
          </p:cNvSpPr>
          <p:nvPr/>
        </p:nvSpPr>
        <p:spPr>
          <a:xfrm xmlns:a="http://schemas.openxmlformats.org/drawingml/2006/main">
            <a:off x="7410450" y="2752725"/>
            <a:ext cx="9944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Tool revenue needs a bridge from label coverage to workflow volume and unit consumption</a:t>
            </a:r>
          </a:p>
        </p:txBody>
      </p:sp>
      <p:sp>
        <p:nvSpPr>
          <p:cNvPr id="40" name="">
            <a:extLst xmlns:a="http://schemas.openxmlformats.org/drawingml/2006/main">
              <a:ext uri="{FF2B5EF4-FFF2-40B4-BE49-F238E27FC236}">
                <a16:creationId xmlns:a16="http://schemas.microsoft.com/office/drawing/2014/main" id="{E4B72C0C-6A41-4E93-B762-B148EEB5DD20}"/>
              </a:ext>
            </a:extLst>
          </p:cNvPr>
          <p:cNvSpPr>
            <a:spLocks xmlns:a="http://schemas.openxmlformats.org/drawingml/2006/main" noGrp="1"/>
          </p:cNvSpPr>
          <p:nvPr/>
        </p:nvSpPr>
        <p:spPr>
          <a:xfrm xmlns:a="http://schemas.openxmlformats.org/drawingml/2006/main">
            <a:off x="7410450" y="3181350"/>
            <a:ext cx="4838700"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41" name="">
            <a:extLst xmlns:a="http://schemas.openxmlformats.org/drawingml/2006/main">
              <a:ext uri="{FF2B5EF4-FFF2-40B4-BE49-F238E27FC236}">
                <a16:creationId xmlns:a16="http://schemas.microsoft.com/office/drawing/2014/main" id="{9DE79E36-1322-4819-95A2-1C5C1C7D0148}"/>
              </a:ext>
            </a:extLst>
          </p:cNvPr>
          <p:cNvPicPr>
            <a:picLocks xmlns:a="http://schemas.openxmlformats.org/drawingml/2006/main" noChangeAspect="1"/>
          </p:cNvPicPr>
          <p:nvPr/>
        </p:nvPicPr>
        <p:blipFill>
          <a:blip xmlns:r="http://schemas.openxmlformats.org/officeDocument/2006/relationships" xmlns:a="http://schemas.openxmlformats.org/drawingml/2006/main" r:embed="R91586e0cc12d405e">
            <a:extLst>
              <a:ext uri="{96DAC541-7B7A-43D3-8B79-37D633B846F1}">
                <asvg:svgBlip xmlns:asvg="http://schemas.microsoft.com/office/drawing/2016/SVG/main" r:embed="Rd92e9ca29f5d4bcb"/>
              </a:ext>
            </a:extLst>
          </a:blip>
          <a:stretch xmlns:a="http://schemas.openxmlformats.org/drawingml/2006/main"/>
        </p:blipFill>
        <p:spPr>
          <a:xfrm xmlns:a="http://schemas.openxmlformats.org/drawingml/2006/main">
            <a:off x="7562850" y="3333750"/>
            <a:ext cx="285750" cy="285750"/>
          </a:xfrm>
          <a:prstGeom xmlns:a="http://schemas.openxmlformats.org/drawingml/2006/main" prst="rect">
            <a:avLst/>
          </a:prstGeom>
        </p:spPr>
      </p:pic>
      <p:sp>
        <p:nvSpPr>
          <p:cNvPr id="42" name="Construction &amp; expression">
            <a:extLst xmlns:a="http://schemas.openxmlformats.org/drawingml/2006/main">
              <a:ext uri="{FF2B5EF4-FFF2-40B4-BE49-F238E27FC236}">
                <a16:creationId xmlns:a16="http://schemas.microsoft.com/office/drawing/2014/main" id="{98B23CE8-96B2-499B-A4DD-2C4020214EAC}"/>
              </a:ext>
            </a:extLst>
          </p:cNvPr>
          <p:cNvSpPr>
            <a:spLocks xmlns:a="http://schemas.openxmlformats.org/drawingml/2006/main" noGrp="1"/>
          </p:cNvSpPr>
          <p:nvPr/>
        </p:nvSpPr>
        <p:spPr>
          <a:xfrm xmlns:a="http://schemas.openxmlformats.org/drawingml/2006/main">
            <a:off x="7981950" y="3324225"/>
            <a:ext cx="4105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Construction &amp; expression</a:t>
            </a:r>
          </a:p>
        </p:txBody>
      </p:sp>
      <p:sp>
        <p:nvSpPr>
          <p:cNvPr id="43" name="DNA synthesis, vectors, expression, purification">
            <a:extLst xmlns:a="http://schemas.openxmlformats.org/drawingml/2006/main">
              <a:ext uri="{FF2B5EF4-FFF2-40B4-BE49-F238E27FC236}">
                <a16:creationId xmlns:a16="http://schemas.microsoft.com/office/drawing/2014/main" id="{C3CD6729-208D-46EE-9D29-FFCBA39D9478}"/>
              </a:ext>
            </a:extLst>
          </p:cNvPr>
          <p:cNvSpPr>
            <a:spLocks xmlns:a="http://schemas.openxmlformats.org/drawingml/2006/main" noGrp="1"/>
          </p:cNvSpPr>
          <p:nvPr/>
        </p:nvSpPr>
        <p:spPr>
          <a:xfrm xmlns:a="http://schemas.openxmlformats.org/drawingml/2006/main">
            <a:off x="7562850" y="3724275"/>
            <a:ext cx="453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DNA synthesis, vectors, expression, purification</a:t>
            </a:r>
          </a:p>
        </p:txBody>
      </p:sp>
      <p:sp>
        <p:nvSpPr>
          <p:cNvPr id="44" name="Expression labels + samples for other assays">
            <a:extLst xmlns:a="http://schemas.openxmlformats.org/drawingml/2006/main">
              <a:ext uri="{FF2B5EF4-FFF2-40B4-BE49-F238E27FC236}">
                <a16:creationId xmlns:a16="http://schemas.microsoft.com/office/drawing/2014/main" id="{98705807-D9BB-42B5-99B9-BA3AD454023A}"/>
              </a:ext>
            </a:extLst>
          </p:cNvPr>
          <p:cNvSpPr>
            <a:spLocks xmlns:a="http://schemas.openxmlformats.org/drawingml/2006/main" noGrp="1"/>
          </p:cNvSpPr>
          <p:nvPr/>
        </p:nvSpPr>
        <p:spPr>
          <a:xfrm xmlns:a="http://schemas.openxmlformats.org/drawingml/2006/main">
            <a:off x="7562850" y="4057650"/>
            <a:ext cx="453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Expression labels + samples for other assays</a:t>
            </a:r>
          </a:p>
        </p:txBody>
      </p:sp>
      <p:sp>
        <p:nvSpPr>
          <p:cNvPr id="45" name="Count shared sample preparation once">
            <a:extLst xmlns:a="http://schemas.openxmlformats.org/drawingml/2006/main">
              <a:ext uri="{FF2B5EF4-FFF2-40B4-BE49-F238E27FC236}">
                <a16:creationId xmlns:a16="http://schemas.microsoft.com/office/drawing/2014/main" id="{FD3E1D10-65F8-4613-972A-CD8008B524E9}"/>
              </a:ext>
            </a:extLst>
          </p:cNvPr>
          <p:cNvSpPr>
            <a:spLocks xmlns:a="http://schemas.openxmlformats.org/drawingml/2006/main" noGrp="1"/>
          </p:cNvSpPr>
          <p:nvPr/>
        </p:nvSpPr>
        <p:spPr>
          <a:xfrm xmlns:a="http://schemas.openxmlformats.org/drawingml/2006/main">
            <a:off x="7562850" y="4352925"/>
            <a:ext cx="453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Count shared sample preparation once</a:t>
            </a:r>
          </a:p>
        </p:txBody>
      </p:sp>
      <p:sp>
        <p:nvSpPr>
          <p:cNvPr id="46" name="">
            <a:extLst xmlns:a="http://schemas.openxmlformats.org/drawingml/2006/main">
              <a:ext uri="{FF2B5EF4-FFF2-40B4-BE49-F238E27FC236}">
                <a16:creationId xmlns:a16="http://schemas.microsoft.com/office/drawing/2014/main" id="{BDEAE822-2058-4AD6-9BC9-C95E16D59B96}"/>
              </a:ext>
            </a:extLst>
          </p:cNvPr>
          <p:cNvSpPr>
            <a:spLocks xmlns:a="http://schemas.openxmlformats.org/drawingml/2006/main" noGrp="1"/>
          </p:cNvSpPr>
          <p:nvPr/>
        </p:nvSpPr>
        <p:spPr>
          <a:xfrm xmlns:a="http://schemas.openxmlformats.org/drawingml/2006/main">
            <a:off x="12449175" y="3181350"/>
            <a:ext cx="4905375"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47" name="">
            <a:extLst xmlns:a="http://schemas.openxmlformats.org/drawingml/2006/main">
              <a:ext uri="{FF2B5EF4-FFF2-40B4-BE49-F238E27FC236}">
                <a16:creationId xmlns:a16="http://schemas.microsoft.com/office/drawing/2014/main" id="{0C64634F-EAAB-40F6-A2B5-87D4B6E2A6B9}"/>
              </a:ext>
            </a:extLst>
          </p:cNvPr>
          <p:cNvPicPr>
            <a:picLocks xmlns:a="http://schemas.openxmlformats.org/drawingml/2006/main" noChangeAspect="1"/>
          </p:cNvPicPr>
          <p:nvPr/>
        </p:nvPicPr>
        <p:blipFill>
          <a:blip xmlns:r="http://schemas.openxmlformats.org/officeDocument/2006/relationships" xmlns:a="http://schemas.openxmlformats.org/drawingml/2006/main" r:embed="R871f9b8b919a4d3d">
            <a:extLst>
              <a:ext uri="{96DAC541-7B7A-43D3-8B79-37D633B846F1}">
                <asvg:svgBlip xmlns:asvg="http://schemas.microsoft.com/office/drawing/2016/SVG/main" r:embed="Rb5dad2cc68d34ddf"/>
              </a:ext>
            </a:extLst>
          </a:blip>
          <a:stretch xmlns:a="http://schemas.openxmlformats.org/drawingml/2006/main"/>
        </p:blipFill>
        <p:spPr>
          <a:xfrm xmlns:a="http://schemas.openxmlformats.org/drawingml/2006/main">
            <a:off x="12601575" y="3333750"/>
            <a:ext cx="285750" cy="285750"/>
          </a:xfrm>
          <a:prstGeom xmlns:a="http://schemas.openxmlformats.org/drawingml/2006/main" prst="rect">
            <a:avLst/>
          </a:prstGeom>
        </p:spPr>
      </p:pic>
      <p:sp>
        <p:nvSpPr>
          <p:cNvPr id="48" name="Protein &amp; functional testing">
            <a:extLst xmlns:a="http://schemas.openxmlformats.org/drawingml/2006/main">
              <a:ext uri="{FF2B5EF4-FFF2-40B4-BE49-F238E27FC236}">
                <a16:creationId xmlns:a16="http://schemas.microsoft.com/office/drawing/2014/main" id="{D835B44D-F364-4BB0-8B9A-9650493C8054}"/>
              </a:ext>
            </a:extLst>
          </p:cNvPr>
          <p:cNvSpPr>
            <a:spLocks xmlns:a="http://schemas.openxmlformats.org/drawingml/2006/main" noGrp="1"/>
          </p:cNvSpPr>
          <p:nvPr/>
        </p:nvSpPr>
        <p:spPr>
          <a:xfrm xmlns:a="http://schemas.openxmlformats.org/drawingml/2006/main">
            <a:off x="13020675" y="3324225"/>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Protein &amp; functional testing</a:t>
            </a:r>
          </a:p>
        </p:txBody>
      </p:sp>
      <p:sp>
        <p:nvSpPr>
          <p:cNvPr id="49" name="SPR / BLI, binding curves, epitope binning">
            <a:extLst xmlns:a="http://schemas.openxmlformats.org/drawingml/2006/main">
              <a:ext uri="{FF2B5EF4-FFF2-40B4-BE49-F238E27FC236}">
                <a16:creationId xmlns:a16="http://schemas.microsoft.com/office/drawing/2014/main" id="{B78DAE3F-3503-496B-BA15-6AC0D8AE2C7C}"/>
              </a:ext>
            </a:extLst>
          </p:cNvPr>
          <p:cNvSpPr>
            <a:spLocks xmlns:a="http://schemas.openxmlformats.org/drawingml/2006/main" noGrp="1"/>
          </p:cNvSpPr>
          <p:nvPr/>
        </p:nvSpPr>
        <p:spPr>
          <a:xfrm xmlns:a="http://schemas.openxmlformats.org/drawingml/2006/main">
            <a:off x="12601575" y="3724275"/>
            <a:ext cx="460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SPR / BLI, binding curves, epitope binning</a:t>
            </a:r>
          </a:p>
        </p:txBody>
      </p:sp>
      <p:sp>
        <p:nvSpPr>
          <p:cNvPr id="50" name="Target proteins, sensors / chips, buffers">
            <a:extLst xmlns:a="http://schemas.openxmlformats.org/drawingml/2006/main">
              <a:ext uri="{FF2B5EF4-FFF2-40B4-BE49-F238E27FC236}">
                <a16:creationId xmlns:a16="http://schemas.microsoft.com/office/drawing/2014/main" id="{85C44D70-8F76-48FF-A777-26744DC01ED3}"/>
              </a:ext>
            </a:extLst>
          </p:cNvPr>
          <p:cNvSpPr>
            <a:spLocks xmlns:a="http://schemas.openxmlformats.org/drawingml/2006/main" noGrp="1"/>
          </p:cNvSpPr>
          <p:nvPr/>
        </p:nvSpPr>
        <p:spPr>
          <a:xfrm xmlns:a="http://schemas.openxmlformats.org/drawingml/2006/main">
            <a:off x="12601575" y="4057650"/>
            <a:ext cx="4600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Target proteins, sensors / chips, buffers</a:t>
            </a:r>
          </a:p>
        </p:txBody>
      </p:sp>
      <p:sp>
        <p:nvSpPr>
          <p:cNvPr id="51" name="KD / kon / koff can share one kinetic run">
            <a:extLst xmlns:a="http://schemas.openxmlformats.org/drawingml/2006/main">
              <a:ext uri="{FF2B5EF4-FFF2-40B4-BE49-F238E27FC236}">
                <a16:creationId xmlns:a16="http://schemas.microsoft.com/office/drawing/2014/main" id="{241183EF-4646-43A0-A828-ACBADE554B02}"/>
              </a:ext>
            </a:extLst>
          </p:cNvPr>
          <p:cNvSpPr>
            <a:spLocks xmlns:a="http://schemas.openxmlformats.org/drawingml/2006/main" noGrp="1"/>
          </p:cNvSpPr>
          <p:nvPr/>
        </p:nvSpPr>
        <p:spPr>
          <a:xfrm xmlns:a="http://schemas.openxmlformats.org/drawingml/2006/main">
            <a:off x="12601575" y="4352925"/>
            <a:ext cx="4600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KD / kon / koff can share one kinetic run</a:t>
            </a:r>
          </a:p>
        </p:txBody>
      </p:sp>
      <p:sp>
        <p:nvSpPr>
          <p:cNvPr id="52" name="">
            <a:extLst xmlns:a="http://schemas.openxmlformats.org/drawingml/2006/main">
              <a:ext uri="{FF2B5EF4-FFF2-40B4-BE49-F238E27FC236}">
                <a16:creationId xmlns:a16="http://schemas.microsoft.com/office/drawing/2014/main" id="{996941DD-F3FE-4C1E-A078-A0B905C4554A}"/>
              </a:ext>
            </a:extLst>
          </p:cNvPr>
          <p:cNvSpPr>
            <a:spLocks xmlns:a="http://schemas.openxmlformats.org/drawingml/2006/main" noGrp="1"/>
          </p:cNvSpPr>
          <p:nvPr/>
        </p:nvSpPr>
        <p:spPr>
          <a:xfrm xmlns:a="http://schemas.openxmlformats.org/drawingml/2006/main">
            <a:off x="7410450" y="4867275"/>
            <a:ext cx="4838700"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53" name="">
            <a:extLst xmlns:a="http://schemas.openxmlformats.org/drawingml/2006/main">
              <a:ext uri="{FF2B5EF4-FFF2-40B4-BE49-F238E27FC236}">
                <a16:creationId xmlns:a16="http://schemas.microsoft.com/office/drawing/2014/main" id="{AC138323-296D-4849-98F6-59698E2B0CC2}"/>
              </a:ext>
            </a:extLst>
          </p:cNvPr>
          <p:cNvPicPr>
            <a:picLocks xmlns:a="http://schemas.openxmlformats.org/drawingml/2006/main" noChangeAspect="1"/>
          </p:cNvPicPr>
          <p:nvPr/>
        </p:nvPicPr>
        <p:blipFill>
          <a:blip xmlns:r="http://schemas.openxmlformats.org/officeDocument/2006/relationships" xmlns:a="http://schemas.openxmlformats.org/drawingml/2006/main" r:embed="Rb46b74d76085414f">
            <a:extLst>
              <a:ext uri="{96DAC541-7B7A-43D3-8B79-37D633B846F1}">
                <asvg:svgBlip xmlns:asvg="http://schemas.microsoft.com/office/drawing/2016/SVG/main" r:embed="Rdcddc6985ae74fa7"/>
              </a:ext>
            </a:extLst>
          </a:blip>
          <a:stretch xmlns:a="http://schemas.openxmlformats.org/drawingml/2006/main"/>
        </p:blipFill>
        <p:spPr>
          <a:xfrm xmlns:a="http://schemas.openxmlformats.org/drawingml/2006/main">
            <a:off x="7562850" y="5019675"/>
            <a:ext cx="285750" cy="285750"/>
          </a:xfrm>
          <a:prstGeom xmlns:a="http://schemas.openxmlformats.org/drawingml/2006/main" prst="rect">
            <a:avLst/>
          </a:prstGeom>
        </p:spPr>
      </p:pic>
      <p:sp>
        <p:nvSpPr>
          <p:cNvPr id="54" name="Cells &amp; culture systems">
            <a:extLst xmlns:a="http://schemas.openxmlformats.org/drawingml/2006/main">
              <a:ext uri="{FF2B5EF4-FFF2-40B4-BE49-F238E27FC236}">
                <a16:creationId xmlns:a16="http://schemas.microsoft.com/office/drawing/2014/main" id="{87A51E94-22F9-4CE2-89F2-30620BE1312B}"/>
              </a:ext>
            </a:extLst>
          </p:cNvPr>
          <p:cNvSpPr>
            <a:spLocks xmlns:a="http://schemas.openxmlformats.org/drawingml/2006/main" noGrp="1"/>
          </p:cNvSpPr>
          <p:nvPr/>
        </p:nvSpPr>
        <p:spPr>
          <a:xfrm xmlns:a="http://schemas.openxmlformats.org/drawingml/2006/main">
            <a:off x="7981950" y="5010150"/>
            <a:ext cx="4105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Cells &amp; culture systems</a:t>
            </a:r>
          </a:p>
        </p:txBody>
      </p:sp>
      <p:sp>
        <p:nvSpPr>
          <p:cNvPr id="55" name="Functional cells, media, transfection, expansion">
            <a:extLst xmlns:a="http://schemas.openxmlformats.org/drawingml/2006/main">
              <a:ext uri="{FF2B5EF4-FFF2-40B4-BE49-F238E27FC236}">
                <a16:creationId xmlns:a16="http://schemas.microsoft.com/office/drawing/2014/main" id="{E7D2A28F-ACDD-42E1-AAC4-BE234F3FC90A}"/>
              </a:ext>
            </a:extLst>
          </p:cNvPr>
          <p:cNvSpPr>
            <a:spLocks xmlns:a="http://schemas.openxmlformats.org/drawingml/2006/main" noGrp="1"/>
          </p:cNvSpPr>
          <p:nvPr/>
        </p:nvSpPr>
        <p:spPr>
          <a:xfrm xmlns:a="http://schemas.openxmlformats.org/drawingml/2006/main">
            <a:off x="7562850" y="5410200"/>
            <a:ext cx="453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Functional cells, media, transfection, expansion</a:t>
            </a:r>
          </a:p>
        </p:txBody>
      </p:sp>
      <p:sp>
        <p:nvSpPr>
          <p:cNvPr id="56" name="Cell potency; selected polyreactivity assays">
            <a:extLst xmlns:a="http://schemas.openxmlformats.org/drawingml/2006/main">
              <a:ext uri="{FF2B5EF4-FFF2-40B4-BE49-F238E27FC236}">
                <a16:creationId xmlns:a16="http://schemas.microsoft.com/office/drawing/2014/main" id="{1FBD12A5-84C3-4CBA-A2B2-7360038B3F3D}"/>
              </a:ext>
            </a:extLst>
          </p:cNvPr>
          <p:cNvSpPr>
            <a:spLocks xmlns:a="http://schemas.openxmlformats.org/drawingml/2006/main" noGrp="1"/>
          </p:cNvSpPr>
          <p:nvPr/>
        </p:nvSpPr>
        <p:spPr>
          <a:xfrm xmlns:a="http://schemas.openxmlformats.org/drawingml/2006/main">
            <a:off x="7562850" y="5743575"/>
            <a:ext cx="453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Cell potency; selected polyreactivity assays</a:t>
            </a:r>
          </a:p>
        </p:txBody>
      </p:sp>
      <p:sp>
        <p:nvSpPr>
          <p:cNvPr id="57" name="Record cell model, target level and conditions">
            <a:extLst xmlns:a="http://schemas.openxmlformats.org/drawingml/2006/main">
              <a:ext uri="{FF2B5EF4-FFF2-40B4-BE49-F238E27FC236}">
                <a16:creationId xmlns:a16="http://schemas.microsoft.com/office/drawing/2014/main" id="{D03D16E2-7D02-427D-9FD1-2EE924351169}"/>
              </a:ext>
            </a:extLst>
          </p:cNvPr>
          <p:cNvSpPr>
            <a:spLocks xmlns:a="http://schemas.openxmlformats.org/drawingml/2006/main" noGrp="1"/>
          </p:cNvSpPr>
          <p:nvPr/>
        </p:nvSpPr>
        <p:spPr>
          <a:xfrm xmlns:a="http://schemas.openxmlformats.org/drawingml/2006/main">
            <a:off x="7562850" y="6038850"/>
            <a:ext cx="453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Record cell model, target level and conditions</a:t>
            </a:r>
          </a:p>
        </p:txBody>
      </p:sp>
      <p:sp>
        <p:nvSpPr>
          <p:cNvPr id="58" name="">
            <a:extLst xmlns:a="http://schemas.openxmlformats.org/drawingml/2006/main">
              <a:ext uri="{FF2B5EF4-FFF2-40B4-BE49-F238E27FC236}">
                <a16:creationId xmlns:a16="http://schemas.microsoft.com/office/drawing/2014/main" id="{32658A50-C123-4432-A106-FCC6563F41CF}"/>
              </a:ext>
            </a:extLst>
          </p:cNvPr>
          <p:cNvSpPr>
            <a:spLocks xmlns:a="http://schemas.openxmlformats.org/drawingml/2006/main" noGrp="1"/>
          </p:cNvSpPr>
          <p:nvPr/>
        </p:nvSpPr>
        <p:spPr>
          <a:xfrm xmlns:a="http://schemas.openxmlformats.org/drawingml/2006/main">
            <a:off x="12449175" y="4867275"/>
            <a:ext cx="4905375"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59" name="">
            <a:extLst xmlns:a="http://schemas.openxmlformats.org/drawingml/2006/main">
              <a:ext uri="{FF2B5EF4-FFF2-40B4-BE49-F238E27FC236}">
                <a16:creationId xmlns:a16="http://schemas.microsoft.com/office/drawing/2014/main" id="{29BABB57-61EA-4B29-B638-2C60CA7AFBFC}"/>
              </a:ext>
            </a:extLst>
          </p:cNvPr>
          <p:cNvPicPr>
            <a:picLocks xmlns:a="http://schemas.openxmlformats.org/drawingml/2006/main" noChangeAspect="1"/>
          </p:cNvPicPr>
          <p:nvPr/>
        </p:nvPicPr>
        <p:blipFill>
          <a:blip xmlns:r="http://schemas.openxmlformats.org/officeDocument/2006/relationships" xmlns:a="http://schemas.openxmlformats.org/drawingml/2006/main" r:embed="Rcfcd7f6d4afb4989">
            <a:extLst>
              <a:ext uri="{96DAC541-7B7A-43D3-8B79-37D633B846F1}">
                <asvg:svgBlip xmlns:asvg="http://schemas.microsoft.com/office/drawing/2016/SVG/main" r:embed="R7b636fc3235a4f95"/>
              </a:ext>
            </a:extLst>
          </a:blip>
          <a:stretch xmlns:a="http://schemas.openxmlformats.org/drawingml/2006/main"/>
        </p:blipFill>
        <p:spPr>
          <a:xfrm xmlns:a="http://schemas.openxmlformats.org/drawingml/2006/main">
            <a:off x="12601575" y="5019675"/>
            <a:ext cx="285750" cy="285750"/>
          </a:xfrm>
          <a:prstGeom xmlns:a="http://schemas.openxmlformats.org/drawingml/2006/main" prst="rect">
            <a:avLst/>
          </a:prstGeom>
        </p:spPr>
      </p:pic>
      <p:sp>
        <p:nvSpPr>
          <p:cNvPr id="60" name="Measurement &amp; analysis">
            <a:extLst xmlns:a="http://schemas.openxmlformats.org/drawingml/2006/main">
              <a:ext uri="{FF2B5EF4-FFF2-40B4-BE49-F238E27FC236}">
                <a16:creationId xmlns:a16="http://schemas.microsoft.com/office/drawing/2014/main" id="{F77CE9EB-72D0-40CF-8724-08ECB9D8BEA2}"/>
              </a:ext>
            </a:extLst>
          </p:cNvPr>
          <p:cNvSpPr>
            <a:spLocks xmlns:a="http://schemas.openxmlformats.org/drawingml/2006/main" noGrp="1"/>
          </p:cNvSpPr>
          <p:nvPr/>
        </p:nvSpPr>
        <p:spPr>
          <a:xfrm xmlns:a="http://schemas.openxmlformats.org/drawingml/2006/main">
            <a:off x="13020675" y="5010150"/>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Measurement &amp; analysis</a:t>
            </a:r>
          </a:p>
        </p:txBody>
      </p:sp>
      <p:sp>
        <p:nvSpPr>
          <p:cNvPr id="61" name="SEC / HIC, nanoDSF, LC-MS, flow cytometry">
            <a:extLst xmlns:a="http://schemas.openxmlformats.org/drawingml/2006/main">
              <a:ext uri="{FF2B5EF4-FFF2-40B4-BE49-F238E27FC236}">
                <a16:creationId xmlns:a16="http://schemas.microsoft.com/office/drawing/2014/main" id="{371D8279-90D4-4DE6-B6DA-868F1A3B87E8}"/>
              </a:ext>
            </a:extLst>
          </p:cNvPr>
          <p:cNvSpPr>
            <a:spLocks xmlns:a="http://schemas.openxmlformats.org/drawingml/2006/main" noGrp="1"/>
          </p:cNvSpPr>
          <p:nvPr/>
        </p:nvSpPr>
        <p:spPr>
          <a:xfrm xmlns:a="http://schemas.openxmlformats.org/drawingml/2006/main">
            <a:off x="12601575" y="5410200"/>
            <a:ext cx="460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SEC / HIC, nanoDSF, LC-MS, flow cytometry</a:t>
            </a:r>
          </a:p>
        </p:txBody>
      </p:sp>
      <p:sp>
        <p:nvSpPr>
          <p:cNvPr id="62" name="Stability, aggregation, characterization / QC">
            <a:extLst xmlns:a="http://schemas.openxmlformats.org/drawingml/2006/main">
              <a:ext uri="{FF2B5EF4-FFF2-40B4-BE49-F238E27FC236}">
                <a16:creationId xmlns:a16="http://schemas.microsoft.com/office/drawing/2014/main" id="{943C81BE-E7D4-4D61-82DF-EB010B78336C}"/>
              </a:ext>
            </a:extLst>
          </p:cNvPr>
          <p:cNvSpPr>
            <a:spLocks xmlns:a="http://schemas.openxmlformats.org/drawingml/2006/main" noGrp="1"/>
          </p:cNvSpPr>
          <p:nvPr/>
        </p:nvSpPr>
        <p:spPr>
          <a:xfrm xmlns:a="http://schemas.openxmlformats.org/drawingml/2006/main">
            <a:off x="12601575" y="5743575"/>
            <a:ext cx="4600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Stability, aggregation, characterization / QC</a:t>
            </a:r>
          </a:p>
        </p:txBody>
      </p:sp>
      <p:sp>
        <p:nvSpPr>
          <p:cNvPr id="63" name="Columns are reused; model instrument CAPEX separately">
            <a:extLst xmlns:a="http://schemas.openxmlformats.org/drawingml/2006/main">
              <a:ext uri="{FF2B5EF4-FFF2-40B4-BE49-F238E27FC236}">
                <a16:creationId xmlns:a16="http://schemas.microsoft.com/office/drawing/2014/main" id="{3615B612-8F3B-43C8-9C46-D6C74B46AC6F}"/>
              </a:ext>
            </a:extLst>
          </p:cNvPr>
          <p:cNvSpPr>
            <a:spLocks xmlns:a="http://schemas.openxmlformats.org/drawingml/2006/main" noGrp="1"/>
          </p:cNvSpPr>
          <p:nvPr/>
        </p:nvSpPr>
        <p:spPr>
          <a:xfrm xmlns:a="http://schemas.openxmlformats.org/drawingml/2006/main">
            <a:off x="12601575" y="6038850"/>
            <a:ext cx="4600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Columns are reused; model instrument CAPEX separately</a:t>
            </a:r>
          </a:p>
        </p:txBody>
      </p:sp>
      <p:sp>
        <p:nvSpPr>
          <p:cNvPr id="64" name="">
            <a:extLst xmlns:a="http://schemas.openxmlformats.org/drawingml/2006/main">
              <a:ext uri="{FF2B5EF4-FFF2-40B4-BE49-F238E27FC236}">
                <a16:creationId xmlns:a16="http://schemas.microsoft.com/office/drawing/2014/main" id="{D98E8F5C-DCFC-40BC-82BA-128F3FB9BED9}"/>
              </a:ext>
            </a:extLst>
          </p:cNvPr>
          <p:cNvSpPr>
            <a:spLocks xmlns:a="http://schemas.openxmlformats.org/drawingml/2006/main" noGrp="1"/>
          </p:cNvSpPr>
          <p:nvPr/>
        </p:nvSpPr>
        <p:spPr>
          <a:xfrm xmlns:a="http://schemas.openxmlformats.org/drawingml/2006/main">
            <a:off x="7410450" y="6553200"/>
            <a:ext cx="9944100" cy="1104900"/>
          </a:xfrm>
          <a:prstGeom xmlns:a="http://schemas.openxmlformats.org/drawingml/2006/main" prst="roundRect">
            <a:avLst>
              <a:gd name="adj" fmla="val 7759"/>
            </a:avLst>
          </a:prstGeom>
          <a:solidFill xmlns:a="http://schemas.openxmlformats.org/drawingml/2006/main">
            <a:srgbClr val="FFFFFF"/>
          </a:solidFill>
          <a:ln xmlns:a="http://schemas.openxmlformats.org/drawingml/2006/main" w="9525">
            <a:solidFill>
              <a:srgbClr val="A5A5A5"/>
            </a:solidFill>
          </a:ln>
        </p:spPr>
      </p:sp>
      <p:pic>
        <p:nvPicPr>
          <p:cNvPr id="65" name="">
            <a:extLst xmlns:a="http://schemas.openxmlformats.org/drawingml/2006/main">
              <a:ext uri="{FF2B5EF4-FFF2-40B4-BE49-F238E27FC236}">
                <a16:creationId xmlns:a16="http://schemas.microsoft.com/office/drawing/2014/main" id="{92D90262-AA85-47F5-A939-2ADBD0CC201F}"/>
              </a:ext>
            </a:extLst>
          </p:cNvPr>
          <p:cNvPicPr>
            <a:picLocks xmlns:a="http://schemas.openxmlformats.org/drawingml/2006/main" noChangeAspect="1"/>
          </p:cNvPicPr>
          <p:nvPr/>
        </p:nvPicPr>
        <p:blipFill>
          <a:blip xmlns:r="http://schemas.openxmlformats.org/officeDocument/2006/relationships" xmlns:a="http://schemas.openxmlformats.org/drawingml/2006/main" r:embed="R6c9bcee9eb854ae2">
            <a:extLst>
              <a:ext uri="{96DAC541-7B7A-43D3-8B79-37D633B846F1}">
                <asvg:svgBlip xmlns:asvg="http://schemas.microsoft.com/office/drawing/2016/SVG/main" r:embed="R3bf886a9a17d4778"/>
              </a:ext>
            </a:extLst>
          </a:blip>
          <a:stretch xmlns:a="http://schemas.openxmlformats.org/drawingml/2006/main"/>
        </p:blipFill>
        <p:spPr>
          <a:xfrm xmlns:a="http://schemas.openxmlformats.org/drawingml/2006/main">
            <a:off x="7562850" y="6705600"/>
            <a:ext cx="285750" cy="285750"/>
          </a:xfrm>
          <a:prstGeom xmlns:a="http://schemas.openxmlformats.org/drawingml/2006/main" prst="rect">
            <a:avLst/>
          </a:prstGeom>
        </p:spPr>
      </p:pic>
      <p:sp>
        <p:nvSpPr>
          <p:cNvPr id="66" name="Sample handling, labware &amp; automation">
            <a:extLst xmlns:a="http://schemas.openxmlformats.org/drawingml/2006/main">
              <a:ext uri="{FF2B5EF4-FFF2-40B4-BE49-F238E27FC236}">
                <a16:creationId xmlns:a16="http://schemas.microsoft.com/office/drawing/2014/main" id="{37E1DFE9-2501-43C6-BB41-BC37F8093F9D}"/>
              </a:ext>
            </a:extLst>
          </p:cNvPr>
          <p:cNvSpPr>
            <a:spLocks xmlns:a="http://schemas.openxmlformats.org/drawingml/2006/main" noGrp="1"/>
          </p:cNvSpPr>
          <p:nvPr/>
        </p:nvSpPr>
        <p:spPr>
          <a:xfrm xmlns:a="http://schemas.openxmlformats.org/drawingml/2006/main">
            <a:off x="7981950" y="6696075"/>
            <a:ext cx="9210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Sample handling, labware &amp; automation</a:t>
            </a:r>
          </a:p>
        </p:txBody>
      </p:sp>
      <p:sp>
        <p:nvSpPr>
          <p:cNvPr id="67" name="Plates, tips, tubes, filtration / beads, liquid handling">
            <a:extLst xmlns:a="http://schemas.openxmlformats.org/drawingml/2006/main">
              <a:ext uri="{FF2B5EF4-FFF2-40B4-BE49-F238E27FC236}">
                <a16:creationId xmlns:a16="http://schemas.microsoft.com/office/drawing/2014/main" id="{B6C3B861-5C35-4B49-8C2F-2E36BCD85F3F}"/>
              </a:ext>
            </a:extLst>
          </p:cNvPr>
          <p:cNvSpPr>
            <a:spLocks xmlns:a="http://schemas.openxmlformats.org/drawingml/2006/main" noGrp="1"/>
          </p:cNvSpPr>
          <p:nvPr/>
        </p:nvSpPr>
        <p:spPr>
          <a:xfrm xmlns:a="http://schemas.openxmlformats.org/drawingml/2006/main">
            <a:off x="7562850" y="7096125"/>
            <a:ext cx="963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Plates, tips, tubes, filtration / beads, liquid handling</a:t>
            </a:r>
          </a:p>
        </p:txBody>
      </p:sp>
      <p:sp>
        <p:nvSpPr>
          <p:cNvPr id="68" name="Across all workflows; miniaturization, reuse and scheduling alter net consumption">
            <a:extLst xmlns:a="http://schemas.openxmlformats.org/drawingml/2006/main">
              <a:ext uri="{FF2B5EF4-FFF2-40B4-BE49-F238E27FC236}">
                <a16:creationId xmlns:a16="http://schemas.microsoft.com/office/drawing/2014/main" id="{B301483B-5DDD-4C60-811B-2A339851C31C}"/>
              </a:ext>
            </a:extLst>
          </p:cNvPr>
          <p:cNvSpPr>
            <a:spLocks xmlns:a="http://schemas.openxmlformats.org/drawingml/2006/main" noGrp="1"/>
          </p:cNvSpPr>
          <p:nvPr/>
        </p:nvSpPr>
        <p:spPr>
          <a:xfrm xmlns:a="http://schemas.openxmlformats.org/drawingml/2006/main">
            <a:off x="7562850" y="7429500"/>
            <a:ext cx="9639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Across all workflows; miniaturization, reuse and scheduling alter net consumption</a:t>
            </a:r>
          </a:p>
        </p:txBody>
      </p:sp>
      <p:sp>
        <p:nvSpPr>
          <p:cNvPr id="69" name="">
            <a:extLst xmlns:a="http://schemas.openxmlformats.org/drawingml/2006/main">
              <a:ext uri="{FF2B5EF4-FFF2-40B4-BE49-F238E27FC236}">
                <a16:creationId xmlns:a16="http://schemas.microsoft.com/office/drawing/2014/main" id="{B81C799F-B99A-42CF-A1CA-E9E6CE04F3D4}"/>
              </a:ext>
            </a:extLst>
          </p:cNvPr>
          <p:cNvSpPr>
            <a:spLocks xmlns:a="http://schemas.openxmlformats.org/drawingml/2006/main" noGrp="1"/>
          </p:cNvSpPr>
          <p:nvPr/>
        </p:nvSpPr>
        <p:spPr>
          <a:xfrm xmlns:a="http://schemas.openxmlformats.org/drawingml/2006/main">
            <a:off x="685800" y="8143875"/>
            <a:ext cx="8229600" cy="666750"/>
          </a:xfrm>
          <a:prstGeom xmlns:a="http://schemas.openxmlformats.org/drawingml/2006/main" prst="roundRect">
            <a:avLst>
              <a:gd name="adj" fmla="val 11429"/>
            </a:avLst>
          </a:prstGeom>
          <a:solidFill xmlns:a="http://schemas.openxmlformats.org/drawingml/2006/main">
            <a:srgbClr val="EEF6FC"/>
          </a:solidFill>
          <a:ln xmlns:a="http://schemas.openxmlformats.org/drawingml/2006/main" w="9525">
            <a:solidFill>
              <a:srgbClr val="A5A5A5"/>
            </a:solidFill>
          </a:ln>
        </p:spPr>
      </p:sp>
      <p:sp>
        <p:nvSpPr>
          <p:cNvPr id="70" name="">
            <a:extLst xmlns:a="http://schemas.openxmlformats.org/drawingml/2006/main">
              <a:ext uri="{FF2B5EF4-FFF2-40B4-BE49-F238E27FC236}">
                <a16:creationId xmlns:a16="http://schemas.microsoft.com/office/drawing/2014/main" id="{269552AD-F0E4-4245-94FE-22E5333B4B6A}"/>
              </a:ext>
            </a:extLst>
          </p:cNvPr>
          <p:cNvSpPr>
            <a:spLocks xmlns:a="http://schemas.openxmlformats.org/drawingml/2006/main" noGrp="1"/>
          </p:cNvSpPr>
          <p:nvPr/>
        </p:nvSpPr>
        <p:spPr>
          <a:xfrm xmlns:a="http://schemas.openxmlformats.org/drawingml/2006/main">
            <a:off x="9115425" y="8143875"/>
            <a:ext cx="84867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A5A5A5"/>
            </a:solidFill>
          </a:ln>
        </p:spPr>
      </p:sp>
      <p:sp>
        <p:nvSpPr>
          <p:cNvPr id="71" name="ACROBiosystems: target proteins, functional cells &amp; characterization">
            <a:extLst xmlns:a="http://schemas.openxmlformats.org/drawingml/2006/main">
              <a:ext uri="{FF2B5EF4-FFF2-40B4-BE49-F238E27FC236}">
                <a16:creationId xmlns:a16="http://schemas.microsoft.com/office/drawing/2014/main" id="{FF78356D-A199-4C58-883C-F7F15181B8D4}"/>
              </a:ext>
            </a:extLst>
          </p:cNvPr>
          <p:cNvSpPr>
            <a:spLocks xmlns:a="http://schemas.openxmlformats.org/drawingml/2006/main" noGrp="1"/>
          </p:cNvSpPr>
          <p:nvPr/>
        </p:nvSpPr>
        <p:spPr>
          <a:xfrm xmlns:a="http://schemas.openxmlformats.org/drawingml/2006/main">
            <a:off x="866775" y="8220075"/>
            <a:ext cx="7867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ACROBiosystems: target proteins, functional cells &amp; characterization</a:t>
            </a:r>
          </a:p>
        </p:txBody>
      </p:sp>
      <p:sp>
        <p:nvSpPr>
          <p:cNvPr id="72" name="AIDD-Ready offering exists; paid orders and repeat purchases still need verification">
            <a:extLst xmlns:a="http://schemas.openxmlformats.org/drawingml/2006/main">
              <a:ext uri="{FF2B5EF4-FFF2-40B4-BE49-F238E27FC236}">
                <a16:creationId xmlns:a16="http://schemas.microsoft.com/office/drawing/2014/main" id="{6D8078CF-DF5C-49F2-BB9F-8C0282D339D1}"/>
              </a:ext>
            </a:extLst>
          </p:cNvPr>
          <p:cNvSpPr>
            <a:spLocks xmlns:a="http://schemas.openxmlformats.org/drawingml/2006/main" noGrp="1"/>
          </p:cNvSpPr>
          <p:nvPr/>
        </p:nvSpPr>
        <p:spPr>
          <a:xfrm xmlns:a="http://schemas.openxmlformats.org/drawingml/2006/main">
            <a:off x="866775" y="8524875"/>
            <a:ext cx="786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AIDD-Ready offering exists; paid orders and repeat purchases still need verification</a:t>
            </a:r>
          </a:p>
        </p:txBody>
      </p:sp>
      <p:sp>
        <p:nvSpPr>
          <p:cNvPr id="73" name="NanoMicro: analytical separation &amp; lab purification materials">
            <a:extLst xmlns:a="http://schemas.openxmlformats.org/drawingml/2006/main">
              <a:ext uri="{FF2B5EF4-FFF2-40B4-BE49-F238E27FC236}">
                <a16:creationId xmlns:a16="http://schemas.microsoft.com/office/drawing/2014/main" id="{D5F801AC-26B6-4284-A182-EA45B2C1C422}"/>
              </a:ext>
            </a:extLst>
          </p:cNvPr>
          <p:cNvSpPr>
            <a:spLocks xmlns:a="http://schemas.openxmlformats.org/drawingml/2006/main" noGrp="1"/>
          </p:cNvSpPr>
          <p:nvPr/>
        </p:nvSpPr>
        <p:spPr>
          <a:xfrm xmlns:a="http://schemas.openxmlformats.org/drawingml/2006/main">
            <a:off x="9296400" y="8220075"/>
            <a:ext cx="812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NanoMicro: analytical separation &amp; lab purification materials</a:t>
            </a:r>
          </a:p>
        </p:txBody>
      </p:sp>
      <p:sp>
        <p:nvSpPr>
          <p:cNvPr id="74" name="Track sample runs, column life and ASP; manufacturing resin demand has a longer lag">
            <a:extLst xmlns:a="http://schemas.openxmlformats.org/drawingml/2006/main">
              <a:ext uri="{FF2B5EF4-FFF2-40B4-BE49-F238E27FC236}">
                <a16:creationId xmlns:a16="http://schemas.microsoft.com/office/drawing/2014/main" id="{C257EFC7-E9E7-49F5-8ED0-B533A03E3C2E}"/>
              </a:ext>
            </a:extLst>
          </p:cNvPr>
          <p:cNvSpPr>
            <a:spLocks xmlns:a="http://schemas.openxmlformats.org/drawingml/2006/main" noGrp="1"/>
          </p:cNvSpPr>
          <p:nvPr/>
        </p:nvSpPr>
        <p:spPr>
          <a:xfrm xmlns:a="http://schemas.openxmlformats.org/drawingml/2006/main">
            <a:off x="9296400" y="8524875"/>
            <a:ext cx="8124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Track sample runs, column life and ASP; manufacturing resin demand has a longer lag</a:t>
            </a:r>
          </a:p>
        </p:txBody>
      </p:sp>
      <p:sp>
        <p:nvSpPr>
          <p:cNvPr id="75" name="">
            <a:extLst xmlns:a="http://schemas.openxmlformats.org/drawingml/2006/main">
              <a:ext uri="{FF2B5EF4-FFF2-40B4-BE49-F238E27FC236}">
                <a16:creationId xmlns:a16="http://schemas.microsoft.com/office/drawing/2014/main" id="{C34EF463-3C49-460D-9396-03C5F46183F6}"/>
              </a:ext>
            </a:extLst>
          </p:cNvPr>
          <p:cNvSpPr>
            <a:spLocks xmlns:a="http://schemas.openxmlformats.org/drawingml/2006/main" noGrp="1"/>
          </p:cNvSpPr>
          <p:nvPr/>
        </p:nvSpPr>
        <p:spPr>
          <a:xfrm xmlns:a="http://schemas.openxmlformats.org/drawingml/2006/main">
            <a:off x="685800" y="9067800"/>
            <a:ext cx="16916400" cy="638175"/>
          </a:xfrm>
          <a:prstGeom xmlns:a="http://schemas.openxmlformats.org/drawingml/2006/main" prst="roundRect">
            <a:avLst>
              <a:gd name="adj" fmla="val 13433"/>
            </a:avLst>
          </a:prstGeom>
          <a:solidFill xmlns:a="http://schemas.openxmlformats.org/drawingml/2006/main">
            <a:srgbClr val="00355F"/>
          </a:solidFill>
          <a:ln xmlns:a="http://schemas.openxmlformats.org/drawingml/2006/main" w="9525">
            <a:noFill/>
          </a:ln>
        </p:spPr>
      </p:sp>
      <p:sp>
        <p:nvSpPr>
          <p:cNvPr id="76" name="LST purchases ≈ Σ [workflow executions × net purchased inputs per run × ASP]">
            <a:extLst xmlns:a="http://schemas.openxmlformats.org/drawingml/2006/main">
              <a:ext uri="{FF2B5EF4-FFF2-40B4-BE49-F238E27FC236}">
                <a16:creationId xmlns:a16="http://schemas.microsoft.com/office/drawing/2014/main" id="{063E87F5-F266-4C9B-9CCE-D8BF3D7D77FA}"/>
              </a:ext>
            </a:extLst>
          </p:cNvPr>
          <p:cNvSpPr>
            <a:spLocks xmlns:a="http://schemas.openxmlformats.org/drawingml/2006/main" noGrp="1"/>
          </p:cNvSpPr>
          <p:nvPr/>
        </p:nvSpPr>
        <p:spPr>
          <a:xfrm xmlns:a="http://schemas.openxmlformats.org/drawingml/2006/main">
            <a:off x="895350" y="9229725"/>
            <a:ext cx="16497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lnSpc>
                <a:spcPct val="100000"/>
              </a:lnSpc>
              <a:buNone/>
              <a:defRPr sz="2175" b="1">
                <a:solidFill>
                  <a:srgbClr val="FFFFFF"/>
                </a:solidFill>
                <a:latin typeface="Arial"/>
                <a:ea typeface="Arial"/>
                <a:cs typeface="Arial"/>
              </a:defRPr>
            </a:pPr>
            <a:r>
              <a:rPr sz="2175" b="1">
                <a:solidFill>
                  <a:srgbClr val="FFFFFF"/>
                </a:solidFill>
                <a:latin typeface="Arial"/>
                <a:ea typeface="Arial"/>
                <a:cs typeface="Arial"/>
              </a:rPr>
              <a:t>LST purchases ≈ Σ [workflow executions × net purchased inputs per run × ASP]</a:t>
            </a:r>
          </a:p>
        </p:txBody>
      </p:sp>
      <p:sp>
        <p:nvSpPr>
          <p:cNvPr id="77" name="Instrument CAPEX is separate. Product alignment does not establish AI orders or revenue. Sources: Ginkgo, Sartorius and company websites.">
            <a:extLst xmlns:a="http://schemas.openxmlformats.org/drawingml/2006/main">
              <a:ext uri="{FF2B5EF4-FFF2-40B4-BE49-F238E27FC236}">
                <a16:creationId xmlns:a16="http://schemas.microsoft.com/office/drawing/2014/main" id="{C101B481-95AA-4122-BD35-066B06502648}"/>
              </a:ext>
            </a:extLst>
          </p:cNvPr>
          <p:cNvSpPr>
            <a:spLocks xmlns:a="http://schemas.openxmlformats.org/drawingml/2006/main" noGrp="1"/>
          </p:cNvSpPr>
          <p:nvPr/>
        </p:nvSpPr>
        <p:spPr>
          <a:xfrm xmlns:a="http://schemas.openxmlformats.org/drawingml/2006/main">
            <a:off x="685800" y="9810750"/>
            <a:ext cx="16916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00355F"/>
                </a:solidFill>
                <a:latin typeface="Arial"/>
                <a:ea typeface="Arial"/>
                <a:cs typeface="Arial"/>
              </a:defRPr>
            </a:defPPr>
          </a:lstStyle>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Instrument CAPEX is separate. Product alignment does not establish AI orders or revenue. Sources: Ginkgo, Sartorius and company websites.</a:t>
            </a:r>
          </a:p>
        </p:txBody>
      </p:sp>
    </p:spTree>
    <p:extLst>
      <p:ext uri="{BB962C8B-B14F-4D97-AF65-F5344CB8AC3E}">
        <p14:creationId xmlns:p14="http://schemas.microsoft.com/office/powerpoint/2010/main" val="1114599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2026-10-13T06:02:34.5980000Z</dcterms:created>
  <dcterms:modified xsi:type="dcterms:W3CDTF">2026-10-13T06:02:34.5980000Z</dcterms:modified>
</coreProperties>
</file>