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6f210bf5f5488d" /><Relationship Type="http://schemas.openxmlformats.org/officeDocument/2006/relationships/extended-properties" Target="/docProps/app.xml" Id="R299de770d8a841dc" /><Relationship Type="http://schemas.openxmlformats.org/officeDocument/2006/relationships/officeDocument" Target="/ppt/presentation.xml" Id="R32f29687026d4c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afa85c4357413b"/>
  </p:sldMasterIdLst>
  <p:notesMasterIdLst>
    <p:notesMasterId xmlns:r="http://schemas.openxmlformats.org/officeDocument/2006/relationships" r:id="Rddebb8f3659b43fb"/>
  </p:notesMasterIdLst>
  <p:sldIdLst>
    <p:sldId xmlns:r="http://schemas.openxmlformats.org/officeDocument/2006/relationships" id="256" r:id="Rf77f8b9d1f43465a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9c160c601c4f4d" /><Relationship Type="http://schemas.openxmlformats.org/officeDocument/2006/relationships/slideMaster" Target="/ppt/slideMasters/slideMaster1.xml" Id="Ra2afa85c4357413b" /><Relationship Type="http://schemas.openxmlformats.org/officeDocument/2006/relationships/notesMaster" Target="/ppt/notesMasters/notesMaster1.xml" Id="Rddebb8f3659b43fb" /><Relationship Type="http://schemas.openxmlformats.org/officeDocument/2006/relationships/presProps" Target="/ppt/presProps.xml" Id="R79ca361a4f7c4f7c" /><Relationship Type="http://schemas.openxmlformats.org/officeDocument/2006/relationships/tableStyles" Target="/ppt/tableStyles.xml" Id="R0545d01221fa4e69" /><Relationship Type="http://schemas.openxmlformats.org/officeDocument/2006/relationships/slide" Target="/ppt/slides/slide1.xml" Id="Rf77f8b9d1f4346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7aab76ffc741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095f268e3c443c" /><Relationship Type="http://schemas.openxmlformats.org/officeDocument/2006/relationships/notesMaster" Target="/ppt/notesMasters/notesMaster1.xml" Id="R71e0366238b847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stage comparison screenshot, supplied 12 October 2026. All stage counts are illustrative assumptions, not researched empirical cohort statistics. Denominator: per one clinical entrant. The separate reference funnel uses per approved drug and is used only for its visual form; its numbers are not mixed into this comparison. Virtual design is not literally free. DNA-encoded libraries are not equivalent to fully characterized discrete compounds; construction counts are conceptual. Approved ~0.14 is an expected count, not a measured probability established by this deck. Clinical benefit and approval rates in the AI era are unknown. Icon: Lucide flask-conical, ISC license, https://github.com/lucide-icons/lucide.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eed3062ac41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5137dca8b43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c17bfaa2e745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774fb1c6634a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20132d1ed40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dff85fd0f4d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AB42AD-DED0-49D1-9DDF-BAB2A21272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C0D2CF-CCEB-4459-84A0-0E089CD71F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33C56B-E2E9-40A1-82E4-211550905F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B52BA4-4E84-4DB8-A23A-BBB37DD36E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F01BFC8-AF08-4C9A-92E1-908B99C774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5C02AE-D62F-4C51-BBD3-9D7E12E4A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C3780E-978F-4013-BD48-649C6ADD02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722314F-E0AC-4295-9AC3-F1663D3987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F80378-D4C5-4DBD-9CAD-81C3AFCBC0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54C07A-684A-475F-B210-E0E8956867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e6faf191604c00" /><Relationship Type="http://schemas.openxmlformats.org/officeDocument/2006/relationships/slideLayout" Target="/ppt/slideLayouts/slideLayout1.xml" Id="R1b8501b3e11347ed" /><Relationship Type="http://schemas.openxmlformats.org/officeDocument/2006/relationships/slideLayout" Target="/ppt/slideLayouts/slideLayout2.xml" Id="Re806e90675d3436f" /><Relationship Type="http://schemas.openxmlformats.org/officeDocument/2006/relationships/slideLayout" Target="/ppt/slideLayouts/slideLayout3.xml" Id="R986cc02d5e3a4d81" /><Relationship Type="http://schemas.openxmlformats.org/officeDocument/2006/relationships/slideLayout" Target="/ppt/slideLayouts/slideLayout4.xml" Id="R050c1ee797b445d3" /><Relationship Type="http://schemas.openxmlformats.org/officeDocument/2006/relationships/slideLayout" Target="/ppt/slideLayouts/slideLayout5.xml" Id="R696687383f304a47" /><Relationship Type="http://schemas.openxmlformats.org/officeDocument/2006/relationships/slideLayout" Target="/ppt/slideLayouts/slideLayout6.xml" Id="R53d7da333b7644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8501b3e11347ed"/>
    <p:sldLayoutId xmlns:r="http://schemas.openxmlformats.org/officeDocument/2006/relationships" id="2147483650" r:id="Re806e90675d3436f"/>
    <p:sldLayoutId xmlns:r="http://schemas.openxmlformats.org/officeDocument/2006/relationships" id="2147483651" r:id="R986cc02d5e3a4d81"/>
    <p:sldLayoutId xmlns:r="http://schemas.openxmlformats.org/officeDocument/2006/relationships" id="2147483652" r:id="R050c1ee797b445d3"/>
    <p:sldLayoutId xmlns:r="http://schemas.openxmlformats.org/officeDocument/2006/relationships" id="2147483653" r:id="R696687383f304a47"/>
    <p:sldLayoutId xmlns:r="http://schemas.openxmlformats.org/officeDocument/2006/relationships" id="2147483654" r:id="R53d7da333b7644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add1b188c84a1c" /><Relationship Type="http://schemas.openxmlformats.org/officeDocument/2006/relationships/image" Target="/ppt/media/image.png" Id="R2d060b1feb2244ed" /><Relationship Type="http://schemas.openxmlformats.org/officeDocument/2006/relationships/image" Target="/ppt/media/image.svg" Id="R46b5a66a169c4669" /><Relationship Type="http://schemas.openxmlformats.org/officeDocument/2006/relationships/notesSlide" Target="/ppt/notesSlides/notesSlide1.xml" Id="R15c5bb236dcf4a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A1547-DCD2-4E68-9B87-B07FDCF1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55F"/>
          </a:solidFill>
          <a:ln xmlns:a="http://schemas.openxmlformats.org/drawingml/2006/main" w="9525">
            <a:noFill/>
          </a:ln>
        </p:spPr>
      </p:sp>
      <p:sp>
        <p:nvSpPr>
          <p:cNvPr id="2" name="Design capacity expands. Validation must keep up.">
            <a:extLst xmlns:a="http://schemas.openxmlformats.org/drawingml/2006/main">
              <a:ext uri="{FF2B5EF4-FFF2-40B4-BE49-F238E27FC236}">
                <a16:creationId xmlns:a16="http://schemas.microsoft.com/office/drawing/2014/main" id="{E0042B28-B1FD-43BD-B590-23F8FD29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"/>
            <a:ext cx="1652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45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355F"/>
                </a:solidFill>
                <a:latin typeface="Arial"/>
                <a:ea typeface="Arial"/>
                <a:cs typeface="Arial"/>
              </a:rPr>
              <a:t>Design capacity expands. Validation must keep up.</a:t>
            </a:r>
          </a:p>
        </p:txBody>
      </p:sp>
      <p:sp>
        <p:nvSpPr>
          <p:cNvPr id="3" name="Illustrative stage comparison, normalized per one clinical entrant. Supplied assumptions, not cohort statistics.">
            <a:extLst xmlns:a="http://schemas.openxmlformats.org/drawingml/2006/main">
              <a:ext uri="{FF2B5EF4-FFF2-40B4-BE49-F238E27FC236}">
                <a16:creationId xmlns:a16="http://schemas.microsoft.com/office/drawing/2014/main" id="{B55E4D7B-97BA-4B86-8337-5EF3AD4E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143000"/>
            <a:ext cx="1619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725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Illustrative stage comparison, normalized per one clinical entrant. Supplied assumptions, not cohort statistics.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494FC-03B2-4605-900B-C7ACEA30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6916400" cy="95"/>
          </a:xfrm>
          <a:custGeom xmlns:a="http://schemas.openxmlformats.org/drawingml/2006/main">
            <a:pathLst>
              <a:path w="16916400" h="95">
                <a:moveTo>
                  <a:pt x="0" y="0"/>
                </a:moveTo>
                <a:lnTo>
                  <a:pt x="16916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5A5A5"/>
            </a:solidFill>
            <a:prstDash val="solid"/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C2BD3-CECC-405F-A638-D7B0615039A2}"/>
              </a:ext>
            </a:extLst>
          </p:cNvPr>
          <p:cNvGraphicFramePr/>
          <p:nvPr/>
        </p:nvGraphicFramePr>
        <p:xfrm>
          <a:off xmlns:a="http://schemas.openxmlformats.org/drawingml/2006/main" x="685800" y="2190750"/>
          <a:ext xmlns:a="http://schemas.openxmlformats.org/drawingml/2006/main" cx="16916400" cy="5772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905375"/>
                <a:gridCol w="1809750"/>
                <a:gridCol w="2428875"/>
                <a:gridCol w="7772400"/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209550" marR="171450" marT="152400" marB="1333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PRE-AI</a:t>
                      </a:r>
                    </a:p>
                  </a:txBody>
                  <a:tcPr marL="209550" marR="171450" marT="152400" marB="13335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AI ERA</a:t>
                      </a:r>
                    </a:p>
                  </a:txBody>
                  <a:tcPr marL="209550" marR="171450" marT="152400" marB="13335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CHANGES</a:t>
                      </a:r>
                    </a:p>
                  </a:txBody>
                  <a:tcPr marL="209550" marR="171450" marT="152400" marB="13335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00355F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Molecules designed</a:t>
                      </a:r>
                    </a:p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(virtual)</a:t>
                      </a:r>
                    </a:p>
                  </a:txBody>
                  <a:tcPr marL="209550" marR="171450" marT="152400" marB="1333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~10³</a:t>
                      </a:r>
                    </a:p>
                  </a:txBody>
                  <a:tcPr marL="209550" marR="171450" marT="152400" marB="1333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10⁵–10⁹</a:t>
                      </a:r>
                    </a:p>
                  </a:txBody>
                  <a:tcPr marL="209550" marR="171450" marT="152400" marB="1333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Generative models can expand</a:t>
                      </a:r>
                    </a:p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candidate enumeration at low marginal cost.</a:t>
                      </a:r>
                    </a:p>
                  </a:txBody>
                  <a:tcPr marL="209550" marR="171450" marT="152400" marB="1333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Molecules physically made</a:t>
                      </a:r>
                    </a:p>
                  </a:txBody>
                  <a:tcPr marL="209550" marR="171450" marT="152400" marB="1333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~10³</a:t>
                      </a:r>
                    </a:p>
                  </a:txBody>
                  <a:tcPr marL="209550" marR="171450" marT="152400" marB="1333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10³–10⁴</a:t>
                      </a:r>
                    </a:p>
                  </a:txBody>
                  <a:tcPr marL="209550" marR="171450" marT="152400" marB="1333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Automated synthesis and DNA libraries</a:t>
                      </a:r>
                    </a:p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can expand construction capacity.</a:t>
                      </a:r>
                    </a:p>
                  </a:txBody>
                  <a:tcPr marL="209550" marR="171450" marT="152400" marB="1333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EEF6FC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Fully profiled in wet lab</a:t>
                      </a:r>
                    </a:p>
                  </a:txBody>
                  <a:tcPr marL="209550" marR="171450" marT="152400" marB="1333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~50</a:t>
                      </a:r>
                    </a:p>
                  </a:txBody>
                  <a:tcPr marL="209550" marR="171450" marT="152400" marB="1333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50 → 500</a:t>
                      </a:r>
                    </a:p>
                  </a:txBody>
                  <a:tcPr marL="209550" marR="171450" marT="152400" marB="1333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Illustrative capacity expansion</a:t>
                      </a:r>
                    </a:p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that investors would need to fund.</a:t>
                      </a:r>
                    </a:p>
                  </a:txBody>
                  <a:tcPr marL="209550" marR="171450" marT="152400" marB="1333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EEF6FC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Clinical entry</a:t>
                      </a:r>
                    </a:p>
                  </a:txBody>
                  <a:tcPr marL="209550" marR="171450" marT="152400" marB="1333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209550" marR="171450" marT="152400" marB="1333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209550" marR="171450" marT="152400" marB="1333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Patients, ethics, capital and time</a:t>
                      </a:r>
                    </a:p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remain hard constraints.</a:t>
                      </a:r>
                    </a:p>
                  </a:txBody>
                  <a:tcPr marL="209550" marR="171450" marT="152400" marB="1333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Expected approvals</a:t>
                      </a:r>
                    </a:p>
                  </a:txBody>
                  <a:tcPr marL="209550" marR="171450" marT="152400" marB="1333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~0.14</a:t>
                      </a:r>
                    </a:p>
                  </a:txBody>
                  <a:tcPr marL="209550" marR="171450" marT="152400" marB="1333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Unknown</a:t>
                      </a:r>
                    </a:p>
                  </a:txBody>
                  <a:tcPr marL="209550" marR="171450" marT="152400" marB="1333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Clinical success must be demonstrated;</a:t>
                      </a:r>
                    </a:p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00355F"/>
                          </a:solidFill>
                          <a:latin typeface="Arial"/>
                          <a:ea typeface="Arial"/>
                          <a:cs typeface="Arial"/>
                        </a:rPr>
                        <a:t>AI does not establish an approval rate.</a:t>
                      </a:r>
                    </a:p>
                  </a:txBody>
                  <a:tcPr marL="209550" marR="171450" marT="152400" marB="1333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11EEB-299A-47C1-8FF4-126142D9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53425"/>
            <a:ext cx="1691640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00355F"/>
          </a:solidFill>
          <a:ln xmlns:a="http://schemas.openxmlformats.org/drawingml/2006/main" w="9525">
            <a:noFill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57FC7-4BB6-4157-98B0-674B1B7CB0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60b1feb2244ed">
            <a:extLst>
              <a:ext uri="{96DAC541-7B7A-43D3-8B79-37D633B846F1}">
                <asvg:svgBlip xmlns:asvg="http://schemas.microsoft.com/office/drawing/2016/SVG/main" r:embed="R46b5a66a169c46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4875" y="856297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8" name="Working thesis: experimental throughput becomes a capacity gate as virtual design scales.">
            <a:extLst xmlns:a="http://schemas.openxmlformats.org/drawingml/2006/main">
              <a:ext uri="{FF2B5EF4-FFF2-40B4-BE49-F238E27FC236}">
                <a16:creationId xmlns:a16="http://schemas.microsoft.com/office/drawing/2014/main" id="{944DB006-B1D1-47B9-96A5-B98285A3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8562975"/>
            <a:ext cx="15668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Working thesis: experimental throughput becomes a capacity gate as virtual design scales.</a:t>
            </a:r>
          </a:p>
        </p:txBody>
      </p:sp>
      <p:sp>
        <p:nvSpPr>
          <p:cNvPr id="9" name="Source: user-supplied comparison. ~0.14 is an illustrative expected approval count per clinical entrant; the AI-era outcome is unknown.">
            <a:extLst xmlns:a="http://schemas.openxmlformats.org/drawingml/2006/main">
              <a:ext uri="{FF2B5EF4-FFF2-40B4-BE49-F238E27FC236}">
                <a16:creationId xmlns:a16="http://schemas.microsoft.com/office/drawing/2014/main" id="{D5EE2C6D-F151-4180-B6B5-F1EB1336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0"/>
            <a:ext cx="1691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1275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0035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355F"/>
                </a:solidFill>
                <a:latin typeface="Arial"/>
                <a:ea typeface="Arial"/>
                <a:cs typeface="Arial"/>
              </a:rPr>
              <a:t>Source: user-supplied comparison. ~0.14 is an illustrative expected approval count per clinical entrant; the AI-era outcome is unknown.</a:t>
            </a:r>
          </a:p>
        </p:txBody>
      </p:sp>
    </p:spTree>
    <p:extLst>
      <p:ext uri="{BB962C8B-B14F-4D97-AF65-F5344CB8AC3E}">
        <p14:creationId xmlns:p14="http://schemas.microsoft.com/office/powerpoint/2010/main" val="726660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2026-10-13T06:02:24.9060000Z</dcterms:created>
  <dcterms:modified xsi:type="dcterms:W3CDTF">2026-10-13T06:02:24.9060000Z</dcterms:modified>
</coreProperties>
</file>