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67835efbd14c57" /><Relationship Type="http://schemas.openxmlformats.org/officeDocument/2006/relationships/extended-properties" Target="/docProps/app.xml" Id="R58c995740d5d4a06" /><Relationship Type="http://schemas.openxmlformats.org/officeDocument/2006/relationships/officeDocument" Target="/ppt/presentation.xml" Id="Rc4d816ab7a114552" /></Relationships>
</file>

<file path=ppt/presentation.xml><?xml version="1.0" encoding="utf-8"?>
<p:presentation xmlns:p="http://schemas.openxmlformats.org/presentationml/2006/main">
  <p:sldMasterIdLst>
    <p:sldMasterId xmlns:r="http://schemas.openxmlformats.org/officeDocument/2006/relationships" id="2147483648" r:id="Rcb8b3e71c641413b"/>
  </p:sldMasterIdLst>
  <p:notesMasterIdLst>
    <p:notesMasterId xmlns:r="http://schemas.openxmlformats.org/officeDocument/2006/relationships" r:id="R24994162c1ff4157"/>
  </p:notesMasterIdLst>
  <p:sldIdLst>
    <p:sldId xmlns:r="http://schemas.openxmlformats.org/officeDocument/2006/relationships" id="256" r:id="R656ede1ea45c4d5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2cd114f0604dbe" /><Relationship Type="http://schemas.openxmlformats.org/officeDocument/2006/relationships/slideMaster" Target="/ppt/slideMasters/slideMaster1.xml" Id="Rcb8b3e71c641413b" /><Relationship Type="http://schemas.openxmlformats.org/officeDocument/2006/relationships/notesMaster" Target="/ppt/notesMasters/notesMaster1.xml" Id="R24994162c1ff4157" /><Relationship Type="http://schemas.openxmlformats.org/officeDocument/2006/relationships/presProps" Target="/ppt/presProps.xml" Id="Re004cc7541544c78" /><Relationship Type="http://schemas.openxmlformats.org/officeDocument/2006/relationships/tableStyles" Target="/ppt/tableStyles.xml" Id="R246ce85d50ab40a7" /><Relationship Type="http://schemas.openxmlformats.org/officeDocument/2006/relationships/slide" Target="/ppt/slides/slide1.xml" Id="R656ede1ea45c4d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9444810e8644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7987697537400e" /><Relationship Type="http://schemas.openxmlformats.org/officeDocument/2006/relationships/notesMaster" Target="/ppt/notesMasters/notesMaster1.xml" Id="Rb3adb73cc5b74d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Illustrative AI-driven investment scenarios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408b739e604f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94950c5fbd40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416e70931e4e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519a1c625649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95cb30c40c4a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ae666f81114c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5e5b11f3344db3" /><Relationship Type="http://schemas.openxmlformats.org/officeDocument/2006/relationships/slideLayout" Target="/ppt/slideLayouts/slideLayout1.xml" Id="Rbe582eeee83b4710" /><Relationship Type="http://schemas.openxmlformats.org/officeDocument/2006/relationships/slideLayout" Target="/ppt/slideLayouts/slideLayout2.xml" Id="R278dc1b33c7b4b2e" /><Relationship Type="http://schemas.openxmlformats.org/officeDocument/2006/relationships/slideLayout" Target="/ppt/slideLayouts/slideLayout3.xml" Id="R700ab16edbfb4e59" /><Relationship Type="http://schemas.openxmlformats.org/officeDocument/2006/relationships/slideLayout" Target="/ppt/slideLayouts/slideLayout4.xml" Id="Rbbcaa2cfac1147fd" /><Relationship Type="http://schemas.openxmlformats.org/officeDocument/2006/relationships/slideLayout" Target="/ppt/slideLayouts/slideLayout5.xml" Id="Rca51863f43904e06" /><Relationship Type="http://schemas.openxmlformats.org/officeDocument/2006/relationships/slideLayout" Target="/ppt/slideLayouts/slideLayout6.xml" Id="R3e6575a93f8843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582eeee83b4710"/>
    <p:sldLayoutId xmlns:r="http://schemas.openxmlformats.org/officeDocument/2006/relationships" id="2147483650" r:id="R278dc1b33c7b4b2e"/>
    <p:sldLayoutId xmlns:r="http://schemas.openxmlformats.org/officeDocument/2006/relationships" id="2147483651" r:id="R700ab16edbfb4e59"/>
    <p:sldLayoutId xmlns:r="http://schemas.openxmlformats.org/officeDocument/2006/relationships" id="2147483652" r:id="Rbbcaa2cfac1147fd"/>
    <p:sldLayoutId xmlns:r="http://schemas.openxmlformats.org/officeDocument/2006/relationships" id="2147483653" r:id="Rca51863f43904e06"/>
    <p:sldLayoutId xmlns:r="http://schemas.openxmlformats.org/officeDocument/2006/relationships" id="2147483654" r:id="R3e6575a93f8843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6ae6a6bead4f50" /><Relationship Type="http://schemas.openxmlformats.org/officeDocument/2006/relationships/image" Target="/ppt/media/image.png" Id="R48e54d0382dc47c6" /><Relationship Type="http://schemas.openxmlformats.org/officeDocument/2006/relationships/notesSlide" Target="/ppt/notesSlides/notesSlide1.xml" Id="R7501f8e1328e4e4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1" name="">
            <a:extLst xmlns:a="http://schemas.openxmlformats.org/drawingml/2006/main">
              <a:ext uri="{FF2B5EF4-FFF2-40B4-BE49-F238E27FC236}">
                <a16:creationId xmlns:a16="http://schemas.microsoft.com/office/drawing/2014/main" id="{83FF2D6C-0A51-405B-8557-BF2B96ABD50A}"/>
              </a:ext>
            </a:extLst>
          </p:cNvPr>
          <p:cNvPicPr>
            <a:picLocks xmlns:a="http://schemas.openxmlformats.org/drawingml/2006/main" noChangeAspect="1"/>
          </p:cNvPicPr>
          <p:nvPr/>
        </p:nvPicPr>
        <p:blipFill>
          <a:blip xmlns:r="http://schemas.openxmlformats.org/officeDocument/2006/relationships" xmlns:a="http://schemas.openxmlformats.org/drawingml/2006/main" r:embed="R48e54d0382dc47c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440AD335-B274-430A-B34E-7887D8989F9A}"/>
              </a:ext>
            </a:extLst>
          </p:cNvPr>
          <p:cNvSpPr>
            <a:spLocks xmlns:a="http://schemas.openxmlformats.org/drawingml/2006/main" noGrp="1"/>
          </p:cNvSpPr>
          <p:nvPr/>
        </p:nvSpPr>
        <p:spPr>
          <a:xfrm xmlns:a="http://schemas.openxmlformats.org/drawingml/2006/main" rot="0">
            <a:off x="2746180"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A</a:t>
            </a:r>
          </a:p>
        </p:txBody>
      </p:sp>
      <p:sp>
        <p:nvSpPr>
          <p:cNvPr id="3" name="Figure 7 label 2 line 1">
            <a:extLst xmlns:a="http://schemas.openxmlformats.org/drawingml/2006/main">
              <a:ext uri="{FF2B5EF4-FFF2-40B4-BE49-F238E27FC236}">
                <a16:creationId xmlns:a16="http://schemas.microsoft.com/office/drawing/2014/main" id="{3011563F-CCE8-46AE-8487-1699F6B7C93B}"/>
              </a:ext>
            </a:extLst>
          </p:cNvPr>
          <p:cNvSpPr>
            <a:spLocks xmlns:a="http://schemas.openxmlformats.org/drawingml/2006/main" noGrp="1"/>
          </p:cNvSpPr>
          <p:nvPr/>
        </p:nvSpPr>
        <p:spPr>
          <a:xfrm xmlns:a="http://schemas.openxmlformats.org/drawingml/2006/main" rot="0">
            <a:off x="2814924" y="8126210"/>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a:t>
            </a:r>
          </a:p>
        </p:txBody>
      </p:sp>
      <p:sp>
        <p:nvSpPr>
          <p:cNvPr id="4" name="Figure 7 label 3 line 1">
            <a:extLst xmlns:a="http://schemas.openxmlformats.org/drawingml/2006/main">
              <a:ext uri="{FF2B5EF4-FFF2-40B4-BE49-F238E27FC236}">
                <a16:creationId xmlns:a16="http://schemas.microsoft.com/office/drawing/2014/main" id="{4C48E508-E570-47EC-9BF2-B38DAC83C080}"/>
              </a:ext>
            </a:extLst>
          </p:cNvPr>
          <p:cNvSpPr>
            <a:spLocks xmlns:a="http://schemas.openxmlformats.org/drawingml/2006/main" noGrp="1"/>
          </p:cNvSpPr>
          <p:nvPr/>
        </p:nvSpPr>
        <p:spPr>
          <a:xfrm xmlns:a="http://schemas.openxmlformats.org/drawingml/2006/main" rot="0">
            <a:off x="6567354"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B</a:t>
            </a:r>
          </a:p>
        </p:txBody>
      </p:sp>
      <p:sp>
        <p:nvSpPr>
          <p:cNvPr id="5" name="Figure 7 label 4 line 1">
            <a:extLst xmlns:a="http://schemas.openxmlformats.org/drawingml/2006/main">
              <a:ext uri="{FF2B5EF4-FFF2-40B4-BE49-F238E27FC236}">
                <a16:creationId xmlns:a16="http://schemas.microsoft.com/office/drawing/2014/main" id="{7B08D008-0E26-4049-9090-1548DE2AE8DE}"/>
              </a:ext>
            </a:extLst>
          </p:cNvPr>
          <p:cNvSpPr>
            <a:spLocks xmlns:a="http://schemas.openxmlformats.org/drawingml/2006/main" noGrp="1"/>
          </p:cNvSpPr>
          <p:nvPr/>
        </p:nvSpPr>
        <p:spPr>
          <a:xfrm xmlns:a="http://schemas.openxmlformats.org/drawingml/2006/main" rot="0">
            <a:off x="6583129"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US$100bn</a:t>
            </a:r>
          </a:p>
        </p:txBody>
      </p:sp>
      <p:sp>
        <p:nvSpPr>
          <p:cNvPr id="6" name="Figure 7 label 5 line 1">
            <a:extLst xmlns:a="http://schemas.openxmlformats.org/drawingml/2006/main">
              <a:ext uri="{FF2B5EF4-FFF2-40B4-BE49-F238E27FC236}">
                <a16:creationId xmlns:a16="http://schemas.microsoft.com/office/drawing/2014/main" id="{DBEB65F0-CD86-4956-B199-AC5FFBD331E5}"/>
              </a:ext>
            </a:extLst>
          </p:cNvPr>
          <p:cNvSpPr>
            <a:spLocks xmlns:a="http://schemas.openxmlformats.org/drawingml/2006/main" noGrp="1"/>
          </p:cNvSpPr>
          <p:nvPr/>
        </p:nvSpPr>
        <p:spPr>
          <a:xfrm xmlns:a="http://schemas.openxmlformats.org/drawingml/2006/main" rot="0">
            <a:off x="10383273" y="7924632"/>
            <a:ext cx="1066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C</a:t>
            </a:r>
          </a:p>
        </p:txBody>
      </p:sp>
      <p:sp>
        <p:nvSpPr>
          <p:cNvPr id="7" name="Figure 7 label 6 line 1">
            <a:extLst xmlns:a="http://schemas.openxmlformats.org/drawingml/2006/main">
              <a:ext uri="{FF2B5EF4-FFF2-40B4-BE49-F238E27FC236}">
                <a16:creationId xmlns:a16="http://schemas.microsoft.com/office/drawing/2014/main" id="{1BE1EA68-A861-4D4F-BE9D-2BA45B2D6F68}"/>
              </a:ext>
            </a:extLst>
          </p:cNvPr>
          <p:cNvSpPr>
            <a:spLocks xmlns:a="http://schemas.openxmlformats.org/drawingml/2006/main" noGrp="1"/>
          </p:cNvSpPr>
          <p:nvPr/>
        </p:nvSpPr>
        <p:spPr>
          <a:xfrm xmlns:a="http://schemas.openxmlformats.org/drawingml/2006/main" rot="0">
            <a:off x="10404303"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US$200bn</a:t>
            </a:r>
          </a:p>
        </p:txBody>
      </p:sp>
      <p:sp>
        <p:nvSpPr>
          <p:cNvPr id="8" name="Figure 7 label 7 line 1">
            <a:extLst xmlns:a="http://schemas.openxmlformats.org/drawingml/2006/main">
              <a:ext uri="{FF2B5EF4-FFF2-40B4-BE49-F238E27FC236}">
                <a16:creationId xmlns:a16="http://schemas.microsoft.com/office/drawing/2014/main" id="{C04487AE-35C3-4969-AEBA-D77C07246543}"/>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9" name="Figure 7 label 8 line 1">
            <a:extLst xmlns:a="http://schemas.openxmlformats.org/drawingml/2006/main">
              <a:ext uri="{FF2B5EF4-FFF2-40B4-BE49-F238E27FC236}">
                <a16:creationId xmlns:a16="http://schemas.microsoft.com/office/drawing/2014/main" id="{045906B6-F84F-4874-8149-389ECD2D0414}"/>
              </a:ext>
            </a:extLst>
          </p:cNvPr>
          <p:cNvSpPr>
            <a:spLocks xmlns:a="http://schemas.openxmlformats.org/drawingml/2006/main" noGrp="1"/>
          </p:cNvSpPr>
          <p:nvPr/>
        </p:nvSpPr>
        <p:spPr>
          <a:xfrm xmlns:a="http://schemas.openxmlformats.org/drawingml/2006/main" rot="0">
            <a:off x="1334294" y="711477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10" name="Figure 7 label 9 line 1">
            <a:extLst xmlns:a="http://schemas.openxmlformats.org/drawingml/2006/main">
              <a:ext uri="{FF2B5EF4-FFF2-40B4-BE49-F238E27FC236}">
                <a16:creationId xmlns:a16="http://schemas.microsoft.com/office/drawing/2014/main" id="{95B2B29B-FA67-4008-816C-87F10BFA8A60}"/>
              </a:ext>
            </a:extLst>
          </p:cNvPr>
          <p:cNvSpPr>
            <a:spLocks xmlns:a="http://schemas.openxmlformats.org/drawingml/2006/main" noGrp="1"/>
          </p:cNvSpPr>
          <p:nvPr/>
        </p:nvSpPr>
        <p:spPr>
          <a:xfrm xmlns:a="http://schemas.openxmlformats.org/drawingml/2006/main" rot="0">
            <a:off x="1334294" y="65318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11" name="Figure 7 label 10 line 1">
            <a:extLst xmlns:a="http://schemas.openxmlformats.org/drawingml/2006/main">
              <a:ext uri="{FF2B5EF4-FFF2-40B4-BE49-F238E27FC236}">
                <a16:creationId xmlns:a16="http://schemas.microsoft.com/office/drawing/2014/main" id="{C087CB8E-EEF3-4F65-88D1-0B4A591E0332}"/>
              </a:ext>
            </a:extLst>
          </p:cNvPr>
          <p:cNvSpPr>
            <a:spLocks xmlns:a="http://schemas.openxmlformats.org/drawingml/2006/main" noGrp="1"/>
          </p:cNvSpPr>
          <p:nvPr/>
        </p:nvSpPr>
        <p:spPr>
          <a:xfrm xmlns:a="http://schemas.openxmlformats.org/drawingml/2006/main" rot="0">
            <a:off x="1334294" y="594891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12" name="Figure 7 label 11 line 1">
            <a:extLst xmlns:a="http://schemas.openxmlformats.org/drawingml/2006/main">
              <a:ext uri="{FF2B5EF4-FFF2-40B4-BE49-F238E27FC236}">
                <a16:creationId xmlns:a16="http://schemas.microsoft.com/office/drawing/2014/main" id="{96211ACD-61C0-4533-BF8A-8E559ECBB90F}"/>
              </a:ext>
            </a:extLst>
          </p:cNvPr>
          <p:cNvSpPr>
            <a:spLocks xmlns:a="http://schemas.openxmlformats.org/drawingml/2006/main" noGrp="1"/>
          </p:cNvSpPr>
          <p:nvPr/>
        </p:nvSpPr>
        <p:spPr>
          <a:xfrm xmlns:a="http://schemas.openxmlformats.org/drawingml/2006/main" rot="0">
            <a:off x="1228328" y="536598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3" name="Figure 7 label 12 line 1">
            <a:extLst xmlns:a="http://schemas.openxmlformats.org/drawingml/2006/main">
              <a:ext uri="{FF2B5EF4-FFF2-40B4-BE49-F238E27FC236}">
                <a16:creationId xmlns:a16="http://schemas.microsoft.com/office/drawing/2014/main" id="{EEA04536-D1B5-4004-AFE9-CB5F041AE657}"/>
              </a:ext>
            </a:extLst>
          </p:cNvPr>
          <p:cNvSpPr>
            <a:spLocks xmlns:a="http://schemas.openxmlformats.org/drawingml/2006/main" noGrp="1"/>
          </p:cNvSpPr>
          <p:nvPr/>
        </p:nvSpPr>
        <p:spPr>
          <a:xfrm xmlns:a="http://schemas.openxmlformats.org/drawingml/2006/main" rot="0">
            <a:off x="1228328" y="478305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125</a:t>
            </a:r>
          </a:p>
        </p:txBody>
      </p:sp>
      <p:sp>
        <p:nvSpPr>
          <p:cNvPr id="14" name="Figure 7 label 13 line 1">
            <a:extLst xmlns:a="http://schemas.openxmlformats.org/drawingml/2006/main">
              <a:ext uri="{FF2B5EF4-FFF2-40B4-BE49-F238E27FC236}">
                <a16:creationId xmlns:a16="http://schemas.microsoft.com/office/drawing/2014/main" id="{57223824-4411-4FDC-ACC8-7DBC4ECDCA81}"/>
              </a:ext>
            </a:extLst>
          </p:cNvPr>
          <p:cNvSpPr>
            <a:spLocks xmlns:a="http://schemas.openxmlformats.org/drawingml/2006/main" noGrp="1"/>
          </p:cNvSpPr>
          <p:nvPr/>
        </p:nvSpPr>
        <p:spPr>
          <a:xfrm xmlns:a="http://schemas.openxmlformats.org/drawingml/2006/main" rot="0">
            <a:off x="1228328" y="420012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15" name="Figure 7 label 14 line 1">
            <a:extLst xmlns:a="http://schemas.openxmlformats.org/drawingml/2006/main">
              <a:ext uri="{FF2B5EF4-FFF2-40B4-BE49-F238E27FC236}">
                <a16:creationId xmlns:a16="http://schemas.microsoft.com/office/drawing/2014/main" id="{27D2A7B8-CB31-4BEC-9C95-54A54AF5B859}"/>
              </a:ext>
            </a:extLst>
          </p:cNvPr>
          <p:cNvSpPr>
            <a:spLocks xmlns:a="http://schemas.openxmlformats.org/drawingml/2006/main" noGrp="1"/>
          </p:cNvSpPr>
          <p:nvPr/>
        </p:nvSpPr>
        <p:spPr>
          <a:xfrm xmlns:a="http://schemas.openxmlformats.org/drawingml/2006/main" rot="0">
            <a:off x="1228328" y="361719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175</a:t>
            </a:r>
          </a:p>
        </p:txBody>
      </p:sp>
      <p:sp>
        <p:nvSpPr>
          <p:cNvPr id="16" name="Figure 7 label 15 line 1">
            <a:extLst xmlns:a="http://schemas.openxmlformats.org/drawingml/2006/main">
              <a:ext uri="{FF2B5EF4-FFF2-40B4-BE49-F238E27FC236}">
                <a16:creationId xmlns:a16="http://schemas.microsoft.com/office/drawing/2014/main" id="{20054540-3AFB-4B86-B14C-B7D936AE5084}"/>
              </a:ext>
            </a:extLst>
          </p:cNvPr>
          <p:cNvSpPr>
            <a:spLocks xmlns:a="http://schemas.openxmlformats.org/drawingml/2006/main" noGrp="1"/>
          </p:cNvSpPr>
          <p:nvPr/>
        </p:nvSpPr>
        <p:spPr>
          <a:xfrm xmlns:a="http://schemas.openxmlformats.org/drawingml/2006/main" rot="0">
            <a:off x="1228328" y="303426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17" name="Figure 7 label 16 line 1">
            <a:extLst xmlns:a="http://schemas.openxmlformats.org/drawingml/2006/main">
              <a:ext uri="{FF2B5EF4-FFF2-40B4-BE49-F238E27FC236}">
                <a16:creationId xmlns:a16="http://schemas.microsoft.com/office/drawing/2014/main" id="{AA7306DA-9506-440E-985B-60ECFE10C25F}"/>
              </a:ext>
            </a:extLst>
          </p:cNvPr>
          <p:cNvSpPr>
            <a:spLocks xmlns:a="http://schemas.openxmlformats.org/drawingml/2006/main" noGrp="1"/>
          </p:cNvSpPr>
          <p:nvPr/>
        </p:nvSpPr>
        <p:spPr>
          <a:xfrm xmlns:a="http://schemas.openxmlformats.org/drawingml/2006/main" rot="0">
            <a:off x="1228328" y="245133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225</a:t>
            </a:r>
          </a:p>
        </p:txBody>
      </p:sp>
      <p:sp>
        <p:nvSpPr>
          <p:cNvPr id="18" name="Figure 7 label 17 line 1">
            <a:extLst xmlns:a="http://schemas.openxmlformats.org/drawingml/2006/main">
              <a:ext uri="{FF2B5EF4-FFF2-40B4-BE49-F238E27FC236}">
                <a16:creationId xmlns:a16="http://schemas.microsoft.com/office/drawing/2014/main" id="{3A48A3A7-6F80-4AE5-BA7E-A7C2E33867EB}"/>
              </a:ext>
            </a:extLst>
          </p:cNvPr>
          <p:cNvSpPr>
            <a:spLocks xmlns:a="http://schemas.openxmlformats.org/drawingml/2006/main" noGrp="1"/>
          </p:cNvSpPr>
          <p:nvPr/>
        </p:nvSpPr>
        <p:spPr>
          <a:xfrm xmlns:a="http://schemas.openxmlformats.org/drawingml/2006/main" rot="16200000">
            <a:off x="-717610" y="5047298"/>
            <a:ext cx="385077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incremental investment (US$bn)</a:t>
            </a:r>
          </a:p>
        </p:txBody>
      </p:sp>
      <p:sp>
        <p:nvSpPr>
          <p:cNvPr id="19" name="Figure 7 label 18 line 1">
            <a:extLst xmlns:a="http://schemas.openxmlformats.org/drawingml/2006/main">
              <a:ext uri="{FF2B5EF4-FFF2-40B4-BE49-F238E27FC236}">
                <a16:creationId xmlns:a16="http://schemas.microsoft.com/office/drawing/2014/main" id="{6BA159A8-D879-465A-8DFA-DCD638FFB11B}"/>
              </a:ext>
            </a:extLst>
          </p:cNvPr>
          <p:cNvSpPr>
            <a:spLocks xmlns:a="http://schemas.openxmlformats.org/drawingml/2006/main" noGrp="1"/>
          </p:cNvSpPr>
          <p:nvPr/>
        </p:nvSpPr>
        <p:spPr>
          <a:xfrm xmlns:a="http://schemas.openxmlformats.org/drawingml/2006/main" rot="0">
            <a:off x="3037889" y="748794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15</a:t>
            </a:r>
          </a:p>
        </p:txBody>
      </p:sp>
      <p:sp>
        <p:nvSpPr>
          <p:cNvPr id="20" name="Figure 7 label 19 line 1">
            <a:extLst xmlns:a="http://schemas.openxmlformats.org/drawingml/2006/main">
              <a:ext uri="{FF2B5EF4-FFF2-40B4-BE49-F238E27FC236}">
                <a16:creationId xmlns:a16="http://schemas.microsoft.com/office/drawing/2014/main" id="{50FABF1F-6667-48DB-9C6F-BD2C425B11C2}"/>
              </a:ext>
            </a:extLst>
          </p:cNvPr>
          <p:cNvSpPr>
            <a:spLocks xmlns:a="http://schemas.openxmlformats.org/drawingml/2006/main" noGrp="1"/>
          </p:cNvSpPr>
          <p:nvPr/>
        </p:nvSpPr>
        <p:spPr>
          <a:xfrm xmlns:a="http://schemas.openxmlformats.org/drawingml/2006/main" rot="0">
            <a:off x="6859062" y="731306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30</a:t>
            </a:r>
          </a:p>
        </p:txBody>
      </p:sp>
      <p:sp>
        <p:nvSpPr>
          <p:cNvPr id="21" name="Figure 7 label 20 line 1">
            <a:extLst xmlns:a="http://schemas.openxmlformats.org/drawingml/2006/main">
              <a:ext uri="{FF2B5EF4-FFF2-40B4-BE49-F238E27FC236}">
                <a16:creationId xmlns:a16="http://schemas.microsoft.com/office/drawing/2014/main" id="{157BC033-088E-465E-88A3-AEDBFC1A11B8}"/>
              </a:ext>
            </a:extLst>
          </p:cNvPr>
          <p:cNvSpPr>
            <a:spLocks xmlns:a="http://schemas.openxmlformats.org/drawingml/2006/main" noGrp="1"/>
          </p:cNvSpPr>
          <p:nvPr/>
        </p:nvSpPr>
        <p:spPr>
          <a:xfrm xmlns:a="http://schemas.openxmlformats.org/drawingml/2006/main" rot="0">
            <a:off x="10680235" y="6963310"/>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60</a:t>
            </a:r>
          </a:p>
        </p:txBody>
      </p:sp>
      <p:sp>
        <p:nvSpPr>
          <p:cNvPr id="22" name="Figure 7 label 21 line 1">
            <a:extLst xmlns:a="http://schemas.openxmlformats.org/drawingml/2006/main">
              <a:ext uri="{FF2B5EF4-FFF2-40B4-BE49-F238E27FC236}">
                <a16:creationId xmlns:a16="http://schemas.microsoft.com/office/drawing/2014/main" id="{2B13E4EE-7063-471F-A652-CF3CDBA01B8B}"/>
              </a:ext>
            </a:extLst>
          </p:cNvPr>
          <p:cNvSpPr>
            <a:spLocks xmlns:a="http://schemas.openxmlformats.org/drawingml/2006/main" noGrp="1"/>
          </p:cNvSpPr>
          <p:nvPr/>
        </p:nvSpPr>
        <p:spPr>
          <a:xfrm xmlns:a="http://schemas.openxmlformats.org/drawingml/2006/main" rot="0">
            <a:off x="2951792" y="7167335"/>
            <a:ext cx="53583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12.5</a:t>
            </a:r>
          </a:p>
        </p:txBody>
      </p:sp>
      <p:sp>
        <p:nvSpPr>
          <p:cNvPr id="23" name="Figure 7 label 22 line 1">
            <a:extLst xmlns:a="http://schemas.openxmlformats.org/drawingml/2006/main">
              <a:ext uri="{FF2B5EF4-FFF2-40B4-BE49-F238E27FC236}">
                <a16:creationId xmlns:a16="http://schemas.microsoft.com/office/drawing/2014/main" id="{0FDA10CA-88ED-4D1F-8ED1-1107329AB640}"/>
              </a:ext>
            </a:extLst>
          </p:cNvPr>
          <p:cNvSpPr>
            <a:spLocks xmlns:a="http://schemas.openxmlformats.org/drawingml/2006/main" noGrp="1"/>
          </p:cNvSpPr>
          <p:nvPr/>
        </p:nvSpPr>
        <p:spPr>
          <a:xfrm xmlns:a="http://schemas.openxmlformats.org/drawingml/2006/main" rot="0">
            <a:off x="6859062" y="6671845"/>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24" name="Figure 7 label 23 line 1">
            <a:extLst xmlns:a="http://schemas.openxmlformats.org/drawingml/2006/main">
              <a:ext uri="{FF2B5EF4-FFF2-40B4-BE49-F238E27FC236}">
                <a16:creationId xmlns:a16="http://schemas.microsoft.com/office/drawing/2014/main" id="{E3FD518A-9093-4980-BA75-B4817D5869DB}"/>
              </a:ext>
            </a:extLst>
          </p:cNvPr>
          <p:cNvSpPr>
            <a:spLocks xmlns:a="http://schemas.openxmlformats.org/drawingml/2006/main" noGrp="1"/>
          </p:cNvSpPr>
          <p:nvPr/>
        </p:nvSpPr>
        <p:spPr>
          <a:xfrm xmlns:a="http://schemas.openxmlformats.org/drawingml/2006/main" rot="0">
            <a:off x="10680235" y="5680863"/>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50</a:t>
            </a:r>
          </a:p>
        </p:txBody>
      </p:sp>
      <p:sp>
        <p:nvSpPr>
          <p:cNvPr id="25" name="Figure 7 label 24 line 1">
            <a:extLst xmlns:a="http://schemas.openxmlformats.org/drawingml/2006/main">
              <a:ext uri="{FF2B5EF4-FFF2-40B4-BE49-F238E27FC236}">
                <a16:creationId xmlns:a16="http://schemas.microsoft.com/office/drawing/2014/main" id="{B5FEB6DC-64DC-47DE-A03C-6CF259EC2B86}"/>
              </a:ext>
            </a:extLst>
          </p:cNvPr>
          <p:cNvSpPr>
            <a:spLocks xmlns:a="http://schemas.openxmlformats.org/drawingml/2006/main" noGrp="1"/>
          </p:cNvSpPr>
          <p:nvPr/>
        </p:nvSpPr>
        <p:spPr>
          <a:xfrm xmlns:a="http://schemas.openxmlformats.org/drawingml/2006/main" rot="0">
            <a:off x="3037889" y="690501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26" name="Figure 7 label 25 line 1">
            <a:extLst xmlns:a="http://schemas.openxmlformats.org/drawingml/2006/main">
              <a:ext uri="{FF2B5EF4-FFF2-40B4-BE49-F238E27FC236}">
                <a16:creationId xmlns:a16="http://schemas.microsoft.com/office/drawing/2014/main" id="{68B96528-5C18-4CC0-9D7B-E043EAD4061C}"/>
              </a:ext>
            </a:extLst>
          </p:cNvPr>
          <p:cNvSpPr>
            <a:spLocks xmlns:a="http://schemas.openxmlformats.org/drawingml/2006/main" noGrp="1"/>
          </p:cNvSpPr>
          <p:nvPr/>
        </p:nvSpPr>
        <p:spPr>
          <a:xfrm xmlns:a="http://schemas.openxmlformats.org/drawingml/2006/main" rot="0">
            <a:off x="6859062" y="6147208"/>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27" name="Figure 7 label 26 line 1">
            <a:extLst xmlns:a="http://schemas.openxmlformats.org/drawingml/2006/main">
              <a:ext uri="{FF2B5EF4-FFF2-40B4-BE49-F238E27FC236}">
                <a16:creationId xmlns:a16="http://schemas.microsoft.com/office/drawing/2014/main" id="{99EF03D6-77E1-445B-8F09-0DE76AA7CA07}"/>
              </a:ext>
            </a:extLst>
          </p:cNvPr>
          <p:cNvSpPr>
            <a:spLocks xmlns:a="http://schemas.openxmlformats.org/drawingml/2006/main" noGrp="1"/>
          </p:cNvSpPr>
          <p:nvPr/>
        </p:nvSpPr>
        <p:spPr>
          <a:xfrm xmlns:a="http://schemas.openxmlformats.org/drawingml/2006/main" rot="0">
            <a:off x="10680235" y="4631589"/>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8" name="Figure 7 label 27 line 1">
            <a:extLst xmlns:a="http://schemas.openxmlformats.org/drawingml/2006/main">
              <a:ext uri="{FF2B5EF4-FFF2-40B4-BE49-F238E27FC236}">
                <a16:creationId xmlns:a16="http://schemas.microsoft.com/office/drawing/2014/main" id="{26DA955C-968A-4423-8D2A-EC07D4AA9E13}"/>
              </a:ext>
            </a:extLst>
          </p:cNvPr>
          <p:cNvSpPr>
            <a:spLocks xmlns:a="http://schemas.openxmlformats.org/drawingml/2006/main" noGrp="1"/>
          </p:cNvSpPr>
          <p:nvPr/>
        </p:nvSpPr>
        <p:spPr>
          <a:xfrm xmlns:a="http://schemas.openxmlformats.org/drawingml/2006/main" rot="0">
            <a:off x="4892768" y="6788431"/>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7.5</a:t>
            </a:r>
          </a:p>
        </p:txBody>
      </p:sp>
      <p:sp>
        <p:nvSpPr>
          <p:cNvPr id="29" name="Figure 7 label 28 line 1">
            <a:extLst xmlns:a="http://schemas.openxmlformats.org/drawingml/2006/main">
              <a:ext uri="{FF2B5EF4-FFF2-40B4-BE49-F238E27FC236}">
                <a16:creationId xmlns:a16="http://schemas.microsoft.com/office/drawing/2014/main" id="{8E938806-BE14-4786-898F-182F03486305}"/>
              </a:ext>
            </a:extLst>
          </p:cNvPr>
          <p:cNvSpPr>
            <a:spLocks xmlns:a="http://schemas.openxmlformats.org/drawingml/2006/main" noGrp="1"/>
          </p:cNvSpPr>
          <p:nvPr/>
        </p:nvSpPr>
        <p:spPr>
          <a:xfrm xmlns:a="http://schemas.openxmlformats.org/drawingml/2006/main" rot="0">
            <a:off x="6859062" y="573915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15</a:t>
            </a:r>
          </a:p>
        </p:txBody>
      </p:sp>
      <p:sp>
        <p:nvSpPr>
          <p:cNvPr id="30" name="Figure 7 label 29 line 1">
            <a:extLst xmlns:a="http://schemas.openxmlformats.org/drawingml/2006/main">
              <a:ext uri="{FF2B5EF4-FFF2-40B4-BE49-F238E27FC236}">
                <a16:creationId xmlns:a16="http://schemas.microsoft.com/office/drawing/2014/main" id="{8DC985E4-53BF-4278-8F05-263B99F65786}"/>
              </a:ext>
            </a:extLst>
          </p:cNvPr>
          <p:cNvSpPr>
            <a:spLocks xmlns:a="http://schemas.openxmlformats.org/drawingml/2006/main" noGrp="1"/>
          </p:cNvSpPr>
          <p:nvPr/>
        </p:nvSpPr>
        <p:spPr>
          <a:xfrm xmlns:a="http://schemas.openxmlformats.org/drawingml/2006/main" rot="0">
            <a:off x="10680235" y="381548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30</a:t>
            </a:r>
          </a:p>
        </p:txBody>
      </p:sp>
      <p:sp>
        <p:nvSpPr>
          <p:cNvPr id="31" name="Figure 7 label 30 line 1">
            <a:extLst xmlns:a="http://schemas.openxmlformats.org/drawingml/2006/main">
              <a:ext uri="{FF2B5EF4-FFF2-40B4-BE49-F238E27FC236}">
                <a16:creationId xmlns:a16="http://schemas.microsoft.com/office/drawing/2014/main" id="{A09F299B-BF29-4A7C-9CB4-779FBC5953C9}"/>
              </a:ext>
            </a:extLst>
          </p:cNvPr>
          <p:cNvSpPr>
            <a:spLocks xmlns:a="http://schemas.openxmlformats.org/drawingml/2006/main" noGrp="1"/>
          </p:cNvSpPr>
          <p:nvPr/>
        </p:nvSpPr>
        <p:spPr>
          <a:xfrm xmlns:a="http://schemas.openxmlformats.org/drawingml/2006/main" rot="0">
            <a:off x="4892768" y="6427014"/>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32" name="Figure 7 label 31 line 1">
            <a:extLst xmlns:a="http://schemas.openxmlformats.org/drawingml/2006/main">
              <a:ext uri="{FF2B5EF4-FFF2-40B4-BE49-F238E27FC236}">
                <a16:creationId xmlns:a16="http://schemas.microsoft.com/office/drawing/2014/main" id="{373EA740-17D9-4F51-BDDD-4314539043D8}"/>
              </a:ext>
            </a:extLst>
          </p:cNvPr>
          <p:cNvSpPr>
            <a:spLocks xmlns:a="http://schemas.openxmlformats.org/drawingml/2006/main" noGrp="1"/>
          </p:cNvSpPr>
          <p:nvPr/>
        </p:nvSpPr>
        <p:spPr>
          <a:xfrm xmlns:a="http://schemas.openxmlformats.org/drawingml/2006/main" rot="0">
            <a:off x="6859062" y="544769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10</a:t>
            </a:r>
          </a:p>
        </p:txBody>
      </p:sp>
      <p:sp>
        <p:nvSpPr>
          <p:cNvPr id="33" name="Figure 7 label 32 line 1">
            <a:extLst xmlns:a="http://schemas.openxmlformats.org/drawingml/2006/main">
              <a:ext uri="{FF2B5EF4-FFF2-40B4-BE49-F238E27FC236}">
                <a16:creationId xmlns:a16="http://schemas.microsoft.com/office/drawing/2014/main" id="{C1D56C51-7D4C-4842-A963-5D0D85683F41}"/>
              </a:ext>
            </a:extLst>
          </p:cNvPr>
          <p:cNvSpPr>
            <a:spLocks xmlns:a="http://schemas.openxmlformats.org/drawingml/2006/main" noGrp="1"/>
          </p:cNvSpPr>
          <p:nvPr/>
        </p:nvSpPr>
        <p:spPr>
          <a:xfrm xmlns:a="http://schemas.openxmlformats.org/drawingml/2006/main" rot="0">
            <a:off x="10680235" y="323255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20</a:t>
            </a:r>
          </a:p>
        </p:txBody>
      </p:sp>
      <p:sp>
        <p:nvSpPr>
          <p:cNvPr id="34" name="Figure 7 label 33 line 1">
            <a:extLst xmlns:a="http://schemas.openxmlformats.org/drawingml/2006/main">
              <a:ext uri="{FF2B5EF4-FFF2-40B4-BE49-F238E27FC236}">
                <a16:creationId xmlns:a16="http://schemas.microsoft.com/office/drawing/2014/main" id="{98167CD6-63FC-441B-9AC4-A8E8A989076C}"/>
              </a:ext>
            </a:extLst>
          </p:cNvPr>
          <p:cNvSpPr>
            <a:spLocks xmlns:a="http://schemas.openxmlformats.org/drawingml/2006/main" noGrp="1"/>
          </p:cNvSpPr>
          <p:nvPr/>
        </p:nvSpPr>
        <p:spPr>
          <a:xfrm xmlns:a="http://schemas.openxmlformats.org/drawingml/2006/main" rot="0">
            <a:off x="2967890" y="6250381"/>
            <a:ext cx="503634"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50</a:t>
            </a:r>
          </a:p>
        </p:txBody>
      </p:sp>
      <p:sp>
        <p:nvSpPr>
          <p:cNvPr id="35" name="Figure 7 label 34 line 1">
            <a:extLst xmlns:a="http://schemas.openxmlformats.org/drawingml/2006/main">
              <a:ext uri="{FF2B5EF4-FFF2-40B4-BE49-F238E27FC236}">
                <a16:creationId xmlns:a16="http://schemas.microsoft.com/office/drawing/2014/main" id="{BCFAEECD-1AA9-412D-9AA9-5963A2A368BC}"/>
              </a:ext>
            </a:extLst>
          </p:cNvPr>
          <p:cNvSpPr>
            <a:spLocks xmlns:a="http://schemas.openxmlformats.org/drawingml/2006/main" noGrp="1"/>
          </p:cNvSpPr>
          <p:nvPr/>
        </p:nvSpPr>
        <p:spPr>
          <a:xfrm xmlns:a="http://schemas.openxmlformats.org/drawingml/2006/main" rot="0">
            <a:off x="6709589" y="5084522"/>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100</a:t>
            </a:r>
          </a:p>
        </p:txBody>
      </p:sp>
      <p:sp>
        <p:nvSpPr>
          <p:cNvPr id="36" name="Figure 7 label 35 line 1">
            <a:extLst xmlns:a="http://schemas.openxmlformats.org/drawingml/2006/main">
              <a:ext uri="{FF2B5EF4-FFF2-40B4-BE49-F238E27FC236}">
                <a16:creationId xmlns:a16="http://schemas.microsoft.com/office/drawing/2014/main" id="{F2E0BF69-1362-496B-801A-912A90787CF6}"/>
              </a:ext>
            </a:extLst>
          </p:cNvPr>
          <p:cNvSpPr>
            <a:spLocks xmlns:a="http://schemas.openxmlformats.org/drawingml/2006/main" noGrp="1"/>
          </p:cNvSpPr>
          <p:nvPr/>
        </p:nvSpPr>
        <p:spPr>
          <a:xfrm xmlns:a="http://schemas.openxmlformats.org/drawingml/2006/main" rot="0">
            <a:off x="10530762" y="2752801"/>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200</a:t>
            </a:r>
          </a:p>
        </p:txBody>
      </p:sp>
      <p:sp>
        <p:nvSpPr>
          <p:cNvPr id="37" name="Figure 7 label 36 line 1">
            <a:extLst xmlns:a="http://schemas.openxmlformats.org/drawingml/2006/main">
              <a:ext uri="{FF2B5EF4-FFF2-40B4-BE49-F238E27FC236}">
                <a16:creationId xmlns:a16="http://schemas.microsoft.com/office/drawing/2014/main" id="{A32A8D94-BA5E-4F52-9AC5-FB383587B363}"/>
              </a:ext>
            </a:extLst>
          </p:cNvPr>
          <p:cNvSpPr>
            <a:spLocks xmlns:a="http://schemas.openxmlformats.org/drawingml/2006/main" noGrp="1"/>
          </p:cNvSpPr>
          <p:nvPr/>
        </p:nvSpPr>
        <p:spPr>
          <a:xfrm xmlns:a="http://schemas.openxmlformats.org/drawingml/2006/main" rot="0">
            <a:off x="991870" y="421675"/>
            <a:ext cx="715555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Illustrative AI-driven investment scenarios</a:t>
            </a:r>
          </a:p>
        </p:txBody>
      </p:sp>
      <p:sp>
        <p:nvSpPr>
          <p:cNvPr id="38" name="Figure 7 label 37 line 1">
            <a:extLst xmlns:a="http://schemas.openxmlformats.org/drawingml/2006/main">
              <a:ext uri="{FF2B5EF4-FFF2-40B4-BE49-F238E27FC236}">
                <a16:creationId xmlns:a16="http://schemas.microsoft.com/office/drawing/2014/main" id="{9BCBA1F2-4ADE-4A1C-9DCF-83A8D84E075B}"/>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9" name="Figure 7 label 38 line 1">
            <a:extLst xmlns:a="http://schemas.openxmlformats.org/drawingml/2006/main">
              <a:ext uri="{FF2B5EF4-FFF2-40B4-BE49-F238E27FC236}">
                <a16:creationId xmlns:a16="http://schemas.microsoft.com/office/drawing/2014/main" id="{4EC0B74F-5D56-4323-B026-F3F7F2F03E0F}"/>
              </a:ext>
            </a:extLst>
          </p:cNvPr>
          <p:cNvSpPr>
            <a:spLocks xmlns:a="http://schemas.openxmlformats.org/drawingml/2006/main" noGrp="1"/>
          </p:cNvSpPr>
          <p:nvPr/>
        </p:nvSpPr>
        <p:spPr>
          <a:xfrm xmlns:a="http://schemas.openxmlformats.org/drawingml/2006/main" rot="0">
            <a:off x="998220" y="1255678"/>
            <a:ext cx="8425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 / 100bn / 200bn are illustrative cumulative investment pools; no time horizon is specified.</a:t>
            </a:r>
          </a:p>
        </p:txBody>
      </p:sp>
      <p:sp>
        <p:nvSpPr>
          <p:cNvPr id="40" name="Figure 7 label 39 line 1">
            <a:extLst xmlns:a="http://schemas.openxmlformats.org/drawingml/2006/main">
              <a:ext uri="{FF2B5EF4-FFF2-40B4-BE49-F238E27FC236}">
                <a16:creationId xmlns:a16="http://schemas.microsoft.com/office/drawing/2014/main" id="{602F4DC1-49F9-45FF-9F5C-913922F588B0}"/>
              </a:ext>
            </a:extLst>
          </p:cNvPr>
          <p:cNvSpPr>
            <a:spLocks xmlns:a="http://schemas.openxmlformats.org/drawingml/2006/main" noGrp="1"/>
          </p:cNvSpPr>
          <p:nvPr/>
        </p:nvSpPr>
        <p:spPr>
          <a:xfrm xmlns:a="http://schemas.openxmlformats.org/drawingml/2006/main" rot="0">
            <a:off x="999173" y="9256035"/>
            <a:ext cx="781719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Allocations: 30% / 25% / 20% / 15% / 10%. Research and manufacturing buckets are mutually exclusive.</a:t>
            </a:r>
          </a:p>
        </p:txBody>
      </p:sp>
      <p:sp>
        <p:nvSpPr>
          <p:cNvPr id="41" name="Figure 7 label 40 line 1">
            <a:extLst xmlns:a="http://schemas.openxmlformats.org/drawingml/2006/main">
              <a:ext uri="{FF2B5EF4-FFF2-40B4-BE49-F238E27FC236}">
                <a16:creationId xmlns:a16="http://schemas.microsoft.com/office/drawing/2014/main" id="{01C1C55C-4D11-4D34-90B8-77DA7666F35B}"/>
              </a:ext>
            </a:extLst>
          </p:cNvPr>
          <p:cNvSpPr>
            <a:spLocks xmlns:a="http://schemas.openxmlformats.org/drawingml/2006/main" noGrp="1"/>
          </p:cNvSpPr>
          <p:nvPr/>
        </p:nvSpPr>
        <p:spPr>
          <a:xfrm xmlns:a="http://schemas.openxmlformats.org/drawingml/2006/main" rot="0">
            <a:off x="1000316" y="9675546"/>
            <a:ext cx="6841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allocation assumptions. These are not realized funding, orders or annual TAMs.</a:t>
            </a:r>
          </a:p>
        </p:txBody>
      </p:sp>
      <p:sp>
        <p:nvSpPr>
          <p:cNvPr id="42" name="Figure 7 label 41 line 1">
            <a:extLst xmlns:a="http://schemas.openxmlformats.org/drawingml/2006/main">
              <a:ext uri="{FF2B5EF4-FFF2-40B4-BE49-F238E27FC236}">
                <a16:creationId xmlns:a16="http://schemas.microsoft.com/office/drawing/2014/main" id="{120D11F1-BF3D-42F0-9A12-E36D0B57AD79}"/>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43" name="Figure 7 label 42 line 1">
            <a:extLst xmlns:a="http://schemas.openxmlformats.org/drawingml/2006/main">
              <a:ext uri="{FF2B5EF4-FFF2-40B4-BE49-F238E27FC236}">
                <a16:creationId xmlns:a16="http://schemas.microsoft.com/office/drawing/2014/main" id="{A843CE51-9C53-4284-9203-BD9A9E0F51D5}"/>
              </a:ext>
            </a:extLst>
          </p:cNvPr>
          <p:cNvSpPr>
            <a:spLocks xmlns:a="http://schemas.openxmlformats.org/drawingml/2006/main" noGrp="1"/>
          </p:cNvSpPr>
          <p:nvPr/>
        </p:nvSpPr>
        <p:spPr>
          <a:xfrm xmlns:a="http://schemas.openxmlformats.org/drawingml/2006/main" rot="0">
            <a:off x="13597382" y="5630671"/>
            <a:ext cx="3502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Build phase → installed equipment</a:t>
            </a:r>
          </a:p>
        </p:txBody>
      </p:sp>
      <p:sp>
        <p:nvSpPr>
          <p:cNvPr id="44" name="Figure 7 label 43 line 1">
            <a:extLst xmlns:a="http://schemas.openxmlformats.org/drawingml/2006/main">
              <a:ext uri="{FF2B5EF4-FFF2-40B4-BE49-F238E27FC236}">
                <a16:creationId xmlns:a16="http://schemas.microsoft.com/office/drawing/2014/main" id="{9E8BCA61-096B-4C6C-ADCE-CBE1F460D4C2}"/>
              </a:ext>
            </a:extLst>
          </p:cNvPr>
          <p:cNvSpPr>
            <a:spLocks xmlns:a="http://schemas.openxmlformats.org/drawingml/2006/main" noGrp="1"/>
          </p:cNvSpPr>
          <p:nvPr/>
        </p:nvSpPr>
        <p:spPr>
          <a:xfrm xmlns:a="http://schemas.openxmlformats.org/drawingml/2006/main" rot="0">
            <a:off x="13598017" y="6356521"/>
            <a:ext cx="296470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Operate → recurring purchases</a:t>
            </a:r>
          </a:p>
        </p:txBody>
      </p:sp>
      <p:sp>
        <p:nvSpPr>
          <p:cNvPr id="45" name="Figure 7 label 44 line 1">
            <a:extLst xmlns:a="http://schemas.openxmlformats.org/drawingml/2006/main">
              <a:ext uri="{FF2B5EF4-FFF2-40B4-BE49-F238E27FC236}">
                <a16:creationId xmlns:a16="http://schemas.microsoft.com/office/drawing/2014/main" id="{13100FB8-A912-4C29-A8CA-AD001F22DFF1}"/>
              </a:ext>
            </a:extLst>
          </p:cNvPr>
          <p:cNvSpPr>
            <a:spLocks xmlns:a="http://schemas.openxmlformats.org/drawingml/2006/main" noGrp="1"/>
          </p:cNvSpPr>
          <p:nvPr/>
        </p:nvSpPr>
        <p:spPr>
          <a:xfrm xmlns:a="http://schemas.openxmlformats.org/drawingml/2006/main" rot="0">
            <a:off x="13599414" y="7029276"/>
            <a:ext cx="267545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Manufacturing needs drug output.</a:t>
            </a:r>
          </a:p>
        </p:txBody>
      </p:sp>
      <p:sp>
        <p:nvSpPr>
          <p:cNvPr id="46" name="Figure 7 label 45 line 1">
            <a:extLst xmlns:a="http://schemas.openxmlformats.org/drawingml/2006/main">
              <a:ext uri="{FF2B5EF4-FFF2-40B4-BE49-F238E27FC236}">
                <a16:creationId xmlns:a16="http://schemas.microsoft.com/office/drawing/2014/main" id="{933A51C7-530C-4C2D-BC55-20140FD1525E}"/>
              </a:ext>
            </a:extLst>
          </p:cNvPr>
          <p:cNvSpPr>
            <a:spLocks xmlns:a="http://schemas.openxmlformats.org/drawingml/2006/main" noGrp="1"/>
          </p:cNvSpPr>
          <p:nvPr/>
        </p:nvSpPr>
        <p:spPr>
          <a:xfrm xmlns:a="http://schemas.openxmlformats.org/drawingml/2006/main" rot="0">
            <a:off x="13631132" y="2528184"/>
            <a:ext cx="261014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equipment / automation</a:t>
            </a:r>
          </a:p>
        </p:txBody>
      </p:sp>
      <p:sp>
        <p:nvSpPr>
          <p:cNvPr id="47" name="Figure 7 label 46 line 1">
            <a:extLst xmlns:a="http://schemas.openxmlformats.org/drawingml/2006/main">
              <a:ext uri="{FF2B5EF4-FFF2-40B4-BE49-F238E27FC236}">
                <a16:creationId xmlns:a16="http://schemas.microsoft.com/office/drawing/2014/main" id="{074CDB6E-A1B8-4255-9572-AA3B41064B73}"/>
              </a:ext>
            </a:extLst>
          </p:cNvPr>
          <p:cNvSpPr>
            <a:spLocks xmlns:a="http://schemas.openxmlformats.org/drawingml/2006/main" noGrp="1"/>
          </p:cNvSpPr>
          <p:nvPr/>
        </p:nvSpPr>
        <p:spPr>
          <a:xfrm xmlns:a="http://schemas.openxmlformats.org/drawingml/2006/main" rot="0">
            <a:off x="13631132" y="2864060"/>
            <a:ext cx="151685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reagents</a:t>
            </a:r>
          </a:p>
        </p:txBody>
      </p:sp>
      <p:sp>
        <p:nvSpPr>
          <p:cNvPr id="48" name="Figure 7 label 47 line 1">
            <a:extLst xmlns:a="http://schemas.openxmlformats.org/drawingml/2006/main">
              <a:ext uri="{FF2B5EF4-FFF2-40B4-BE49-F238E27FC236}">
                <a16:creationId xmlns:a16="http://schemas.microsoft.com/office/drawing/2014/main" id="{41720D1B-0A7C-4BAA-BA27-1E92AD4DF987}"/>
              </a:ext>
            </a:extLst>
          </p:cNvPr>
          <p:cNvSpPr>
            <a:spLocks xmlns:a="http://schemas.openxmlformats.org/drawingml/2006/main" noGrp="1"/>
          </p:cNvSpPr>
          <p:nvPr/>
        </p:nvSpPr>
        <p:spPr>
          <a:xfrm xmlns:a="http://schemas.openxmlformats.org/drawingml/2006/main" rot="0">
            <a:off x="13631132" y="3201732"/>
            <a:ext cx="1850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consumables</a:t>
            </a:r>
          </a:p>
        </p:txBody>
      </p:sp>
      <p:sp>
        <p:nvSpPr>
          <p:cNvPr id="49" name="Figure 7 label 48 line 1">
            <a:extLst xmlns:a="http://schemas.openxmlformats.org/drawingml/2006/main">
              <a:ext uri="{FF2B5EF4-FFF2-40B4-BE49-F238E27FC236}">
                <a16:creationId xmlns:a16="http://schemas.microsoft.com/office/drawing/2014/main" id="{C5EB3874-4ACD-45ED-97DC-E634D40CF195}"/>
              </a:ext>
            </a:extLst>
          </p:cNvPr>
          <p:cNvSpPr>
            <a:spLocks xmlns:a="http://schemas.openxmlformats.org/drawingml/2006/main" noGrp="1"/>
          </p:cNvSpPr>
          <p:nvPr/>
        </p:nvSpPr>
        <p:spPr>
          <a:xfrm xmlns:a="http://schemas.openxmlformats.org/drawingml/2006/main" rot="0">
            <a:off x="13631132" y="3539639"/>
            <a:ext cx="24154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Manufacturing bioprocess tools</a:t>
            </a:r>
          </a:p>
        </p:txBody>
      </p:sp>
      <p:sp>
        <p:nvSpPr>
          <p:cNvPr id="50" name="Figure 7 label 49 line 1">
            <a:extLst xmlns:a="http://schemas.openxmlformats.org/drawingml/2006/main">
              <a:ext uri="{FF2B5EF4-FFF2-40B4-BE49-F238E27FC236}">
                <a16:creationId xmlns:a16="http://schemas.microsoft.com/office/drawing/2014/main" id="{7B2E98F0-A7BC-4579-94A3-A566E8A4832F}"/>
              </a:ext>
            </a:extLst>
          </p:cNvPr>
          <p:cNvSpPr>
            <a:spLocks xmlns:a="http://schemas.openxmlformats.org/drawingml/2006/main" noGrp="1"/>
          </p:cNvSpPr>
          <p:nvPr/>
        </p:nvSpPr>
        <p:spPr>
          <a:xfrm xmlns:a="http://schemas.openxmlformats.org/drawingml/2006/main" rot="0">
            <a:off x="13631132" y="3877311"/>
            <a:ext cx="126637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Services / other</a:t>
            </a:r>
          </a:p>
        </p:txBody>
      </p:sp>
    </p:spTree>
    <p:extLst>
      <p:ext uri="{BB962C8B-B14F-4D97-AF65-F5344CB8AC3E}">
        <p14:creationId xmlns:p14="http://schemas.microsoft.com/office/powerpoint/2010/main" val="1867830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2026-10-13T06:02:14.2830000Z</dcterms:created>
  <dcterms:modified xsi:type="dcterms:W3CDTF">2026-10-13T06:02:14.2830000Z</dcterms:modified>
</coreProperties>
</file>