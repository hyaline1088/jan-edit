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e1d0c02365486b" /><Relationship Type="http://schemas.openxmlformats.org/officeDocument/2006/relationships/extended-properties" Target="/docProps/app.xml" Id="Raadd08dd179a43b9" /><Relationship Type="http://schemas.openxmlformats.org/officeDocument/2006/relationships/officeDocument" Target="/ppt/presentation.xml" Id="R9fa5907b6b344f9a" /></Relationships>
</file>

<file path=ppt/presentation.xml><?xml version="1.0" encoding="utf-8"?>
<p:presentation xmlns:p="http://schemas.openxmlformats.org/presentationml/2006/main">
  <p:sldMasterIdLst>
    <p:sldMasterId xmlns:r="http://schemas.openxmlformats.org/officeDocument/2006/relationships" id="2147483648" r:id="R5a9b411954d5467b"/>
  </p:sldMasterIdLst>
  <p:notesMasterIdLst>
    <p:notesMasterId xmlns:r="http://schemas.openxmlformats.org/officeDocument/2006/relationships" r:id="R338ccfec515c431e"/>
  </p:notesMasterIdLst>
  <p:sldIdLst>
    <p:sldId xmlns:r="http://schemas.openxmlformats.org/officeDocument/2006/relationships" id="256" r:id="Reb785aa666b348e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a9c257fe9b44d8" /><Relationship Type="http://schemas.openxmlformats.org/officeDocument/2006/relationships/slideMaster" Target="/ppt/slideMasters/slideMaster1.xml" Id="R5a9b411954d5467b" /><Relationship Type="http://schemas.openxmlformats.org/officeDocument/2006/relationships/notesMaster" Target="/ppt/notesMasters/notesMaster1.xml" Id="R338ccfec515c431e" /><Relationship Type="http://schemas.openxmlformats.org/officeDocument/2006/relationships/presProps" Target="/ppt/presProps.xml" Id="R3a1e61a151bd4e8d" /><Relationship Type="http://schemas.openxmlformats.org/officeDocument/2006/relationships/tableStyles" Target="/ppt/tableStyles.xml" Id="Ra6d3560b946d47fc" /><Relationship Type="http://schemas.openxmlformats.org/officeDocument/2006/relationships/slide" Target="/ppt/slides/slide1.xml" Id="Reb785aa666b348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5027c39c094d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7cfd0d6a0e4030" /><Relationship Type="http://schemas.openxmlformats.org/officeDocument/2006/relationships/notesMaster" Target="/ppt/notesMasters/notesMaster1.xml" Id="Rc0f6ab68199446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10: From AI funding to LST shareholder returns</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172ae7713d42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8bd3b732e442b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6c5c6065d114ac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fbb01c970341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5c0f190c7dd45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e2ba072ca14a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4B83A0-09A3-4FEF-BED1-91F4F6EC598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7ED62F-A26A-4B02-9977-44A221FE204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C5D465-0DB3-492B-BDED-914A8B179FE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C0EAB4-7F12-4015-9B6D-96A0FAC6F15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4CABBE-B501-4C05-A776-B0D0671CC62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5DF615-7C56-41F2-86D4-2A107540C9D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C856D-0567-42BE-959A-E52B6A289B3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A74224-2A3C-4429-8210-27B5C2B15AE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80D093-E26B-4F28-A2A0-2B710C9F382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DF9D0-C90B-4E92-8F3F-0E23D1FA792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58da45917e4e48" /><Relationship Type="http://schemas.openxmlformats.org/officeDocument/2006/relationships/slideLayout" Target="/ppt/slideLayouts/slideLayout1.xml" Id="R5ec93ca8cf514e7a" /><Relationship Type="http://schemas.openxmlformats.org/officeDocument/2006/relationships/slideLayout" Target="/ppt/slideLayouts/slideLayout2.xml" Id="R2ca5da9f480249a7" /><Relationship Type="http://schemas.openxmlformats.org/officeDocument/2006/relationships/slideLayout" Target="/ppt/slideLayouts/slideLayout3.xml" Id="Raf73e721cf0648db" /><Relationship Type="http://schemas.openxmlformats.org/officeDocument/2006/relationships/slideLayout" Target="/ppt/slideLayouts/slideLayout4.xml" Id="R0a7fbc4a75d24dff" /><Relationship Type="http://schemas.openxmlformats.org/officeDocument/2006/relationships/slideLayout" Target="/ppt/slideLayouts/slideLayout5.xml" Id="Rbb59b73dd51c426c" /><Relationship Type="http://schemas.openxmlformats.org/officeDocument/2006/relationships/slideLayout" Target="/ppt/slideLayouts/slideLayout6.xml" Id="Rc473b9270f054e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c93ca8cf514e7a"/>
    <p:sldLayoutId xmlns:r="http://schemas.openxmlformats.org/officeDocument/2006/relationships" id="2147483650" r:id="R2ca5da9f480249a7"/>
    <p:sldLayoutId xmlns:r="http://schemas.openxmlformats.org/officeDocument/2006/relationships" id="2147483651" r:id="Raf73e721cf0648db"/>
    <p:sldLayoutId xmlns:r="http://schemas.openxmlformats.org/officeDocument/2006/relationships" id="2147483652" r:id="R0a7fbc4a75d24dff"/>
    <p:sldLayoutId xmlns:r="http://schemas.openxmlformats.org/officeDocument/2006/relationships" id="2147483653" r:id="Rbb59b73dd51c426c"/>
    <p:sldLayoutId xmlns:r="http://schemas.openxmlformats.org/officeDocument/2006/relationships" id="2147483654" r:id="Rc473b9270f054e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6be20be2afc4061" /><Relationship Type="http://schemas.openxmlformats.org/officeDocument/2006/relationships/image" Target="/ppt/media/image.png" Id="R809d16ecd0a94762" /><Relationship Type="http://schemas.openxmlformats.org/officeDocument/2006/relationships/notesSlide" Target="/ppt/notesSlides/notesSlide1.xml" Id="Rc7fb205288ad464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
            <a:extLst xmlns:a="http://schemas.openxmlformats.org/drawingml/2006/main">
              <a:ext uri="{FF2B5EF4-FFF2-40B4-BE49-F238E27FC236}">
                <a16:creationId xmlns:a16="http://schemas.microsoft.com/office/drawing/2014/main" id="{43958F13-C6EF-4E0A-933A-8C7EEFDBB174}"/>
              </a:ext>
            </a:extLst>
          </p:cNvPr>
          <p:cNvPicPr>
            <a:picLocks xmlns:a="http://schemas.openxmlformats.org/drawingml/2006/main" noChangeAspect="1"/>
          </p:cNvPicPr>
          <p:nvPr/>
        </p:nvPicPr>
        <p:blipFill>
          <a:blip xmlns:r="http://schemas.openxmlformats.org/officeDocument/2006/relationships" xmlns:a="http://schemas.openxmlformats.org/drawingml/2006/main" r:embed="R809d16ecd0a9476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0 label 1 line 1">
            <a:extLst xmlns:a="http://schemas.openxmlformats.org/drawingml/2006/main">
              <a:ext uri="{FF2B5EF4-FFF2-40B4-BE49-F238E27FC236}">
                <a16:creationId xmlns:a16="http://schemas.microsoft.com/office/drawing/2014/main" id="{6BE0E028-0FD0-4663-AD94-A73E404A3526}"/>
              </a:ext>
            </a:extLst>
          </p:cNvPr>
          <p:cNvSpPr>
            <a:spLocks xmlns:a="http://schemas.openxmlformats.org/drawingml/2006/main" noGrp="1"/>
          </p:cNvSpPr>
          <p:nvPr/>
        </p:nvSpPr>
        <p:spPr>
          <a:xfrm xmlns:a="http://schemas.openxmlformats.org/drawingml/2006/main" rot="0">
            <a:off x="991870" y="421920"/>
            <a:ext cx="7447260"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10  From AI funding to LST shareholder returns</a:t>
            </a:r>
          </a:p>
        </p:txBody>
      </p:sp>
      <p:sp>
        <p:nvSpPr>
          <p:cNvPr id="3" name="Figure 10 label 2 line 1">
            <a:extLst xmlns:a="http://schemas.openxmlformats.org/drawingml/2006/main">
              <a:ext uri="{FF2B5EF4-FFF2-40B4-BE49-F238E27FC236}">
                <a16:creationId xmlns:a16="http://schemas.microsoft.com/office/drawing/2014/main" id="{C3DA1050-0870-442F-ADB6-7D962742555C}"/>
              </a:ext>
            </a:extLst>
          </p:cNvPr>
          <p:cNvSpPr>
            <a:spLocks xmlns:a="http://schemas.openxmlformats.org/drawingml/2006/main" noGrp="1"/>
          </p:cNvSpPr>
          <p:nvPr/>
        </p:nvSpPr>
        <p:spPr>
          <a:xfrm xmlns:a="http://schemas.openxmlformats.org/drawingml/2006/main" rot="0">
            <a:off x="15909231" y="661601"/>
            <a:ext cx="64273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THESIS</a:t>
            </a:r>
          </a:p>
        </p:txBody>
      </p:sp>
      <p:sp>
        <p:nvSpPr>
          <p:cNvPr id="4" name="Figure 10 label 3 line 1">
            <a:extLst xmlns:a="http://schemas.openxmlformats.org/drawingml/2006/main">
              <a:ext uri="{FF2B5EF4-FFF2-40B4-BE49-F238E27FC236}">
                <a16:creationId xmlns:a16="http://schemas.microsoft.com/office/drawing/2014/main" id="{927F6BB6-6FDE-4F03-8396-4E1A84120DA9}"/>
              </a:ext>
            </a:extLst>
          </p:cNvPr>
          <p:cNvSpPr>
            <a:spLocks xmlns:a="http://schemas.openxmlformats.org/drawingml/2006/main" noGrp="1"/>
          </p:cNvSpPr>
          <p:nvPr/>
        </p:nvSpPr>
        <p:spPr>
          <a:xfrm xmlns:a="http://schemas.openxmlformats.org/drawingml/2006/main" rot="0">
            <a:off x="998220" y="1248326"/>
            <a:ext cx="953720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Funding starts the chain. Projects, consumption, supply, market share and cash returns determine the outcome.</a:t>
            </a:r>
          </a:p>
        </p:txBody>
      </p:sp>
      <p:sp>
        <p:nvSpPr>
          <p:cNvPr id="5" name="Figure 10 label 4 line 1">
            <a:extLst xmlns:a="http://schemas.openxmlformats.org/drawingml/2006/main">
              <a:ext uri="{FF2B5EF4-FFF2-40B4-BE49-F238E27FC236}">
                <a16:creationId xmlns:a16="http://schemas.microsoft.com/office/drawing/2014/main" id="{001F1B6A-DBF3-4E21-9406-CA525C39B1DF}"/>
              </a:ext>
            </a:extLst>
          </p:cNvPr>
          <p:cNvSpPr>
            <a:spLocks xmlns:a="http://schemas.openxmlformats.org/drawingml/2006/main" noGrp="1"/>
          </p:cNvSpPr>
          <p:nvPr/>
        </p:nvSpPr>
        <p:spPr>
          <a:xfrm xmlns:a="http://schemas.openxmlformats.org/drawingml/2006/main" rot="0">
            <a:off x="999173" y="9256035"/>
            <a:ext cx="778058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Seek experimental relevance, evidenced supply constraints and global access; test the valuation hurdle.</a:t>
            </a:r>
          </a:p>
        </p:txBody>
      </p:sp>
      <p:sp>
        <p:nvSpPr>
          <p:cNvPr id="6" name="Figure 10 label 5 line 1">
            <a:extLst xmlns:a="http://schemas.openxmlformats.org/drawingml/2006/main">
              <a:ext uri="{FF2B5EF4-FFF2-40B4-BE49-F238E27FC236}">
                <a16:creationId xmlns:a16="http://schemas.microsoft.com/office/drawing/2014/main" id="{B7D455B0-AA65-4A1B-89DA-6F94D49234C1}"/>
              </a:ext>
            </a:extLst>
          </p:cNvPr>
          <p:cNvSpPr>
            <a:spLocks xmlns:a="http://schemas.openxmlformats.org/drawingml/2006/main" noGrp="1"/>
          </p:cNvSpPr>
          <p:nvPr/>
        </p:nvSpPr>
        <p:spPr>
          <a:xfrm xmlns:a="http://schemas.openxmlformats.org/drawingml/2006/main" rot="0">
            <a:off x="1000316" y="9675546"/>
            <a:ext cx="6311533"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prior company research. Capital announcements are not LST orders.</a:t>
            </a:r>
          </a:p>
        </p:txBody>
      </p:sp>
      <p:sp>
        <p:nvSpPr>
          <p:cNvPr id="7" name="Figure 10 label 6 line 1">
            <a:extLst xmlns:a="http://schemas.openxmlformats.org/drawingml/2006/main">
              <a:ext uri="{FF2B5EF4-FFF2-40B4-BE49-F238E27FC236}">
                <a16:creationId xmlns:a16="http://schemas.microsoft.com/office/drawing/2014/main" id="{25EAA001-26DB-4385-BC7E-0460CBABE774}"/>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10 label 7 line 1">
            <a:extLst xmlns:a="http://schemas.openxmlformats.org/drawingml/2006/main">
              <a:ext uri="{FF2B5EF4-FFF2-40B4-BE49-F238E27FC236}">
                <a16:creationId xmlns:a16="http://schemas.microsoft.com/office/drawing/2014/main" id="{810F08A6-9E53-46DE-A419-1DFE47EE0DC8}"/>
              </a:ext>
            </a:extLst>
          </p:cNvPr>
          <p:cNvSpPr>
            <a:spLocks xmlns:a="http://schemas.openxmlformats.org/drawingml/2006/main" noGrp="1"/>
          </p:cNvSpPr>
          <p:nvPr/>
        </p:nvSpPr>
        <p:spPr>
          <a:xfrm xmlns:a="http://schemas.openxmlformats.org/drawingml/2006/main" rot="0">
            <a:off x="1372389" y="2964153"/>
            <a:ext cx="1735782"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AI funding grows</a:t>
            </a:r>
          </a:p>
        </p:txBody>
      </p:sp>
      <p:sp>
        <p:nvSpPr>
          <p:cNvPr id="9" name="Figure 10 label 8 line 1">
            <a:extLst xmlns:a="http://schemas.openxmlformats.org/drawingml/2006/main">
              <a:ext uri="{FF2B5EF4-FFF2-40B4-BE49-F238E27FC236}">
                <a16:creationId xmlns:a16="http://schemas.microsoft.com/office/drawing/2014/main" id="{E81408CE-890B-4FA3-8A94-20C25E617492}"/>
              </a:ext>
            </a:extLst>
          </p:cNvPr>
          <p:cNvSpPr>
            <a:spLocks xmlns:a="http://schemas.openxmlformats.org/drawingml/2006/main" noGrp="1"/>
          </p:cNvSpPr>
          <p:nvPr/>
        </p:nvSpPr>
        <p:spPr>
          <a:xfrm xmlns:a="http://schemas.openxmlformats.org/drawingml/2006/main" rot="0">
            <a:off x="1255340" y="3750783"/>
            <a:ext cx="1969879"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Cash reaches customers</a:t>
            </a:r>
          </a:p>
        </p:txBody>
      </p:sp>
      <p:sp>
        <p:nvSpPr>
          <p:cNvPr id="10" name="Figure 10 label 9 line 1">
            <a:extLst xmlns:a="http://schemas.openxmlformats.org/drawingml/2006/main">
              <a:ext uri="{FF2B5EF4-FFF2-40B4-BE49-F238E27FC236}">
                <a16:creationId xmlns:a16="http://schemas.microsoft.com/office/drawing/2014/main" id="{70B06E05-5F7F-472C-A576-B7029575442A}"/>
              </a:ext>
            </a:extLst>
          </p:cNvPr>
          <p:cNvSpPr>
            <a:spLocks xmlns:a="http://schemas.openxmlformats.org/drawingml/2006/main" noGrp="1"/>
          </p:cNvSpPr>
          <p:nvPr/>
        </p:nvSpPr>
        <p:spPr>
          <a:xfrm xmlns:a="http://schemas.openxmlformats.org/drawingml/2006/main" rot="0">
            <a:off x="4485941" y="2964002"/>
            <a:ext cx="1616869"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Lab automation</a:t>
            </a:r>
          </a:p>
        </p:txBody>
      </p:sp>
      <p:sp>
        <p:nvSpPr>
          <p:cNvPr id="11" name="Figure 10 label 10 line 1">
            <a:extLst xmlns:a="http://schemas.openxmlformats.org/drawingml/2006/main">
              <a:ext uri="{FF2B5EF4-FFF2-40B4-BE49-F238E27FC236}">
                <a16:creationId xmlns:a16="http://schemas.microsoft.com/office/drawing/2014/main" id="{2A0A9B89-9FD7-40EB-B4F5-5D13A8C16E03}"/>
              </a:ext>
            </a:extLst>
          </p:cNvPr>
          <p:cNvSpPr>
            <a:spLocks xmlns:a="http://schemas.openxmlformats.org/drawingml/2006/main" noGrp="1"/>
          </p:cNvSpPr>
          <p:nvPr/>
        </p:nvSpPr>
        <p:spPr>
          <a:xfrm xmlns:a="http://schemas.openxmlformats.org/drawingml/2006/main" rot="0">
            <a:off x="4505592" y="3750783"/>
            <a:ext cx="1577568"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Equipment installed</a:t>
            </a:r>
          </a:p>
        </p:txBody>
      </p:sp>
      <p:sp>
        <p:nvSpPr>
          <p:cNvPr id="12" name="Figure 10 label 11 line 1">
            <a:extLst xmlns:a="http://schemas.openxmlformats.org/drawingml/2006/main">
              <a:ext uri="{FF2B5EF4-FFF2-40B4-BE49-F238E27FC236}">
                <a16:creationId xmlns:a16="http://schemas.microsoft.com/office/drawing/2014/main" id="{EE3B01C2-E5F9-4083-96C8-AAE41C6708D3}"/>
              </a:ext>
            </a:extLst>
          </p:cNvPr>
          <p:cNvSpPr>
            <a:spLocks xmlns:a="http://schemas.openxmlformats.org/drawingml/2006/main" noGrp="1"/>
          </p:cNvSpPr>
          <p:nvPr/>
        </p:nvSpPr>
        <p:spPr>
          <a:xfrm xmlns:a="http://schemas.openxmlformats.org/drawingml/2006/main" rot="0">
            <a:off x="7242456" y="2964002"/>
            <a:ext cx="2212032"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Build-and-test volume</a:t>
            </a:r>
          </a:p>
        </p:txBody>
      </p:sp>
      <p:sp>
        <p:nvSpPr>
          <p:cNvPr id="13" name="Figure 10 label 12 line 1">
            <a:extLst xmlns:a="http://schemas.openxmlformats.org/drawingml/2006/main">
              <a:ext uri="{FF2B5EF4-FFF2-40B4-BE49-F238E27FC236}">
                <a16:creationId xmlns:a16="http://schemas.microsoft.com/office/drawing/2014/main" id="{5A00AC15-3B11-4D56-8E35-EA37B17A2056}"/>
              </a:ext>
            </a:extLst>
          </p:cNvPr>
          <p:cNvSpPr>
            <a:spLocks xmlns:a="http://schemas.openxmlformats.org/drawingml/2006/main" noGrp="1"/>
          </p:cNvSpPr>
          <p:nvPr/>
        </p:nvSpPr>
        <p:spPr>
          <a:xfrm xmlns:a="http://schemas.openxmlformats.org/drawingml/2006/main" rot="0">
            <a:off x="7503654" y="3750980"/>
            <a:ext cx="1689636"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More funded projects</a:t>
            </a:r>
          </a:p>
        </p:txBody>
      </p:sp>
      <p:sp>
        <p:nvSpPr>
          <p:cNvPr id="14" name="Figure 10 label 13 line 1">
            <a:extLst xmlns:a="http://schemas.openxmlformats.org/drawingml/2006/main">
              <a:ext uri="{FF2B5EF4-FFF2-40B4-BE49-F238E27FC236}">
                <a16:creationId xmlns:a16="http://schemas.microsoft.com/office/drawing/2014/main" id="{E4301BAD-B9D7-486A-B63D-58A7BF8ED4A1}"/>
              </a:ext>
            </a:extLst>
          </p:cNvPr>
          <p:cNvSpPr>
            <a:spLocks xmlns:a="http://schemas.openxmlformats.org/drawingml/2006/main" noGrp="1"/>
          </p:cNvSpPr>
          <p:nvPr/>
        </p:nvSpPr>
        <p:spPr>
          <a:xfrm xmlns:a="http://schemas.openxmlformats.org/drawingml/2006/main" rot="0">
            <a:off x="10522844" y="2964002"/>
            <a:ext cx="1759446"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FFFFFF"/>
                </a:solidFill>
                <a:latin typeface="Arial Unicode MS"/>
                <a:ea typeface="Arial Unicode MS"/>
                <a:cs typeface="Arial Unicode MS"/>
              </a:defRPr>
            </a:defPPr>
          </a:lstStyle>
          <a:p xmlns:a="http://schemas.openxmlformats.org/drawingml/2006/main">
            <a:pPr algn="ctr">
              <a:lnSpc>
                <a:spcPct val="100000"/>
              </a:lnSpc>
              <a:buNone/>
              <a:defRPr sz="1688" b="1">
                <a:solidFill>
                  <a:srgbClr val="FFFFFF"/>
                </a:solidFill>
                <a:latin typeface="Arial Unicode MS"/>
                <a:ea typeface="Arial Unicode MS"/>
                <a:cs typeface="Arial Unicode MS"/>
              </a:defRPr>
            </a:pPr>
            <a:r>
              <a:rPr sz="1688" b="1">
                <a:solidFill>
                  <a:srgbClr val="FFFFFF"/>
                </a:solidFill>
                <a:latin typeface="Arial Unicode MS"/>
                <a:ea typeface="Arial Unicode MS"/>
                <a:cs typeface="Arial Unicode MS"/>
              </a:rPr>
              <a:t>Net LST demand</a:t>
            </a:r>
          </a:p>
        </p:txBody>
      </p:sp>
      <p:sp>
        <p:nvSpPr>
          <p:cNvPr id="15" name="Figure 10 label 14 line 1">
            <a:extLst xmlns:a="http://schemas.openxmlformats.org/drawingml/2006/main">
              <a:ext uri="{FF2B5EF4-FFF2-40B4-BE49-F238E27FC236}">
                <a16:creationId xmlns:a16="http://schemas.microsoft.com/office/drawing/2014/main" id="{9FC8D1A7-D163-4FCF-B128-BE15F1995CB0}"/>
              </a:ext>
            </a:extLst>
          </p:cNvPr>
          <p:cNvSpPr>
            <a:spLocks xmlns:a="http://schemas.openxmlformats.org/drawingml/2006/main" noGrp="1"/>
          </p:cNvSpPr>
          <p:nvPr/>
        </p:nvSpPr>
        <p:spPr>
          <a:xfrm xmlns:a="http://schemas.openxmlformats.org/drawingml/2006/main" rot="0">
            <a:off x="10429162" y="3750901"/>
            <a:ext cx="1946811"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325" b="0">
                <a:solidFill>
                  <a:srgbClr val="FFFFFF"/>
                </a:solidFill>
                <a:latin typeface="Arial Unicode MS"/>
                <a:ea typeface="Arial Unicode MS"/>
                <a:cs typeface="Arial Unicode MS"/>
              </a:defRPr>
            </a:pPr>
            <a:r>
              <a:rPr sz="1325" b="0">
                <a:solidFill>
                  <a:srgbClr val="FFFFFF"/>
                </a:solidFill>
                <a:latin typeface="Arial Unicode MS"/>
                <a:ea typeface="Arial Unicode MS"/>
                <a:cs typeface="Arial Unicode MS"/>
              </a:rPr>
              <a:t>Intensity + ASP adjusted</a:t>
            </a:r>
          </a:p>
        </p:txBody>
      </p:sp>
      <p:sp>
        <p:nvSpPr>
          <p:cNvPr id="16" name="Figure 10 label 15 line 1">
            <a:extLst xmlns:a="http://schemas.openxmlformats.org/drawingml/2006/main">
              <a:ext uri="{FF2B5EF4-FFF2-40B4-BE49-F238E27FC236}">
                <a16:creationId xmlns:a16="http://schemas.microsoft.com/office/drawing/2014/main" id="{6C5CFA71-75CB-42F1-B00E-DC4FF117332E}"/>
              </a:ext>
            </a:extLst>
          </p:cNvPr>
          <p:cNvSpPr>
            <a:spLocks xmlns:a="http://schemas.openxmlformats.org/drawingml/2006/main" noGrp="1"/>
          </p:cNvSpPr>
          <p:nvPr/>
        </p:nvSpPr>
        <p:spPr>
          <a:xfrm xmlns:a="http://schemas.openxmlformats.org/drawingml/2006/main" rot="0">
            <a:off x="13926566" y="2359405"/>
            <a:ext cx="158958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Direct demand</a:t>
            </a:r>
          </a:p>
        </p:txBody>
      </p:sp>
      <p:sp>
        <p:nvSpPr>
          <p:cNvPr id="17" name="Figure 10 label 16 line 1">
            <a:extLst xmlns:a="http://schemas.openxmlformats.org/drawingml/2006/main">
              <a:ext uri="{FF2B5EF4-FFF2-40B4-BE49-F238E27FC236}">
                <a16:creationId xmlns:a16="http://schemas.microsoft.com/office/drawing/2014/main" id="{2830A90A-2B0D-4D23-A487-9FF8B273643C}"/>
              </a:ext>
            </a:extLst>
          </p:cNvPr>
          <p:cNvSpPr>
            <a:spLocks xmlns:a="http://schemas.openxmlformats.org/drawingml/2006/main" noGrp="1"/>
          </p:cNvSpPr>
          <p:nvPr/>
        </p:nvSpPr>
        <p:spPr>
          <a:xfrm xmlns:a="http://schemas.openxmlformats.org/drawingml/2006/main" rot="0">
            <a:off x="13928598" y="2863125"/>
            <a:ext cx="225575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Assays, automation labware</a:t>
            </a:r>
          </a:p>
        </p:txBody>
      </p:sp>
      <p:sp>
        <p:nvSpPr>
          <p:cNvPr id="18" name="Figure 10 label 17 line 1">
            <a:extLst xmlns:a="http://schemas.openxmlformats.org/drawingml/2006/main">
              <a:ext uri="{FF2B5EF4-FFF2-40B4-BE49-F238E27FC236}">
                <a16:creationId xmlns:a16="http://schemas.microsoft.com/office/drawing/2014/main" id="{1D4D7801-1CFE-494A-B6C3-745A82F9C69F}"/>
              </a:ext>
            </a:extLst>
          </p:cNvPr>
          <p:cNvSpPr>
            <a:spLocks xmlns:a="http://schemas.openxmlformats.org/drawingml/2006/main" noGrp="1"/>
          </p:cNvSpPr>
          <p:nvPr/>
        </p:nvSpPr>
        <p:spPr>
          <a:xfrm xmlns:a="http://schemas.openxmlformats.org/drawingml/2006/main" rot="0">
            <a:off x="13928598" y="3107755"/>
            <a:ext cx="229400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and chemical building blocks</a:t>
            </a:r>
          </a:p>
        </p:txBody>
      </p:sp>
      <p:sp>
        <p:nvSpPr>
          <p:cNvPr id="19" name="Figure 10 label 18 line 1">
            <a:extLst xmlns:a="http://schemas.openxmlformats.org/drawingml/2006/main">
              <a:ext uri="{FF2B5EF4-FFF2-40B4-BE49-F238E27FC236}">
                <a16:creationId xmlns:a16="http://schemas.microsoft.com/office/drawing/2014/main" id="{99D4B7D9-83E9-4635-9ABD-C0E161D08929}"/>
              </a:ext>
            </a:extLst>
          </p:cNvPr>
          <p:cNvSpPr>
            <a:spLocks xmlns:a="http://schemas.openxmlformats.org/drawingml/2006/main" noGrp="1"/>
          </p:cNvSpPr>
          <p:nvPr/>
        </p:nvSpPr>
        <p:spPr>
          <a:xfrm xmlns:a="http://schemas.openxmlformats.org/drawingml/2006/main" rot="0">
            <a:off x="13926566" y="4416961"/>
            <a:ext cx="196031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Supply constraints</a:t>
            </a:r>
          </a:p>
        </p:txBody>
      </p:sp>
      <p:sp>
        <p:nvSpPr>
          <p:cNvPr id="20" name="Figure 10 label 19 line 1">
            <a:extLst xmlns:a="http://schemas.openxmlformats.org/drawingml/2006/main">
              <a:ext uri="{FF2B5EF4-FFF2-40B4-BE49-F238E27FC236}">
                <a16:creationId xmlns:a16="http://schemas.microsoft.com/office/drawing/2014/main" id="{C9E9B417-8910-4BE8-87FA-FB54FA7DD7DC}"/>
              </a:ext>
            </a:extLst>
          </p:cNvPr>
          <p:cNvSpPr>
            <a:spLocks xmlns:a="http://schemas.openxmlformats.org/drawingml/2006/main" noGrp="1"/>
          </p:cNvSpPr>
          <p:nvPr/>
        </p:nvSpPr>
        <p:spPr>
          <a:xfrm xmlns:a="http://schemas.openxmlformats.org/drawingml/2006/main" rot="0">
            <a:off x="13928598" y="4922494"/>
            <a:ext cx="238925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Specialty plates / components</a:t>
            </a:r>
          </a:p>
        </p:txBody>
      </p:sp>
      <p:sp>
        <p:nvSpPr>
          <p:cNvPr id="21" name="Figure 10 label 20 line 1">
            <a:extLst xmlns:a="http://schemas.openxmlformats.org/drawingml/2006/main">
              <a:ext uri="{FF2B5EF4-FFF2-40B4-BE49-F238E27FC236}">
                <a16:creationId xmlns:a16="http://schemas.microsoft.com/office/drawing/2014/main" id="{71B84898-BC9B-43D4-9D61-B02BCE88942D}"/>
              </a:ext>
            </a:extLst>
          </p:cNvPr>
          <p:cNvSpPr>
            <a:spLocks xmlns:a="http://schemas.openxmlformats.org/drawingml/2006/main" noGrp="1"/>
          </p:cNvSpPr>
          <p:nvPr/>
        </p:nvSpPr>
        <p:spPr>
          <a:xfrm xmlns:a="http://schemas.openxmlformats.org/drawingml/2006/main" rot="0">
            <a:off x="13928598" y="5167124"/>
            <a:ext cx="251323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Expansion limits need evidence</a:t>
            </a:r>
          </a:p>
        </p:txBody>
      </p:sp>
      <p:sp>
        <p:nvSpPr>
          <p:cNvPr id="22" name="Figure 10 label 21 line 1">
            <a:extLst xmlns:a="http://schemas.openxmlformats.org/drawingml/2006/main">
              <a:ext uri="{FF2B5EF4-FFF2-40B4-BE49-F238E27FC236}">
                <a16:creationId xmlns:a16="http://schemas.microsoft.com/office/drawing/2014/main" id="{57BFB931-A747-4D38-A28F-9F52A20035D2}"/>
              </a:ext>
            </a:extLst>
          </p:cNvPr>
          <p:cNvSpPr>
            <a:spLocks xmlns:a="http://schemas.openxmlformats.org/drawingml/2006/main" noGrp="1"/>
          </p:cNvSpPr>
          <p:nvPr/>
        </p:nvSpPr>
        <p:spPr>
          <a:xfrm xmlns:a="http://schemas.openxmlformats.org/drawingml/2006/main" rot="0">
            <a:off x="13926566" y="6474205"/>
            <a:ext cx="1874143"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Listed candidates</a:t>
            </a:r>
          </a:p>
        </p:txBody>
      </p:sp>
      <p:sp>
        <p:nvSpPr>
          <p:cNvPr id="23" name="Figure 10 label 22 line 1">
            <a:extLst xmlns:a="http://schemas.openxmlformats.org/drawingml/2006/main">
              <a:ext uri="{FF2B5EF4-FFF2-40B4-BE49-F238E27FC236}">
                <a16:creationId xmlns:a16="http://schemas.microsoft.com/office/drawing/2014/main" id="{8BAF0848-55BF-4245-BC80-0501BD467032}"/>
              </a:ext>
            </a:extLst>
          </p:cNvPr>
          <p:cNvSpPr>
            <a:spLocks xmlns:a="http://schemas.openxmlformats.org/drawingml/2006/main" noGrp="1"/>
          </p:cNvSpPr>
          <p:nvPr/>
        </p:nvSpPr>
        <p:spPr>
          <a:xfrm xmlns:a="http://schemas.openxmlformats.org/drawingml/2006/main" rot="0">
            <a:off x="13928598" y="6977194"/>
            <a:ext cx="268408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ACRO, Vazyme, Sino, NanoMicro</a:t>
            </a:r>
          </a:p>
        </p:txBody>
      </p:sp>
      <p:sp>
        <p:nvSpPr>
          <p:cNvPr id="24" name="Figure 10 label 23 line 1">
            <a:extLst xmlns:a="http://schemas.openxmlformats.org/drawingml/2006/main">
              <a:ext uri="{FF2B5EF4-FFF2-40B4-BE49-F238E27FC236}">
                <a16:creationId xmlns:a16="http://schemas.microsoft.com/office/drawing/2014/main" id="{3CF2ED1B-A918-4FED-AD6D-172E11E4545E}"/>
              </a:ext>
            </a:extLst>
          </p:cNvPr>
          <p:cNvSpPr>
            <a:spLocks xmlns:a="http://schemas.openxmlformats.org/drawingml/2006/main" noGrp="1"/>
          </p:cNvSpPr>
          <p:nvPr/>
        </p:nvSpPr>
        <p:spPr>
          <a:xfrm xmlns:a="http://schemas.openxmlformats.org/drawingml/2006/main" rot="0">
            <a:off x="13928598" y="7225376"/>
            <a:ext cx="225605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JET, Changhong and others</a:t>
            </a:r>
          </a:p>
        </p:txBody>
      </p:sp>
      <p:sp>
        <p:nvSpPr>
          <p:cNvPr id="25" name="Figure 10 label 24 line 1">
            <a:extLst xmlns:a="http://schemas.openxmlformats.org/drawingml/2006/main">
              <a:ext uri="{FF2B5EF4-FFF2-40B4-BE49-F238E27FC236}">
                <a16:creationId xmlns:a16="http://schemas.microsoft.com/office/drawing/2014/main" id="{F96E136E-E7D1-4EB8-95ED-81BF74108791}"/>
              </a:ext>
            </a:extLst>
          </p:cNvPr>
          <p:cNvSpPr>
            <a:spLocks xmlns:a="http://schemas.openxmlformats.org/drawingml/2006/main" noGrp="1"/>
          </p:cNvSpPr>
          <p:nvPr/>
        </p:nvSpPr>
        <p:spPr>
          <a:xfrm xmlns:a="http://schemas.openxmlformats.org/drawingml/2006/main" rot="0">
            <a:off x="1326134" y="5682106"/>
            <a:ext cx="3356620"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Evidence is needed at each step</a:t>
            </a:r>
          </a:p>
        </p:txBody>
      </p:sp>
      <p:sp>
        <p:nvSpPr>
          <p:cNvPr id="26" name="Figure 10 label 25 line 1">
            <a:extLst xmlns:a="http://schemas.openxmlformats.org/drawingml/2006/main">
              <a:ext uri="{FF2B5EF4-FFF2-40B4-BE49-F238E27FC236}">
                <a16:creationId xmlns:a16="http://schemas.microsoft.com/office/drawing/2014/main" id="{15132E0D-4119-4550-9F4D-2527A9070019}"/>
              </a:ext>
            </a:extLst>
          </p:cNvPr>
          <p:cNvSpPr>
            <a:spLocks xmlns:a="http://schemas.openxmlformats.org/drawingml/2006/main" noGrp="1"/>
          </p:cNvSpPr>
          <p:nvPr/>
        </p:nvSpPr>
        <p:spPr>
          <a:xfrm xmlns:a="http://schemas.openxmlformats.org/drawingml/2006/main" rot="0">
            <a:off x="1327404" y="6158944"/>
            <a:ext cx="676825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Customer budgets → orders / repeat purchases → net consumption → utilization</a:t>
            </a:r>
          </a:p>
        </p:txBody>
      </p:sp>
      <p:sp>
        <p:nvSpPr>
          <p:cNvPr id="27" name="Figure 10 label 26 line 1">
            <a:extLst xmlns:a="http://schemas.openxmlformats.org/drawingml/2006/main">
              <a:ext uri="{FF2B5EF4-FFF2-40B4-BE49-F238E27FC236}">
                <a16:creationId xmlns:a16="http://schemas.microsoft.com/office/drawing/2014/main" id="{9E2C9029-16CC-4461-8E0C-E3B2DF5CAAF7}"/>
              </a:ext>
            </a:extLst>
          </p:cNvPr>
          <p:cNvSpPr>
            <a:spLocks xmlns:a="http://schemas.openxmlformats.org/drawingml/2006/main" noGrp="1"/>
          </p:cNvSpPr>
          <p:nvPr/>
        </p:nvSpPr>
        <p:spPr>
          <a:xfrm xmlns:a="http://schemas.openxmlformats.org/drawingml/2006/main" rot="0">
            <a:off x="1327404" y="6462437"/>
            <a:ext cx="697944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 company share → recurring profit / free cash flow → growth priced into the stock</a:t>
            </a:r>
          </a:p>
        </p:txBody>
      </p:sp>
      <p:sp>
        <p:nvSpPr>
          <p:cNvPr id="28" name="Figure 10 label 27 line 1">
            <a:extLst xmlns:a="http://schemas.openxmlformats.org/drawingml/2006/main">
              <a:ext uri="{FF2B5EF4-FFF2-40B4-BE49-F238E27FC236}">
                <a16:creationId xmlns:a16="http://schemas.microsoft.com/office/drawing/2014/main" id="{C2F3C7AE-26D4-42BA-BF28-F16C57DB027B}"/>
              </a:ext>
            </a:extLst>
          </p:cNvPr>
          <p:cNvSpPr>
            <a:spLocks xmlns:a="http://schemas.openxmlformats.org/drawingml/2006/main" noGrp="1"/>
          </p:cNvSpPr>
          <p:nvPr/>
        </p:nvSpPr>
        <p:spPr>
          <a:xfrm xmlns:a="http://schemas.openxmlformats.org/drawingml/2006/main" rot="0">
            <a:off x="4743896" y="8371852"/>
            <a:ext cx="8800207"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Experimental relevance  ∩  Evidenced supply constraints  ∩  Global customer access</a:t>
            </a:r>
          </a:p>
        </p:txBody>
      </p:sp>
    </p:spTree>
    <p:extLst>
      <p:ext uri="{BB962C8B-B14F-4D97-AF65-F5344CB8AC3E}">
        <p14:creationId xmlns:p14="http://schemas.microsoft.com/office/powerpoint/2010/main" val="3654720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2026-10-13T06:02:22.6650000Z</dcterms:created>
  <dcterms:modified xsi:type="dcterms:W3CDTF">2026-10-13T06:02:22.6650000Z</dcterms:modified>
</coreProperties>
</file>