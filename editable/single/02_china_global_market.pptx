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e0471bdf0404891" /><Relationship Type="http://schemas.openxmlformats.org/officeDocument/2006/relationships/extended-properties" Target="/docProps/app.xml" Id="R7a10692b92d747d4" /><Relationship Type="http://schemas.openxmlformats.org/officeDocument/2006/relationships/officeDocument" Target="/ppt/presentation.xml" Id="R47f368d86fdc4a0e" /></Relationships>
</file>

<file path=ppt/presentation.xml><?xml version="1.0" encoding="utf-8"?>
<p:presentation xmlns:p="http://schemas.openxmlformats.org/presentationml/2006/main">
  <p:sldMasterIdLst>
    <p:sldMasterId xmlns:r="http://schemas.openxmlformats.org/officeDocument/2006/relationships" id="2147483648" r:id="R7398afe633064b0b"/>
  </p:sldMasterIdLst>
  <p:notesMasterIdLst>
    <p:notesMasterId xmlns:r="http://schemas.openxmlformats.org/officeDocument/2006/relationships" r:id="Rd9c1cebb8b394f62"/>
  </p:notesMasterIdLst>
  <p:sldIdLst>
    <p:sldId xmlns:r="http://schemas.openxmlformats.org/officeDocument/2006/relationships" id="256" r:id="R845dc929b9b74f5b"/>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156b82c4b7c4c6e" /><Relationship Type="http://schemas.openxmlformats.org/officeDocument/2006/relationships/slideMaster" Target="/ppt/slideMasters/slideMaster1.xml" Id="R7398afe633064b0b" /><Relationship Type="http://schemas.openxmlformats.org/officeDocument/2006/relationships/notesMaster" Target="/ppt/notesMasters/notesMaster1.xml" Id="Rd9c1cebb8b394f62" /><Relationship Type="http://schemas.openxmlformats.org/officeDocument/2006/relationships/presProps" Target="/ppt/presProps.xml" Id="Re91da7f6ae6a4394" /><Relationship Type="http://schemas.openxmlformats.org/officeDocument/2006/relationships/tableStyles" Target="/ppt/tableStyles.xml" Id="R44c64dfa25764090" /><Relationship Type="http://schemas.openxmlformats.org/officeDocument/2006/relationships/slide" Target="/ppt/slides/slide1.xml" Id="R845dc929b9b74f5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817d0e5b3f49e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4411f92d18e4c56" /><Relationship Type="http://schemas.openxmlformats.org/officeDocument/2006/relationships/notesMaster" Target="/ppt/notesMasters/notesMaster1.xml" Id="Rc68b5b65a82b437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2: China and global LST markets</a:t>
            </a:r>
          </a:p>
          <a:p xmlns:a="http://schemas.openxmlformats.org/drawingml/2006/main">
            <a:r>
              <a:t>Evidence status: Historical estimate</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866965b4214c8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ebbe4364eef492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d75d328e23647c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b98c7e31840486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afeab3e3d0d450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3b4a11d053d437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4B83A0-09A3-4FEF-BED1-91F4F6EC598D}"/>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27ED62F-A26A-4B02-9977-44A221FE2041}"/>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0C5D465-0DB3-492B-BDED-914A8B179FE4}"/>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C0EAB4-7F12-4015-9B6D-96A0FAC6F152}"/>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E4CABBE-B501-4C05-A776-B0D0671CC626}"/>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75DF615-7C56-41F2-86D4-2A107540C9D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6C856D-0567-42BE-959A-E52B6A289B39}"/>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9A74224-2A3C-4429-8210-27B5C2B15AE0}"/>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80D093-E26B-4F28-A2A0-2B710C9F382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DDF9D0-C90B-4E92-8F3F-0E23D1FA7927}"/>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4993dbefda54b65" /><Relationship Type="http://schemas.openxmlformats.org/officeDocument/2006/relationships/slideLayout" Target="/ppt/slideLayouts/slideLayout1.xml" Id="R0dcb1fa4ceff4d88" /><Relationship Type="http://schemas.openxmlformats.org/officeDocument/2006/relationships/slideLayout" Target="/ppt/slideLayouts/slideLayout2.xml" Id="R329a2dca30a7420e" /><Relationship Type="http://schemas.openxmlformats.org/officeDocument/2006/relationships/slideLayout" Target="/ppt/slideLayouts/slideLayout3.xml" Id="R34887fc5133a4a30" /><Relationship Type="http://schemas.openxmlformats.org/officeDocument/2006/relationships/slideLayout" Target="/ppt/slideLayouts/slideLayout4.xml" Id="R87f7bbabb5874fe6" /><Relationship Type="http://schemas.openxmlformats.org/officeDocument/2006/relationships/slideLayout" Target="/ppt/slideLayouts/slideLayout5.xml" Id="Rb10b97963d0f4fcc" /><Relationship Type="http://schemas.openxmlformats.org/officeDocument/2006/relationships/slideLayout" Target="/ppt/slideLayouts/slideLayout6.xml" Id="Rd7872c1de0da496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dcb1fa4ceff4d88"/>
    <p:sldLayoutId xmlns:r="http://schemas.openxmlformats.org/officeDocument/2006/relationships" id="2147483650" r:id="R329a2dca30a7420e"/>
    <p:sldLayoutId xmlns:r="http://schemas.openxmlformats.org/officeDocument/2006/relationships" id="2147483651" r:id="R34887fc5133a4a30"/>
    <p:sldLayoutId xmlns:r="http://schemas.openxmlformats.org/officeDocument/2006/relationships" id="2147483652" r:id="R87f7bbabb5874fe6"/>
    <p:sldLayoutId xmlns:r="http://schemas.openxmlformats.org/officeDocument/2006/relationships" id="2147483653" r:id="Rb10b97963d0f4fcc"/>
    <p:sldLayoutId xmlns:r="http://schemas.openxmlformats.org/officeDocument/2006/relationships" id="2147483654" r:id="Rd7872c1de0da496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825e7037c214cb8" /><Relationship Type="http://schemas.openxmlformats.org/officeDocument/2006/relationships/image" Target="/ppt/media/image.png" Id="Rfe5906854db94493" /><Relationship Type="http://schemas.openxmlformats.org/officeDocument/2006/relationships/notesSlide" Target="/ppt/notesSlides/notesSlide1.xml" Id="R342756910e2b45a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1" name="">
            <a:extLst xmlns:a="http://schemas.openxmlformats.org/drawingml/2006/main">
              <a:ext uri="{FF2B5EF4-FFF2-40B4-BE49-F238E27FC236}">
                <a16:creationId xmlns:a16="http://schemas.microsoft.com/office/drawing/2014/main" id="{921A90D3-F8D4-4077-94AA-CDD4DA3E4209}"/>
              </a:ext>
            </a:extLst>
          </p:cNvPr>
          <p:cNvPicPr>
            <a:picLocks xmlns:a="http://schemas.openxmlformats.org/drawingml/2006/main" noChangeAspect="1"/>
          </p:cNvPicPr>
          <p:nvPr/>
        </p:nvPicPr>
        <p:blipFill>
          <a:blip xmlns:r="http://schemas.openxmlformats.org/officeDocument/2006/relationships" xmlns:a="http://schemas.openxmlformats.org/drawingml/2006/main" r:embed="Rfe5906854db94493"/>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2 label 1 line 1">
            <a:extLst xmlns:a="http://schemas.openxmlformats.org/drawingml/2006/main">
              <a:ext uri="{FF2B5EF4-FFF2-40B4-BE49-F238E27FC236}">
                <a16:creationId xmlns:a16="http://schemas.microsoft.com/office/drawing/2014/main" id="{3BB9F6D3-30B2-4E62-864A-11EF799B8043}"/>
              </a:ext>
            </a:extLst>
          </p:cNvPr>
          <p:cNvSpPr>
            <a:spLocks xmlns:a="http://schemas.openxmlformats.org/drawingml/2006/main" noGrp="1"/>
          </p:cNvSpPr>
          <p:nvPr/>
        </p:nvSpPr>
        <p:spPr>
          <a:xfrm xmlns:a="http://schemas.openxmlformats.org/drawingml/2006/main" rot="0">
            <a:off x="3894019" y="7907353"/>
            <a:ext cx="1256209"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5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750" b="0">
                <a:solidFill>
                  <a:srgbClr val="00355F"/>
                </a:solidFill>
                <a:latin typeface="Arial Unicode MS"/>
                <a:ea typeface="Arial Unicode MS"/>
                <a:cs typeface="Arial Unicode MS"/>
              </a:defRPr>
            </a:pPr>
            <a:r>
              <a:rPr sz="1750" b="0">
                <a:solidFill>
                  <a:srgbClr val="00355F"/>
                </a:solidFill>
                <a:latin typeface="Arial Unicode MS"/>
                <a:ea typeface="Arial Unicode MS"/>
                <a:cs typeface="Arial Unicode MS"/>
              </a:rPr>
              <a:t>Global LST</a:t>
            </a:r>
          </a:p>
        </p:txBody>
      </p:sp>
      <p:sp>
        <p:nvSpPr>
          <p:cNvPr id="3" name="Figure 2 label 2 line 1">
            <a:extLst xmlns:a="http://schemas.openxmlformats.org/drawingml/2006/main">
              <a:ext uri="{FF2B5EF4-FFF2-40B4-BE49-F238E27FC236}">
                <a16:creationId xmlns:a16="http://schemas.microsoft.com/office/drawing/2014/main" id="{700297A8-56BE-4C0F-A3D8-4F27074FD46F}"/>
              </a:ext>
            </a:extLst>
          </p:cNvPr>
          <p:cNvSpPr>
            <a:spLocks xmlns:a="http://schemas.openxmlformats.org/drawingml/2006/main" noGrp="1"/>
          </p:cNvSpPr>
          <p:nvPr/>
        </p:nvSpPr>
        <p:spPr>
          <a:xfrm xmlns:a="http://schemas.openxmlformats.org/drawingml/2006/main" rot="0">
            <a:off x="8413774" y="7907353"/>
            <a:ext cx="1194445"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5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750" b="0">
                <a:solidFill>
                  <a:srgbClr val="00355F"/>
                </a:solidFill>
                <a:latin typeface="Arial Unicode MS"/>
                <a:ea typeface="Arial Unicode MS"/>
                <a:cs typeface="Arial Unicode MS"/>
              </a:defRPr>
            </a:pPr>
            <a:r>
              <a:rPr sz="1750" b="0">
                <a:solidFill>
                  <a:srgbClr val="00355F"/>
                </a:solidFill>
                <a:latin typeface="Arial Unicode MS"/>
                <a:ea typeface="Arial Unicode MS"/>
                <a:cs typeface="Arial Unicode MS"/>
              </a:rPr>
              <a:t>China LST</a:t>
            </a:r>
          </a:p>
        </p:txBody>
      </p:sp>
      <p:sp>
        <p:nvSpPr>
          <p:cNvPr id="4" name="Figure 2 label 3 line 1">
            <a:extLst xmlns:a="http://schemas.openxmlformats.org/drawingml/2006/main">
              <a:ext uri="{FF2B5EF4-FFF2-40B4-BE49-F238E27FC236}">
                <a16:creationId xmlns:a16="http://schemas.microsoft.com/office/drawing/2014/main" id="{A8C6184F-7152-41E9-90FB-88874F7AC0D7}"/>
              </a:ext>
            </a:extLst>
          </p:cNvPr>
          <p:cNvSpPr>
            <a:spLocks xmlns:a="http://schemas.openxmlformats.org/drawingml/2006/main" noGrp="1"/>
          </p:cNvSpPr>
          <p:nvPr/>
        </p:nvSpPr>
        <p:spPr>
          <a:xfrm xmlns:a="http://schemas.openxmlformats.org/drawingml/2006/main" rot="0">
            <a:off x="1440259" y="7697703"/>
            <a:ext cx="22979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0</a:t>
            </a:r>
          </a:p>
        </p:txBody>
      </p:sp>
      <p:sp>
        <p:nvSpPr>
          <p:cNvPr id="5" name="Figure 2 label 4 line 1">
            <a:extLst xmlns:a="http://schemas.openxmlformats.org/drawingml/2006/main">
              <a:ext uri="{FF2B5EF4-FFF2-40B4-BE49-F238E27FC236}">
                <a16:creationId xmlns:a16="http://schemas.microsoft.com/office/drawing/2014/main" id="{8266644F-212F-40D2-9C70-197DFBC47994}"/>
              </a:ext>
            </a:extLst>
          </p:cNvPr>
          <p:cNvSpPr>
            <a:spLocks xmlns:a="http://schemas.openxmlformats.org/drawingml/2006/main" noGrp="1"/>
          </p:cNvSpPr>
          <p:nvPr/>
        </p:nvSpPr>
        <p:spPr>
          <a:xfrm xmlns:a="http://schemas.openxmlformats.org/drawingml/2006/main" rot="0">
            <a:off x="1334294" y="6523643"/>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10</a:t>
            </a:r>
          </a:p>
        </p:txBody>
      </p:sp>
      <p:sp>
        <p:nvSpPr>
          <p:cNvPr id="6" name="Figure 2 label 5 line 1">
            <a:extLst xmlns:a="http://schemas.openxmlformats.org/drawingml/2006/main">
              <a:ext uri="{FF2B5EF4-FFF2-40B4-BE49-F238E27FC236}">
                <a16:creationId xmlns:a16="http://schemas.microsoft.com/office/drawing/2014/main" id="{69743F06-C418-42B1-A372-28753874672E}"/>
              </a:ext>
            </a:extLst>
          </p:cNvPr>
          <p:cNvSpPr>
            <a:spLocks xmlns:a="http://schemas.openxmlformats.org/drawingml/2006/main" noGrp="1"/>
          </p:cNvSpPr>
          <p:nvPr/>
        </p:nvSpPr>
        <p:spPr>
          <a:xfrm xmlns:a="http://schemas.openxmlformats.org/drawingml/2006/main" rot="0">
            <a:off x="1334294" y="5349584"/>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20</a:t>
            </a:r>
          </a:p>
        </p:txBody>
      </p:sp>
      <p:sp>
        <p:nvSpPr>
          <p:cNvPr id="7" name="Figure 2 label 6 line 1">
            <a:extLst xmlns:a="http://schemas.openxmlformats.org/drawingml/2006/main">
              <a:ext uri="{FF2B5EF4-FFF2-40B4-BE49-F238E27FC236}">
                <a16:creationId xmlns:a16="http://schemas.microsoft.com/office/drawing/2014/main" id="{CD4F10CF-6898-4EC4-BC6C-7EDF44344B39}"/>
              </a:ext>
            </a:extLst>
          </p:cNvPr>
          <p:cNvSpPr>
            <a:spLocks xmlns:a="http://schemas.openxmlformats.org/drawingml/2006/main" noGrp="1"/>
          </p:cNvSpPr>
          <p:nvPr/>
        </p:nvSpPr>
        <p:spPr>
          <a:xfrm xmlns:a="http://schemas.openxmlformats.org/drawingml/2006/main" rot="0">
            <a:off x="1334294" y="4175524"/>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30</a:t>
            </a:r>
          </a:p>
        </p:txBody>
      </p:sp>
      <p:sp>
        <p:nvSpPr>
          <p:cNvPr id="8" name="Figure 2 label 7 line 1">
            <a:extLst xmlns:a="http://schemas.openxmlformats.org/drawingml/2006/main">
              <a:ext uri="{FF2B5EF4-FFF2-40B4-BE49-F238E27FC236}">
                <a16:creationId xmlns:a16="http://schemas.microsoft.com/office/drawing/2014/main" id="{F7696042-D0D9-4BA1-95AB-80A1BED157FB}"/>
              </a:ext>
            </a:extLst>
          </p:cNvPr>
          <p:cNvSpPr>
            <a:spLocks xmlns:a="http://schemas.openxmlformats.org/drawingml/2006/main" noGrp="1"/>
          </p:cNvSpPr>
          <p:nvPr/>
        </p:nvSpPr>
        <p:spPr>
          <a:xfrm xmlns:a="http://schemas.openxmlformats.org/drawingml/2006/main" rot="0">
            <a:off x="1334294" y="3001464"/>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40</a:t>
            </a:r>
          </a:p>
        </p:txBody>
      </p:sp>
      <p:sp>
        <p:nvSpPr>
          <p:cNvPr id="9" name="Figure 2 label 8 line 1">
            <a:extLst xmlns:a="http://schemas.openxmlformats.org/drawingml/2006/main">
              <a:ext uri="{FF2B5EF4-FFF2-40B4-BE49-F238E27FC236}">
                <a16:creationId xmlns:a16="http://schemas.microsoft.com/office/drawing/2014/main" id="{E7CF1899-874E-4D9F-A8E3-DD1C751CD72E}"/>
              </a:ext>
            </a:extLst>
          </p:cNvPr>
          <p:cNvSpPr>
            <a:spLocks xmlns:a="http://schemas.openxmlformats.org/drawingml/2006/main" noGrp="1"/>
          </p:cNvSpPr>
          <p:nvPr/>
        </p:nvSpPr>
        <p:spPr>
          <a:xfrm xmlns:a="http://schemas.openxmlformats.org/drawingml/2006/main" rot="16200000">
            <a:off x="962600" y="4970145"/>
            <a:ext cx="70633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US$bn</a:t>
            </a:r>
          </a:p>
        </p:txBody>
      </p:sp>
      <p:sp>
        <p:nvSpPr>
          <p:cNvPr id="10" name="Figure 2 label 9 line 1">
            <a:extLst xmlns:a="http://schemas.openxmlformats.org/drawingml/2006/main">
              <a:ext uri="{FF2B5EF4-FFF2-40B4-BE49-F238E27FC236}">
                <a16:creationId xmlns:a16="http://schemas.microsoft.com/office/drawing/2014/main" id="{802EF9E5-82BC-44FC-80C9-32473086772E}"/>
              </a:ext>
            </a:extLst>
          </p:cNvPr>
          <p:cNvSpPr>
            <a:spLocks xmlns:a="http://schemas.openxmlformats.org/drawingml/2006/main" noGrp="1"/>
          </p:cNvSpPr>
          <p:nvPr/>
        </p:nvSpPr>
        <p:spPr>
          <a:xfrm xmlns:a="http://schemas.openxmlformats.org/drawingml/2006/main" rot="0">
            <a:off x="4171807" y="6049458"/>
            <a:ext cx="700633"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125" b="1">
                <a:solidFill>
                  <a:srgbClr val="FFFFFF"/>
                </a:solidFill>
                <a:latin typeface="Arial Unicode MS"/>
                <a:ea typeface="Arial Unicode MS"/>
                <a:cs typeface="Arial Unicode MS"/>
              </a:defRPr>
            </a:defPPr>
          </a:lstStyle>
          <a:p xmlns:a="http://schemas.openxmlformats.org/drawingml/2006/main">
            <a:pPr algn="ctr">
              <a:lnSpc>
                <a:spcPct val="100000"/>
              </a:lnSpc>
              <a:buNone/>
              <a:defRPr sz="2125" b="1">
                <a:solidFill>
                  <a:srgbClr val="FFFFFF"/>
                </a:solidFill>
                <a:latin typeface="Arial Unicode MS"/>
                <a:ea typeface="Arial Unicode MS"/>
                <a:cs typeface="Arial Unicode MS"/>
              </a:defRPr>
            </a:pPr>
            <a:r>
              <a:rPr sz="2125" b="1">
                <a:solidFill>
                  <a:srgbClr val="FFFFFF"/>
                </a:solidFill>
                <a:latin typeface="Arial Unicode MS"/>
                <a:ea typeface="Arial Unicode MS"/>
                <a:cs typeface="Arial Unicode MS"/>
              </a:rPr>
              <a:t>26.4</a:t>
            </a:r>
          </a:p>
        </p:txBody>
      </p:sp>
      <p:sp>
        <p:nvSpPr>
          <p:cNvPr id="11" name="Figure 2 label 10 line 1">
            <a:extLst xmlns:a="http://schemas.openxmlformats.org/drawingml/2006/main">
              <a:ext uri="{FF2B5EF4-FFF2-40B4-BE49-F238E27FC236}">
                <a16:creationId xmlns:a16="http://schemas.microsoft.com/office/drawing/2014/main" id="{1202730D-5976-4239-A894-6138528CFC0F}"/>
              </a:ext>
            </a:extLst>
          </p:cNvPr>
          <p:cNvSpPr>
            <a:spLocks xmlns:a="http://schemas.openxmlformats.org/drawingml/2006/main" noGrp="1"/>
          </p:cNvSpPr>
          <p:nvPr/>
        </p:nvSpPr>
        <p:spPr>
          <a:xfrm xmlns:a="http://schemas.openxmlformats.org/drawingml/2006/main" rot="0">
            <a:off x="4212933" y="3645088"/>
            <a:ext cx="618381"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15.1</a:t>
            </a:r>
          </a:p>
        </p:txBody>
      </p:sp>
      <p:sp>
        <p:nvSpPr>
          <p:cNvPr id="12" name="Figure 2 label 11 line 1">
            <a:extLst xmlns:a="http://schemas.openxmlformats.org/drawingml/2006/main">
              <a:ext uri="{FF2B5EF4-FFF2-40B4-BE49-F238E27FC236}">
                <a16:creationId xmlns:a16="http://schemas.microsoft.com/office/drawing/2014/main" id="{EBAC8EF3-9F05-42B5-9369-CC94A309C254}"/>
              </a:ext>
            </a:extLst>
          </p:cNvPr>
          <p:cNvSpPr>
            <a:spLocks xmlns:a="http://schemas.openxmlformats.org/drawingml/2006/main" noGrp="1"/>
          </p:cNvSpPr>
          <p:nvPr/>
        </p:nvSpPr>
        <p:spPr>
          <a:xfrm xmlns:a="http://schemas.openxmlformats.org/drawingml/2006/main" rot="0">
            <a:off x="4109969" y="2416499"/>
            <a:ext cx="824309" cy="39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50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500" b="1">
                <a:solidFill>
                  <a:srgbClr val="00355F"/>
                </a:solidFill>
                <a:latin typeface="Arial Unicode MS"/>
                <a:ea typeface="Arial Unicode MS"/>
                <a:cs typeface="Arial Unicode MS"/>
              </a:defRPr>
            </a:pPr>
            <a:r>
              <a:rPr sz="2500" b="1">
                <a:solidFill>
                  <a:srgbClr val="00355F"/>
                </a:solidFill>
                <a:latin typeface="Arial Unicode MS"/>
                <a:ea typeface="Arial Unicode MS"/>
                <a:cs typeface="Arial Unicode MS"/>
              </a:rPr>
              <a:t>41.5</a:t>
            </a:r>
          </a:p>
        </p:txBody>
      </p:sp>
      <p:sp>
        <p:nvSpPr>
          <p:cNvPr id="13" name="Figure 2 label 12 line 1">
            <a:extLst xmlns:a="http://schemas.openxmlformats.org/drawingml/2006/main">
              <a:ext uri="{FF2B5EF4-FFF2-40B4-BE49-F238E27FC236}">
                <a16:creationId xmlns:a16="http://schemas.microsoft.com/office/drawing/2014/main" id="{BD9BAF87-13C2-403D-9ABD-8175805F5996}"/>
              </a:ext>
            </a:extLst>
          </p:cNvPr>
          <p:cNvSpPr>
            <a:spLocks xmlns:a="http://schemas.openxmlformats.org/drawingml/2006/main" noGrp="1"/>
          </p:cNvSpPr>
          <p:nvPr/>
        </p:nvSpPr>
        <p:spPr>
          <a:xfrm xmlns:a="http://schemas.openxmlformats.org/drawingml/2006/main" rot="0">
            <a:off x="8735690" y="7329182"/>
            <a:ext cx="550614"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125" b="1">
                <a:solidFill>
                  <a:srgbClr val="FFFFFF"/>
                </a:solidFill>
                <a:latin typeface="Arial Unicode MS"/>
                <a:ea typeface="Arial Unicode MS"/>
                <a:cs typeface="Arial Unicode MS"/>
              </a:defRPr>
            </a:defPPr>
          </a:lstStyle>
          <a:p xmlns:a="http://schemas.openxmlformats.org/drawingml/2006/main">
            <a:pPr algn="ctr">
              <a:lnSpc>
                <a:spcPct val="100000"/>
              </a:lnSpc>
              <a:buNone/>
              <a:defRPr sz="2125" b="1">
                <a:solidFill>
                  <a:srgbClr val="FFFFFF"/>
                </a:solidFill>
                <a:latin typeface="Arial Unicode MS"/>
                <a:ea typeface="Arial Unicode MS"/>
                <a:cs typeface="Arial Unicode MS"/>
              </a:defRPr>
            </a:pPr>
            <a:r>
              <a:rPr sz="2125" b="1">
                <a:solidFill>
                  <a:srgbClr val="FFFFFF"/>
                </a:solidFill>
                <a:latin typeface="Arial Unicode MS"/>
                <a:ea typeface="Arial Unicode MS"/>
                <a:cs typeface="Arial Unicode MS"/>
              </a:rPr>
              <a:t>4.6</a:t>
            </a:r>
          </a:p>
        </p:txBody>
      </p:sp>
      <p:sp>
        <p:nvSpPr>
          <p:cNvPr id="14" name="Figure 2 label 13 line 1">
            <a:extLst xmlns:a="http://schemas.openxmlformats.org/drawingml/2006/main">
              <a:ext uri="{FF2B5EF4-FFF2-40B4-BE49-F238E27FC236}">
                <a16:creationId xmlns:a16="http://schemas.microsoft.com/office/drawing/2014/main" id="{DE7080EE-4E62-4C27-96DC-5B56BF514AED}"/>
              </a:ext>
            </a:extLst>
          </p:cNvPr>
          <p:cNvSpPr>
            <a:spLocks xmlns:a="http://schemas.openxmlformats.org/drawingml/2006/main" noGrp="1"/>
          </p:cNvSpPr>
          <p:nvPr/>
        </p:nvSpPr>
        <p:spPr>
          <a:xfrm xmlns:a="http://schemas.openxmlformats.org/drawingml/2006/main" rot="0">
            <a:off x="8768035" y="6908974"/>
            <a:ext cx="485924"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3.1</a:t>
            </a:r>
          </a:p>
        </p:txBody>
      </p:sp>
      <p:sp>
        <p:nvSpPr>
          <p:cNvPr id="15" name="Figure 2 label 14 line 1">
            <a:extLst xmlns:a="http://schemas.openxmlformats.org/drawingml/2006/main">
              <a:ext uri="{FF2B5EF4-FFF2-40B4-BE49-F238E27FC236}">
                <a16:creationId xmlns:a16="http://schemas.microsoft.com/office/drawing/2014/main" id="{D5AC33F6-3800-4B6A-82AA-6B2416DF2B65}"/>
              </a:ext>
            </a:extLst>
          </p:cNvPr>
          <p:cNvSpPr>
            <a:spLocks xmlns:a="http://schemas.openxmlformats.org/drawingml/2006/main" noGrp="1"/>
          </p:cNvSpPr>
          <p:nvPr/>
        </p:nvSpPr>
        <p:spPr>
          <a:xfrm xmlns:a="http://schemas.openxmlformats.org/drawingml/2006/main" rot="0">
            <a:off x="8687098" y="6384822"/>
            <a:ext cx="647799" cy="39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50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500" b="1">
                <a:solidFill>
                  <a:srgbClr val="00355F"/>
                </a:solidFill>
                <a:latin typeface="Arial Unicode MS"/>
                <a:ea typeface="Arial Unicode MS"/>
                <a:cs typeface="Arial Unicode MS"/>
              </a:defRPr>
            </a:pPr>
            <a:r>
              <a:rPr sz="2500" b="1">
                <a:solidFill>
                  <a:srgbClr val="00355F"/>
                </a:solidFill>
                <a:latin typeface="Arial Unicode MS"/>
                <a:ea typeface="Arial Unicode MS"/>
                <a:cs typeface="Arial Unicode MS"/>
              </a:rPr>
              <a:t>7.7</a:t>
            </a:r>
          </a:p>
        </p:txBody>
      </p:sp>
      <p:sp>
        <p:nvSpPr>
          <p:cNvPr id="16" name="Figure 2 label 15 line 1">
            <a:extLst xmlns:a="http://schemas.openxmlformats.org/drawingml/2006/main">
              <a:ext uri="{FF2B5EF4-FFF2-40B4-BE49-F238E27FC236}">
                <a16:creationId xmlns:a16="http://schemas.microsoft.com/office/drawing/2014/main" id="{2BE28B9A-7A63-451C-ADFA-C02399DD7E6B}"/>
              </a:ext>
            </a:extLst>
          </p:cNvPr>
          <p:cNvSpPr>
            <a:spLocks xmlns:a="http://schemas.openxmlformats.org/drawingml/2006/main" noGrp="1"/>
          </p:cNvSpPr>
          <p:nvPr/>
        </p:nvSpPr>
        <p:spPr>
          <a:xfrm xmlns:a="http://schemas.openxmlformats.org/drawingml/2006/main" rot="0">
            <a:off x="2438876" y="2096130"/>
            <a:ext cx="225816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0000"/>
                </a:solidFill>
                <a:latin typeface="Arial Unicode MS"/>
                <a:ea typeface="Arial Unicode MS"/>
                <a:cs typeface="Arial Unicode MS"/>
              </a:defRPr>
            </a:defPPr>
          </a:lstStyle>
          <a:p xmlns:a="http://schemas.openxmlformats.org/drawingml/2006/main">
            <a:pPr algn="l">
              <a:lnSpc>
                <a:spcPct val="100000"/>
              </a:lnSpc>
              <a:buNone/>
              <a:defRPr sz="1313" b="0">
                <a:solidFill>
                  <a:srgbClr val="000000"/>
                </a:solidFill>
                <a:latin typeface="Arial Unicode MS"/>
                <a:ea typeface="Arial Unicode MS"/>
                <a:cs typeface="Arial Unicode MS"/>
              </a:defRPr>
            </a:pPr>
            <a:r>
              <a:rPr sz="1313" b="0">
                <a:solidFill>
                  <a:srgbClr val="000000"/>
                </a:solidFill>
                <a:latin typeface="Arial Unicode MS"/>
                <a:ea typeface="Arial Unicode MS"/>
                <a:cs typeface="Arial Unicode MS"/>
              </a:rPr>
              <a:t>Research biological reagents</a:t>
            </a:r>
          </a:p>
        </p:txBody>
      </p:sp>
      <p:sp>
        <p:nvSpPr>
          <p:cNvPr id="17" name="Figure 2 label 16 line 1">
            <a:extLst xmlns:a="http://schemas.openxmlformats.org/drawingml/2006/main">
              <a:ext uri="{FF2B5EF4-FFF2-40B4-BE49-F238E27FC236}">
                <a16:creationId xmlns:a16="http://schemas.microsoft.com/office/drawing/2014/main" id="{22116782-1244-44C0-8686-E72BB1BFC73C}"/>
              </a:ext>
            </a:extLst>
          </p:cNvPr>
          <p:cNvSpPr>
            <a:spLocks xmlns:a="http://schemas.openxmlformats.org/drawingml/2006/main" noGrp="1"/>
          </p:cNvSpPr>
          <p:nvPr/>
        </p:nvSpPr>
        <p:spPr>
          <a:xfrm xmlns:a="http://schemas.openxmlformats.org/drawingml/2006/main" rot="0">
            <a:off x="5388516" y="2096130"/>
            <a:ext cx="3049935"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0000"/>
                </a:solidFill>
                <a:latin typeface="Arial Unicode MS"/>
                <a:ea typeface="Arial Unicode MS"/>
                <a:cs typeface="Arial Unicode MS"/>
              </a:defRPr>
            </a:defPPr>
          </a:lstStyle>
          <a:p xmlns:a="http://schemas.openxmlformats.org/drawingml/2006/main">
            <a:pPr algn="l">
              <a:lnSpc>
                <a:spcPct val="100000"/>
              </a:lnSpc>
              <a:buNone/>
              <a:defRPr sz="1313" b="0">
                <a:solidFill>
                  <a:srgbClr val="000000"/>
                </a:solidFill>
                <a:latin typeface="Arial Unicode MS"/>
                <a:ea typeface="Arial Unicode MS"/>
                <a:cs typeface="Arial Unicode MS"/>
              </a:defRPr>
            </a:pPr>
            <a:r>
              <a:rPr sz="1313" b="0">
                <a:solidFill>
                  <a:srgbClr val="000000"/>
                </a:solidFill>
                <a:latin typeface="Arial Unicode MS"/>
                <a:ea typeface="Arial Unicode MS"/>
                <a:cs typeface="Arial Unicode MS"/>
              </a:rPr>
              <a:t>Other tools: instruments + consumables</a:t>
            </a:r>
          </a:p>
        </p:txBody>
      </p:sp>
      <p:sp>
        <p:nvSpPr>
          <p:cNvPr id="18" name="Figure 2 label 17 line 1">
            <a:extLst xmlns:a="http://schemas.openxmlformats.org/drawingml/2006/main">
              <a:ext uri="{FF2B5EF4-FFF2-40B4-BE49-F238E27FC236}">
                <a16:creationId xmlns:a16="http://schemas.microsoft.com/office/drawing/2014/main" id="{0240EB9E-9140-4C75-96A6-12BDFD749D12}"/>
              </a:ext>
            </a:extLst>
          </p:cNvPr>
          <p:cNvSpPr>
            <a:spLocks xmlns:a="http://schemas.openxmlformats.org/drawingml/2006/main" noGrp="1"/>
          </p:cNvSpPr>
          <p:nvPr/>
        </p:nvSpPr>
        <p:spPr>
          <a:xfrm xmlns:a="http://schemas.openxmlformats.org/drawingml/2006/main" rot="0">
            <a:off x="991870" y="421920"/>
            <a:ext cx="5409654"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02  China and global LST markets</a:t>
            </a:r>
          </a:p>
        </p:txBody>
      </p:sp>
      <p:sp>
        <p:nvSpPr>
          <p:cNvPr id="19" name="Figure 2 label 18 line 1">
            <a:extLst xmlns:a="http://schemas.openxmlformats.org/drawingml/2006/main">
              <a:ext uri="{FF2B5EF4-FFF2-40B4-BE49-F238E27FC236}">
                <a16:creationId xmlns:a16="http://schemas.microsoft.com/office/drawing/2014/main" id="{E221D811-1BFD-474A-9737-45FF71C1E7ED}"/>
              </a:ext>
            </a:extLst>
          </p:cNvPr>
          <p:cNvSpPr>
            <a:spLocks xmlns:a="http://schemas.openxmlformats.org/drawingml/2006/main" noGrp="1"/>
          </p:cNvSpPr>
          <p:nvPr/>
        </p:nvSpPr>
        <p:spPr>
          <a:xfrm xmlns:a="http://schemas.openxmlformats.org/drawingml/2006/main" rot="0">
            <a:off x="15729149" y="661601"/>
            <a:ext cx="1002903"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HISTORICAL</a:t>
            </a:r>
          </a:p>
        </p:txBody>
      </p:sp>
      <p:sp>
        <p:nvSpPr>
          <p:cNvPr id="20" name="Figure 2 label 19 line 1">
            <a:extLst xmlns:a="http://schemas.openxmlformats.org/drawingml/2006/main">
              <a:ext uri="{FF2B5EF4-FFF2-40B4-BE49-F238E27FC236}">
                <a16:creationId xmlns:a16="http://schemas.microsoft.com/office/drawing/2014/main" id="{E64F86F9-5E1A-4E4A-859D-6B0B31824527}"/>
              </a:ext>
            </a:extLst>
          </p:cNvPr>
          <p:cNvSpPr>
            <a:spLocks xmlns:a="http://schemas.openxmlformats.org/drawingml/2006/main" noGrp="1"/>
          </p:cNvSpPr>
          <p:nvPr/>
        </p:nvSpPr>
        <p:spPr>
          <a:xfrm xmlns:a="http://schemas.openxmlformats.org/drawingml/2006/main" rot="0">
            <a:off x="998220" y="1249487"/>
            <a:ext cx="883786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2025 historical estimates from one F&amp;S study; this is a defined market scope, not a universal LST TAM.</a:t>
            </a:r>
          </a:p>
        </p:txBody>
      </p:sp>
      <p:sp>
        <p:nvSpPr>
          <p:cNvPr id="21" name="Figure 2 label 20 line 1">
            <a:extLst xmlns:a="http://schemas.openxmlformats.org/drawingml/2006/main">
              <a:ext uri="{FF2B5EF4-FFF2-40B4-BE49-F238E27FC236}">
                <a16:creationId xmlns:a16="http://schemas.microsoft.com/office/drawing/2014/main" id="{0E4DC5F6-02AF-410C-9AD0-7961E8CDCE06}"/>
              </a:ext>
            </a:extLst>
          </p:cNvPr>
          <p:cNvSpPr>
            <a:spLocks xmlns:a="http://schemas.openxmlformats.org/drawingml/2006/main" noGrp="1"/>
          </p:cNvSpPr>
          <p:nvPr/>
        </p:nvSpPr>
        <p:spPr>
          <a:xfrm xmlns:a="http://schemas.openxmlformats.org/drawingml/2006/main" rot="0">
            <a:off x="999173" y="9256035"/>
            <a:ext cx="7891314"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Other tools are the residual. Comparable instrument and consumable splits were not separately available.</a:t>
            </a:r>
          </a:p>
        </p:txBody>
      </p:sp>
      <p:sp>
        <p:nvSpPr>
          <p:cNvPr id="22" name="Figure 2 label 21 line 1">
            <a:extLst xmlns:a="http://schemas.openxmlformats.org/drawingml/2006/main">
              <a:ext uri="{FF2B5EF4-FFF2-40B4-BE49-F238E27FC236}">
                <a16:creationId xmlns:a16="http://schemas.microsoft.com/office/drawing/2014/main" id="{22459D7D-9D34-4933-80FA-193ED12255DE}"/>
              </a:ext>
            </a:extLst>
          </p:cNvPr>
          <p:cNvSpPr>
            <a:spLocks xmlns:a="http://schemas.openxmlformats.org/drawingml/2006/main" noGrp="1"/>
          </p:cNvSpPr>
          <p:nvPr/>
        </p:nvSpPr>
        <p:spPr>
          <a:xfrm xmlns:a="http://schemas.openxmlformats.org/drawingml/2006/main" rot="0">
            <a:off x="1000316" y="9675546"/>
            <a:ext cx="6549212"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ACROBiosystems HKEX application, 30 Sep 2026, printed pp. 65 and 67; links in SOURCES.md.</a:t>
            </a:r>
          </a:p>
        </p:txBody>
      </p:sp>
      <p:sp>
        <p:nvSpPr>
          <p:cNvPr id="23" name="Figure 2 label 22 line 1">
            <a:extLst xmlns:a="http://schemas.openxmlformats.org/drawingml/2006/main">
              <a:ext uri="{FF2B5EF4-FFF2-40B4-BE49-F238E27FC236}">
                <a16:creationId xmlns:a16="http://schemas.microsoft.com/office/drawing/2014/main" id="{08C4ADD7-7FFB-4763-9675-F7DB2EF0F5C6}"/>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2026-10-12</a:t>
            </a:r>
          </a:p>
        </p:txBody>
      </p:sp>
      <p:sp>
        <p:nvSpPr>
          <p:cNvPr id="24" name="Figure 2 label 23 line 1">
            <a:extLst xmlns:a="http://schemas.openxmlformats.org/drawingml/2006/main">
              <a:ext uri="{FF2B5EF4-FFF2-40B4-BE49-F238E27FC236}">
                <a16:creationId xmlns:a16="http://schemas.microsoft.com/office/drawing/2014/main" id="{13C47A34-DEF0-43F4-AEF7-DF0D26FE553D}"/>
              </a:ext>
            </a:extLst>
          </p:cNvPr>
          <p:cNvSpPr>
            <a:spLocks xmlns:a="http://schemas.openxmlformats.org/drawingml/2006/main" noGrp="1"/>
          </p:cNvSpPr>
          <p:nvPr/>
        </p:nvSpPr>
        <p:spPr>
          <a:xfrm xmlns:a="http://schemas.openxmlformats.org/drawingml/2006/main" rot="0">
            <a:off x="13159106" y="3177838"/>
            <a:ext cx="2083643"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0">
                <a:solidFill>
                  <a:srgbClr val="00355F"/>
                </a:solidFill>
                <a:latin typeface="Arial Unicode MS"/>
                <a:ea typeface="Arial Unicode MS"/>
                <a:cs typeface="Arial Unicode MS"/>
              </a:defRPr>
            </a:defPPr>
          </a:lstStyle>
          <a:p xmlns:a="http://schemas.openxmlformats.org/drawingml/2006/main">
            <a:pPr algn="l">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China / global market</a:t>
            </a:r>
          </a:p>
        </p:txBody>
      </p:sp>
      <p:sp>
        <p:nvSpPr>
          <p:cNvPr id="25" name="Figure 2 label 24 line 1">
            <a:extLst xmlns:a="http://schemas.openxmlformats.org/drawingml/2006/main">
              <a:ext uri="{FF2B5EF4-FFF2-40B4-BE49-F238E27FC236}">
                <a16:creationId xmlns:a16="http://schemas.microsoft.com/office/drawing/2014/main" id="{78C3181C-F1E2-4E2B-A8FA-E36FC14D1D7D}"/>
              </a:ext>
            </a:extLst>
          </p:cNvPr>
          <p:cNvSpPr>
            <a:spLocks xmlns:a="http://schemas.openxmlformats.org/drawingml/2006/main" noGrp="1"/>
          </p:cNvSpPr>
          <p:nvPr/>
        </p:nvSpPr>
        <p:spPr>
          <a:xfrm xmlns:a="http://schemas.openxmlformats.org/drawingml/2006/main" rot="0">
            <a:off x="13143866" y="3660147"/>
            <a:ext cx="2047180" cy="734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4625" b="1">
                <a:solidFill>
                  <a:srgbClr val="00355F"/>
                </a:solidFill>
                <a:latin typeface="Arial Unicode MS"/>
                <a:ea typeface="Arial Unicode MS"/>
                <a:cs typeface="Arial Unicode MS"/>
              </a:defRPr>
            </a:defPPr>
          </a:lstStyle>
          <a:p xmlns:a="http://schemas.openxmlformats.org/drawingml/2006/main">
            <a:pPr algn="l">
              <a:lnSpc>
                <a:spcPct val="100000"/>
              </a:lnSpc>
              <a:buNone/>
              <a:defRPr sz="4625" b="1">
                <a:solidFill>
                  <a:srgbClr val="00355F"/>
                </a:solidFill>
                <a:latin typeface="Arial Unicode MS"/>
                <a:ea typeface="Arial Unicode MS"/>
                <a:cs typeface="Arial Unicode MS"/>
              </a:defRPr>
            </a:pPr>
            <a:r>
              <a:rPr sz="4625" b="1">
                <a:solidFill>
                  <a:srgbClr val="00355F"/>
                </a:solidFill>
                <a:latin typeface="Arial Unicode MS"/>
                <a:ea typeface="Arial Unicode MS"/>
                <a:cs typeface="Arial Unicode MS"/>
              </a:rPr>
              <a:t>18.6%</a:t>
            </a:r>
          </a:p>
        </p:txBody>
      </p:sp>
      <p:sp>
        <p:nvSpPr>
          <p:cNvPr id="26" name="Figure 2 label 25 line 1">
            <a:extLst xmlns:a="http://schemas.openxmlformats.org/drawingml/2006/main">
              <a:ext uri="{FF2B5EF4-FFF2-40B4-BE49-F238E27FC236}">
                <a16:creationId xmlns:a16="http://schemas.microsoft.com/office/drawing/2014/main" id="{79DFF641-BA23-453A-B2B5-C819D5967894}"/>
              </a:ext>
            </a:extLst>
          </p:cNvPr>
          <p:cNvSpPr>
            <a:spLocks xmlns:a="http://schemas.openxmlformats.org/drawingml/2006/main" noGrp="1"/>
          </p:cNvSpPr>
          <p:nvPr/>
        </p:nvSpPr>
        <p:spPr>
          <a:xfrm xmlns:a="http://schemas.openxmlformats.org/drawingml/2006/main" rot="0">
            <a:off x="13159740" y="4881351"/>
            <a:ext cx="91827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7.7 / 41.5</a:t>
            </a:r>
          </a:p>
        </p:txBody>
      </p:sp>
      <p:sp>
        <p:nvSpPr>
          <p:cNvPr id="27" name="Figure 2 label 26 line 1">
            <a:extLst xmlns:a="http://schemas.openxmlformats.org/drawingml/2006/main">
              <a:ext uri="{FF2B5EF4-FFF2-40B4-BE49-F238E27FC236}">
                <a16:creationId xmlns:a16="http://schemas.microsoft.com/office/drawing/2014/main" id="{58D69D64-5BAA-4029-99AD-041C0371C39F}"/>
              </a:ext>
            </a:extLst>
          </p:cNvPr>
          <p:cNvSpPr>
            <a:spLocks xmlns:a="http://schemas.openxmlformats.org/drawingml/2006/main" noGrp="1"/>
          </p:cNvSpPr>
          <p:nvPr/>
        </p:nvSpPr>
        <p:spPr>
          <a:xfrm xmlns:a="http://schemas.openxmlformats.org/drawingml/2006/main" rot="0">
            <a:off x="13159740" y="5085716"/>
            <a:ext cx="277073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Same-scope historical estimate</a:t>
            </a:r>
          </a:p>
        </p:txBody>
      </p:sp>
      <p:sp>
        <p:nvSpPr>
          <p:cNvPr id="28" name="Figure 2 label 27 line 1">
            <a:extLst xmlns:a="http://schemas.openxmlformats.org/drawingml/2006/main">
              <a:ext uri="{FF2B5EF4-FFF2-40B4-BE49-F238E27FC236}">
                <a16:creationId xmlns:a16="http://schemas.microsoft.com/office/drawing/2014/main" id="{26A9019E-BA1F-41C4-B597-208986739C57}"/>
              </a:ext>
            </a:extLst>
          </p:cNvPr>
          <p:cNvSpPr>
            <a:spLocks xmlns:a="http://schemas.openxmlformats.org/drawingml/2006/main" noGrp="1"/>
          </p:cNvSpPr>
          <p:nvPr/>
        </p:nvSpPr>
        <p:spPr>
          <a:xfrm xmlns:a="http://schemas.openxmlformats.org/drawingml/2006/main" rot="0">
            <a:off x="12885420" y="6438162"/>
            <a:ext cx="196646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Broader research and</a:t>
            </a:r>
          </a:p>
        </p:txBody>
      </p:sp>
      <p:sp>
        <p:nvSpPr>
          <p:cNvPr id="29" name="Figure 2 label 28 line 1">
            <a:extLst xmlns:a="http://schemas.openxmlformats.org/drawingml/2006/main">
              <a:ext uri="{FF2B5EF4-FFF2-40B4-BE49-F238E27FC236}">
                <a16:creationId xmlns:a16="http://schemas.microsoft.com/office/drawing/2014/main" id="{FF8BE049-07CD-40CC-B649-C5976B469CD6}"/>
              </a:ext>
            </a:extLst>
          </p:cNvPr>
          <p:cNvSpPr>
            <a:spLocks xmlns:a="http://schemas.openxmlformats.org/drawingml/2006/main" noGrp="1"/>
          </p:cNvSpPr>
          <p:nvPr/>
        </p:nvSpPr>
        <p:spPr>
          <a:xfrm xmlns:a="http://schemas.openxmlformats.org/drawingml/2006/main" rot="0">
            <a:off x="12885420" y="6639740"/>
            <a:ext cx="238973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production markets require</a:t>
            </a:r>
          </a:p>
        </p:txBody>
      </p:sp>
      <p:sp>
        <p:nvSpPr>
          <p:cNvPr id="30" name="Figure 2 label 29 line 1">
            <a:extLst xmlns:a="http://schemas.openxmlformats.org/drawingml/2006/main">
              <a:ext uri="{FF2B5EF4-FFF2-40B4-BE49-F238E27FC236}">
                <a16:creationId xmlns:a16="http://schemas.microsoft.com/office/drawing/2014/main" id="{129BFB48-1B64-4EA7-8A52-279E584F47E4}"/>
              </a:ext>
            </a:extLst>
          </p:cNvPr>
          <p:cNvSpPr>
            <a:spLocks xmlns:a="http://schemas.openxmlformats.org/drawingml/2006/main" noGrp="1"/>
          </p:cNvSpPr>
          <p:nvPr/>
        </p:nvSpPr>
        <p:spPr>
          <a:xfrm xmlns:a="http://schemas.openxmlformats.org/drawingml/2006/main" rot="0">
            <a:off x="12885420" y="6841319"/>
            <a:ext cx="280302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a separate scope reconciliation.</a:t>
            </a:r>
          </a:p>
        </p:txBody>
      </p:sp>
    </p:spTree>
    <p:extLst>
      <p:ext uri="{BB962C8B-B14F-4D97-AF65-F5344CB8AC3E}">
        <p14:creationId xmlns:p14="http://schemas.microsoft.com/office/powerpoint/2010/main" val="20858220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2026-10-13T06:01:59.8750000Z</dcterms:created>
  <dcterms:modified xsi:type="dcterms:W3CDTF">2026-10-13T06:01:59.8750000Z</dcterms:modified>
</coreProperties>
</file>