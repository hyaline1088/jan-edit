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9b58c6ec96f4294" /><Relationship Type="http://schemas.openxmlformats.org/officeDocument/2006/relationships/extended-properties" Target="/docProps/app.xml" Id="R8ec095a191b946db" /><Relationship Type="http://schemas.openxmlformats.org/officeDocument/2006/relationships/officeDocument" Target="/ppt/presentation.xml" Id="Ra08910d697bf4ddd" /></Relationships>
</file>

<file path=ppt/presentation.xml><?xml version="1.0" encoding="utf-8"?>
<p:presentation xmlns:p="http://schemas.openxmlformats.org/presentationml/2006/main">
  <p:sldMasterIdLst>
    <p:sldMasterId xmlns:r="http://schemas.openxmlformats.org/officeDocument/2006/relationships" id="2147483648" r:id="R7f901258608c4f45"/>
  </p:sldMasterIdLst>
  <p:notesMasterIdLst>
    <p:notesMasterId xmlns:r="http://schemas.openxmlformats.org/officeDocument/2006/relationships" r:id="Ra7e1d373bb394e17"/>
  </p:notesMasterIdLst>
  <p:sldIdLst>
    <p:sldId xmlns:r="http://schemas.openxmlformats.org/officeDocument/2006/relationships" id="256" r:id="R14621954667c4d0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790bbe99b642c7" /><Relationship Type="http://schemas.openxmlformats.org/officeDocument/2006/relationships/slideMaster" Target="/ppt/slideMasters/slideMaster1.xml" Id="R7f901258608c4f45" /><Relationship Type="http://schemas.openxmlformats.org/officeDocument/2006/relationships/notesMaster" Target="/ppt/notesMasters/notesMaster1.xml" Id="Ra7e1d373bb394e17" /><Relationship Type="http://schemas.openxmlformats.org/officeDocument/2006/relationships/presProps" Target="/ppt/presProps.xml" Id="R896be52445e04e15" /><Relationship Type="http://schemas.openxmlformats.org/officeDocument/2006/relationships/tableStyles" Target="/ppt/tableStyles.xml" Id="Rb61c98f314c64538" /><Relationship Type="http://schemas.openxmlformats.org/officeDocument/2006/relationships/slide" Target="/ppt/slides/slide1.xml" Id="R14621954667c4d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7dd44b0bef4c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53437581a004489" /><Relationship Type="http://schemas.openxmlformats.org/officeDocument/2006/relationships/notesMaster" Target="/ppt/notesMasters/notesMaster1.xml" Id="R520a9236286845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5: Which tools have more demand elasticity?</a:t>
            </a:r>
          </a:p>
          <a:p xmlns:a="http://schemas.openxmlformats.org/drawingml/2006/main">
            <a:r>
              <a:t>Evidence status: Research hypothesis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dabb3651d04ce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1dbbeaaa519488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634026b5f84422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760fa35dcd9498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881aa345c2c4d8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65c0abbde67448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4B83A0-09A3-4FEF-BED1-91F4F6EC598D}"/>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27ED62F-A26A-4B02-9977-44A221FE204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0C5D465-0DB3-492B-BDED-914A8B179FE4}"/>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C0EAB4-7F12-4015-9B6D-96A0FAC6F15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E4CABBE-B501-4C05-A776-B0D0671CC626}"/>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75DF615-7C56-41F2-86D4-2A107540C9D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6C856D-0567-42BE-959A-E52B6A289B3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9A74224-2A3C-4429-8210-27B5C2B15AE0}"/>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80D093-E26B-4F28-A2A0-2B710C9F382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DDF9D0-C90B-4E92-8F3F-0E23D1FA792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6dbc2163844791" /><Relationship Type="http://schemas.openxmlformats.org/officeDocument/2006/relationships/slideLayout" Target="/ppt/slideLayouts/slideLayout1.xml" Id="Refcbb1ba04514b86" /><Relationship Type="http://schemas.openxmlformats.org/officeDocument/2006/relationships/slideLayout" Target="/ppt/slideLayouts/slideLayout2.xml" Id="Rbe86bca876d04239" /><Relationship Type="http://schemas.openxmlformats.org/officeDocument/2006/relationships/slideLayout" Target="/ppt/slideLayouts/slideLayout3.xml" Id="R01d04c17c9f0431e" /><Relationship Type="http://schemas.openxmlformats.org/officeDocument/2006/relationships/slideLayout" Target="/ppt/slideLayouts/slideLayout4.xml" Id="R74e2440b707345d3" /><Relationship Type="http://schemas.openxmlformats.org/officeDocument/2006/relationships/slideLayout" Target="/ppt/slideLayouts/slideLayout5.xml" Id="R040c418704a544d6" /><Relationship Type="http://schemas.openxmlformats.org/officeDocument/2006/relationships/slideLayout" Target="/ppt/slideLayouts/slideLayout6.xml" Id="R00dc8aa670b641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cbb1ba04514b86"/>
    <p:sldLayoutId xmlns:r="http://schemas.openxmlformats.org/officeDocument/2006/relationships" id="2147483650" r:id="Rbe86bca876d04239"/>
    <p:sldLayoutId xmlns:r="http://schemas.openxmlformats.org/officeDocument/2006/relationships" id="2147483651" r:id="R01d04c17c9f0431e"/>
    <p:sldLayoutId xmlns:r="http://schemas.openxmlformats.org/officeDocument/2006/relationships" id="2147483652" r:id="R74e2440b707345d3"/>
    <p:sldLayoutId xmlns:r="http://schemas.openxmlformats.org/officeDocument/2006/relationships" id="2147483653" r:id="R040c418704a544d6"/>
    <p:sldLayoutId xmlns:r="http://schemas.openxmlformats.org/officeDocument/2006/relationships" id="2147483654" r:id="R00dc8aa670b641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a78202caf5144d3" /><Relationship Type="http://schemas.openxmlformats.org/officeDocument/2006/relationships/image" Target="/ppt/media/image.png" Id="Rb182a8ea7efa4d43" /><Relationship Type="http://schemas.openxmlformats.org/officeDocument/2006/relationships/notesSlide" Target="/ppt/notesSlides/notesSlide1.xml" Id="R2ef9526f72fa4ae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4" name="">
            <a:extLst xmlns:a="http://schemas.openxmlformats.org/drawingml/2006/main">
              <a:ext uri="{FF2B5EF4-FFF2-40B4-BE49-F238E27FC236}">
                <a16:creationId xmlns:a16="http://schemas.microsoft.com/office/drawing/2014/main" id="{0319E411-D156-4BBF-BAB6-A60BDDCBFDFE}"/>
              </a:ext>
            </a:extLst>
          </p:cNvPr>
          <p:cNvPicPr>
            <a:picLocks xmlns:a="http://schemas.openxmlformats.org/drawingml/2006/main" noChangeAspect="1"/>
          </p:cNvPicPr>
          <p:nvPr/>
        </p:nvPicPr>
        <p:blipFill>
          <a:blip xmlns:r="http://schemas.openxmlformats.org/officeDocument/2006/relationships" xmlns:a="http://schemas.openxmlformats.org/drawingml/2006/main" r:embed="Rb182a8ea7efa4d43"/>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5 label 1 line 1">
            <a:extLst xmlns:a="http://schemas.openxmlformats.org/drawingml/2006/main">
              <a:ext uri="{FF2B5EF4-FFF2-40B4-BE49-F238E27FC236}">
                <a16:creationId xmlns:a16="http://schemas.microsoft.com/office/drawing/2014/main" id="{342B453E-80CB-45F0-99BE-AAA5C3E0C3EF}"/>
              </a:ext>
            </a:extLst>
          </p:cNvPr>
          <p:cNvSpPr>
            <a:spLocks xmlns:a="http://schemas.openxmlformats.org/drawingml/2006/main" noGrp="1"/>
          </p:cNvSpPr>
          <p:nvPr/>
        </p:nvSpPr>
        <p:spPr>
          <a:xfrm xmlns:a="http://schemas.openxmlformats.org/drawingml/2006/main" rot="0">
            <a:off x="2616217" y="7924632"/>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3" name="Figure 5 label 2 line 1">
            <a:extLst xmlns:a="http://schemas.openxmlformats.org/drawingml/2006/main">
              <a:ext uri="{FF2B5EF4-FFF2-40B4-BE49-F238E27FC236}">
                <a16:creationId xmlns:a16="http://schemas.microsoft.com/office/drawing/2014/main" id="{2B3B2604-9C46-4898-8C55-A9C5D60B3A33}"/>
              </a:ext>
            </a:extLst>
          </p:cNvPr>
          <p:cNvSpPr>
            <a:spLocks xmlns:a="http://schemas.openxmlformats.org/drawingml/2006/main" noGrp="1"/>
          </p:cNvSpPr>
          <p:nvPr/>
        </p:nvSpPr>
        <p:spPr>
          <a:xfrm xmlns:a="http://schemas.openxmlformats.org/drawingml/2006/main" rot="0">
            <a:off x="8011760" y="7924632"/>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4" name="Figure 5 label 3 line 1">
            <a:extLst xmlns:a="http://schemas.openxmlformats.org/drawingml/2006/main">
              <a:ext uri="{FF2B5EF4-FFF2-40B4-BE49-F238E27FC236}">
                <a16:creationId xmlns:a16="http://schemas.microsoft.com/office/drawing/2014/main" id="{7D4F663D-912E-415F-829D-708D93B20394}"/>
              </a:ext>
            </a:extLst>
          </p:cNvPr>
          <p:cNvSpPr>
            <a:spLocks xmlns:a="http://schemas.openxmlformats.org/drawingml/2006/main" noGrp="1"/>
          </p:cNvSpPr>
          <p:nvPr/>
        </p:nvSpPr>
        <p:spPr>
          <a:xfrm xmlns:a="http://schemas.openxmlformats.org/drawingml/2006/main" rot="0">
            <a:off x="13714188" y="7924632"/>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5" name="Figure 5 label 4 line 1">
            <a:extLst xmlns:a="http://schemas.openxmlformats.org/drawingml/2006/main">
              <a:ext uri="{FF2B5EF4-FFF2-40B4-BE49-F238E27FC236}">
                <a16:creationId xmlns:a16="http://schemas.microsoft.com/office/drawing/2014/main" id="{B2FA3E68-57A8-4D9F-A64D-C6DD5F2F3A13}"/>
              </a:ext>
            </a:extLst>
          </p:cNvPr>
          <p:cNvSpPr>
            <a:spLocks xmlns:a="http://schemas.openxmlformats.org/drawingml/2006/main" noGrp="1"/>
          </p:cNvSpPr>
          <p:nvPr/>
        </p:nvSpPr>
        <p:spPr>
          <a:xfrm xmlns:a="http://schemas.openxmlformats.org/drawingml/2006/main" rot="0">
            <a:off x="7276772" y="8291493"/>
            <a:ext cx="227141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Experimental necessity →</a:t>
            </a:r>
          </a:p>
        </p:txBody>
      </p:sp>
      <p:sp>
        <p:nvSpPr>
          <p:cNvPr id="6" name="Figure 5 label 5 line 1">
            <a:extLst xmlns:a="http://schemas.openxmlformats.org/drawingml/2006/main">
              <a:ext uri="{FF2B5EF4-FFF2-40B4-BE49-F238E27FC236}">
                <a16:creationId xmlns:a16="http://schemas.microsoft.com/office/drawing/2014/main" id="{7771E4D6-48C5-4355-927D-CDC8C69673FA}"/>
              </a:ext>
            </a:extLst>
          </p:cNvPr>
          <p:cNvSpPr>
            <a:spLocks xmlns:a="http://schemas.openxmlformats.org/drawingml/2006/main" noGrp="1"/>
          </p:cNvSpPr>
          <p:nvPr/>
        </p:nvSpPr>
        <p:spPr>
          <a:xfrm xmlns:a="http://schemas.openxmlformats.org/drawingml/2006/main" rot="0">
            <a:off x="830868" y="7147349"/>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7" name="Figure 5 label 6 line 1">
            <a:extLst xmlns:a="http://schemas.openxmlformats.org/drawingml/2006/main">
              <a:ext uri="{FF2B5EF4-FFF2-40B4-BE49-F238E27FC236}">
                <a16:creationId xmlns:a16="http://schemas.microsoft.com/office/drawing/2014/main" id="{B372D7B2-83FC-461B-98DA-F7204EB935F0}"/>
              </a:ext>
            </a:extLst>
          </p:cNvPr>
          <p:cNvSpPr>
            <a:spLocks xmlns:a="http://schemas.openxmlformats.org/drawingml/2006/main" noGrp="1"/>
          </p:cNvSpPr>
          <p:nvPr/>
        </p:nvSpPr>
        <p:spPr>
          <a:xfrm xmlns:a="http://schemas.openxmlformats.org/drawingml/2006/main" rot="0">
            <a:off x="502851" y="4945931"/>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8" name="Figure 5 label 7 line 1">
            <a:extLst xmlns:a="http://schemas.openxmlformats.org/drawingml/2006/main">
              <a:ext uri="{FF2B5EF4-FFF2-40B4-BE49-F238E27FC236}">
                <a16:creationId xmlns:a16="http://schemas.microsoft.com/office/drawing/2014/main" id="{6632F57A-5685-4C58-A78C-75C979867574}"/>
              </a:ext>
            </a:extLst>
          </p:cNvPr>
          <p:cNvSpPr>
            <a:spLocks xmlns:a="http://schemas.openxmlformats.org/drawingml/2006/main" noGrp="1"/>
          </p:cNvSpPr>
          <p:nvPr/>
        </p:nvSpPr>
        <p:spPr>
          <a:xfrm xmlns:a="http://schemas.openxmlformats.org/drawingml/2006/main" rot="0">
            <a:off x="788601" y="2744513"/>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9" name="Figure 5 label 8 line 1">
            <a:extLst xmlns:a="http://schemas.openxmlformats.org/drawingml/2006/main">
              <a:ext uri="{FF2B5EF4-FFF2-40B4-BE49-F238E27FC236}">
                <a16:creationId xmlns:a16="http://schemas.microsoft.com/office/drawing/2014/main" id="{844A4307-FF55-4414-BF18-5E3C3D8B17FE}"/>
              </a:ext>
            </a:extLst>
          </p:cNvPr>
          <p:cNvSpPr>
            <a:spLocks xmlns:a="http://schemas.openxmlformats.org/drawingml/2006/main" noGrp="1"/>
          </p:cNvSpPr>
          <p:nvPr/>
        </p:nvSpPr>
        <p:spPr>
          <a:xfrm xmlns:a="http://schemas.openxmlformats.org/drawingml/2006/main" rot="16200000">
            <a:off x="-1479297" y="4918710"/>
            <a:ext cx="373275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Revenue elasticity to experiment volume →</a:t>
            </a:r>
          </a:p>
        </p:txBody>
      </p:sp>
      <p:sp>
        <p:nvSpPr>
          <p:cNvPr id="10" name="Figure 5 label 9 line 1">
            <a:extLst xmlns:a="http://schemas.openxmlformats.org/drawingml/2006/main">
              <a:ext uri="{FF2B5EF4-FFF2-40B4-BE49-F238E27FC236}">
                <a16:creationId xmlns:a16="http://schemas.microsoft.com/office/drawing/2014/main" id="{144D6EA5-DABC-4ED4-A481-8FAA89D30278}"/>
              </a:ext>
            </a:extLst>
          </p:cNvPr>
          <p:cNvSpPr>
            <a:spLocks xmlns:a="http://schemas.openxmlformats.org/drawingml/2006/main" noGrp="1"/>
          </p:cNvSpPr>
          <p:nvPr/>
        </p:nvSpPr>
        <p:spPr>
          <a:xfrm xmlns:a="http://schemas.openxmlformats.org/drawingml/2006/main" rot="0">
            <a:off x="2012455" y="2407644"/>
            <a:ext cx="3468162" cy="2043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288" b="0">
                <a:solidFill>
                  <a:srgbClr val="00355F"/>
                </a:solidFill>
                <a:latin typeface="Arial Unicode MS"/>
                <a:ea typeface="Arial Unicode MS"/>
                <a:cs typeface="Arial Unicode MS"/>
              </a:defRPr>
            </a:pPr>
            <a:r>
              <a:rPr sz="1288" b="0">
                <a:solidFill>
                  <a:srgbClr val="00355F"/>
                </a:solidFill>
                <a:latin typeface="Arial Unicode MS"/>
                <a:ea typeface="Arial Unicode MS"/>
                <a:cs typeface="Arial Unicode MS"/>
              </a:rPr>
              <a:t>Project expansion and substitution both matter</a:t>
            </a:r>
          </a:p>
        </p:txBody>
      </p:sp>
      <p:sp>
        <p:nvSpPr>
          <p:cNvPr id="11" name="Figure 5 label 10 line 1">
            <a:extLst xmlns:a="http://schemas.openxmlformats.org/drawingml/2006/main">
              <a:ext uri="{FF2B5EF4-FFF2-40B4-BE49-F238E27FC236}">
                <a16:creationId xmlns:a16="http://schemas.microsoft.com/office/drawing/2014/main" id="{0C3A6FD1-F6F1-46A7-9EBF-BE40CAFE9C9C}"/>
              </a:ext>
            </a:extLst>
          </p:cNvPr>
          <p:cNvSpPr>
            <a:spLocks xmlns:a="http://schemas.openxmlformats.org/drawingml/2006/main" noGrp="1"/>
          </p:cNvSpPr>
          <p:nvPr/>
        </p:nvSpPr>
        <p:spPr>
          <a:xfrm xmlns:a="http://schemas.openxmlformats.org/drawingml/2006/main" rot="0">
            <a:off x="11880532" y="2274154"/>
            <a:ext cx="130373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High-throughput</a:t>
            </a:r>
          </a:p>
        </p:txBody>
      </p:sp>
      <p:sp>
        <p:nvSpPr>
          <p:cNvPr id="12" name="Figure 5 label 11 line 1">
            <a:extLst xmlns:a="http://schemas.openxmlformats.org/drawingml/2006/main">
              <a:ext uri="{FF2B5EF4-FFF2-40B4-BE49-F238E27FC236}">
                <a16:creationId xmlns:a16="http://schemas.microsoft.com/office/drawing/2014/main" id="{65E80565-E940-4ED8-8746-0056CB8C05A4}"/>
              </a:ext>
            </a:extLst>
          </p:cNvPr>
          <p:cNvSpPr>
            <a:spLocks xmlns:a="http://schemas.openxmlformats.org/drawingml/2006/main" noGrp="1"/>
          </p:cNvSpPr>
          <p:nvPr/>
        </p:nvSpPr>
        <p:spPr>
          <a:xfrm xmlns:a="http://schemas.openxmlformats.org/drawingml/2006/main" rot="0">
            <a:off x="11880532" y="2452333"/>
            <a:ext cx="627162"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assays</a:t>
            </a:r>
          </a:p>
        </p:txBody>
      </p:sp>
      <p:sp>
        <p:nvSpPr>
          <p:cNvPr id="13" name="Figure 5 label 12 line 1">
            <a:extLst xmlns:a="http://schemas.openxmlformats.org/drawingml/2006/main">
              <a:ext uri="{FF2B5EF4-FFF2-40B4-BE49-F238E27FC236}">
                <a16:creationId xmlns:a16="http://schemas.microsoft.com/office/drawing/2014/main" id="{E015363E-D88E-4B2A-934E-60620BA7E32D}"/>
              </a:ext>
            </a:extLst>
          </p:cNvPr>
          <p:cNvSpPr>
            <a:spLocks xmlns:a="http://schemas.openxmlformats.org/drawingml/2006/main" noGrp="1"/>
          </p:cNvSpPr>
          <p:nvPr/>
        </p:nvSpPr>
        <p:spPr>
          <a:xfrm xmlns:a="http://schemas.openxmlformats.org/drawingml/2006/main" rot="0">
            <a:off x="13752695" y="4146375"/>
            <a:ext cx="129406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Enzymes / NGS</a:t>
            </a:r>
          </a:p>
        </p:txBody>
      </p:sp>
      <p:sp>
        <p:nvSpPr>
          <p:cNvPr id="14" name="Figure 5 label 13 line 1">
            <a:extLst xmlns:a="http://schemas.openxmlformats.org/drawingml/2006/main">
              <a:ext uri="{FF2B5EF4-FFF2-40B4-BE49-F238E27FC236}">
                <a16:creationId xmlns:a16="http://schemas.microsoft.com/office/drawing/2014/main" id="{56DE8898-E1BC-4475-9680-DF7E41FC7CC4}"/>
              </a:ext>
            </a:extLst>
          </p:cNvPr>
          <p:cNvSpPr>
            <a:spLocks xmlns:a="http://schemas.openxmlformats.org/drawingml/2006/main" noGrp="1"/>
          </p:cNvSpPr>
          <p:nvPr/>
        </p:nvSpPr>
        <p:spPr>
          <a:xfrm xmlns:a="http://schemas.openxmlformats.org/drawingml/2006/main" rot="0">
            <a:off x="14104588" y="4324554"/>
            <a:ext cx="94223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library prep</a:t>
            </a:r>
          </a:p>
        </p:txBody>
      </p:sp>
      <p:sp>
        <p:nvSpPr>
          <p:cNvPr id="15" name="Figure 5 label 14 line 1">
            <a:extLst xmlns:a="http://schemas.openxmlformats.org/drawingml/2006/main">
              <a:ext uri="{FF2B5EF4-FFF2-40B4-BE49-F238E27FC236}">
                <a16:creationId xmlns:a16="http://schemas.microsoft.com/office/drawing/2014/main" id="{D7CC30AD-8AC7-4695-B84A-9C761449C906}"/>
              </a:ext>
            </a:extLst>
          </p:cNvPr>
          <p:cNvSpPr>
            <a:spLocks xmlns:a="http://schemas.openxmlformats.org/drawingml/2006/main" noGrp="1"/>
          </p:cNvSpPr>
          <p:nvPr/>
        </p:nvSpPr>
        <p:spPr>
          <a:xfrm xmlns:a="http://schemas.openxmlformats.org/drawingml/2006/main" rot="0">
            <a:off x="10351656" y="3156519"/>
            <a:ext cx="109061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Recombinant</a:t>
            </a:r>
          </a:p>
        </p:txBody>
      </p:sp>
      <p:sp>
        <p:nvSpPr>
          <p:cNvPr id="16" name="Figure 5 label 15 line 1">
            <a:extLst xmlns:a="http://schemas.openxmlformats.org/drawingml/2006/main">
              <a:ext uri="{FF2B5EF4-FFF2-40B4-BE49-F238E27FC236}">
                <a16:creationId xmlns:a16="http://schemas.microsoft.com/office/drawing/2014/main" id="{0F42B9C9-416A-46CC-B8C9-0513166D504A}"/>
              </a:ext>
            </a:extLst>
          </p:cNvPr>
          <p:cNvSpPr>
            <a:spLocks xmlns:a="http://schemas.openxmlformats.org/drawingml/2006/main" noGrp="1"/>
          </p:cNvSpPr>
          <p:nvPr/>
        </p:nvSpPr>
        <p:spPr>
          <a:xfrm xmlns:a="http://schemas.openxmlformats.org/drawingml/2006/main" rot="0">
            <a:off x="10351656" y="3332900"/>
            <a:ext cx="70142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proteins</a:t>
            </a:r>
          </a:p>
        </p:txBody>
      </p:sp>
      <p:sp>
        <p:nvSpPr>
          <p:cNvPr id="17" name="Figure 5 label 16 line 1">
            <a:extLst xmlns:a="http://schemas.openxmlformats.org/drawingml/2006/main">
              <a:ext uri="{FF2B5EF4-FFF2-40B4-BE49-F238E27FC236}">
                <a16:creationId xmlns:a16="http://schemas.microsoft.com/office/drawing/2014/main" id="{E633A718-37EA-44EE-B286-4C5D701E2300}"/>
              </a:ext>
            </a:extLst>
          </p:cNvPr>
          <p:cNvSpPr>
            <a:spLocks xmlns:a="http://schemas.openxmlformats.org/drawingml/2006/main" noGrp="1"/>
          </p:cNvSpPr>
          <p:nvPr/>
        </p:nvSpPr>
        <p:spPr>
          <a:xfrm xmlns:a="http://schemas.openxmlformats.org/drawingml/2006/main" rot="0">
            <a:off x="8822779" y="2577748"/>
            <a:ext cx="80322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Chemical</a:t>
            </a:r>
          </a:p>
        </p:txBody>
      </p:sp>
      <p:sp>
        <p:nvSpPr>
          <p:cNvPr id="18" name="Figure 5 label 17 line 1">
            <a:extLst xmlns:a="http://schemas.openxmlformats.org/drawingml/2006/main">
              <a:ext uri="{FF2B5EF4-FFF2-40B4-BE49-F238E27FC236}">
                <a16:creationId xmlns:a16="http://schemas.microsoft.com/office/drawing/2014/main" id="{356D8ADF-325B-426B-B56A-ECBB44E158C0}"/>
              </a:ext>
            </a:extLst>
          </p:cNvPr>
          <p:cNvSpPr>
            <a:spLocks xmlns:a="http://schemas.openxmlformats.org/drawingml/2006/main" noGrp="1"/>
          </p:cNvSpPr>
          <p:nvPr/>
        </p:nvSpPr>
        <p:spPr>
          <a:xfrm xmlns:a="http://schemas.openxmlformats.org/drawingml/2006/main" rot="0">
            <a:off x="8822779" y="2754130"/>
            <a:ext cx="1201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building blocks</a:t>
            </a:r>
          </a:p>
        </p:txBody>
      </p:sp>
      <p:sp>
        <p:nvSpPr>
          <p:cNvPr id="19" name="Figure 5 label 18 line 1">
            <a:extLst xmlns:a="http://schemas.openxmlformats.org/drawingml/2006/main">
              <a:ext uri="{FF2B5EF4-FFF2-40B4-BE49-F238E27FC236}">
                <a16:creationId xmlns:a16="http://schemas.microsoft.com/office/drawing/2014/main" id="{DD073BA3-28C3-4479-9A43-5A4AFD60E235}"/>
              </a:ext>
            </a:extLst>
          </p:cNvPr>
          <p:cNvSpPr>
            <a:spLocks xmlns:a="http://schemas.openxmlformats.org/drawingml/2006/main" noGrp="1"/>
          </p:cNvSpPr>
          <p:nvPr/>
        </p:nvSpPr>
        <p:spPr>
          <a:xfrm xmlns:a="http://schemas.openxmlformats.org/drawingml/2006/main" rot="0">
            <a:off x="12366993" y="3431696"/>
            <a:ext cx="95160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Automation</a:t>
            </a:r>
          </a:p>
        </p:txBody>
      </p:sp>
      <p:sp>
        <p:nvSpPr>
          <p:cNvPr id="20" name="Figure 5 label 19 line 1">
            <a:extLst xmlns:a="http://schemas.openxmlformats.org/drawingml/2006/main">
              <a:ext uri="{FF2B5EF4-FFF2-40B4-BE49-F238E27FC236}">
                <a16:creationId xmlns:a16="http://schemas.microsoft.com/office/drawing/2014/main" id="{3419ECCC-EEA7-43DA-8CF4-FCD2606AEC78}"/>
              </a:ext>
            </a:extLst>
          </p:cNvPr>
          <p:cNvSpPr>
            <a:spLocks xmlns:a="http://schemas.openxmlformats.org/drawingml/2006/main" noGrp="1"/>
          </p:cNvSpPr>
          <p:nvPr/>
        </p:nvSpPr>
        <p:spPr>
          <a:xfrm xmlns:a="http://schemas.openxmlformats.org/drawingml/2006/main" rot="0">
            <a:off x="12366993" y="3608077"/>
            <a:ext cx="95160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plates / tips</a:t>
            </a:r>
          </a:p>
        </p:txBody>
      </p:sp>
      <p:sp>
        <p:nvSpPr>
          <p:cNvPr id="21" name="Figure 5 label 20 line 1">
            <a:extLst xmlns:a="http://schemas.openxmlformats.org/drawingml/2006/main">
              <a:ext uri="{FF2B5EF4-FFF2-40B4-BE49-F238E27FC236}">
                <a16:creationId xmlns:a16="http://schemas.microsoft.com/office/drawing/2014/main" id="{08A15C26-2DA1-4702-B6C5-66CA126EA58C}"/>
              </a:ext>
            </a:extLst>
          </p:cNvPr>
          <p:cNvSpPr>
            <a:spLocks xmlns:a="http://schemas.openxmlformats.org/drawingml/2006/main" noGrp="1"/>
          </p:cNvSpPr>
          <p:nvPr/>
        </p:nvSpPr>
        <p:spPr>
          <a:xfrm xmlns:a="http://schemas.openxmlformats.org/drawingml/2006/main" rot="0">
            <a:off x="6043003" y="6073398"/>
            <a:ext cx="69205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Generic</a:t>
            </a:r>
          </a:p>
        </p:txBody>
      </p:sp>
      <p:sp>
        <p:nvSpPr>
          <p:cNvPr id="22" name="Figure 5 label 21 line 1">
            <a:extLst xmlns:a="http://schemas.openxmlformats.org/drawingml/2006/main">
              <a:ext uri="{FF2B5EF4-FFF2-40B4-BE49-F238E27FC236}">
                <a16:creationId xmlns:a16="http://schemas.microsoft.com/office/drawing/2014/main" id="{5083A3B2-6923-488A-A20A-4F31695C5411}"/>
              </a:ext>
            </a:extLst>
          </p:cNvPr>
          <p:cNvSpPr>
            <a:spLocks xmlns:a="http://schemas.openxmlformats.org/drawingml/2006/main" noGrp="1"/>
          </p:cNvSpPr>
          <p:nvPr/>
        </p:nvSpPr>
        <p:spPr>
          <a:xfrm xmlns:a="http://schemas.openxmlformats.org/drawingml/2006/main" rot="0">
            <a:off x="6043003" y="6249779"/>
            <a:ext cx="1210866"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plastic labware</a:t>
            </a:r>
          </a:p>
        </p:txBody>
      </p:sp>
      <p:sp>
        <p:nvSpPr>
          <p:cNvPr id="23" name="Figure 5 label 22 line 1">
            <a:extLst xmlns:a="http://schemas.openxmlformats.org/drawingml/2006/main">
              <a:ext uri="{FF2B5EF4-FFF2-40B4-BE49-F238E27FC236}">
                <a16:creationId xmlns:a16="http://schemas.microsoft.com/office/drawing/2014/main" id="{C5A8E3F5-27DE-4534-96AA-CBE1F43E1A8F}"/>
              </a:ext>
            </a:extLst>
          </p:cNvPr>
          <p:cNvSpPr>
            <a:spLocks xmlns:a="http://schemas.openxmlformats.org/drawingml/2006/main" noGrp="1"/>
          </p:cNvSpPr>
          <p:nvPr/>
        </p:nvSpPr>
        <p:spPr>
          <a:xfrm xmlns:a="http://schemas.openxmlformats.org/drawingml/2006/main" rot="0">
            <a:off x="9517723" y="4724130"/>
            <a:ext cx="82182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Analytical</a:t>
            </a:r>
          </a:p>
        </p:txBody>
      </p:sp>
      <p:sp>
        <p:nvSpPr>
          <p:cNvPr id="24" name="Figure 5 label 23 line 1">
            <a:extLst xmlns:a="http://schemas.openxmlformats.org/drawingml/2006/main">
              <a:ext uri="{FF2B5EF4-FFF2-40B4-BE49-F238E27FC236}">
                <a16:creationId xmlns:a16="http://schemas.microsoft.com/office/drawing/2014/main" id="{A8BF2362-7347-4028-9B12-3A210A9142B8}"/>
              </a:ext>
            </a:extLst>
          </p:cNvPr>
          <p:cNvSpPr>
            <a:spLocks xmlns:a="http://schemas.openxmlformats.org/drawingml/2006/main" noGrp="1"/>
          </p:cNvSpPr>
          <p:nvPr/>
        </p:nvSpPr>
        <p:spPr>
          <a:xfrm xmlns:a="http://schemas.openxmlformats.org/drawingml/2006/main" rot="0">
            <a:off x="9517723" y="4902309"/>
            <a:ext cx="72910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columns</a:t>
            </a:r>
          </a:p>
        </p:txBody>
      </p:sp>
      <p:sp>
        <p:nvSpPr>
          <p:cNvPr id="25" name="Figure 5 label 24 line 1">
            <a:extLst xmlns:a="http://schemas.openxmlformats.org/drawingml/2006/main">
              <a:ext uri="{FF2B5EF4-FFF2-40B4-BE49-F238E27FC236}">
                <a16:creationId xmlns:a16="http://schemas.microsoft.com/office/drawing/2014/main" id="{F34E6C5C-E8D2-4C7C-B030-4C254E02A4B6}"/>
              </a:ext>
            </a:extLst>
          </p:cNvPr>
          <p:cNvSpPr>
            <a:spLocks xmlns:a="http://schemas.openxmlformats.org/drawingml/2006/main" noGrp="1"/>
          </p:cNvSpPr>
          <p:nvPr/>
        </p:nvSpPr>
        <p:spPr>
          <a:xfrm xmlns:a="http://schemas.openxmlformats.org/drawingml/2006/main" rot="0">
            <a:off x="11741544" y="5963444"/>
            <a:ext cx="116472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Manufacturing</a:t>
            </a:r>
          </a:p>
        </p:txBody>
      </p:sp>
      <p:sp>
        <p:nvSpPr>
          <p:cNvPr id="26" name="Figure 5 label 25 line 1">
            <a:extLst xmlns:a="http://schemas.openxmlformats.org/drawingml/2006/main">
              <a:ext uri="{FF2B5EF4-FFF2-40B4-BE49-F238E27FC236}">
                <a16:creationId xmlns:a16="http://schemas.microsoft.com/office/drawing/2014/main" id="{A8AF91E6-F3EF-4F70-99DD-AC518C0A2CC4}"/>
              </a:ext>
            </a:extLst>
          </p:cNvPr>
          <p:cNvSpPr>
            <a:spLocks xmlns:a="http://schemas.openxmlformats.org/drawingml/2006/main" noGrp="1"/>
          </p:cNvSpPr>
          <p:nvPr/>
        </p:nvSpPr>
        <p:spPr>
          <a:xfrm xmlns:a="http://schemas.openxmlformats.org/drawingml/2006/main" rot="0">
            <a:off x="11741544" y="6141622"/>
            <a:ext cx="55304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resins</a:t>
            </a:r>
          </a:p>
        </p:txBody>
      </p:sp>
      <p:sp>
        <p:nvSpPr>
          <p:cNvPr id="27" name="Figure 5 label 26 line 1">
            <a:extLst xmlns:a="http://schemas.openxmlformats.org/drawingml/2006/main">
              <a:ext uri="{FF2B5EF4-FFF2-40B4-BE49-F238E27FC236}">
                <a16:creationId xmlns:a16="http://schemas.microsoft.com/office/drawing/2014/main" id="{444A9F48-DD04-4E98-BF63-43116649C3BB}"/>
              </a:ext>
            </a:extLst>
          </p:cNvPr>
          <p:cNvSpPr>
            <a:spLocks xmlns:a="http://schemas.openxmlformats.org/drawingml/2006/main" noGrp="1"/>
          </p:cNvSpPr>
          <p:nvPr/>
        </p:nvSpPr>
        <p:spPr>
          <a:xfrm xmlns:a="http://schemas.openxmlformats.org/drawingml/2006/main" rot="0">
            <a:off x="6529464" y="3982168"/>
            <a:ext cx="98896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Sequencing</a:t>
            </a:r>
          </a:p>
        </p:txBody>
      </p:sp>
      <p:sp>
        <p:nvSpPr>
          <p:cNvPr id="28" name="Figure 5 label 27 line 1">
            <a:extLst xmlns:a="http://schemas.openxmlformats.org/drawingml/2006/main">
              <a:ext uri="{FF2B5EF4-FFF2-40B4-BE49-F238E27FC236}">
                <a16:creationId xmlns:a16="http://schemas.microsoft.com/office/drawing/2014/main" id="{658EB808-A78E-4AEE-8EC1-D56FF36B88C7}"/>
              </a:ext>
            </a:extLst>
          </p:cNvPr>
          <p:cNvSpPr>
            <a:spLocks xmlns:a="http://schemas.openxmlformats.org/drawingml/2006/main" noGrp="1"/>
          </p:cNvSpPr>
          <p:nvPr/>
        </p:nvSpPr>
        <p:spPr>
          <a:xfrm xmlns:a="http://schemas.openxmlformats.org/drawingml/2006/main" rot="0">
            <a:off x="6529464" y="4160347"/>
            <a:ext cx="46047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tools</a:t>
            </a:r>
          </a:p>
        </p:txBody>
      </p:sp>
      <p:sp>
        <p:nvSpPr>
          <p:cNvPr id="29" name="Figure 5 label 28 line 1">
            <a:extLst xmlns:a="http://schemas.openxmlformats.org/drawingml/2006/main">
              <a:ext uri="{FF2B5EF4-FFF2-40B4-BE49-F238E27FC236}">
                <a16:creationId xmlns:a16="http://schemas.microsoft.com/office/drawing/2014/main" id="{0BB9D1BB-BCB9-4576-A80F-A940A385CF6A}"/>
              </a:ext>
            </a:extLst>
          </p:cNvPr>
          <p:cNvSpPr>
            <a:spLocks xmlns:a="http://schemas.openxmlformats.org/drawingml/2006/main" noGrp="1"/>
          </p:cNvSpPr>
          <p:nvPr/>
        </p:nvSpPr>
        <p:spPr>
          <a:xfrm xmlns:a="http://schemas.openxmlformats.org/drawingml/2006/main" rot="0">
            <a:off x="5973509" y="3376661"/>
            <a:ext cx="55334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Liquid</a:t>
            </a:r>
          </a:p>
        </p:txBody>
      </p:sp>
      <p:sp>
        <p:nvSpPr>
          <p:cNvPr id="30" name="Figure 5 label 29 line 1">
            <a:extLst xmlns:a="http://schemas.openxmlformats.org/drawingml/2006/main">
              <a:ext uri="{FF2B5EF4-FFF2-40B4-BE49-F238E27FC236}">
                <a16:creationId xmlns:a16="http://schemas.microsoft.com/office/drawing/2014/main" id="{73A13119-B5BE-4741-AE15-1B5E0C1270A8}"/>
              </a:ext>
            </a:extLst>
          </p:cNvPr>
          <p:cNvSpPr>
            <a:spLocks xmlns:a="http://schemas.openxmlformats.org/drawingml/2006/main" noGrp="1"/>
          </p:cNvSpPr>
          <p:nvPr/>
        </p:nvSpPr>
        <p:spPr>
          <a:xfrm xmlns:a="http://schemas.openxmlformats.org/drawingml/2006/main" rot="0">
            <a:off x="5973509" y="3553042"/>
            <a:ext cx="74786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handlers</a:t>
            </a:r>
          </a:p>
        </p:txBody>
      </p:sp>
      <p:sp>
        <p:nvSpPr>
          <p:cNvPr id="31" name="Figure 5 label 30 line 1">
            <a:extLst xmlns:a="http://schemas.openxmlformats.org/drawingml/2006/main">
              <a:ext uri="{FF2B5EF4-FFF2-40B4-BE49-F238E27FC236}">
                <a16:creationId xmlns:a16="http://schemas.microsoft.com/office/drawing/2014/main" id="{5A00B5AB-D918-4BD1-8B4D-6D516B279E09}"/>
              </a:ext>
            </a:extLst>
          </p:cNvPr>
          <p:cNvSpPr>
            <a:spLocks xmlns:a="http://schemas.openxmlformats.org/drawingml/2006/main" noGrp="1"/>
          </p:cNvSpPr>
          <p:nvPr/>
        </p:nvSpPr>
        <p:spPr>
          <a:xfrm xmlns:a="http://schemas.openxmlformats.org/drawingml/2006/main" rot="0">
            <a:off x="991870" y="421920"/>
            <a:ext cx="7253040"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05  Which tools have more demand elasticity?</a:t>
            </a:r>
          </a:p>
        </p:txBody>
      </p:sp>
      <p:sp>
        <p:nvSpPr>
          <p:cNvPr id="32" name="Figure 5 label 31 line 1">
            <a:extLst xmlns:a="http://schemas.openxmlformats.org/drawingml/2006/main">
              <a:ext uri="{FF2B5EF4-FFF2-40B4-BE49-F238E27FC236}">
                <a16:creationId xmlns:a16="http://schemas.microsoft.com/office/drawing/2014/main" id="{2E17193A-893E-4BD9-A1CC-A7137C0B4FA1}"/>
              </a:ext>
            </a:extLst>
          </p:cNvPr>
          <p:cNvSpPr>
            <a:spLocks xmlns:a="http://schemas.openxmlformats.org/drawingml/2006/main" noGrp="1"/>
          </p:cNvSpPr>
          <p:nvPr/>
        </p:nvSpPr>
        <p:spPr>
          <a:xfrm xmlns:a="http://schemas.openxmlformats.org/drawingml/2006/main" rot="0">
            <a:off x="15695588" y="661601"/>
            <a:ext cx="107002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HYPOTHESIS</a:t>
            </a:r>
          </a:p>
        </p:txBody>
      </p:sp>
      <p:sp>
        <p:nvSpPr>
          <p:cNvPr id="33" name="Figure 5 label 32 line 1">
            <a:extLst xmlns:a="http://schemas.openxmlformats.org/drawingml/2006/main">
              <a:ext uri="{FF2B5EF4-FFF2-40B4-BE49-F238E27FC236}">
                <a16:creationId xmlns:a16="http://schemas.microsoft.com/office/drawing/2014/main" id="{7EE6871F-C865-437D-AD30-ED69AC74AD53}"/>
              </a:ext>
            </a:extLst>
          </p:cNvPr>
          <p:cNvSpPr>
            <a:spLocks xmlns:a="http://schemas.openxmlformats.org/drawingml/2006/main" noGrp="1"/>
          </p:cNvSpPr>
          <p:nvPr/>
        </p:nvSpPr>
        <p:spPr>
          <a:xfrm xmlns:a="http://schemas.openxmlformats.org/drawingml/2006/main" rot="0">
            <a:off x="998220" y="1248326"/>
            <a:ext cx="880675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Positions and bubble areas are qualitative research judgments, not measured scores or additive TAMs.</a:t>
            </a:r>
          </a:p>
        </p:txBody>
      </p:sp>
      <p:sp>
        <p:nvSpPr>
          <p:cNvPr id="34" name="Figure 5 label 33 line 1">
            <a:extLst xmlns:a="http://schemas.openxmlformats.org/drawingml/2006/main">
              <a:ext uri="{FF2B5EF4-FFF2-40B4-BE49-F238E27FC236}">
                <a16:creationId xmlns:a16="http://schemas.microsoft.com/office/drawing/2014/main" id="{0E598DB3-6BF2-4872-9DA9-A636EC458AB8}"/>
              </a:ext>
            </a:extLst>
          </p:cNvPr>
          <p:cNvSpPr>
            <a:spLocks xmlns:a="http://schemas.openxmlformats.org/drawingml/2006/main" noGrp="1"/>
          </p:cNvSpPr>
          <p:nvPr/>
        </p:nvSpPr>
        <p:spPr>
          <a:xfrm xmlns:a="http://schemas.openxmlformats.org/drawingml/2006/main" rot="0">
            <a:off x="999173" y="9255019"/>
            <a:ext cx="762297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Net demand also depends on consumption intensity, prices, project attrition and technical substitution.</a:t>
            </a:r>
          </a:p>
        </p:txBody>
      </p:sp>
      <p:sp>
        <p:nvSpPr>
          <p:cNvPr id="35" name="Figure 5 label 34 line 1">
            <a:extLst xmlns:a="http://schemas.openxmlformats.org/drawingml/2006/main">
              <a:ext uri="{FF2B5EF4-FFF2-40B4-BE49-F238E27FC236}">
                <a16:creationId xmlns:a16="http://schemas.microsoft.com/office/drawing/2014/main" id="{904C6661-73C4-4990-BD31-AA2E1A64925F}"/>
              </a:ext>
            </a:extLst>
          </p:cNvPr>
          <p:cNvSpPr>
            <a:spLocks xmlns:a="http://schemas.openxmlformats.org/drawingml/2006/main" noGrp="1"/>
          </p:cNvSpPr>
          <p:nvPr/>
        </p:nvSpPr>
        <p:spPr>
          <a:xfrm xmlns:a="http://schemas.openxmlformats.org/drawingml/2006/main" rot="0">
            <a:off x="1000316" y="9675546"/>
            <a:ext cx="6173569"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analyst assumptions. Edit positions and relative areas in data.json.</a:t>
            </a:r>
          </a:p>
        </p:txBody>
      </p:sp>
      <p:sp>
        <p:nvSpPr>
          <p:cNvPr id="36" name="Figure 5 label 35 line 1">
            <a:extLst xmlns:a="http://schemas.openxmlformats.org/drawingml/2006/main">
              <a:ext uri="{FF2B5EF4-FFF2-40B4-BE49-F238E27FC236}">
                <a16:creationId xmlns:a16="http://schemas.microsoft.com/office/drawing/2014/main" id="{FEDBD11D-86A2-4A01-8D30-B048BEF161F5}"/>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37" name="Figure 5 label 36 line 1">
            <a:extLst xmlns:a="http://schemas.openxmlformats.org/drawingml/2006/main">
              <a:ext uri="{FF2B5EF4-FFF2-40B4-BE49-F238E27FC236}">
                <a16:creationId xmlns:a16="http://schemas.microsoft.com/office/drawing/2014/main" id="{5F17D395-500F-4F00-91CB-2C79572474E9}"/>
              </a:ext>
            </a:extLst>
          </p:cNvPr>
          <p:cNvSpPr>
            <a:spLocks xmlns:a="http://schemas.openxmlformats.org/drawingml/2006/main" noGrp="1"/>
          </p:cNvSpPr>
          <p:nvPr/>
        </p:nvSpPr>
        <p:spPr>
          <a:xfrm xmlns:a="http://schemas.openxmlformats.org/drawingml/2006/main" rot="0">
            <a:off x="15812135" y="3271220"/>
            <a:ext cx="1055142"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Bubble area</a:t>
            </a:r>
          </a:p>
        </p:txBody>
      </p:sp>
      <p:sp>
        <p:nvSpPr>
          <p:cNvPr id="38" name="Figure 5 label 37 line 1">
            <a:extLst xmlns:a="http://schemas.openxmlformats.org/drawingml/2006/main">
              <a:ext uri="{FF2B5EF4-FFF2-40B4-BE49-F238E27FC236}">
                <a16:creationId xmlns:a16="http://schemas.microsoft.com/office/drawing/2014/main" id="{22D51345-297E-4A91-82CD-34DC86BFB39D}"/>
              </a:ext>
            </a:extLst>
          </p:cNvPr>
          <p:cNvSpPr>
            <a:spLocks xmlns:a="http://schemas.openxmlformats.org/drawingml/2006/main" noGrp="1"/>
          </p:cNvSpPr>
          <p:nvPr/>
        </p:nvSpPr>
        <p:spPr>
          <a:xfrm xmlns:a="http://schemas.openxmlformats.org/drawingml/2006/main" rot="0">
            <a:off x="15812325" y="3764919"/>
            <a:ext cx="1611491"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Relative opportunity</a:t>
            </a:r>
          </a:p>
        </p:txBody>
      </p:sp>
      <p:sp>
        <p:nvSpPr>
          <p:cNvPr id="39" name="Figure 5 label 38 line 1">
            <a:extLst xmlns:a="http://schemas.openxmlformats.org/drawingml/2006/main">
              <a:ext uri="{FF2B5EF4-FFF2-40B4-BE49-F238E27FC236}">
                <a16:creationId xmlns:a16="http://schemas.microsoft.com/office/drawing/2014/main" id="{03534FE3-8458-4C12-9452-A88DAA3DC23A}"/>
              </a:ext>
            </a:extLst>
          </p:cNvPr>
          <p:cNvSpPr>
            <a:spLocks xmlns:a="http://schemas.openxmlformats.org/drawingml/2006/main" noGrp="1"/>
          </p:cNvSpPr>
          <p:nvPr/>
        </p:nvSpPr>
        <p:spPr>
          <a:xfrm xmlns:a="http://schemas.openxmlformats.org/drawingml/2006/main" rot="0">
            <a:off x="15812325" y="4007283"/>
            <a:ext cx="1205488"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illustration; not</a:t>
            </a:r>
          </a:p>
        </p:txBody>
      </p:sp>
      <p:sp>
        <p:nvSpPr>
          <p:cNvPr id="40" name="Figure 5 label 39 line 1">
            <a:extLst xmlns:a="http://schemas.openxmlformats.org/drawingml/2006/main">
              <a:ext uri="{FF2B5EF4-FFF2-40B4-BE49-F238E27FC236}">
                <a16:creationId xmlns:a16="http://schemas.microsoft.com/office/drawing/2014/main" id="{9334E601-2C47-428D-A9DE-F6B08B712CBA}"/>
              </a:ext>
            </a:extLst>
          </p:cNvPr>
          <p:cNvSpPr>
            <a:spLocks xmlns:a="http://schemas.openxmlformats.org/drawingml/2006/main" noGrp="1"/>
          </p:cNvSpPr>
          <p:nvPr/>
        </p:nvSpPr>
        <p:spPr>
          <a:xfrm xmlns:a="http://schemas.openxmlformats.org/drawingml/2006/main" rot="0">
            <a:off x="15812325" y="4247817"/>
            <a:ext cx="1271419"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measured TAM</a:t>
            </a:r>
          </a:p>
        </p:txBody>
      </p:sp>
      <p:sp>
        <p:nvSpPr>
          <p:cNvPr id="41" name="Figure 5 label 40 line 1">
            <a:extLst xmlns:a="http://schemas.openxmlformats.org/drawingml/2006/main">
              <a:ext uri="{FF2B5EF4-FFF2-40B4-BE49-F238E27FC236}">
                <a16:creationId xmlns:a16="http://schemas.microsoft.com/office/drawing/2014/main" id="{26667DA8-1E6F-4234-8254-A7A003B54429}"/>
              </a:ext>
            </a:extLst>
          </p:cNvPr>
          <p:cNvSpPr>
            <a:spLocks xmlns:a="http://schemas.openxmlformats.org/drawingml/2006/main" noGrp="1"/>
          </p:cNvSpPr>
          <p:nvPr/>
        </p:nvSpPr>
        <p:spPr>
          <a:xfrm xmlns:a="http://schemas.openxmlformats.org/drawingml/2006/main" rot="0">
            <a:off x="15812325" y="6254373"/>
            <a:ext cx="1469807"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Potential elasticity</a:t>
            </a:r>
          </a:p>
        </p:txBody>
      </p:sp>
      <p:sp>
        <p:nvSpPr>
          <p:cNvPr id="42" name="Figure 5 label 41 line 1">
            <a:extLst xmlns:a="http://schemas.openxmlformats.org/drawingml/2006/main">
              <a:ext uri="{FF2B5EF4-FFF2-40B4-BE49-F238E27FC236}">
                <a16:creationId xmlns:a16="http://schemas.microsoft.com/office/drawing/2014/main" id="{B4CDAFC0-573A-485C-B79C-23D87B9E4D71}"/>
              </a:ext>
            </a:extLst>
          </p:cNvPr>
          <p:cNvSpPr>
            <a:spLocks xmlns:a="http://schemas.openxmlformats.org/drawingml/2006/main" noGrp="1"/>
          </p:cNvSpPr>
          <p:nvPr/>
        </p:nvSpPr>
        <p:spPr>
          <a:xfrm xmlns:a="http://schemas.openxmlformats.org/drawingml/2006/main" rot="0">
            <a:off x="15812325" y="6496737"/>
            <a:ext cx="1602413"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needs paid demand</a:t>
            </a:r>
          </a:p>
        </p:txBody>
      </p:sp>
      <p:sp>
        <p:nvSpPr>
          <p:cNvPr id="43" name="Figure 5 label 42 line 1">
            <a:extLst xmlns:a="http://schemas.openxmlformats.org/drawingml/2006/main">
              <a:ext uri="{FF2B5EF4-FFF2-40B4-BE49-F238E27FC236}">
                <a16:creationId xmlns:a16="http://schemas.microsoft.com/office/drawing/2014/main" id="{170B3E23-3FD2-42FB-A924-266E67F4D691}"/>
              </a:ext>
            </a:extLst>
          </p:cNvPr>
          <p:cNvSpPr>
            <a:spLocks xmlns:a="http://schemas.openxmlformats.org/drawingml/2006/main" noGrp="1"/>
          </p:cNvSpPr>
          <p:nvPr/>
        </p:nvSpPr>
        <p:spPr>
          <a:xfrm xmlns:a="http://schemas.openxmlformats.org/drawingml/2006/main" rot="0">
            <a:off x="15812325" y="6737270"/>
            <a:ext cx="1451203"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and repeat orders</a:t>
            </a:r>
          </a:p>
        </p:txBody>
      </p:sp>
    </p:spTree>
    <p:extLst>
      <p:ext uri="{BB962C8B-B14F-4D97-AF65-F5344CB8AC3E}">
        <p14:creationId xmlns:p14="http://schemas.microsoft.com/office/powerpoint/2010/main" val="14788917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2026-10-13T06:02:08.5610000Z</dcterms:created>
  <dcterms:modified xsi:type="dcterms:W3CDTF">2026-10-13T06:02:08.5610000Z</dcterms:modified>
</coreProperties>
</file>