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d6da22047a40f6" /><Relationship Type="http://schemas.openxmlformats.org/officeDocument/2006/relationships/extended-properties" Target="/docProps/app.xml" Id="Rfbebdb3a95bb44ff" /><Relationship Type="http://schemas.openxmlformats.org/officeDocument/2006/relationships/officeDocument" Target="/ppt/presentation.xml" Id="R62dc95ce58fb42c0" /></Relationships>
</file>

<file path=ppt/presentation.xml><?xml version="1.0" encoding="utf-8"?>
<p:presentation xmlns:p="http://schemas.openxmlformats.org/presentationml/2006/main">
  <p:sldMasterIdLst>
    <p:sldMasterId xmlns:r="http://schemas.openxmlformats.org/officeDocument/2006/relationships" id="2147483648" r:id="Rca786ee47b8248a8"/>
  </p:sldMasterIdLst>
  <p:notesMasterIdLst>
    <p:notesMasterId xmlns:r="http://schemas.openxmlformats.org/officeDocument/2006/relationships" r:id="R81be71b272054c71"/>
  </p:notesMasterIdLst>
  <p:sldIdLst>
    <p:sldId xmlns:r="http://schemas.openxmlformats.org/officeDocument/2006/relationships" id="256" r:id="R76d628e388024fe7"/>
  </p:sldIdLst>
  <p:sldSz cx="22860000" cy="128587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65b9e36ade43b6" /><Relationship Type="http://schemas.openxmlformats.org/officeDocument/2006/relationships/slideMaster" Target="/ppt/slideMasters/slideMaster1.xml" Id="Rca786ee47b8248a8" /><Relationship Type="http://schemas.openxmlformats.org/officeDocument/2006/relationships/notesMaster" Target="/ppt/notesMasters/notesMaster1.xml" Id="R81be71b272054c71" /><Relationship Type="http://schemas.openxmlformats.org/officeDocument/2006/relationships/presProps" Target="/ppt/presProps.xml" Id="R71c9145f1636441c" /><Relationship Type="http://schemas.openxmlformats.org/officeDocument/2006/relationships/tableStyles" Target="/ppt/tableStyles.xml" Id="R502ffab2f0394ed2" /><Relationship Type="http://schemas.openxmlformats.org/officeDocument/2006/relationships/slide" Target="/ppt/slides/slide1.xml" Id="R76d628e388024f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b4e5eed2ec47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52b8f394a5491e" /><Relationship Type="http://schemas.openxmlformats.org/officeDocument/2006/relationships/notesMaster" Target="/ppt/notesMasters/notesMaster1.xml" Id="R303612accdde47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maps an example antibody screening program to representative tools and suppliers. Stages 4–5 are potential data-generation constraints, not universally established bottlenecks. Net LST spending depends on funded workflow volume, assay depth, input use and price; shared preparation and readouts should not be double counted. Automation may reduce consumption per measurement. All figures are English, and all text, card frames and arrows are native editable objects. Logos and original Lucide icons are images.</a:t>
            </a:r>
          </a:p>
          <a:p xmlns:a="http://schemas.openxmlformats.org/drawingml/2006/main">
            <a:r>
              <a:t/>
            </a:r>
          </a:p>
          <a:p xmlns:a="http://schemas.openxmlformats.org/drawingml/2006/main">
            <a:r>
              <a:t># Protein / antibody screening workflow</a:t>
            </a:r>
          </a:p>
          <a:p xmlns:a="http://schemas.openxmlformats.org/drawingml/2006/main">
            <a:r>
              <a:t/>
            </a:r>
          </a:p>
          <a:p xmlns:a="http://schemas.openxmlformats.org/drawingml/2006/main">
            <a:r>
              <a:t>Figure 15. English infographic. Prepared 13 October 2026.</a:t>
            </a:r>
          </a:p>
          <a:p xmlns:a="http://schemas.openxmlformats.org/drawingml/2006/main">
            <a:r>
              <a:t/>
            </a:r>
          </a:p>
          <a:p xmlns:a="http://schemas.openxmlformats.org/drawingml/2006/main">
            <a:r>
              <a:t>## Scope and interpretation</a:t>
            </a:r>
          </a:p>
          <a:p xmlns:a="http://schemas.openxmlformats.org/drawingml/2006/main">
            <a:r>
              <a:t/>
            </a:r>
          </a:p>
          <a:p xmlns:a="http://schemas.openxmlformats.org/drawingml/2006/main">
            <a:r>
              <a:t>The example follows sequence-defined antibody candidates against a protein target, from DNA constructs to physical samples, binding screens, characterization and cell function. It is a simplified logical workflow, not a mandatory six-step protocol. Target preparation and candidate expression can run in parallel; primary screens can use culture supernatant before full purification. Assays are chosen for the molecule, mechanism and program.</a:t>
            </a:r>
          </a:p>
          <a:p xmlns:a="http://schemas.openxmlformats.org/drawingml/2006/main">
            <a:r>
              <a:t/>
            </a:r>
          </a:p>
          <a:p xmlns:a="http://schemas.openxmlformats.org/drawingml/2006/main">
            <a:r>
              <a:t>Stages 4–5 are highlighted as potential constraints on generating comparable, reproducible multi-property data for AI. This is an analytical hypothesis, not evidence that every program has these bottlenecks or that AI raises realized supplier revenue.</a:t>
            </a:r>
          </a:p>
          <a:p xmlns:a="http://schemas.openxmlformats.org/drawingml/2006/main">
            <a:r>
              <a:t/>
            </a:r>
          </a:p>
          <a:p xmlns:a="http://schemas.openxmlformats.org/drawingml/2006/main">
            <a:r>
              <a:t>KD, kon and koff can come from the same binding experiment and appropriate kinetic model. Expression data originate during production. Epitope competition binning is not atomic-resolution epitope mapping. Stability, aggregation and polyreactivity require different assays; none is implied to be measured by SEC or LC-MS alone. Cell potency is assay-specific and does not establish clinical efficacy. The label panel is a linked record assembled across stages, not nine independent tests.</a:t>
            </a:r>
          </a:p>
          <a:p xmlns:a="http://schemas.openxmlformats.org/drawingml/2006/main">
            <a:r>
              <a:t/>
            </a:r>
          </a:p>
          <a:p xmlns:a="http://schemas.openxmlformats.org/drawingml/2006/main">
            <a:r>
              <a:t>Instrumentation is shown separately from recurring inputs. Chromatography columns may be reused. Culture bags and bioreactors are scale-dependent. Shared sample preparation and shared assay readouts should be counted once in a procurement model. LIMS/ELN and orchestration are software systems. Data infrastructure supports the whole workflow, even though integration is shown as the sixth stage.</a:t>
            </a:r>
          </a:p>
          <a:p xmlns:a="http://schemas.openxmlformats.org/drawingml/2006/main">
            <a:r>
              <a:t/>
            </a:r>
          </a:p>
          <a:p xmlns:a="http://schemas.openxmlformats.org/drawingml/2006/main">
            <a:r>
              <a:t>Supplier lists are selected examples spanning reagents, instruments, consumables or services. A supplier listed beneath a stage is not asserted to supply every item in that stage. This is not a market-share ranking, endorsement or statement about installed systems in one laboratory.</a:t>
            </a:r>
          </a:p>
          <a:p xmlns:a="http://schemas.openxmlformats.org/drawingml/2006/main">
            <a:r>
              <a:t/>
            </a:r>
          </a:p>
          <a:p xmlns:a="http://schemas.openxmlformats.org/drawingml/2006/main">
            <a:r>
              <a:t>## Primary sources supporting the mappings</a:t>
            </a:r>
          </a:p>
          <a:p xmlns:a="http://schemas.openxmlformats.org/drawingml/2006/main">
            <a:r>
              <a:t/>
            </a:r>
          </a:p>
          <a:p xmlns:a="http://schemas.openxmlformats.org/drawingml/2006/main">
            <a:r>
              <a:t>1. [GenScript — antibody production](https://www.genscript.com/custom-antibody-production-services.html?src=home): antibody production and purification services. [Gene-to-antibody workflow](https://www.genscript.com/high-throughput-antibody-purification.html): constructs, expression and purification.</a:t>
            </a:r>
          </a:p>
          <a:p xmlns:a="http://schemas.openxmlformats.org/drawingml/2006/main">
            <a:r>
              <a:t>2. [Twist — gene fragments](https://www.twistbioscience.com/products/genes/fragments): DNA fragments for construct generation. [Multiplexed gene fragments](https://investors.twistbioscience.com/news-releases/news-release-details/twist-bioscience-launches-multiplexed-gene-fragments-enable-high): applications include antibody discovery and protein engineering.</a:t>
            </a:r>
          </a:p>
          <a:p xmlns:a="http://schemas.openxmlformats.org/drawingml/2006/main">
            <a:r>
              <a:t>3. [ACROBiosystems — AIDD-Ready](https://www.acrobiosystems.com/aix/aidd-ready-solutions): target proteins; gene synthesis, CHO expression, expression quantification, binding screening, optional epitope and cell assays. [Services](https://www.acrobiosystems.com/services): protein and cellular services and characterization.</a:t>
            </a:r>
          </a:p>
          <a:p xmlns:a="http://schemas.openxmlformats.org/drawingml/2006/main">
            <a:r>
              <a:t>4. [Cytiva — antibody purification handbook](https://cdn.cytivalifesciences.com/api/public/content/digi-26798-pdf): antibody affinity purification and chromatography choices. [Handbooks](https://www.cytivalifesciences.com/en/us/support/handbooks): laboratory protein purification. ÄKTA is a Cytiva instrument family; FPLC denotes a chromatography technique.</a:t>
            </a:r>
          </a:p>
          <a:p xmlns:a="http://schemas.openxmlformats.org/drawingml/2006/main">
            <a:r>
              <a:t>5. [Sartorius — BLI](https://www.sartorius.com/en/products/biolayer-interferometry): binding kinetics, affinity, concentration, biosensors and epitope binning. [Epitope binning](https://www.sartorius.com/en/products/biolayer-interferometry/bli-resources/octet-cross-competition-epitope-binning-assays): cross-competition assays.</a:t>
            </a:r>
          </a:p>
          <a:p xmlns:a="http://schemas.openxmlformats.org/drawingml/2006/main">
            <a:r>
              <a:t>6. [NanoTemper — Prometheus Panta](https://nanotempertech.com/prometheus-panta/): nanoDSF and scattering measurements for stability and aggregation-related properties. [nanoDSF](https://nanotempertech.com/nanodsf/): thermal unfolding and the distinction between conformational and colloidal stability.</a:t>
            </a:r>
          </a:p>
          <a:p xmlns:a="http://schemas.openxmlformats.org/drawingml/2006/main">
            <a:r>
              <a:t>7. [NanoMicro — company business description](https://www.nanomicro.com/news/company/76): chromatography materials and analytical separation portfolio. [NanoChrom SEC catalog](https://www.nanochrom.com.cn/products_1/?ext_fenlimoshi=SEC&amp;show=selectproductlist): SEC products, previously inspected in the preceding research; not freshly accessible through the web reader on 13 October. NanoMicro exposure here is analytical separation and purification, not an assertion that research-scale assay growth immediately translates into manufacturing resin demand.</a:t>
            </a:r>
          </a:p>
          <a:p xmlns:a="http://schemas.openxmlformats.org/drawingml/2006/main">
            <a:r>
              <a:t>8. [Molecular Devices — cellular imaging](https://www.moleculardevices.com/products/cellular-imaging-systems): cell imaging platforms. [Antibody binding with high-content imaging](https://www.moleculardevices.com/en/assets/app-note/dd/img/homogeneous-antibody-binding-assays-with-high-content-imaging): cell-surface binding as an example distinct from a complete potency assay.</a:t>
            </a:r>
          </a:p>
          <a:p xmlns:a="http://schemas.openxmlformats.org/drawingml/2006/main">
            <a:r>
              <a:t>9. [Corning — life sciences](https://www.corning.com/worldwide/en/products/life-sciences.html): culture vessels and microplates.</a:t>
            </a:r>
          </a:p>
          <a:p xmlns:a="http://schemas.openxmlformats.org/drawingml/2006/main">
            <a:r>
              <a:t>10. [Waters Biosciences — flow cytometers](https://www.bdbiosciences.com/en-br/products/instruments/flow-cytometers): current portfolio naming. [Waters transaction disclosure](https://www.waters.com/nextgen/us/en/about-waters/corporate-governance/legal-and-privacy-notices/bdtransaction.html): combination with BD's Biosciences &amp; Diagnostic Solutions closed 9 February 2026. The slide therefore labels the former BD Biosciences portfolio as Waters Biosciences (ex-BD).</a:t>
            </a:r>
          </a:p>
          <a:p xmlns:a="http://schemas.openxmlformats.org/drawingml/2006/main">
            <a:r>
              <a:t>11. [Hamilton — applications](https://www.hamiltoncompany.com/applications): liquid handling and protein/cell workflow automation. [Tecan](https://www.tecan.com): liquid handling and laboratory automation.</a:t>
            </a:r>
          </a:p>
          <a:p xmlns:a="http://schemas.openxmlformats.org/drawingml/2006/main">
            <a:r>
              <a:t>12. [Benchling — biopharmaceutical R&amp;D](https://www.benchling.com/solutions/biopharmaceutical): ELN, LIMS and linked data. [Genedata Biologics](https://www.genedata.com/platform/biologics): molecule/sample tracking, screening records and characterization data.</a:t>
            </a:r>
          </a:p>
          <a:p xmlns:a="http://schemas.openxmlformats.org/drawingml/2006/main">
            <a:r>
              <a:t/>
            </a:r>
          </a:p>
          <a:p xmlns:a="http://schemas.openxmlformats.org/drawingml/2006/main">
            <a:r>
              <a:t>Additional suppliers from the user's requested representative set are included as company-name examples consistent with their established product families: Tsingke and Vazyme (construction reagents/services); Thermo Fisher and Gibco (instruments, reagents and media); Sino Biological and Bioss (proteins/antibodies); OPM and Duoning (culture/bioprocess inputs); Waters, Agilent and Sepax (analytical separation); Bio-Techne (proteins and cellular assay reagents); JET Biofil (labware). Individual stock-keeping units are not specified.</a:t>
            </a:r>
          </a:p>
          <a:p xmlns:a="http://schemas.openxmlformats.org/drawingml/2006/main">
            <a:r>
              <a:t/>
            </a:r>
          </a:p>
          <a:p xmlns:a="http://schemas.openxmlformats.org/drawingml/2006/main">
            <a:r>
              <a:t>## Original visual assets</a:t>
            </a:r>
          </a:p>
          <a:p xmlns:a="http://schemas.openxmlformats.org/drawingml/2006/main">
            <a:r>
              <a:t/>
            </a:r>
          </a:p>
          <a:p xmlns:a="http://schemas.openxmlformats.org/drawingml/2006/main">
            <a:r>
              <a:t>Original artwork is embedded without redrawing, with aspect ratios preserved. Whitespace-trimmed versions already exist in this project's asset library. Company names are additionally editable native text. Logos remain images in the PowerPoint; all diagram text, frames and arrows are native editable objects.</a:t>
            </a:r>
          </a:p>
          <a:p xmlns:a="http://schemas.openxmlformats.org/drawingml/2006/main">
            <a:r>
              <a:t/>
            </a:r>
          </a:p>
          <a:p xmlns:a="http://schemas.openxmlformats.org/drawingml/2006/main">
            <a:r>
              <a:t>- Twist: https://www.twistbioscience.com/content/dam/twist-aem-migration/twist-home-logo.svg</a:t>
            </a:r>
          </a:p>
          <a:p xmlns:a="http://schemas.openxmlformats.org/drawingml/2006/main">
            <a:r>
              <a:t>- GenScript: https://www.genscript.com/gsimages/logo.jpg</a:t>
            </a:r>
          </a:p>
          <a:p xmlns:a="http://schemas.openxmlformats.org/drawingml/2006/main">
            <a:r>
              <a:t>- ACROBiosystems: https://console.acrobiosystems.com/public/images/LOGO-download.png</a:t>
            </a:r>
          </a:p>
          <a:p xmlns:a="http://schemas.openxmlformats.org/drawingml/2006/main">
            <a:r>
              <a:t>- Cytiva: https://massbioportalimages.blob.core.windows.net/massbioportalimages/a28b10cf8e90ea11a811000d3a33b4ee/Cytiva%20-%20Copy.png (previously archived logo from MassBio).</a:t>
            </a:r>
          </a:p>
          <a:p xmlns:a="http://schemas.openxmlformats.org/drawingml/2006/main">
            <a:r>
              <a:t>- NanoMicro emblem: https://www.nanomicro.com/Public/Cn/images/com_logo.svg (original emblem with a separate editable English company name).</a:t>
            </a:r>
          </a:p>
          <a:p xmlns:a="http://schemas.openxmlformats.org/drawingml/2006/main">
            <a:r>
              <a:t>- Tecan: https://www.tecan.com/hubfs/page_images/logo.png</a:t>
            </a:r>
          </a:p>
          <a:p xmlns:a="http://schemas.openxmlformats.org/drawingml/2006/main">
            <a:r>
              <a:t>- JET Biofil: https://image.makewebeasy.net/makeweb/m_1920x0/EtyBgz2ZO/Product_Brand/Jet_01.png?v=202012190947 (English original from distributor; previously archived).</a:t>
            </a:r>
          </a:p>
          <a:p xmlns:a="http://schemas.openxmlformats.org/drawingml/2006/main">
            <a:r>
              <a:t>- Lucide icons: https://github.com/lucide-icons/lucide — ISC license. DNA, flask, test tubes, microscope, pipette, database and bot. Icons retain original paths; stroke color is teal for the slide.</a:t>
            </a:r>
          </a:p>
          <a:p xmlns:a="http://schemas.openxmlformats.org/drawingml/2006/main">
            <a:r>
              <a:t/>
            </a:r>
          </a:p>
          <a:p xmlns:a="http://schemas.openxmlformats.org/drawingml/2006/main">
            <a:r>
              <a:t>No market sizes, unit prices, empirical throughput values or company revenue forecasts are introduced in this figure.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a72a333f014ec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00d2273680047a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41cc99ddb554bf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f371d5e2a42452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858a2a445e6404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9047eb75e264b2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F813FA-BBCB-42BB-8F7D-E5700A3C0EB1}"/>
              </a:ext>
            </a:extLst>
          </p:cNvPr>
          <p:cNvSpPr>
            <a:spLocks xmlns:a="http://schemas.openxmlformats.org/drawingml/2006/main" noGrp="1"/>
          </p:cNvSpPr>
          <p:nvPr>
            <p:ph type="title" idx="0"/>
          </p:nvPr>
        </p:nvSpPr>
        <p:spPr>
          <a:xfrm xmlns:a="http://schemas.openxmlformats.org/drawingml/2006/main">
            <a:off x="2286000" y="4857750"/>
            <a:ext cx="18288000" cy="18573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9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AA0B9FD-2007-4959-AC09-E748E0F6B114}"/>
              </a:ext>
            </a:extLst>
          </p:cNvPr>
          <p:cNvSpPr>
            <a:spLocks xmlns:a="http://schemas.openxmlformats.org/drawingml/2006/main" noGrp="1"/>
          </p:cNvSpPr>
          <p:nvPr>
            <p:ph type="subTitle" idx="1"/>
          </p:nvPr>
        </p:nvSpPr>
        <p:spPr>
          <a:xfrm xmlns:a="http://schemas.openxmlformats.org/drawingml/2006/main">
            <a:off x="3429000" y="7072313"/>
            <a:ext cx="1600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938"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D5B4014-3B49-4136-82A5-332496F25F62}"/>
              </a:ext>
            </a:extLst>
          </p:cNvPr>
          <p:cNvSpPr>
            <a:spLocks xmlns:a="http://schemas.openxmlformats.org/drawingml/2006/main" noGrp="1"/>
          </p:cNvSpPr>
          <p:nvPr>
            <p:ph type="title" idx="0"/>
          </p:nvPr>
        </p:nvSpPr>
        <p:spPr>
          <a:xfrm xmlns:a="http://schemas.openxmlformats.org/drawingml/2006/main">
            <a:off x="2286000" y="5357813"/>
            <a:ext cx="18288000" cy="21431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8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A3D268-3C8D-4057-9DD8-7A2B8F2A84C9}"/>
              </a:ext>
            </a:extLst>
          </p:cNvPr>
          <p:cNvSpPr>
            <a:spLocks xmlns:a="http://schemas.openxmlformats.org/drawingml/2006/main" noGrp="1"/>
          </p:cNvSpPr>
          <p:nvPr>
            <p:ph type="title" idx="0"/>
          </p:nvPr>
        </p:nvSpPr>
        <p:spPr>
          <a:xfrm xmlns:a="http://schemas.openxmlformats.org/drawingml/2006/main">
            <a:off x="1285875" y="1000125"/>
            <a:ext cx="20288250" cy="1571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188"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02FCC02-9B63-47F6-8D85-E8E3115687AB}"/>
              </a:ext>
            </a:extLst>
          </p:cNvPr>
          <p:cNvSpPr>
            <a:spLocks xmlns:a="http://schemas.openxmlformats.org/drawingml/2006/main" noGrp="1"/>
          </p:cNvSpPr>
          <p:nvPr>
            <p:ph type="body" idx="1"/>
          </p:nvPr>
        </p:nvSpPr>
        <p:spPr>
          <a:xfrm xmlns:a="http://schemas.openxmlformats.org/drawingml/2006/main">
            <a:off x="1285875" y="3571875"/>
            <a:ext cx="20288250"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219" b="0">
                <a:solidFill>
                  <a:schemeClr val="tx1"/>
                </a:solidFill>
                <a:latin typeface="+mn-lt"/>
                <a:ea typeface="+mn-lt"/>
                <a:cs typeface="+mn-lt"/>
              </a:defRPr>
            </a:defPPr>
            <a:lvl1pPr marL="428625" indent="-428625">
              <a:lnSpc>
                <a:spcPct val="110000"/>
              </a:lnSpc>
              <a:spcBef>
                <a:spcPts val="0"/>
              </a:spcBef>
              <a:spcAft>
                <a:spcPts val="2250"/>
              </a:spcAft>
              <a:buChar char="•"/>
            </a:lvl1pPr>
            <a:lvl2pPr marL="1000125" indent="-428625">
              <a:lnSpc>
                <a:spcPct val="110000"/>
              </a:lnSpc>
              <a:spcBef>
                <a:spcPts val="0"/>
              </a:spcBef>
              <a:spcAft>
                <a:spcPts val="2250"/>
              </a:spcAft>
              <a:buChar char="•"/>
            </a:lvl2pPr>
            <a:lvl3pPr marL="1571625" indent="-428625">
              <a:lnSpc>
                <a:spcPct val="110000"/>
              </a:lnSpc>
              <a:spcBef>
                <a:spcPts val="0"/>
              </a:spcBef>
              <a:spcAft>
                <a:spcPts val="2250"/>
              </a:spcAft>
              <a:buChar char="•"/>
            </a:lvl3pPr>
            <a:lvl4pPr marL="2143125" indent="-428625">
              <a:lnSpc>
                <a:spcPct val="110000"/>
              </a:lnSpc>
              <a:spcBef>
                <a:spcPts val="0"/>
              </a:spcBef>
              <a:spcAft>
                <a:spcPts val="2250"/>
              </a:spcAft>
              <a:buChar char="•"/>
            </a:lvl4pPr>
            <a:lvl5pPr marL="2714625" indent="-428625">
              <a:lnSpc>
                <a:spcPct val="110000"/>
              </a:lnSpc>
              <a:spcBef>
                <a:spcPts val="0"/>
              </a:spcBef>
              <a:spcAft>
                <a:spcPts val="2250"/>
              </a:spcAft>
              <a:buChar char="•"/>
            </a:lvl5pPr>
            <a:lvl6pPr marL="3286125" indent="-428625">
              <a:lnSpc>
                <a:spcPct val="110000"/>
              </a:lnSpc>
              <a:spcBef>
                <a:spcPts val="0"/>
              </a:spcBef>
              <a:spcAft>
                <a:spcPts val="2250"/>
              </a:spcAft>
              <a:buChar char="•"/>
            </a:lvl6pPr>
            <a:lvl7pPr marL="3857625" indent="-428625">
              <a:lnSpc>
                <a:spcPct val="110000"/>
              </a:lnSpc>
              <a:spcBef>
                <a:spcPts val="0"/>
              </a:spcBef>
              <a:spcAft>
                <a:spcPts val="2250"/>
              </a:spcAft>
              <a:buChar char="•"/>
            </a:lvl7pPr>
            <a:lvl8pPr marL="4429125" indent="-428625">
              <a:lnSpc>
                <a:spcPct val="110000"/>
              </a:lnSpc>
              <a:spcBef>
                <a:spcPts val="0"/>
              </a:spcBef>
              <a:spcAft>
                <a:spcPts val="2250"/>
              </a:spcAft>
              <a:buChar char="•"/>
            </a:lvl8pPr>
            <a:lvl9pPr marL="5000625" indent="-428625">
              <a:lnSpc>
                <a:spcPct val="110000"/>
              </a:lnSpc>
              <a:spcBef>
                <a:spcPts val="0"/>
              </a:spcBef>
              <a:spcAft>
                <a:spcPts val="225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26C1936-ABF8-4DF5-AB40-0BF480A9B577}"/>
              </a:ext>
            </a:extLst>
          </p:cNvPr>
          <p:cNvSpPr>
            <a:spLocks xmlns:a="http://schemas.openxmlformats.org/drawingml/2006/main" noGrp="1"/>
          </p:cNvSpPr>
          <p:nvPr>
            <p:ph type="title" idx="0"/>
          </p:nvPr>
        </p:nvSpPr>
        <p:spPr>
          <a:xfrm xmlns:a="http://schemas.openxmlformats.org/drawingml/2006/main">
            <a:off x="1285875" y="1000125"/>
            <a:ext cx="20288250" cy="1571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188"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38C3987-BD60-4907-81A5-A604861E5419}"/>
              </a:ext>
            </a:extLst>
          </p:cNvPr>
          <p:cNvSpPr>
            <a:spLocks xmlns:a="http://schemas.openxmlformats.org/drawingml/2006/main" noGrp="1"/>
          </p:cNvSpPr>
          <p:nvPr>
            <p:ph type="body" idx="1"/>
          </p:nvPr>
        </p:nvSpPr>
        <p:spPr>
          <a:xfrm xmlns:a="http://schemas.openxmlformats.org/drawingml/2006/main">
            <a:off x="1285875" y="3571875"/>
            <a:ext cx="9429750"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938" b="0">
                <a:solidFill>
                  <a:schemeClr val="tx1"/>
                </a:solidFill>
                <a:latin typeface="+mn-lt"/>
                <a:ea typeface="+mn-lt"/>
                <a:cs typeface="+mn-lt"/>
              </a:defRPr>
            </a:defPPr>
            <a:lvl1pPr marL="428625" indent="-428625">
              <a:lnSpc>
                <a:spcPct val="110000"/>
              </a:lnSpc>
              <a:spcBef>
                <a:spcPts val="0"/>
              </a:spcBef>
              <a:spcAft>
                <a:spcPts val="2250"/>
              </a:spcAft>
              <a:buChar char="•"/>
            </a:lvl1pPr>
            <a:lvl2pPr marL="1000125" indent="-428625">
              <a:lnSpc>
                <a:spcPct val="110000"/>
              </a:lnSpc>
              <a:spcBef>
                <a:spcPts val="0"/>
              </a:spcBef>
              <a:spcAft>
                <a:spcPts val="2250"/>
              </a:spcAft>
              <a:buChar char="•"/>
            </a:lvl2pPr>
            <a:lvl3pPr marL="1571625" indent="-428625">
              <a:lnSpc>
                <a:spcPct val="110000"/>
              </a:lnSpc>
              <a:spcBef>
                <a:spcPts val="0"/>
              </a:spcBef>
              <a:spcAft>
                <a:spcPts val="2250"/>
              </a:spcAft>
              <a:buChar char="•"/>
            </a:lvl3pPr>
            <a:lvl4pPr marL="2143125" indent="-428625">
              <a:lnSpc>
                <a:spcPct val="110000"/>
              </a:lnSpc>
              <a:spcBef>
                <a:spcPts val="0"/>
              </a:spcBef>
              <a:spcAft>
                <a:spcPts val="2250"/>
              </a:spcAft>
              <a:buChar char="•"/>
            </a:lvl4pPr>
            <a:lvl5pPr marL="2714625" indent="-428625">
              <a:lnSpc>
                <a:spcPct val="110000"/>
              </a:lnSpc>
              <a:spcBef>
                <a:spcPts val="0"/>
              </a:spcBef>
              <a:spcAft>
                <a:spcPts val="2250"/>
              </a:spcAft>
              <a:buChar char="•"/>
            </a:lvl5pPr>
            <a:lvl6pPr marL="3286125" indent="-428625">
              <a:lnSpc>
                <a:spcPct val="110000"/>
              </a:lnSpc>
              <a:spcBef>
                <a:spcPts val="0"/>
              </a:spcBef>
              <a:spcAft>
                <a:spcPts val="2250"/>
              </a:spcAft>
              <a:buChar char="•"/>
            </a:lvl6pPr>
            <a:lvl7pPr marL="3857625" indent="-428625">
              <a:lnSpc>
                <a:spcPct val="110000"/>
              </a:lnSpc>
              <a:spcBef>
                <a:spcPts val="0"/>
              </a:spcBef>
              <a:spcAft>
                <a:spcPts val="2250"/>
              </a:spcAft>
              <a:buChar char="•"/>
            </a:lvl7pPr>
            <a:lvl8pPr marL="4429125" indent="-428625">
              <a:lnSpc>
                <a:spcPct val="110000"/>
              </a:lnSpc>
              <a:spcBef>
                <a:spcPts val="0"/>
              </a:spcBef>
              <a:spcAft>
                <a:spcPts val="2250"/>
              </a:spcAft>
              <a:buChar char="•"/>
            </a:lvl8pPr>
            <a:lvl9pPr marL="5000625" indent="-428625">
              <a:lnSpc>
                <a:spcPct val="110000"/>
              </a:lnSpc>
              <a:spcBef>
                <a:spcPts val="0"/>
              </a:spcBef>
              <a:spcAft>
                <a:spcPts val="225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BEF33FE-B463-49AA-AA59-37D6DC3684A4}"/>
              </a:ext>
            </a:extLst>
          </p:cNvPr>
          <p:cNvSpPr>
            <a:spLocks xmlns:a="http://schemas.openxmlformats.org/drawingml/2006/main" noGrp="1"/>
          </p:cNvSpPr>
          <p:nvPr>
            <p:ph type="body" idx="2"/>
          </p:nvPr>
        </p:nvSpPr>
        <p:spPr>
          <a:xfrm xmlns:a="http://schemas.openxmlformats.org/drawingml/2006/main">
            <a:off x="12144375" y="3571875"/>
            <a:ext cx="9429750"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938" b="0">
                <a:solidFill>
                  <a:schemeClr val="tx1"/>
                </a:solidFill>
                <a:latin typeface="+mn-lt"/>
                <a:ea typeface="+mn-lt"/>
                <a:cs typeface="+mn-lt"/>
              </a:defRPr>
            </a:defPPr>
            <a:lvl1pPr marL="428625" indent="-428625">
              <a:lnSpc>
                <a:spcPct val="110000"/>
              </a:lnSpc>
              <a:spcBef>
                <a:spcPts val="0"/>
              </a:spcBef>
              <a:spcAft>
                <a:spcPts val="2250"/>
              </a:spcAft>
              <a:buChar char="•"/>
            </a:lvl1pPr>
            <a:lvl2pPr marL="1000125" indent="-428625">
              <a:lnSpc>
                <a:spcPct val="110000"/>
              </a:lnSpc>
              <a:spcBef>
                <a:spcPts val="0"/>
              </a:spcBef>
              <a:spcAft>
                <a:spcPts val="2250"/>
              </a:spcAft>
              <a:buChar char="•"/>
            </a:lvl2pPr>
            <a:lvl3pPr marL="1571625" indent="-428625">
              <a:lnSpc>
                <a:spcPct val="110000"/>
              </a:lnSpc>
              <a:spcBef>
                <a:spcPts val="0"/>
              </a:spcBef>
              <a:spcAft>
                <a:spcPts val="2250"/>
              </a:spcAft>
              <a:buChar char="•"/>
            </a:lvl3pPr>
            <a:lvl4pPr marL="2143125" indent="-428625">
              <a:lnSpc>
                <a:spcPct val="110000"/>
              </a:lnSpc>
              <a:spcBef>
                <a:spcPts val="0"/>
              </a:spcBef>
              <a:spcAft>
                <a:spcPts val="2250"/>
              </a:spcAft>
              <a:buChar char="•"/>
            </a:lvl4pPr>
            <a:lvl5pPr marL="2714625" indent="-428625">
              <a:lnSpc>
                <a:spcPct val="110000"/>
              </a:lnSpc>
              <a:spcBef>
                <a:spcPts val="0"/>
              </a:spcBef>
              <a:spcAft>
                <a:spcPts val="2250"/>
              </a:spcAft>
              <a:buChar char="•"/>
            </a:lvl5pPr>
            <a:lvl6pPr marL="3286125" indent="-428625">
              <a:lnSpc>
                <a:spcPct val="110000"/>
              </a:lnSpc>
              <a:spcBef>
                <a:spcPts val="0"/>
              </a:spcBef>
              <a:spcAft>
                <a:spcPts val="2250"/>
              </a:spcAft>
              <a:buChar char="•"/>
            </a:lvl6pPr>
            <a:lvl7pPr marL="3857625" indent="-428625">
              <a:lnSpc>
                <a:spcPct val="110000"/>
              </a:lnSpc>
              <a:spcBef>
                <a:spcPts val="0"/>
              </a:spcBef>
              <a:spcAft>
                <a:spcPts val="2250"/>
              </a:spcAft>
              <a:buChar char="•"/>
            </a:lvl7pPr>
            <a:lvl8pPr marL="4429125" indent="-428625">
              <a:lnSpc>
                <a:spcPct val="110000"/>
              </a:lnSpc>
              <a:spcBef>
                <a:spcPts val="0"/>
              </a:spcBef>
              <a:spcAft>
                <a:spcPts val="2250"/>
              </a:spcAft>
              <a:buChar char="•"/>
            </a:lvl8pPr>
            <a:lvl9pPr marL="5000625" indent="-428625">
              <a:lnSpc>
                <a:spcPct val="110000"/>
              </a:lnSpc>
              <a:spcBef>
                <a:spcPts val="0"/>
              </a:spcBef>
              <a:spcAft>
                <a:spcPts val="225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67E632C-E827-40D4-B63A-59E390620AC4}"/>
              </a:ext>
            </a:extLst>
          </p:cNvPr>
          <p:cNvSpPr>
            <a:spLocks xmlns:a="http://schemas.openxmlformats.org/drawingml/2006/main" noGrp="1"/>
          </p:cNvSpPr>
          <p:nvPr>
            <p:ph type="title" idx="0"/>
          </p:nvPr>
        </p:nvSpPr>
        <p:spPr>
          <a:xfrm xmlns:a="http://schemas.openxmlformats.org/drawingml/2006/main">
            <a:off x="1285875" y="1000125"/>
            <a:ext cx="20288250" cy="1571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188"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7346B0A-83C8-48A3-92CF-26904B68923A}"/>
              </a:ext>
            </a:extLst>
          </p:cNvPr>
          <p:cNvSpPr>
            <a:spLocks xmlns:a="http://schemas.openxmlformats.org/drawingml/2006/main" noGrp="1"/>
          </p:cNvSpPr>
          <p:nvPr>
            <p:ph type="body" idx="1"/>
          </p:nvPr>
        </p:nvSpPr>
        <p:spPr>
          <a:xfrm xmlns:a="http://schemas.openxmlformats.org/drawingml/2006/main">
            <a:off x="1285875" y="3571875"/>
            <a:ext cx="9429750"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219" b="0">
                <a:solidFill>
                  <a:schemeClr val="tx1"/>
                </a:solidFill>
                <a:latin typeface="+mn-lt"/>
                <a:ea typeface="+mn-lt"/>
                <a:cs typeface="+mn-lt"/>
              </a:defRPr>
            </a:defPPr>
            <a:lvl1pPr marL="428625" indent="-428625">
              <a:lnSpc>
                <a:spcPct val="110000"/>
              </a:lnSpc>
              <a:spcBef>
                <a:spcPts val="0"/>
              </a:spcBef>
              <a:spcAft>
                <a:spcPts val="2250"/>
              </a:spcAft>
              <a:buChar char="•"/>
            </a:lvl1pPr>
            <a:lvl2pPr marL="1000125" indent="-428625">
              <a:lnSpc>
                <a:spcPct val="110000"/>
              </a:lnSpc>
              <a:spcBef>
                <a:spcPts val="0"/>
              </a:spcBef>
              <a:spcAft>
                <a:spcPts val="2250"/>
              </a:spcAft>
              <a:buChar char="•"/>
            </a:lvl2pPr>
            <a:lvl3pPr marL="1571625" indent="-428625">
              <a:lnSpc>
                <a:spcPct val="110000"/>
              </a:lnSpc>
              <a:spcBef>
                <a:spcPts val="0"/>
              </a:spcBef>
              <a:spcAft>
                <a:spcPts val="2250"/>
              </a:spcAft>
              <a:buChar char="•"/>
            </a:lvl3pPr>
            <a:lvl4pPr marL="2143125" indent="-428625">
              <a:lnSpc>
                <a:spcPct val="110000"/>
              </a:lnSpc>
              <a:spcBef>
                <a:spcPts val="0"/>
              </a:spcBef>
              <a:spcAft>
                <a:spcPts val="2250"/>
              </a:spcAft>
              <a:buChar char="•"/>
            </a:lvl4pPr>
            <a:lvl5pPr marL="2714625" indent="-428625">
              <a:lnSpc>
                <a:spcPct val="110000"/>
              </a:lnSpc>
              <a:spcBef>
                <a:spcPts val="0"/>
              </a:spcBef>
              <a:spcAft>
                <a:spcPts val="2250"/>
              </a:spcAft>
              <a:buChar char="•"/>
            </a:lvl5pPr>
            <a:lvl6pPr marL="3286125" indent="-428625">
              <a:lnSpc>
                <a:spcPct val="110000"/>
              </a:lnSpc>
              <a:spcBef>
                <a:spcPts val="0"/>
              </a:spcBef>
              <a:spcAft>
                <a:spcPts val="2250"/>
              </a:spcAft>
              <a:buChar char="•"/>
            </a:lvl6pPr>
            <a:lvl7pPr marL="3857625" indent="-428625">
              <a:lnSpc>
                <a:spcPct val="110000"/>
              </a:lnSpc>
              <a:spcBef>
                <a:spcPts val="0"/>
              </a:spcBef>
              <a:spcAft>
                <a:spcPts val="2250"/>
              </a:spcAft>
              <a:buChar char="•"/>
            </a:lvl7pPr>
            <a:lvl8pPr marL="4429125" indent="-428625">
              <a:lnSpc>
                <a:spcPct val="110000"/>
              </a:lnSpc>
              <a:spcBef>
                <a:spcPts val="0"/>
              </a:spcBef>
              <a:spcAft>
                <a:spcPts val="2250"/>
              </a:spcAft>
              <a:buChar char="•"/>
            </a:lvl8pPr>
            <a:lvl9pPr marL="5000625" indent="-428625">
              <a:lnSpc>
                <a:spcPct val="110000"/>
              </a:lnSpc>
              <a:spcBef>
                <a:spcPts val="0"/>
              </a:spcBef>
              <a:spcAft>
                <a:spcPts val="225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a461ed2d0048d7" /><Relationship Type="http://schemas.openxmlformats.org/officeDocument/2006/relationships/slideLayout" Target="/ppt/slideLayouts/slideLayout1.xml" Id="R34e119f069e04702" /><Relationship Type="http://schemas.openxmlformats.org/officeDocument/2006/relationships/slideLayout" Target="/ppt/slideLayouts/slideLayout2.xml" Id="Rfd428dcc1d064ee5" /><Relationship Type="http://schemas.openxmlformats.org/officeDocument/2006/relationships/slideLayout" Target="/ppt/slideLayouts/slideLayout3.xml" Id="R6150bb8aff16416b" /><Relationship Type="http://schemas.openxmlformats.org/officeDocument/2006/relationships/slideLayout" Target="/ppt/slideLayouts/slideLayout4.xml" Id="R19c8a6944c28409d" /><Relationship Type="http://schemas.openxmlformats.org/officeDocument/2006/relationships/slideLayout" Target="/ppt/slideLayouts/slideLayout5.xml" Id="Rc5a5c97182f74194" /><Relationship Type="http://schemas.openxmlformats.org/officeDocument/2006/relationships/slideLayout" Target="/ppt/slideLayouts/slideLayout6.xml" Id="R2e8bf1fca75d46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e119f069e04702"/>
    <p:sldLayoutId xmlns:r="http://schemas.openxmlformats.org/officeDocument/2006/relationships" id="2147483650" r:id="Rfd428dcc1d064ee5"/>
    <p:sldLayoutId xmlns:r="http://schemas.openxmlformats.org/officeDocument/2006/relationships" id="2147483651" r:id="R6150bb8aff16416b"/>
    <p:sldLayoutId xmlns:r="http://schemas.openxmlformats.org/officeDocument/2006/relationships" id="2147483652" r:id="R19c8a6944c28409d"/>
    <p:sldLayoutId xmlns:r="http://schemas.openxmlformats.org/officeDocument/2006/relationships" id="2147483653" r:id="Rc5a5c97182f74194"/>
    <p:sldLayoutId xmlns:r="http://schemas.openxmlformats.org/officeDocument/2006/relationships" id="2147483654" r:id="R2e8bf1fca75d46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1a1e49f40f54d22" /><Relationship Type="http://schemas.openxmlformats.org/officeDocument/2006/relationships/image" Target="/ppt/media/image.png" Id="Rbd32539961964bbe" /><Relationship Type="http://schemas.openxmlformats.org/officeDocument/2006/relationships/image" Target="/ppt/media/image.svg" Id="Reea144451cac46b6" /><Relationship Type="http://schemas.openxmlformats.org/officeDocument/2006/relationships/image" Target="/ppt/media/image2.png" Id="Rf449c52044fa4021" /><Relationship Type="http://schemas.openxmlformats.org/officeDocument/2006/relationships/image" Target="/ppt/media/image3.png" Id="R0f5c612c079f4851" /><Relationship Type="http://schemas.openxmlformats.org/officeDocument/2006/relationships/image" Target="/ppt/media/image4.png" Id="Rd203d78771554afe" /><Relationship Type="http://schemas.openxmlformats.org/officeDocument/2006/relationships/image" Target="/ppt/media/image2.svg" Id="R585d4fc4272c4b16" /><Relationship Type="http://schemas.openxmlformats.org/officeDocument/2006/relationships/image" Target="/ppt/media/image5.png" Id="Rcd3d0293d8d74b14" /><Relationship Type="http://schemas.openxmlformats.org/officeDocument/2006/relationships/image" Target="/ppt/media/image6.png" Id="R6a7d6c134a0f4b79" /><Relationship Type="http://schemas.openxmlformats.org/officeDocument/2006/relationships/image" Target="/ppt/media/image3.svg" Id="R529aa45b22ba4ea4" /><Relationship Type="http://schemas.openxmlformats.org/officeDocument/2006/relationships/image" Target="/ppt/media/image7.png" Id="Rf5e0dfa57d844fc1" /><Relationship Type="http://schemas.openxmlformats.org/officeDocument/2006/relationships/image" Target="/ppt/media/image8.png" Id="Rdc4019309e404978" /><Relationship Type="http://schemas.openxmlformats.org/officeDocument/2006/relationships/image" Target="/ppt/media/image4.svg" Id="R4bed151f2b9745b3" /><Relationship Type="http://schemas.openxmlformats.org/officeDocument/2006/relationships/image" Target="/ppt/media/image9.png" Id="R27d245bc5c99474a" /><Relationship Type="http://schemas.openxmlformats.org/officeDocument/2006/relationships/image" Target="/ppt/media/image5.svg" Id="R39fa8ff35abe4c5c" /><Relationship Type="http://schemas.openxmlformats.org/officeDocument/2006/relationships/image" Target="/ppt/media/image10.png" Id="Rab676fc622b44f0f" /><Relationship Type="http://schemas.openxmlformats.org/officeDocument/2006/relationships/image" Target="/ppt/media/image6.svg" Id="Rfb349fd7dbe949f9" /><Relationship Type="http://schemas.openxmlformats.org/officeDocument/2006/relationships/image" Target="/ppt/media/image11.png" Id="R3c5925ff4e2e413e" /><Relationship Type="http://schemas.openxmlformats.org/officeDocument/2006/relationships/image" Target="/ppt/media/image12.png" Id="R672c80e33cca409f" /><Relationship Type="http://schemas.openxmlformats.org/officeDocument/2006/relationships/image" Target="/ppt/media/image7.svg" Id="R5866bd14fd594adb" /><Relationship Type="http://schemas.openxmlformats.org/officeDocument/2006/relationships/image" Target="/ppt/media/image13.png" Id="R7ca3056c428348b2" /><Relationship Type="http://schemas.openxmlformats.org/officeDocument/2006/relationships/image" Target="/ppt/media/image14.png" Id="Rfec64a05f7874d46" /><Relationship Type="http://schemas.openxmlformats.org/officeDocument/2006/relationships/image" Target="/ppt/media/image8.svg" Id="Rc3d36728e879443d" /><Relationship Type="http://schemas.openxmlformats.org/officeDocument/2006/relationships/notesSlide" Target="/ppt/notesSlides/notesSlide1.xml" Id="R94e1e937efe8470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3" name="">
            <a:extLst xmlns:a="http://schemas.openxmlformats.org/drawingml/2006/main">
              <a:ext uri="{FF2B5EF4-FFF2-40B4-BE49-F238E27FC236}">
                <a16:creationId xmlns:a16="http://schemas.microsoft.com/office/drawing/2014/main" id="{74D00C97-9274-492D-AD93-49AB266C19C5}"/>
              </a:ext>
            </a:extLst>
          </p:cNvPr>
          <p:cNvSpPr>
            <a:spLocks xmlns:a="http://schemas.openxmlformats.org/drawingml/2006/main" noGrp="1"/>
          </p:cNvSpPr>
          <p:nvPr/>
        </p:nvSpPr>
        <p:spPr>
          <a:xfrm xmlns:a="http://schemas.openxmlformats.org/drawingml/2006/main">
            <a:off x="952500" y="571500"/>
            <a:ext cx="95250" cy="1000125"/>
          </a:xfrm>
          <a:prstGeom xmlns:a="http://schemas.openxmlformats.org/drawingml/2006/main" prst="rect">
            <a:avLst/>
          </a:prstGeom>
          <a:solidFill xmlns:a="http://schemas.openxmlformats.org/drawingml/2006/main">
            <a:srgbClr val="007D80"/>
          </a:solidFill>
          <a:ln xmlns:a="http://schemas.openxmlformats.org/drawingml/2006/main" w="9525">
            <a:noFill/>
          </a:ln>
        </p:spPr>
      </p:sp>
      <p:sp>
        <p:nvSpPr>
          <p:cNvPr id="2" name="Typical protein / antibody screening workflow">
            <a:extLst xmlns:a="http://schemas.openxmlformats.org/drawingml/2006/main">
              <a:ext uri="{FF2B5EF4-FFF2-40B4-BE49-F238E27FC236}">
                <a16:creationId xmlns:a16="http://schemas.microsoft.com/office/drawing/2014/main" id="{4C74E288-B3E4-45D4-8938-C2204A6D5425}"/>
              </a:ext>
            </a:extLst>
          </p:cNvPr>
          <p:cNvSpPr>
            <a:spLocks xmlns:a="http://schemas.openxmlformats.org/drawingml/2006/main" noGrp="1"/>
          </p:cNvSpPr>
          <p:nvPr/>
        </p:nvSpPr>
        <p:spPr>
          <a:xfrm xmlns:a="http://schemas.openxmlformats.org/drawingml/2006/main">
            <a:off x="1343025" y="561975"/>
            <a:ext cx="205644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4200" b="1">
                <a:solidFill>
                  <a:srgbClr val="152C3A"/>
                </a:solidFill>
                <a:latin typeface="Arial"/>
                <a:ea typeface="Arial"/>
                <a:cs typeface="Arial"/>
              </a:defRPr>
            </a:defPPr>
          </a:lstStyle>
          <a:p xmlns:a="http://schemas.openxmlformats.org/drawingml/2006/main">
            <a:pPr algn="l">
              <a:lnSpc>
                <a:spcPct val="100000"/>
              </a:lnSpc>
              <a:buNone/>
              <a:defRPr sz="4200" b="1">
                <a:solidFill>
                  <a:srgbClr val="152C3A"/>
                </a:solidFill>
                <a:latin typeface="Arial"/>
                <a:ea typeface="Arial"/>
                <a:cs typeface="Arial"/>
              </a:defRPr>
            </a:pPr>
            <a:r>
              <a:rPr sz="4200" b="1">
                <a:solidFill>
                  <a:srgbClr val="152C3A"/>
                </a:solidFill>
                <a:latin typeface="Arial"/>
                <a:ea typeface="Arial"/>
                <a:cs typeface="Arial"/>
              </a:rPr>
              <a:t>Typical protein / antibody screening workflow</a:t>
            </a:r>
          </a:p>
        </p:txBody>
      </p:sp>
      <p:sp>
        <p:nvSpPr>
          <p:cNvPr id="3" name="From DNA constructs to functional evidence: the life science tools behind each step">
            <a:extLst xmlns:a="http://schemas.openxmlformats.org/drawingml/2006/main">
              <a:ext uri="{FF2B5EF4-FFF2-40B4-BE49-F238E27FC236}">
                <a16:creationId xmlns:a16="http://schemas.microsoft.com/office/drawing/2014/main" id="{4B5B01AC-A5A9-4D67-94F8-E3554D747882}"/>
              </a:ext>
            </a:extLst>
          </p:cNvPr>
          <p:cNvSpPr>
            <a:spLocks xmlns:a="http://schemas.openxmlformats.org/drawingml/2006/main" noGrp="1"/>
          </p:cNvSpPr>
          <p:nvPr/>
        </p:nvSpPr>
        <p:spPr>
          <a:xfrm xmlns:a="http://schemas.openxmlformats.org/drawingml/2006/main">
            <a:off x="1343025" y="1295400"/>
            <a:ext cx="205644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75" b="0">
                <a:solidFill>
                  <a:srgbClr val="647887"/>
                </a:solidFill>
                <a:latin typeface="Arial"/>
                <a:ea typeface="Arial"/>
                <a:cs typeface="Arial"/>
              </a:defRPr>
            </a:defPPr>
          </a:lstStyle>
          <a:p xmlns:a="http://schemas.openxmlformats.org/drawingml/2006/main">
            <a:pPr algn="l">
              <a:lnSpc>
                <a:spcPct val="100000"/>
              </a:lnSpc>
              <a:buNone/>
              <a:defRPr sz="2175" b="0">
                <a:solidFill>
                  <a:srgbClr val="647887"/>
                </a:solidFill>
                <a:latin typeface="Arial"/>
                <a:ea typeface="Arial"/>
                <a:cs typeface="Arial"/>
              </a:defRPr>
            </a:pPr>
            <a:r>
              <a:rPr sz="2175" b="0">
                <a:solidFill>
                  <a:srgbClr val="647887"/>
                </a:solidFill>
                <a:latin typeface="Arial"/>
                <a:ea typeface="Arial"/>
                <a:cs typeface="Arial"/>
              </a:rPr>
              <a:t>From DNA constructs to functional evidence: the life science tools behind each step</a:t>
            </a:r>
          </a:p>
        </p:txBody>
      </p:sp>
      <p:sp>
        <p:nvSpPr>
          <p:cNvPr id="4" name="Example: sequence-defined antibody candidates screened against a protein target">
            <a:extLst xmlns:a="http://schemas.openxmlformats.org/drawingml/2006/main">
              <a:ext uri="{FF2B5EF4-FFF2-40B4-BE49-F238E27FC236}">
                <a16:creationId xmlns:a16="http://schemas.microsoft.com/office/drawing/2014/main" id="{27439540-23EE-43FB-8941-97F1F1806EDB}"/>
              </a:ext>
            </a:extLst>
          </p:cNvPr>
          <p:cNvSpPr>
            <a:spLocks xmlns:a="http://schemas.openxmlformats.org/drawingml/2006/main" noGrp="1"/>
          </p:cNvSpPr>
          <p:nvPr/>
        </p:nvSpPr>
        <p:spPr>
          <a:xfrm xmlns:a="http://schemas.openxmlformats.org/drawingml/2006/main">
            <a:off x="1343025" y="1752600"/>
            <a:ext cx="20564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0">
                <a:solidFill>
                  <a:srgbClr val="647887"/>
                </a:solidFill>
                <a:latin typeface="Arial"/>
                <a:ea typeface="Arial"/>
                <a:cs typeface="Arial"/>
              </a:defRPr>
            </a:defPPr>
          </a:lstStyle>
          <a:p xmlns:a="http://schemas.openxmlformats.org/drawingml/2006/main">
            <a:pPr algn="l">
              <a:lnSpc>
                <a:spcPct val="100000"/>
              </a:lnSpc>
              <a:buNone/>
              <a:defRPr sz="1650" b="0">
                <a:solidFill>
                  <a:srgbClr val="647887"/>
                </a:solidFill>
                <a:latin typeface="Arial"/>
                <a:ea typeface="Arial"/>
                <a:cs typeface="Arial"/>
              </a:defRPr>
            </a:pPr>
            <a:r>
              <a:rPr sz="1650" b="0">
                <a:solidFill>
                  <a:srgbClr val="647887"/>
                </a:solidFill>
                <a:latin typeface="Arial"/>
                <a:ea typeface="Arial"/>
                <a:cs typeface="Arial"/>
              </a:rPr>
              <a:t>Example: sequence-defined antibody candidates screened against a protein target</a:t>
            </a:r>
          </a:p>
        </p:txBody>
      </p:sp>
      <p:sp>
        <p:nvSpPr>
          <p:cNvPr id="5" name="">
            <a:extLst xmlns:a="http://schemas.openxmlformats.org/drawingml/2006/main">
              <a:ext uri="{FF2B5EF4-FFF2-40B4-BE49-F238E27FC236}">
                <a16:creationId xmlns:a16="http://schemas.microsoft.com/office/drawing/2014/main" id="{9AB1D5BD-C311-40DD-835F-5D5CACC0B018}"/>
              </a:ext>
            </a:extLst>
          </p:cNvPr>
          <p:cNvSpPr>
            <a:spLocks xmlns:a="http://schemas.openxmlformats.org/drawingml/2006/main" noGrp="1"/>
          </p:cNvSpPr>
          <p:nvPr/>
        </p:nvSpPr>
        <p:spPr>
          <a:xfrm xmlns:a="http://schemas.openxmlformats.org/drawingml/2006/main">
            <a:off x="952500" y="2181225"/>
            <a:ext cx="20955000" cy="953"/>
          </a:xfrm>
          <a:custGeom xmlns:a="http://schemas.openxmlformats.org/drawingml/2006/main">
            <a:pathLst>
              <a:path w="20955000" h="953">
                <a:moveTo>
                  <a:pt x="0" y="0"/>
                </a:moveTo>
                <a:lnTo>
                  <a:pt x="20955000" y="0"/>
                </a:lnTo>
              </a:path>
            </a:pathLst>
          </a:custGeom>
          <a:noFill xmlns:a="http://schemas.openxmlformats.org/drawingml/2006/main"/>
          <a:ln xmlns:a="http://schemas.openxmlformats.org/drawingml/2006/main" w="9525">
            <a:solidFill>
              <a:srgbClr val="D7E3E8"/>
            </a:solidFill>
          </a:ln>
        </p:spPr>
      </p:sp>
      <p:sp>
        <p:nvSpPr>
          <p:cNvPr id="6" name="">
            <a:extLst xmlns:a="http://schemas.openxmlformats.org/drawingml/2006/main">
              <a:ext uri="{FF2B5EF4-FFF2-40B4-BE49-F238E27FC236}">
                <a16:creationId xmlns:a16="http://schemas.microsoft.com/office/drawing/2014/main" id="{BC272146-AABA-42BD-8FF9-065772B75E73}"/>
              </a:ext>
            </a:extLst>
          </p:cNvPr>
          <p:cNvSpPr>
            <a:spLocks xmlns:a="http://schemas.openxmlformats.org/drawingml/2006/main" noGrp="1"/>
          </p:cNvSpPr>
          <p:nvPr/>
        </p:nvSpPr>
        <p:spPr>
          <a:xfrm xmlns:a="http://schemas.openxmlformats.org/drawingml/2006/main">
            <a:off x="11858625" y="2333625"/>
            <a:ext cx="7572375" cy="8639175"/>
          </a:xfrm>
          <a:prstGeom xmlns:a="http://schemas.openxmlformats.org/drawingml/2006/main" prst="roundRect">
            <a:avLst>
              <a:gd name="adj" fmla="val 2264"/>
            </a:avLst>
          </a:prstGeom>
          <a:solidFill xmlns:a="http://schemas.openxmlformats.org/drawingml/2006/main">
            <a:srgbClr val="F0F8F6"/>
          </a:solidFill>
          <a:ln xmlns:a="http://schemas.openxmlformats.org/drawingml/2006/main" w="14288">
            <a:solidFill>
              <a:srgbClr val="A4CEC7"/>
            </a:solidFill>
          </a:ln>
        </p:spPr>
      </p:sp>
      <p:sp>
        <p:nvSpPr>
          <p:cNvPr id="7" name="BUILD  ·  Make physical samples">
            <a:extLst xmlns:a="http://schemas.openxmlformats.org/drawingml/2006/main">
              <a:ext uri="{FF2B5EF4-FFF2-40B4-BE49-F238E27FC236}">
                <a16:creationId xmlns:a16="http://schemas.microsoft.com/office/drawing/2014/main" id="{31D83601-208F-4A98-AFEF-99D24E7A9B0F}"/>
              </a:ext>
            </a:extLst>
          </p:cNvPr>
          <p:cNvSpPr>
            <a:spLocks xmlns:a="http://schemas.openxmlformats.org/drawingml/2006/main" noGrp="1"/>
          </p:cNvSpPr>
          <p:nvPr/>
        </p:nvSpPr>
        <p:spPr>
          <a:xfrm xmlns:a="http://schemas.openxmlformats.org/drawingml/2006/main">
            <a:off x="952500" y="2428875"/>
            <a:ext cx="7000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2B62B1"/>
                </a:solidFill>
                <a:latin typeface="Arial"/>
                <a:ea typeface="Arial"/>
                <a:cs typeface="Arial"/>
              </a:defRPr>
            </a:defPPr>
          </a:lstStyle>
          <a:p xmlns:a="http://schemas.openxmlformats.org/drawingml/2006/main">
            <a:pPr algn="l">
              <a:lnSpc>
                <a:spcPct val="100000"/>
              </a:lnSpc>
              <a:buNone/>
              <a:defRPr sz="1725" b="1">
                <a:solidFill>
                  <a:srgbClr val="2B62B1"/>
                </a:solidFill>
                <a:latin typeface="Arial"/>
                <a:ea typeface="Arial"/>
                <a:cs typeface="Arial"/>
              </a:defRPr>
            </a:pPr>
            <a:r>
              <a:rPr sz="1725" b="1">
                <a:solidFill>
                  <a:srgbClr val="2B62B1"/>
                </a:solidFill>
                <a:latin typeface="Arial"/>
                <a:ea typeface="Arial"/>
                <a:cs typeface="Arial"/>
              </a:rPr>
              <a:t>BUILD  ·  Make physical samples</a:t>
            </a:r>
          </a:p>
        </p:txBody>
      </p:sp>
      <p:sp>
        <p:nvSpPr>
          <p:cNvPr id="8" name="TEST  ·  Find binders">
            <a:extLst xmlns:a="http://schemas.openxmlformats.org/drawingml/2006/main">
              <a:ext uri="{FF2B5EF4-FFF2-40B4-BE49-F238E27FC236}">
                <a16:creationId xmlns:a16="http://schemas.microsoft.com/office/drawing/2014/main" id="{F570AC51-3DAA-4C96-91A9-210D7FB735F6}"/>
              </a:ext>
            </a:extLst>
          </p:cNvPr>
          <p:cNvSpPr>
            <a:spLocks xmlns:a="http://schemas.openxmlformats.org/drawingml/2006/main" noGrp="1"/>
          </p:cNvSpPr>
          <p:nvPr/>
        </p:nvSpPr>
        <p:spPr>
          <a:xfrm xmlns:a="http://schemas.openxmlformats.org/drawingml/2006/main">
            <a:off x="8305800" y="2428875"/>
            <a:ext cx="3476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7D80"/>
                </a:solidFill>
                <a:latin typeface="Arial"/>
                <a:ea typeface="Arial"/>
                <a:cs typeface="Arial"/>
              </a:defRPr>
            </a:defPPr>
          </a:lstStyle>
          <a:p xmlns:a="http://schemas.openxmlformats.org/drawingml/2006/main">
            <a:pPr algn="l">
              <a:lnSpc>
                <a:spcPct val="100000"/>
              </a:lnSpc>
              <a:buNone/>
              <a:defRPr sz="1725" b="1">
                <a:solidFill>
                  <a:srgbClr val="007D80"/>
                </a:solidFill>
                <a:latin typeface="Arial"/>
                <a:ea typeface="Arial"/>
                <a:cs typeface="Arial"/>
              </a:defRPr>
            </a:pPr>
            <a:r>
              <a:rPr sz="1725" b="1">
                <a:solidFill>
                  <a:srgbClr val="007D80"/>
                </a:solidFill>
                <a:latin typeface="Arial"/>
                <a:ea typeface="Arial"/>
                <a:cs typeface="Arial"/>
              </a:rPr>
              <a:t>TEST  ·  Find binders</a:t>
            </a:r>
          </a:p>
        </p:txBody>
      </p:sp>
      <p:sp>
        <p:nvSpPr>
          <p:cNvPr id="9" name="AI learning needs depth per molecule">
            <a:extLst xmlns:a="http://schemas.openxmlformats.org/drawingml/2006/main">
              <a:ext uri="{FF2B5EF4-FFF2-40B4-BE49-F238E27FC236}">
                <a16:creationId xmlns:a16="http://schemas.microsoft.com/office/drawing/2014/main" id="{CF5F3606-EE2B-4337-99FC-4E2E5431C1ED}"/>
              </a:ext>
            </a:extLst>
          </p:cNvPr>
          <p:cNvSpPr>
            <a:spLocks xmlns:a="http://schemas.openxmlformats.org/drawingml/2006/main" noGrp="1"/>
          </p:cNvSpPr>
          <p:nvPr/>
        </p:nvSpPr>
        <p:spPr>
          <a:xfrm xmlns:a="http://schemas.openxmlformats.org/drawingml/2006/main">
            <a:off x="12134850" y="2457450"/>
            <a:ext cx="7029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007D80"/>
                </a:solidFill>
                <a:latin typeface="Arial"/>
                <a:ea typeface="Arial"/>
                <a:cs typeface="Arial"/>
              </a:defRPr>
            </a:defPPr>
          </a:lstStyle>
          <a:p xmlns:a="http://schemas.openxmlformats.org/drawingml/2006/main">
            <a:pPr algn="l">
              <a:lnSpc>
                <a:spcPct val="100000"/>
              </a:lnSpc>
              <a:buNone/>
              <a:defRPr sz="1800" b="1">
                <a:solidFill>
                  <a:srgbClr val="007D80"/>
                </a:solidFill>
                <a:latin typeface="Arial"/>
                <a:ea typeface="Arial"/>
                <a:cs typeface="Arial"/>
              </a:defRPr>
            </a:pPr>
            <a:r>
              <a:rPr sz="1800" b="1">
                <a:solidFill>
                  <a:srgbClr val="007D80"/>
                </a:solidFill>
                <a:latin typeface="Arial"/>
                <a:ea typeface="Arial"/>
                <a:cs typeface="Arial"/>
              </a:rPr>
              <a:t>AI learning needs depth per molecule</a:t>
            </a:r>
          </a:p>
        </p:txBody>
      </p:sp>
      <p:sp>
        <p:nvSpPr>
          <p:cNvPr id="10" name="Potential constraint: comparable, reproducible assay data">
            <a:extLst xmlns:a="http://schemas.openxmlformats.org/drawingml/2006/main">
              <a:ext uri="{FF2B5EF4-FFF2-40B4-BE49-F238E27FC236}">
                <a16:creationId xmlns:a16="http://schemas.microsoft.com/office/drawing/2014/main" id="{7CBE0BFF-E256-4342-AB5D-DB928F566024}"/>
              </a:ext>
            </a:extLst>
          </p:cNvPr>
          <p:cNvSpPr>
            <a:spLocks xmlns:a="http://schemas.openxmlformats.org/drawingml/2006/main" noGrp="1"/>
          </p:cNvSpPr>
          <p:nvPr/>
        </p:nvSpPr>
        <p:spPr>
          <a:xfrm xmlns:a="http://schemas.openxmlformats.org/drawingml/2006/main">
            <a:off x="12134850" y="2790825"/>
            <a:ext cx="7029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647887"/>
                </a:solidFill>
                <a:latin typeface="Arial"/>
                <a:ea typeface="Arial"/>
                <a:cs typeface="Arial"/>
              </a:defRPr>
            </a:defPPr>
          </a:lstStyle>
          <a:p xmlns:a="http://schemas.openxmlformats.org/drawingml/2006/main">
            <a:pPr algn="l">
              <a:lnSpc>
                <a:spcPct val="100000"/>
              </a:lnSpc>
              <a:buNone/>
              <a:defRPr sz="1425" b="0">
                <a:solidFill>
                  <a:srgbClr val="647887"/>
                </a:solidFill>
                <a:latin typeface="Arial"/>
                <a:ea typeface="Arial"/>
                <a:cs typeface="Arial"/>
              </a:defRPr>
            </a:pPr>
            <a:r>
              <a:rPr sz="1425" b="0">
                <a:solidFill>
                  <a:srgbClr val="647887"/>
                </a:solidFill>
                <a:latin typeface="Arial"/>
                <a:ea typeface="Arial"/>
                <a:cs typeface="Arial"/>
              </a:rPr>
              <a:t>Potential constraint: comparable, reproducible assay data</a:t>
            </a:r>
          </a:p>
        </p:txBody>
      </p:sp>
      <p:sp>
        <p:nvSpPr>
          <p:cNvPr id="11" name="LEARN  ·  Iterate">
            <a:extLst xmlns:a="http://schemas.openxmlformats.org/drawingml/2006/main">
              <a:ext uri="{FF2B5EF4-FFF2-40B4-BE49-F238E27FC236}">
                <a16:creationId xmlns:a16="http://schemas.microsoft.com/office/drawing/2014/main" id="{5257D5B8-95E4-4B22-8D1A-458DDAF2005B}"/>
              </a:ext>
            </a:extLst>
          </p:cNvPr>
          <p:cNvSpPr>
            <a:spLocks xmlns:a="http://schemas.openxmlformats.org/drawingml/2006/main" noGrp="1"/>
          </p:cNvSpPr>
          <p:nvPr/>
        </p:nvSpPr>
        <p:spPr>
          <a:xfrm xmlns:a="http://schemas.openxmlformats.org/drawingml/2006/main">
            <a:off x="19526250" y="2428875"/>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4D8574"/>
                </a:solidFill>
                <a:latin typeface="Arial"/>
                <a:ea typeface="Arial"/>
                <a:cs typeface="Arial"/>
              </a:defRPr>
            </a:defPPr>
          </a:lstStyle>
          <a:p xmlns:a="http://schemas.openxmlformats.org/drawingml/2006/main">
            <a:pPr algn="l">
              <a:lnSpc>
                <a:spcPct val="100000"/>
              </a:lnSpc>
              <a:buNone/>
              <a:defRPr sz="1725" b="1">
                <a:solidFill>
                  <a:srgbClr val="4D8574"/>
                </a:solidFill>
                <a:latin typeface="Arial"/>
                <a:ea typeface="Arial"/>
                <a:cs typeface="Arial"/>
              </a:defRPr>
            </a:pPr>
            <a:r>
              <a:rPr sz="1725" b="1">
                <a:solidFill>
                  <a:srgbClr val="4D8574"/>
                </a:solidFill>
                <a:latin typeface="Arial"/>
                <a:ea typeface="Arial"/>
                <a:cs typeface="Arial"/>
              </a:rPr>
              <a:t>LEARN  ·  Iterate</a:t>
            </a:r>
          </a:p>
        </p:txBody>
      </p:sp>
      <p:sp>
        <p:nvSpPr>
          <p:cNvPr id="12" name="">
            <a:extLst xmlns:a="http://schemas.openxmlformats.org/drawingml/2006/main">
              <a:ext uri="{FF2B5EF4-FFF2-40B4-BE49-F238E27FC236}">
                <a16:creationId xmlns:a16="http://schemas.microsoft.com/office/drawing/2014/main" id="{2508DCC6-1052-4743-B69E-A568A3C7EFF3}"/>
              </a:ext>
            </a:extLst>
          </p:cNvPr>
          <p:cNvSpPr>
            <a:spLocks xmlns:a="http://schemas.openxmlformats.org/drawingml/2006/main" noGrp="1"/>
          </p:cNvSpPr>
          <p:nvPr/>
        </p:nvSpPr>
        <p:spPr>
          <a:xfrm xmlns:a="http://schemas.openxmlformats.org/drawingml/2006/main">
            <a:off x="981075" y="3267075"/>
            <a:ext cx="3476625" cy="7639050"/>
          </a:xfrm>
          <a:prstGeom xmlns:a="http://schemas.openxmlformats.org/drawingml/2006/main" prst="roundRect">
            <a:avLst>
              <a:gd name="adj" fmla="val 3836"/>
            </a:avLst>
          </a:prstGeom>
          <a:solidFill xmlns:a="http://schemas.openxmlformats.org/drawingml/2006/main">
            <a:srgbClr val="EEF3F4"/>
          </a:solidFill>
          <a:ln xmlns:a="http://schemas.openxmlformats.org/drawingml/2006/main" w="9525">
            <a:noFill/>
          </a:ln>
        </p:spPr>
      </p:sp>
      <p:sp>
        <p:nvSpPr>
          <p:cNvPr id="13" name="">
            <a:extLst xmlns:a="http://schemas.openxmlformats.org/drawingml/2006/main">
              <a:ext uri="{FF2B5EF4-FFF2-40B4-BE49-F238E27FC236}">
                <a16:creationId xmlns:a16="http://schemas.microsoft.com/office/drawing/2014/main" id="{3BDC2BCF-7CAE-4ACD-BD6B-4B9ACF1296FC}"/>
              </a:ext>
            </a:extLst>
          </p:cNvPr>
          <p:cNvSpPr>
            <a:spLocks xmlns:a="http://schemas.openxmlformats.org/drawingml/2006/main" noGrp="1"/>
          </p:cNvSpPr>
          <p:nvPr/>
        </p:nvSpPr>
        <p:spPr>
          <a:xfrm xmlns:a="http://schemas.openxmlformats.org/drawingml/2006/main">
            <a:off x="952500" y="3219450"/>
            <a:ext cx="3476625" cy="7639050"/>
          </a:xfrm>
          <a:prstGeom xmlns:a="http://schemas.openxmlformats.org/drawingml/2006/main" prst="roundRect">
            <a:avLst>
              <a:gd name="adj" fmla="val 3836"/>
            </a:avLst>
          </a:prstGeom>
          <a:solidFill xmlns:a="http://schemas.openxmlformats.org/drawingml/2006/main">
            <a:srgbClr val="FFFFFF"/>
          </a:solidFill>
          <a:ln xmlns:a="http://schemas.openxmlformats.org/drawingml/2006/main" w="10478">
            <a:solidFill>
              <a:srgbClr val="D7E3E8"/>
            </a:solidFill>
          </a:ln>
        </p:spPr>
      </p:sp>
      <p:sp>
        <p:nvSpPr>
          <p:cNvPr id="14" name="">
            <a:extLst xmlns:a="http://schemas.openxmlformats.org/drawingml/2006/main">
              <a:ext uri="{FF2B5EF4-FFF2-40B4-BE49-F238E27FC236}">
                <a16:creationId xmlns:a16="http://schemas.microsoft.com/office/drawing/2014/main" id="{BEDB7FF0-2FF8-470F-BDAF-F6DA732F51BE}"/>
              </a:ext>
            </a:extLst>
          </p:cNvPr>
          <p:cNvSpPr>
            <a:spLocks xmlns:a="http://schemas.openxmlformats.org/drawingml/2006/main" noGrp="1"/>
          </p:cNvSpPr>
          <p:nvPr/>
        </p:nvSpPr>
        <p:spPr>
          <a:xfrm xmlns:a="http://schemas.openxmlformats.org/drawingml/2006/main">
            <a:off x="962025" y="3228975"/>
            <a:ext cx="3457575" cy="104775"/>
          </a:xfrm>
          <a:prstGeom xmlns:a="http://schemas.openxmlformats.org/drawingml/2006/main" prst="rect">
            <a:avLst/>
          </a:prstGeom>
          <a:solidFill xmlns:a="http://schemas.openxmlformats.org/drawingml/2006/main">
            <a:srgbClr val="2B62B1"/>
          </a:solidFill>
          <a:ln xmlns:a="http://schemas.openxmlformats.org/drawingml/2006/main" w="9525">
            <a:noFill/>
          </a:ln>
        </p:spPr>
      </p:sp>
      <p:sp>
        <p:nvSpPr>
          <p:cNvPr id="15" name="01  /  BUILD">
            <a:extLst xmlns:a="http://schemas.openxmlformats.org/drawingml/2006/main">
              <a:ext uri="{FF2B5EF4-FFF2-40B4-BE49-F238E27FC236}">
                <a16:creationId xmlns:a16="http://schemas.microsoft.com/office/drawing/2014/main" id="{88E580B6-D94B-469A-A51A-7F8C9E7BD3B4}"/>
              </a:ext>
            </a:extLst>
          </p:cNvPr>
          <p:cNvSpPr>
            <a:spLocks xmlns:a="http://schemas.openxmlformats.org/drawingml/2006/main" noGrp="1"/>
          </p:cNvSpPr>
          <p:nvPr/>
        </p:nvSpPr>
        <p:spPr>
          <a:xfrm xmlns:a="http://schemas.openxmlformats.org/drawingml/2006/main">
            <a:off x="1162050" y="3476625"/>
            <a:ext cx="26003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647887"/>
                </a:solidFill>
                <a:latin typeface="Arial"/>
                <a:ea typeface="Arial"/>
                <a:cs typeface="Arial"/>
              </a:defRPr>
            </a:defPPr>
          </a:lstStyle>
          <a:p xmlns:a="http://schemas.openxmlformats.org/drawingml/2006/main">
            <a:pPr algn="l">
              <a:lnSpc>
                <a:spcPct val="100000"/>
              </a:lnSpc>
              <a:buNone/>
              <a:defRPr sz="1500" b="1">
                <a:solidFill>
                  <a:srgbClr val="647887"/>
                </a:solidFill>
                <a:latin typeface="Arial"/>
                <a:ea typeface="Arial"/>
                <a:cs typeface="Arial"/>
              </a:defRPr>
            </a:pPr>
            <a:r>
              <a:rPr sz="1500" b="1">
                <a:solidFill>
                  <a:srgbClr val="647887"/>
                </a:solidFill>
                <a:latin typeface="Arial"/>
                <a:ea typeface="Arial"/>
                <a:cs typeface="Arial"/>
              </a:rPr>
              <a:t>01  /  BUILD</a:t>
            </a:r>
          </a:p>
        </p:txBody>
      </p:sp>
      <p:pic>
        <p:nvPicPr>
          <p:cNvPr id="16" name="">
            <a:extLst xmlns:a="http://schemas.openxmlformats.org/drawingml/2006/main">
              <a:ext uri="{FF2B5EF4-FFF2-40B4-BE49-F238E27FC236}">
                <a16:creationId xmlns:a16="http://schemas.microsoft.com/office/drawing/2014/main" id="{F0A2665E-F776-4B82-9005-2084052C84EB}"/>
              </a:ext>
            </a:extLst>
          </p:cNvPr>
          <p:cNvPicPr>
            <a:picLocks xmlns:a="http://schemas.openxmlformats.org/drawingml/2006/main" noChangeAspect="1"/>
          </p:cNvPicPr>
          <p:nvPr/>
        </p:nvPicPr>
        <p:blipFill>
          <a:blip xmlns:r="http://schemas.openxmlformats.org/officeDocument/2006/relationships" xmlns:a="http://schemas.openxmlformats.org/drawingml/2006/main" r:embed="Rbd32539961964bbe">
            <a:extLst>
              <a:ext uri="{96DAC541-7B7A-43D3-8B79-37D633B846F1}">
                <asvg:svgBlip xmlns:asvg="http://schemas.microsoft.com/office/drawing/2016/SVG/main" r:embed="Reea144451cac46b6"/>
              </a:ext>
            </a:extLst>
          </a:blip>
          <a:stretch xmlns:a="http://schemas.openxmlformats.org/drawingml/2006/main"/>
        </p:blipFill>
        <p:spPr>
          <a:xfrm xmlns:a="http://schemas.openxmlformats.org/drawingml/2006/main">
            <a:off x="3829050" y="3448050"/>
            <a:ext cx="371475" cy="371475"/>
          </a:xfrm>
          <a:prstGeom xmlns:a="http://schemas.openxmlformats.org/drawingml/2006/main" prst="rect">
            <a:avLst/>
          </a:prstGeom>
        </p:spPr>
      </p:pic>
      <p:sp>
        <p:nvSpPr>
          <p:cNvPr id="17" name="Construct design /">
            <a:extLst xmlns:a="http://schemas.openxmlformats.org/drawingml/2006/main">
              <a:ext uri="{FF2B5EF4-FFF2-40B4-BE49-F238E27FC236}">
                <a16:creationId xmlns:a16="http://schemas.microsoft.com/office/drawing/2014/main" id="{B81CB8DC-835E-4F16-AD7D-0B9B2CE89D97}"/>
              </a:ext>
            </a:extLst>
          </p:cNvPr>
          <p:cNvSpPr>
            <a:spLocks xmlns:a="http://schemas.openxmlformats.org/drawingml/2006/main" noGrp="1"/>
          </p:cNvSpPr>
          <p:nvPr/>
        </p:nvSpPr>
        <p:spPr>
          <a:xfrm xmlns:a="http://schemas.openxmlformats.org/drawingml/2006/main">
            <a:off x="1162050" y="3981450"/>
            <a:ext cx="30575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325" b="1">
                <a:solidFill>
                  <a:srgbClr val="152C3A"/>
                </a:solidFill>
                <a:latin typeface="Arial"/>
                <a:ea typeface="Arial"/>
                <a:cs typeface="Arial"/>
              </a:defRPr>
            </a:defPPr>
          </a:lstStyle>
          <a:p xmlns:a="http://schemas.openxmlformats.org/drawingml/2006/main">
            <a:pPr algn="l">
              <a:lnSpc>
                <a:spcPct val="100000"/>
              </a:lnSpc>
              <a:buNone/>
              <a:defRPr sz="2325" b="1">
                <a:solidFill>
                  <a:srgbClr val="152C3A"/>
                </a:solidFill>
                <a:latin typeface="Arial"/>
                <a:ea typeface="Arial"/>
                <a:cs typeface="Arial"/>
              </a:defRPr>
            </a:pPr>
            <a:r>
              <a:rPr sz="2325" b="1">
                <a:solidFill>
                  <a:srgbClr val="152C3A"/>
                </a:solidFill>
                <a:latin typeface="Arial"/>
                <a:ea typeface="Arial"/>
                <a:cs typeface="Arial"/>
              </a:rPr>
              <a:t>Construct design /</a:t>
            </a:r>
          </a:p>
          <a:p xmlns:a="http://schemas.openxmlformats.org/drawingml/2006/main">
            <a:pPr algn="l">
              <a:lnSpc>
                <a:spcPct val="100000"/>
              </a:lnSpc>
              <a:buNone/>
              <a:defRPr sz="2325" b="1">
                <a:solidFill>
                  <a:srgbClr val="152C3A"/>
                </a:solidFill>
                <a:latin typeface="Arial"/>
                <a:ea typeface="Arial"/>
                <a:cs typeface="Arial"/>
              </a:defRPr>
            </a:pPr>
            <a:r>
              <a:rPr sz="2325" b="1">
                <a:solidFill>
                  <a:srgbClr val="152C3A"/>
                </a:solidFill>
                <a:latin typeface="Arial"/>
                <a:ea typeface="Arial"/>
                <a:cs typeface="Arial"/>
              </a:rPr>
              <a:t>DNA synthesis</a:t>
            </a:r>
          </a:p>
        </p:txBody>
      </p:sp>
      <p:sp>
        <p:nvSpPr>
          <p:cNvPr id="18" name="Encode antibody candidates">
            <a:extLst xmlns:a="http://schemas.openxmlformats.org/drawingml/2006/main">
              <a:ext uri="{FF2B5EF4-FFF2-40B4-BE49-F238E27FC236}">
                <a16:creationId xmlns:a16="http://schemas.microsoft.com/office/drawing/2014/main" id="{CA8BB0FC-AE5A-4DEE-951B-E5F0ACB516B6}"/>
              </a:ext>
            </a:extLst>
          </p:cNvPr>
          <p:cNvSpPr>
            <a:spLocks xmlns:a="http://schemas.openxmlformats.org/drawingml/2006/main" noGrp="1"/>
          </p:cNvSpPr>
          <p:nvPr/>
        </p:nvSpPr>
        <p:spPr>
          <a:xfrm xmlns:a="http://schemas.openxmlformats.org/drawingml/2006/main">
            <a:off x="1162050" y="4838700"/>
            <a:ext cx="30575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647887"/>
                </a:solidFill>
                <a:latin typeface="Arial"/>
                <a:ea typeface="Arial"/>
                <a:cs typeface="Arial"/>
              </a:defRPr>
            </a:defPPr>
          </a:lstStyle>
          <a:p xmlns:a="http://schemas.openxmlformats.org/drawingml/2006/main">
            <a:pPr algn="l">
              <a:lnSpc>
                <a:spcPct val="100000"/>
              </a:lnSpc>
              <a:buNone/>
              <a:defRPr sz="1575" b="0">
                <a:solidFill>
                  <a:srgbClr val="647887"/>
                </a:solidFill>
                <a:latin typeface="Arial"/>
                <a:ea typeface="Arial"/>
                <a:cs typeface="Arial"/>
              </a:defRPr>
            </a:pPr>
            <a:r>
              <a:rPr sz="1575" b="0">
                <a:solidFill>
                  <a:srgbClr val="647887"/>
                </a:solidFill>
                <a:latin typeface="Arial"/>
                <a:ea typeface="Arial"/>
                <a:cs typeface="Arial"/>
              </a:rPr>
              <a:t>Encode antibody candidates</a:t>
            </a:r>
          </a:p>
          <a:p xmlns:a="http://schemas.openxmlformats.org/drawingml/2006/main">
            <a:pPr algn="l">
              <a:lnSpc>
                <a:spcPct val="100000"/>
              </a:lnSpc>
              <a:buNone/>
              <a:defRPr sz="1575" b="0">
                <a:solidFill>
                  <a:srgbClr val="647887"/>
                </a:solidFill>
                <a:latin typeface="Arial"/>
                <a:ea typeface="Arial"/>
                <a:cs typeface="Arial"/>
              </a:defRPr>
            </a:pPr>
            <a:r>
              <a:rPr sz="1575" b="0">
                <a:solidFill>
                  <a:srgbClr val="647887"/>
                </a:solidFill>
                <a:latin typeface="Arial"/>
                <a:ea typeface="Arial"/>
                <a:cs typeface="Arial"/>
              </a:rPr>
              <a:t>as DNA constructs</a:t>
            </a:r>
          </a:p>
        </p:txBody>
      </p:sp>
      <p:sp>
        <p:nvSpPr>
          <p:cNvPr id="19" name="">
            <a:extLst xmlns:a="http://schemas.openxmlformats.org/drawingml/2006/main">
              <a:ext uri="{FF2B5EF4-FFF2-40B4-BE49-F238E27FC236}">
                <a16:creationId xmlns:a16="http://schemas.microsoft.com/office/drawing/2014/main" id="{D8D383D1-94AD-4D92-B1E9-1FF38258D694}"/>
              </a:ext>
            </a:extLst>
          </p:cNvPr>
          <p:cNvSpPr>
            <a:spLocks xmlns:a="http://schemas.openxmlformats.org/drawingml/2006/main" noGrp="1"/>
          </p:cNvSpPr>
          <p:nvPr/>
        </p:nvSpPr>
        <p:spPr>
          <a:xfrm xmlns:a="http://schemas.openxmlformats.org/drawingml/2006/main">
            <a:off x="1114425" y="5505450"/>
            <a:ext cx="3152775" cy="714375"/>
          </a:xfrm>
          <a:prstGeom xmlns:a="http://schemas.openxmlformats.org/drawingml/2006/main" prst="roundRect">
            <a:avLst>
              <a:gd name="adj" fmla="val 9333"/>
            </a:avLst>
          </a:prstGeom>
          <a:solidFill xmlns:a="http://schemas.openxmlformats.org/drawingml/2006/main">
            <a:srgbClr val="F5F8F9"/>
          </a:solidFill>
          <a:ln xmlns:a="http://schemas.openxmlformats.org/drawingml/2006/main" w="9525">
            <a:noFill/>
          </a:ln>
        </p:spPr>
      </p:sp>
      <p:sp>
        <p:nvSpPr>
          <p:cNvPr id="20" name="OUTPUT">
            <a:extLst xmlns:a="http://schemas.openxmlformats.org/drawingml/2006/main">
              <a:ext uri="{FF2B5EF4-FFF2-40B4-BE49-F238E27FC236}">
                <a16:creationId xmlns:a16="http://schemas.microsoft.com/office/drawing/2014/main" id="{1B9605F3-DA2A-4AA3-82EC-0C780EBA2C1B}"/>
              </a:ext>
            </a:extLst>
          </p:cNvPr>
          <p:cNvSpPr>
            <a:spLocks xmlns:a="http://schemas.openxmlformats.org/drawingml/2006/main" noGrp="1"/>
          </p:cNvSpPr>
          <p:nvPr/>
        </p:nvSpPr>
        <p:spPr>
          <a:xfrm xmlns:a="http://schemas.openxmlformats.org/drawingml/2006/main">
            <a:off x="1219200" y="5610225"/>
            <a:ext cx="2943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1">
                <a:solidFill>
                  <a:srgbClr val="647887"/>
                </a:solidFill>
                <a:latin typeface="Arial"/>
                <a:ea typeface="Arial"/>
                <a:cs typeface="Arial"/>
              </a:defRPr>
            </a:defPPr>
          </a:lstStyle>
          <a:p xmlns:a="http://schemas.openxmlformats.org/drawingml/2006/main">
            <a:pPr algn="l">
              <a:lnSpc>
                <a:spcPct val="100000"/>
              </a:lnSpc>
              <a:buNone/>
              <a:defRPr sz="1088" b="1">
                <a:solidFill>
                  <a:srgbClr val="647887"/>
                </a:solidFill>
                <a:latin typeface="Arial"/>
                <a:ea typeface="Arial"/>
                <a:cs typeface="Arial"/>
              </a:defRPr>
            </a:pPr>
            <a:r>
              <a:rPr sz="1088" b="1">
                <a:solidFill>
                  <a:srgbClr val="647887"/>
                </a:solidFill>
                <a:latin typeface="Arial"/>
                <a:ea typeface="Arial"/>
                <a:cs typeface="Arial"/>
              </a:rPr>
              <a:t>OUTPUT</a:t>
            </a:r>
          </a:p>
        </p:txBody>
      </p:sp>
      <p:sp>
        <p:nvSpPr>
          <p:cNvPr id="21" name="Sequence + construct">
            <a:extLst xmlns:a="http://schemas.openxmlformats.org/drawingml/2006/main">
              <a:ext uri="{FF2B5EF4-FFF2-40B4-BE49-F238E27FC236}">
                <a16:creationId xmlns:a16="http://schemas.microsoft.com/office/drawing/2014/main" id="{460E9F4B-F981-48E0-9655-306399D7C660}"/>
              </a:ext>
            </a:extLst>
          </p:cNvPr>
          <p:cNvSpPr>
            <a:spLocks xmlns:a="http://schemas.openxmlformats.org/drawingml/2006/main" noGrp="1"/>
          </p:cNvSpPr>
          <p:nvPr/>
        </p:nvSpPr>
        <p:spPr>
          <a:xfrm xmlns:a="http://schemas.openxmlformats.org/drawingml/2006/main">
            <a:off x="1219200" y="5895975"/>
            <a:ext cx="2943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7D80"/>
                </a:solidFill>
                <a:latin typeface="Arial"/>
                <a:ea typeface="Arial"/>
                <a:cs typeface="Arial"/>
              </a:defRPr>
            </a:defPPr>
          </a:lstStyle>
          <a:p xmlns:a="http://schemas.openxmlformats.org/drawingml/2006/main">
            <a:pPr algn="l">
              <a:lnSpc>
                <a:spcPct val="100000"/>
              </a:lnSpc>
              <a:buNone/>
              <a:defRPr sz="1500" b="1">
                <a:solidFill>
                  <a:srgbClr val="007D80"/>
                </a:solidFill>
                <a:latin typeface="Arial"/>
                <a:ea typeface="Arial"/>
                <a:cs typeface="Arial"/>
              </a:defRPr>
            </a:pPr>
            <a:r>
              <a:rPr sz="1500" b="1">
                <a:solidFill>
                  <a:srgbClr val="007D80"/>
                </a:solidFill>
                <a:latin typeface="Arial"/>
                <a:ea typeface="Arial"/>
                <a:cs typeface="Arial"/>
              </a:rPr>
              <a:t>Sequence + construct</a:t>
            </a:r>
          </a:p>
        </p:txBody>
      </p:sp>
      <p:sp>
        <p:nvSpPr>
          <p:cNvPr id="22" name="REAGENTS">
            <a:extLst xmlns:a="http://schemas.openxmlformats.org/drawingml/2006/main">
              <a:ext uri="{FF2B5EF4-FFF2-40B4-BE49-F238E27FC236}">
                <a16:creationId xmlns:a16="http://schemas.microsoft.com/office/drawing/2014/main" id="{57F12EF6-EF7A-4583-9421-80B810242990}"/>
              </a:ext>
            </a:extLst>
          </p:cNvPr>
          <p:cNvSpPr>
            <a:spLocks xmlns:a="http://schemas.openxmlformats.org/drawingml/2006/main" noGrp="1"/>
          </p:cNvSpPr>
          <p:nvPr/>
        </p:nvSpPr>
        <p:spPr>
          <a:xfrm xmlns:a="http://schemas.openxmlformats.org/drawingml/2006/main">
            <a:off x="1162050" y="62865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647887"/>
                </a:solidFill>
                <a:latin typeface="Arial"/>
                <a:ea typeface="Arial"/>
                <a:cs typeface="Arial"/>
              </a:defRPr>
            </a:defPPr>
          </a:lstStyle>
          <a:p xmlns:a="http://schemas.openxmlformats.org/drawingml/2006/main">
            <a:pPr algn="l">
              <a:lnSpc>
                <a:spcPct val="100000"/>
              </a:lnSpc>
              <a:buNone/>
              <a:defRPr sz="1238" b="1">
                <a:solidFill>
                  <a:srgbClr val="647887"/>
                </a:solidFill>
                <a:latin typeface="Arial"/>
                <a:ea typeface="Arial"/>
                <a:cs typeface="Arial"/>
              </a:defRPr>
            </a:pPr>
            <a:r>
              <a:rPr sz="1238" b="1">
                <a:solidFill>
                  <a:srgbClr val="647887"/>
                </a:solidFill>
                <a:latin typeface="Arial"/>
                <a:ea typeface="Arial"/>
                <a:cs typeface="Arial"/>
              </a:rPr>
              <a:t>REAGENTS</a:t>
            </a:r>
          </a:p>
        </p:txBody>
      </p:sp>
      <p:sp>
        <p:nvSpPr>
          <p:cNvPr id="23" name="Oligos / gene fragments">
            <a:extLst xmlns:a="http://schemas.openxmlformats.org/drawingml/2006/main">
              <a:ext uri="{FF2B5EF4-FFF2-40B4-BE49-F238E27FC236}">
                <a16:creationId xmlns:a16="http://schemas.microsoft.com/office/drawing/2014/main" id="{769EC3FF-B135-4861-8322-C2023996975D}"/>
              </a:ext>
            </a:extLst>
          </p:cNvPr>
          <p:cNvSpPr>
            <a:spLocks xmlns:a="http://schemas.openxmlformats.org/drawingml/2006/main" noGrp="1"/>
          </p:cNvSpPr>
          <p:nvPr/>
        </p:nvSpPr>
        <p:spPr>
          <a:xfrm xmlns:a="http://schemas.openxmlformats.org/drawingml/2006/main">
            <a:off x="1162050" y="65627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152C3A"/>
                </a:solidFill>
                <a:latin typeface="Arial"/>
                <a:ea typeface="Arial"/>
                <a:cs typeface="Arial"/>
              </a:defRPr>
            </a:defPPr>
          </a:lstStyle>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Oligos / gene fragments</a:t>
            </a:r>
          </a:p>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PCR enzymes, vectors</a:t>
            </a:r>
          </a:p>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Cloning reagents</a:t>
            </a:r>
          </a:p>
        </p:txBody>
      </p:sp>
      <p:sp>
        <p:nvSpPr>
          <p:cNvPr id="24" name="INSTRUMENTS">
            <a:extLst xmlns:a="http://schemas.openxmlformats.org/drawingml/2006/main">
              <a:ext uri="{FF2B5EF4-FFF2-40B4-BE49-F238E27FC236}">
                <a16:creationId xmlns:a16="http://schemas.microsoft.com/office/drawing/2014/main" id="{E55B55A5-E6ED-4484-B4D3-ABDFD18F0CC3}"/>
              </a:ext>
            </a:extLst>
          </p:cNvPr>
          <p:cNvSpPr>
            <a:spLocks xmlns:a="http://schemas.openxmlformats.org/drawingml/2006/main" noGrp="1"/>
          </p:cNvSpPr>
          <p:nvPr/>
        </p:nvSpPr>
        <p:spPr>
          <a:xfrm xmlns:a="http://schemas.openxmlformats.org/drawingml/2006/main">
            <a:off x="1162050" y="72390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647887"/>
                </a:solidFill>
                <a:latin typeface="Arial"/>
                <a:ea typeface="Arial"/>
                <a:cs typeface="Arial"/>
              </a:defRPr>
            </a:defPPr>
          </a:lstStyle>
          <a:p xmlns:a="http://schemas.openxmlformats.org/drawingml/2006/main">
            <a:pPr algn="l">
              <a:lnSpc>
                <a:spcPct val="100000"/>
              </a:lnSpc>
              <a:buNone/>
              <a:defRPr sz="1238" b="1">
                <a:solidFill>
                  <a:srgbClr val="647887"/>
                </a:solidFill>
                <a:latin typeface="Arial"/>
                <a:ea typeface="Arial"/>
                <a:cs typeface="Arial"/>
              </a:defRPr>
            </a:pPr>
            <a:r>
              <a:rPr sz="1238" b="1">
                <a:solidFill>
                  <a:srgbClr val="647887"/>
                </a:solidFill>
                <a:latin typeface="Arial"/>
                <a:ea typeface="Arial"/>
                <a:cs typeface="Arial"/>
              </a:rPr>
              <a:t>INSTRUMENTS</a:t>
            </a:r>
          </a:p>
        </p:txBody>
      </p:sp>
      <p:sp>
        <p:nvSpPr>
          <p:cNvPr id="25" name="Thermocycler">
            <a:extLst xmlns:a="http://schemas.openxmlformats.org/drawingml/2006/main">
              <a:ext uri="{FF2B5EF4-FFF2-40B4-BE49-F238E27FC236}">
                <a16:creationId xmlns:a16="http://schemas.microsoft.com/office/drawing/2014/main" id="{5656FB97-B743-42F1-8EAC-09CC47E92264}"/>
              </a:ext>
            </a:extLst>
          </p:cNvPr>
          <p:cNvSpPr>
            <a:spLocks xmlns:a="http://schemas.openxmlformats.org/drawingml/2006/main" noGrp="1"/>
          </p:cNvSpPr>
          <p:nvPr/>
        </p:nvSpPr>
        <p:spPr>
          <a:xfrm xmlns:a="http://schemas.openxmlformats.org/drawingml/2006/main">
            <a:off x="1162050" y="75152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152C3A"/>
                </a:solidFill>
                <a:latin typeface="Arial"/>
                <a:ea typeface="Arial"/>
                <a:cs typeface="Arial"/>
              </a:defRPr>
            </a:defPPr>
          </a:lstStyle>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Thermocycler</a:t>
            </a:r>
          </a:p>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Spectrophotometer</a:t>
            </a:r>
          </a:p>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Liquid handling workstation</a:t>
            </a:r>
          </a:p>
        </p:txBody>
      </p:sp>
      <p:sp>
        <p:nvSpPr>
          <p:cNvPr id="26" name="CONSUMABLES">
            <a:extLst xmlns:a="http://schemas.openxmlformats.org/drawingml/2006/main">
              <a:ext uri="{FF2B5EF4-FFF2-40B4-BE49-F238E27FC236}">
                <a16:creationId xmlns:a16="http://schemas.microsoft.com/office/drawing/2014/main" id="{3A9522C4-BDC4-4389-9BBE-FF45161719F5}"/>
              </a:ext>
            </a:extLst>
          </p:cNvPr>
          <p:cNvSpPr>
            <a:spLocks xmlns:a="http://schemas.openxmlformats.org/drawingml/2006/main" noGrp="1"/>
          </p:cNvSpPr>
          <p:nvPr/>
        </p:nvSpPr>
        <p:spPr>
          <a:xfrm xmlns:a="http://schemas.openxmlformats.org/drawingml/2006/main">
            <a:off x="1162050" y="81915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647887"/>
                </a:solidFill>
                <a:latin typeface="Arial"/>
                <a:ea typeface="Arial"/>
                <a:cs typeface="Arial"/>
              </a:defRPr>
            </a:defPPr>
          </a:lstStyle>
          <a:p xmlns:a="http://schemas.openxmlformats.org/drawingml/2006/main">
            <a:pPr algn="l">
              <a:lnSpc>
                <a:spcPct val="100000"/>
              </a:lnSpc>
              <a:buNone/>
              <a:defRPr sz="1238" b="1">
                <a:solidFill>
                  <a:srgbClr val="647887"/>
                </a:solidFill>
                <a:latin typeface="Arial"/>
                <a:ea typeface="Arial"/>
                <a:cs typeface="Arial"/>
              </a:defRPr>
            </a:pPr>
            <a:r>
              <a:rPr sz="1238" b="1">
                <a:solidFill>
                  <a:srgbClr val="647887"/>
                </a:solidFill>
                <a:latin typeface="Arial"/>
                <a:ea typeface="Arial"/>
                <a:cs typeface="Arial"/>
              </a:rPr>
              <a:t>CONSUMABLES</a:t>
            </a:r>
          </a:p>
        </p:txBody>
      </p:sp>
      <p:sp>
        <p:nvSpPr>
          <p:cNvPr id="27" name="PCR / deep-well plates">
            <a:extLst xmlns:a="http://schemas.openxmlformats.org/drawingml/2006/main">
              <a:ext uri="{FF2B5EF4-FFF2-40B4-BE49-F238E27FC236}">
                <a16:creationId xmlns:a16="http://schemas.microsoft.com/office/drawing/2014/main" id="{65E67D35-5E16-4FE0-905D-2566008272C9}"/>
              </a:ext>
            </a:extLst>
          </p:cNvPr>
          <p:cNvSpPr>
            <a:spLocks xmlns:a="http://schemas.openxmlformats.org/drawingml/2006/main" noGrp="1"/>
          </p:cNvSpPr>
          <p:nvPr/>
        </p:nvSpPr>
        <p:spPr>
          <a:xfrm xmlns:a="http://schemas.openxmlformats.org/drawingml/2006/main">
            <a:off x="1162050" y="84677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152C3A"/>
                </a:solidFill>
                <a:latin typeface="Arial"/>
                <a:ea typeface="Arial"/>
                <a:cs typeface="Arial"/>
              </a:defRPr>
            </a:defPPr>
          </a:lstStyle>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PCR / deep-well plates</a:t>
            </a:r>
          </a:p>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Tubes, pipette tips</a:t>
            </a:r>
          </a:p>
        </p:txBody>
      </p:sp>
      <p:sp>
        <p:nvSpPr>
          <p:cNvPr id="28" name="">
            <a:extLst xmlns:a="http://schemas.openxmlformats.org/drawingml/2006/main">
              <a:ext uri="{FF2B5EF4-FFF2-40B4-BE49-F238E27FC236}">
                <a16:creationId xmlns:a16="http://schemas.microsoft.com/office/drawing/2014/main" id="{9453BCDA-2388-460A-AB00-FDE5420DA99A}"/>
              </a:ext>
            </a:extLst>
          </p:cNvPr>
          <p:cNvSpPr>
            <a:spLocks xmlns:a="http://schemas.openxmlformats.org/drawingml/2006/main" noGrp="1"/>
          </p:cNvSpPr>
          <p:nvPr/>
        </p:nvSpPr>
        <p:spPr>
          <a:xfrm xmlns:a="http://schemas.openxmlformats.org/drawingml/2006/main">
            <a:off x="1162050" y="9239250"/>
            <a:ext cx="3057525" cy="953"/>
          </a:xfrm>
          <a:custGeom xmlns:a="http://schemas.openxmlformats.org/drawingml/2006/main">
            <a:pathLst>
              <a:path w="3057525" h="953">
                <a:moveTo>
                  <a:pt x="0" y="0"/>
                </a:moveTo>
                <a:lnTo>
                  <a:pt x="3057525" y="0"/>
                </a:lnTo>
              </a:path>
            </a:pathLst>
          </a:custGeom>
          <a:noFill xmlns:a="http://schemas.openxmlformats.org/drawingml/2006/main"/>
          <a:ln xmlns:a="http://schemas.openxmlformats.org/drawingml/2006/main" w="9525">
            <a:solidFill>
              <a:srgbClr val="D7E3E8"/>
            </a:solidFill>
          </a:ln>
        </p:spPr>
      </p:sp>
      <p:sp>
        <p:nvSpPr>
          <p:cNvPr id="29" name="REPRESENTATIVE SUPPLIERS">
            <a:extLst xmlns:a="http://schemas.openxmlformats.org/drawingml/2006/main">
              <a:ext uri="{FF2B5EF4-FFF2-40B4-BE49-F238E27FC236}">
                <a16:creationId xmlns:a16="http://schemas.microsoft.com/office/drawing/2014/main" id="{3D1321AD-F256-4041-ACB9-95F7792A2A28}"/>
              </a:ext>
            </a:extLst>
          </p:cNvPr>
          <p:cNvSpPr>
            <a:spLocks xmlns:a="http://schemas.openxmlformats.org/drawingml/2006/main" noGrp="1"/>
          </p:cNvSpPr>
          <p:nvPr/>
        </p:nvSpPr>
        <p:spPr>
          <a:xfrm xmlns:a="http://schemas.openxmlformats.org/drawingml/2006/main">
            <a:off x="1162050" y="9372600"/>
            <a:ext cx="30575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63" b="1">
                <a:solidFill>
                  <a:srgbClr val="647887"/>
                </a:solidFill>
                <a:latin typeface="Arial"/>
                <a:ea typeface="Arial"/>
                <a:cs typeface="Arial"/>
              </a:defRPr>
            </a:defPPr>
          </a:lstStyle>
          <a:p xmlns:a="http://schemas.openxmlformats.org/drawingml/2006/main">
            <a:pPr algn="l">
              <a:lnSpc>
                <a:spcPct val="100000"/>
              </a:lnSpc>
              <a:buNone/>
              <a:defRPr sz="1163" b="1">
                <a:solidFill>
                  <a:srgbClr val="647887"/>
                </a:solidFill>
                <a:latin typeface="Arial"/>
                <a:ea typeface="Arial"/>
                <a:cs typeface="Arial"/>
              </a:defRPr>
            </a:pPr>
            <a:r>
              <a:rPr sz="1163" b="1">
                <a:solidFill>
                  <a:srgbClr val="647887"/>
                </a:solidFill>
                <a:latin typeface="Arial"/>
                <a:ea typeface="Arial"/>
                <a:cs typeface="Arial"/>
              </a:rPr>
              <a:t>REPRESENTATIVE SUPPLIERS</a:t>
            </a:r>
          </a:p>
        </p:txBody>
      </p:sp>
      <p:pic>
        <p:nvPicPr>
          <p:cNvPr id="30" name="">
            <a:extLst xmlns:a="http://schemas.openxmlformats.org/drawingml/2006/main">
              <a:ext uri="{FF2B5EF4-FFF2-40B4-BE49-F238E27FC236}">
                <a16:creationId xmlns:a16="http://schemas.microsoft.com/office/drawing/2014/main" id="{346DBFF1-13BF-4172-AB80-91C4F587916A}"/>
              </a:ext>
            </a:extLst>
          </p:cNvPr>
          <p:cNvPicPr>
            <a:picLocks xmlns:a="http://schemas.openxmlformats.org/drawingml/2006/main" noChangeAspect="1"/>
          </p:cNvPicPr>
          <p:nvPr/>
        </p:nvPicPr>
        <p:blipFill>
          <a:blip xmlns:r="http://schemas.openxmlformats.org/officeDocument/2006/relationships" xmlns:a="http://schemas.openxmlformats.org/drawingml/2006/main" r:embed="Rf449c52044fa4021"/>
          <a:stretch xmlns:a="http://schemas.openxmlformats.org/drawingml/2006/main"/>
        </p:blipFill>
        <p:spPr>
          <a:xfrm xmlns:a="http://schemas.openxmlformats.org/drawingml/2006/main">
            <a:off x="1282623" y="9648825"/>
            <a:ext cx="959005" cy="409575"/>
          </a:xfrm>
          <a:prstGeom xmlns:a="http://schemas.openxmlformats.org/drawingml/2006/main" prst="rect">
            <a:avLst/>
          </a:prstGeom>
        </p:spPr>
      </p:pic>
      <p:pic>
        <p:nvPicPr>
          <p:cNvPr id="31" name="">
            <a:extLst xmlns:a="http://schemas.openxmlformats.org/drawingml/2006/main">
              <a:ext uri="{FF2B5EF4-FFF2-40B4-BE49-F238E27FC236}">
                <a16:creationId xmlns:a16="http://schemas.microsoft.com/office/drawing/2014/main" id="{E8049837-B07B-4BD8-A156-021568A2BB77}"/>
              </a:ext>
            </a:extLst>
          </p:cNvPr>
          <p:cNvPicPr>
            <a:picLocks xmlns:a="http://schemas.openxmlformats.org/drawingml/2006/main" noChangeAspect="1"/>
          </p:cNvPicPr>
          <p:nvPr/>
        </p:nvPicPr>
        <p:blipFill>
          <a:blip xmlns:r="http://schemas.openxmlformats.org/officeDocument/2006/relationships" xmlns:a="http://schemas.openxmlformats.org/drawingml/2006/main" r:embed="R0f5c612c079f4851"/>
          <a:stretch xmlns:a="http://schemas.openxmlformats.org/drawingml/2006/main"/>
        </p:blipFill>
        <p:spPr>
          <a:xfrm xmlns:a="http://schemas.openxmlformats.org/drawingml/2006/main">
            <a:off x="2520818" y="9648825"/>
            <a:ext cx="1444890" cy="409575"/>
          </a:xfrm>
          <a:prstGeom xmlns:a="http://schemas.openxmlformats.org/drawingml/2006/main" prst="rect">
            <a:avLst/>
          </a:prstGeom>
        </p:spPr>
      </p:pic>
      <p:sp>
        <p:nvSpPr>
          <p:cNvPr id="32" name="Tsingke · Vazyme">
            <a:extLst xmlns:a="http://schemas.openxmlformats.org/drawingml/2006/main">
              <a:ext uri="{FF2B5EF4-FFF2-40B4-BE49-F238E27FC236}">
                <a16:creationId xmlns:a16="http://schemas.microsoft.com/office/drawing/2014/main" id="{076E9612-5AF0-4851-975E-47B962E8437C}"/>
              </a:ext>
            </a:extLst>
          </p:cNvPr>
          <p:cNvSpPr>
            <a:spLocks xmlns:a="http://schemas.openxmlformats.org/drawingml/2006/main" noGrp="1"/>
          </p:cNvSpPr>
          <p:nvPr/>
        </p:nvSpPr>
        <p:spPr>
          <a:xfrm xmlns:a="http://schemas.openxmlformats.org/drawingml/2006/main">
            <a:off x="1162050" y="10210800"/>
            <a:ext cx="30575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647887"/>
                </a:solidFill>
                <a:latin typeface="Arial"/>
                <a:ea typeface="Arial"/>
                <a:cs typeface="Arial"/>
              </a:defRPr>
            </a:defPPr>
          </a:lstStyle>
          <a:p xmlns:a="http://schemas.openxmlformats.org/drawingml/2006/main">
            <a:pPr algn="l">
              <a:lnSpc>
                <a:spcPct val="100000"/>
              </a:lnSpc>
              <a:buNone/>
              <a:defRPr sz="1275" b="0">
                <a:solidFill>
                  <a:srgbClr val="647887"/>
                </a:solidFill>
                <a:latin typeface="Arial"/>
                <a:ea typeface="Arial"/>
                <a:cs typeface="Arial"/>
              </a:defRPr>
            </a:pPr>
            <a:r>
              <a:rPr sz="1275" b="0">
                <a:solidFill>
                  <a:srgbClr val="647887"/>
                </a:solidFill>
                <a:latin typeface="Arial"/>
                <a:ea typeface="Arial"/>
                <a:cs typeface="Arial"/>
              </a:rPr>
              <a:t>Tsingke · Vazyme</a:t>
            </a:r>
          </a:p>
          <a:p xmlns:a="http://schemas.openxmlformats.org/drawingml/2006/main">
            <a:pPr algn="l">
              <a:lnSpc>
                <a:spcPct val="100000"/>
              </a:lnSpc>
              <a:buNone/>
              <a:defRPr sz="1275" b="0">
                <a:solidFill>
                  <a:srgbClr val="647887"/>
                </a:solidFill>
                <a:latin typeface="Arial"/>
                <a:ea typeface="Arial"/>
                <a:cs typeface="Arial"/>
              </a:defRPr>
            </a:pPr>
            <a:r>
              <a:rPr sz="1275" b="0">
                <a:solidFill>
                  <a:srgbClr val="647887"/>
                </a:solidFill>
                <a:latin typeface="Arial"/>
                <a:ea typeface="Arial"/>
                <a:cs typeface="Arial"/>
              </a:rPr>
              <a:t>Thermo Fisher</a:t>
            </a:r>
          </a:p>
        </p:txBody>
      </p:sp>
      <p:sp>
        <p:nvSpPr>
          <p:cNvPr id="33" name="">
            <a:extLst xmlns:a="http://schemas.openxmlformats.org/drawingml/2006/main">
              <a:ext uri="{FF2B5EF4-FFF2-40B4-BE49-F238E27FC236}">
                <a16:creationId xmlns:a16="http://schemas.microsoft.com/office/drawing/2014/main" id="{D2BC6B5B-AADF-4C7F-B856-7A79A2F64C81}"/>
              </a:ext>
            </a:extLst>
          </p:cNvPr>
          <p:cNvSpPr>
            <a:spLocks xmlns:a="http://schemas.openxmlformats.org/drawingml/2006/main" noGrp="1"/>
          </p:cNvSpPr>
          <p:nvPr/>
        </p:nvSpPr>
        <p:spPr>
          <a:xfrm xmlns:a="http://schemas.openxmlformats.org/drawingml/2006/main">
            <a:off x="4657725" y="3267075"/>
            <a:ext cx="3476625" cy="7639050"/>
          </a:xfrm>
          <a:prstGeom xmlns:a="http://schemas.openxmlformats.org/drawingml/2006/main" prst="roundRect">
            <a:avLst>
              <a:gd name="adj" fmla="val 3836"/>
            </a:avLst>
          </a:prstGeom>
          <a:solidFill xmlns:a="http://schemas.openxmlformats.org/drawingml/2006/main">
            <a:srgbClr val="EEF3F4"/>
          </a:solidFill>
          <a:ln xmlns:a="http://schemas.openxmlformats.org/drawingml/2006/main" w="9525">
            <a:noFill/>
          </a:ln>
        </p:spPr>
      </p:sp>
      <p:sp>
        <p:nvSpPr>
          <p:cNvPr id="34" name="">
            <a:extLst xmlns:a="http://schemas.openxmlformats.org/drawingml/2006/main">
              <a:ext uri="{FF2B5EF4-FFF2-40B4-BE49-F238E27FC236}">
                <a16:creationId xmlns:a16="http://schemas.microsoft.com/office/drawing/2014/main" id="{2F0AF960-6E52-463E-8A10-09BDC237BCCF}"/>
              </a:ext>
            </a:extLst>
          </p:cNvPr>
          <p:cNvSpPr>
            <a:spLocks xmlns:a="http://schemas.openxmlformats.org/drawingml/2006/main" noGrp="1"/>
          </p:cNvSpPr>
          <p:nvPr/>
        </p:nvSpPr>
        <p:spPr>
          <a:xfrm xmlns:a="http://schemas.openxmlformats.org/drawingml/2006/main">
            <a:off x="4629150" y="3219450"/>
            <a:ext cx="3476625" cy="7639050"/>
          </a:xfrm>
          <a:prstGeom xmlns:a="http://schemas.openxmlformats.org/drawingml/2006/main" prst="roundRect">
            <a:avLst>
              <a:gd name="adj" fmla="val 3836"/>
            </a:avLst>
          </a:prstGeom>
          <a:solidFill xmlns:a="http://schemas.openxmlformats.org/drawingml/2006/main">
            <a:srgbClr val="FFFFFF"/>
          </a:solidFill>
          <a:ln xmlns:a="http://schemas.openxmlformats.org/drawingml/2006/main" w="10478">
            <a:solidFill>
              <a:srgbClr val="D7E3E8"/>
            </a:solidFill>
          </a:ln>
        </p:spPr>
      </p:sp>
      <p:sp>
        <p:nvSpPr>
          <p:cNvPr id="35" name="">
            <a:extLst xmlns:a="http://schemas.openxmlformats.org/drawingml/2006/main">
              <a:ext uri="{FF2B5EF4-FFF2-40B4-BE49-F238E27FC236}">
                <a16:creationId xmlns:a16="http://schemas.microsoft.com/office/drawing/2014/main" id="{B01392BD-241C-471F-B4DC-B4EC77CC502F}"/>
              </a:ext>
            </a:extLst>
          </p:cNvPr>
          <p:cNvSpPr>
            <a:spLocks xmlns:a="http://schemas.openxmlformats.org/drawingml/2006/main" noGrp="1"/>
          </p:cNvSpPr>
          <p:nvPr/>
        </p:nvSpPr>
        <p:spPr>
          <a:xfrm xmlns:a="http://schemas.openxmlformats.org/drawingml/2006/main">
            <a:off x="4638675" y="3228975"/>
            <a:ext cx="3457575" cy="104775"/>
          </a:xfrm>
          <a:prstGeom xmlns:a="http://schemas.openxmlformats.org/drawingml/2006/main" prst="rect">
            <a:avLst/>
          </a:prstGeom>
          <a:solidFill xmlns:a="http://schemas.openxmlformats.org/drawingml/2006/main">
            <a:srgbClr val="2B62B1"/>
          </a:solidFill>
          <a:ln xmlns:a="http://schemas.openxmlformats.org/drawingml/2006/main" w="9525">
            <a:noFill/>
          </a:ln>
        </p:spPr>
      </p:sp>
      <p:sp>
        <p:nvSpPr>
          <p:cNvPr id="36" name="02  /  BUILD">
            <a:extLst xmlns:a="http://schemas.openxmlformats.org/drawingml/2006/main">
              <a:ext uri="{FF2B5EF4-FFF2-40B4-BE49-F238E27FC236}">
                <a16:creationId xmlns:a16="http://schemas.microsoft.com/office/drawing/2014/main" id="{99DE8608-8D34-49EE-B182-DB5535BFDD9D}"/>
              </a:ext>
            </a:extLst>
          </p:cNvPr>
          <p:cNvSpPr>
            <a:spLocks xmlns:a="http://schemas.openxmlformats.org/drawingml/2006/main" noGrp="1"/>
          </p:cNvSpPr>
          <p:nvPr/>
        </p:nvSpPr>
        <p:spPr>
          <a:xfrm xmlns:a="http://schemas.openxmlformats.org/drawingml/2006/main">
            <a:off x="4838700" y="3476625"/>
            <a:ext cx="26003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647887"/>
                </a:solidFill>
                <a:latin typeface="Arial"/>
                <a:ea typeface="Arial"/>
                <a:cs typeface="Arial"/>
              </a:defRPr>
            </a:defPPr>
          </a:lstStyle>
          <a:p xmlns:a="http://schemas.openxmlformats.org/drawingml/2006/main">
            <a:pPr algn="l">
              <a:lnSpc>
                <a:spcPct val="100000"/>
              </a:lnSpc>
              <a:buNone/>
              <a:defRPr sz="1500" b="1">
                <a:solidFill>
                  <a:srgbClr val="647887"/>
                </a:solidFill>
                <a:latin typeface="Arial"/>
                <a:ea typeface="Arial"/>
                <a:cs typeface="Arial"/>
              </a:defRPr>
            </a:pPr>
            <a:r>
              <a:rPr sz="1500" b="1">
                <a:solidFill>
                  <a:srgbClr val="647887"/>
                </a:solidFill>
                <a:latin typeface="Arial"/>
                <a:ea typeface="Arial"/>
                <a:cs typeface="Arial"/>
              </a:rPr>
              <a:t>02  /  BUILD</a:t>
            </a:r>
          </a:p>
        </p:txBody>
      </p:sp>
      <p:pic>
        <p:nvPicPr>
          <p:cNvPr id="37" name="">
            <a:extLst xmlns:a="http://schemas.openxmlformats.org/drawingml/2006/main">
              <a:ext uri="{FF2B5EF4-FFF2-40B4-BE49-F238E27FC236}">
                <a16:creationId xmlns:a16="http://schemas.microsoft.com/office/drawing/2014/main" id="{EC74D402-922A-4BB2-887E-534F32B41DAD}"/>
              </a:ext>
            </a:extLst>
          </p:cNvPr>
          <p:cNvPicPr>
            <a:picLocks xmlns:a="http://schemas.openxmlformats.org/drawingml/2006/main" noChangeAspect="1"/>
          </p:cNvPicPr>
          <p:nvPr/>
        </p:nvPicPr>
        <p:blipFill>
          <a:blip xmlns:r="http://schemas.openxmlformats.org/officeDocument/2006/relationships" xmlns:a="http://schemas.openxmlformats.org/drawingml/2006/main" r:embed="Rd203d78771554afe">
            <a:extLst>
              <a:ext uri="{96DAC541-7B7A-43D3-8B79-37D633B846F1}">
                <asvg:svgBlip xmlns:asvg="http://schemas.microsoft.com/office/drawing/2016/SVG/main" r:embed="R585d4fc4272c4b16"/>
              </a:ext>
            </a:extLst>
          </a:blip>
          <a:stretch xmlns:a="http://schemas.openxmlformats.org/drawingml/2006/main"/>
        </p:blipFill>
        <p:spPr>
          <a:xfrm xmlns:a="http://schemas.openxmlformats.org/drawingml/2006/main">
            <a:off x="7505700" y="3448050"/>
            <a:ext cx="371475" cy="371475"/>
          </a:xfrm>
          <a:prstGeom xmlns:a="http://schemas.openxmlformats.org/drawingml/2006/main" prst="rect">
            <a:avLst/>
          </a:prstGeom>
        </p:spPr>
      </p:pic>
      <p:sp>
        <p:nvSpPr>
          <p:cNvPr id="38" name="Protein expression">
            <a:extLst xmlns:a="http://schemas.openxmlformats.org/drawingml/2006/main">
              <a:ext uri="{FF2B5EF4-FFF2-40B4-BE49-F238E27FC236}">
                <a16:creationId xmlns:a16="http://schemas.microsoft.com/office/drawing/2014/main" id="{27CA168B-CDCC-496F-A69A-5F7F14B9024B}"/>
              </a:ext>
            </a:extLst>
          </p:cNvPr>
          <p:cNvSpPr>
            <a:spLocks xmlns:a="http://schemas.openxmlformats.org/drawingml/2006/main" noGrp="1"/>
          </p:cNvSpPr>
          <p:nvPr/>
        </p:nvSpPr>
        <p:spPr>
          <a:xfrm xmlns:a="http://schemas.openxmlformats.org/drawingml/2006/main">
            <a:off x="4838700" y="3981450"/>
            <a:ext cx="30575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325" b="1">
                <a:solidFill>
                  <a:srgbClr val="152C3A"/>
                </a:solidFill>
                <a:latin typeface="Arial"/>
                <a:ea typeface="Arial"/>
                <a:cs typeface="Arial"/>
              </a:defRPr>
            </a:defPPr>
          </a:lstStyle>
          <a:p xmlns:a="http://schemas.openxmlformats.org/drawingml/2006/main">
            <a:pPr algn="l">
              <a:lnSpc>
                <a:spcPct val="100000"/>
              </a:lnSpc>
              <a:buNone/>
              <a:defRPr sz="2325" b="1">
                <a:solidFill>
                  <a:srgbClr val="152C3A"/>
                </a:solidFill>
                <a:latin typeface="Arial"/>
                <a:ea typeface="Arial"/>
                <a:cs typeface="Arial"/>
              </a:defRPr>
            </a:pPr>
            <a:r>
              <a:rPr sz="2325" b="1">
                <a:solidFill>
                  <a:srgbClr val="152C3A"/>
                </a:solidFill>
                <a:latin typeface="Arial"/>
                <a:ea typeface="Arial"/>
                <a:cs typeface="Arial"/>
              </a:rPr>
              <a:t>Protein expression</a:t>
            </a:r>
          </a:p>
          <a:p xmlns:a="http://schemas.openxmlformats.org/drawingml/2006/main">
            <a:pPr algn="l">
              <a:lnSpc>
                <a:spcPct val="100000"/>
              </a:lnSpc>
              <a:buNone/>
              <a:defRPr sz="2325" b="1">
                <a:solidFill>
                  <a:srgbClr val="152C3A"/>
                </a:solidFill>
                <a:latin typeface="Arial"/>
                <a:ea typeface="Arial"/>
                <a:cs typeface="Arial"/>
              </a:defRPr>
            </a:pPr>
            <a:r>
              <a:rPr sz="2325" b="1">
                <a:solidFill>
                  <a:srgbClr val="152C3A"/>
                </a:solidFill>
                <a:latin typeface="Arial"/>
                <a:ea typeface="Arial"/>
                <a:cs typeface="Arial"/>
              </a:rPr>
              <a:t>&amp; purification</a:t>
            </a:r>
          </a:p>
        </p:txBody>
      </p:sp>
      <p:sp>
        <p:nvSpPr>
          <p:cNvPr id="39" name="Produce candidate antibodies">
            <a:extLst xmlns:a="http://schemas.openxmlformats.org/drawingml/2006/main">
              <a:ext uri="{FF2B5EF4-FFF2-40B4-BE49-F238E27FC236}">
                <a16:creationId xmlns:a16="http://schemas.microsoft.com/office/drawing/2014/main" id="{E7C8DC11-8C70-412A-ACA5-BBE2FAEB5A56}"/>
              </a:ext>
            </a:extLst>
          </p:cNvPr>
          <p:cNvSpPr>
            <a:spLocks xmlns:a="http://schemas.openxmlformats.org/drawingml/2006/main" noGrp="1"/>
          </p:cNvSpPr>
          <p:nvPr/>
        </p:nvSpPr>
        <p:spPr>
          <a:xfrm xmlns:a="http://schemas.openxmlformats.org/drawingml/2006/main">
            <a:off x="4838700" y="4838700"/>
            <a:ext cx="30575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647887"/>
                </a:solidFill>
                <a:latin typeface="Arial"/>
                <a:ea typeface="Arial"/>
                <a:cs typeface="Arial"/>
              </a:defRPr>
            </a:defPPr>
          </a:lstStyle>
          <a:p xmlns:a="http://schemas.openxmlformats.org/drawingml/2006/main">
            <a:pPr algn="l">
              <a:lnSpc>
                <a:spcPct val="100000"/>
              </a:lnSpc>
              <a:buNone/>
              <a:defRPr sz="1575" b="0">
                <a:solidFill>
                  <a:srgbClr val="647887"/>
                </a:solidFill>
                <a:latin typeface="Arial"/>
                <a:ea typeface="Arial"/>
                <a:cs typeface="Arial"/>
              </a:defRPr>
            </a:pPr>
            <a:r>
              <a:rPr sz="1575" b="0">
                <a:solidFill>
                  <a:srgbClr val="647887"/>
                </a:solidFill>
                <a:latin typeface="Arial"/>
                <a:ea typeface="Arial"/>
                <a:cs typeface="Arial"/>
              </a:rPr>
              <a:t>Produce candidate antibodies</a:t>
            </a:r>
          </a:p>
          <a:p xmlns:a="http://schemas.openxmlformats.org/drawingml/2006/main">
            <a:pPr algn="l">
              <a:lnSpc>
                <a:spcPct val="100000"/>
              </a:lnSpc>
              <a:buNone/>
              <a:defRPr sz="1575" b="0">
                <a:solidFill>
                  <a:srgbClr val="647887"/>
                </a:solidFill>
                <a:latin typeface="Arial"/>
                <a:ea typeface="Arial"/>
                <a:cs typeface="Arial"/>
              </a:defRPr>
            </a:pPr>
            <a:r>
              <a:rPr sz="1575" b="0">
                <a:solidFill>
                  <a:srgbClr val="647887"/>
                </a:solidFill>
                <a:latin typeface="Arial"/>
                <a:ea typeface="Arial"/>
                <a:cs typeface="Arial"/>
              </a:rPr>
              <a:t>and target-protein samples</a:t>
            </a:r>
          </a:p>
        </p:txBody>
      </p:sp>
      <p:sp>
        <p:nvSpPr>
          <p:cNvPr id="40" name="">
            <a:extLst xmlns:a="http://schemas.openxmlformats.org/drawingml/2006/main">
              <a:ext uri="{FF2B5EF4-FFF2-40B4-BE49-F238E27FC236}">
                <a16:creationId xmlns:a16="http://schemas.microsoft.com/office/drawing/2014/main" id="{29AE2665-D8E7-4623-86A2-32141FC294BC}"/>
              </a:ext>
            </a:extLst>
          </p:cNvPr>
          <p:cNvSpPr>
            <a:spLocks xmlns:a="http://schemas.openxmlformats.org/drawingml/2006/main" noGrp="1"/>
          </p:cNvSpPr>
          <p:nvPr/>
        </p:nvSpPr>
        <p:spPr>
          <a:xfrm xmlns:a="http://schemas.openxmlformats.org/drawingml/2006/main">
            <a:off x="4791075" y="5505450"/>
            <a:ext cx="3152775" cy="714375"/>
          </a:xfrm>
          <a:prstGeom xmlns:a="http://schemas.openxmlformats.org/drawingml/2006/main" prst="roundRect">
            <a:avLst>
              <a:gd name="adj" fmla="val 9333"/>
            </a:avLst>
          </a:prstGeom>
          <a:solidFill xmlns:a="http://schemas.openxmlformats.org/drawingml/2006/main">
            <a:srgbClr val="F5F8F9"/>
          </a:solidFill>
          <a:ln xmlns:a="http://schemas.openxmlformats.org/drawingml/2006/main" w="9525">
            <a:noFill/>
          </a:ln>
        </p:spPr>
      </p:sp>
      <p:sp>
        <p:nvSpPr>
          <p:cNvPr id="41" name="OUTPUT">
            <a:extLst xmlns:a="http://schemas.openxmlformats.org/drawingml/2006/main">
              <a:ext uri="{FF2B5EF4-FFF2-40B4-BE49-F238E27FC236}">
                <a16:creationId xmlns:a16="http://schemas.microsoft.com/office/drawing/2014/main" id="{31B1A08C-0844-41D2-8AEA-2E8B6CDC1FCA}"/>
              </a:ext>
            </a:extLst>
          </p:cNvPr>
          <p:cNvSpPr>
            <a:spLocks xmlns:a="http://schemas.openxmlformats.org/drawingml/2006/main" noGrp="1"/>
          </p:cNvSpPr>
          <p:nvPr/>
        </p:nvSpPr>
        <p:spPr>
          <a:xfrm xmlns:a="http://schemas.openxmlformats.org/drawingml/2006/main">
            <a:off x="4895850" y="5610225"/>
            <a:ext cx="2943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1">
                <a:solidFill>
                  <a:srgbClr val="647887"/>
                </a:solidFill>
                <a:latin typeface="Arial"/>
                <a:ea typeface="Arial"/>
                <a:cs typeface="Arial"/>
              </a:defRPr>
            </a:defPPr>
          </a:lstStyle>
          <a:p xmlns:a="http://schemas.openxmlformats.org/drawingml/2006/main">
            <a:pPr algn="l">
              <a:lnSpc>
                <a:spcPct val="100000"/>
              </a:lnSpc>
              <a:buNone/>
              <a:defRPr sz="1088" b="1">
                <a:solidFill>
                  <a:srgbClr val="647887"/>
                </a:solidFill>
                <a:latin typeface="Arial"/>
                <a:ea typeface="Arial"/>
                <a:cs typeface="Arial"/>
              </a:defRPr>
            </a:pPr>
            <a:r>
              <a:rPr sz="1088" b="1">
                <a:solidFill>
                  <a:srgbClr val="647887"/>
                </a:solidFill>
                <a:latin typeface="Arial"/>
                <a:ea typeface="Arial"/>
                <a:cs typeface="Arial"/>
              </a:rPr>
              <a:t>OUTPUT</a:t>
            </a:r>
          </a:p>
        </p:txBody>
      </p:sp>
      <p:sp>
        <p:nvSpPr>
          <p:cNvPr id="42" name="Purified samples + yield">
            <a:extLst xmlns:a="http://schemas.openxmlformats.org/drawingml/2006/main">
              <a:ext uri="{FF2B5EF4-FFF2-40B4-BE49-F238E27FC236}">
                <a16:creationId xmlns:a16="http://schemas.microsoft.com/office/drawing/2014/main" id="{D8F7F9B1-8853-40DF-B09B-E1844884AC54}"/>
              </a:ext>
            </a:extLst>
          </p:cNvPr>
          <p:cNvSpPr>
            <a:spLocks xmlns:a="http://schemas.openxmlformats.org/drawingml/2006/main" noGrp="1"/>
          </p:cNvSpPr>
          <p:nvPr/>
        </p:nvSpPr>
        <p:spPr>
          <a:xfrm xmlns:a="http://schemas.openxmlformats.org/drawingml/2006/main">
            <a:off x="4895850" y="5895975"/>
            <a:ext cx="2943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7D80"/>
                </a:solidFill>
                <a:latin typeface="Arial"/>
                <a:ea typeface="Arial"/>
                <a:cs typeface="Arial"/>
              </a:defRPr>
            </a:defPPr>
          </a:lstStyle>
          <a:p xmlns:a="http://schemas.openxmlformats.org/drawingml/2006/main">
            <a:pPr algn="l">
              <a:lnSpc>
                <a:spcPct val="100000"/>
              </a:lnSpc>
              <a:buNone/>
              <a:defRPr sz="1500" b="1">
                <a:solidFill>
                  <a:srgbClr val="007D80"/>
                </a:solidFill>
                <a:latin typeface="Arial"/>
                <a:ea typeface="Arial"/>
                <a:cs typeface="Arial"/>
              </a:defRPr>
            </a:pPr>
            <a:r>
              <a:rPr sz="1500" b="1">
                <a:solidFill>
                  <a:srgbClr val="007D80"/>
                </a:solidFill>
                <a:latin typeface="Arial"/>
                <a:ea typeface="Arial"/>
                <a:cs typeface="Arial"/>
              </a:rPr>
              <a:t>Purified samples + yield</a:t>
            </a:r>
          </a:p>
        </p:txBody>
      </p:sp>
      <p:sp>
        <p:nvSpPr>
          <p:cNvPr id="43" name="REAGENTS">
            <a:extLst xmlns:a="http://schemas.openxmlformats.org/drawingml/2006/main">
              <a:ext uri="{FF2B5EF4-FFF2-40B4-BE49-F238E27FC236}">
                <a16:creationId xmlns:a16="http://schemas.microsoft.com/office/drawing/2014/main" id="{DC786CB3-583B-462A-8B63-720DDAFAF974}"/>
              </a:ext>
            </a:extLst>
          </p:cNvPr>
          <p:cNvSpPr>
            <a:spLocks xmlns:a="http://schemas.openxmlformats.org/drawingml/2006/main" noGrp="1"/>
          </p:cNvSpPr>
          <p:nvPr/>
        </p:nvSpPr>
        <p:spPr>
          <a:xfrm xmlns:a="http://schemas.openxmlformats.org/drawingml/2006/main">
            <a:off x="4838700" y="62865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647887"/>
                </a:solidFill>
                <a:latin typeface="Arial"/>
                <a:ea typeface="Arial"/>
                <a:cs typeface="Arial"/>
              </a:defRPr>
            </a:defPPr>
          </a:lstStyle>
          <a:p xmlns:a="http://schemas.openxmlformats.org/drawingml/2006/main">
            <a:pPr algn="l">
              <a:lnSpc>
                <a:spcPct val="100000"/>
              </a:lnSpc>
              <a:buNone/>
              <a:defRPr sz="1238" b="1">
                <a:solidFill>
                  <a:srgbClr val="647887"/>
                </a:solidFill>
                <a:latin typeface="Arial"/>
                <a:ea typeface="Arial"/>
                <a:cs typeface="Arial"/>
              </a:defRPr>
            </a:pPr>
            <a:r>
              <a:rPr sz="1238" b="1">
                <a:solidFill>
                  <a:srgbClr val="647887"/>
                </a:solidFill>
                <a:latin typeface="Arial"/>
                <a:ea typeface="Arial"/>
                <a:cs typeface="Arial"/>
              </a:rPr>
              <a:t>REAGENTS</a:t>
            </a:r>
          </a:p>
        </p:txBody>
      </p:sp>
      <p:sp>
        <p:nvSpPr>
          <p:cNvPr id="44" name="Cells, media, transfection">
            <a:extLst xmlns:a="http://schemas.openxmlformats.org/drawingml/2006/main">
              <a:ext uri="{FF2B5EF4-FFF2-40B4-BE49-F238E27FC236}">
                <a16:creationId xmlns:a16="http://schemas.microsoft.com/office/drawing/2014/main" id="{328FC5DB-5C75-41E1-BEBF-1DB05BFD4086}"/>
              </a:ext>
            </a:extLst>
          </p:cNvPr>
          <p:cNvSpPr>
            <a:spLocks xmlns:a="http://schemas.openxmlformats.org/drawingml/2006/main" noGrp="1"/>
          </p:cNvSpPr>
          <p:nvPr/>
        </p:nvSpPr>
        <p:spPr>
          <a:xfrm xmlns:a="http://schemas.openxmlformats.org/drawingml/2006/main">
            <a:off x="4838700" y="65627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152C3A"/>
                </a:solidFill>
                <a:latin typeface="Arial"/>
                <a:ea typeface="Arial"/>
                <a:cs typeface="Arial"/>
              </a:defRPr>
            </a:defPPr>
          </a:lstStyle>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Cells, media, transfection</a:t>
            </a:r>
          </a:p>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Affinity resin, buffers</a:t>
            </a:r>
          </a:p>
        </p:txBody>
      </p:sp>
      <p:sp>
        <p:nvSpPr>
          <p:cNvPr id="45" name="INSTRUMENTS">
            <a:extLst xmlns:a="http://schemas.openxmlformats.org/drawingml/2006/main">
              <a:ext uri="{FF2B5EF4-FFF2-40B4-BE49-F238E27FC236}">
                <a16:creationId xmlns:a16="http://schemas.microsoft.com/office/drawing/2014/main" id="{EAA30613-CDBF-4314-A75D-FD006843FEA7}"/>
              </a:ext>
            </a:extLst>
          </p:cNvPr>
          <p:cNvSpPr>
            <a:spLocks xmlns:a="http://schemas.openxmlformats.org/drawingml/2006/main" noGrp="1"/>
          </p:cNvSpPr>
          <p:nvPr/>
        </p:nvSpPr>
        <p:spPr>
          <a:xfrm xmlns:a="http://schemas.openxmlformats.org/drawingml/2006/main">
            <a:off x="4838700" y="72390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647887"/>
                </a:solidFill>
                <a:latin typeface="Arial"/>
                <a:ea typeface="Arial"/>
                <a:cs typeface="Arial"/>
              </a:defRPr>
            </a:defPPr>
          </a:lstStyle>
          <a:p xmlns:a="http://schemas.openxmlformats.org/drawingml/2006/main">
            <a:pPr algn="l">
              <a:lnSpc>
                <a:spcPct val="100000"/>
              </a:lnSpc>
              <a:buNone/>
              <a:defRPr sz="1238" b="1">
                <a:solidFill>
                  <a:srgbClr val="647887"/>
                </a:solidFill>
                <a:latin typeface="Arial"/>
                <a:ea typeface="Arial"/>
                <a:cs typeface="Arial"/>
              </a:defRPr>
            </a:pPr>
            <a:r>
              <a:rPr sz="1238" b="1">
                <a:solidFill>
                  <a:srgbClr val="647887"/>
                </a:solidFill>
                <a:latin typeface="Arial"/>
                <a:ea typeface="Arial"/>
                <a:cs typeface="Arial"/>
              </a:rPr>
              <a:t>INSTRUMENTS</a:t>
            </a:r>
          </a:p>
        </p:txBody>
      </p:sp>
      <p:sp>
        <p:nvSpPr>
          <p:cNvPr id="46" name="Shaker / bioreactor*">
            <a:extLst xmlns:a="http://schemas.openxmlformats.org/drawingml/2006/main">
              <a:ext uri="{FF2B5EF4-FFF2-40B4-BE49-F238E27FC236}">
                <a16:creationId xmlns:a16="http://schemas.microsoft.com/office/drawing/2014/main" id="{66F566D5-1B94-4734-9774-4DF3642E68A4}"/>
              </a:ext>
            </a:extLst>
          </p:cNvPr>
          <p:cNvSpPr>
            <a:spLocks xmlns:a="http://schemas.openxmlformats.org/drawingml/2006/main" noGrp="1"/>
          </p:cNvSpPr>
          <p:nvPr/>
        </p:nvSpPr>
        <p:spPr>
          <a:xfrm xmlns:a="http://schemas.openxmlformats.org/drawingml/2006/main">
            <a:off x="4838700" y="75152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152C3A"/>
                </a:solidFill>
                <a:latin typeface="Arial"/>
                <a:ea typeface="Arial"/>
                <a:cs typeface="Arial"/>
              </a:defRPr>
            </a:defPPr>
          </a:lstStyle>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Shaker / bioreactor*</a:t>
            </a:r>
          </a:p>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ÄKTA / FPLC system</a:t>
            </a:r>
          </a:p>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Centrifuge</a:t>
            </a:r>
          </a:p>
        </p:txBody>
      </p:sp>
      <p:sp>
        <p:nvSpPr>
          <p:cNvPr id="47" name="CONSUMABLES">
            <a:extLst xmlns:a="http://schemas.openxmlformats.org/drawingml/2006/main">
              <a:ext uri="{FF2B5EF4-FFF2-40B4-BE49-F238E27FC236}">
                <a16:creationId xmlns:a16="http://schemas.microsoft.com/office/drawing/2014/main" id="{C899967A-575C-4671-BB61-7F4336E9F018}"/>
              </a:ext>
            </a:extLst>
          </p:cNvPr>
          <p:cNvSpPr>
            <a:spLocks xmlns:a="http://schemas.openxmlformats.org/drawingml/2006/main" noGrp="1"/>
          </p:cNvSpPr>
          <p:nvPr/>
        </p:nvSpPr>
        <p:spPr>
          <a:xfrm xmlns:a="http://schemas.openxmlformats.org/drawingml/2006/main">
            <a:off x="4838700" y="81915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647887"/>
                </a:solidFill>
                <a:latin typeface="Arial"/>
                <a:ea typeface="Arial"/>
                <a:cs typeface="Arial"/>
              </a:defRPr>
            </a:defPPr>
          </a:lstStyle>
          <a:p xmlns:a="http://schemas.openxmlformats.org/drawingml/2006/main">
            <a:pPr algn="l">
              <a:lnSpc>
                <a:spcPct val="100000"/>
              </a:lnSpc>
              <a:buNone/>
              <a:defRPr sz="1238" b="1">
                <a:solidFill>
                  <a:srgbClr val="647887"/>
                </a:solidFill>
                <a:latin typeface="Arial"/>
                <a:ea typeface="Arial"/>
                <a:cs typeface="Arial"/>
              </a:defRPr>
            </a:pPr>
            <a:r>
              <a:rPr sz="1238" b="1">
                <a:solidFill>
                  <a:srgbClr val="647887"/>
                </a:solidFill>
                <a:latin typeface="Arial"/>
                <a:ea typeface="Arial"/>
                <a:cs typeface="Arial"/>
              </a:rPr>
              <a:t>CONSUMABLES</a:t>
            </a:r>
          </a:p>
        </p:txBody>
      </p:sp>
      <p:sp>
        <p:nvSpPr>
          <p:cNvPr id="48" name="Flasks / culture bags*">
            <a:extLst xmlns:a="http://schemas.openxmlformats.org/drawingml/2006/main">
              <a:ext uri="{FF2B5EF4-FFF2-40B4-BE49-F238E27FC236}">
                <a16:creationId xmlns:a16="http://schemas.microsoft.com/office/drawing/2014/main" id="{F29BF2B5-8C04-481D-84AE-B57682AC74F9}"/>
              </a:ext>
            </a:extLst>
          </p:cNvPr>
          <p:cNvSpPr>
            <a:spLocks xmlns:a="http://schemas.openxmlformats.org/drawingml/2006/main" noGrp="1"/>
          </p:cNvSpPr>
          <p:nvPr/>
        </p:nvSpPr>
        <p:spPr>
          <a:xfrm xmlns:a="http://schemas.openxmlformats.org/drawingml/2006/main">
            <a:off x="4838700" y="84677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152C3A"/>
                </a:solidFill>
                <a:latin typeface="Arial"/>
                <a:ea typeface="Arial"/>
                <a:cs typeface="Arial"/>
              </a:defRPr>
            </a:defPPr>
          </a:lstStyle>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Flasks / culture bags*</a:t>
            </a:r>
          </a:p>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Columns, filters, tubes</a:t>
            </a:r>
          </a:p>
        </p:txBody>
      </p:sp>
      <p:sp>
        <p:nvSpPr>
          <p:cNvPr id="49" name="">
            <a:extLst xmlns:a="http://schemas.openxmlformats.org/drawingml/2006/main">
              <a:ext uri="{FF2B5EF4-FFF2-40B4-BE49-F238E27FC236}">
                <a16:creationId xmlns:a16="http://schemas.microsoft.com/office/drawing/2014/main" id="{3D84F1C0-087C-4010-BE68-4B2B39BBEBC2}"/>
              </a:ext>
            </a:extLst>
          </p:cNvPr>
          <p:cNvSpPr>
            <a:spLocks xmlns:a="http://schemas.openxmlformats.org/drawingml/2006/main" noGrp="1"/>
          </p:cNvSpPr>
          <p:nvPr/>
        </p:nvSpPr>
        <p:spPr>
          <a:xfrm xmlns:a="http://schemas.openxmlformats.org/drawingml/2006/main">
            <a:off x="4838700" y="9239250"/>
            <a:ext cx="3057525" cy="953"/>
          </a:xfrm>
          <a:custGeom xmlns:a="http://schemas.openxmlformats.org/drawingml/2006/main">
            <a:pathLst>
              <a:path w="3057525" h="953">
                <a:moveTo>
                  <a:pt x="0" y="0"/>
                </a:moveTo>
                <a:lnTo>
                  <a:pt x="3057525" y="0"/>
                </a:lnTo>
              </a:path>
            </a:pathLst>
          </a:custGeom>
          <a:noFill xmlns:a="http://schemas.openxmlformats.org/drawingml/2006/main"/>
          <a:ln xmlns:a="http://schemas.openxmlformats.org/drawingml/2006/main" w="9525">
            <a:solidFill>
              <a:srgbClr val="D7E3E8"/>
            </a:solidFill>
          </a:ln>
        </p:spPr>
      </p:sp>
      <p:sp>
        <p:nvSpPr>
          <p:cNvPr id="50" name="REPRESENTATIVE SUPPLIERS">
            <a:extLst xmlns:a="http://schemas.openxmlformats.org/drawingml/2006/main">
              <a:ext uri="{FF2B5EF4-FFF2-40B4-BE49-F238E27FC236}">
                <a16:creationId xmlns:a16="http://schemas.microsoft.com/office/drawing/2014/main" id="{2721CB4A-E92D-4A2C-96C7-5B57024FB6A9}"/>
              </a:ext>
            </a:extLst>
          </p:cNvPr>
          <p:cNvSpPr>
            <a:spLocks xmlns:a="http://schemas.openxmlformats.org/drawingml/2006/main" noGrp="1"/>
          </p:cNvSpPr>
          <p:nvPr/>
        </p:nvSpPr>
        <p:spPr>
          <a:xfrm xmlns:a="http://schemas.openxmlformats.org/drawingml/2006/main">
            <a:off x="4838700" y="9372600"/>
            <a:ext cx="30575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63" b="1">
                <a:solidFill>
                  <a:srgbClr val="647887"/>
                </a:solidFill>
                <a:latin typeface="Arial"/>
                <a:ea typeface="Arial"/>
                <a:cs typeface="Arial"/>
              </a:defRPr>
            </a:defPPr>
          </a:lstStyle>
          <a:p xmlns:a="http://schemas.openxmlformats.org/drawingml/2006/main">
            <a:pPr algn="l">
              <a:lnSpc>
                <a:spcPct val="100000"/>
              </a:lnSpc>
              <a:buNone/>
              <a:defRPr sz="1163" b="1">
                <a:solidFill>
                  <a:srgbClr val="647887"/>
                </a:solidFill>
                <a:latin typeface="Arial"/>
                <a:ea typeface="Arial"/>
                <a:cs typeface="Arial"/>
              </a:defRPr>
            </a:pPr>
            <a:r>
              <a:rPr sz="1163" b="1">
                <a:solidFill>
                  <a:srgbClr val="647887"/>
                </a:solidFill>
                <a:latin typeface="Arial"/>
                <a:ea typeface="Arial"/>
                <a:cs typeface="Arial"/>
              </a:rPr>
              <a:t>REPRESENTATIVE SUPPLIERS</a:t>
            </a:r>
          </a:p>
        </p:txBody>
      </p:sp>
      <p:pic>
        <p:nvPicPr>
          <p:cNvPr id="51" name="">
            <a:extLst xmlns:a="http://schemas.openxmlformats.org/drawingml/2006/main">
              <a:ext uri="{FF2B5EF4-FFF2-40B4-BE49-F238E27FC236}">
                <a16:creationId xmlns:a16="http://schemas.microsoft.com/office/drawing/2014/main" id="{3788C8B1-CBFB-4A6B-836C-2DCD3142DF49}"/>
              </a:ext>
            </a:extLst>
          </p:cNvPr>
          <p:cNvPicPr>
            <a:picLocks xmlns:a="http://schemas.openxmlformats.org/drawingml/2006/main" noChangeAspect="1"/>
          </p:cNvPicPr>
          <p:nvPr/>
        </p:nvPicPr>
        <p:blipFill>
          <a:blip xmlns:r="http://schemas.openxmlformats.org/officeDocument/2006/relationships" xmlns:a="http://schemas.openxmlformats.org/drawingml/2006/main" r:embed="Rcd3d0293d8d74b14"/>
          <a:stretch xmlns:a="http://schemas.openxmlformats.org/drawingml/2006/main"/>
        </p:blipFill>
        <p:spPr>
          <a:xfrm xmlns:a="http://schemas.openxmlformats.org/drawingml/2006/main">
            <a:off x="4838700" y="9653751"/>
            <a:ext cx="1438275" cy="399724"/>
          </a:xfrm>
          <a:prstGeom xmlns:a="http://schemas.openxmlformats.org/drawingml/2006/main" prst="rect">
            <a:avLst/>
          </a:prstGeom>
        </p:spPr>
      </p:pic>
      <p:sp>
        <p:nvSpPr>
          <p:cNvPr id="52" name="GenScript · ACROBiosystems">
            <a:extLst xmlns:a="http://schemas.openxmlformats.org/drawingml/2006/main">
              <a:ext uri="{FF2B5EF4-FFF2-40B4-BE49-F238E27FC236}">
                <a16:creationId xmlns:a16="http://schemas.microsoft.com/office/drawing/2014/main" id="{7DB99DE3-FB9A-44B7-9117-D72F3C94F1E2}"/>
              </a:ext>
            </a:extLst>
          </p:cNvPr>
          <p:cNvSpPr>
            <a:spLocks xmlns:a="http://schemas.openxmlformats.org/drawingml/2006/main" noGrp="1"/>
          </p:cNvSpPr>
          <p:nvPr/>
        </p:nvSpPr>
        <p:spPr>
          <a:xfrm xmlns:a="http://schemas.openxmlformats.org/drawingml/2006/main">
            <a:off x="4838700" y="10210800"/>
            <a:ext cx="30575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647887"/>
                </a:solidFill>
                <a:latin typeface="Arial"/>
                <a:ea typeface="Arial"/>
                <a:cs typeface="Arial"/>
              </a:defRPr>
            </a:defPPr>
          </a:lstStyle>
          <a:p xmlns:a="http://schemas.openxmlformats.org/drawingml/2006/main">
            <a:pPr algn="l">
              <a:lnSpc>
                <a:spcPct val="100000"/>
              </a:lnSpc>
              <a:buNone/>
              <a:defRPr sz="1275" b="0">
                <a:solidFill>
                  <a:srgbClr val="647887"/>
                </a:solidFill>
                <a:latin typeface="Arial"/>
                <a:ea typeface="Arial"/>
                <a:cs typeface="Arial"/>
              </a:defRPr>
            </a:pPr>
            <a:r>
              <a:rPr sz="1275" b="0">
                <a:solidFill>
                  <a:srgbClr val="647887"/>
                </a:solidFill>
                <a:latin typeface="Arial"/>
                <a:ea typeface="Arial"/>
                <a:cs typeface="Arial"/>
              </a:rPr>
              <a:t>GenScript · ACROBiosystems</a:t>
            </a:r>
          </a:p>
          <a:p xmlns:a="http://schemas.openxmlformats.org/drawingml/2006/main">
            <a:pPr algn="l">
              <a:lnSpc>
                <a:spcPct val="100000"/>
              </a:lnSpc>
              <a:buNone/>
              <a:defRPr sz="1275" b="0">
                <a:solidFill>
                  <a:srgbClr val="647887"/>
                </a:solidFill>
                <a:latin typeface="Arial"/>
                <a:ea typeface="Arial"/>
                <a:cs typeface="Arial"/>
              </a:defRPr>
            </a:pPr>
            <a:r>
              <a:rPr sz="1275" b="0">
                <a:solidFill>
                  <a:srgbClr val="647887"/>
                </a:solidFill>
                <a:latin typeface="Arial"/>
                <a:ea typeface="Arial"/>
                <a:cs typeface="Arial"/>
              </a:rPr>
              <a:t>Sino Biological · Gibco</a:t>
            </a:r>
          </a:p>
          <a:p xmlns:a="http://schemas.openxmlformats.org/drawingml/2006/main">
            <a:pPr algn="l">
              <a:lnSpc>
                <a:spcPct val="100000"/>
              </a:lnSpc>
              <a:buNone/>
              <a:defRPr sz="1275" b="0">
                <a:solidFill>
                  <a:srgbClr val="647887"/>
                </a:solidFill>
                <a:latin typeface="Arial"/>
                <a:ea typeface="Arial"/>
                <a:cs typeface="Arial"/>
              </a:defRPr>
            </a:pPr>
            <a:r>
              <a:rPr sz="1275" b="0">
                <a:solidFill>
                  <a:srgbClr val="647887"/>
                </a:solidFill>
                <a:latin typeface="Arial"/>
                <a:ea typeface="Arial"/>
                <a:cs typeface="Arial"/>
              </a:rPr>
              <a:t>OPM · Duoning</a:t>
            </a:r>
          </a:p>
        </p:txBody>
      </p:sp>
      <p:sp>
        <p:nvSpPr>
          <p:cNvPr id="53" name="">
            <a:extLst xmlns:a="http://schemas.openxmlformats.org/drawingml/2006/main">
              <a:ext uri="{FF2B5EF4-FFF2-40B4-BE49-F238E27FC236}">
                <a16:creationId xmlns:a16="http://schemas.microsoft.com/office/drawing/2014/main" id="{65DC4087-4175-4405-9C31-E51BA7B21FF1}"/>
              </a:ext>
            </a:extLst>
          </p:cNvPr>
          <p:cNvSpPr>
            <a:spLocks xmlns:a="http://schemas.openxmlformats.org/drawingml/2006/main" noGrp="1"/>
          </p:cNvSpPr>
          <p:nvPr/>
        </p:nvSpPr>
        <p:spPr>
          <a:xfrm xmlns:a="http://schemas.openxmlformats.org/drawingml/2006/main">
            <a:off x="8334375" y="3267075"/>
            <a:ext cx="3476625" cy="7639050"/>
          </a:xfrm>
          <a:prstGeom xmlns:a="http://schemas.openxmlformats.org/drawingml/2006/main" prst="roundRect">
            <a:avLst>
              <a:gd name="adj" fmla="val 3836"/>
            </a:avLst>
          </a:prstGeom>
          <a:solidFill xmlns:a="http://schemas.openxmlformats.org/drawingml/2006/main">
            <a:srgbClr val="EEF3F4"/>
          </a:solidFill>
          <a:ln xmlns:a="http://schemas.openxmlformats.org/drawingml/2006/main" w="9525">
            <a:noFill/>
          </a:ln>
        </p:spPr>
      </p:sp>
      <p:sp>
        <p:nvSpPr>
          <p:cNvPr id="54" name="">
            <a:extLst xmlns:a="http://schemas.openxmlformats.org/drawingml/2006/main">
              <a:ext uri="{FF2B5EF4-FFF2-40B4-BE49-F238E27FC236}">
                <a16:creationId xmlns:a16="http://schemas.microsoft.com/office/drawing/2014/main" id="{48E14948-4BD0-4C2F-90D7-6D583BBC3176}"/>
              </a:ext>
            </a:extLst>
          </p:cNvPr>
          <p:cNvSpPr>
            <a:spLocks xmlns:a="http://schemas.openxmlformats.org/drawingml/2006/main" noGrp="1"/>
          </p:cNvSpPr>
          <p:nvPr/>
        </p:nvSpPr>
        <p:spPr>
          <a:xfrm xmlns:a="http://schemas.openxmlformats.org/drawingml/2006/main">
            <a:off x="8305800" y="3219450"/>
            <a:ext cx="3476625" cy="7639050"/>
          </a:xfrm>
          <a:prstGeom xmlns:a="http://schemas.openxmlformats.org/drawingml/2006/main" prst="roundRect">
            <a:avLst>
              <a:gd name="adj" fmla="val 3836"/>
            </a:avLst>
          </a:prstGeom>
          <a:solidFill xmlns:a="http://schemas.openxmlformats.org/drawingml/2006/main">
            <a:srgbClr val="FFFFFF"/>
          </a:solidFill>
          <a:ln xmlns:a="http://schemas.openxmlformats.org/drawingml/2006/main" w="10478">
            <a:solidFill>
              <a:srgbClr val="D7E3E8"/>
            </a:solidFill>
          </a:ln>
        </p:spPr>
      </p:sp>
      <p:sp>
        <p:nvSpPr>
          <p:cNvPr id="55" name="">
            <a:extLst xmlns:a="http://schemas.openxmlformats.org/drawingml/2006/main">
              <a:ext uri="{FF2B5EF4-FFF2-40B4-BE49-F238E27FC236}">
                <a16:creationId xmlns:a16="http://schemas.microsoft.com/office/drawing/2014/main" id="{59FD0E39-E197-46AC-972F-F69FF505465A}"/>
              </a:ext>
            </a:extLst>
          </p:cNvPr>
          <p:cNvSpPr>
            <a:spLocks xmlns:a="http://schemas.openxmlformats.org/drawingml/2006/main" noGrp="1"/>
          </p:cNvSpPr>
          <p:nvPr/>
        </p:nvSpPr>
        <p:spPr>
          <a:xfrm xmlns:a="http://schemas.openxmlformats.org/drawingml/2006/main">
            <a:off x="8315325" y="3228975"/>
            <a:ext cx="3457575" cy="104775"/>
          </a:xfrm>
          <a:prstGeom xmlns:a="http://schemas.openxmlformats.org/drawingml/2006/main" prst="rect">
            <a:avLst/>
          </a:prstGeom>
          <a:solidFill xmlns:a="http://schemas.openxmlformats.org/drawingml/2006/main">
            <a:srgbClr val="4D8574"/>
          </a:solidFill>
          <a:ln xmlns:a="http://schemas.openxmlformats.org/drawingml/2006/main" w="9525">
            <a:noFill/>
          </a:ln>
        </p:spPr>
      </p:sp>
      <p:sp>
        <p:nvSpPr>
          <p:cNvPr id="56" name="03  /  TEST">
            <a:extLst xmlns:a="http://schemas.openxmlformats.org/drawingml/2006/main">
              <a:ext uri="{FF2B5EF4-FFF2-40B4-BE49-F238E27FC236}">
                <a16:creationId xmlns:a16="http://schemas.microsoft.com/office/drawing/2014/main" id="{D64C9AC9-395F-459A-AE4F-BB8AD9A6DC72}"/>
              </a:ext>
            </a:extLst>
          </p:cNvPr>
          <p:cNvSpPr>
            <a:spLocks xmlns:a="http://schemas.openxmlformats.org/drawingml/2006/main" noGrp="1"/>
          </p:cNvSpPr>
          <p:nvPr/>
        </p:nvSpPr>
        <p:spPr>
          <a:xfrm xmlns:a="http://schemas.openxmlformats.org/drawingml/2006/main">
            <a:off x="8515350" y="3476625"/>
            <a:ext cx="26003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647887"/>
                </a:solidFill>
                <a:latin typeface="Arial"/>
                <a:ea typeface="Arial"/>
                <a:cs typeface="Arial"/>
              </a:defRPr>
            </a:defPPr>
          </a:lstStyle>
          <a:p xmlns:a="http://schemas.openxmlformats.org/drawingml/2006/main">
            <a:pPr algn="l">
              <a:lnSpc>
                <a:spcPct val="100000"/>
              </a:lnSpc>
              <a:buNone/>
              <a:defRPr sz="1500" b="1">
                <a:solidFill>
                  <a:srgbClr val="647887"/>
                </a:solidFill>
                <a:latin typeface="Arial"/>
                <a:ea typeface="Arial"/>
                <a:cs typeface="Arial"/>
              </a:defRPr>
            </a:pPr>
            <a:r>
              <a:rPr sz="1500" b="1">
                <a:solidFill>
                  <a:srgbClr val="647887"/>
                </a:solidFill>
                <a:latin typeface="Arial"/>
                <a:ea typeface="Arial"/>
                <a:cs typeface="Arial"/>
              </a:rPr>
              <a:t>03  /  TEST</a:t>
            </a:r>
          </a:p>
        </p:txBody>
      </p:sp>
      <p:pic>
        <p:nvPicPr>
          <p:cNvPr id="57" name="">
            <a:extLst xmlns:a="http://schemas.openxmlformats.org/drawingml/2006/main">
              <a:ext uri="{FF2B5EF4-FFF2-40B4-BE49-F238E27FC236}">
                <a16:creationId xmlns:a16="http://schemas.microsoft.com/office/drawing/2014/main" id="{DE293141-E47B-4E2C-BDEB-E0B3793E1153}"/>
              </a:ext>
            </a:extLst>
          </p:cNvPr>
          <p:cNvPicPr>
            <a:picLocks xmlns:a="http://schemas.openxmlformats.org/drawingml/2006/main" noChangeAspect="1"/>
          </p:cNvPicPr>
          <p:nvPr/>
        </p:nvPicPr>
        <p:blipFill>
          <a:blip xmlns:r="http://schemas.openxmlformats.org/officeDocument/2006/relationships" xmlns:a="http://schemas.openxmlformats.org/drawingml/2006/main" r:embed="R6a7d6c134a0f4b79">
            <a:extLst>
              <a:ext uri="{96DAC541-7B7A-43D3-8B79-37D633B846F1}">
                <asvg:svgBlip xmlns:asvg="http://schemas.microsoft.com/office/drawing/2016/SVG/main" r:embed="R529aa45b22ba4ea4"/>
              </a:ext>
            </a:extLst>
          </a:blip>
          <a:stretch xmlns:a="http://schemas.openxmlformats.org/drawingml/2006/main"/>
        </p:blipFill>
        <p:spPr>
          <a:xfrm xmlns:a="http://schemas.openxmlformats.org/drawingml/2006/main">
            <a:off x="11182350" y="3448050"/>
            <a:ext cx="371475" cy="371475"/>
          </a:xfrm>
          <a:prstGeom xmlns:a="http://schemas.openxmlformats.org/drawingml/2006/main" prst="rect">
            <a:avLst/>
          </a:prstGeom>
        </p:spPr>
      </p:pic>
      <p:sp>
        <p:nvSpPr>
          <p:cNvPr id="58" name="Primary binding">
            <a:extLst xmlns:a="http://schemas.openxmlformats.org/drawingml/2006/main">
              <a:ext uri="{FF2B5EF4-FFF2-40B4-BE49-F238E27FC236}">
                <a16:creationId xmlns:a16="http://schemas.microsoft.com/office/drawing/2014/main" id="{48DA6F27-34D2-40B6-BC6C-78A43E8FE117}"/>
              </a:ext>
            </a:extLst>
          </p:cNvPr>
          <p:cNvSpPr>
            <a:spLocks xmlns:a="http://schemas.openxmlformats.org/drawingml/2006/main" noGrp="1"/>
          </p:cNvSpPr>
          <p:nvPr/>
        </p:nvSpPr>
        <p:spPr>
          <a:xfrm xmlns:a="http://schemas.openxmlformats.org/drawingml/2006/main">
            <a:off x="8515350" y="3981450"/>
            <a:ext cx="30575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325" b="1">
                <a:solidFill>
                  <a:srgbClr val="152C3A"/>
                </a:solidFill>
                <a:latin typeface="Arial"/>
                <a:ea typeface="Arial"/>
                <a:cs typeface="Arial"/>
              </a:defRPr>
            </a:defPPr>
          </a:lstStyle>
          <a:p xmlns:a="http://schemas.openxmlformats.org/drawingml/2006/main">
            <a:pPr algn="l">
              <a:lnSpc>
                <a:spcPct val="100000"/>
              </a:lnSpc>
              <a:buNone/>
              <a:defRPr sz="2325" b="1">
                <a:solidFill>
                  <a:srgbClr val="152C3A"/>
                </a:solidFill>
                <a:latin typeface="Arial"/>
                <a:ea typeface="Arial"/>
                <a:cs typeface="Arial"/>
              </a:defRPr>
            </a:pPr>
            <a:r>
              <a:rPr sz="2325" b="1">
                <a:solidFill>
                  <a:srgbClr val="152C3A"/>
                </a:solidFill>
                <a:latin typeface="Arial"/>
                <a:ea typeface="Arial"/>
                <a:cs typeface="Arial"/>
              </a:rPr>
              <a:t>Primary binding</a:t>
            </a:r>
          </a:p>
          <a:p xmlns:a="http://schemas.openxmlformats.org/drawingml/2006/main">
            <a:pPr algn="l">
              <a:lnSpc>
                <a:spcPct val="100000"/>
              </a:lnSpc>
              <a:buNone/>
              <a:defRPr sz="2325" b="1">
                <a:solidFill>
                  <a:srgbClr val="152C3A"/>
                </a:solidFill>
                <a:latin typeface="Arial"/>
                <a:ea typeface="Arial"/>
                <a:cs typeface="Arial"/>
              </a:defRPr>
            </a:pPr>
            <a:r>
              <a:rPr sz="2325" b="1">
                <a:solidFill>
                  <a:srgbClr val="152C3A"/>
                </a:solidFill>
                <a:latin typeface="Arial"/>
                <a:ea typeface="Arial"/>
                <a:cs typeface="Arial"/>
              </a:rPr>
              <a:t>screen</a:t>
            </a:r>
          </a:p>
        </p:txBody>
      </p:sp>
      <p:sp>
        <p:nvSpPr>
          <p:cNvPr id="59" name="Identify binders and">
            <a:extLst xmlns:a="http://schemas.openxmlformats.org/drawingml/2006/main">
              <a:ext uri="{FF2B5EF4-FFF2-40B4-BE49-F238E27FC236}">
                <a16:creationId xmlns:a16="http://schemas.microsoft.com/office/drawing/2014/main" id="{654C2590-B073-4045-9093-FF7E520B6166}"/>
              </a:ext>
            </a:extLst>
          </p:cNvPr>
          <p:cNvSpPr>
            <a:spLocks xmlns:a="http://schemas.openxmlformats.org/drawingml/2006/main" noGrp="1"/>
          </p:cNvSpPr>
          <p:nvPr/>
        </p:nvSpPr>
        <p:spPr>
          <a:xfrm xmlns:a="http://schemas.openxmlformats.org/drawingml/2006/main">
            <a:off x="8515350" y="4838700"/>
            <a:ext cx="30575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647887"/>
                </a:solidFill>
                <a:latin typeface="Arial"/>
                <a:ea typeface="Arial"/>
                <a:cs typeface="Arial"/>
              </a:defRPr>
            </a:defPPr>
          </a:lstStyle>
          <a:p xmlns:a="http://schemas.openxmlformats.org/drawingml/2006/main">
            <a:pPr algn="l">
              <a:lnSpc>
                <a:spcPct val="100000"/>
              </a:lnSpc>
              <a:buNone/>
              <a:defRPr sz="1575" b="0">
                <a:solidFill>
                  <a:srgbClr val="647887"/>
                </a:solidFill>
                <a:latin typeface="Arial"/>
                <a:ea typeface="Arial"/>
                <a:cs typeface="Arial"/>
              </a:defRPr>
            </a:pPr>
            <a:r>
              <a:rPr sz="1575" b="0">
                <a:solidFill>
                  <a:srgbClr val="647887"/>
                </a:solidFill>
                <a:latin typeface="Arial"/>
                <a:ea typeface="Arial"/>
                <a:cs typeface="Arial"/>
              </a:rPr>
              <a:t>Identify binders and</a:t>
            </a:r>
          </a:p>
          <a:p xmlns:a="http://schemas.openxmlformats.org/drawingml/2006/main">
            <a:pPr algn="l">
              <a:lnSpc>
                <a:spcPct val="100000"/>
              </a:lnSpc>
              <a:buNone/>
              <a:defRPr sz="1575" b="0">
                <a:solidFill>
                  <a:srgbClr val="647887"/>
                </a:solidFill>
                <a:latin typeface="Arial"/>
                <a:ea typeface="Arial"/>
                <a:cs typeface="Arial"/>
              </a:defRPr>
            </a:pPr>
            <a:r>
              <a:rPr sz="1575" b="0">
                <a:solidFill>
                  <a:srgbClr val="647887"/>
                </a:solidFill>
                <a:latin typeface="Arial"/>
                <a:ea typeface="Arial"/>
                <a:cs typeface="Arial"/>
              </a:rPr>
              <a:t>rank initial binding signals</a:t>
            </a:r>
          </a:p>
        </p:txBody>
      </p:sp>
      <p:sp>
        <p:nvSpPr>
          <p:cNvPr id="60" name="">
            <a:extLst xmlns:a="http://schemas.openxmlformats.org/drawingml/2006/main">
              <a:ext uri="{FF2B5EF4-FFF2-40B4-BE49-F238E27FC236}">
                <a16:creationId xmlns:a16="http://schemas.microsoft.com/office/drawing/2014/main" id="{990D6753-CA67-4D2C-B2D9-8730BD8C5304}"/>
              </a:ext>
            </a:extLst>
          </p:cNvPr>
          <p:cNvSpPr>
            <a:spLocks xmlns:a="http://schemas.openxmlformats.org/drawingml/2006/main" noGrp="1"/>
          </p:cNvSpPr>
          <p:nvPr/>
        </p:nvSpPr>
        <p:spPr>
          <a:xfrm xmlns:a="http://schemas.openxmlformats.org/drawingml/2006/main">
            <a:off x="8467725" y="5505450"/>
            <a:ext cx="3152775" cy="714375"/>
          </a:xfrm>
          <a:prstGeom xmlns:a="http://schemas.openxmlformats.org/drawingml/2006/main" prst="roundRect">
            <a:avLst>
              <a:gd name="adj" fmla="val 9333"/>
            </a:avLst>
          </a:prstGeom>
          <a:solidFill xmlns:a="http://schemas.openxmlformats.org/drawingml/2006/main">
            <a:srgbClr val="F5F8F9"/>
          </a:solidFill>
          <a:ln xmlns:a="http://schemas.openxmlformats.org/drawingml/2006/main" w="9525">
            <a:noFill/>
          </a:ln>
        </p:spPr>
      </p:sp>
      <p:sp>
        <p:nvSpPr>
          <p:cNvPr id="61" name="OUTPUT">
            <a:extLst xmlns:a="http://schemas.openxmlformats.org/drawingml/2006/main">
              <a:ext uri="{FF2B5EF4-FFF2-40B4-BE49-F238E27FC236}">
                <a16:creationId xmlns:a16="http://schemas.microsoft.com/office/drawing/2014/main" id="{FE0AC1DE-084C-43F8-8B34-D3343DCC7BDC}"/>
              </a:ext>
            </a:extLst>
          </p:cNvPr>
          <p:cNvSpPr>
            <a:spLocks xmlns:a="http://schemas.openxmlformats.org/drawingml/2006/main" noGrp="1"/>
          </p:cNvSpPr>
          <p:nvPr/>
        </p:nvSpPr>
        <p:spPr>
          <a:xfrm xmlns:a="http://schemas.openxmlformats.org/drawingml/2006/main">
            <a:off x="8572500" y="5610225"/>
            <a:ext cx="2943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1">
                <a:solidFill>
                  <a:srgbClr val="647887"/>
                </a:solidFill>
                <a:latin typeface="Arial"/>
                <a:ea typeface="Arial"/>
                <a:cs typeface="Arial"/>
              </a:defRPr>
            </a:defPPr>
          </a:lstStyle>
          <a:p xmlns:a="http://schemas.openxmlformats.org/drawingml/2006/main">
            <a:pPr algn="l">
              <a:lnSpc>
                <a:spcPct val="100000"/>
              </a:lnSpc>
              <a:buNone/>
              <a:defRPr sz="1088" b="1">
                <a:solidFill>
                  <a:srgbClr val="647887"/>
                </a:solidFill>
                <a:latin typeface="Arial"/>
                <a:ea typeface="Arial"/>
                <a:cs typeface="Arial"/>
              </a:defRPr>
            </a:pPr>
            <a:r>
              <a:rPr sz="1088" b="1">
                <a:solidFill>
                  <a:srgbClr val="647887"/>
                </a:solidFill>
                <a:latin typeface="Arial"/>
                <a:ea typeface="Arial"/>
                <a:cs typeface="Arial"/>
              </a:rPr>
              <a:t>OUTPUT</a:t>
            </a:r>
          </a:p>
        </p:txBody>
      </p:sp>
      <p:sp>
        <p:nvSpPr>
          <p:cNvPr id="62" name="Hit / binding signal">
            <a:extLst xmlns:a="http://schemas.openxmlformats.org/drawingml/2006/main">
              <a:ext uri="{FF2B5EF4-FFF2-40B4-BE49-F238E27FC236}">
                <a16:creationId xmlns:a16="http://schemas.microsoft.com/office/drawing/2014/main" id="{D3B52D94-2284-4438-8B86-73A94DCA1137}"/>
              </a:ext>
            </a:extLst>
          </p:cNvPr>
          <p:cNvSpPr>
            <a:spLocks xmlns:a="http://schemas.openxmlformats.org/drawingml/2006/main" noGrp="1"/>
          </p:cNvSpPr>
          <p:nvPr/>
        </p:nvSpPr>
        <p:spPr>
          <a:xfrm xmlns:a="http://schemas.openxmlformats.org/drawingml/2006/main">
            <a:off x="8572500" y="5895975"/>
            <a:ext cx="2943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7D80"/>
                </a:solidFill>
                <a:latin typeface="Arial"/>
                <a:ea typeface="Arial"/>
                <a:cs typeface="Arial"/>
              </a:defRPr>
            </a:defPPr>
          </a:lstStyle>
          <a:p xmlns:a="http://schemas.openxmlformats.org/drawingml/2006/main">
            <a:pPr algn="l">
              <a:lnSpc>
                <a:spcPct val="100000"/>
              </a:lnSpc>
              <a:buNone/>
              <a:defRPr sz="1500" b="1">
                <a:solidFill>
                  <a:srgbClr val="007D80"/>
                </a:solidFill>
                <a:latin typeface="Arial"/>
                <a:ea typeface="Arial"/>
                <a:cs typeface="Arial"/>
              </a:defRPr>
            </a:pPr>
            <a:r>
              <a:rPr sz="1500" b="1">
                <a:solidFill>
                  <a:srgbClr val="007D80"/>
                </a:solidFill>
                <a:latin typeface="Arial"/>
                <a:ea typeface="Arial"/>
                <a:cs typeface="Arial"/>
              </a:rPr>
              <a:t>Hit / binding signal</a:t>
            </a:r>
          </a:p>
        </p:txBody>
      </p:sp>
      <p:sp>
        <p:nvSpPr>
          <p:cNvPr id="63" name="REAGENTS">
            <a:extLst xmlns:a="http://schemas.openxmlformats.org/drawingml/2006/main">
              <a:ext uri="{FF2B5EF4-FFF2-40B4-BE49-F238E27FC236}">
                <a16:creationId xmlns:a16="http://schemas.microsoft.com/office/drawing/2014/main" id="{8236A229-1A90-4962-B9BE-AFA36904F95A}"/>
              </a:ext>
            </a:extLst>
          </p:cNvPr>
          <p:cNvSpPr>
            <a:spLocks xmlns:a="http://schemas.openxmlformats.org/drawingml/2006/main" noGrp="1"/>
          </p:cNvSpPr>
          <p:nvPr/>
        </p:nvSpPr>
        <p:spPr>
          <a:xfrm xmlns:a="http://schemas.openxmlformats.org/drawingml/2006/main">
            <a:off x="8515350" y="62865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647887"/>
                </a:solidFill>
                <a:latin typeface="Arial"/>
                <a:ea typeface="Arial"/>
                <a:cs typeface="Arial"/>
              </a:defRPr>
            </a:defPPr>
          </a:lstStyle>
          <a:p xmlns:a="http://schemas.openxmlformats.org/drawingml/2006/main">
            <a:pPr algn="l">
              <a:lnSpc>
                <a:spcPct val="100000"/>
              </a:lnSpc>
              <a:buNone/>
              <a:defRPr sz="1238" b="1">
                <a:solidFill>
                  <a:srgbClr val="647887"/>
                </a:solidFill>
                <a:latin typeface="Arial"/>
                <a:ea typeface="Arial"/>
                <a:cs typeface="Arial"/>
              </a:defRPr>
            </a:pPr>
            <a:r>
              <a:rPr sz="1238" b="1">
                <a:solidFill>
                  <a:srgbClr val="647887"/>
                </a:solidFill>
                <a:latin typeface="Arial"/>
                <a:ea typeface="Arial"/>
                <a:cs typeface="Arial"/>
              </a:rPr>
              <a:t>REAGENTS</a:t>
            </a:r>
          </a:p>
        </p:txBody>
      </p:sp>
      <p:sp>
        <p:nvSpPr>
          <p:cNvPr id="64" name="Recombinant target proteins">
            <a:extLst xmlns:a="http://schemas.openxmlformats.org/drawingml/2006/main">
              <a:ext uri="{FF2B5EF4-FFF2-40B4-BE49-F238E27FC236}">
                <a16:creationId xmlns:a16="http://schemas.microsoft.com/office/drawing/2014/main" id="{D83A6C26-52F7-4685-85A6-4E17482A5455}"/>
              </a:ext>
            </a:extLst>
          </p:cNvPr>
          <p:cNvSpPr>
            <a:spLocks xmlns:a="http://schemas.openxmlformats.org/drawingml/2006/main" noGrp="1"/>
          </p:cNvSpPr>
          <p:nvPr/>
        </p:nvSpPr>
        <p:spPr>
          <a:xfrm xmlns:a="http://schemas.openxmlformats.org/drawingml/2006/main">
            <a:off x="8515350" y="65627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152C3A"/>
                </a:solidFill>
                <a:latin typeface="Arial"/>
                <a:ea typeface="Arial"/>
                <a:cs typeface="Arial"/>
              </a:defRPr>
            </a:defPPr>
          </a:lstStyle>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Recombinant target proteins</a:t>
            </a:r>
          </a:p>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Antibody candidates</a:t>
            </a:r>
          </a:p>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Detection reagents, buffers</a:t>
            </a:r>
          </a:p>
        </p:txBody>
      </p:sp>
      <p:sp>
        <p:nvSpPr>
          <p:cNvPr id="65" name="INSTRUMENTS">
            <a:extLst xmlns:a="http://schemas.openxmlformats.org/drawingml/2006/main">
              <a:ext uri="{FF2B5EF4-FFF2-40B4-BE49-F238E27FC236}">
                <a16:creationId xmlns:a16="http://schemas.microsoft.com/office/drawing/2014/main" id="{B719E325-AC72-440E-8ACD-90C054061810}"/>
              </a:ext>
            </a:extLst>
          </p:cNvPr>
          <p:cNvSpPr>
            <a:spLocks xmlns:a="http://schemas.openxmlformats.org/drawingml/2006/main" noGrp="1"/>
          </p:cNvSpPr>
          <p:nvPr/>
        </p:nvSpPr>
        <p:spPr>
          <a:xfrm xmlns:a="http://schemas.openxmlformats.org/drawingml/2006/main">
            <a:off x="8515350" y="72390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647887"/>
                </a:solidFill>
                <a:latin typeface="Arial"/>
                <a:ea typeface="Arial"/>
                <a:cs typeface="Arial"/>
              </a:defRPr>
            </a:defPPr>
          </a:lstStyle>
          <a:p xmlns:a="http://schemas.openxmlformats.org/drawingml/2006/main">
            <a:pPr algn="l">
              <a:lnSpc>
                <a:spcPct val="100000"/>
              </a:lnSpc>
              <a:buNone/>
              <a:defRPr sz="1238" b="1">
                <a:solidFill>
                  <a:srgbClr val="647887"/>
                </a:solidFill>
                <a:latin typeface="Arial"/>
                <a:ea typeface="Arial"/>
                <a:cs typeface="Arial"/>
              </a:defRPr>
            </a:pPr>
            <a:r>
              <a:rPr sz="1238" b="1">
                <a:solidFill>
                  <a:srgbClr val="647887"/>
                </a:solidFill>
                <a:latin typeface="Arial"/>
                <a:ea typeface="Arial"/>
                <a:cs typeface="Arial"/>
              </a:rPr>
              <a:t>INSTRUMENTS</a:t>
            </a:r>
          </a:p>
        </p:txBody>
      </p:sp>
      <p:sp>
        <p:nvSpPr>
          <p:cNvPr id="66" name="ELISA / plate reader">
            <a:extLst xmlns:a="http://schemas.openxmlformats.org/drawingml/2006/main">
              <a:ext uri="{FF2B5EF4-FFF2-40B4-BE49-F238E27FC236}">
                <a16:creationId xmlns:a16="http://schemas.microsoft.com/office/drawing/2014/main" id="{99DD8429-5BF2-43F3-AC3D-80333E403C70}"/>
              </a:ext>
            </a:extLst>
          </p:cNvPr>
          <p:cNvSpPr>
            <a:spLocks xmlns:a="http://schemas.openxmlformats.org/drawingml/2006/main" noGrp="1"/>
          </p:cNvSpPr>
          <p:nvPr/>
        </p:nvSpPr>
        <p:spPr>
          <a:xfrm xmlns:a="http://schemas.openxmlformats.org/drawingml/2006/main">
            <a:off x="8515350" y="75152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152C3A"/>
                </a:solidFill>
                <a:latin typeface="Arial"/>
                <a:ea typeface="Arial"/>
                <a:cs typeface="Arial"/>
              </a:defRPr>
            </a:defPPr>
          </a:lstStyle>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ELISA / plate reader</a:t>
            </a:r>
          </a:p>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BLI or SPR platform</a:t>
            </a:r>
          </a:p>
        </p:txBody>
      </p:sp>
      <p:sp>
        <p:nvSpPr>
          <p:cNvPr id="67" name="CONSUMABLES">
            <a:extLst xmlns:a="http://schemas.openxmlformats.org/drawingml/2006/main">
              <a:ext uri="{FF2B5EF4-FFF2-40B4-BE49-F238E27FC236}">
                <a16:creationId xmlns:a16="http://schemas.microsoft.com/office/drawing/2014/main" id="{BB0FFFC5-8960-4EF9-8EAC-B5F7944718DE}"/>
              </a:ext>
            </a:extLst>
          </p:cNvPr>
          <p:cNvSpPr>
            <a:spLocks xmlns:a="http://schemas.openxmlformats.org/drawingml/2006/main" noGrp="1"/>
          </p:cNvSpPr>
          <p:nvPr/>
        </p:nvSpPr>
        <p:spPr>
          <a:xfrm xmlns:a="http://schemas.openxmlformats.org/drawingml/2006/main">
            <a:off x="8515350" y="81915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647887"/>
                </a:solidFill>
                <a:latin typeface="Arial"/>
                <a:ea typeface="Arial"/>
                <a:cs typeface="Arial"/>
              </a:defRPr>
            </a:defPPr>
          </a:lstStyle>
          <a:p xmlns:a="http://schemas.openxmlformats.org/drawingml/2006/main">
            <a:pPr algn="l">
              <a:lnSpc>
                <a:spcPct val="100000"/>
              </a:lnSpc>
              <a:buNone/>
              <a:defRPr sz="1238" b="1">
                <a:solidFill>
                  <a:srgbClr val="647887"/>
                </a:solidFill>
                <a:latin typeface="Arial"/>
                <a:ea typeface="Arial"/>
                <a:cs typeface="Arial"/>
              </a:defRPr>
            </a:pPr>
            <a:r>
              <a:rPr sz="1238" b="1">
                <a:solidFill>
                  <a:srgbClr val="647887"/>
                </a:solidFill>
                <a:latin typeface="Arial"/>
                <a:ea typeface="Arial"/>
                <a:cs typeface="Arial"/>
              </a:rPr>
              <a:t>CONSUMABLES</a:t>
            </a:r>
          </a:p>
        </p:txBody>
      </p:sp>
      <p:sp>
        <p:nvSpPr>
          <p:cNvPr id="68" name="96 / 384-well plates">
            <a:extLst xmlns:a="http://schemas.openxmlformats.org/drawingml/2006/main">
              <a:ext uri="{FF2B5EF4-FFF2-40B4-BE49-F238E27FC236}">
                <a16:creationId xmlns:a16="http://schemas.microsoft.com/office/drawing/2014/main" id="{3C85BA81-69F8-4130-90FB-BE89D8DB5566}"/>
              </a:ext>
            </a:extLst>
          </p:cNvPr>
          <p:cNvSpPr>
            <a:spLocks xmlns:a="http://schemas.openxmlformats.org/drawingml/2006/main" noGrp="1"/>
          </p:cNvSpPr>
          <p:nvPr/>
        </p:nvSpPr>
        <p:spPr>
          <a:xfrm xmlns:a="http://schemas.openxmlformats.org/drawingml/2006/main">
            <a:off x="8515350" y="84677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152C3A"/>
                </a:solidFill>
                <a:latin typeface="Arial"/>
                <a:ea typeface="Arial"/>
                <a:cs typeface="Arial"/>
              </a:defRPr>
            </a:defPPr>
          </a:lstStyle>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96 / 384-well plates</a:t>
            </a:r>
          </a:p>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BLI sensors / SPR chips</a:t>
            </a:r>
          </a:p>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Sealing films, sample tubes</a:t>
            </a:r>
          </a:p>
        </p:txBody>
      </p:sp>
      <p:sp>
        <p:nvSpPr>
          <p:cNvPr id="69" name="">
            <a:extLst xmlns:a="http://schemas.openxmlformats.org/drawingml/2006/main">
              <a:ext uri="{FF2B5EF4-FFF2-40B4-BE49-F238E27FC236}">
                <a16:creationId xmlns:a16="http://schemas.microsoft.com/office/drawing/2014/main" id="{80C660FB-BDA1-4248-9453-D88ADE0DC198}"/>
              </a:ext>
            </a:extLst>
          </p:cNvPr>
          <p:cNvSpPr>
            <a:spLocks xmlns:a="http://schemas.openxmlformats.org/drawingml/2006/main" noGrp="1"/>
          </p:cNvSpPr>
          <p:nvPr/>
        </p:nvSpPr>
        <p:spPr>
          <a:xfrm xmlns:a="http://schemas.openxmlformats.org/drawingml/2006/main">
            <a:off x="8515350" y="9239250"/>
            <a:ext cx="3057525" cy="953"/>
          </a:xfrm>
          <a:custGeom xmlns:a="http://schemas.openxmlformats.org/drawingml/2006/main">
            <a:pathLst>
              <a:path w="3057525" h="953">
                <a:moveTo>
                  <a:pt x="0" y="0"/>
                </a:moveTo>
                <a:lnTo>
                  <a:pt x="3057525" y="0"/>
                </a:lnTo>
              </a:path>
            </a:pathLst>
          </a:custGeom>
          <a:noFill xmlns:a="http://schemas.openxmlformats.org/drawingml/2006/main"/>
          <a:ln xmlns:a="http://schemas.openxmlformats.org/drawingml/2006/main" w="9525">
            <a:solidFill>
              <a:srgbClr val="D7E3E8"/>
            </a:solidFill>
          </a:ln>
        </p:spPr>
      </p:sp>
      <p:sp>
        <p:nvSpPr>
          <p:cNvPr id="70" name="REPRESENTATIVE SUPPLIERS">
            <a:extLst xmlns:a="http://schemas.openxmlformats.org/drawingml/2006/main">
              <a:ext uri="{FF2B5EF4-FFF2-40B4-BE49-F238E27FC236}">
                <a16:creationId xmlns:a16="http://schemas.microsoft.com/office/drawing/2014/main" id="{1227D1B1-901E-46E7-8E5C-E45DD8E4FF69}"/>
              </a:ext>
            </a:extLst>
          </p:cNvPr>
          <p:cNvSpPr>
            <a:spLocks xmlns:a="http://schemas.openxmlformats.org/drawingml/2006/main" noGrp="1"/>
          </p:cNvSpPr>
          <p:nvPr/>
        </p:nvSpPr>
        <p:spPr>
          <a:xfrm xmlns:a="http://schemas.openxmlformats.org/drawingml/2006/main">
            <a:off x="8515350" y="9372600"/>
            <a:ext cx="30575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63" b="1">
                <a:solidFill>
                  <a:srgbClr val="647887"/>
                </a:solidFill>
                <a:latin typeface="Arial"/>
                <a:ea typeface="Arial"/>
                <a:cs typeface="Arial"/>
              </a:defRPr>
            </a:defPPr>
          </a:lstStyle>
          <a:p xmlns:a="http://schemas.openxmlformats.org/drawingml/2006/main">
            <a:pPr algn="l">
              <a:lnSpc>
                <a:spcPct val="100000"/>
              </a:lnSpc>
              <a:buNone/>
              <a:defRPr sz="1163" b="1">
                <a:solidFill>
                  <a:srgbClr val="647887"/>
                </a:solidFill>
                <a:latin typeface="Arial"/>
                <a:ea typeface="Arial"/>
                <a:cs typeface="Arial"/>
              </a:defRPr>
            </a:pPr>
            <a:r>
              <a:rPr sz="1163" b="1">
                <a:solidFill>
                  <a:srgbClr val="647887"/>
                </a:solidFill>
                <a:latin typeface="Arial"/>
                <a:ea typeface="Arial"/>
                <a:cs typeface="Arial"/>
              </a:rPr>
              <a:t>REPRESENTATIVE SUPPLIERS</a:t>
            </a:r>
          </a:p>
        </p:txBody>
      </p:sp>
      <p:pic>
        <p:nvPicPr>
          <p:cNvPr id="71" name="">
            <a:extLst xmlns:a="http://schemas.openxmlformats.org/drawingml/2006/main">
              <a:ext uri="{FF2B5EF4-FFF2-40B4-BE49-F238E27FC236}">
                <a16:creationId xmlns:a16="http://schemas.microsoft.com/office/drawing/2014/main" id="{B3FA91BE-9AC4-4C73-9F9F-12F3F007B9A8}"/>
              </a:ext>
            </a:extLst>
          </p:cNvPr>
          <p:cNvPicPr>
            <a:picLocks xmlns:a="http://schemas.openxmlformats.org/drawingml/2006/main" noChangeAspect="1"/>
          </p:cNvPicPr>
          <p:nvPr/>
        </p:nvPicPr>
        <p:blipFill>
          <a:blip xmlns:r="http://schemas.openxmlformats.org/officeDocument/2006/relationships" xmlns:a="http://schemas.openxmlformats.org/drawingml/2006/main" r:embed="Rf5e0dfa57d844fc1"/>
          <a:stretch xmlns:a="http://schemas.openxmlformats.org/drawingml/2006/main"/>
        </p:blipFill>
        <p:spPr>
          <a:xfrm xmlns:a="http://schemas.openxmlformats.org/drawingml/2006/main">
            <a:off x="8565518" y="9648825"/>
            <a:ext cx="1385564" cy="447675"/>
          </a:xfrm>
          <a:prstGeom xmlns:a="http://schemas.openxmlformats.org/drawingml/2006/main" prst="rect">
            <a:avLst/>
          </a:prstGeom>
        </p:spPr>
      </p:pic>
      <p:sp>
        <p:nvSpPr>
          <p:cNvPr id="72" name="Sino Biological · Bioss">
            <a:extLst xmlns:a="http://schemas.openxmlformats.org/drawingml/2006/main">
              <a:ext uri="{FF2B5EF4-FFF2-40B4-BE49-F238E27FC236}">
                <a16:creationId xmlns:a16="http://schemas.microsoft.com/office/drawing/2014/main" id="{41F2831D-94B2-4F8A-9360-00F560101A1C}"/>
              </a:ext>
            </a:extLst>
          </p:cNvPr>
          <p:cNvSpPr>
            <a:spLocks xmlns:a="http://schemas.openxmlformats.org/drawingml/2006/main" noGrp="1"/>
          </p:cNvSpPr>
          <p:nvPr/>
        </p:nvSpPr>
        <p:spPr>
          <a:xfrm xmlns:a="http://schemas.openxmlformats.org/drawingml/2006/main">
            <a:off x="8515350" y="10210800"/>
            <a:ext cx="30575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647887"/>
                </a:solidFill>
                <a:latin typeface="Arial"/>
                <a:ea typeface="Arial"/>
                <a:cs typeface="Arial"/>
              </a:defRPr>
            </a:defPPr>
          </a:lstStyle>
          <a:p xmlns:a="http://schemas.openxmlformats.org/drawingml/2006/main">
            <a:pPr algn="l">
              <a:lnSpc>
                <a:spcPct val="100000"/>
              </a:lnSpc>
              <a:buNone/>
              <a:defRPr sz="1275" b="0">
                <a:solidFill>
                  <a:srgbClr val="647887"/>
                </a:solidFill>
                <a:latin typeface="Arial"/>
                <a:ea typeface="Arial"/>
                <a:cs typeface="Arial"/>
              </a:defRPr>
            </a:pPr>
            <a:r>
              <a:rPr sz="1275" b="0">
                <a:solidFill>
                  <a:srgbClr val="647887"/>
                </a:solidFill>
                <a:latin typeface="Arial"/>
                <a:ea typeface="Arial"/>
                <a:cs typeface="Arial"/>
              </a:rPr>
              <a:t>Sino Biological · Bioss</a:t>
            </a:r>
          </a:p>
          <a:p xmlns:a="http://schemas.openxmlformats.org/drawingml/2006/main">
            <a:pPr algn="l">
              <a:lnSpc>
                <a:spcPct val="100000"/>
              </a:lnSpc>
              <a:buNone/>
              <a:defRPr sz="1275" b="0">
                <a:solidFill>
                  <a:srgbClr val="647887"/>
                </a:solidFill>
                <a:latin typeface="Arial"/>
                <a:ea typeface="Arial"/>
                <a:cs typeface="Arial"/>
              </a:defRPr>
            </a:pPr>
            <a:r>
              <a:rPr sz="1275" b="0">
                <a:solidFill>
                  <a:srgbClr val="647887"/>
                </a:solidFill>
                <a:latin typeface="Arial"/>
                <a:ea typeface="Arial"/>
                <a:cs typeface="Arial"/>
              </a:rPr>
              <a:t>Sartorius · Cytiva · Tecan</a:t>
            </a:r>
          </a:p>
          <a:p xmlns:a="http://schemas.openxmlformats.org/drawingml/2006/main">
            <a:pPr algn="l">
              <a:lnSpc>
                <a:spcPct val="100000"/>
              </a:lnSpc>
              <a:buNone/>
              <a:defRPr sz="1275" b="0">
                <a:solidFill>
                  <a:srgbClr val="647887"/>
                </a:solidFill>
                <a:latin typeface="Arial"/>
                <a:ea typeface="Arial"/>
                <a:cs typeface="Arial"/>
              </a:defRPr>
            </a:pPr>
            <a:r>
              <a:rPr sz="1275" b="0">
                <a:solidFill>
                  <a:srgbClr val="647887"/>
                </a:solidFill>
                <a:latin typeface="Arial"/>
                <a:ea typeface="Arial"/>
                <a:cs typeface="Arial"/>
              </a:rPr>
              <a:t>JET Biofil</a:t>
            </a:r>
          </a:p>
        </p:txBody>
      </p:sp>
      <p:sp>
        <p:nvSpPr>
          <p:cNvPr id="73" name="">
            <a:extLst xmlns:a="http://schemas.openxmlformats.org/drawingml/2006/main">
              <a:ext uri="{FF2B5EF4-FFF2-40B4-BE49-F238E27FC236}">
                <a16:creationId xmlns:a16="http://schemas.microsoft.com/office/drawing/2014/main" id="{3803CE5C-C40B-44B7-ABBD-69996A7540B4}"/>
              </a:ext>
            </a:extLst>
          </p:cNvPr>
          <p:cNvSpPr>
            <a:spLocks xmlns:a="http://schemas.openxmlformats.org/drawingml/2006/main" noGrp="1"/>
          </p:cNvSpPr>
          <p:nvPr/>
        </p:nvSpPr>
        <p:spPr>
          <a:xfrm xmlns:a="http://schemas.openxmlformats.org/drawingml/2006/main">
            <a:off x="12011025" y="3267075"/>
            <a:ext cx="3667125" cy="7639050"/>
          </a:xfrm>
          <a:prstGeom xmlns:a="http://schemas.openxmlformats.org/drawingml/2006/main" prst="roundRect">
            <a:avLst>
              <a:gd name="adj" fmla="val 3636"/>
            </a:avLst>
          </a:prstGeom>
          <a:solidFill xmlns:a="http://schemas.openxmlformats.org/drawingml/2006/main">
            <a:srgbClr val="EEF3F4"/>
          </a:solidFill>
          <a:ln xmlns:a="http://schemas.openxmlformats.org/drawingml/2006/main" w="9525">
            <a:noFill/>
          </a:ln>
        </p:spPr>
      </p:sp>
      <p:sp>
        <p:nvSpPr>
          <p:cNvPr id="74" name="">
            <a:extLst xmlns:a="http://schemas.openxmlformats.org/drawingml/2006/main">
              <a:ext uri="{FF2B5EF4-FFF2-40B4-BE49-F238E27FC236}">
                <a16:creationId xmlns:a16="http://schemas.microsoft.com/office/drawing/2014/main" id="{3B34786F-7C70-455F-AD8A-916B503A28F9}"/>
              </a:ext>
            </a:extLst>
          </p:cNvPr>
          <p:cNvSpPr>
            <a:spLocks xmlns:a="http://schemas.openxmlformats.org/drawingml/2006/main" noGrp="1"/>
          </p:cNvSpPr>
          <p:nvPr/>
        </p:nvSpPr>
        <p:spPr>
          <a:xfrm xmlns:a="http://schemas.openxmlformats.org/drawingml/2006/main">
            <a:off x="11982450" y="3219450"/>
            <a:ext cx="3667125" cy="76390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16193">
            <a:solidFill>
              <a:srgbClr val="74B6AC"/>
            </a:solidFill>
          </a:ln>
        </p:spPr>
      </p:sp>
      <p:sp>
        <p:nvSpPr>
          <p:cNvPr id="75" name="">
            <a:extLst xmlns:a="http://schemas.openxmlformats.org/drawingml/2006/main">
              <a:ext uri="{FF2B5EF4-FFF2-40B4-BE49-F238E27FC236}">
                <a16:creationId xmlns:a16="http://schemas.microsoft.com/office/drawing/2014/main" id="{7841F2DF-F5FF-477E-9859-E818FA97A8FE}"/>
              </a:ext>
            </a:extLst>
          </p:cNvPr>
          <p:cNvSpPr>
            <a:spLocks xmlns:a="http://schemas.openxmlformats.org/drawingml/2006/main" noGrp="1"/>
          </p:cNvSpPr>
          <p:nvPr/>
        </p:nvSpPr>
        <p:spPr>
          <a:xfrm xmlns:a="http://schemas.openxmlformats.org/drawingml/2006/main">
            <a:off x="11991975" y="3228975"/>
            <a:ext cx="3648075" cy="104775"/>
          </a:xfrm>
          <a:prstGeom xmlns:a="http://schemas.openxmlformats.org/drawingml/2006/main" prst="rect">
            <a:avLst/>
          </a:prstGeom>
          <a:solidFill xmlns:a="http://schemas.openxmlformats.org/drawingml/2006/main">
            <a:srgbClr val="007D80"/>
          </a:solidFill>
          <a:ln xmlns:a="http://schemas.openxmlformats.org/drawingml/2006/main" w="9525">
            <a:noFill/>
          </a:ln>
        </p:spPr>
      </p:sp>
      <p:sp>
        <p:nvSpPr>
          <p:cNvPr id="76" name="04  /  TEST">
            <a:extLst xmlns:a="http://schemas.openxmlformats.org/drawingml/2006/main">
              <a:ext uri="{FF2B5EF4-FFF2-40B4-BE49-F238E27FC236}">
                <a16:creationId xmlns:a16="http://schemas.microsoft.com/office/drawing/2014/main" id="{71029709-B494-4A13-B447-09F435B5371C}"/>
              </a:ext>
            </a:extLst>
          </p:cNvPr>
          <p:cNvSpPr>
            <a:spLocks xmlns:a="http://schemas.openxmlformats.org/drawingml/2006/main" noGrp="1"/>
          </p:cNvSpPr>
          <p:nvPr/>
        </p:nvSpPr>
        <p:spPr>
          <a:xfrm xmlns:a="http://schemas.openxmlformats.org/drawingml/2006/main">
            <a:off x="12192000" y="3476625"/>
            <a:ext cx="2790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7D80"/>
                </a:solidFill>
                <a:latin typeface="Arial"/>
                <a:ea typeface="Arial"/>
                <a:cs typeface="Arial"/>
              </a:defRPr>
            </a:defPPr>
          </a:lstStyle>
          <a:p xmlns:a="http://schemas.openxmlformats.org/drawingml/2006/main">
            <a:pPr algn="l">
              <a:lnSpc>
                <a:spcPct val="100000"/>
              </a:lnSpc>
              <a:buNone/>
              <a:defRPr sz="1500" b="1">
                <a:solidFill>
                  <a:srgbClr val="007D80"/>
                </a:solidFill>
                <a:latin typeface="Arial"/>
                <a:ea typeface="Arial"/>
                <a:cs typeface="Arial"/>
              </a:defRPr>
            </a:pPr>
            <a:r>
              <a:rPr sz="1500" b="1">
                <a:solidFill>
                  <a:srgbClr val="007D80"/>
                </a:solidFill>
                <a:latin typeface="Arial"/>
                <a:ea typeface="Arial"/>
                <a:cs typeface="Arial"/>
              </a:rPr>
              <a:t>04  /  TEST</a:t>
            </a:r>
          </a:p>
        </p:txBody>
      </p:sp>
      <p:pic>
        <p:nvPicPr>
          <p:cNvPr id="77" name="">
            <a:extLst xmlns:a="http://schemas.openxmlformats.org/drawingml/2006/main">
              <a:ext uri="{FF2B5EF4-FFF2-40B4-BE49-F238E27FC236}">
                <a16:creationId xmlns:a16="http://schemas.microsoft.com/office/drawing/2014/main" id="{4892AF35-15C5-47B4-8C06-FF0C7687F1E7}"/>
              </a:ext>
            </a:extLst>
          </p:cNvPr>
          <p:cNvPicPr>
            <a:picLocks xmlns:a="http://schemas.openxmlformats.org/drawingml/2006/main" noChangeAspect="1"/>
          </p:cNvPicPr>
          <p:nvPr/>
        </p:nvPicPr>
        <p:blipFill>
          <a:blip xmlns:r="http://schemas.openxmlformats.org/officeDocument/2006/relationships" xmlns:a="http://schemas.openxmlformats.org/drawingml/2006/main" r:embed="Rdc4019309e404978">
            <a:extLst>
              <a:ext uri="{96DAC541-7B7A-43D3-8B79-37D633B846F1}">
                <asvg:svgBlip xmlns:asvg="http://schemas.microsoft.com/office/drawing/2016/SVG/main" r:embed="R4bed151f2b9745b3"/>
              </a:ext>
            </a:extLst>
          </a:blip>
          <a:stretch xmlns:a="http://schemas.openxmlformats.org/drawingml/2006/main"/>
        </p:blipFill>
        <p:spPr>
          <a:xfrm xmlns:a="http://schemas.openxmlformats.org/drawingml/2006/main">
            <a:off x="15049500" y="3448050"/>
            <a:ext cx="371475" cy="371475"/>
          </a:xfrm>
          <a:prstGeom xmlns:a="http://schemas.openxmlformats.org/drawingml/2006/main" prst="rect">
            <a:avLst/>
          </a:prstGeom>
        </p:spPr>
      </p:pic>
      <p:sp>
        <p:nvSpPr>
          <p:cNvPr id="78" name="Multi-property">
            <a:extLst xmlns:a="http://schemas.openxmlformats.org/drawingml/2006/main">
              <a:ext uri="{FF2B5EF4-FFF2-40B4-BE49-F238E27FC236}">
                <a16:creationId xmlns:a16="http://schemas.microsoft.com/office/drawing/2014/main" id="{75884417-4A5F-4CC4-AD85-6297234443C2}"/>
              </a:ext>
            </a:extLst>
          </p:cNvPr>
          <p:cNvSpPr>
            <a:spLocks xmlns:a="http://schemas.openxmlformats.org/drawingml/2006/main" noGrp="1"/>
          </p:cNvSpPr>
          <p:nvPr/>
        </p:nvSpPr>
        <p:spPr>
          <a:xfrm xmlns:a="http://schemas.openxmlformats.org/drawingml/2006/main">
            <a:off x="12192000" y="3981450"/>
            <a:ext cx="32480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325" b="1">
                <a:solidFill>
                  <a:srgbClr val="152C3A"/>
                </a:solidFill>
                <a:latin typeface="Arial"/>
                <a:ea typeface="Arial"/>
                <a:cs typeface="Arial"/>
              </a:defRPr>
            </a:defPPr>
          </a:lstStyle>
          <a:p xmlns:a="http://schemas.openxmlformats.org/drawingml/2006/main">
            <a:pPr algn="l">
              <a:lnSpc>
                <a:spcPct val="100000"/>
              </a:lnSpc>
              <a:buNone/>
              <a:defRPr sz="2325" b="1">
                <a:solidFill>
                  <a:srgbClr val="152C3A"/>
                </a:solidFill>
                <a:latin typeface="Arial"/>
                <a:ea typeface="Arial"/>
                <a:cs typeface="Arial"/>
              </a:defRPr>
            </a:pPr>
            <a:r>
              <a:rPr sz="2325" b="1">
                <a:solidFill>
                  <a:srgbClr val="152C3A"/>
                </a:solidFill>
                <a:latin typeface="Arial"/>
                <a:ea typeface="Arial"/>
                <a:cs typeface="Arial"/>
              </a:rPr>
              <a:t>Multi-property</a:t>
            </a:r>
          </a:p>
          <a:p xmlns:a="http://schemas.openxmlformats.org/drawingml/2006/main">
            <a:pPr algn="l">
              <a:lnSpc>
                <a:spcPct val="100000"/>
              </a:lnSpc>
              <a:buNone/>
              <a:defRPr sz="2325" b="1">
                <a:solidFill>
                  <a:srgbClr val="152C3A"/>
                </a:solidFill>
                <a:latin typeface="Arial"/>
                <a:ea typeface="Arial"/>
                <a:cs typeface="Arial"/>
              </a:defRPr>
            </a:pPr>
            <a:r>
              <a:rPr sz="2325" b="1">
                <a:solidFill>
                  <a:srgbClr val="152C3A"/>
                </a:solidFill>
                <a:latin typeface="Arial"/>
                <a:ea typeface="Arial"/>
                <a:cs typeface="Arial"/>
              </a:rPr>
              <a:t>characterization</a:t>
            </a:r>
          </a:p>
        </p:txBody>
      </p:sp>
      <p:sp>
        <p:nvSpPr>
          <p:cNvPr id="79" name="Evaluate binding, specificity">
            <a:extLst xmlns:a="http://schemas.openxmlformats.org/drawingml/2006/main">
              <a:ext uri="{FF2B5EF4-FFF2-40B4-BE49-F238E27FC236}">
                <a16:creationId xmlns:a16="http://schemas.microsoft.com/office/drawing/2014/main" id="{D70DADC0-44E3-43FC-B1F5-0C1811B2D351}"/>
              </a:ext>
            </a:extLst>
          </p:cNvPr>
          <p:cNvSpPr>
            <a:spLocks xmlns:a="http://schemas.openxmlformats.org/drawingml/2006/main" noGrp="1"/>
          </p:cNvSpPr>
          <p:nvPr/>
        </p:nvSpPr>
        <p:spPr>
          <a:xfrm xmlns:a="http://schemas.openxmlformats.org/drawingml/2006/main">
            <a:off x="12192000" y="4838700"/>
            <a:ext cx="32480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647887"/>
                </a:solidFill>
                <a:latin typeface="Arial"/>
                <a:ea typeface="Arial"/>
                <a:cs typeface="Arial"/>
              </a:defRPr>
            </a:defPPr>
          </a:lstStyle>
          <a:p xmlns:a="http://schemas.openxmlformats.org/drawingml/2006/main">
            <a:pPr algn="l">
              <a:lnSpc>
                <a:spcPct val="100000"/>
              </a:lnSpc>
              <a:buNone/>
              <a:defRPr sz="1575" b="0">
                <a:solidFill>
                  <a:srgbClr val="647887"/>
                </a:solidFill>
                <a:latin typeface="Arial"/>
                <a:ea typeface="Arial"/>
                <a:cs typeface="Arial"/>
              </a:defRPr>
            </a:pPr>
            <a:r>
              <a:rPr sz="1575" b="0">
                <a:solidFill>
                  <a:srgbClr val="647887"/>
                </a:solidFill>
                <a:latin typeface="Arial"/>
                <a:ea typeface="Arial"/>
                <a:cs typeface="Arial"/>
              </a:rPr>
              <a:t>Evaluate binding, specificity</a:t>
            </a:r>
          </a:p>
          <a:p xmlns:a="http://schemas.openxmlformats.org/drawingml/2006/main">
            <a:pPr algn="l">
              <a:lnSpc>
                <a:spcPct val="100000"/>
              </a:lnSpc>
              <a:buNone/>
              <a:defRPr sz="1575" b="0">
                <a:solidFill>
                  <a:srgbClr val="647887"/>
                </a:solidFill>
                <a:latin typeface="Arial"/>
                <a:ea typeface="Arial"/>
                <a:cs typeface="Arial"/>
              </a:defRPr>
            </a:pPr>
            <a:r>
              <a:rPr sz="1575" b="0">
                <a:solidFill>
                  <a:srgbClr val="647887"/>
                </a:solidFill>
                <a:latin typeface="Arial"/>
                <a:ea typeface="Arial"/>
                <a:cs typeface="Arial"/>
              </a:rPr>
              <a:t>and developability risks</a:t>
            </a:r>
          </a:p>
        </p:txBody>
      </p:sp>
      <p:sp>
        <p:nvSpPr>
          <p:cNvPr id="80" name="">
            <a:extLst xmlns:a="http://schemas.openxmlformats.org/drawingml/2006/main">
              <a:ext uri="{FF2B5EF4-FFF2-40B4-BE49-F238E27FC236}">
                <a16:creationId xmlns:a16="http://schemas.microsoft.com/office/drawing/2014/main" id="{69783699-36AF-42D0-A5E2-DDBDCFABB807}"/>
              </a:ext>
            </a:extLst>
          </p:cNvPr>
          <p:cNvSpPr>
            <a:spLocks xmlns:a="http://schemas.openxmlformats.org/drawingml/2006/main" noGrp="1"/>
          </p:cNvSpPr>
          <p:nvPr/>
        </p:nvSpPr>
        <p:spPr>
          <a:xfrm xmlns:a="http://schemas.openxmlformats.org/drawingml/2006/main">
            <a:off x="12144375" y="5505450"/>
            <a:ext cx="3343275" cy="714375"/>
          </a:xfrm>
          <a:prstGeom xmlns:a="http://schemas.openxmlformats.org/drawingml/2006/main" prst="roundRect">
            <a:avLst>
              <a:gd name="adj" fmla="val 9333"/>
            </a:avLst>
          </a:prstGeom>
          <a:solidFill xmlns:a="http://schemas.openxmlformats.org/drawingml/2006/main">
            <a:srgbClr val="EAF6F4"/>
          </a:solidFill>
          <a:ln xmlns:a="http://schemas.openxmlformats.org/drawingml/2006/main" w="9525">
            <a:noFill/>
          </a:ln>
        </p:spPr>
      </p:sp>
      <p:sp>
        <p:nvSpPr>
          <p:cNvPr id="81" name="KD · kon · koff · expression†">
            <a:extLst xmlns:a="http://schemas.openxmlformats.org/drawingml/2006/main">
              <a:ext uri="{FF2B5EF4-FFF2-40B4-BE49-F238E27FC236}">
                <a16:creationId xmlns:a16="http://schemas.microsoft.com/office/drawing/2014/main" id="{511B7262-8352-4385-A8DF-24ACAA35F3FF}"/>
              </a:ext>
            </a:extLst>
          </p:cNvPr>
          <p:cNvSpPr>
            <a:spLocks xmlns:a="http://schemas.openxmlformats.org/drawingml/2006/main" noGrp="1"/>
          </p:cNvSpPr>
          <p:nvPr/>
        </p:nvSpPr>
        <p:spPr>
          <a:xfrm xmlns:a="http://schemas.openxmlformats.org/drawingml/2006/main">
            <a:off x="12249150" y="5600700"/>
            <a:ext cx="31337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8" b="1">
                <a:solidFill>
                  <a:srgbClr val="007D80"/>
                </a:solidFill>
                <a:latin typeface="Arial"/>
                <a:ea typeface="Arial"/>
                <a:cs typeface="Arial"/>
              </a:defRPr>
            </a:defPPr>
          </a:lstStyle>
          <a:p xmlns:a="http://schemas.openxmlformats.org/drawingml/2006/main">
            <a:pPr algn="l">
              <a:lnSpc>
                <a:spcPct val="100000"/>
              </a:lnSpc>
              <a:buNone/>
              <a:defRPr sz="1388" b="1">
                <a:solidFill>
                  <a:srgbClr val="007D80"/>
                </a:solidFill>
                <a:latin typeface="Arial"/>
                <a:ea typeface="Arial"/>
                <a:cs typeface="Arial"/>
              </a:defRPr>
            </a:pPr>
            <a:r>
              <a:rPr sz="1388" b="1">
                <a:solidFill>
                  <a:srgbClr val="007D80"/>
                </a:solidFill>
                <a:latin typeface="Arial"/>
                <a:ea typeface="Arial"/>
                <a:cs typeface="Arial"/>
              </a:rPr>
              <a:t>KD · kon · koff · expression†</a:t>
            </a:r>
          </a:p>
          <a:p xmlns:a="http://schemas.openxmlformats.org/drawingml/2006/main">
            <a:pPr algn="l">
              <a:lnSpc>
                <a:spcPct val="100000"/>
              </a:lnSpc>
              <a:buNone/>
              <a:defRPr sz="1388" b="1">
                <a:solidFill>
                  <a:srgbClr val="007D80"/>
                </a:solidFill>
                <a:latin typeface="Arial"/>
                <a:ea typeface="Arial"/>
                <a:cs typeface="Arial"/>
              </a:defRPr>
            </a:pPr>
            <a:r>
              <a:rPr sz="1388" b="1">
                <a:solidFill>
                  <a:srgbClr val="007D80"/>
                </a:solidFill>
                <a:latin typeface="Arial"/>
                <a:ea typeface="Arial"/>
                <a:cs typeface="Arial"/>
              </a:rPr>
              <a:t>Tm · aggregation</a:t>
            </a:r>
          </a:p>
          <a:p xmlns:a="http://schemas.openxmlformats.org/drawingml/2006/main">
            <a:pPr algn="l">
              <a:lnSpc>
                <a:spcPct val="100000"/>
              </a:lnSpc>
              <a:buNone/>
              <a:defRPr sz="1388" b="1">
                <a:solidFill>
                  <a:srgbClr val="007D80"/>
                </a:solidFill>
                <a:latin typeface="Arial"/>
                <a:ea typeface="Arial"/>
                <a:cs typeface="Arial"/>
              </a:defRPr>
            </a:pPr>
            <a:r>
              <a:rPr sz="1388" b="1">
                <a:solidFill>
                  <a:srgbClr val="007D80"/>
                </a:solidFill>
                <a:latin typeface="Arial"/>
                <a:ea typeface="Arial"/>
                <a:cs typeface="Arial"/>
              </a:rPr>
              <a:t>polyreactivity · epitope binning</a:t>
            </a:r>
          </a:p>
        </p:txBody>
      </p:sp>
      <p:sp>
        <p:nvSpPr>
          <p:cNvPr id="82" name="REAGENTS">
            <a:extLst xmlns:a="http://schemas.openxmlformats.org/drawingml/2006/main">
              <a:ext uri="{FF2B5EF4-FFF2-40B4-BE49-F238E27FC236}">
                <a16:creationId xmlns:a16="http://schemas.microsoft.com/office/drawing/2014/main" id="{BAED1A10-018D-4A78-B3ED-F4D02C97BFE1}"/>
              </a:ext>
            </a:extLst>
          </p:cNvPr>
          <p:cNvSpPr>
            <a:spLocks xmlns:a="http://schemas.openxmlformats.org/drawingml/2006/main" noGrp="1"/>
          </p:cNvSpPr>
          <p:nvPr/>
        </p:nvSpPr>
        <p:spPr>
          <a:xfrm xmlns:a="http://schemas.openxmlformats.org/drawingml/2006/main">
            <a:off x="12192000" y="6286500"/>
            <a:ext cx="32480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647887"/>
                </a:solidFill>
                <a:latin typeface="Arial"/>
                <a:ea typeface="Arial"/>
                <a:cs typeface="Arial"/>
              </a:defRPr>
            </a:defPPr>
          </a:lstStyle>
          <a:p xmlns:a="http://schemas.openxmlformats.org/drawingml/2006/main">
            <a:pPr algn="l">
              <a:lnSpc>
                <a:spcPct val="100000"/>
              </a:lnSpc>
              <a:buNone/>
              <a:defRPr sz="1238" b="1">
                <a:solidFill>
                  <a:srgbClr val="647887"/>
                </a:solidFill>
                <a:latin typeface="Arial"/>
                <a:ea typeface="Arial"/>
                <a:cs typeface="Arial"/>
              </a:defRPr>
            </a:pPr>
            <a:r>
              <a:rPr sz="1238" b="1">
                <a:solidFill>
                  <a:srgbClr val="647887"/>
                </a:solidFill>
                <a:latin typeface="Arial"/>
                <a:ea typeface="Arial"/>
                <a:cs typeface="Arial"/>
              </a:rPr>
              <a:t>REAGENTS</a:t>
            </a:r>
          </a:p>
        </p:txBody>
      </p:sp>
      <p:sp>
        <p:nvSpPr>
          <p:cNvPr id="83" name="Reference proteins, dyes">
            <a:extLst xmlns:a="http://schemas.openxmlformats.org/drawingml/2006/main">
              <a:ext uri="{FF2B5EF4-FFF2-40B4-BE49-F238E27FC236}">
                <a16:creationId xmlns:a16="http://schemas.microsoft.com/office/drawing/2014/main" id="{D2B88EFC-4F7D-4E72-86C5-C5DAE8D8F3BC}"/>
              </a:ext>
            </a:extLst>
          </p:cNvPr>
          <p:cNvSpPr>
            <a:spLocks xmlns:a="http://schemas.openxmlformats.org/drawingml/2006/main" noGrp="1"/>
          </p:cNvSpPr>
          <p:nvPr/>
        </p:nvSpPr>
        <p:spPr>
          <a:xfrm xmlns:a="http://schemas.openxmlformats.org/drawingml/2006/main">
            <a:off x="12192000" y="6562725"/>
            <a:ext cx="32480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152C3A"/>
                </a:solidFill>
                <a:latin typeface="Arial"/>
                <a:ea typeface="Arial"/>
                <a:cs typeface="Arial"/>
              </a:defRPr>
            </a:defPPr>
          </a:lstStyle>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Reference proteins, dyes</a:t>
            </a:r>
          </a:p>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Assay panels, buffers</a:t>
            </a:r>
          </a:p>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Analytical reagents</a:t>
            </a:r>
          </a:p>
        </p:txBody>
      </p:sp>
      <p:sp>
        <p:nvSpPr>
          <p:cNvPr id="84" name="INSTRUMENTS">
            <a:extLst xmlns:a="http://schemas.openxmlformats.org/drawingml/2006/main">
              <a:ext uri="{FF2B5EF4-FFF2-40B4-BE49-F238E27FC236}">
                <a16:creationId xmlns:a16="http://schemas.microsoft.com/office/drawing/2014/main" id="{E8AECF1F-269D-44BA-B8B5-BC605736E4BA}"/>
              </a:ext>
            </a:extLst>
          </p:cNvPr>
          <p:cNvSpPr>
            <a:spLocks xmlns:a="http://schemas.openxmlformats.org/drawingml/2006/main" noGrp="1"/>
          </p:cNvSpPr>
          <p:nvPr/>
        </p:nvSpPr>
        <p:spPr>
          <a:xfrm xmlns:a="http://schemas.openxmlformats.org/drawingml/2006/main">
            <a:off x="12192000" y="7239000"/>
            <a:ext cx="32480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647887"/>
                </a:solidFill>
                <a:latin typeface="Arial"/>
                <a:ea typeface="Arial"/>
                <a:cs typeface="Arial"/>
              </a:defRPr>
            </a:defPPr>
          </a:lstStyle>
          <a:p xmlns:a="http://schemas.openxmlformats.org/drawingml/2006/main">
            <a:pPr algn="l">
              <a:lnSpc>
                <a:spcPct val="100000"/>
              </a:lnSpc>
              <a:buNone/>
              <a:defRPr sz="1238" b="1">
                <a:solidFill>
                  <a:srgbClr val="647887"/>
                </a:solidFill>
                <a:latin typeface="Arial"/>
                <a:ea typeface="Arial"/>
                <a:cs typeface="Arial"/>
              </a:defRPr>
            </a:pPr>
            <a:r>
              <a:rPr sz="1238" b="1">
                <a:solidFill>
                  <a:srgbClr val="647887"/>
                </a:solidFill>
                <a:latin typeface="Arial"/>
                <a:ea typeface="Arial"/>
                <a:cs typeface="Arial"/>
              </a:rPr>
              <a:t>INSTRUMENTS</a:t>
            </a:r>
          </a:p>
        </p:txBody>
      </p:sp>
      <p:sp>
        <p:nvSpPr>
          <p:cNvPr id="85" name="SPR / BLI; SEC-HPLC">
            <a:extLst xmlns:a="http://schemas.openxmlformats.org/drawingml/2006/main">
              <a:ext uri="{FF2B5EF4-FFF2-40B4-BE49-F238E27FC236}">
                <a16:creationId xmlns:a16="http://schemas.microsoft.com/office/drawing/2014/main" id="{DC58F778-F223-4ED1-9562-00CC215161BF}"/>
              </a:ext>
            </a:extLst>
          </p:cNvPr>
          <p:cNvSpPr>
            <a:spLocks xmlns:a="http://schemas.openxmlformats.org/drawingml/2006/main" noGrp="1"/>
          </p:cNvSpPr>
          <p:nvPr/>
        </p:nvSpPr>
        <p:spPr>
          <a:xfrm xmlns:a="http://schemas.openxmlformats.org/drawingml/2006/main">
            <a:off x="12192000" y="7515225"/>
            <a:ext cx="32480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152C3A"/>
                </a:solidFill>
                <a:latin typeface="Arial"/>
                <a:ea typeface="Arial"/>
                <a:cs typeface="Arial"/>
              </a:defRPr>
            </a:defPPr>
          </a:lstStyle>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SPR / BLI; SEC-HPLC</a:t>
            </a:r>
          </a:p>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LC / LC-MS</a:t>
            </a:r>
          </a:p>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nanoDSF / DLS</a:t>
            </a:r>
          </a:p>
        </p:txBody>
      </p:sp>
      <p:sp>
        <p:nvSpPr>
          <p:cNvPr id="86" name="CONSUMABLES">
            <a:extLst xmlns:a="http://schemas.openxmlformats.org/drawingml/2006/main">
              <a:ext uri="{FF2B5EF4-FFF2-40B4-BE49-F238E27FC236}">
                <a16:creationId xmlns:a16="http://schemas.microsoft.com/office/drawing/2014/main" id="{733682AF-3555-4019-AFA8-692997F826B5}"/>
              </a:ext>
            </a:extLst>
          </p:cNvPr>
          <p:cNvSpPr>
            <a:spLocks xmlns:a="http://schemas.openxmlformats.org/drawingml/2006/main" noGrp="1"/>
          </p:cNvSpPr>
          <p:nvPr/>
        </p:nvSpPr>
        <p:spPr>
          <a:xfrm xmlns:a="http://schemas.openxmlformats.org/drawingml/2006/main">
            <a:off x="12192000" y="8191500"/>
            <a:ext cx="32480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647887"/>
                </a:solidFill>
                <a:latin typeface="Arial"/>
                <a:ea typeface="Arial"/>
                <a:cs typeface="Arial"/>
              </a:defRPr>
            </a:defPPr>
          </a:lstStyle>
          <a:p xmlns:a="http://schemas.openxmlformats.org/drawingml/2006/main">
            <a:pPr algn="l">
              <a:lnSpc>
                <a:spcPct val="100000"/>
              </a:lnSpc>
              <a:buNone/>
              <a:defRPr sz="1238" b="1">
                <a:solidFill>
                  <a:srgbClr val="647887"/>
                </a:solidFill>
                <a:latin typeface="Arial"/>
                <a:ea typeface="Arial"/>
                <a:cs typeface="Arial"/>
              </a:defRPr>
            </a:pPr>
            <a:r>
              <a:rPr sz="1238" b="1">
                <a:solidFill>
                  <a:srgbClr val="647887"/>
                </a:solidFill>
                <a:latin typeface="Arial"/>
                <a:ea typeface="Arial"/>
                <a:cs typeface="Arial"/>
              </a:rPr>
              <a:t>CONSUMABLES</a:t>
            </a:r>
          </a:p>
        </p:txBody>
      </p:sp>
      <p:sp>
        <p:nvSpPr>
          <p:cNvPr id="87" name="Columns, capillaries">
            <a:extLst xmlns:a="http://schemas.openxmlformats.org/drawingml/2006/main">
              <a:ext uri="{FF2B5EF4-FFF2-40B4-BE49-F238E27FC236}">
                <a16:creationId xmlns:a16="http://schemas.microsoft.com/office/drawing/2014/main" id="{C961277F-359A-49DB-ABB7-C08FE7F655F6}"/>
              </a:ext>
            </a:extLst>
          </p:cNvPr>
          <p:cNvSpPr>
            <a:spLocks xmlns:a="http://schemas.openxmlformats.org/drawingml/2006/main" noGrp="1"/>
          </p:cNvSpPr>
          <p:nvPr/>
        </p:nvSpPr>
        <p:spPr>
          <a:xfrm xmlns:a="http://schemas.openxmlformats.org/drawingml/2006/main">
            <a:off x="12192000" y="8467725"/>
            <a:ext cx="32480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152C3A"/>
                </a:solidFill>
                <a:latin typeface="Arial"/>
                <a:ea typeface="Arial"/>
                <a:cs typeface="Arial"/>
              </a:defRPr>
            </a:defPPr>
          </a:lstStyle>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Columns, capillaries</a:t>
            </a:r>
          </a:p>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Vials, filters, assay plates</a:t>
            </a:r>
          </a:p>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Sensors / chips</a:t>
            </a:r>
          </a:p>
        </p:txBody>
      </p:sp>
      <p:sp>
        <p:nvSpPr>
          <p:cNvPr id="88" name="">
            <a:extLst xmlns:a="http://schemas.openxmlformats.org/drawingml/2006/main">
              <a:ext uri="{FF2B5EF4-FFF2-40B4-BE49-F238E27FC236}">
                <a16:creationId xmlns:a16="http://schemas.microsoft.com/office/drawing/2014/main" id="{05670C85-6D11-463C-A8D6-610EA539A3B0}"/>
              </a:ext>
            </a:extLst>
          </p:cNvPr>
          <p:cNvSpPr>
            <a:spLocks xmlns:a="http://schemas.openxmlformats.org/drawingml/2006/main" noGrp="1"/>
          </p:cNvSpPr>
          <p:nvPr/>
        </p:nvSpPr>
        <p:spPr>
          <a:xfrm xmlns:a="http://schemas.openxmlformats.org/drawingml/2006/main">
            <a:off x="12192000" y="9239250"/>
            <a:ext cx="3248025" cy="953"/>
          </a:xfrm>
          <a:custGeom xmlns:a="http://schemas.openxmlformats.org/drawingml/2006/main">
            <a:pathLst>
              <a:path w="3248025" h="953">
                <a:moveTo>
                  <a:pt x="0" y="0"/>
                </a:moveTo>
                <a:lnTo>
                  <a:pt x="3248025" y="0"/>
                </a:lnTo>
              </a:path>
            </a:pathLst>
          </a:custGeom>
          <a:noFill xmlns:a="http://schemas.openxmlformats.org/drawingml/2006/main"/>
          <a:ln xmlns:a="http://schemas.openxmlformats.org/drawingml/2006/main" w="9525">
            <a:solidFill>
              <a:srgbClr val="D7E3E8"/>
            </a:solidFill>
          </a:ln>
        </p:spPr>
      </p:sp>
      <p:sp>
        <p:nvSpPr>
          <p:cNvPr id="89" name="REPRESENTATIVE SUPPLIERS">
            <a:extLst xmlns:a="http://schemas.openxmlformats.org/drawingml/2006/main">
              <a:ext uri="{FF2B5EF4-FFF2-40B4-BE49-F238E27FC236}">
                <a16:creationId xmlns:a16="http://schemas.microsoft.com/office/drawing/2014/main" id="{604EBB11-8848-4C00-A60A-013B670E9BCA}"/>
              </a:ext>
            </a:extLst>
          </p:cNvPr>
          <p:cNvSpPr>
            <a:spLocks xmlns:a="http://schemas.openxmlformats.org/drawingml/2006/main" noGrp="1"/>
          </p:cNvSpPr>
          <p:nvPr/>
        </p:nvSpPr>
        <p:spPr>
          <a:xfrm xmlns:a="http://schemas.openxmlformats.org/drawingml/2006/main">
            <a:off x="12192000" y="9372600"/>
            <a:ext cx="3248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63" b="1">
                <a:solidFill>
                  <a:srgbClr val="647887"/>
                </a:solidFill>
                <a:latin typeface="Arial"/>
                <a:ea typeface="Arial"/>
                <a:cs typeface="Arial"/>
              </a:defRPr>
            </a:defPPr>
          </a:lstStyle>
          <a:p xmlns:a="http://schemas.openxmlformats.org/drawingml/2006/main">
            <a:pPr algn="l">
              <a:lnSpc>
                <a:spcPct val="100000"/>
              </a:lnSpc>
              <a:buNone/>
              <a:defRPr sz="1163" b="1">
                <a:solidFill>
                  <a:srgbClr val="647887"/>
                </a:solidFill>
                <a:latin typeface="Arial"/>
                <a:ea typeface="Arial"/>
                <a:cs typeface="Arial"/>
              </a:defRPr>
            </a:pPr>
            <a:r>
              <a:rPr sz="1163" b="1">
                <a:solidFill>
                  <a:srgbClr val="647887"/>
                </a:solidFill>
                <a:latin typeface="Arial"/>
                <a:ea typeface="Arial"/>
                <a:cs typeface="Arial"/>
              </a:rPr>
              <a:t>REPRESENTATIVE SUPPLIERS</a:t>
            </a:r>
          </a:p>
        </p:txBody>
      </p:sp>
      <p:pic>
        <p:nvPicPr>
          <p:cNvPr id="90" name="">
            <a:extLst xmlns:a="http://schemas.openxmlformats.org/drawingml/2006/main">
              <a:ext uri="{FF2B5EF4-FFF2-40B4-BE49-F238E27FC236}">
                <a16:creationId xmlns:a16="http://schemas.microsoft.com/office/drawing/2014/main" id="{D79F559A-04F5-4F9C-80DE-7195E711DFB0}"/>
              </a:ext>
            </a:extLst>
          </p:cNvPr>
          <p:cNvPicPr>
            <a:picLocks xmlns:a="http://schemas.openxmlformats.org/drawingml/2006/main" noChangeAspect="1"/>
          </p:cNvPicPr>
          <p:nvPr/>
        </p:nvPicPr>
        <p:blipFill>
          <a:blip xmlns:r="http://schemas.openxmlformats.org/officeDocument/2006/relationships" xmlns:a="http://schemas.openxmlformats.org/drawingml/2006/main" r:embed="R27d245bc5c99474a">
            <a:extLst>
              <a:ext uri="{96DAC541-7B7A-43D3-8B79-37D633B846F1}">
                <asvg:svgBlip xmlns:asvg="http://schemas.microsoft.com/office/drawing/2016/SVG/main" r:embed="R39fa8ff35abe4c5c"/>
              </a:ext>
            </a:extLst>
          </a:blip>
          <a:stretch xmlns:a="http://schemas.openxmlformats.org/drawingml/2006/main"/>
        </p:blipFill>
        <p:spPr>
          <a:xfrm xmlns:a="http://schemas.openxmlformats.org/drawingml/2006/main">
            <a:off x="12192000" y="9648825"/>
            <a:ext cx="352425" cy="352425"/>
          </a:xfrm>
          <a:prstGeom xmlns:a="http://schemas.openxmlformats.org/drawingml/2006/main" prst="rect">
            <a:avLst/>
          </a:prstGeom>
        </p:spPr>
      </p:pic>
      <p:sp>
        <p:nvSpPr>
          <p:cNvPr id="91" name="NanoMicro">
            <a:extLst xmlns:a="http://schemas.openxmlformats.org/drawingml/2006/main">
              <a:ext uri="{FF2B5EF4-FFF2-40B4-BE49-F238E27FC236}">
                <a16:creationId xmlns:a16="http://schemas.microsoft.com/office/drawing/2014/main" id="{544626A4-AE53-4816-B95A-79CAF8B33AE3}"/>
              </a:ext>
            </a:extLst>
          </p:cNvPr>
          <p:cNvSpPr>
            <a:spLocks xmlns:a="http://schemas.openxmlformats.org/drawingml/2006/main" noGrp="1"/>
          </p:cNvSpPr>
          <p:nvPr/>
        </p:nvSpPr>
        <p:spPr>
          <a:xfrm xmlns:a="http://schemas.openxmlformats.org/drawingml/2006/main">
            <a:off x="12639675" y="9725025"/>
            <a:ext cx="2800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007D80"/>
                </a:solidFill>
                <a:latin typeface="Arial"/>
                <a:ea typeface="Arial"/>
                <a:cs typeface="Arial"/>
              </a:defRPr>
            </a:defPPr>
          </a:lstStyle>
          <a:p xmlns:a="http://schemas.openxmlformats.org/drawingml/2006/main">
            <a:pPr algn="l">
              <a:lnSpc>
                <a:spcPct val="100000"/>
              </a:lnSpc>
              <a:buNone/>
              <a:defRPr sz="1875" b="1">
                <a:solidFill>
                  <a:srgbClr val="007D80"/>
                </a:solidFill>
                <a:latin typeface="Arial"/>
                <a:ea typeface="Arial"/>
                <a:cs typeface="Arial"/>
              </a:defRPr>
            </a:pPr>
            <a:r>
              <a:rPr sz="1875" b="1">
                <a:solidFill>
                  <a:srgbClr val="007D80"/>
                </a:solidFill>
                <a:latin typeface="Arial"/>
                <a:ea typeface="Arial"/>
                <a:cs typeface="Arial"/>
              </a:rPr>
              <a:t>NanoMicro</a:t>
            </a:r>
          </a:p>
        </p:txBody>
      </p:sp>
      <p:sp>
        <p:nvSpPr>
          <p:cNvPr id="92" name="Waters · Agilent · Thermo Fisher">
            <a:extLst xmlns:a="http://schemas.openxmlformats.org/drawingml/2006/main">
              <a:ext uri="{FF2B5EF4-FFF2-40B4-BE49-F238E27FC236}">
                <a16:creationId xmlns:a16="http://schemas.microsoft.com/office/drawing/2014/main" id="{D8CD6408-9A45-4B3A-AD0A-CFF954CB3AA2}"/>
              </a:ext>
            </a:extLst>
          </p:cNvPr>
          <p:cNvSpPr>
            <a:spLocks xmlns:a="http://schemas.openxmlformats.org/drawingml/2006/main" noGrp="1"/>
          </p:cNvSpPr>
          <p:nvPr/>
        </p:nvSpPr>
        <p:spPr>
          <a:xfrm xmlns:a="http://schemas.openxmlformats.org/drawingml/2006/main">
            <a:off x="12192000" y="10210800"/>
            <a:ext cx="32480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0">
                <a:solidFill>
                  <a:srgbClr val="647887"/>
                </a:solidFill>
                <a:latin typeface="Arial"/>
                <a:ea typeface="Arial"/>
                <a:cs typeface="Arial"/>
              </a:defRPr>
            </a:defPPr>
          </a:lstStyle>
          <a:p xmlns:a="http://schemas.openxmlformats.org/drawingml/2006/main">
            <a:pPr algn="l">
              <a:lnSpc>
                <a:spcPct val="100000"/>
              </a:lnSpc>
              <a:buNone/>
              <a:defRPr sz="1238" b="0">
                <a:solidFill>
                  <a:srgbClr val="647887"/>
                </a:solidFill>
                <a:latin typeface="Arial"/>
                <a:ea typeface="Arial"/>
                <a:cs typeface="Arial"/>
              </a:defRPr>
            </a:pPr>
            <a:r>
              <a:rPr sz="1238" b="0">
                <a:solidFill>
                  <a:srgbClr val="647887"/>
                </a:solidFill>
                <a:latin typeface="Arial"/>
                <a:ea typeface="Arial"/>
                <a:cs typeface="Arial"/>
              </a:rPr>
              <a:t>Waters · Agilent · Thermo Fisher</a:t>
            </a:r>
          </a:p>
          <a:p xmlns:a="http://schemas.openxmlformats.org/drawingml/2006/main">
            <a:pPr algn="l">
              <a:lnSpc>
                <a:spcPct val="100000"/>
              </a:lnSpc>
              <a:buNone/>
              <a:defRPr sz="1238" b="0">
                <a:solidFill>
                  <a:srgbClr val="647887"/>
                </a:solidFill>
                <a:latin typeface="Arial"/>
                <a:ea typeface="Arial"/>
                <a:cs typeface="Arial"/>
              </a:defRPr>
            </a:pPr>
            <a:r>
              <a:rPr sz="1238" b="0">
                <a:solidFill>
                  <a:srgbClr val="647887"/>
                </a:solidFill>
                <a:latin typeface="Arial"/>
                <a:ea typeface="Arial"/>
                <a:cs typeface="Arial"/>
              </a:rPr>
              <a:t>NanoTemper · Sepax</a:t>
            </a:r>
          </a:p>
          <a:p xmlns:a="http://schemas.openxmlformats.org/drawingml/2006/main">
            <a:pPr algn="l">
              <a:lnSpc>
                <a:spcPct val="100000"/>
              </a:lnSpc>
              <a:buNone/>
              <a:defRPr sz="1238" b="0">
                <a:solidFill>
                  <a:srgbClr val="647887"/>
                </a:solidFill>
                <a:latin typeface="Arial"/>
                <a:ea typeface="Arial"/>
                <a:cs typeface="Arial"/>
              </a:defRPr>
            </a:pPr>
            <a:r>
              <a:rPr sz="1238" b="0">
                <a:solidFill>
                  <a:srgbClr val="647887"/>
                </a:solidFill>
                <a:latin typeface="Arial"/>
                <a:ea typeface="Arial"/>
                <a:cs typeface="Arial"/>
              </a:rPr>
              <a:t>SPR / BLI: Cytiva · Sartorius</a:t>
            </a:r>
          </a:p>
        </p:txBody>
      </p:sp>
      <p:sp>
        <p:nvSpPr>
          <p:cNvPr id="93" name="">
            <a:extLst xmlns:a="http://schemas.openxmlformats.org/drawingml/2006/main">
              <a:ext uri="{FF2B5EF4-FFF2-40B4-BE49-F238E27FC236}">
                <a16:creationId xmlns:a16="http://schemas.microsoft.com/office/drawing/2014/main" id="{79037BD3-D5DC-4842-974C-861406B459F4}"/>
              </a:ext>
            </a:extLst>
          </p:cNvPr>
          <p:cNvSpPr>
            <a:spLocks xmlns:a="http://schemas.openxmlformats.org/drawingml/2006/main" noGrp="1"/>
          </p:cNvSpPr>
          <p:nvPr/>
        </p:nvSpPr>
        <p:spPr>
          <a:xfrm xmlns:a="http://schemas.openxmlformats.org/drawingml/2006/main">
            <a:off x="15878175" y="3267075"/>
            <a:ext cx="3476625" cy="7639050"/>
          </a:xfrm>
          <a:prstGeom xmlns:a="http://schemas.openxmlformats.org/drawingml/2006/main" prst="roundRect">
            <a:avLst>
              <a:gd name="adj" fmla="val 3836"/>
            </a:avLst>
          </a:prstGeom>
          <a:solidFill xmlns:a="http://schemas.openxmlformats.org/drawingml/2006/main">
            <a:srgbClr val="EEF3F4"/>
          </a:solidFill>
          <a:ln xmlns:a="http://schemas.openxmlformats.org/drawingml/2006/main" w="9525">
            <a:noFill/>
          </a:ln>
        </p:spPr>
      </p:sp>
      <p:sp>
        <p:nvSpPr>
          <p:cNvPr id="94" name="">
            <a:extLst xmlns:a="http://schemas.openxmlformats.org/drawingml/2006/main">
              <a:ext uri="{FF2B5EF4-FFF2-40B4-BE49-F238E27FC236}">
                <a16:creationId xmlns:a16="http://schemas.microsoft.com/office/drawing/2014/main" id="{4469EFBD-E070-41AD-A44C-89A6B1312D49}"/>
              </a:ext>
            </a:extLst>
          </p:cNvPr>
          <p:cNvSpPr>
            <a:spLocks xmlns:a="http://schemas.openxmlformats.org/drawingml/2006/main" noGrp="1"/>
          </p:cNvSpPr>
          <p:nvPr/>
        </p:nvSpPr>
        <p:spPr>
          <a:xfrm xmlns:a="http://schemas.openxmlformats.org/drawingml/2006/main">
            <a:off x="15849600" y="3219450"/>
            <a:ext cx="3476625" cy="7639050"/>
          </a:xfrm>
          <a:prstGeom xmlns:a="http://schemas.openxmlformats.org/drawingml/2006/main" prst="roundRect">
            <a:avLst>
              <a:gd name="adj" fmla="val 3836"/>
            </a:avLst>
          </a:prstGeom>
          <a:solidFill xmlns:a="http://schemas.openxmlformats.org/drawingml/2006/main">
            <a:srgbClr val="FFFFFF"/>
          </a:solidFill>
          <a:ln xmlns:a="http://schemas.openxmlformats.org/drawingml/2006/main" w="16193">
            <a:solidFill>
              <a:srgbClr val="74B6AC"/>
            </a:solidFill>
          </a:ln>
        </p:spPr>
      </p:sp>
      <p:sp>
        <p:nvSpPr>
          <p:cNvPr id="95" name="">
            <a:extLst xmlns:a="http://schemas.openxmlformats.org/drawingml/2006/main">
              <a:ext uri="{FF2B5EF4-FFF2-40B4-BE49-F238E27FC236}">
                <a16:creationId xmlns:a16="http://schemas.microsoft.com/office/drawing/2014/main" id="{16800FFD-0E19-418B-B161-76CCBF0E9B71}"/>
              </a:ext>
            </a:extLst>
          </p:cNvPr>
          <p:cNvSpPr>
            <a:spLocks xmlns:a="http://schemas.openxmlformats.org/drawingml/2006/main" noGrp="1"/>
          </p:cNvSpPr>
          <p:nvPr/>
        </p:nvSpPr>
        <p:spPr>
          <a:xfrm xmlns:a="http://schemas.openxmlformats.org/drawingml/2006/main">
            <a:off x="15859125" y="3228975"/>
            <a:ext cx="3457575" cy="104775"/>
          </a:xfrm>
          <a:prstGeom xmlns:a="http://schemas.openxmlformats.org/drawingml/2006/main" prst="rect">
            <a:avLst/>
          </a:prstGeom>
          <a:solidFill xmlns:a="http://schemas.openxmlformats.org/drawingml/2006/main">
            <a:srgbClr val="007D80"/>
          </a:solidFill>
          <a:ln xmlns:a="http://schemas.openxmlformats.org/drawingml/2006/main" w="9525">
            <a:noFill/>
          </a:ln>
        </p:spPr>
      </p:sp>
      <p:sp>
        <p:nvSpPr>
          <p:cNvPr id="96" name="05  /  TEST">
            <a:extLst xmlns:a="http://schemas.openxmlformats.org/drawingml/2006/main">
              <a:ext uri="{FF2B5EF4-FFF2-40B4-BE49-F238E27FC236}">
                <a16:creationId xmlns:a16="http://schemas.microsoft.com/office/drawing/2014/main" id="{EC77E0EE-EB6F-4B1A-9511-40B9CD0AC334}"/>
              </a:ext>
            </a:extLst>
          </p:cNvPr>
          <p:cNvSpPr>
            <a:spLocks xmlns:a="http://schemas.openxmlformats.org/drawingml/2006/main" noGrp="1"/>
          </p:cNvSpPr>
          <p:nvPr/>
        </p:nvSpPr>
        <p:spPr>
          <a:xfrm xmlns:a="http://schemas.openxmlformats.org/drawingml/2006/main">
            <a:off x="16059150" y="3476625"/>
            <a:ext cx="26003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7D80"/>
                </a:solidFill>
                <a:latin typeface="Arial"/>
                <a:ea typeface="Arial"/>
                <a:cs typeface="Arial"/>
              </a:defRPr>
            </a:defPPr>
          </a:lstStyle>
          <a:p xmlns:a="http://schemas.openxmlformats.org/drawingml/2006/main">
            <a:pPr algn="l">
              <a:lnSpc>
                <a:spcPct val="100000"/>
              </a:lnSpc>
              <a:buNone/>
              <a:defRPr sz="1500" b="1">
                <a:solidFill>
                  <a:srgbClr val="007D80"/>
                </a:solidFill>
                <a:latin typeface="Arial"/>
                <a:ea typeface="Arial"/>
                <a:cs typeface="Arial"/>
              </a:defRPr>
            </a:pPr>
            <a:r>
              <a:rPr sz="1500" b="1">
                <a:solidFill>
                  <a:srgbClr val="007D80"/>
                </a:solidFill>
                <a:latin typeface="Arial"/>
                <a:ea typeface="Arial"/>
                <a:cs typeface="Arial"/>
              </a:rPr>
              <a:t>05  /  TEST</a:t>
            </a:r>
          </a:p>
        </p:txBody>
      </p:sp>
      <p:pic>
        <p:nvPicPr>
          <p:cNvPr id="97" name="">
            <a:extLst xmlns:a="http://schemas.openxmlformats.org/drawingml/2006/main">
              <a:ext uri="{FF2B5EF4-FFF2-40B4-BE49-F238E27FC236}">
                <a16:creationId xmlns:a16="http://schemas.microsoft.com/office/drawing/2014/main" id="{706389DE-0BE1-4286-A57E-80B45691E486}"/>
              </a:ext>
            </a:extLst>
          </p:cNvPr>
          <p:cNvPicPr>
            <a:picLocks xmlns:a="http://schemas.openxmlformats.org/drawingml/2006/main" noChangeAspect="1"/>
          </p:cNvPicPr>
          <p:nvPr/>
        </p:nvPicPr>
        <p:blipFill>
          <a:blip xmlns:r="http://schemas.openxmlformats.org/officeDocument/2006/relationships" xmlns:a="http://schemas.openxmlformats.org/drawingml/2006/main" r:embed="Rab676fc622b44f0f">
            <a:extLst>
              <a:ext uri="{96DAC541-7B7A-43D3-8B79-37D633B846F1}">
                <asvg:svgBlip xmlns:asvg="http://schemas.microsoft.com/office/drawing/2016/SVG/main" r:embed="Rfb349fd7dbe949f9"/>
              </a:ext>
            </a:extLst>
          </a:blip>
          <a:stretch xmlns:a="http://schemas.openxmlformats.org/drawingml/2006/main"/>
        </p:blipFill>
        <p:spPr>
          <a:xfrm xmlns:a="http://schemas.openxmlformats.org/drawingml/2006/main">
            <a:off x="18726150" y="3448050"/>
            <a:ext cx="371475" cy="371475"/>
          </a:xfrm>
          <a:prstGeom xmlns:a="http://schemas.openxmlformats.org/drawingml/2006/main" prst="rect">
            <a:avLst/>
          </a:prstGeom>
        </p:spPr>
      </p:pic>
      <p:sp>
        <p:nvSpPr>
          <p:cNvPr id="98" name="Cell-function">
            <a:extLst xmlns:a="http://schemas.openxmlformats.org/drawingml/2006/main">
              <a:ext uri="{FF2B5EF4-FFF2-40B4-BE49-F238E27FC236}">
                <a16:creationId xmlns:a16="http://schemas.microsoft.com/office/drawing/2014/main" id="{414BCC7A-CA6D-4D21-AD6D-7E9ACECEC5D4}"/>
              </a:ext>
            </a:extLst>
          </p:cNvPr>
          <p:cNvSpPr>
            <a:spLocks xmlns:a="http://schemas.openxmlformats.org/drawingml/2006/main" noGrp="1"/>
          </p:cNvSpPr>
          <p:nvPr/>
        </p:nvSpPr>
        <p:spPr>
          <a:xfrm xmlns:a="http://schemas.openxmlformats.org/drawingml/2006/main">
            <a:off x="16059150" y="3981450"/>
            <a:ext cx="30575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325" b="1">
                <a:solidFill>
                  <a:srgbClr val="152C3A"/>
                </a:solidFill>
                <a:latin typeface="Arial"/>
                <a:ea typeface="Arial"/>
                <a:cs typeface="Arial"/>
              </a:defRPr>
            </a:defPPr>
          </a:lstStyle>
          <a:p xmlns:a="http://schemas.openxmlformats.org/drawingml/2006/main">
            <a:pPr algn="l">
              <a:lnSpc>
                <a:spcPct val="100000"/>
              </a:lnSpc>
              <a:buNone/>
              <a:defRPr sz="2325" b="1">
                <a:solidFill>
                  <a:srgbClr val="152C3A"/>
                </a:solidFill>
                <a:latin typeface="Arial"/>
                <a:ea typeface="Arial"/>
                <a:cs typeface="Arial"/>
              </a:defRPr>
            </a:pPr>
            <a:r>
              <a:rPr sz="2325" b="1">
                <a:solidFill>
                  <a:srgbClr val="152C3A"/>
                </a:solidFill>
                <a:latin typeface="Arial"/>
                <a:ea typeface="Arial"/>
                <a:cs typeface="Arial"/>
              </a:rPr>
              <a:t>Cell-function</a:t>
            </a:r>
          </a:p>
          <a:p xmlns:a="http://schemas.openxmlformats.org/drawingml/2006/main">
            <a:pPr algn="l">
              <a:lnSpc>
                <a:spcPct val="100000"/>
              </a:lnSpc>
              <a:buNone/>
              <a:defRPr sz="2325" b="1">
                <a:solidFill>
                  <a:srgbClr val="152C3A"/>
                </a:solidFill>
                <a:latin typeface="Arial"/>
                <a:ea typeface="Arial"/>
                <a:cs typeface="Arial"/>
              </a:defRPr>
            </a:pPr>
            <a:r>
              <a:rPr sz="2325" b="1">
                <a:solidFill>
                  <a:srgbClr val="152C3A"/>
                </a:solidFill>
                <a:latin typeface="Arial"/>
                <a:ea typeface="Arial"/>
                <a:cs typeface="Arial"/>
              </a:rPr>
              <a:t>validation</a:t>
            </a:r>
          </a:p>
        </p:txBody>
      </p:sp>
      <p:sp>
        <p:nvSpPr>
          <p:cNvPr id="99" name="Test activity in a relevant">
            <a:extLst xmlns:a="http://schemas.openxmlformats.org/drawingml/2006/main">
              <a:ext uri="{FF2B5EF4-FFF2-40B4-BE49-F238E27FC236}">
                <a16:creationId xmlns:a16="http://schemas.microsoft.com/office/drawing/2014/main" id="{1CAED6C7-05B5-428B-B26B-BECC24A4ECCF}"/>
              </a:ext>
            </a:extLst>
          </p:cNvPr>
          <p:cNvSpPr>
            <a:spLocks xmlns:a="http://schemas.openxmlformats.org/drawingml/2006/main" noGrp="1"/>
          </p:cNvSpPr>
          <p:nvPr/>
        </p:nvSpPr>
        <p:spPr>
          <a:xfrm xmlns:a="http://schemas.openxmlformats.org/drawingml/2006/main">
            <a:off x="16059150" y="4838700"/>
            <a:ext cx="30575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647887"/>
                </a:solidFill>
                <a:latin typeface="Arial"/>
                <a:ea typeface="Arial"/>
                <a:cs typeface="Arial"/>
              </a:defRPr>
            </a:defPPr>
          </a:lstStyle>
          <a:p xmlns:a="http://schemas.openxmlformats.org/drawingml/2006/main">
            <a:pPr algn="l">
              <a:lnSpc>
                <a:spcPct val="100000"/>
              </a:lnSpc>
              <a:buNone/>
              <a:defRPr sz="1575" b="0">
                <a:solidFill>
                  <a:srgbClr val="647887"/>
                </a:solidFill>
                <a:latin typeface="Arial"/>
                <a:ea typeface="Arial"/>
                <a:cs typeface="Arial"/>
              </a:defRPr>
            </a:pPr>
            <a:r>
              <a:rPr sz="1575" b="0">
                <a:solidFill>
                  <a:srgbClr val="647887"/>
                </a:solidFill>
                <a:latin typeface="Arial"/>
                <a:ea typeface="Arial"/>
                <a:cs typeface="Arial"/>
              </a:rPr>
              <a:t>Test activity in a relevant</a:t>
            </a:r>
          </a:p>
          <a:p xmlns:a="http://schemas.openxmlformats.org/drawingml/2006/main">
            <a:pPr algn="l">
              <a:lnSpc>
                <a:spcPct val="100000"/>
              </a:lnSpc>
              <a:buNone/>
              <a:defRPr sz="1575" b="0">
                <a:solidFill>
                  <a:srgbClr val="647887"/>
                </a:solidFill>
                <a:latin typeface="Arial"/>
                <a:ea typeface="Arial"/>
                <a:cs typeface="Arial"/>
              </a:defRPr>
            </a:pPr>
            <a:r>
              <a:rPr sz="1575" b="0">
                <a:solidFill>
                  <a:srgbClr val="647887"/>
                </a:solidFill>
                <a:latin typeface="Arial"/>
                <a:ea typeface="Arial"/>
                <a:cs typeface="Arial"/>
              </a:rPr>
              <a:t>cellular model</a:t>
            </a:r>
          </a:p>
        </p:txBody>
      </p:sp>
      <p:sp>
        <p:nvSpPr>
          <p:cNvPr id="100" name="">
            <a:extLst xmlns:a="http://schemas.openxmlformats.org/drawingml/2006/main">
              <a:ext uri="{FF2B5EF4-FFF2-40B4-BE49-F238E27FC236}">
                <a16:creationId xmlns:a16="http://schemas.microsoft.com/office/drawing/2014/main" id="{52756193-5081-4580-981E-7799443FB539}"/>
              </a:ext>
            </a:extLst>
          </p:cNvPr>
          <p:cNvSpPr>
            <a:spLocks xmlns:a="http://schemas.openxmlformats.org/drawingml/2006/main" noGrp="1"/>
          </p:cNvSpPr>
          <p:nvPr/>
        </p:nvSpPr>
        <p:spPr>
          <a:xfrm xmlns:a="http://schemas.openxmlformats.org/drawingml/2006/main">
            <a:off x="16011525" y="5505450"/>
            <a:ext cx="3152775" cy="714375"/>
          </a:xfrm>
          <a:prstGeom xmlns:a="http://schemas.openxmlformats.org/drawingml/2006/main" prst="roundRect">
            <a:avLst>
              <a:gd name="adj" fmla="val 9333"/>
            </a:avLst>
          </a:prstGeom>
          <a:solidFill xmlns:a="http://schemas.openxmlformats.org/drawingml/2006/main">
            <a:srgbClr val="EAF6F4"/>
          </a:solidFill>
          <a:ln xmlns:a="http://schemas.openxmlformats.org/drawingml/2006/main" w="9525">
            <a:noFill/>
          </a:ln>
        </p:spPr>
      </p:sp>
      <p:sp>
        <p:nvSpPr>
          <p:cNvPr id="101" name="LABEL">
            <a:extLst xmlns:a="http://schemas.openxmlformats.org/drawingml/2006/main">
              <a:ext uri="{FF2B5EF4-FFF2-40B4-BE49-F238E27FC236}">
                <a16:creationId xmlns:a16="http://schemas.microsoft.com/office/drawing/2014/main" id="{3D1EE941-B352-4B11-8E5F-C8C2D645C7B2}"/>
              </a:ext>
            </a:extLst>
          </p:cNvPr>
          <p:cNvSpPr>
            <a:spLocks xmlns:a="http://schemas.openxmlformats.org/drawingml/2006/main" noGrp="1"/>
          </p:cNvSpPr>
          <p:nvPr/>
        </p:nvSpPr>
        <p:spPr>
          <a:xfrm xmlns:a="http://schemas.openxmlformats.org/drawingml/2006/main">
            <a:off x="16116300" y="5610225"/>
            <a:ext cx="2943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1">
                <a:solidFill>
                  <a:srgbClr val="647887"/>
                </a:solidFill>
                <a:latin typeface="Arial"/>
                <a:ea typeface="Arial"/>
                <a:cs typeface="Arial"/>
              </a:defRPr>
            </a:defPPr>
          </a:lstStyle>
          <a:p xmlns:a="http://schemas.openxmlformats.org/drawingml/2006/main">
            <a:pPr algn="l">
              <a:lnSpc>
                <a:spcPct val="100000"/>
              </a:lnSpc>
              <a:buNone/>
              <a:defRPr sz="1088" b="1">
                <a:solidFill>
                  <a:srgbClr val="647887"/>
                </a:solidFill>
                <a:latin typeface="Arial"/>
                <a:ea typeface="Arial"/>
                <a:cs typeface="Arial"/>
              </a:defRPr>
            </a:pPr>
            <a:r>
              <a:rPr sz="1088" b="1">
                <a:solidFill>
                  <a:srgbClr val="647887"/>
                </a:solidFill>
                <a:latin typeface="Arial"/>
                <a:ea typeface="Arial"/>
                <a:cs typeface="Arial"/>
              </a:rPr>
              <a:t>LABEL</a:t>
            </a:r>
          </a:p>
        </p:txBody>
      </p:sp>
      <p:sp>
        <p:nvSpPr>
          <p:cNvPr id="102" name="Cell potency">
            <a:extLst xmlns:a="http://schemas.openxmlformats.org/drawingml/2006/main">
              <a:ext uri="{FF2B5EF4-FFF2-40B4-BE49-F238E27FC236}">
                <a16:creationId xmlns:a16="http://schemas.microsoft.com/office/drawing/2014/main" id="{CA537E65-7463-4988-ABD0-38DC06939F0B}"/>
              </a:ext>
            </a:extLst>
          </p:cNvPr>
          <p:cNvSpPr>
            <a:spLocks xmlns:a="http://schemas.openxmlformats.org/drawingml/2006/main" noGrp="1"/>
          </p:cNvSpPr>
          <p:nvPr/>
        </p:nvSpPr>
        <p:spPr>
          <a:xfrm xmlns:a="http://schemas.openxmlformats.org/drawingml/2006/main">
            <a:off x="16116300" y="5895975"/>
            <a:ext cx="2943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7D80"/>
                </a:solidFill>
                <a:latin typeface="Arial"/>
                <a:ea typeface="Arial"/>
                <a:cs typeface="Arial"/>
              </a:defRPr>
            </a:defPPr>
          </a:lstStyle>
          <a:p xmlns:a="http://schemas.openxmlformats.org/drawingml/2006/main">
            <a:pPr algn="l">
              <a:lnSpc>
                <a:spcPct val="100000"/>
              </a:lnSpc>
              <a:buNone/>
              <a:defRPr sz="1500" b="1">
                <a:solidFill>
                  <a:srgbClr val="007D80"/>
                </a:solidFill>
                <a:latin typeface="Arial"/>
                <a:ea typeface="Arial"/>
                <a:cs typeface="Arial"/>
              </a:defRPr>
            </a:pPr>
            <a:r>
              <a:rPr sz="1500" b="1">
                <a:solidFill>
                  <a:srgbClr val="007D80"/>
                </a:solidFill>
                <a:latin typeface="Arial"/>
                <a:ea typeface="Arial"/>
                <a:cs typeface="Arial"/>
              </a:rPr>
              <a:t>Cell potency</a:t>
            </a:r>
          </a:p>
        </p:txBody>
      </p:sp>
      <p:sp>
        <p:nvSpPr>
          <p:cNvPr id="103" name="REAGENTS">
            <a:extLst xmlns:a="http://schemas.openxmlformats.org/drawingml/2006/main">
              <a:ext uri="{FF2B5EF4-FFF2-40B4-BE49-F238E27FC236}">
                <a16:creationId xmlns:a16="http://schemas.microsoft.com/office/drawing/2014/main" id="{B4A1848C-4D91-4995-95C7-BB25F87B426A}"/>
              </a:ext>
            </a:extLst>
          </p:cNvPr>
          <p:cNvSpPr>
            <a:spLocks xmlns:a="http://schemas.openxmlformats.org/drawingml/2006/main" noGrp="1"/>
          </p:cNvSpPr>
          <p:nvPr/>
        </p:nvSpPr>
        <p:spPr>
          <a:xfrm xmlns:a="http://schemas.openxmlformats.org/drawingml/2006/main">
            <a:off x="16059150" y="62865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647887"/>
                </a:solidFill>
                <a:latin typeface="Arial"/>
                <a:ea typeface="Arial"/>
                <a:cs typeface="Arial"/>
              </a:defRPr>
            </a:defPPr>
          </a:lstStyle>
          <a:p xmlns:a="http://schemas.openxmlformats.org/drawingml/2006/main">
            <a:pPr algn="l">
              <a:lnSpc>
                <a:spcPct val="100000"/>
              </a:lnSpc>
              <a:buNone/>
              <a:defRPr sz="1238" b="1">
                <a:solidFill>
                  <a:srgbClr val="647887"/>
                </a:solidFill>
                <a:latin typeface="Arial"/>
                <a:ea typeface="Arial"/>
                <a:cs typeface="Arial"/>
              </a:defRPr>
            </a:pPr>
            <a:r>
              <a:rPr sz="1238" b="1">
                <a:solidFill>
                  <a:srgbClr val="647887"/>
                </a:solidFill>
                <a:latin typeface="Arial"/>
                <a:ea typeface="Arial"/>
                <a:cs typeface="Arial"/>
              </a:rPr>
              <a:t>REAGENTS</a:t>
            </a:r>
          </a:p>
        </p:txBody>
      </p:sp>
      <p:sp>
        <p:nvSpPr>
          <p:cNvPr id="104" name="Cell models, media, cytokines">
            <a:extLst xmlns:a="http://schemas.openxmlformats.org/drawingml/2006/main">
              <a:ext uri="{FF2B5EF4-FFF2-40B4-BE49-F238E27FC236}">
                <a16:creationId xmlns:a16="http://schemas.microsoft.com/office/drawing/2014/main" id="{B383F19C-76B5-4D13-803D-F6D258919EC3}"/>
              </a:ext>
            </a:extLst>
          </p:cNvPr>
          <p:cNvSpPr>
            <a:spLocks xmlns:a="http://schemas.openxmlformats.org/drawingml/2006/main" noGrp="1"/>
          </p:cNvSpPr>
          <p:nvPr/>
        </p:nvSpPr>
        <p:spPr>
          <a:xfrm xmlns:a="http://schemas.openxmlformats.org/drawingml/2006/main">
            <a:off x="16059150" y="65627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152C3A"/>
                </a:solidFill>
                <a:latin typeface="Arial"/>
                <a:ea typeface="Arial"/>
                <a:cs typeface="Arial"/>
              </a:defRPr>
            </a:defPPr>
          </a:lstStyle>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Cell models, media, cytokines</a:t>
            </a:r>
          </a:p>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Staining antibodies</a:t>
            </a:r>
          </a:p>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Reporter-assay reagents</a:t>
            </a:r>
          </a:p>
        </p:txBody>
      </p:sp>
      <p:sp>
        <p:nvSpPr>
          <p:cNvPr id="105" name="INSTRUMENTS">
            <a:extLst xmlns:a="http://schemas.openxmlformats.org/drawingml/2006/main">
              <a:ext uri="{FF2B5EF4-FFF2-40B4-BE49-F238E27FC236}">
                <a16:creationId xmlns:a16="http://schemas.microsoft.com/office/drawing/2014/main" id="{14EE12F3-15EE-4928-921B-BF196A7E4362}"/>
              </a:ext>
            </a:extLst>
          </p:cNvPr>
          <p:cNvSpPr>
            <a:spLocks xmlns:a="http://schemas.openxmlformats.org/drawingml/2006/main" noGrp="1"/>
          </p:cNvSpPr>
          <p:nvPr/>
        </p:nvSpPr>
        <p:spPr>
          <a:xfrm xmlns:a="http://schemas.openxmlformats.org/drawingml/2006/main">
            <a:off x="16059150" y="72390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647887"/>
                </a:solidFill>
                <a:latin typeface="Arial"/>
                <a:ea typeface="Arial"/>
                <a:cs typeface="Arial"/>
              </a:defRPr>
            </a:defPPr>
          </a:lstStyle>
          <a:p xmlns:a="http://schemas.openxmlformats.org/drawingml/2006/main">
            <a:pPr algn="l">
              <a:lnSpc>
                <a:spcPct val="100000"/>
              </a:lnSpc>
              <a:buNone/>
              <a:defRPr sz="1238" b="1">
                <a:solidFill>
                  <a:srgbClr val="647887"/>
                </a:solidFill>
                <a:latin typeface="Arial"/>
                <a:ea typeface="Arial"/>
                <a:cs typeface="Arial"/>
              </a:defRPr>
            </a:pPr>
            <a:r>
              <a:rPr sz="1238" b="1">
                <a:solidFill>
                  <a:srgbClr val="647887"/>
                </a:solidFill>
                <a:latin typeface="Arial"/>
                <a:ea typeface="Arial"/>
                <a:cs typeface="Arial"/>
              </a:rPr>
              <a:t>INSTRUMENTS</a:t>
            </a:r>
          </a:p>
        </p:txBody>
      </p:sp>
      <p:sp>
        <p:nvSpPr>
          <p:cNvPr id="106" name="Flow cytometer">
            <a:extLst xmlns:a="http://schemas.openxmlformats.org/drawingml/2006/main">
              <a:ext uri="{FF2B5EF4-FFF2-40B4-BE49-F238E27FC236}">
                <a16:creationId xmlns:a16="http://schemas.microsoft.com/office/drawing/2014/main" id="{E1EBE811-3498-4EAD-9EAC-D03D0E5517C5}"/>
              </a:ext>
            </a:extLst>
          </p:cNvPr>
          <p:cNvSpPr>
            <a:spLocks xmlns:a="http://schemas.openxmlformats.org/drawingml/2006/main" noGrp="1"/>
          </p:cNvSpPr>
          <p:nvPr/>
        </p:nvSpPr>
        <p:spPr>
          <a:xfrm xmlns:a="http://schemas.openxmlformats.org/drawingml/2006/main">
            <a:off x="16059150" y="75152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152C3A"/>
                </a:solidFill>
                <a:latin typeface="Arial"/>
                <a:ea typeface="Arial"/>
                <a:cs typeface="Arial"/>
              </a:defRPr>
            </a:defPPr>
          </a:lstStyle>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Flow cytometer</a:t>
            </a:r>
          </a:p>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High-content imaging</a:t>
            </a:r>
          </a:p>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Plate reader</a:t>
            </a:r>
          </a:p>
        </p:txBody>
      </p:sp>
      <p:sp>
        <p:nvSpPr>
          <p:cNvPr id="107" name="CONSUMABLES">
            <a:extLst xmlns:a="http://schemas.openxmlformats.org/drawingml/2006/main">
              <a:ext uri="{FF2B5EF4-FFF2-40B4-BE49-F238E27FC236}">
                <a16:creationId xmlns:a16="http://schemas.microsoft.com/office/drawing/2014/main" id="{B006FC6F-1EF9-4AB2-8CC0-EC0169F214E5}"/>
              </a:ext>
            </a:extLst>
          </p:cNvPr>
          <p:cNvSpPr>
            <a:spLocks xmlns:a="http://schemas.openxmlformats.org/drawingml/2006/main" noGrp="1"/>
          </p:cNvSpPr>
          <p:nvPr/>
        </p:nvSpPr>
        <p:spPr>
          <a:xfrm xmlns:a="http://schemas.openxmlformats.org/drawingml/2006/main">
            <a:off x="16059150" y="81915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647887"/>
                </a:solidFill>
                <a:latin typeface="Arial"/>
                <a:ea typeface="Arial"/>
                <a:cs typeface="Arial"/>
              </a:defRPr>
            </a:defPPr>
          </a:lstStyle>
          <a:p xmlns:a="http://schemas.openxmlformats.org/drawingml/2006/main">
            <a:pPr algn="l">
              <a:lnSpc>
                <a:spcPct val="100000"/>
              </a:lnSpc>
              <a:buNone/>
              <a:defRPr sz="1238" b="1">
                <a:solidFill>
                  <a:srgbClr val="647887"/>
                </a:solidFill>
                <a:latin typeface="Arial"/>
                <a:ea typeface="Arial"/>
                <a:cs typeface="Arial"/>
              </a:defRPr>
            </a:pPr>
            <a:r>
              <a:rPr sz="1238" b="1">
                <a:solidFill>
                  <a:srgbClr val="647887"/>
                </a:solidFill>
                <a:latin typeface="Arial"/>
                <a:ea typeface="Arial"/>
                <a:cs typeface="Arial"/>
              </a:rPr>
              <a:t>CONSUMABLES</a:t>
            </a:r>
          </a:p>
        </p:txBody>
      </p:sp>
      <p:sp>
        <p:nvSpPr>
          <p:cNvPr id="108" name="Cell-culture plates / flasks">
            <a:extLst xmlns:a="http://schemas.openxmlformats.org/drawingml/2006/main">
              <a:ext uri="{FF2B5EF4-FFF2-40B4-BE49-F238E27FC236}">
                <a16:creationId xmlns:a16="http://schemas.microsoft.com/office/drawing/2014/main" id="{333B6321-23E6-43E2-AA01-178E081B362B}"/>
              </a:ext>
            </a:extLst>
          </p:cNvPr>
          <p:cNvSpPr>
            <a:spLocks xmlns:a="http://schemas.openxmlformats.org/drawingml/2006/main" noGrp="1"/>
          </p:cNvSpPr>
          <p:nvPr/>
        </p:nvSpPr>
        <p:spPr>
          <a:xfrm xmlns:a="http://schemas.openxmlformats.org/drawingml/2006/main">
            <a:off x="16059150" y="84677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152C3A"/>
                </a:solidFill>
                <a:latin typeface="Arial"/>
                <a:ea typeface="Arial"/>
                <a:cs typeface="Arial"/>
              </a:defRPr>
            </a:defPPr>
          </a:lstStyle>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Cell-culture plates / flasks</a:t>
            </a:r>
          </a:p>
          <a:p xmlns:a="http://schemas.openxmlformats.org/drawingml/2006/main">
            <a:pPr algn="l">
              <a:lnSpc>
                <a:spcPct val="100000"/>
              </a:lnSpc>
              <a:buNone/>
              <a:defRPr sz="1463" b="0">
                <a:solidFill>
                  <a:srgbClr val="152C3A"/>
                </a:solidFill>
                <a:latin typeface="Arial"/>
                <a:ea typeface="Arial"/>
                <a:cs typeface="Arial"/>
              </a:defRPr>
            </a:pPr>
            <a:r>
              <a:rPr sz="1463" b="0">
                <a:solidFill>
                  <a:srgbClr val="152C3A"/>
                </a:solidFill>
                <a:latin typeface="Arial"/>
                <a:ea typeface="Arial"/>
                <a:cs typeface="Arial"/>
              </a:rPr>
              <a:t>Pipette tips, filters</a:t>
            </a:r>
          </a:p>
        </p:txBody>
      </p:sp>
      <p:sp>
        <p:nvSpPr>
          <p:cNvPr id="109" name="">
            <a:extLst xmlns:a="http://schemas.openxmlformats.org/drawingml/2006/main">
              <a:ext uri="{FF2B5EF4-FFF2-40B4-BE49-F238E27FC236}">
                <a16:creationId xmlns:a16="http://schemas.microsoft.com/office/drawing/2014/main" id="{C30E8D25-2D67-47A3-B0E3-2FE7EB43A89C}"/>
              </a:ext>
            </a:extLst>
          </p:cNvPr>
          <p:cNvSpPr>
            <a:spLocks xmlns:a="http://schemas.openxmlformats.org/drawingml/2006/main" noGrp="1"/>
          </p:cNvSpPr>
          <p:nvPr/>
        </p:nvSpPr>
        <p:spPr>
          <a:xfrm xmlns:a="http://schemas.openxmlformats.org/drawingml/2006/main">
            <a:off x="16059150" y="9239250"/>
            <a:ext cx="3057525" cy="953"/>
          </a:xfrm>
          <a:custGeom xmlns:a="http://schemas.openxmlformats.org/drawingml/2006/main">
            <a:pathLst>
              <a:path w="3057525" h="953">
                <a:moveTo>
                  <a:pt x="0" y="0"/>
                </a:moveTo>
                <a:lnTo>
                  <a:pt x="3057525" y="0"/>
                </a:lnTo>
              </a:path>
            </a:pathLst>
          </a:custGeom>
          <a:noFill xmlns:a="http://schemas.openxmlformats.org/drawingml/2006/main"/>
          <a:ln xmlns:a="http://schemas.openxmlformats.org/drawingml/2006/main" w="9525">
            <a:solidFill>
              <a:srgbClr val="D7E3E8"/>
            </a:solidFill>
          </a:ln>
        </p:spPr>
      </p:sp>
      <p:sp>
        <p:nvSpPr>
          <p:cNvPr id="110" name="REPRESENTATIVE SUPPLIERS">
            <a:extLst xmlns:a="http://schemas.openxmlformats.org/drawingml/2006/main">
              <a:ext uri="{FF2B5EF4-FFF2-40B4-BE49-F238E27FC236}">
                <a16:creationId xmlns:a16="http://schemas.microsoft.com/office/drawing/2014/main" id="{9F41E447-487F-4D92-B79E-EF069EAEC8EE}"/>
              </a:ext>
            </a:extLst>
          </p:cNvPr>
          <p:cNvSpPr>
            <a:spLocks xmlns:a="http://schemas.openxmlformats.org/drawingml/2006/main" noGrp="1"/>
          </p:cNvSpPr>
          <p:nvPr/>
        </p:nvSpPr>
        <p:spPr>
          <a:xfrm xmlns:a="http://schemas.openxmlformats.org/drawingml/2006/main">
            <a:off x="16059150" y="9372600"/>
            <a:ext cx="30575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63" b="1">
                <a:solidFill>
                  <a:srgbClr val="647887"/>
                </a:solidFill>
                <a:latin typeface="Arial"/>
                <a:ea typeface="Arial"/>
                <a:cs typeface="Arial"/>
              </a:defRPr>
            </a:defPPr>
          </a:lstStyle>
          <a:p xmlns:a="http://schemas.openxmlformats.org/drawingml/2006/main">
            <a:pPr algn="l">
              <a:lnSpc>
                <a:spcPct val="100000"/>
              </a:lnSpc>
              <a:buNone/>
              <a:defRPr sz="1163" b="1">
                <a:solidFill>
                  <a:srgbClr val="647887"/>
                </a:solidFill>
                <a:latin typeface="Arial"/>
                <a:ea typeface="Arial"/>
                <a:cs typeface="Arial"/>
              </a:defRPr>
            </a:pPr>
            <a:r>
              <a:rPr sz="1163" b="1">
                <a:solidFill>
                  <a:srgbClr val="647887"/>
                </a:solidFill>
                <a:latin typeface="Arial"/>
                <a:ea typeface="Arial"/>
                <a:cs typeface="Arial"/>
              </a:rPr>
              <a:t>REPRESENTATIVE SUPPLIERS</a:t>
            </a:r>
          </a:p>
        </p:txBody>
      </p:sp>
      <p:pic>
        <p:nvPicPr>
          <p:cNvPr id="111" name="">
            <a:extLst xmlns:a="http://schemas.openxmlformats.org/drawingml/2006/main">
              <a:ext uri="{FF2B5EF4-FFF2-40B4-BE49-F238E27FC236}">
                <a16:creationId xmlns:a16="http://schemas.microsoft.com/office/drawing/2014/main" id="{A9D2BF06-BC7A-44B4-B4C3-AC2DF4ECF2AC}"/>
              </a:ext>
            </a:extLst>
          </p:cNvPr>
          <p:cNvPicPr>
            <a:picLocks xmlns:a="http://schemas.openxmlformats.org/drawingml/2006/main" noChangeAspect="1"/>
          </p:cNvPicPr>
          <p:nvPr/>
        </p:nvPicPr>
        <p:blipFill>
          <a:blip xmlns:r="http://schemas.openxmlformats.org/officeDocument/2006/relationships" xmlns:a="http://schemas.openxmlformats.org/drawingml/2006/main" r:embed="R3c5925ff4e2e413e"/>
          <a:stretch xmlns:a="http://schemas.openxmlformats.org/drawingml/2006/main"/>
        </p:blipFill>
        <p:spPr>
          <a:xfrm xmlns:a="http://schemas.openxmlformats.org/drawingml/2006/main">
            <a:off x="16506825" y="9648825"/>
            <a:ext cx="933450" cy="466725"/>
          </a:xfrm>
          <a:prstGeom xmlns:a="http://schemas.openxmlformats.org/drawingml/2006/main" prst="rect">
            <a:avLst/>
          </a:prstGeom>
        </p:spPr>
      </p:pic>
      <p:sp>
        <p:nvSpPr>
          <p:cNvPr id="112" name="Gibco · OPM · Vazyme · Bio-Techne">
            <a:extLst xmlns:a="http://schemas.openxmlformats.org/drawingml/2006/main">
              <a:ext uri="{FF2B5EF4-FFF2-40B4-BE49-F238E27FC236}">
                <a16:creationId xmlns:a16="http://schemas.microsoft.com/office/drawing/2014/main" id="{E0A608D1-65D5-430C-9ECA-84761F98CE1F}"/>
              </a:ext>
            </a:extLst>
          </p:cNvPr>
          <p:cNvSpPr>
            <a:spLocks xmlns:a="http://schemas.openxmlformats.org/drawingml/2006/main" noGrp="1"/>
          </p:cNvSpPr>
          <p:nvPr/>
        </p:nvSpPr>
        <p:spPr>
          <a:xfrm xmlns:a="http://schemas.openxmlformats.org/drawingml/2006/main">
            <a:off x="16059150" y="10210800"/>
            <a:ext cx="30575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0">
                <a:solidFill>
                  <a:srgbClr val="647887"/>
                </a:solidFill>
                <a:latin typeface="Arial"/>
                <a:ea typeface="Arial"/>
                <a:cs typeface="Arial"/>
              </a:defRPr>
            </a:defPPr>
          </a:lstStyle>
          <a:p xmlns:a="http://schemas.openxmlformats.org/drawingml/2006/main">
            <a:pPr algn="l">
              <a:lnSpc>
                <a:spcPct val="100000"/>
              </a:lnSpc>
              <a:buNone/>
              <a:defRPr sz="1238" b="0">
                <a:solidFill>
                  <a:srgbClr val="647887"/>
                </a:solidFill>
                <a:latin typeface="Arial"/>
                <a:ea typeface="Arial"/>
                <a:cs typeface="Arial"/>
              </a:defRPr>
            </a:pPr>
            <a:r>
              <a:rPr sz="1238" b="0">
                <a:solidFill>
                  <a:srgbClr val="647887"/>
                </a:solidFill>
                <a:latin typeface="Arial"/>
                <a:ea typeface="Arial"/>
                <a:cs typeface="Arial"/>
              </a:rPr>
              <a:t>Gibco · OPM · Vazyme · Bio-Techne</a:t>
            </a:r>
          </a:p>
          <a:p xmlns:a="http://schemas.openxmlformats.org/drawingml/2006/main">
            <a:pPr algn="l">
              <a:lnSpc>
                <a:spcPct val="100000"/>
              </a:lnSpc>
              <a:buNone/>
              <a:defRPr sz="1238" b="0">
                <a:solidFill>
                  <a:srgbClr val="647887"/>
                </a:solidFill>
                <a:latin typeface="Arial"/>
                <a:ea typeface="Arial"/>
                <a:cs typeface="Arial"/>
              </a:defRPr>
            </a:pPr>
            <a:r>
              <a:rPr sz="1238" b="0">
                <a:solidFill>
                  <a:srgbClr val="647887"/>
                </a:solidFill>
                <a:latin typeface="Arial"/>
                <a:ea typeface="Arial"/>
                <a:cs typeface="Arial"/>
              </a:rPr>
              <a:t>Molecular Devices · Corning</a:t>
            </a:r>
          </a:p>
          <a:p xmlns:a="http://schemas.openxmlformats.org/drawingml/2006/main">
            <a:pPr algn="l">
              <a:lnSpc>
                <a:spcPct val="100000"/>
              </a:lnSpc>
              <a:buNone/>
              <a:defRPr sz="1238" b="0">
                <a:solidFill>
                  <a:srgbClr val="647887"/>
                </a:solidFill>
                <a:latin typeface="Arial"/>
                <a:ea typeface="Arial"/>
                <a:cs typeface="Arial"/>
              </a:defRPr>
            </a:pPr>
            <a:r>
              <a:rPr sz="1238" b="0">
                <a:solidFill>
                  <a:srgbClr val="647887"/>
                </a:solidFill>
                <a:latin typeface="Arial"/>
                <a:ea typeface="Arial"/>
                <a:cs typeface="Arial"/>
              </a:rPr>
              <a:t>Waters Biosciences (ex-BD)</a:t>
            </a:r>
          </a:p>
        </p:txBody>
      </p:sp>
      <p:sp>
        <p:nvSpPr>
          <p:cNvPr id="113" name="">
            <a:extLst xmlns:a="http://schemas.openxmlformats.org/drawingml/2006/main">
              <a:ext uri="{FF2B5EF4-FFF2-40B4-BE49-F238E27FC236}">
                <a16:creationId xmlns:a16="http://schemas.microsoft.com/office/drawing/2014/main" id="{214B2795-1113-48E5-9EFC-D71DE7B3F7B3}"/>
              </a:ext>
            </a:extLst>
          </p:cNvPr>
          <p:cNvSpPr>
            <a:spLocks xmlns:a="http://schemas.openxmlformats.org/drawingml/2006/main" noGrp="1"/>
          </p:cNvSpPr>
          <p:nvPr/>
        </p:nvSpPr>
        <p:spPr>
          <a:xfrm xmlns:a="http://schemas.openxmlformats.org/drawingml/2006/main">
            <a:off x="19554825" y="3267075"/>
            <a:ext cx="2381250" cy="7639050"/>
          </a:xfrm>
          <a:prstGeom xmlns:a="http://schemas.openxmlformats.org/drawingml/2006/main" prst="roundRect">
            <a:avLst>
              <a:gd name="adj" fmla="val 5600"/>
            </a:avLst>
          </a:prstGeom>
          <a:solidFill xmlns:a="http://schemas.openxmlformats.org/drawingml/2006/main">
            <a:srgbClr val="EEF3F4"/>
          </a:solidFill>
          <a:ln xmlns:a="http://schemas.openxmlformats.org/drawingml/2006/main" w="9525">
            <a:noFill/>
          </a:ln>
        </p:spPr>
      </p:sp>
      <p:sp>
        <p:nvSpPr>
          <p:cNvPr id="114" name="">
            <a:extLst xmlns:a="http://schemas.openxmlformats.org/drawingml/2006/main">
              <a:ext uri="{FF2B5EF4-FFF2-40B4-BE49-F238E27FC236}">
                <a16:creationId xmlns:a16="http://schemas.microsoft.com/office/drawing/2014/main" id="{43C16B81-3A9C-47FE-AD74-32121A10C36A}"/>
              </a:ext>
            </a:extLst>
          </p:cNvPr>
          <p:cNvSpPr>
            <a:spLocks xmlns:a="http://schemas.openxmlformats.org/drawingml/2006/main" noGrp="1"/>
          </p:cNvSpPr>
          <p:nvPr/>
        </p:nvSpPr>
        <p:spPr>
          <a:xfrm xmlns:a="http://schemas.openxmlformats.org/drawingml/2006/main">
            <a:off x="19526250" y="3219450"/>
            <a:ext cx="2381250" cy="7639050"/>
          </a:xfrm>
          <a:prstGeom xmlns:a="http://schemas.openxmlformats.org/drawingml/2006/main" prst="roundRect">
            <a:avLst>
              <a:gd name="adj" fmla="val 5600"/>
            </a:avLst>
          </a:prstGeom>
          <a:solidFill xmlns:a="http://schemas.openxmlformats.org/drawingml/2006/main">
            <a:srgbClr val="FFFFFF"/>
          </a:solidFill>
          <a:ln xmlns:a="http://schemas.openxmlformats.org/drawingml/2006/main" w="10478">
            <a:solidFill>
              <a:srgbClr val="D7E3E8"/>
            </a:solidFill>
          </a:ln>
        </p:spPr>
      </p:sp>
      <p:sp>
        <p:nvSpPr>
          <p:cNvPr id="115" name="">
            <a:extLst xmlns:a="http://schemas.openxmlformats.org/drawingml/2006/main">
              <a:ext uri="{FF2B5EF4-FFF2-40B4-BE49-F238E27FC236}">
                <a16:creationId xmlns:a16="http://schemas.microsoft.com/office/drawing/2014/main" id="{4DE1FE0C-696B-4F2B-9ACD-A5872F16AA00}"/>
              </a:ext>
            </a:extLst>
          </p:cNvPr>
          <p:cNvSpPr>
            <a:spLocks xmlns:a="http://schemas.openxmlformats.org/drawingml/2006/main" noGrp="1"/>
          </p:cNvSpPr>
          <p:nvPr/>
        </p:nvSpPr>
        <p:spPr>
          <a:xfrm xmlns:a="http://schemas.openxmlformats.org/drawingml/2006/main">
            <a:off x="19535775" y="3228975"/>
            <a:ext cx="2362200" cy="104775"/>
          </a:xfrm>
          <a:prstGeom xmlns:a="http://schemas.openxmlformats.org/drawingml/2006/main" prst="rect">
            <a:avLst/>
          </a:prstGeom>
          <a:solidFill xmlns:a="http://schemas.openxmlformats.org/drawingml/2006/main">
            <a:srgbClr val="4D8574"/>
          </a:solidFill>
          <a:ln xmlns:a="http://schemas.openxmlformats.org/drawingml/2006/main" w="9525">
            <a:noFill/>
          </a:ln>
        </p:spPr>
      </p:sp>
      <p:sp>
        <p:nvSpPr>
          <p:cNvPr id="116" name="06  /  LEARN">
            <a:extLst xmlns:a="http://schemas.openxmlformats.org/drawingml/2006/main">
              <a:ext uri="{FF2B5EF4-FFF2-40B4-BE49-F238E27FC236}">
                <a16:creationId xmlns:a16="http://schemas.microsoft.com/office/drawing/2014/main" id="{1331C9AF-8997-48A7-A9FB-F97A83C8532A}"/>
              </a:ext>
            </a:extLst>
          </p:cNvPr>
          <p:cNvSpPr>
            <a:spLocks xmlns:a="http://schemas.openxmlformats.org/drawingml/2006/main" noGrp="1"/>
          </p:cNvSpPr>
          <p:nvPr/>
        </p:nvSpPr>
        <p:spPr>
          <a:xfrm xmlns:a="http://schemas.openxmlformats.org/drawingml/2006/main">
            <a:off x="19735800" y="3476625"/>
            <a:ext cx="1504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647887"/>
                </a:solidFill>
                <a:latin typeface="Arial"/>
                <a:ea typeface="Arial"/>
                <a:cs typeface="Arial"/>
              </a:defRPr>
            </a:defPPr>
          </a:lstStyle>
          <a:p xmlns:a="http://schemas.openxmlformats.org/drawingml/2006/main">
            <a:pPr algn="l">
              <a:lnSpc>
                <a:spcPct val="100000"/>
              </a:lnSpc>
              <a:buNone/>
              <a:defRPr sz="1500" b="1">
                <a:solidFill>
                  <a:srgbClr val="647887"/>
                </a:solidFill>
                <a:latin typeface="Arial"/>
                <a:ea typeface="Arial"/>
                <a:cs typeface="Arial"/>
              </a:defRPr>
            </a:pPr>
            <a:r>
              <a:rPr sz="1500" b="1">
                <a:solidFill>
                  <a:srgbClr val="647887"/>
                </a:solidFill>
                <a:latin typeface="Arial"/>
                <a:ea typeface="Arial"/>
                <a:cs typeface="Arial"/>
              </a:rPr>
              <a:t>06  /  LEARN</a:t>
            </a:r>
          </a:p>
        </p:txBody>
      </p:sp>
      <p:pic>
        <p:nvPicPr>
          <p:cNvPr id="117" name="">
            <a:extLst xmlns:a="http://schemas.openxmlformats.org/drawingml/2006/main">
              <a:ext uri="{FF2B5EF4-FFF2-40B4-BE49-F238E27FC236}">
                <a16:creationId xmlns:a16="http://schemas.microsoft.com/office/drawing/2014/main" id="{C2A418B2-16D0-4572-B12D-D8C33E49C7FA}"/>
              </a:ext>
            </a:extLst>
          </p:cNvPr>
          <p:cNvPicPr>
            <a:picLocks xmlns:a="http://schemas.openxmlformats.org/drawingml/2006/main" noChangeAspect="1"/>
          </p:cNvPicPr>
          <p:nvPr/>
        </p:nvPicPr>
        <p:blipFill>
          <a:blip xmlns:r="http://schemas.openxmlformats.org/officeDocument/2006/relationships" xmlns:a="http://schemas.openxmlformats.org/drawingml/2006/main" r:embed="R672c80e33cca409f">
            <a:extLst>
              <a:ext uri="{96DAC541-7B7A-43D3-8B79-37D633B846F1}">
                <asvg:svgBlip xmlns:asvg="http://schemas.microsoft.com/office/drawing/2016/SVG/main" r:embed="R5866bd14fd594adb"/>
              </a:ext>
            </a:extLst>
          </a:blip>
          <a:stretch xmlns:a="http://schemas.openxmlformats.org/drawingml/2006/main"/>
        </p:blipFill>
        <p:spPr>
          <a:xfrm xmlns:a="http://schemas.openxmlformats.org/drawingml/2006/main">
            <a:off x="21307425" y="3448050"/>
            <a:ext cx="371475" cy="371475"/>
          </a:xfrm>
          <a:prstGeom xmlns:a="http://schemas.openxmlformats.org/drawingml/2006/main" prst="rect">
            <a:avLst/>
          </a:prstGeom>
        </p:spPr>
      </p:pic>
      <p:sp>
        <p:nvSpPr>
          <p:cNvPr id="118" name="Data integration">
            <a:extLst xmlns:a="http://schemas.openxmlformats.org/drawingml/2006/main">
              <a:ext uri="{FF2B5EF4-FFF2-40B4-BE49-F238E27FC236}">
                <a16:creationId xmlns:a16="http://schemas.microsoft.com/office/drawing/2014/main" id="{26A1B74D-7A6E-46F7-853B-F35D6E721EDB}"/>
              </a:ext>
            </a:extLst>
          </p:cNvPr>
          <p:cNvSpPr>
            <a:spLocks xmlns:a="http://schemas.openxmlformats.org/drawingml/2006/main" noGrp="1"/>
          </p:cNvSpPr>
          <p:nvPr/>
        </p:nvSpPr>
        <p:spPr>
          <a:xfrm xmlns:a="http://schemas.openxmlformats.org/drawingml/2006/main">
            <a:off x="19735800" y="3981450"/>
            <a:ext cx="19621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00" b="1">
                <a:solidFill>
                  <a:srgbClr val="152C3A"/>
                </a:solidFill>
                <a:latin typeface="Arial"/>
                <a:ea typeface="Arial"/>
                <a:cs typeface="Arial"/>
              </a:defRPr>
            </a:defPPr>
          </a:lstStyle>
          <a:p xmlns:a="http://schemas.openxmlformats.org/drawingml/2006/main">
            <a:pPr algn="l">
              <a:lnSpc>
                <a:spcPct val="100000"/>
              </a:lnSpc>
              <a:buNone/>
              <a:defRPr sz="2100" b="1">
                <a:solidFill>
                  <a:srgbClr val="152C3A"/>
                </a:solidFill>
                <a:latin typeface="Arial"/>
                <a:ea typeface="Arial"/>
                <a:cs typeface="Arial"/>
              </a:defRPr>
            </a:pPr>
            <a:r>
              <a:rPr sz="2100" b="1">
                <a:solidFill>
                  <a:srgbClr val="152C3A"/>
                </a:solidFill>
                <a:latin typeface="Arial"/>
                <a:ea typeface="Arial"/>
                <a:cs typeface="Arial"/>
              </a:rPr>
              <a:t>Data integration</a:t>
            </a:r>
          </a:p>
          <a:p xmlns:a="http://schemas.openxmlformats.org/drawingml/2006/main">
            <a:pPr algn="l">
              <a:lnSpc>
                <a:spcPct val="100000"/>
              </a:lnSpc>
              <a:buNone/>
              <a:defRPr sz="2100" b="1">
                <a:solidFill>
                  <a:srgbClr val="152C3A"/>
                </a:solidFill>
                <a:latin typeface="Arial"/>
                <a:ea typeface="Arial"/>
                <a:cs typeface="Arial"/>
              </a:defRPr>
            </a:pPr>
            <a:r>
              <a:rPr sz="2100" b="1">
                <a:solidFill>
                  <a:srgbClr val="152C3A"/>
                </a:solidFill>
                <a:latin typeface="Arial"/>
                <a:ea typeface="Arial"/>
                <a:cs typeface="Arial"/>
              </a:rPr>
              <a:t>&amp; feedback</a:t>
            </a:r>
          </a:p>
        </p:txBody>
      </p:sp>
      <p:sp>
        <p:nvSpPr>
          <p:cNvPr id="119" name="Link assay results">
            <a:extLst xmlns:a="http://schemas.openxmlformats.org/drawingml/2006/main">
              <a:ext uri="{FF2B5EF4-FFF2-40B4-BE49-F238E27FC236}">
                <a16:creationId xmlns:a16="http://schemas.microsoft.com/office/drawing/2014/main" id="{ED24B09F-7AE4-4FC9-99DC-481F94D6A129}"/>
              </a:ext>
            </a:extLst>
          </p:cNvPr>
          <p:cNvSpPr>
            <a:spLocks xmlns:a="http://schemas.openxmlformats.org/drawingml/2006/main" noGrp="1"/>
          </p:cNvSpPr>
          <p:nvPr/>
        </p:nvSpPr>
        <p:spPr>
          <a:xfrm xmlns:a="http://schemas.openxmlformats.org/drawingml/2006/main">
            <a:off x="19735800" y="4838700"/>
            <a:ext cx="19621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647887"/>
                </a:solidFill>
                <a:latin typeface="Arial"/>
                <a:ea typeface="Arial"/>
                <a:cs typeface="Arial"/>
              </a:defRPr>
            </a:defPPr>
          </a:lstStyle>
          <a:p xmlns:a="http://schemas.openxmlformats.org/drawingml/2006/main">
            <a:pPr algn="l">
              <a:lnSpc>
                <a:spcPct val="100000"/>
              </a:lnSpc>
              <a:buNone/>
              <a:defRPr sz="1500" b="0">
                <a:solidFill>
                  <a:srgbClr val="647887"/>
                </a:solidFill>
                <a:latin typeface="Arial"/>
                <a:ea typeface="Arial"/>
                <a:cs typeface="Arial"/>
              </a:defRPr>
            </a:pPr>
            <a:r>
              <a:rPr sz="1500" b="0">
                <a:solidFill>
                  <a:srgbClr val="647887"/>
                </a:solidFill>
                <a:latin typeface="Arial"/>
                <a:ea typeface="Arial"/>
                <a:cs typeface="Arial"/>
              </a:rPr>
              <a:t>Link assay results</a:t>
            </a:r>
          </a:p>
          <a:p xmlns:a="http://schemas.openxmlformats.org/drawingml/2006/main">
            <a:pPr algn="l">
              <a:lnSpc>
                <a:spcPct val="100000"/>
              </a:lnSpc>
              <a:buNone/>
              <a:defRPr sz="1500" b="0">
                <a:solidFill>
                  <a:srgbClr val="647887"/>
                </a:solidFill>
                <a:latin typeface="Arial"/>
                <a:ea typeface="Arial"/>
                <a:cs typeface="Arial"/>
              </a:defRPr>
            </a:pPr>
            <a:r>
              <a:rPr sz="1500" b="0">
                <a:solidFill>
                  <a:srgbClr val="647887"/>
                </a:solidFill>
                <a:latin typeface="Arial"/>
                <a:ea typeface="Arial"/>
                <a:cs typeface="Arial"/>
              </a:rPr>
              <a:t>to the next AI design</a:t>
            </a:r>
          </a:p>
        </p:txBody>
      </p:sp>
      <p:sp>
        <p:nvSpPr>
          <p:cNvPr id="120" name="">
            <a:extLst xmlns:a="http://schemas.openxmlformats.org/drawingml/2006/main">
              <a:ext uri="{FF2B5EF4-FFF2-40B4-BE49-F238E27FC236}">
                <a16:creationId xmlns:a16="http://schemas.microsoft.com/office/drawing/2014/main" id="{7E512624-42B4-4A61-B665-7FAA45E62AF2}"/>
              </a:ext>
            </a:extLst>
          </p:cNvPr>
          <p:cNvSpPr>
            <a:spLocks xmlns:a="http://schemas.openxmlformats.org/drawingml/2006/main" noGrp="1"/>
          </p:cNvSpPr>
          <p:nvPr/>
        </p:nvSpPr>
        <p:spPr>
          <a:xfrm xmlns:a="http://schemas.openxmlformats.org/drawingml/2006/main">
            <a:off x="19688175" y="5505450"/>
            <a:ext cx="2057400" cy="714375"/>
          </a:xfrm>
          <a:prstGeom xmlns:a="http://schemas.openxmlformats.org/drawingml/2006/main" prst="roundRect">
            <a:avLst>
              <a:gd name="adj" fmla="val 9333"/>
            </a:avLst>
          </a:prstGeom>
          <a:solidFill xmlns:a="http://schemas.openxmlformats.org/drawingml/2006/main">
            <a:srgbClr val="F5F8F9"/>
          </a:solidFill>
          <a:ln xmlns:a="http://schemas.openxmlformats.org/drawingml/2006/main" w="9525">
            <a:noFill/>
          </a:ln>
        </p:spPr>
      </p:sp>
      <p:sp>
        <p:nvSpPr>
          <p:cNvPr id="121" name="OUTPUT">
            <a:extLst xmlns:a="http://schemas.openxmlformats.org/drawingml/2006/main">
              <a:ext uri="{FF2B5EF4-FFF2-40B4-BE49-F238E27FC236}">
                <a16:creationId xmlns:a16="http://schemas.microsoft.com/office/drawing/2014/main" id="{042D80A4-31FB-44FA-9E28-2FCE559A95DA}"/>
              </a:ext>
            </a:extLst>
          </p:cNvPr>
          <p:cNvSpPr>
            <a:spLocks xmlns:a="http://schemas.openxmlformats.org/drawingml/2006/main" noGrp="1"/>
          </p:cNvSpPr>
          <p:nvPr/>
        </p:nvSpPr>
        <p:spPr>
          <a:xfrm xmlns:a="http://schemas.openxmlformats.org/drawingml/2006/main">
            <a:off x="19792950" y="5610225"/>
            <a:ext cx="18478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1">
                <a:solidFill>
                  <a:srgbClr val="647887"/>
                </a:solidFill>
                <a:latin typeface="Arial"/>
                <a:ea typeface="Arial"/>
                <a:cs typeface="Arial"/>
              </a:defRPr>
            </a:defPPr>
          </a:lstStyle>
          <a:p xmlns:a="http://schemas.openxmlformats.org/drawingml/2006/main">
            <a:pPr algn="l">
              <a:lnSpc>
                <a:spcPct val="100000"/>
              </a:lnSpc>
              <a:buNone/>
              <a:defRPr sz="1088" b="1">
                <a:solidFill>
                  <a:srgbClr val="647887"/>
                </a:solidFill>
                <a:latin typeface="Arial"/>
                <a:ea typeface="Arial"/>
                <a:cs typeface="Arial"/>
              </a:defRPr>
            </a:pPr>
            <a:r>
              <a:rPr sz="1088" b="1">
                <a:solidFill>
                  <a:srgbClr val="647887"/>
                </a:solidFill>
                <a:latin typeface="Arial"/>
                <a:ea typeface="Arial"/>
                <a:cs typeface="Arial"/>
              </a:rPr>
              <a:t>OUTPUT</a:t>
            </a:r>
          </a:p>
        </p:txBody>
      </p:sp>
      <p:sp>
        <p:nvSpPr>
          <p:cNvPr id="122" name="Traceable training data">
            <a:extLst xmlns:a="http://schemas.openxmlformats.org/drawingml/2006/main">
              <a:ext uri="{FF2B5EF4-FFF2-40B4-BE49-F238E27FC236}">
                <a16:creationId xmlns:a16="http://schemas.microsoft.com/office/drawing/2014/main" id="{62B575F5-9DBD-4F7C-80E7-ADEA6BBE7142}"/>
              </a:ext>
            </a:extLst>
          </p:cNvPr>
          <p:cNvSpPr>
            <a:spLocks xmlns:a="http://schemas.openxmlformats.org/drawingml/2006/main" noGrp="1"/>
          </p:cNvSpPr>
          <p:nvPr/>
        </p:nvSpPr>
        <p:spPr>
          <a:xfrm xmlns:a="http://schemas.openxmlformats.org/drawingml/2006/main">
            <a:off x="19792950" y="5895975"/>
            <a:ext cx="1847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1">
                <a:solidFill>
                  <a:srgbClr val="007D80"/>
                </a:solidFill>
                <a:latin typeface="Arial"/>
                <a:ea typeface="Arial"/>
                <a:cs typeface="Arial"/>
              </a:defRPr>
            </a:defPPr>
          </a:lstStyle>
          <a:p xmlns:a="http://schemas.openxmlformats.org/drawingml/2006/main">
            <a:pPr algn="l">
              <a:lnSpc>
                <a:spcPct val="100000"/>
              </a:lnSpc>
              <a:buNone/>
              <a:defRPr sz="1350" b="1">
                <a:solidFill>
                  <a:srgbClr val="007D80"/>
                </a:solidFill>
                <a:latin typeface="Arial"/>
                <a:ea typeface="Arial"/>
                <a:cs typeface="Arial"/>
              </a:defRPr>
            </a:pPr>
            <a:r>
              <a:rPr sz="1350" b="1">
                <a:solidFill>
                  <a:srgbClr val="007D80"/>
                </a:solidFill>
                <a:latin typeface="Arial"/>
                <a:ea typeface="Arial"/>
                <a:cs typeface="Arial"/>
              </a:rPr>
              <a:t>Traceable training data</a:t>
            </a:r>
          </a:p>
        </p:txBody>
      </p:sp>
      <p:sp>
        <p:nvSpPr>
          <p:cNvPr id="123" name="REAGENTS">
            <a:extLst xmlns:a="http://schemas.openxmlformats.org/drawingml/2006/main">
              <a:ext uri="{FF2B5EF4-FFF2-40B4-BE49-F238E27FC236}">
                <a16:creationId xmlns:a16="http://schemas.microsoft.com/office/drawing/2014/main" id="{7450DC27-790E-409D-B9BB-41D42A0DE863}"/>
              </a:ext>
            </a:extLst>
          </p:cNvPr>
          <p:cNvSpPr>
            <a:spLocks xmlns:a="http://schemas.openxmlformats.org/drawingml/2006/main" noGrp="1"/>
          </p:cNvSpPr>
          <p:nvPr/>
        </p:nvSpPr>
        <p:spPr>
          <a:xfrm xmlns:a="http://schemas.openxmlformats.org/drawingml/2006/main">
            <a:off x="19735800" y="628650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647887"/>
                </a:solidFill>
                <a:latin typeface="Arial"/>
                <a:ea typeface="Arial"/>
                <a:cs typeface="Arial"/>
              </a:defRPr>
            </a:defPPr>
          </a:lstStyle>
          <a:p xmlns:a="http://schemas.openxmlformats.org/drawingml/2006/main">
            <a:pPr algn="l">
              <a:lnSpc>
                <a:spcPct val="100000"/>
              </a:lnSpc>
              <a:buNone/>
              <a:defRPr sz="1238" b="1">
                <a:solidFill>
                  <a:srgbClr val="647887"/>
                </a:solidFill>
                <a:latin typeface="Arial"/>
                <a:ea typeface="Arial"/>
                <a:cs typeface="Arial"/>
              </a:defRPr>
            </a:pPr>
            <a:r>
              <a:rPr sz="1238" b="1">
                <a:solidFill>
                  <a:srgbClr val="647887"/>
                </a:solidFill>
                <a:latin typeface="Arial"/>
                <a:ea typeface="Arial"/>
                <a:cs typeface="Arial"/>
              </a:rPr>
              <a:t>REAGENTS</a:t>
            </a:r>
          </a:p>
        </p:txBody>
      </p:sp>
      <p:sp>
        <p:nvSpPr>
          <p:cNvPr id="124" name="No direct">
            <a:extLst xmlns:a="http://schemas.openxmlformats.org/drawingml/2006/main">
              <a:ext uri="{FF2B5EF4-FFF2-40B4-BE49-F238E27FC236}">
                <a16:creationId xmlns:a16="http://schemas.microsoft.com/office/drawing/2014/main" id="{6C48083D-2460-46C7-AD77-D8B477B024A9}"/>
              </a:ext>
            </a:extLst>
          </p:cNvPr>
          <p:cNvSpPr>
            <a:spLocks xmlns:a="http://schemas.openxmlformats.org/drawingml/2006/main" noGrp="1"/>
          </p:cNvSpPr>
          <p:nvPr/>
        </p:nvSpPr>
        <p:spPr>
          <a:xfrm xmlns:a="http://schemas.openxmlformats.org/drawingml/2006/main">
            <a:off x="19735800" y="6562725"/>
            <a:ext cx="19621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152C3A"/>
                </a:solidFill>
                <a:latin typeface="Arial"/>
                <a:ea typeface="Arial"/>
                <a:cs typeface="Arial"/>
              </a:defRPr>
            </a:defPPr>
          </a:lstStyle>
          <a:p xmlns:a="http://schemas.openxmlformats.org/drawingml/2006/main">
            <a:pPr algn="l">
              <a:lnSpc>
                <a:spcPct val="100000"/>
              </a:lnSpc>
              <a:buNone/>
              <a:defRPr sz="1350" b="0">
                <a:solidFill>
                  <a:srgbClr val="152C3A"/>
                </a:solidFill>
                <a:latin typeface="Arial"/>
                <a:ea typeface="Arial"/>
                <a:cs typeface="Arial"/>
              </a:defRPr>
            </a:pPr>
            <a:r>
              <a:rPr sz="1350" b="0">
                <a:solidFill>
                  <a:srgbClr val="152C3A"/>
                </a:solidFill>
                <a:latin typeface="Arial"/>
                <a:ea typeface="Arial"/>
                <a:cs typeface="Arial"/>
              </a:rPr>
              <a:t>No direct</a:t>
            </a:r>
          </a:p>
          <a:p xmlns:a="http://schemas.openxmlformats.org/drawingml/2006/main">
            <a:pPr algn="l">
              <a:lnSpc>
                <a:spcPct val="100000"/>
              </a:lnSpc>
              <a:buNone/>
              <a:defRPr sz="1350" b="0">
                <a:solidFill>
                  <a:srgbClr val="152C3A"/>
                </a:solidFill>
                <a:latin typeface="Arial"/>
                <a:ea typeface="Arial"/>
                <a:cs typeface="Arial"/>
              </a:defRPr>
            </a:pPr>
            <a:r>
              <a:rPr sz="1350" b="0">
                <a:solidFill>
                  <a:srgbClr val="152C3A"/>
                </a:solidFill>
                <a:latin typeface="Arial"/>
                <a:ea typeface="Arial"/>
                <a:cs typeface="Arial"/>
              </a:rPr>
              <a:t>assay reagents</a:t>
            </a:r>
          </a:p>
        </p:txBody>
      </p:sp>
      <p:sp>
        <p:nvSpPr>
          <p:cNvPr id="125" name="SYSTEMS / SOFTWARE">
            <a:extLst xmlns:a="http://schemas.openxmlformats.org/drawingml/2006/main">
              <a:ext uri="{FF2B5EF4-FFF2-40B4-BE49-F238E27FC236}">
                <a16:creationId xmlns:a16="http://schemas.microsoft.com/office/drawing/2014/main" id="{E0641618-0CBB-4720-9593-1F2CA0F1AEE2}"/>
              </a:ext>
            </a:extLst>
          </p:cNvPr>
          <p:cNvSpPr>
            <a:spLocks xmlns:a="http://schemas.openxmlformats.org/drawingml/2006/main" noGrp="1"/>
          </p:cNvSpPr>
          <p:nvPr/>
        </p:nvSpPr>
        <p:spPr>
          <a:xfrm xmlns:a="http://schemas.openxmlformats.org/drawingml/2006/main">
            <a:off x="19735800" y="723900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647887"/>
                </a:solidFill>
                <a:latin typeface="Arial"/>
                <a:ea typeface="Arial"/>
                <a:cs typeface="Arial"/>
              </a:defRPr>
            </a:defPPr>
          </a:lstStyle>
          <a:p xmlns:a="http://schemas.openxmlformats.org/drawingml/2006/main">
            <a:pPr algn="l">
              <a:lnSpc>
                <a:spcPct val="100000"/>
              </a:lnSpc>
              <a:buNone/>
              <a:defRPr sz="1238" b="1">
                <a:solidFill>
                  <a:srgbClr val="647887"/>
                </a:solidFill>
                <a:latin typeface="Arial"/>
                <a:ea typeface="Arial"/>
                <a:cs typeface="Arial"/>
              </a:defRPr>
            </a:pPr>
            <a:r>
              <a:rPr sz="1238" b="1">
                <a:solidFill>
                  <a:srgbClr val="647887"/>
                </a:solidFill>
                <a:latin typeface="Arial"/>
                <a:ea typeface="Arial"/>
                <a:cs typeface="Arial"/>
              </a:rPr>
              <a:t>SYSTEMS / SOFTWARE</a:t>
            </a:r>
          </a:p>
        </p:txBody>
      </p:sp>
      <p:sp>
        <p:nvSpPr>
          <p:cNvPr id="126" name="LIMS / ELN">
            <a:extLst xmlns:a="http://schemas.openxmlformats.org/drawingml/2006/main">
              <a:ext uri="{FF2B5EF4-FFF2-40B4-BE49-F238E27FC236}">
                <a16:creationId xmlns:a16="http://schemas.microsoft.com/office/drawing/2014/main" id="{30EA729E-1116-4B7D-A055-C4D129521C27}"/>
              </a:ext>
            </a:extLst>
          </p:cNvPr>
          <p:cNvSpPr>
            <a:spLocks xmlns:a="http://schemas.openxmlformats.org/drawingml/2006/main" noGrp="1"/>
          </p:cNvSpPr>
          <p:nvPr/>
        </p:nvSpPr>
        <p:spPr>
          <a:xfrm xmlns:a="http://schemas.openxmlformats.org/drawingml/2006/main">
            <a:off x="19735800" y="7515225"/>
            <a:ext cx="19621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152C3A"/>
                </a:solidFill>
                <a:latin typeface="Arial"/>
                <a:ea typeface="Arial"/>
                <a:cs typeface="Arial"/>
              </a:defRPr>
            </a:defPPr>
          </a:lstStyle>
          <a:p xmlns:a="http://schemas.openxmlformats.org/drawingml/2006/main">
            <a:pPr algn="l">
              <a:lnSpc>
                <a:spcPct val="100000"/>
              </a:lnSpc>
              <a:buNone/>
              <a:defRPr sz="1350" b="0">
                <a:solidFill>
                  <a:srgbClr val="152C3A"/>
                </a:solidFill>
                <a:latin typeface="Arial"/>
                <a:ea typeface="Arial"/>
                <a:cs typeface="Arial"/>
              </a:defRPr>
            </a:pPr>
            <a:r>
              <a:rPr sz="1350" b="0">
                <a:solidFill>
                  <a:srgbClr val="152C3A"/>
                </a:solidFill>
                <a:latin typeface="Arial"/>
                <a:ea typeface="Arial"/>
                <a:cs typeface="Arial"/>
              </a:rPr>
              <a:t>LIMS / ELN</a:t>
            </a:r>
          </a:p>
          <a:p xmlns:a="http://schemas.openxmlformats.org/drawingml/2006/main">
            <a:pPr algn="l">
              <a:lnSpc>
                <a:spcPct val="100000"/>
              </a:lnSpc>
              <a:buNone/>
              <a:defRPr sz="1350" b="0">
                <a:solidFill>
                  <a:srgbClr val="152C3A"/>
                </a:solidFill>
                <a:latin typeface="Arial"/>
                <a:ea typeface="Arial"/>
                <a:cs typeface="Arial"/>
              </a:defRPr>
            </a:pPr>
            <a:r>
              <a:rPr sz="1350" b="0">
                <a:solidFill>
                  <a:srgbClr val="152C3A"/>
                </a:solidFill>
                <a:latin typeface="Arial"/>
                <a:ea typeface="Arial"/>
                <a:cs typeface="Arial"/>
              </a:rPr>
              <a:t>Linked data platform</a:t>
            </a:r>
          </a:p>
          <a:p xmlns:a="http://schemas.openxmlformats.org/drawingml/2006/main">
            <a:pPr algn="l">
              <a:lnSpc>
                <a:spcPct val="100000"/>
              </a:lnSpc>
              <a:buNone/>
              <a:defRPr sz="1350" b="0">
                <a:solidFill>
                  <a:srgbClr val="152C3A"/>
                </a:solidFill>
                <a:latin typeface="Arial"/>
                <a:ea typeface="Arial"/>
                <a:cs typeface="Arial"/>
              </a:defRPr>
            </a:pPr>
            <a:r>
              <a:rPr sz="1350" b="0">
                <a:solidFill>
                  <a:srgbClr val="152C3A"/>
                </a:solidFill>
                <a:latin typeface="Arial"/>
                <a:ea typeface="Arial"/>
                <a:cs typeface="Arial"/>
              </a:rPr>
              <a:t>Lab orchestration</a:t>
            </a:r>
          </a:p>
        </p:txBody>
      </p:sp>
      <p:sp>
        <p:nvSpPr>
          <p:cNvPr id="127" name="CONSUMABLES">
            <a:extLst xmlns:a="http://schemas.openxmlformats.org/drawingml/2006/main">
              <a:ext uri="{FF2B5EF4-FFF2-40B4-BE49-F238E27FC236}">
                <a16:creationId xmlns:a16="http://schemas.microsoft.com/office/drawing/2014/main" id="{03BD5C36-D98A-4EC1-8BAC-03C859D24D1C}"/>
              </a:ext>
            </a:extLst>
          </p:cNvPr>
          <p:cNvSpPr>
            <a:spLocks xmlns:a="http://schemas.openxmlformats.org/drawingml/2006/main" noGrp="1"/>
          </p:cNvSpPr>
          <p:nvPr/>
        </p:nvSpPr>
        <p:spPr>
          <a:xfrm xmlns:a="http://schemas.openxmlformats.org/drawingml/2006/main">
            <a:off x="19735800" y="819150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647887"/>
                </a:solidFill>
                <a:latin typeface="Arial"/>
                <a:ea typeface="Arial"/>
                <a:cs typeface="Arial"/>
              </a:defRPr>
            </a:defPPr>
          </a:lstStyle>
          <a:p xmlns:a="http://schemas.openxmlformats.org/drawingml/2006/main">
            <a:pPr algn="l">
              <a:lnSpc>
                <a:spcPct val="100000"/>
              </a:lnSpc>
              <a:buNone/>
              <a:defRPr sz="1238" b="1">
                <a:solidFill>
                  <a:srgbClr val="647887"/>
                </a:solidFill>
                <a:latin typeface="Arial"/>
                <a:ea typeface="Arial"/>
                <a:cs typeface="Arial"/>
              </a:defRPr>
            </a:pPr>
            <a:r>
              <a:rPr sz="1238" b="1">
                <a:solidFill>
                  <a:srgbClr val="647887"/>
                </a:solidFill>
                <a:latin typeface="Arial"/>
                <a:ea typeface="Arial"/>
                <a:cs typeface="Arial"/>
              </a:rPr>
              <a:t>CONSUMABLES</a:t>
            </a:r>
          </a:p>
        </p:txBody>
      </p:sp>
      <p:sp>
        <p:nvSpPr>
          <p:cNvPr id="128" name="No direct">
            <a:extLst xmlns:a="http://schemas.openxmlformats.org/drawingml/2006/main">
              <a:ext uri="{FF2B5EF4-FFF2-40B4-BE49-F238E27FC236}">
                <a16:creationId xmlns:a16="http://schemas.microsoft.com/office/drawing/2014/main" id="{7B013B94-A901-493B-8566-74D95387D51E}"/>
              </a:ext>
            </a:extLst>
          </p:cNvPr>
          <p:cNvSpPr>
            <a:spLocks xmlns:a="http://schemas.openxmlformats.org/drawingml/2006/main" noGrp="1"/>
          </p:cNvSpPr>
          <p:nvPr/>
        </p:nvSpPr>
        <p:spPr>
          <a:xfrm xmlns:a="http://schemas.openxmlformats.org/drawingml/2006/main">
            <a:off x="19735800" y="8467725"/>
            <a:ext cx="19621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152C3A"/>
                </a:solidFill>
                <a:latin typeface="Arial"/>
                <a:ea typeface="Arial"/>
                <a:cs typeface="Arial"/>
              </a:defRPr>
            </a:defPPr>
          </a:lstStyle>
          <a:p xmlns:a="http://schemas.openxmlformats.org/drawingml/2006/main">
            <a:pPr algn="l">
              <a:lnSpc>
                <a:spcPct val="100000"/>
              </a:lnSpc>
              <a:buNone/>
              <a:defRPr sz="1350" b="0">
                <a:solidFill>
                  <a:srgbClr val="152C3A"/>
                </a:solidFill>
                <a:latin typeface="Arial"/>
                <a:ea typeface="Arial"/>
                <a:cs typeface="Arial"/>
              </a:defRPr>
            </a:pPr>
            <a:r>
              <a:rPr sz="1350" b="0">
                <a:solidFill>
                  <a:srgbClr val="152C3A"/>
                </a:solidFill>
                <a:latin typeface="Arial"/>
                <a:ea typeface="Arial"/>
                <a:cs typeface="Arial"/>
              </a:rPr>
              <a:t>No direct</a:t>
            </a:r>
          </a:p>
          <a:p xmlns:a="http://schemas.openxmlformats.org/drawingml/2006/main">
            <a:pPr algn="l">
              <a:lnSpc>
                <a:spcPct val="100000"/>
              </a:lnSpc>
              <a:buNone/>
              <a:defRPr sz="1350" b="0">
                <a:solidFill>
                  <a:srgbClr val="152C3A"/>
                </a:solidFill>
                <a:latin typeface="Arial"/>
                <a:ea typeface="Arial"/>
                <a:cs typeface="Arial"/>
              </a:defRPr>
            </a:pPr>
            <a:r>
              <a:rPr sz="1350" b="0">
                <a:solidFill>
                  <a:srgbClr val="152C3A"/>
                </a:solidFill>
                <a:latin typeface="Arial"/>
                <a:ea typeface="Arial"/>
                <a:cs typeface="Arial"/>
              </a:rPr>
              <a:t>assay consumables</a:t>
            </a:r>
          </a:p>
        </p:txBody>
      </p:sp>
      <p:sp>
        <p:nvSpPr>
          <p:cNvPr id="129" name="">
            <a:extLst xmlns:a="http://schemas.openxmlformats.org/drawingml/2006/main">
              <a:ext uri="{FF2B5EF4-FFF2-40B4-BE49-F238E27FC236}">
                <a16:creationId xmlns:a16="http://schemas.microsoft.com/office/drawing/2014/main" id="{9CF1F974-1B03-465E-B99E-3EC0F87BD5B1}"/>
              </a:ext>
            </a:extLst>
          </p:cNvPr>
          <p:cNvSpPr>
            <a:spLocks xmlns:a="http://schemas.openxmlformats.org/drawingml/2006/main" noGrp="1"/>
          </p:cNvSpPr>
          <p:nvPr/>
        </p:nvSpPr>
        <p:spPr>
          <a:xfrm xmlns:a="http://schemas.openxmlformats.org/drawingml/2006/main">
            <a:off x="19735800" y="9239250"/>
            <a:ext cx="1962150" cy="953"/>
          </a:xfrm>
          <a:custGeom xmlns:a="http://schemas.openxmlformats.org/drawingml/2006/main">
            <a:pathLst>
              <a:path w="1962150" h="953">
                <a:moveTo>
                  <a:pt x="0" y="0"/>
                </a:moveTo>
                <a:lnTo>
                  <a:pt x="1962150" y="0"/>
                </a:lnTo>
              </a:path>
            </a:pathLst>
          </a:custGeom>
          <a:noFill xmlns:a="http://schemas.openxmlformats.org/drawingml/2006/main"/>
          <a:ln xmlns:a="http://schemas.openxmlformats.org/drawingml/2006/main" w="9525">
            <a:solidFill>
              <a:srgbClr val="D7E3E8"/>
            </a:solidFill>
          </a:ln>
        </p:spPr>
      </p:sp>
      <p:sp>
        <p:nvSpPr>
          <p:cNvPr id="130" name="REPRESENTATIVE SUPPLIERS">
            <a:extLst xmlns:a="http://schemas.openxmlformats.org/drawingml/2006/main">
              <a:ext uri="{FF2B5EF4-FFF2-40B4-BE49-F238E27FC236}">
                <a16:creationId xmlns:a16="http://schemas.microsoft.com/office/drawing/2014/main" id="{DB122AD0-8BA1-4594-944A-033E25925964}"/>
              </a:ext>
            </a:extLst>
          </p:cNvPr>
          <p:cNvSpPr>
            <a:spLocks xmlns:a="http://schemas.openxmlformats.org/drawingml/2006/main" noGrp="1"/>
          </p:cNvSpPr>
          <p:nvPr/>
        </p:nvSpPr>
        <p:spPr>
          <a:xfrm xmlns:a="http://schemas.openxmlformats.org/drawingml/2006/main">
            <a:off x="19735800" y="9372600"/>
            <a:ext cx="1962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1">
                <a:solidFill>
                  <a:srgbClr val="647887"/>
                </a:solidFill>
                <a:latin typeface="Arial"/>
                <a:ea typeface="Arial"/>
                <a:cs typeface="Arial"/>
              </a:defRPr>
            </a:defPPr>
          </a:lstStyle>
          <a:p xmlns:a="http://schemas.openxmlformats.org/drawingml/2006/main">
            <a:pPr algn="l">
              <a:lnSpc>
                <a:spcPct val="100000"/>
              </a:lnSpc>
              <a:buNone/>
              <a:defRPr sz="1050" b="1">
                <a:solidFill>
                  <a:srgbClr val="647887"/>
                </a:solidFill>
                <a:latin typeface="Arial"/>
                <a:ea typeface="Arial"/>
                <a:cs typeface="Arial"/>
              </a:defRPr>
            </a:pPr>
            <a:r>
              <a:rPr sz="1050" b="1">
                <a:solidFill>
                  <a:srgbClr val="647887"/>
                </a:solidFill>
                <a:latin typeface="Arial"/>
                <a:ea typeface="Arial"/>
                <a:cs typeface="Arial"/>
              </a:rPr>
              <a:t>REPRESENTATIVE SUPPLIERS</a:t>
            </a:r>
          </a:p>
        </p:txBody>
      </p:sp>
      <p:pic>
        <p:nvPicPr>
          <p:cNvPr id="131" name="">
            <a:extLst xmlns:a="http://schemas.openxmlformats.org/drawingml/2006/main">
              <a:ext uri="{FF2B5EF4-FFF2-40B4-BE49-F238E27FC236}">
                <a16:creationId xmlns:a16="http://schemas.microsoft.com/office/drawing/2014/main" id="{B60395B9-58F0-4BF6-9A30-5577B8F60AA8}"/>
              </a:ext>
            </a:extLst>
          </p:cNvPr>
          <p:cNvPicPr>
            <a:picLocks xmlns:a="http://schemas.openxmlformats.org/drawingml/2006/main" noChangeAspect="1"/>
          </p:cNvPicPr>
          <p:nvPr/>
        </p:nvPicPr>
        <p:blipFill>
          <a:blip xmlns:r="http://schemas.openxmlformats.org/officeDocument/2006/relationships" xmlns:a="http://schemas.openxmlformats.org/drawingml/2006/main" r:embed="R7ca3056c428348b2"/>
          <a:stretch xmlns:a="http://schemas.openxmlformats.org/drawingml/2006/main"/>
        </p:blipFill>
        <p:spPr>
          <a:xfrm xmlns:a="http://schemas.openxmlformats.org/drawingml/2006/main">
            <a:off x="19735800" y="9696337"/>
            <a:ext cx="1685925" cy="285975"/>
          </a:xfrm>
          <a:prstGeom xmlns:a="http://schemas.openxmlformats.org/drawingml/2006/main" prst="rect">
            <a:avLst/>
          </a:prstGeom>
        </p:spPr>
      </p:pic>
      <p:sp>
        <p:nvSpPr>
          <p:cNvPr id="132" name="Hamilton">
            <a:extLst xmlns:a="http://schemas.openxmlformats.org/drawingml/2006/main">
              <a:ext uri="{FF2B5EF4-FFF2-40B4-BE49-F238E27FC236}">
                <a16:creationId xmlns:a16="http://schemas.microsoft.com/office/drawing/2014/main" id="{3C916F28-34BF-4588-8163-6770D76AC823}"/>
              </a:ext>
            </a:extLst>
          </p:cNvPr>
          <p:cNvSpPr>
            <a:spLocks xmlns:a="http://schemas.openxmlformats.org/drawingml/2006/main" noGrp="1"/>
          </p:cNvSpPr>
          <p:nvPr/>
        </p:nvSpPr>
        <p:spPr>
          <a:xfrm xmlns:a="http://schemas.openxmlformats.org/drawingml/2006/main">
            <a:off x="19735800" y="10210800"/>
            <a:ext cx="19621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647887"/>
                </a:solidFill>
                <a:latin typeface="Arial"/>
                <a:ea typeface="Arial"/>
                <a:cs typeface="Arial"/>
              </a:defRPr>
            </a:defPPr>
          </a:lstStyle>
          <a:p xmlns:a="http://schemas.openxmlformats.org/drawingml/2006/main">
            <a:pPr algn="l">
              <a:lnSpc>
                <a:spcPct val="100000"/>
              </a:lnSpc>
              <a:buNone/>
              <a:defRPr sz="1275" b="0">
                <a:solidFill>
                  <a:srgbClr val="647887"/>
                </a:solidFill>
                <a:latin typeface="Arial"/>
                <a:ea typeface="Arial"/>
                <a:cs typeface="Arial"/>
              </a:defRPr>
            </a:pPr>
            <a:r>
              <a:rPr sz="1275" b="0">
                <a:solidFill>
                  <a:srgbClr val="647887"/>
                </a:solidFill>
                <a:latin typeface="Arial"/>
                <a:ea typeface="Arial"/>
                <a:cs typeface="Arial"/>
              </a:rPr>
              <a:t>Hamilton</a:t>
            </a:r>
          </a:p>
          <a:p xmlns:a="http://schemas.openxmlformats.org/drawingml/2006/main">
            <a:pPr algn="l">
              <a:lnSpc>
                <a:spcPct val="100000"/>
              </a:lnSpc>
              <a:buNone/>
              <a:defRPr sz="1275" b="0">
                <a:solidFill>
                  <a:srgbClr val="647887"/>
                </a:solidFill>
                <a:latin typeface="Arial"/>
                <a:ea typeface="Arial"/>
                <a:cs typeface="Arial"/>
              </a:defRPr>
            </a:pPr>
            <a:r>
              <a:rPr sz="1275" b="0">
                <a:solidFill>
                  <a:srgbClr val="647887"/>
                </a:solidFill>
                <a:latin typeface="Arial"/>
                <a:ea typeface="Arial"/>
                <a:cs typeface="Arial"/>
              </a:rPr>
              <a:t>Benchling · Genedata</a:t>
            </a:r>
          </a:p>
        </p:txBody>
      </p:sp>
      <p:sp>
        <p:nvSpPr>
          <p:cNvPr id="133" name="">
            <a:extLst xmlns:a="http://schemas.openxmlformats.org/drawingml/2006/main">
              <a:ext uri="{FF2B5EF4-FFF2-40B4-BE49-F238E27FC236}">
                <a16:creationId xmlns:a16="http://schemas.microsoft.com/office/drawing/2014/main" id="{5C79FFE9-AC1E-418C-9EA1-868791AD407F}"/>
              </a:ext>
            </a:extLst>
          </p:cNvPr>
          <p:cNvSpPr>
            <a:spLocks xmlns:a="http://schemas.openxmlformats.org/drawingml/2006/main" noGrp="1"/>
          </p:cNvSpPr>
          <p:nvPr/>
        </p:nvSpPr>
        <p:spPr>
          <a:xfrm xmlns:a="http://schemas.openxmlformats.org/drawingml/2006/main">
            <a:off x="4457700" y="4543425"/>
            <a:ext cx="133350" cy="953"/>
          </a:xfrm>
          <a:custGeom xmlns:a="http://schemas.openxmlformats.org/drawingml/2006/main">
            <a:pathLst>
              <a:path w="133350" h="953">
                <a:moveTo>
                  <a:pt x="0" y="0"/>
                </a:moveTo>
                <a:lnTo>
                  <a:pt x="133350" y="0"/>
                </a:lnTo>
              </a:path>
            </a:pathLst>
          </a:custGeom>
          <a:noFill xmlns:a="http://schemas.openxmlformats.org/drawingml/2006/main"/>
          <a:ln xmlns:a="http://schemas.openxmlformats.org/drawingml/2006/main" w="20955">
            <a:solidFill>
              <a:srgbClr val="007D80"/>
            </a:solidFill>
          </a:ln>
        </p:spPr>
      </p:sp>
      <p:sp>
        <p:nvSpPr>
          <p:cNvPr id="134" name="">
            <a:extLst xmlns:a="http://schemas.openxmlformats.org/drawingml/2006/main">
              <a:ext uri="{FF2B5EF4-FFF2-40B4-BE49-F238E27FC236}">
                <a16:creationId xmlns:a16="http://schemas.microsoft.com/office/drawing/2014/main" id="{FC94D9E0-D958-4A1B-83FE-F09016529FEB}"/>
              </a:ext>
            </a:extLst>
          </p:cNvPr>
          <p:cNvSpPr>
            <a:spLocks xmlns:a="http://schemas.openxmlformats.org/drawingml/2006/main" noGrp="1"/>
          </p:cNvSpPr>
          <p:nvPr/>
        </p:nvSpPr>
        <p:spPr>
          <a:xfrm xmlns:a="http://schemas.openxmlformats.org/drawingml/2006/main">
            <a:off x="4507460" y="4497760"/>
            <a:ext cx="83590" cy="91331"/>
          </a:xfrm>
          <a:custGeom xmlns:a="http://schemas.openxmlformats.org/drawingml/2006/main">
            <a:pathLst>
              <a:path w="83590" h="91331">
                <a:moveTo>
                  <a:pt x="83590" y="45665"/>
                </a:moveTo>
                <a:lnTo>
                  <a:pt x="0" y="91331"/>
                </a:lnTo>
                <a:lnTo>
                  <a:pt x="0" y="0"/>
                </a:lnTo>
                <a:close/>
              </a:path>
            </a:pathLst>
          </a:custGeom>
          <a:solidFill xmlns:a="http://schemas.openxmlformats.org/drawingml/2006/main">
            <a:srgbClr val="007D80"/>
          </a:solidFill>
          <a:ln xmlns:a="http://schemas.openxmlformats.org/drawingml/2006/main" w="0">
            <a:noFill/>
          </a:ln>
        </p:spPr>
      </p:sp>
      <p:sp>
        <p:nvSpPr>
          <p:cNvPr id="135" name="">
            <a:extLst xmlns:a="http://schemas.openxmlformats.org/drawingml/2006/main">
              <a:ext uri="{FF2B5EF4-FFF2-40B4-BE49-F238E27FC236}">
                <a16:creationId xmlns:a16="http://schemas.microsoft.com/office/drawing/2014/main" id="{18DC88AE-BA1C-4D44-BAC4-8FF72B633B2E}"/>
              </a:ext>
            </a:extLst>
          </p:cNvPr>
          <p:cNvSpPr>
            <a:spLocks xmlns:a="http://schemas.openxmlformats.org/drawingml/2006/main" noGrp="1"/>
          </p:cNvSpPr>
          <p:nvPr/>
        </p:nvSpPr>
        <p:spPr>
          <a:xfrm xmlns:a="http://schemas.openxmlformats.org/drawingml/2006/main">
            <a:off x="8134350" y="4543425"/>
            <a:ext cx="133350" cy="953"/>
          </a:xfrm>
          <a:custGeom xmlns:a="http://schemas.openxmlformats.org/drawingml/2006/main">
            <a:pathLst>
              <a:path w="133350" h="953">
                <a:moveTo>
                  <a:pt x="0" y="0"/>
                </a:moveTo>
                <a:lnTo>
                  <a:pt x="133350" y="0"/>
                </a:lnTo>
              </a:path>
            </a:pathLst>
          </a:custGeom>
          <a:noFill xmlns:a="http://schemas.openxmlformats.org/drawingml/2006/main"/>
          <a:ln xmlns:a="http://schemas.openxmlformats.org/drawingml/2006/main" w="20955">
            <a:solidFill>
              <a:srgbClr val="007D80"/>
            </a:solidFill>
          </a:ln>
        </p:spPr>
      </p:sp>
      <p:sp>
        <p:nvSpPr>
          <p:cNvPr id="136" name="">
            <a:extLst xmlns:a="http://schemas.openxmlformats.org/drawingml/2006/main">
              <a:ext uri="{FF2B5EF4-FFF2-40B4-BE49-F238E27FC236}">
                <a16:creationId xmlns:a16="http://schemas.microsoft.com/office/drawing/2014/main" id="{A5E24776-06AF-4094-8BD6-5E4FC0E0E4C3}"/>
              </a:ext>
            </a:extLst>
          </p:cNvPr>
          <p:cNvSpPr>
            <a:spLocks xmlns:a="http://schemas.openxmlformats.org/drawingml/2006/main" noGrp="1"/>
          </p:cNvSpPr>
          <p:nvPr/>
        </p:nvSpPr>
        <p:spPr>
          <a:xfrm xmlns:a="http://schemas.openxmlformats.org/drawingml/2006/main">
            <a:off x="8184110" y="4497760"/>
            <a:ext cx="83590" cy="91331"/>
          </a:xfrm>
          <a:custGeom xmlns:a="http://schemas.openxmlformats.org/drawingml/2006/main">
            <a:pathLst>
              <a:path w="83590" h="91331">
                <a:moveTo>
                  <a:pt x="83590" y="45665"/>
                </a:moveTo>
                <a:lnTo>
                  <a:pt x="0" y="91331"/>
                </a:lnTo>
                <a:lnTo>
                  <a:pt x="0" y="0"/>
                </a:lnTo>
                <a:close/>
              </a:path>
            </a:pathLst>
          </a:custGeom>
          <a:solidFill xmlns:a="http://schemas.openxmlformats.org/drawingml/2006/main">
            <a:srgbClr val="007D80"/>
          </a:solidFill>
          <a:ln xmlns:a="http://schemas.openxmlformats.org/drawingml/2006/main" w="0">
            <a:noFill/>
          </a:ln>
        </p:spPr>
      </p:sp>
      <p:sp>
        <p:nvSpPr>
          <p:cNvPr id="137" name="">
            <a:extLst xmlns:a="http://schemas.openxmlformats.org/drawingml/2006/main">
              <a:ext uri="{FF2B5EF4-FFF2-40B4-BE49-F238E27FC236}">
                <a16:creationId xmlns:a16="http://schemas.microsoft.com/office/drawing/2014/main" id="{CCAD2002-72DB-4D89-BDDB-8481A2D35C42}"/>
              </a:ext>
            </a:extLst>
          </p:cNvPr>
          <p:cNvSpPr>
            <a:spLocks xmlns:a="http://schemas.openxmlformats.org/drawingml/2006/main" noGrp="1"/>
          </p:cNvSpPr>
          <p:nvPr/>
        </p:nvSpPr>
        <p:spPr>
          <a:xfrm xmlns:a="http://schemas.openxmlformats.org/drawingml/2006/main">
            <a:off x="11811000" y="4543425"/>
            <a:ext cx="133350" cy="953"/>
          </a:xfrm>
          <a:custGeom xmlns:a="http://schemas.openxmlformats.org/drawingml/2006/main">
            <a:pathLst>
              <a:path w="133350" h="953">
                <a:moveTo>
                  <a:pt x="0" y="0"/>
                </a:moveTo>
                <a:lnTo>
                  <a:pt x="133350" y="0"/>
                </a:lnTo>
              </a:path>
            </a:pathLst>
          </a:custGeom>
          <a:noFill xmlns:a="http://schemas.openxmlformats.org/drawingml/2006/main"/>
          <a:ln xmlns:a="http://schemas.openxmlformats.org/drawingml/2006/main" w="20955">
            <a:solidFill>
              <a:srgbClr val="007D80"/>
            </a:solidFill>
          </a:ln>
        </p:spPr>
      </p:sp>
      <p:sp>
        <p:nvSpPr>
          <p:cNvPr id="138" name="">
            <a:extLst xmlns:a="http://schemas.openxmlformats.org/drawingml/2006/main">
              <a:ext uri="{FF2B5EF4-FFF2-40B4-BE49-F238E27FC236}">
                <a16:creationId xmlns:a16="http://schemas.microsoft.com/office/drawing/2014/main" id="{8C393896-22C0-4DA2-8057-B7866236A3E2}"/>
              </a:ext>
            </a:extLst>
          </p:cNvPr>
          <p:cNvSpPr>
            <a:spLocks xmlns:a="http://schemas.openxmlformats.org/drawingml/2006/main" noGrp="1"/>
          </p:cNvSpPr>
          <p:nvPr/>
        </p:nvSpPr>
        <p:spPr>
          <a:xfrm xmlns:a="http://schemas.openxmlformats.org/drawingml/2006/main">
            <a:off x="11860760" y="4497760"/>
            <a:ext cx="83590" cy="91331"/>
          </a:xfrm>
          <a:custGeom xmlns:a="http://schemas.openxmlformats.org/drawingml/2006/main">
            <a:pathLst>
              <a:path w="83590" h="91331">
                <a:moveTo>
                  <a:pt x="83590" y="45665"/>
                </a:moveTo>
                <a:lnTo>
                  <a:pt x="0" y="91331"/>
                </a:lnTo>
                <a:lnTo>
                  <a:pt x="0" y="0"/>
                </a:lnTo>
                <a:close/>
              </a:path>
            </a:pathLst>
          </a:custGeom>
          <a:solidFill xmlns:a="http://schemas.openxmlformats.org/drawingml/2006/main">
            <a:srgbClr val="007D80"/>
          </a:solidFill>
          <a:ln xmlns:a="http://schemas.openxmlformats.org/drawingml/2006/main" w="0">
            <a:noFill/>
          </a:ln>
        </p:spPr>
      </p:sp>
      <p:sp>
        <p:nvSpPr>
          <p:cNvPr id="139" name="">
            <a:extLst xmlns:a="http://schemas.openxmlformats.org/drawingml/2006/main">
              <a:ext uri="{FF2B5EF4-FFF2-40B4-BE49-F238E27FC236}">
                <a16:creationId xmlns:a16="http://schemas.microsoft.com/office/drawing/2014/main" id="{EF655786-7605-43B3-8298-1A0312732537}"/>
              </a:ext>
            </a:extLst>
          </p:cNvPr>
          <p:cNvSpPr>
            <a:spLocks xmlns:a="http://schemas.openxmlformats.org/drawingml/2006/main" noGrp="1"/>
          </p:cNvSpPr>
          <p:nvPr/>
        </p:nvSpPr>
        <p:spPr>
          <a:xfrm xmlns:a="http://schemas.openxmlformats.org/drawingml/2006/main">
            <a:off x="15678150" y="4543425"/>
            <a:ext cx="133350" cy="953"/>
          </a:xfrm>
          <a:custGeom xmlns:a="http://schemas.openxmlformats.org/drawingml/2006/main">
            <a:pathLst>
              <a:path w="133350" h="953">
                <a:moveTo>
                  <a:pt x="0" y="0"/>
                </a:moveTo>
                <a:lnTo>
                  <a:pt x="133350" y="0"/>
                </a:lnTo>
              </a:path>
            </a:pathLst>
          </a:custGeom>
          <a:noFill xmlns:a="http://schemas.openxmlformats.org/drawingml/2006/main"/>
          <a:ln xmlns:a="http://schemas.openxmlformats.org/drawingml/2006/main" w="20955">
            <a:solidFill>
              <a:srgbClr val="007D80"/>
            </a:solidFill>
          </a:ln>
        </p:spPr>
      </p:sp>
      <p:sp>
        <p:nvSpPr>
          <p:cNvPr id="140" name="">
            <a:extLst xmlns:a="http://schemas.openxmlformats.org/drawingml/2006/main">
              <a:ext uri="{FF2B5EF4-FFF2-40B4-BE49-F238E27FC236}">
                <a16:creationId xmlns:a16="http://schemas.microsoft.com/office/drawing/2014/main" id="{8875F774-8F4F-489B-A2FF-1AE6577131A2}"/>
              </a:ext>
            </a:extLst>
          </p:cNvPr>
          <p:cNvSpPr>
            <a:spLocks xmlns:a="http://schemas.openxmlformats.org/drawingml/2006/main" noGrp="1"/>
          </p:cNvSpPr>
          <p:nvPr/>
        </p:nvSpPr>
        <p:spPr>
          <a:xfrm xmlns:a="http://schemas.openxmlformats.org/drawingml/2006/main">
            <a:off x="15727910" y="4497760"/>
            <a:ext cx="83590" cy="91331"/>
          </a:xfrm>
          <a:custGeom xmlns:a="http://schemas.openxmlformats.org/drawingml/2006/main">
            <a:pathLst>
              <a:path w="83590" h="91331">
                <a:moveTo>
                  <a:pt x="83590" y="45665"/>
                </a:moveTo>
                <a:lnTo>
                  <a:pt x="0" y="91331"/>
                </a:lnTo>
                <a:lnTo>
                  <a:pt x="0" y="0"/>
                </a:lnTo>
                <a:close/>
              </a:path>
            </a:pathLst>
          </a:custGeom>
          <a:solidFill xmlns:a="http://schemas.openxmlformats.org/drawingml/2006/main">
            <a:srgbClr val="007D80"/>
          </a:solidFill>
          <a:ln xmlns:a="http://schemas.openxmlformats.org/drawingml/2006/main" w="0">
            <a:noFill/>
          </a:ln>
        </p:spPr>
      </p:sp>
      <p:sp>
        <p:nvSpPr>
          <p:cNvPr id="141" name="">
            <a:extLst xmlns:a="http://schemas.openxmlformats.org/drawingml/2006/main">
              <a:ext uri="{FF2B5EF4-FFF2-40B4-BE49-F238E27FC236}">
                <a16:creationId xmlns:a16="http://schemas.microsoft.com/office/drawing/2014/main" id="{6EA39CC0-B9AD-49D9-928F-A241C06CC9D0}"/>
              </a:ext>
            </a:extLst>
          </p:cNvPr>
          <p:cNvSpPr>
            <a:spLocks xmlns:a="http://schemas.openxmlformats.org/drawingml/2006/main" noGrp="1"/>
          </p:cNvSpPr>
          <p:nvPr/>
        </p:nvSpPr>
        <p:spPr>
          <a:xfrm xmlns:a="http://schemas.openxmlformats.org/drawingml/2006/main">
            <a:off x="19354800" y="4543425"/>
            <a:ext cx="133350" cy="953"/>
          </a:xfrm>
          <a:custGeom xmlns:a="http://schemas.openxmlformats.org/drawingml/2006/main">
            <a:pathLst>
              <a:path w="133350" h="953">
                <a:moveTo>
                  <a:pt x="0" y="0"/>
                </a:moveTo>
                <a:lnTo>
                  <a:pt x="133350" y="0"/>
                </a:lnTo>
              </a:path>
            </a:pathLst>
          </a:custGeom>
          <a:noFill xmlns:a="http://schemas.openxmlformats.org/drawingml/2006/main"/>
          <a:ln xmlns:a="http://schemas.openxmlformats.org/drawingml/2006/main" w="20955">
            <a:solidFill>
              <a:srgbClr val="007D80"/>
            </a:solidFill>
          </a:ln>
        </p:spPr>
      </p:sp>
      <p:sp>
        <p:nvSpPr>
          <p:cNvPr id="142" name="">
            <a:extLst xmlns:a="http://schemas.openxmlformats.org/drawingml/2006/main">
              <a:ext uri="{FF2B5EF4-FFF2-40B4-BE49-F238E27FC236}">
                <a16:creationId xmlns:a16="http://schemas.microsoft.com/office/drawing/2014/main" id="{3ACBDF48-DB73-4925-97C5-2C32AA8E78BA}"/>
              </a:ext>
            </a:extLst>
          </p:cNvPr>
          <p:cNvSpPr>
            <a:spLocks xmlns:a="http://schemas.openxmlformats.org/drawingml/2006/main" noGrp="1"/>
          </p:cNvSpPr>
          <p:nvPr/>
        </p:nvSpPr>
        <p:spPr>
          <a:xfrm xmlns:a="http://schemas.openxmlformats.org/drawingml/2006/main">
            <a:off x="19404560" y="4497760"/>
            <a:ext cx="83590" cy="91331"/>
          </a:xfrm>
          <a:custGeom xmlns:a="http://schemas.openxmlformats.org/drawingml/2006/main">
            <a:pathLst>
              <a:path w="83590" h="91331">
                <a:moveTo>
                  <a:pt x="83590" y="45665"/>
                </a:moveTo>
                <a:lnTo>
                  <a:pt x="0" y="91331"/>
                </a:lnTo>
                <a:lnTo>
                  <a:pt x="0" y="0"/>
                </a:lnTo>
                <a:close/>
              </a:path>
            </a:pathLst>
          </a:custGeom>
          <a:solidFill xmlns:a="http://schemas.openxmlformats.org/drawingml/2006/main">
            <a:srgbClr val="007D80"/>
          </a:solidFill>
          <a:ln xmlns:a="http://schemas.openxmlformats.org/drawingml/2006/main" w="0">
            <a:noFill/>
          </a:ln>
        </p:spPr>
      </p:sp>
      <p:sp>
        <p:nvSpPr>
          <p:cNvPr id="143" name="Assay feedback to next design cycle">
            <a:extLst xmlns:a="http://schemas.openxmlformats.org/drawingml/2006/main">
              <a:ext uri="{FF2B5EF4-FFF2-40B4-BE49-F238E27FC236}">
                <a16:creationId xmlns:a16="http://schemas.microsoft.com/office/drawing/2014/main" id="{8CB8ACB7-B253-4EFE-A515-475CC902F792}"/>
              </a:ext>
            </a:extLst>
          </p:cNvPr>
          <p:cNvSpPr>
            <a:spLocks xmlns:a="http://schemas.openxmlformats.org/drawingml/2006/main" noGrp="1"/>
          </p:cNvSpPr>
          <p:nvPr/>
        </p:nvSpPr>
        <p:spPr>
          <a:xfrm xmlns:a="http://schemas.openxmlformats.org/drawingml/2006/main">
            <a:off x="2686050" y="10858500"/>
            <a:ext cx="18030825" cy="333375"/>
          </a:xfrm>
          <a:custGeom xmlns:a="http://schemas.openxmlformats.org/drawingml/2006/main">
            <a:pathLst>
              <a:path w="18030825" h="333375">
                <a:moveTo>
                  <a:pt x="18030825" y="0"/>
                </a:moveTo>
                <a:cubicBezTo>
                  <a:pt x="18030825" y="285750"/>
                  <a:pt x="17935575" y="333375"/>
                  <a:pt x="17649825" y="333375"/>
                </a:cubicBezTo>
                <a:lnTo>
                  <a:pt x="381000" y="333375"/>
                </a:lnTo>
                <a:cubicBezTo>
                  <a:pt x="95250" y="333375"/>
                  <a:pt x="0" y="285750"/>
                  <a:pt x="0" y="0"/>
                </a:cubicBezTo>
              </a:path>
            </a:pathLst>
          </a:custGeom>
          <a:noFill xmlns:a="http://schemas.openxmlformats.org/drawingml/2006/main"/>
          <a:ln xmlns:a="http://schemas.openxmlformats.org/drawingml/2006/main" w="19050">
            <a:solidFill>
              <a:srgbClr val="007D80"/>
            </a:solidFill>
          </a:ln>
        </p:spPr>
      </p:sp>
      <p:sp>
        <p:nvSpPr>
          <p:cNvPr id="144" name="">
            <a:extLst xmlns:a="http://schemas.openxmlformats.org/drawingml/2006/main">
              <a:ext uri="{FF2B5EF4-FFF2-40B4-BE49-F238E27FC236}">
                <a16:creationId xmlns:a16="http://schemas.microsoft.com/office/drawing/2014/main" id="{C7140EDA-0AB3-4181-A3E9-0F6FFE7F54C3}"/>
              </a:ext>
            </a:extLst>
          </p:cNvPr>
          <p:cNvSpPr>
            <a:spLocks xmlns:a="http://schemas.openxmlformats.org/drawingml/2006/main" noGrp="1"/>
          </p:cNvSpPr>
          <p:nvPr/>
        </p:nvSpPr>
        <p:spPr>
          <a:xfrm xmlns:a="http://schemas.openxmlformats.org/drawingml/2006/main">
            <a:off x="2638425" y="10839450"/>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007D80"/>
          </a:solidFill>
          <a:ln xmlns:a="http://schemas.openxmlformats.org/drawingml/2006/main" w="0">
            <a:noFill/>
          </a:ln>
        </p:spPr>
      </p:sp>
      <p:sp>
        <p:nvSpPr>
          <p:cNvPr id="145" name="">
            <a:extLst xmlns:a="http://schemas.openxmlformats.org/drawingml/2006/main">
              <a:ext uri="{FF2B5EF4-FFF2-40B4-BE49-F238E27FC236}">
                <a16:creationId xmlns:a16="http://schemas.microsoft.com/office/drawing/2014/main" id="{AE2A70A4-3640-486D-A09A-2E09BE45E5E7}"/>
              </a:ext>
            </a:extLst>
          </p:cNvPr>
          <p:cNvSpPr>
            <a:spLocks xmlns:a="http://schemas.openxmlformats.org/drawingml/2006/main" noGrp="1"/>
          </p:cNvSpPr>
          <p:nvPr/>
        </p:nvSpPr>
        <p:spPr>
          <a:xfrm xmlns:a="http://schemas.openxmlformats.org/drawingml/2006/main">
            <a:off x="7858125" y="11020425"/>
            <a:ext cx="7600950" cy="323850"/>
          </a:xfrm>
          <a:prstGeom xmlns:a="http://schemas.openxmlformats.org/drawingml/2006/main" prst="rect">
            <a:avLst/>
          </a:prstGeom>
          <a:solidFill xmlns:a="http://schemas.openxmlformats.org/drawingml/2006/main">
            <a:srgbClr val="FFFFFF"/>
          </a:solidFill>
          <a:ln xmlns:a="http://schemas.openxmlformats.org/drawingml/2006/main" w="9525">
            <a:noFill/>
          </a:ln>
        </p:spPr>
      </p:sp>
      <p:sp>
        <p:nvSpPr>
          <p:cNvPr id="146" name="Sequence + assay context + results → next design cycle">
            <a:extLst xmlns:a="http://schemas.openxmlformats.org/drawingml/2006/main">
              <a:ext uri="{FF2B5EF4-FFF2-40B4-BE49-F238E27FC236}">
                <a16:creationId xmlns:a16="http://schemas.microsoft.com/office/drawing/2014/main" id="{3967A058-95BC-447C-8611-960F8AD4CACB}"/>
              </a:ext>
            </a:extLst>
          </p:cNvPr>
          <p:cNvSpPr>
            <a:spLocks xmlns:a="http://schemas.openxmlformats.org/drawingml/2006/main" noGrp="1"/>
          </p:cNvSpPr>
          <p:nvPr/>
        </p:nvSpPr>
        <p:spPr>
          <a:xfrm xmlns:a="http://schemas.openxmlformats.org/drawingml/2006/main">
            <a:off x="7858125" y="11058525"/>
            <a:ext cx="7600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50" b="0">
                <a:solidFill>
                  <a:srgbClr val="007D80"/>
                </a:solidFill>
                <a:latin typeface="Arial"/>
                <a:ea typeface="Arial"/>
                <a:cs typeface="Arial"/>
              </a:defRPr>
            </a:defPPr>
          </a:lstStyle>
          <a:p xmlns:a="http://schemas.openxmlformats.org/drawingml/2006/main">
            <a:pPr algn="ctr">
              <a:lnSpc>
                <a:spcPct val="100000"/>
              </a:lnSpc>
              <a:buNone/>
              <a:defRPr sz="1650" b="0">
                <a:solidFill>
                  <a:srgbClr val="007D80"/>
                </a:solidFill>
                <a:latin typeface="Arial"/>
                <a:ea typeface="Arial"/>
                <a:cs typeface="Arial"/>
              </a:defRPr>
            </a:pPr>
            <a:r>
              <a:rPr sz="1650" b="0">
                <a:solidFill>
                  <a:srgbClr val="007D80"/>
                </a:solidFill>
                <a:latin typeface="Arial"/>
                <a:ea typeface="Arial"/>
                <a:cs typeface="Arial"/>
              </a:rPr>
              <a:t>Sequence + assay context + results → next design cycle</a:t>
            </a:r>
          </a:p>
        </p:txBody>
      </p:sp>
      <p:sp>
        <p:nvSpPr>
          <p:cNvPr id="147" name="">
            <a:extLst xmlns:a="http://schemas.openxmlformats.org/drawingml/2006/main">
              <a:ext uri="{FF2B5EF4-FFF2-40B4-BE49-F238E27FC236}">
                <a16:creationId xmlns:a16="http://schemas.microsoft.com/office/drawing/2014/main" id="{C4334ADD-EAF2-4FC4-9AFC-25A683513FA0}"/>
              </a:ext>
            </a:extLst>
          </p:cNvPr>
          <p:cNvSpPr>
            <a:spLocks xmlns:a="http://schemas.openxmlformats.org/drawingml/2006/main" noGrp="1"/>
          </p:cNvSpPr>
          <p:nvPr/>
        </p:nvSpPr>
        <p:spPr>
          <a:xfrm xmlns:a="http://schemas.openxmlformats.org/drawingml/2006/main">
            <a:off x="952500" y="11430000"/>
            <a:ext cx="20955000" cy="523875"/>
          </a:xfrm>
          <a:prstGeom xmlns:a="http://schemas.openxmlformats.org/drawingml/2006/main" prst="roundRect">
            <a:avLst>
              <a:gd name="adj" fmla="val 16364"/>
            </a:avLst>
          </a:prstGeom>
          <a:solidFill xmlns:a="http://schemas.openxmlformats.org/drawingml/2006/main">
            <a:srgbClr val="152C3A"/>
          </a:solidFill>
          <a:ln xmlns:a="http://schemas.openxmlformats.org/drawingml/2006/main" w="9525">
            <a:noFill/>
          </a:ln>
        </p:spPr>
      </p:sp>
      <p:pic>
        <p:nvPicPr>
          <p:cNvPr id="148" name="">
            <a:extLst xmlns:a="http://schemas.openxmlformats.org/drawingml/2006/main">
              <a:ext uri="{FF2B5EF4-FFF2-40B4-BE49-F238E27FC236}">
                <a16:creationId xmlns:a16="http://schemas.microsoft.com/office/drawing/2014/main" id="{9C35B7A7-C912-41B5-9195-B8A1AF3AA8AE}"/>
              </a:ext>
            </a:extLst>
          </p:cNvPr>
          <p:cNvPicPr>
            <a:picLocks xmlns:a="http://schemas.openxmlformats.org/drawingml/2006/main" noChangeAspect="1"/>
          </p:cNvPicPr>
          <p:nvPr/>
        </p:nvPicPr>
        <p:blipFill>
          <a:blip xmlns:r="http://schemas.openxmlformats.org/officeDocument/2006/relationships" xmlns:a="http://schemas.openxmlformats.org/drawingml/2006/main" r:embed="Rfec64a05f7874d46">
            <a:extLst>
              <a:ext uri="{96DAC541-7B7A-43D3-8B79-37D633B846F1}">
                <asvg:svgBlip xmlns:asvg="http://schemas.microsoft.com/office/drawing/2016/SVG/main" r:embed="Rc3d36728e879443d"/>
              </a:ext>
            </a:extLst>
          </a:blip>
          <a:stretch xmlns:a="http://schemas.openxmlformats.org/drawingml/2006/main"/>
        </p:blipFill>
        <p:spPr>
          <a:xfrm xmlns:a="http://schemas.openxmlformats.org/drawingml/2006/main">
            <a:off x="1162050" y="11515725"/>
            <a:ext cx="352425" cy="352425"/>
          </a:xfrm>
          <a:prstGeom xmlns:a="http://schemas.openxmlformats.org/drawingml/2006/main" prst="rect">
            <a:avLst/>
          </a:prstGeom>
        </p:spPr>
      </p:pic>
      <p:sp>
        <p:nvSpPr>
          <p:cNvPr id="149" name="Automation + data orchestration span every step">
            <a:extLst xmlns:a="http://schemas.openxmlformats.org/drawingml/2006/main">
              <a:ext uri="{FF2B5EF4-FFF2-40B4-BE49-F238E27FC236}">
                <a16:creationId xmlns:a16="http://schemas.microsoft.com/office/drawing/2014/main" id="{87F79D04-1F30-408D-8119-1BC1B48B1041}"/>
              </a:ext>
            </a:extLst>
          </p:cNvPr>
          <p:cNvSpPr>
            <a:spLocks xmlns:a="http://schemas.openxmlformats.org/drawingml/2006/main" noGrp="1"/>
          </p:cNvSpPr>
          <p:nvPr/>
        </p:nvSpPr>
        <p:spPr>
          <a:xfrm xmlns:a="http://schemas.openxmlformats.org/drawingml/2006/main">
            <a:off x="1714500" y="11506200"/>
            <a:ext cx="19583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50" b="1">
                <a:solidFill>
                  <a:srgbClr val="FFFFFF"/>
                </a:solidFill>
                <a:latin typeface="Arial"/>
                <a:ea typeface="Arial"/>
                <a:cs typeface="Arial"/>
              </a:defRPr>
            </a:defPPr>
          </a:lstStyle>
          <a:p xmlns:a="http://schemas.openxmlformats.org/drawingml/2006/main">
            <a:pPr algn="l">
              <a:lnSpc>
                <a:spcPct val="100000"/>
              </a:lnSpc>
              <a:buNone/>
              <a:defRPr sz="2250" b="1">
                <a:solidFill>
                  <a:srgbClr val="FFFFFF"/>
                </a:solidFill>
                <a:latin typeface="Arial"/>
                <a:ea typeface="Arial"/>
                <a:cs typeface="Arial"/>
              </a:defRPr>
            </a:pPr>
            <a:r>
              <a:rPr sz="2250" b="1">
                <a:solidFill>
                  <a:srgbClr val="FFFFFF"/>
                </a:solidFill>
                <a:latin typeface="Arial"/>
                <a:ea typeface="Arial"/>
                <a:cs typeface="Arial"/>
              </a:rPr>
              <a:t>Automation + data orchestration span every step</a:t>
            </a:r>
          </a:p>
        </p:txBody>
      </p:sp>
      <p:sp>
        <p:nvSpPr>
          <p:cNvPr id="150" name="Wet lab = build + test. AI may test fewer molecules while increasing characterization depth per molecule.">
            <a:extLst xmlns:a="http://schemas.openxmlformats.org/drawingml/2006/main">
              <a:ext uri="{FF2B5EF4-FFF2-40B4-BE49-F238E27FC236}">
                <a16:creationId xmlns:a16="http://schemas.microsoft.com/office/drawing/2014/main" id="{FDF10886-B95D-4081-BE49-C3829C191D06}"/>
              </a:ext>
            </a:extLst>
          </p:cNvPr>
          <p:cNvSpPr>
            <a:spLocks xmlns:a="http://schemas.openxmlformats.org/drawingml/2006/main" noGrp="1"/>
          </p:cNvSpPr>
          <p:nvPr/>
        </p:nvSpPr>
        <p:spPr>
          <a:xfrm xmlns:a="http://schemas.openxmlformats.org/drawingml/2006/main">
            <a:off x="952500" y="12087225"/>
            <a:ext cx="2095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152C3A"/>
                </a:solidFill>
                <a:latin typeface="Arial"/>
                <a:ea typeface="Arial"/>
                <a:cs typeface="Arial"/>
              </a:defRPr>
            </a:defPPr>
          </a:lstStyle>
          <a:p xmlns:a="http://schemas.openxmlformats.org/drawingml/2006/main">
            <a:pPr algn="l">
              <a:lnSpc>
                <a:spcPct val="100000"/>
              </a:lnSpc>
              <a:buNone/>
              <a:defRPr sz="1725" b="1">
                <a:solidFill>
                  <a:srgbClr val="152C3A"/>
                </a:solidFill>
                <a:latin typeface="Arial"/>
                <a:ea typeface="Arial"/>
                <a:cs typeface="Arial"/>
              </a:defRPr>
            </a:pPr>
            <a:r>
              <a:rPr sz="1725" b="1">
                <a:solidFill>
                  <a:srgbClr val="152C3A"/>
                </a:solidFill>
                <a:latin typeface="Arial"/>
                <a:ea typeface="Arial"/>
                <a:cs typeface="Arial"/>
              </a:rPr>
              <a:t>Wet lab = build + test. AI may test fewer molecules while increasing characterization depth per molecule.</a:t>
            </a:r>
          </a:p>
        </p:txBody>
      </p:sp>
      <p:sp>
        <p:nvSpPr>
          <p:cNvPr id="151" name="LST demand depends on molecule count × assay depth × net inputs per assay; instrument investment is separate.">
            <a:extLst xmlns:a="http://schemas.openxmlformats.org/drawingml/2006/main">
              <a:ext uri="{FF2B5EF4-FFF2-40B4-BE49-F238E27FC236}">
                <a16:creationId xmlns:a16="http://schemas.microsoft.com/office/drawing/2014/main" id="{C45205DD-AB4E-456A-B4CA-1D1D1672CEEA}"/>
              </a:ext>
            </a:extLst>
          </p:cNvPr>
          <p:cNvSpPr>
            <a:spLocks xmlns:a="http://schemas.openxmlformats.org/drawingml/2006/main" noGrp="1"/>
          </p:cNvSpPr>
          <p:nvPr/>
        </p:nvSpPr>
        <p:spPr>
          <a:xfrm xmlns:a="http://schemas.openxmlformats.org/drawingml/2006/main">
            <a:off x="952500" y="12411075"/>
            <a:ext cx="2095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647887"/>
                </a:solidFill>
                <a:latin typeface="Arial"/>
                <a:ea typeface="Arial"/>
                <a:cs typeface="Arial"/>
              </a:defRPr>
            </a:defPPr>
          </a:lstStyle>
          <a:p xmlns:a="http://schemas.openxmlformats.org/drawingml/2006/main">
            <a:pPr algn="l">
              <a:lnSpc>
                <a:spcPct val="100000"/>
              </a:lnSpc>
              <a:buNone/>
              <a:defRPr sz="1500" b="0">
                <a:solidFill>
                  <a:srgbClr val="647887"/>
                </a:solidFill>
                <a:latin typeface="Arial"/>
                <a:ea typeface="Arial"/>
                <a:cs typeface="Arial"/>
              </a:defRPr>
            </a:pPr>
            <a:r>
              <a:rPr sz="1500" b="0">
                <a:solidFill>
                  <a:srgbClr val="647887"/>
                </a:solidFill>
                <a:latin typeface="Arial"/>
                <a:ea typeface="Arial"/>
                <a:cs typeface="Arial"/>
              </a:rPr>
              <a:t>LST demand depends on molecule count × assay depth × net inputs per assay; instrument investment is separate.</a:t>
            </a:r>
          </a:p>
        </p:txBody>
      </p:sp>
      <p:sp>
        <p:nvSpPr>
          <p:cNvPr id="152" name="Illustrative workflow; assays may run in parallel. * Scale-dependent. † Expression comes from stage 2. Supplier examples and primary sources: SOURCES.md.">
            <a:extLst xmlns:a="http://schemas.openxmlformats.org/drawingml/2006/main">
              <a:ext uri="{FF2B5EF4-FFF2-40B4-BE49-F238E27FC236}">
                <a16:creationId xmlns:a16="http://schemas.microsoft.com/office/drawing/2014/main" id="{DA7FBF96-8EBE-43F6-AA8E-C5505B83F1F2}"/>
              </a:ext>
            </a:extLst>
          </p:cNvPr>
          <p:cNvSpPr>
            <a:spLocks xmlns:a="http://schemas.openxmlformats.org/drawingml/2006/main" noGrp="1"/>
          </p:cNvSpPr>
          <p:nvPr/>
        </p:nvSpPr>
        <p:spPr>
          <a:xfrm xmlns:a="http://schemas.openxmlformats.org/drawingml/2006/main">
            <a:off x="952500" y="12639675"/>
            <a:ext cx="2095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647887"/>
                </a:solidFill>
                <a:latin typeface="Arial"/>
                <a:ea typeface="Arial"/>
                <a:cs typeface="Arial"/>
              </a:defRPr>
            </a:defPPr>
          </a:lstStyle>
          <a:p xmlns:a="http://schemas.openxmlformats.org/drawingml/2006/main">
            <a:pPr algn="l">
              <a:lnSpc>
                <a:spcPct val="100000"/>
              </a:lnSpc>
              <a:buNone/>
              <a:defRPr sz="1050" b="0">
                <a:solidFill>
                  <a:srgbClr val="647887"/>
                </a:solidFill>
                <a:latin typeface="Arial"/>
                <a:ea typeface="Arial"/>
                <a:cs typeface="Arial"/>
              </a:defRPr>
            </a:pPr>
            <a:r>
              <a:rPr sz="1050" b="0">
                <a:solidFill>
                  <a:srgbClr val="647887"/>
                </a:solidFill>
                <a:latin typeface="Arial"/>
                <a:ea typeface="Arial"/>
                <a:cs typeface="Arial"/>
              </a:rPr>
              <a:t>Illustrative workflow; assays may run in parallel. * Scale-dependent. † Expression comes from stage 2. Supplier examples and primary sources: SOURCES.md.</a:t>
            </a:r>
          </a:p>
        </p:txBody>
      </p:sp>
    </p:spTree>
    <p:extLst>
      <p:ext uri="{BB962C8B-B14F-4D97-AF65-F5344CB8AC3E}">
        <p14:creationId xmlns:p14="http://schemas.microsoft.com/office/powerpoint/2010/main" val="14298001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2026-10-13T02:50:37.3030000Z</dcterms:created>
  <dcterms:modified xsi:type="dcterms:W3CDTF">2026-10-13T02:50:37.3030000Z</dcterms:modified>
</coreProperties>
</file>