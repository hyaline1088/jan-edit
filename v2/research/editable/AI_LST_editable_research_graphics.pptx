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b9128b36904525" /><Relationship Type="http://schemas.openxmlformats.org/officeDocument/2006/relationships/extended-properties" Target="/docProps/app.xml" Id="R374a35b70a8445e7" /><Relationship Type="http://schemas.openxmlformats.org/officeDocument/2006/relationships/officeDocument" Target="/ppt/presentation.xml" Id="R4a89837382c84bd9" /></Relationships>
</file>

<file path=ppt/presentation.xml><?xml version="1.0" encoding="utf-8"?>
<p:presentation xmlns:p="http://schemas.openxmlformats.org/presentationml/2006/main">
  <p:sldMasterIdLst>
    <p:sldMasterId xmlns:r="http://schemas.openxmlformats.org/officeDocument/2006/relationships" id="2147483648" r:id="R4229bf41af104fc7"/>
  </p:sldMasterIdLst>
  <p:notesMasterIdLst>
    <p:notesMasterId xmlns:r="http://schemas.openxmlformats.org/officeDocument/2006/relationships" r:id="Rcdf78ea3a9214059"/>
  </p:notesMasterIdLst>
  <p:sldIdLst>
    <p:sldId xmlns:r="http://schemas.openxmlformats.org/officeDocument/2006/relationships" id="256" r:id="R1f18745b88ee45ce"/>
    <p:sldId xmlns:r="http://schemas.openxmlformats.org/officeDocument/2006/relationships" id="257" r:id="R84b9fa719c864650"/>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107aa8be004718" /><Relationship Type="http://schemas.openxmlformats.org/officeDocument/2006/relationships/slideMaster" Target="/ppt/slideMasters/slideMaster1.xml" Id="R4229bf41af104fc7" /><Relationship Type="http://schemas.openxmlformats.org/officeDocument/2006/relationships/notesMaster" Target="/ppt/notesMasters/notesMaster1.xml" Id="Rcdf78ea3a9214059" /><Relationship Type="http://schemas.openxmlformats.org/officeDocument/2006/relationships/presProps" Target="/ppt/presProps.xml" Id="R72c86751c4f64f54" /><Relationship Type="http://schemas.openxmlformats.org/officeDocument/2006/relationships/tableStyles" Target="/ppt/tableStyles.xml" Id="Ra62cf24e2497418f" /><Relationship Type="http://schemas.openxmlformats.org/officeDocument/2006/relationships/slide" Target="/ppt/slides/slide1.xml" Id="R1f18745b88ee45ce" /><Relationship Type="http://schemas.openxmlformats.org/officeDocument/2006/relationships/slide" Target="/ppt/slides/slide2.xml" Id="R84b9fa719c8646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1c48052bd847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8332631ea824b21" /><Relationship Type="http://schemas.openxmlformats.org/officeDocument/2006/relationships/notesMaster" Target="/ppt/notesMasters/notesMaster1.xml" Id="Ra7b9cbc5ff88458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d720dba2ae4474" /><Relationship Type="http://schemas.openxmlformats.org/officeDocument/2006/relationships/notesMaster" Target="/ppt/notesMasters/notesMaster1.xml" Id="R079c64c6ab5741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stage comparison screenshot, supplied 12 October 2026. All stage counts are illustrative assumptions, not researched empirical cohort statistics. Denominator: per one clinical entrant. The separate reference funnel uses per approved drug and is used only for its visual form; its numbers are not mixed into this comparison. Virtual design is not literally free. DNA-encoded libraries are not equivalent to fully characterized discrete compounds; construction counts are conceptual. Approved ~0.14 is an expected count, not a measured probability established by this deck. Clinical benefit and approval rates in the AI era are unknown. Icon: Lucide flask-conical, ISC license, https://github.com/lucide-icons/lucide.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12. Updated 13 October 2026. The market anchors and illustrative stage counts retain their original units, years, geography and boundaries. The six product families are broader than the displayed anchors; the values must not be added. Company rows group listing venues, not incorporation or headquarters. GenScript is HK-listed; Gibco maps to Thermo Fisher TMO and Cytiva/HyClone to Danaher DHR. BD BDX is shown for specimen collection/preanalytics; its former Biosciences and Diagnostic Solutions business, including flow cytometry, moved to Waters WAT on 9 February 2026. These are different current equity exposures. Tsingke NEEQ:874813 is not an A-share exchange listing. Brand logos remain original; chart colors use the user-supplied eight-color palette.</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036f3c778346b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f3bcc1480184b6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4c3305e91414d5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eac0b3fdb134e0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96cdb0d911346c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384fab6fbed43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4AB42AD-DED0-49D1-9DDF-BAB2A212728B}"/>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FC0D2CF-CCEB-4459-84A0-0E089CD71F16}"/>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A33C56B-E2E9-40A1-82E4-211550905FA2}"/>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B52BA4-4E84-4DB8-A23A-BBB37DD36E3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F01BFC8-AF08-4C9A-92E1-908B99C77424}"/>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25C02AE-D62F-4C51-BBD3-9D7E12E4A2C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FC3780E-978F-4013-BD48-649C6ADD02EB}"/>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722314F-E0AC-4295-9AC3-F1663D3987F8}"/>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F80378-D4C5-4DBD-9CAD-81C3AFCBC0CE}"/>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054C07A-684A-475F-B210-E0E89568674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c325fb7b604f4c" /><Relationship Type="http://schemas.openxmlformats.org/officeDocument/2006/relationships/slideLayout" Target="/ppt/slideLayouts/slideLayout1.xml" Id="Rbc1a219e98d340b5" /><Relationship Type="http://schemas.openxmlformats.org/officeDocument/2006/relationships/slideLayout" Target="/ppt/slideLayouts/slideLayout2.xml" Id="R73a45df727fe45f2" /><Relationship Type="http://schemas.openxmlformats.org/officeDocument/2006/relationships/slideLayout" Target="/ppt/slideLayouts/slideLayout3.xml" Id="Rd86c7323c69747ad" /><Relationship Type="http://schemas.openxmlformats.org/officeDocument/2006/relationships/slideLayout" Target="/ppt/slideLayouts/slideLayout4.xml" Id="R7dde6669ce0a46e0" /><Relationship Type="http://schemas.openxmlformats.org/officeDocument/2006/relationships/slideLayout" Target="/ppt/slideLayouts/slideLayout5.xml" Id="Rc918005602264d13" /><Relationship Type="http://schemas.openxmlformats.org/officeDocument/2006/relationships/slideLayout" Target="/ppt/slideLayouts/slideLayout6.xml" Id="Rb577ff4564254de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1a219e98d340b5"/>
    <p:sldLayoutId xmlns:r="http://schemas.openxmlformats.org/officeDocument/2006/relationships" id="2147483650" r:id="R73a45df727fe45f2"/>
    <p:sldLayoutId xmlns:r="http://schemas.openxmlformats.org/officeDocument/2006/relationships" id="2147483651" r:id="Rd86c7323c69747ad"/>
    <p:sldLayoutId xmlns:r="http://schemas.openxmlformats.org/officeDocument/2006/relationships" id="2147483652" r:id="R7dde6669ce0a46e0"/>
    <p:sldLayoutId xmlns:r="http://schemas.openxmlformats.org/officeDocument/2006/relationships" id="2147483653" r:id="Rc918005602264d13"/>
    <p:sldLayoutId xmlns:r="http://schemas.openxmlformats.org/officeDocument/2006/relationships" id="2147483654" r:id="Rb577ff4564254de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2eacb8736394ffb" /><Relationship Type="http://schemas.openxmlformats.org/officeDocument/2006/relationships/image" Target="/ppt/media/image.png" Id="R8e358cd7fb6446f6" /><Relationship Type="http://schemas.openxmlformats.org/officeDocument/2006/relationships/image" Target="/ppt/media/image.svg" Id="R35843aca9a9d45ce" /><Relationship Type="http://schemas.openxmlformats.org/officeDocument/2006/relationships/notesSlide" Target="/ppt/notesSlides/notesSlide1.xml" Id="Rcdb1168bd36749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5cc706fc6ea47af" /><Relationship Type="http://schemas.openxmlformats.org/officeDocument/2006/relationships/image" Target="/ppt/media/image2.png" Id="Rab9c40bcb30e4003" /><Relationship Type="http://schemas.openxmlformats.org/officeDocument/2006/relationships/image" Target="/ppt/media/image2.svg" Id="Ra5f99879d8714ef4" /><Relationship Type="http://schemas.openxmlformats.org/officeDocument/2006/relationships/image" Target="/ppt/media/image3.png" Id="R871a5a57e9ce42b9" /><Relationship Type="http://schemas.openxmlformats.org/officeDocument/2006/relationships/image" Target="/ppt/media/image3.svg" Id="Re31af63687734b62" /><Relationship Type="http://schemas.openxmlformats.org/officeDocument/2006/relationships/image" Target="/ppt/media/image4.png" Id="R698e669ac613448d" /><Relationship Type="http://schemas.openxmlformats.org/officeDocument/2006/relationships/image" Target="/ppt/media/image5.png" Id="R36009eb92cb94a18" /><Relationship Type="http://schemas.openxmlformats.org/officeDocument/2006/relationships/image" Target="/ppt/media/image6.png" Id="R227872ef7bfd46d0" /><Relationship Type="http://schemas.openxmlformats.org/officeDocument/2006/relationships/image" Target="/ppt/media/image4.svg" Id="R472ea3765f114fa9" /><Relationship Type="http://schemas.openxmlformats.org/officeDocument/2006/relationships/image" Target="/ppt/media/image7.png" Id="R53099180937e4389" /><Relationship Type="http://schemas.openxmlformats.org/officeDocument/2006/relationships/image" Target="/ppt/media/image8.png" Id="Rb9c9be6f9e4441d9" /><Relationship Type="http://schemas.openxmlformats.org/officeDocument/2006/relationships/image" Target="/ppt/media/image5.svg" Id="R17976a0be0af4c3c" /><Relationship Type="http://schemas.openxmlformats.org/officeDocument/2006/relationships/image" Target="/ppt/media/image9.png" Id="R985a31b4e2584177" /><Relationship Type="http://schemas.openxmlformats.org/officeDocument/2006/relationships/image" Target="/ppt/media/image6.svg" Id="Re07767a7cabc4f5f" /><Relationship Type="http://schemas.openxmlformats.org/officeDocument/2006/relationships/image" Target="/ppt/media/image10.png" Id="R3681ea87e4b74428" /><Relationship Type="http://schemas.openxmlformats.org/officeDocument/2006/relationships/image" Target="/ppt/media/image11.png" Id="R96c6a63007ca4388" /><Relationship Type="http://schemas.openxmlformats.org/officeDocument/2006/relationships/image" Target="/ppt/media/image7.svg" Id="Rbb17e3195f984837" /><Relationship Type="http://schemas.openxmlformats.org/officeDocument/2006/relationships/image" Target="/ppt/media/image12.png" Id="R58ca6951c2e54605" /><Relationship Type="http://schemas.openxmlformats.org/officeDocument/2006/relationships/image" Target="/ppt/media/image8.svg" Id="Re807d33377274488" /><Relationship Type="http://schemas.openxmlformats.org/officeDocument/2006/relationships/image" Target="/ppt/media/image13.png" Id="R9cb2a0d0c3dd4ecd" /><Relationship Type="http://schemas.openxmlformats.org/officeDocument/2006/relationships/image" Target="/ppt/media/image14.png" Id="Raf504cd660df44fb" /><Relationship Type="http://schemas.openxmlformats.org/officeDocument/2006/relationships/image" Target="/ppt/media/image9.svg" Id="R384ea239142d41c5" /><Relationship Type="http://schemas.openxmlformats.org/officeDocument/2006/relationships/image" Target="/ppt/media/image15.png" Id="Ra95deacf35fd4f65" /><Relationship Type="http://schemas.openxmlformats.org/officeDocument/2006/relationships/image" Target="/ppt/media/image10.svg" Id="Rd66935cc50f0489f" /><Relationship Type="http://schemas.openxmlformats.org/officeDocument/2006/relationships/image" Target="/ppt/media/image16.png" Id="R1e2e86853e404737" /><Relationship Type="http://schemas.openxmlformats.org/officeDocument/2006/relationships/image" Target="/ppt/media/image17.png" Id="R4b288a93dd7c41fd" /><Relationship Type="http://schemas.openxmlformats.org/officeDocument/2006/relationships/image" Target="/ppt/media/image11.svg" Id="Rc392d85c0f6e437f" /><Relationship Type="http://schemas.openxmlformats.org/officeDocument/2006/relationships/image" Target="/ppt/media/image18.png" Id="R6767303e2a124ee1" /><Relationship Type="http://schemas.openxmlformats.org/officeDocument/2006/relationships/notesSlide" Target="/ppt/notesSlides/notesSlide2.xml" Id="R67d6124a9b20486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C4A1547-DCD2-4E68-9B87-B07FDCF10B59}"/>
              </a:ext>
            </a:extLst>
          </p:cNvPr>
          <p:cNvSpPr>
            <a:spLocks xmlns:a="http://schemas.openxmlformats.org/drawingml/2006/main" noGrp="1"/>
          </p:cNvSpPr>
          <p:nvPr/>
        </p:nvSpPr>
        <p:spPr>
          <a:xfrm xmlns:a="http://schemas.openxmlformats.org/drawingml/2006/main">
            <a:off x="685800" y="514350"/>
            <a:ext cx="85725" cy="809625"/>
          </a:xfrm>
          <a:prstGeom xmlns:a="http://schemas.openxmlformats.org/drawingml/2006/main" prst="rect">
            <a:avLst/>
          </a:prstGeom>
          <a:solidFill xmlns:a="http://schemas.openxmlformats.org/drawingml/2006/main">
            <a:srgbClr val="00355F"/>
          </a:solidFill>
          <a:ln xmlns:a="http://schemas.openxmlformats.org/drawingml/2006/main" w="9525">
            <a:noFill/>
          </a:ln>
        </p:spPr>
      </p:sp>
      <p:sp>
        <p:nvSpPr>
          <p:cNvPr id="2" name="Design capacity expands. Validation must keep up.">
            <a:extLst xmlns:a="http://schemas.openxmlformats.org/drawingml/2006/main">
              <a:ext uri="{FF2B5EF4-FFF2-40B4-BE49-F238E27FC236}">
                <a16:creationId xmlns:a16="http://schemas.microsoft.com/office/drawing/2014/main" id="{E0042B28-B1FD-43BD-B590-23F8FD297B10}"/>
              </a:ext>
            </a:extLst>
          </p:cNvPr>
          <p:cNvSpPr>
            <a:spLocks xmlns:a="http://schemas.openxmlformats.org/drawingml/2006/main" noGrp="1"/>
          </p:cNvSpPr>
          <p:nvPr/>
        </p:nvSpPr>
        <p:spPr>
          <a:xfrm xmlns:a="http://schemas.openxmlformats.org/drawingml/2006/main">
            <a:off x="1000125" y="495300"/>
            <a:ext cx="16525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3450" b="1">
                <a:solidFill>
                  <a:srgbClr val="00355F"/>
                </a:solidFill>
                <a:latin typeface="Arial"/>
                <a:ea typeface="Arial"/>
                <a:cs typeface="Arial"/>
              </a:defRPr>
            </a:defPPr>
          </a:lstStyle>
          <a:p xmlns:a="http://schemas.openxmlformats.org/drawingml/2006/main">
            <a:pPr algn="l">
              <a:defRPr sz="3450" b="1">
                <a:solidFill>
                  <a:srgbClr val="00355F"/>
                </a:solidFill>
                <a:latin typeface="Arial"/>
                <a:ea typeface="Arial"/>
                <a:cs typeface="Arial"/>
              </a:defRPr>
            </a:pPr>
            <a:r>
              <a:rPr sz="3450" b="1">
                <a:solidFill>
                  <a:srgbClr val="00355F"/>
                </a:solidFill>
                <a:latin typeface="Arial"/>
                <a:ea typeface="Arial"/>
                <a:cs typeface="Arial"/>
              </a:rPr>
              <a:t>Design capacity expands. Validation must keep up.</a:t>
            </a:r>
          </a:p>
        </p:txBody>
      </p:sp>
      <p:sp>
        <p:nvSpPr>
          <p:cNvPr id="3" name="Illustrative stage comparison, normalized per one clinical entrant. Supplied assumptions, not cohort statistics.">
            <a:extLst xmlns:a="http://schemas.openxmlformats.org/drawingml/2006/main">
              <a:ext uri="{FF2B5EF4-FFF2-40B4-BE49-F238E27FC236}">
                <a16:creationId xmlns:a16="http://schemas.microsoft.com/office/drawing/2014/main" id="{B55E4D7B-97BA-4B86-8337-5EF3AD4E8D53}"/>
              </a:ext>
            </a:extLst>
          </p:cNvPr>
          <p:cNvSpPr>
            <a:spLocks xmlns:a="http://schemas.openxmlformats.org/drawingml/2006/main" noGrp="1"/>
          </p:cNvSpPr>
          <p:nvPr/>
        </p:nvSpPr>
        <p:spPr>
          <a:xfrm xmlns:a="http://schemas.openxmlformats.org/drawingml/2006/main">
            <a:off x="1009650" y="1143000"/>
            <a:ext cx="1619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0">
                <a:solidFill>
                  <a:srgbClr val="00355F"/>
                </a:solidFill>
                <a:latin typeface="Arial"/>
                <a:ea typeface="Arial"/>
                <a:cs typeface="Arial"/>
              </a:defRPr>
            </a:defPPr>
          </a:lstStyle>
          <a:p xmlns:a="http://schemas.openxmlformats.org/drawingml/2006/main">
            <a:pPr algn="l">
              <a:defRPr sz="1725" b="0">
                <a:solidFill>
                  <a:srgbClr val="00355F"/>
                </a:solidFill>
                <a:latin typeface="Arial"/>
                <a:ea typeface="Arial"/>
                <a:cs typeface="Arial"/>
              </a:defRPr>
            </a:pPr>
            <a:r>
              <a:rPr sz="1725" b="0">
                <a:solidFill>
                  <a:srgbClr val="00355F"/>
                </a:solidFill>
                <a:latin typeface="Arial"/>
                <a:ea typeface="Arial"/>
                <a:cs typeface="Arial"/>
              </a:rPr>
              <a:t>Illustrative stage comparison, normalized per one clinical entrant. Supplied assumptions, not cohort statistics.</a:t>
            </a:r>
          </a:p>
        </p:txBody>
      </p:sp>
      <p:sp>
        <p:nvSpPr>
          <p:cNvPr id="4" name="">
            <a:extLst xmlns:a="http://schemas.openxmlformats.org/drawingml/2006/main">
              <a:ext uri="{FF2B5EF4-FFF2-40B4-BE49-F238E27FC236}">
                <a16:creationId xmlns:a16="http://schemas.microsoft.com/office/drawing/2014/main" id="{83F494FC-03B2-4605-900B-C7ACEA30C6F1}"/>
              </a:ext>
            </a:extLst>
          </p:cNvPr>
          <p:cNvSpPr>
            <a:spLocks xmlns:a="http://schemas.openxmlformats.org/drawingml/2006/main" noGrp="1"/>
          </p:cNvSpPr>
          <p:nvPr/>
        </p:nvSpPr>
        <p:spPr>
          <a:xfrm xmlns:a="http://schemas.openxmlformats.org/drawingml/2006/main">
            <a:off x="685800" y="1676400"/>
            <a:ext cx="16916400" cy="95"/>
          </a:xfrm>
          <a:custGeom xmlns:a="http://schemas.openxmlformats.org/drawingml/2006/main">
            <a:pathLst>
              <a:path w="16916400" h="95">
                <a:moveTo>
                  <a:pt x="0" y="0"/>
                </a:moveTo>
                <a:lnTo>
                  <a:pt x="16916400" y="0"/>
                </a:lnTo>
              </a:path>
            </a:pathLst>
          </a:custGeom>
          <a:noFill xmlns:a="http://schemas.openxmlformats.org/drawingml/2006/main"/>
          <a:ln xmlns:a="http://schemas.openxmlformats.org/drawingml/2006/main" w="9525">
            <a:solidFill>
              <a:srgbClr val="A5A5A5"/>
            </a:solidFill>
            <a:prstDash val="solid"/>
          </a:ln>
        </p:spPr>
      </p:sp>
      <p:graphicFrame>
        <p:nvGraphicFramePr>
          <p:cNvPr id="5" name="">
            <a:extLst xmlns:a="http://schemas.openxmlformats.org/drawingml/2006/main">
              <a:ext uri="{FF2B5EF4-FFF2-40B4-BE49-F238E27FC236}">
                <a16:creationId xmlns:a16="http://schemas.microsoft.com/office/drawing/2014/main" id="{05617316-0F1F-4980-9ECF-0BD6EF102C88}"/>
              </a:ext>
            </a:extLst>
          </p:cNvPr>
          <p:cNvGraphicFramePr/>
          <p:nvPr/>
        </p:nvGraphicFramePr>
        <p:xfrm>
          <a:off xmlns:a="http://schemas.openxmlformats.org/drawingml/2006/main" x="685800" y="2190750"/>
          <a:ext xmlns:a="http://schemas.openxmlformats.org/drawingml/2006/main" cx="16916400" cy="5772150"/>
        </p:xfrm>
        <a:graphic xmlns:a="http://schemas.openxmlformats.org/drawingml/2006/main">
          <a:graphicData uri="http://schemas.openxmlformats.org/drawingml/2006/table">
            <a:tbl>
              <a:tblPr firstRow="1" bandRow="0"/>
              <a:tblGrid>
                <a:gridCol w="4905375"/>
                <a:gridCol w="1809750"/>
                <a:gridCol w="2428875"/>
                <a:gridCol w="7772400"/>
              </a:tblGrid>
              <a:tr h="666750">
                <a:tc>
                  <a:txBody>
                    <a:bodyPr/>
                    <a:lstStyle/>
                    <a:p>
                      <a:pPr algn="l"/>
                      <a:r>
                        <a:rPr sz="1500" b="1">
                          <a:solidFill>
                            <a:srgbClr val="FFFFFF"/>
                          </a:solidFill>
                          <a:latin typeface="Arial"/>
                          <a:ea typeface="Arial"/>
                          <a:cs typeface="Arial"/>
                        </a:rPr>
                        <a:t>STAGE</a:t>
                      </a:r>
                    </a:p>
                  </a:txBody>
                  <a:tcPr marL="209550" marR="171450" marT="152400" marB="133350" anchor="ctr">
                    <a:lnL w="0">
                      <a:solidFill>
                        <a:srgbClr val="FFFFFF"/>
                      </a:solidFill>
                    </a:lnL>
                    <a:lnR w="0">
                      <a:solidFill>
                        <a:srgbClr val="FFFFFF"/>
                      </a:solidFill>
                    </a:lnR>
                    <a:lnT w="0">
                      <a:solidFill>
                        <a:srgbClr val="FFFFFF"/>
                      </a:solidFill>
                    </a:lnT>
                    <a:lnB w="0">
                      <a:solidFill>
                        <a:srgbClr val="FFFFFF"/>
                      </a:solidFill>
                    </a:lnB>
                    <a:solidFill>
                      <a:srgbClr val="00355F"/>
                    </a:solidFill>
                  </a:tcPr>
                </a:tc>
                <a:tc>
                  <a:txBody>
                    <a:bodyPr/>
                    <a:lstStyle/>
                    <a:p>
                      <a:pPr algn="ctr"/>
                      <a:r>
                        <a:rPr sz="1500" b="1">
                          <a:solidFill>
                            <a:srgbClr val="FFFFFF"/>
                          </a:solidFill>
                          <a:latin typeface="Arial"/>
                          <a:ea typeface="Arial"/>
                          <a:cs typeface="Arial"/>
                        </a:rPr>
                        <a:t>PRE-AI</a:t>
                      </a:r>
                    </a:p>
                  </a:txBody>
                  <a:tcPr marL="209550" marR="171450" marT="152400" marB="133350" anchor="ctr">
                    <a:lnR w="0">
                      <a:solidFill>
                        <a:srgbClr val="FFFFFF"/>
                      </a:solidFill>
                    </a:lnR>
                    <a:lnT w="0">
                      <a:solidFill>
                        <a:srgbClr val="FFFFFF"/>
                      </a:solidFill>
                    </a:lnT>
                    <a:lnB w="0">
                      <a:solidFill>
                        <a:srgbClr val="FFFFFF"/>
                      </a:solidFill>
                    </a:lnB>
                    <a:solidFill>
                      <a:srgbClr val="00355F"/>
                    </a:solidFill>
                  </a:tcPr>
                </a:tc>
                <a:tc>
                  <a:txBody>
                    <a:bodyPr/>
                    <a:lstStyle/>
                    <a:p>
                      <a:pPr algn="ctr"/>
                      <a:r>
                        <a:rPr sz="1500" b="1">
                          <a:solidFill>
                            <a:srgbClr val="FFFFFF"/>
                          </a:solidFill>
                          <a:latin typeface="Arial"/>
                          <a:ea typeface="Arial"/>
                          <a:cs typeface="Arial"/>
                        </a:rPr>
                        <a:t>AI ERA</a:t>
                      </a:r>
                    </a:p>
                  </a:txBody>
                  <a:tcPr marL="209550" marR="171450" marT="152400" marB="133350" anchor="ctr">
                    <a:lnR w="0">
                      <a:solidFill>
                        <a:srgbClr val="FFFFFF"/>
                      </a:solidFill>
                    </a:lnR>
                    <a:lnT w="0">
                      <a:solidFill>
                        <a:srgbClr val="FFFFFF"/>
                      </a:solidFill>
                    </a:lnT>
                    <a:lnB w="0">
                      <a:solidFill>
                        <a:srgbClr val="FFFFFF"/>
                      </a:solidFill>
                    </a:lnB>
                    <a:solidFill>
                      <a:srgbClr val="00355F"/>
                    </a:solidFill>
                  </a:tcPr>
                </a:tc>
                <a:tc>
                  <a:txBody>
                    <a:bodyPr/>
                    <a:lstStyle/>
                    <a:p>
                      <a:pPr algn="l"/>
                      <a:r>
                        <a:rPr sz="1500" b="1">
                          <a:solidFill>
                            <a:srgbClr val="FFFFFF"/>
                          </a:solidFill>
                          <a:latin typeface="Arial"/>
                          <a:ea typeface="Arial"/>
                          <a:cs typeface="Arial"/>
                        </a:rPr>
                        <a:t>WHAT CHANGES</a:t>
                      </a:r>
                    </a:p>
                  </a:txBody>
                  <a:tcPr marL="209550" marR="171450" marT="152400" marB="133350" anchor="ctr">
                    <a:lnR w="0">
                      <a:solidFill>
                        <a:srgbClr val="FFFFFF"/>
                      </a:solidFill>
                    </a:lnR>
                    <a:lnT w="0">
                      <a:solidFill>
                        <a:srgbClr val="FFFFFF"/>
                      </a:solidFill>
                    </a:lnT>
                    <a:lnB w="0">
                      <a:solidFill>
                        <a:srgbClr val="FFFFFF"/>
                      </a:solidFill>
                    </a:lnB>
                    <a:solidFill>
                      <a:srgbClr val="00355F"/>
                    </a:solidFill>
                  </a:tcPr>
                </a:tc>
              </a:tr>
              <a:tr h="1104900">
                <a:tc>
                  <a:txBody>
                    <a:bodyPr/>
                    <a:lstStyle/>
                    <a:p>
                      <a:pPr algn="l"/>
                      <a:r>
                        <a:rPr sz="1875" b="0">
                          <a:solidFill>
                            <a:srgbClr val="00355F"/>
                          </a:solidFill>
                          <a:latin typeface="Arial"/>
                          <a:ea typeface="Arial"/>
                          <a:cs typeface="Arial"/>
                        </a:rPr>
                        <a:t>Molecules designed</a:t>
                      </a:r>
                    </a:p>
                    <a:p>
                      <a:pPr algn="l"/>
                      <a:r>
                        <a:rPr sz="1875" b="0">
                          <a:solidFill>
                            <a:srgbClr val="00355F"/>
                          </a:solidFill>
                          <a:latin typeface="Arial"/>
                          <a:ea typeface="Arial"/>
                          <a:cs typeface="Arial"/>
                        </a:rPr>
                        <a:t>(virtual)</a:t>
                      </a:r>
                    </a:p>
                  </a:txBody>
                  <a:tcPr marL="209550" marR="171450" marT="152400" marB="133350" anchor="ctr">
                    <a:lnL w="0">
                      <a:solidFill>
                        <a:srgbClr val="FFFFFF"/>
                      </a:solidFill>
                    </a:lnL>
                    <a:lnR w="0">
                      <a:solidFill>
                        <a:srgbClr val="FFFFFF"/>
                      </a:solidFill>
                    </a:lnR>
                    <a:lnB w="0">
                      <a:solidFill>
                        <a:srgbClr val="FFFFFF"/>
                      </a:solidFill>
                    </a:lnB>
                    <a:solidFill>
                      <a:srgbClr val="FFFFFF"/>
                    </a:solidFill>
                  </a:tcPr>
                </a:tc>
                <a:tc>
                  <a:txBody>
                    <a:bodyPr/>
                    <a:lstStyle/>
                    <a:p>
                      <a:pPr algn="ctr"/>
                      <a:r>
                        <a:rPr sz="2400" b="0">
                          <a:solidFill>
                            <a:srgbClr val="00355F"/>
                          </a:solidFill>
                          <a:latin typeface="Arial"/>
                          <a:ea typeface="Arial"/>
                          <a:cs typeface="Arial"/>
                        </a:rPr>
                        <a:t>~10³</a:t>
                      </a:r>
                    </a:p>
                  </a:txBody>
                  <a:tcPr marL="209550" marR="171450" marT="152400" marB="133350" anchor="ctr">
                    <a:lnR w="0">
                      <a:solidFill>
                        <a:srgbClr val="FFFFFF"/>
                      </a:solidFill>
                    </a:lnR>
                    <a:lnB w="0">
                      <a:solidFill>
                        <a:srgbClr val="FFFFFF"/>
                      </a:solidFill>
                    </a:lnB>
                    <a:solidFill>
                      <a:srgbClr val="FFFFFF"/>
                    </a:solidFill>
                  </a:tcPr>
                </a:tc>
                <a:tc>
                  <a:txBody>
                    <a:bodyPr/>
                    <a:lstStyle/>
                    <a:p>
                      <a:pPr algn="ctr"/>
                      <a:r>
                        <a:rPr sz="2400" b="0">
                          <a:solidFill>
                            <a:srgbClr val="00355F"/>
                          </a:solidFill>
                          <a:latin typeface="Arial"/>
                          <a:ea typeface="Arial"/>
                          <a:cs typeface="Arial"/>
                        </a:rPr>
                        <a:t>10⁵–10⁹</a:t>
                      </a:r>
                    </a:p>
                  </a:txBody>
                  <a:tcPr marL="209550" marR="171450" marT="152400" marB="133350" anchor="ctr">
                    <a:lnR w="0">
                      <a:solidFill>
                        <a:srgbClr val="FFFFFF"/>
                      </a:solidFill>
                    </a:lnR>
                    <a:lnB w="0">
                      <a:solidFill>
                        <a:srgbClr val="FFFFFF"/>
                      </a:solidFill>
                    </a:lnB>
                    <a:solidFill>
                      <a:srgbClr val="FFFFFF"/>
                    </a:solidFill>
                  </a:tcPr>
                </a:tc>
                <a:tc>
                  <a:txBody>
                    <a:bodyPr/>
                    <a:lstStyle/>
                    <a:p>
                      <a:pPr algn="l"/>
                      <a:r>
                        <a:rPr sz="1875" b="0">
                          <a:solidFill>
                            <a:srgbClr val="00355F"/>
                          </a:solidFill>
                          <a:latin typeface="Arial"/>
                          <a:ea typeface="Arial"/>
                          <a:cs typeface="Arial"/>
                        </a:rPr>
                        <a:t>Generative models can expand</a:t>
                      </a:r>
                    </a:p>
                    <a:p>
                      <a:pPr algn="l"/>
                      <a:r>
                        <a:rPr sz="1875" b="0">
                          <a:solidFill>
                            <a:srgbClr val="00355F"/>
                          </a:solidFill>
                          <a:latin typeface="Arial"/>
                          <a:ea typeface="Arial"/>
                          <a:cs typeface="Arial"/>
                        </a:rPr>
                        <a:t>candidate enumeration at low marginal cost.</a:t>
                      </a:r>
                    </a:p>
                  </a:txBody>
                  <a:tcPr marL="209550" marR="171450" marT="152400" marB="133350" anchor="ctr">
                    <a:lnR w="0">
                      <a:solidFill>
                        <a:srgbClr val="FFFFFF"/>
                      </a:solidFill>
                    </a:lnR>
                    <a:lnB w="0">
                      <a:solidFill>
                        <a:srgbClr val="FFFFFF"/>
                      </a:solidFill>
                    </a:lnB>
                    <a:solidFill>
                      <a:srgbClr val="FFFFFF"/>
                    </a:solidFill>
                  </a:tcPr>
                </a:tc>
              </a:tr>
              <a:tr h="1000125">
                <a:tc>
                  <a:txBody>
                    <a:bodyPr/>
                    <a:lstStyle/>
                    <a:p>
                      <a:pPr algn="l"/>
                      <a:r>
                        <a:rPr sz="1875" b="0">
                          <a:solidFill>
                            <a:srgbClr val="00355F"/>
                          </a:solidFill>
                          <a:latin typeface="Arial"/>
                          <a:ea typeface="Arial"/>
                          <a:cs typeface="Arial"/>
                        </a:rPr>
                        <a:t>Molecules physically made</a:t>
                      </a:r>
                    </a:p>
                  </a:txBody>
                  <a:tcPr marL="209550" marR="171450" marT="152400" marB="133350" anchor="ctr">
                    <a:lnL w="0">
                      <a:solidFill>
                        <a:srgbClr val="FFFFFF"/>
                      </a:solidFill>
                    </a:lnL>
                    <a:lnR w="0">
                      <a:solidFill>
                        <a:srgbClr val="FFFFFF"/>
                      </a:solidFill>
                    </a:lnR>
                    <a:lnB w="0">
                      <a:solidFill>
                        <a:srgbClr val="FFFFFF"/>
                      </a:solidFill>
                    </a:lnB>
                    <a:solidFill>
                      <a:srgbClr val="EEF6FC"/>
                    </a:solidFill>
                  </a:tcPr>
                </a:tc>
                <a:tc>
                  <a:txBody>
                    <a:bodyPr/>
                    <a:lstStyle/>
                    <a:p>
                      <a:pPr algn="ctr"/>
                      <a:r>
                        <a:rPr sz="2400" b="0">
                          <a:solidFill>
                            <a:srgbClr val="00355F"/>
                          </a:solidFill>
                          <a:latin typeface="Arial"/>
                          <a:ea typeface="Arial"/>
                          <a:cs typeface="Arial"/>
                        </a:rPr>
                        <a:t>~10³</a:t>
                      </a:r>
                    </a:p>
                  </a:txBody>
                  <a:tcPr marL="209550" marR="171450" marT="152400" marB="133350" anchor="ctr">
                    <a:lnR w="0">
                      <a:solidFill>
                        <a:srgbClr val="FFFFFF"/>
                      </a:solidFill>
                    </a:lnR>
                    <a:lnB w="0">
                      <a:solidFill>
                        <a:srgbClr val="FFFFFF"/>
                      </a:solidFill>
                    </a:lnB>
                    <a:solidFill>
                      <a:srgbClr val="EEF6FC"/>
                    </a:solidFill>
                  </a:tcPr>
                </a:tc>
                <a:tc>
                  <a:txBody>
                    <a:bodyPr/>
                    <a:lstStyle/>
                    <a:p>
                      <a:pPr algn="ctr"/>
                      <a:r>
                        <a:rPr sz="2400" b="0">
                          <a:solidFill>
                            <a:srgbClr val="00355F"/>
                          </a:solidFill>
                          <a:latin typeface="Arial"/>
                          <a:ea typeface="Arial"/>
                          <a:cs typeface="Arial"/>
                        </a:rPr>
                        <a:t>10³–10⁴</a:t>
                      </a:r>
                    </a:p>
                  </a:txBody>
                  <a:tcPr marL="209550" marR="171450" marT="152400" marB="133350" anchor="ctr">
                    <a:lnR w="0">
                      <a:solidFill>
                        <a:srgbClr val="FFFFFF"/>
                      </a:solidFill>
                    </a:lnR>
                    <a:lnB w="0">
                      <a:solidFill>
                        <a:srgbClr val="FFFFFF"/>
                      </a:solidFill>
                    </a:lnB>
                    <a:solidFill>
                      <a:srgbClr val="EEF6FC"/>
                    </a:solidFill>
                  </a:tcPr>
                </a:tc>
                <a:tc>
                  <a:txBody>
                    <a:bodyPr/>
                    <a:lstStyle/>
                    <a:p>
                      <a:pPr algn="l"/>
                      <a:r>
                        <a:rPr sz="1875" b="0">
                          <a:solidFill>
                            <a:srgbClr val="00355F"/>
                          </a:solidFill>
                          <a:latin typeface="Arial"/>
                          <a:ea typeface="Arial"/>
                          <a:cs typeface="Arial"/>
                        </a:rPr>
                        <a:t>Automated synthesis and DNA libraries</a:t>
                      </a:r>
                    </a:p>
                    <a:p>
                      <a:pPr algn="l"/>
                      <a:r>
                        <a:rPr sz="1875" b="0">
                          <a:solidFill>
                            <a:srgbClr val="00355F"/>
                          </a:solidFill>
                          <a:latin typeface="Arial"/>
                          <a:ea typeface="Arial"/>
                          <a:cs typeface="Arial"/>
                        </a:rPr>
                        <a:t>can expand construction capacity.</a:t>
                      </a:r>
                    </a:p>
                  </a:txBody>
                  <a:tcPr marL="209550" marR="171450" marT="152400" marB="133350" anchor="ctr">
                    <a:lnR w="0">
                      <a:solidFill>
                        <a:srgbClr val="FFFFFF"/>
                      </a:solidFill>
                    </a:lnR>
                    <a:lnB w="0">
                      <a:solidFill>
                        <a:srgbClr val="FFFFFF"/>
                      </a:solidFill>
                    </a:lnB>
                    <a:solidFill>
                      <a:srgbClr val="EEF6FC"/>
                    </a:solidFill>
                  </a:tcPr>
                </a:tc>
              </a:tr>
              <a:tr h="1000125">
                <a:tc>
                  <a:txBody>
                    <a:bodyPr/>
                    <a:lstStyle/>
                    <a:p>
                      <a:pPr algn="l"/>
                      <a:r>
                        <a:rPr sz="1875" b="1">
                          <a:solidFill>
                            <a:srgbClr val="00355F"/>
                          </a:solidFill>
                          <a:latin typeface="Arial"/>
                          <a:ea typeface="Arial"/>
                          <a:cs typeface="Arial"/>
                        </a:rPr>
                        <a:t>Fully profiled in wet lab</a:t>
                      </a:r>
                    </a:p>
                  </a:txBody>
                  <a:tcPr marL="209550" marR="171450" marT="152400" marB="133350" anchor="ctr">
                    <a:lnL w="0">
                      <a:solidFill>
                        <a:srgbClr val="FFFFFF"/>
                      </a:solidFill>
                    </a:lnL>
                    <a:lnR w="0">
                      <a:solidFill>
                        <a:srgbClr val="FFFFFF"/>
                      </a:solidFill>
                    </a:lnR>
                    <a:lnB w="0">
                      <a:solidFill>
                        <a:srgbClr val="FFFFFF"/>
                      </a:solidFill>
                    </a:lnB>
                    <a:solidFill>
                      <a:srgbClr val="EEF6FC"/>
                    </a:solidFill>
                  </a:tcPr>
                </a:tc>
                <a:tc>
                  <a:txBody>
                    <a:bodyPr/>
                    <a:lstStyle/>
                    <a:p>
                      <a:pPr algn="ctr"/>
                      <a:r>
                        <a:rPr sz="2400" b="1">
                          <a:solidFill>
                            <a:srgbClr val="00355F"/>
                          </a:solidFill>
                          <a:latin typeface="Arial"/>
                          <a:ea typeface="Arial"/>
                          <a:cs typeface="Arial"/>
                        </a:rPr>
                        <a:t>~50</a:t>
                      </a:r>
                    </a:p>
                  </a:txBody>
                  <a:tcPr marL="209550" marR="171450" marT="152400" marB="133350" anchor="ctr">
                    <a:lnR w="0">
                      <a:solidFill>
                        <a:srgbClr val="FFFFFF"/>
                      </a:solidFill>
                    </a:lnR>
                    <a:lnB w="0">
                      <a:solidFill>
                        <a:srgbClr val="FFFFFF"/>
                      </a:solidFill>
                    </a:lnB>
                    <a:solidFill>
                      <a:srgbClr val="EEF6FC"/>
                    </a:solidFill>
                  </a:tcPr>
                </a:tc>
                <a:tc>
                  <a:txBody>
                    <a:bodyPr/>
                    <a:lstStyle/>
                    <a:p>
                      <a:pPr algn="ctr"/>
                      <a:r>
                        <a:rPr sz="2400" b="1">
                          <a:solidFill>
                            <a:srgbClr val="00355F"/>
                          </a:solidFill>
                          <a:latin typeface="Arial"/>
                          <a:ea typeface="Arial"/>
                          <a:cs typeface="Arial"/>
                        </a:rPr>
                        <a:t>50 → 500</a:t>
                      </a:r>
                    </a:p>
                  </a:txBody>
                  <a:tcPr marL="209550" marR="171450" marT="152400" marB="133350" anchor="ctr">
                    <a:lnR w="0">
                      <a:solidFill>
                        <a:srgbClr val="FFFFFF"/>
                      </a:solidFill>
                    </a:lnR>
                    <a:lnB w="0">
                      <a:solidFill>
                        <a:srgbClr val="FFFFFF"/>
                      </a:solidFill>
                    </a:lnB>
                    <a:solidFill>
                      <a:srgbClr val="EEF6FC"/>
                    </a:solidFill>
                  </a:tcPr>
                </a:tc>
                <a:tc>
                  <a:txBody>
                    <a:bodyPr/>
                    <a:lstStyle/>
                    <a:p>
                      <a:pPr algn="l"/>
                      <a:r>
                        <a:rPr sz="1875" b="1">
                          <a:solidFill>
                            <a:srgbClr val="00355F"/>
                          </a:solidFill>
                          <a:latin typeface="Arial"/>
                          <a:ea typeface="Arial"/>
                          <a:cs typeface="Arial"/>
                        </a:rPr>
                        <a:t>Illustrative capacity expansion</a:t>
                      </a:r>
                    </a:p>
                    <a:p>
                      <a:pPr algn="l"/>
                      <a:r>
                        <a:rPr sz="1875" b="1">
                          <a:solidFill>
                            <a:srgbClr val="00355F"/>
                          </a:solidFill>
                          <a:latin typeface="Arial"/>
                          <a:ea typeface="Arial"/>
                          <a:cs typeface="Arial"/>
                        </a:rPr>
                        <a:t>that investors would need to fund.</a:t>
                      </a:r>
                    </a:p>
                  </a:txBody>
                  <a:tcPr marL="209550" marR="171450" marT="152400" marB="133350" anchor="ctr">
                    <a:lnR w="0">
                      <a:solidFill>
                        <a:srgbClr val="FFFFFF"/>
                      </a:solidFill>
                    </a:lnR>
                    <a:lnB w="0">
                      <a:solidFill>
                        <a:srgbClr val="FFFFFF"/>
                      </a:solidFill>
                    </a:lnB>
                    <a:solidFill>
                      <a:srgbClr val="EEF6FC"/>
                    </a:solidFill>
                  </a:tcPr>
                </a:tc>
              </a:tr>
              <a:tr h="1000125">
                <a:tc>
                  <a:txBody>
                    <a:bodyPr/>
                    <a:lstStyle/>
                    <a:p>
                      <a:pPr algn="l"/>
                      <a:r>
                        <a:rPr sz="1875" b="0">
                          <a:solidFill>
                            <a:srgbClr val="00355F"/>
                          </a:solidFill>
                          <a:latin typeface="Arial"/>
                          <a:ea typeface="Arial"/>
                          <a:cs typeface="Arial"/>
                        </a:rPr>
                        <a:t>Clinical entry</a:t>
                      </a:r>
                    </a:p>
                  </a:txBody>
                  <a:tcPr marL="209550" marR="171450" marT="152400" marB="133350" anchor="ctr">
                    <a:lnL w="0">
                      <a:solidFill>
                        <a:srgbClr val="FFFFFF"/>
                      </a:solidFill>
                    </a:lnL>
                    <a:lnR w="0">
                      <a:solidFill>
                        <a:srgbClr val="FFFFFF"/>
                      </a:solidFill>
                    </a:lnR>
                    <a:lnB w="0">
                      <a:solidFill>
                        <a:srgbClr val="FFFFFF"/>
                      </a:solidFill>
                    </a:lnB>
                    <a:solidFill>
                      <a:srgbClr val="FFFFFF"/>
                    </a:solidFill>
                  </a:tcPr>
                </a:tc>
                <a:tc>
                  <a:txBody>
                    <a:bodyPr/>
                    <a:lstStyle/>
                    <a:p>
                      <a:pPr algn="ctr"/>
                      <a:r>
                        <a:rPr sz="2400" b="0">
                          <a:solidFill>
                            <a:srgbClr val="00355F"/>
                          </a:solidFill>
                          <a:latin typeface="Arial"/>
                          <a:ea typeface="Arial"/>
                          <a:cs typeface="Arial"/>
                        </a:rPr>
                        <a:t>1</a:t>
                      </a:r>
                    </a:p>
                  </a:txBody>
                  <a:tcPr marL="209550" marR="171450" marT="152400" marB="133350" anchor="ctr">
                    <a:lnR w="0">
                      <a:solidFill>
                        <a:srgbClr val="FFFFFF"/>
                      </a:solidFill>
                    </a:lnR>
                    <a:lnB w="0">
                      <a:solidFill>
                        <a:srgbClr val="FFFFFF"/>
                      </a:solidFill>
                    </a:lnB>
                    <a:solidFill>
                      <a:srgbClr val="FFFFFF"/>
                    </a:solidFill>
                  </a:tcPr>
                </a:tc>
                <a:tc>
                  <a:txBody>
                    <a:bodyPr/>
                    <a:lstStyle/>
                    <a:p>
                      <a:pPr algn="ctr"/>
                      <a:r>
                        <a:rPr sz="2400" b="0">
                          <a:solidFill>
                            <a:srgbClr val="00355F"/>
                          </a:solidFill>
                          <a:latin typeface="Arial"/>
                          <a:ea typeface="Arial"/>
                          <a:cs typeface="Arial"/>
                        </a:rPr>
                        <a:t>1</a:t>
                      </a:r>
                    </a:p>
                  </a:txBody>
                  <a:tcPr marL="209550" marR="171450" marT="152400" marB="133350" anchor="ctr">
                    <a:lnR w="0">
                      <a:solidFill>
                        <a:srgbClr val="FFFFFF"/>
                      </a:solidFill>
                    </a:lnR>
                    <a:lnB w="0">
                      <a:solidFill>
                        <a:srgbClr val="FFFFFF"/>
                      </a:solidFill>
                    </a:lnB>
                    <a:solidFill>
                      <a:srgbClr val="FFFFFF"/>
                    </a:solidFill>
                  </a:tcPr>
                </a:tc>
                <a:tc>
                  <a:txBody>
                    <a:bodyPr/>
                    <a:lstStyle/>
                    <a:p>
                      <a:pPr algn="l"/>
                      <a:r>
                        <a:rPr sz="1875" b="0">
                          <a:solidFill>
                            <a:srgbClr val="00355F"/>
                          </a:solidFill>
                          <a:latin typeface="Arial"/>
                          <a:ea typeface="Arial"/>
                          <a:cs typeface="Arial"/>
                        </a:rPr>
                        <a:t>Patients, ethics, capital and time</a:t>
                      </a:r>
                    </a:p>
                    <a:p>
                      <a:pPr algn="l"/>
                      <a:r>
                        <a:rPr sz="1875" b="0">
                          <a:solidFill>
                            <a:srgbClr val="00355F"/>
                          </a:solidFill>
                          <a:latin typeface="Arial"/>
                          <a:ea typeface="Arial"/>
                          <a:cs typeface="Arial"/>
                        </a:rPr>
                        <a:t>remain hard constraints.</a:t>
                      </a:r>
                    </a:p>
                  </a:txBody>
                  <a:tcPr marL="209550" marR="171450" marT="152400" marB="133350" anchor="ctr">
                    <a:lnR w="0">
                      <a:solidFill>
                        <a:srgbClr val="FFFFFF"/>
                      </a:solidFill>
                    </a:lnR>
                    <a:lnB w="0">
                      <a:solidFill>
                        <a:srgbClr val="FFFFFF"/>
                      </a:solidFill>
                    </a:lnB>
                    <a:solidFill>
                      <a:srgbClr val="FFFFFF"/>
                    </a:solidFill>
                  </a:tcPr>
                </a:tc>
              </a:tr>
              <a:tr h="1000125">
                <a:tc>
                  <a:txBody>
                    <a:bodyPr/>
                    <a:lstStyle/>
                    <a:p>
                      <a:pPr algn="l"/>
                      <a:r>
                        <a:rPr sz="1875" b="0">
                          <a:solidFill>
                            <a:srgbClr val="00355F"/>
                          </a:solidFill>
                          <a:latin typeface="Arial"/>
                          <a:ea typeface="Arial"/>
                          <a:cs typeface="Arial"/>
                        </a:rPr>
                        <a:t>Expected approvals</a:t>
                      </a:r>
                    </a:p>
                  </a:txBody>
                  <a:tcPr marL="209550" marR="171450" marT="152400" marB="133350" anchor="ctr">
                    <a:lnL w="0">
                      <a:solidFill>
                        <a:srgbClr val="FFFFFF"/>
                      </a:solidFill>
                    </a:lnL>
                    <a:lnR w="0">
                      <a:solidFill>
                        <a:srgbClr val="FFFFFF"/>
                      </a:solidFill>
                    </a:lnR>
                    <a:lnB w="0">
                      <a:solidFill>
                        <a:srgbClr val="FFFFFF"/>
                      </a:solidFill>
                    </a:lnB>
                    <a:solidFill>
                      <a:srgbClr val="FFFFFF"/>
                    </a:solidFill>
                  </a:tcPr>
                </a:tc>
                <a:tc>
                  <a:txBody>
                    <a:bodyPr/>
                    <a:lstStyle/>
                    <a:p>
                      <a:pPr algn="ctr"/>
                      <a:r>
                        <a:rPr sz="2400" b="0">
                          <a:solidFill>
                            <a:srgbClr val="00355F"/>
                          </a:solidFill>
                          <a:latin typeface="Arial"/>
                          <a:ea typeface="Arial"/>
                          <a:cs typeface="Arial"/>
                        </a:rPr>
                        <a:t>~0.14</a:t>
                      </a:r>
                    </a:p>
                  </a:txBody>
                  <a:tcPr marL="209550" marR="171450" marT="152400" marB="133350" anchor="ctr">
                    <a:lnR w="0">
                      <a:solidFill>
                        <a:srgbClr val="FFFFFF"/>
                      </a:solidFill>
                    </a:lnR>
                    <a:lnB w="0">
                      <a:solidFill>
                        <a:srgbClr val="FFFFFF"/>
                      </a:solidFill>
                    </a:lnB>
                    <a:solidFill>
                      <a:srgbClr val="FFFFFF"/>
                    </a:solidFill>
                  </a:tcPr>
                </a:tc>
                <a:tc>
                  <a:txBody>
                    <a:bodyPr/>
                    <a:lstStyle/>
                    <a:p>
                      <a:pPr algn="ctr"/>
                      <a:r>
                        <a:rPr sz="2400" b="0">
                          <a:solidFill>
                            <a:srgbClr val="00355F"/>
                          </a:solidFill>
                          <a:latin typeface="Arial"/>
                          <a:ea typeface="Arial"/>
                          <a:cs typeface="Arial"/>
                        </a:rPr>
                        <a:t>Unknown</a:t>
                      </a:r>
                    </a:p>
                  </a:txBody>
                  <a:tcPr marL="209550" marR="171450" marT="152400" marB="133350" anchor="ctr">
                    <a:lnR w="0">
                      <a:solidFill>
                        <a:srgbClr val="FFFFFF"/>
                      </a:solidFill>
                    </a:lnR>
                    <a:lnB w="0">
                      <a:solidFill>
                        <a:srgbClr val="FFFFFF"/>
                      </a:solidFill>
                    </a:lnB>
                    <a:solidFill>
                      <a:srgbClr val="FFFFFF"/>
                    </a:solidFill>
                  </a:tcPr>
                </a:tc>
                <a:tc>
                  <a:txBody>
                    <a:bodyPr/>
                    <a:lstStyle/>
                    <a:p>
                      <a:pPr algn="l"/>
                      <a:r>
                        <a:rPr sz="1875" b="0">
                          <a:solidFill>
                            <a:srgbClr val="00355F"/>
                          </a:solidFill>
                          <a:latin typeface="Arial"/>
                          <a:ea typeface="Arial"/>
                          <a:cs typeface="Arial"/>
                        </a:rPr>
                        <a:t>Clinical success must be demonstrated;</a:t>
                      </a:r>
                    </a:p>
                    <a:p>
                      <a:pPr algn="l"/>
                      <a:r>
                        <a:rPr sz="1875" b="0">
                          <a:solidFill>
                            <a:srgbClr val="00355F"/>
                          </a:solidFill>
                          <a:latin typeface="Arial"/>
                          <a:ea typeface="Arial"/>
                          <a:cs typeface="Arial"/>
                        </a:rPr>
                        <a:t>AI does not establish an approval rate.</a:t>
                      </a:r>
                    </a:p>
                  </a:txBody>
                  <a:tcPr marL="209550" marR="171450" marT="152400" marB="133350" anchor="ctr">
                    <a:lnR w="0">
                      <a:solidFill>
                        <a:srgbClr val="FFFFFF"/>
                      </a:solidFill>
                    </a:lnR>
                    <a:lnB w="0">
                      <a:solidFill>
                        <a:srgbClr val="FFFFFF"/>
                      </a:solidFill>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4011EEB-299A-47C1-8FF4-126142D98205}"/>
              </a:ext>
            </a:extLst>
          </p:cNvPr>
          <p:cNvSpPr>
            <a:spLocks xmlns:a="http://schemas.openxmlformats.org/drawingml/2006/main" noGrp="1"/>
          </p:cNvSpPr>
          <p:nvPr/>
        </p:nvSpPr>
        <p:spPr>
          <a:xfrm xmlns:a="http://schemas.openxmlformats.org/drawingml/2006/main">
            <a:off x="685800" y="8353425"/>
            <a:ext cx="16916400" cy="933450"/>
          </a:xfrm>
          <a:prstGeom xmlns:a="http://schemas.openxmlformats.org/drawingml/2006/main" prst="roundRect">
            <a:avLst>
              <a:gd name="adj" fmla="val 10204"/>
            </a:avLst>
          </a:prstGeom>
          <a:solidFill xmlns:a="http://schemas.openxmlformats.org/drawingml/2006/main">
            <a:srgbClr val="00355F"/>
          </a:solidFill>
          <a:ln xmlns:a="http://schemas.openxmlformats.org/drawingml/2006/main" w="9525">
            <a:noFill/>
          </a:ln>
        </p:spPr>
      </p:sp>
      <p:pic>
        <p:nvPicPr>
          <p:cNvPr id="7" name="">
            <a:extLst xmlns:a="http://schemas.openxmlformats.org/drawingml/2006/main">
              <a:ext uri="{FF2B5EF4-FFF2-40B4-BE49-F238E27FC236}">
                <a16:creationId xmlns:a16="http://schemas.microsoft.com/office/drawing/2014/main" id="{3A157254-8FD3-4E28-B97A-B0027CAF8369}"/>
              </a:ext>
            </a:extLst>
          </p:cNvPr>
          <p:cNvPicPr>
            <a:picLocks xmlns:a="http://schemas.openxmlformats.org/drawingml/2006/main" noChangeAspect="1"/>
          </p:cNvPicPr>
          <p:nvPr/>
        </p:nvPicPr>
        <p:blipFill>
          <a:blip xmlns:r="http://schemas.openxmlformats.org/officeDocument/2006/relationships" xmlns:a="http://schemas.openxmlformats.org/drawingml/2006/main" r:embed="R8e358cd7fb6446f6">
            <a:extLst>
              <a:ext uri="{96DAC541-7B7A-43D3-8B79-37D633B846F1}">
                <asvg:svgBlip xmlns:asvg="http://schemas.microsoft.com/office/drawing/2016/SVG/main" r:embed="R35843aca9a9d45ce"/>
              </a:ext>
            </a:extLst>
          </a:blip>
          <a:stretch xmlns:a="http://schemas.openxmlformats.org/drawingml/2006/main"/>
        </p:blipFill>
        <p:spPr>
          <a:xfrm xmlns:a="http://schemas.openxmlformats.org/drawingml/2006/main">
            <a:off x="904875" y="8562975"/>
            <a:ext cx="495300" cy="495300"/>
          </a:xfrm>
          <a:prstGeom xmlns:a="http://schemas.openxmlformats.org/drawingml/2006/main" prst="rect">
            <a:avLst/>
          </a:prstGeom>
        </p:spPr>
      </p:pic>
      <p:sp>
        <p:nvSpPr>
          <p:cNvPr id="8" name="Working thesis: experimental throughput becomes a capacity gate as virtual design scales.">
            <a:extLst xmlns:a="http://schemas.openxmlformats.org/drawingml/2006/main">
              <a:ext uri="{FF2B5EF4-FFF2-40B4-BE49-F238E27FC236}">
                <a16:creationId xmlns:a16="http://schemas.microsoft.com/office/drawing/2014/main" id="{944DB006-B1D1-47B9-96A5-B98285A3654B}"/>
              </a:ext>
            </a:extLst>
          </p:cNvPr>
          <p:cNvSpPr>
            <a:spLocks xmlns:a="http://schemas.openxmlformats.org/drawingml/2006/main" noGrp="1"/>
          </p:cNvSpPr>
          <p:nvPr/>
        </p:nvSpPr>
        <p:spPr>
          <a:xfrm xmlns:a="http://schemas.openxmlformats.org/drawingml/2006/main">
            <a:off x="1628775" y="8562975"/>
            <a:ext cx="15668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00" b="1">
                <a:solidFill>
                  <a:srgbClr val="FFFFFF"/>
                </a:solidFill>
                <a:latin typeface="Arial"/>
                <a:ea typeface="Arial"/>
                <a:cs typeface="Arial"/>
              </a:defRPr>
            </a:defPPr>
          </a:lstStyle>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Working thesis: experimental throughput becomes a capacity gate as virtual design scales.</a:t>
            </a:r>
          </a:p>
        </p:txBody>
      </p:sp>
      <p:sp>
        <p:nvSpPr>
          <p:cNvPr id="9" name="Source: user-supplied comparison. ~0.14 is an illustrative expected approval count per clinical entrant; the AI-era outcome is unknown.">
            <a:extLst xmlns:a="http://schemas.openxmlformats.org/drawingml/2006/main">
              <a:ext uri="{FF2B5EF4-FFF2-40B4-BE49-F238E27FC236}">
                <a16:creationId xmlns:a16="http://schemas.microsoft.com/office/drawing/2014/main" id="{D5EE2C6D-F151-4180-B6B5-F1EB133600BB}"/>
              </a:ext>
            </a:extLst>
          </p:cNvPr>
          <p:cNvSpPr>
            <a:spLocks xmlns:a="http://schemas.openxmlformats.org/drawingml/2006/main" noGrp="1"/>
          </p:cNvSpPr>
          <p:nvPr/>
        </p:nvSpPr>
        <p:spPr>
          <a:xfrm xmlns:a="http://schemas.openxmlformats.org/drawingml/2006/main">
            <a:off x="685800" y="9601200"/>
            <a:ext cx="16916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defRPr sz="1275" b="0">
                <a:solidFill>
                  <a:srgbClr val="00355F"/>
                </a:solidFill>
                <a:latin typeface="Arial"/>
                <a:ea typeface="Arial"/>
                <a:cs typeface="Arial"/>
              </a:defRPr>
            </a:pPr>
            <a:r>
              <a:rPr sz="1275" b="0">
                <a:solidFill>
                  <a:srgbClr val="00355F"/>
                </a:solidFill>
                <a:latin typeface="Arial"/>
                <a:ea typeface="Arial"/>
                <a:cs typeface="Arial"/>
              </a:rPr>
              <a:t>Source: user-supplied comparison. ~0.14 is an illustrative expected approval count per clinical entrant; the AI-era outcome is unknown.</a:t>
            </a:r>
          </a:p>
        </p:txBody>
      </p:sp>
    </p:spTree>
    <p:extLst>
      <p:ext uri="{BB962C8B-B14F-4D97-AF65-F5344CB8AC3E}">
        <p14:creationId xmlns:p14="http://schemas.microsoft.com/office/powerpoint/2010/main" val="72666051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B38B60C4-C7E2-489F-883D-617E54161961}"/>
              </a:ext>
            </a:extLst>
          </p:cNvPr>
          <p:cNvSpPr>
            <a:spLocks xmlns:a="http://schemas.openxmlformats.org/drawingml/2006/main" noGrp="1"/>
          </p:cNvSpPr>
          <p:nvPr/>
        </p:nvSpPr>
        <p:spPr>
          <a:xfrm xmlns:a="http://schemas.openxmlformats.org/drawingml/2006/main">
            <a:off x="762000" y="457200"/>
            <a:ext cx="76200" cy="800100"/>
          </a:xfrm>
          <a:prstGeom xmlns:a="http://schemas.openxmlformats.org/drawingml/2006/main" prst="rect">
            <a:avLst/>
          </a:prstGeom>
          <a:solidFill xmlns:a="http://schemas.openxmlformats.org/drawingml/2006/main">
            <a:srgbClr val="00355F"/>
          </a:solidFill>
          <a:ln xmlns:a="http://schemas.openxmlformats.org/drawingml/2006/main" w="7620">
            <a:noFill/>
          </a:ln>
        </p:spPr>
      </p:sp>
      <p:sp>
        <p:nvSpPr>
          <p:cNvPr id="2" name="AI-scale design meets finite experimental capacity">
            <a:extLst xmlns:a="http://schemas.openxmlformats.org/drawingml/2006/main">
              <a:ext uri="{FF2B5EF4-FFF2-40B4-BE49-F238E27FC236}">
                <a16:creationId xmlns:a16="http://schemas.microsoft.com/office/drawing/2014/main" id="{D1256405-E27B-48A3-89A0-2E58AA6F396F}"/>
              </a:ext>
            </a:extLst>
          </p:cNvPr>
          <p:cNvSpPr>
            <a:spLocks xmlns:a="http://schemas.openxmlformats.org/drawingml/2006/main" noGrp="1"/>
          </p:cNvSpPr>
          <p:nvPr/>
        </p:nvSpPr>
        <p:spPr>
          <a:xfrm xmlns:a="http://schemas.openxmlformats.org/drawingml/2006/main">
            <a:off x="1074420" y="434340"/>
            <a:ext cx="1645158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3360" b="1">
                <a:solidFill>
                  <a:srgbClr val="00355F"/>
                </a:solidFill>
                <a:latin typeface="Arial"/>
                <a:ea typeface="Arial"/>
                <a:cs typeface="Arial"/>
              </a:defRPr>
            </a:defPPr>
          </a:lstStyle>
          <a:p xmlns:a="http://schemas.openxmlformats.org/drawingml/2006/main">
            <a:pPr algn="l">
              <a:defRPr sz="3360" b="1">
                <a:solidFill>
                  <a:srgbClr val="00355F"/>
                </a:solidFill>
                <a:latin typeface="Arial"/>
                <a:ea typeface="Arial"/>
                <a:cs typeface="Arial"/>
              </a:defRPr>
            </a:pPr>
            <a:r>
              <a:rPr sz="3360" b="1">
                <a:solidFill>
                  <a:srgbClr val="00355F"/>
                </a:solidFill>
                <a:latin typeface="Arial"/>
                <a:ea typeface="Arial"/>
                <a:cs typeface="Arial"/>
              </a:rPr>
              <a:t>AI-scale design meets finite experimental capacity</a:t>
            </a:r>
          </a:p>
        </p:txBody>
      </p:sp>
      <p:sp>
        <p:nvSpPr>
          <p:cNvPr id="3" name="Working scenario: candidate generation expands faster than physical construction and biological validation.">
            <a:extLst xmlns:a="http://schemas.openxmlformats.org/drawingml/2006/main">
              <a:ext uri="{FF2B5EF4-FFF2-40B4-BE49-F238E27FC236}">
                <a16:creationId xmlns:a16="http://schemas.microsoft.com/office/drawing/2014/main" id="{663958C5-1751-429C-AD1B-558118134D94}"/>
              </a:ext>
            </a:extLst>
          </p:cNvPr>
          <p:cNvSpPr>
            <a:spLocks xmlns:a="http://schemas.openxmlformats.org/drawingml/2006/main" noGrp="1"/>
          </p:cNvSpPr>
          <p:nvPr/>
        </p:nvSpPr>
        <p:spPr>
          <a:xfrm xmlns:a="http://schemas.openxmlformats.org/drawingml/2006/main">
            <a:off x="1074420" y="1043940"/>
            <a:ext cx="1645158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40" b="0">
                <a:solidFill>
                  <a:srgbClr val="00355F"/>
                </a:solidFill>
                <a:latin typeface="Arial"/>
                <a:ea typeface="Arial"/>
                <a:cs typeface="Arial"/>
              </a:defRPr>
            </a:defPPr>
          </a:lstStyle>
          <a:p xmlns:a="http://schemas.openxmlformats.org/drawingml/2006/main">
            <a:pPr algn="l">
              <a:defRPr sz="1740" b="0">
                <a:solidFill>
                  <a:srgbClr val="00355F"/>
                </a:solidFill>
                <a:latin typeface="Arial"/>
                <a:ea typeface="Arial"/>
                <a:cs typeface="Arial"/>
              </a:defRPr>
            </a:pPr>
            <a:r>
              <a:rPr sz="1740" b="0">
                <a:solidFill>
                  <a:srgbClr val="00355F"/>
                </a:solidFill>
                <a:latin typeface="Arial"/>
                <a:ea typeface="Arial"/>
                <a:cs typeface="Arial"/>
              </a:rPr>
              <a:t>Working scenario: candidate generation expands faster than physical construction and biological validation.</a:t>
            </a:r>
          </a:p>
        </p:txBody>
      </p:sp>
      <p:sp>
        <p:nvSpPr>
          <p:cNvPr id="4" name="">
            <a:extLst xmlns:a="http://schemas.openxmlformats.org/drawingml/2006/main">
              <a:ext uri="{FF2B5EF4-FFF2-40B4-BE49-F238E27FC236}">
                <a16:creationId xmlns:a16="http://schemas.microsoft.com/office/drawing/2014/main" id="{A306A4CA-6A20-4709-B4A1-2F945A0BA6A8}"/>
              </a:ext>
            </a:extLst>
          </p:cNvPr>
          <p:cNvSpPr>
            <a:spLocks xmlns:a="http://schemas.openxmlformats.org/drawingml/2006/main" noGrp="1"/>
          </p:cNvSpPr>
          <p:nvPr/>
        </p:nvSpPr>
        <p:spPr>
          <a:xfrm xmlns:a="http://schemas.openxmlformats.org/drawingml/2006/main">
            <a:off x="762000" y="1744980"/>
            <a:ext cx="16764000" cy="76"/>
          </a:xfrm>
          <a:custGeom xmlns:a="http://schemas.openxmlformats.org/drawingml/2006/main">
            <a:pathLst>
              <a:path w="20955000" h="95">
                <a:moveTo>
                  <a:pt x="0" y="0"/>
                </a:moveTo>
                <a:lnTo>
                  <a:pt x="20955000" y="0"/>
                </a:lnTo>
              </a:path>
            </a:pathLst>
          </a:custGeom>
          <a:noFill xmlns:a="http://schemas.openxmlformats.org/drawingml/2006/main"/>
          <a:ln xmlns:a="http://schemas.openxmlformats.org/drawingml/2006/main" w="7620">
            <a:solidFill>
              <a:srgbClr val="A5A5A5"/>
            </a:solidFill>
            <a:prstDash val="solid"/>
          </a:ln>
        </p:spPr>
      </p:sp>
      <p:sp>
        <p:nvSpPr>
          <p:cNvPr id="5" name="AI-ERA DISCOVERY FUNNEL">
            <a:extLst xmlns:a="http://schemas.openxmlformats.org/drawingml/2006/main">
              <a:ext uri="{FF2B5EF4-FFF2-40B4-BE49-F238E27FC236}">
                <a16:creationId xmlns:a16="http://schemas.microsoft.com/office/drawing/2014/main" id="{725C4AEE-7E45-4453-AB2B-F8CC282D5E5C}"/>
              </a:ext>
            </a:extLst>
          </p:cNvPr>
          <p:cNvSpPr>
            <a:spLocks xmlns:a="http://schemas.openxmlformats.org/drawingml/2006/main" noGrp="1"/>
          </p:cNvSpPr>
          <p:nvPr/>
        </p:nvSpPr>
        <p:spPr>
          <a:xfrm xmlns:a="http://schemas.openxmlformats.org/drawingml/2006/main">
            <a:off x="762000" y="2103120"/>
            <a:ext cx="51816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80" b="1">
                <a:solidFill>
                  <a:srgbClr val="00355F"/>
                </a:solidFill>
                <a:latin typeface="Arial"/>
                <a:ea typeface="Arial"/>
                <a:cs typeface="Arial"/>
              </a:defRPr>
            </a:defPPr>
          </a:lstStyle>
          <a:p xmlns:a="http://schemas.openxmlformats.org/drawingml/2006/main">
            <a:pPr algn="l">
              <a:defRPr sz="1680" b="1">
                <a:solidFill>
                  <a:srgbClr val="00355F"/>
                </a:solidFill>
                <a:latin typeface="Arial"/>
                <a:ea typeface="Arial"/>
                <a:cs typeface="Arial"/>
              </a:defRPr>
            </a:pPr>
            <a:r>
              <a:rPr sz="1680" b="1">
                <a:solidFill>
                  <a:srgbClr val="00355F"/>
                </a:solidFill>
                <a:latin typeface="Arial"/>
                <a:ea typeface="Arial"/>
                <a:cs typeface="Arial"/>
              </a:rPr>
              <a:t>AI-ERA DISCOVERY FUNNEL</a:t>
            </a:r>
          </a:p>
        </p:txBody>
      </p:sp>
      <p:sp>
        <p:nvSpPr>
          <p:cNvPr id="6" name="Illustrative counts per one clinical entrant">
            <a:extLst xmlns:a="http://schemas.openxmlformats.org/drawingml/2006/main">
              <a:ext uri="{FF2B5EF4-FFF2-40B4-BE49-F238E27FC236}">
                <a16:creationId xmlns:a16="http://schemas.microsoft.com/office/drawing/2014/main" id="{F1F78BD2-F9AE-4075-9035-074698798EF8}"/>
              </a:ext>
            </a:extLst>
          </p:cNvPr>
          <p:cNvSpPr>
            <a:spLocks xmlns:a="http://schemas.openxmlformats.org/drawingml/2006/main" noGrp="1"/>
          </p:cNvSpPr>
          <p:nvPr/>
        </p:nvSpPr>
        <p:spPr>
          <a:xfrm xmlns:a="http://schemas.openxmlformats.org/drawingml/2006/main">
            <a:off x="762000" y="2461260"/>
            <a:ext cx="5181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20" b="0">
                <a:solidFill>
                  <a:srgbClr val="00355F"/>
                </a:solidFill>
                <a:latin typeface="Arial"/>
                <a:ea typeface="Arial"/>
                <a:cs typeface="Arial"/>
              </a:defRPr>
            </a:defPPr>
          </a:lstStyle>
          <a:p xmlns:a="http://schemas.openxmlformats.org/drawingml/2006/main">
            <a:pPr algn="l">
              <a:defRPr sz="1320" b="0">
                <a:solidFill>
                  <a:srgbClr val="00355F"/>
                </a:solidFill>
                <a:latin typeface="Arial"/>
                <a:ea typeface="Arial"/>
                <a:cs typeface="Arial"/>
              </a:defRPr>
            </a:pPr>
            <a:r>
              <a:rPr sz="1320" b="0">
                <a:solidFill>
                  <a:srgbClr val="00355F"/>
                </a:solidFill>
                <a:latin typeface="Arial"/>
                <a:ea typeface="Arial"/>
                <a:cs typeface="Arial"/>
              </a:rPr>
              <a:t>Illustrative counts per one clinical entrant</a:t>
            </a:r>
          </a:p>
        </p:txBody>
      </p:sp>
      <p:sp>
        <p:nvSpPr>
          <p:cNvPr id="7" name="">
            <a:extLst xmlns:a="http://schemas.openxmlformats.org/drawingml/2006/main">
              <a:ext uri="{FF2B5EF4-FFF2-40B4-BE49-F238E27FC236}">
                <a16:creationId xmlns:a16="http://schemas.microsoft.com/office/drawing/2014/main" id="{C8673702-F09F-4D25-A1A3-9D5224301F11}"/>
              </a:ext>
            </a:extLst>
          </p:cNvPr>
          <p:cNvSpPr>
            <a:spLocks xmlns:a="http://schemas.openxmlformats.org/drawingml/2006/main" noGrp="1"/>
          </p:cNvSpPr>
          <p:nvPr/>
        </p:nvSpPr>
        <p:spPr>
          <a:xfrm xmlns:a="http://schemas.openxmlformats.org/drawingml/2006/main">
            <a:off x="762000" y="2971800"/>
            <a:ext cx="5181600" cy="1082040"/>
          </a:xfrm>
          <a:custGeom xmlns:a="http://schemas.openxmlformats.org/drawingml/2006/main">
            <a:pathLst>
              <a:path w="6477000" h="1352550">
                <a:moveTo>
                  <a:pt x="0" y="0"/>
                </a:moveTo>
                <a:lnTo>
                  <a:pt x="6477000" y="0"/>
                </a:lnTo>
                <a:lnTo>
                  <a:pt x="5667375" y="1352550"/>
                </a:lnTo>
                <a:lnTo>
                  <a:pt x="809625" y="1352550"/>
                </a:lnTo>
                <a:close/>
              </a:path>
            </a:pathLst>
          </a:custGeom>
          <a:solidFill xmlns:a="http://schemas.openxmlformats.org/drawingml/2006/main">
            <a:srgbClr val="ACD4F1"/>
          </a:solidFill>
          <a:ln xmlns:a="http://schemas.openxmlformats.org/drawingml/2006/main" w="16764">
            <a:solidFill>
              <a:srgbClr val="00355F"/>
            </a:solidFill>
          </a:ln>
        </p:spPr>
      </p:sp>
      <p:sp>
        <p:nvSpPr>
          <p:cNvPr id="8" name="Virtual designs">
            <a:extLst xmlns:a="http://schemas.openxmlformats.org/drawingml/2006/main">
              <a:ext uri="{FF2B5EF4-FFF2-40B4-BE49-F238E27FC236}">
                <a16:creationId xmlns:a16="http://schemas.microsoft.com/office/drawing/2014/main" id="{2690A193-0744-4423-B0AB-8E132D798698}"/>
              </a:ext>
            </a:extLst>
          </p:cNvPr>
          <p:cNvSpPr>
            <a:spLocks xmlns:a="http://schemas.openxmlformats.org/drawingml/2006/main" noGrp="1"/>
          </p:cNvSpPr>
          <p:nvPr/>
        </p:nvSpPr>
        <p:spPr>
          <a:xfrm xmlns:a="http://schemas.openxmlformats.org/drawingml/2006/main">
            <a:off x="762000" y="3131820"/>
            <a:ext cx="51816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40" b="1">
                <a:solidFill>
                  <a:srgbClr val="00355F"/>
                </a:solidFill>
                <a:latin typeface="Arial"/>
                <a:ea typeface="Arial"/>
                <a:cs typeface="Arial"/>
              </a:defRPr>
            </a:defPPr>
          </a:lstStyle>
          <a:p xmlns:a="http://schemas.openxmlformats.org/drawingml/2006/main">
            <a:pPr algn="ctr">
              <a:defRPr sz="1740" b="1">
                <a:solidFill>
                  <a:srgbClr val="00355F"/>
                </a:solidFill>
                <a:latin typeface="Arial"/>
                <a:ea typeface="Arial"/>
                <a:cs typeface="Arial"/>
              </a:defRPr>
            </a:pPr>
            <a:r>
              <a:rPr sz="1740" b="1">
                <a:solidFill>
                  <a:srgbClr val="00355F"/>
                </a:solidFill>
                <a:latin typeface="Arial"/>
                <a:ea typeface="Arial"/>
                <a:cs typeface="Arial"/>
              </a:rPr>
              <a:t>Virtual designs</a:t>
            </a:r>
          </a:p>
        </p:txBody>
      </p:sp>
      <p:sp>
        <p:nvSpPr>
          <p:cNvPr id="9" name="10⁵–10⁹">
            <a:extLst xmlns:a="http://schemas.openxmlformats.org/drawingml/2006/main">
              <a:ext uri="{FF2B5EF4-FFF2-40B4-BE49-F238E27FC236}">
                <a16:creationId xmlns:a16="http://schemas.microsoft.com/office/drawing/2014/main" id="{3C16F12F-C698-4887-A501-EAC7D1F015F4}"/>
              </a:ext>
            </a:extLst>
          </p:cNvPr>
          <p:cNvSpPr>
            <a:spLocks xmlns:a="http://schemas.openxmlformats.org/drawingml/2006/main" noGrp="1"/>
          </p:cNvSpPr>
          <p:nvPr/>
        </p:nvSpPr>
        <p:spPr>
          <a:xfrm xmlns:a="http://schemas.openxmlformats.org/drawingml/2006/main">
            <a:off x="762000" y="3489960"/>
            <a:ext cx="518160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580" b="1">
                <a:solidFill>
                  <a:srgbClr val="00355F"/>
                </a:solidFill>
                <a:latin typeface="Arial"/>
                <a:ea typeface="Arial"/>
                <a:cs typeface="Arial"/>
              </a:defRPr>
            </a:defPPr>
          </a:lstStyle>
          <a:p xmlns:a="http://schemas.openxmlformats.org/drawingml/2006/main">
            <a:pPr algn="ctr">
              <a:defRPr sz="2580" b="1">
                <a:solidFill>
                  <a:srgbClr val="00355F"/>
                </a:solidFill>
                <a:latin typeface="Arial"/>
                <a:ea typeface="Arial"/>
                <a:cs typeface="Arial"/>
              </a:defRPr>
            </a:pPr>
            <a:r>
              <a:rPr sz="2580" b="1">
                <a:solidFill>
                  <a:srgbClr val="00355F"/>
                </a:solidFill>
                <a:latin typeface="Arial"/>
                <a:ea typeface="Arial"/>
                <a:cs typeface="Arial"/>
              </a:rPr>
              <a:t>10⁵–10⁹</a:t>
            </a:r>
          </a:p>
        </p:txBody>
      </p:sp>
      <p:sp>
        <p:nvSpPr>
          <p:cNvPr id="10" name="">
            <a:extLst xmlns:a="http://schemas.openxmlformats.org/drawingml/2006/main">
              <a:ext uri="{FF2B5EF4-FFF2-40B4-BE49-F238E27FC236}">
                <a16:creationId xmlns:a16="http://schemas.microsoft.com/office/drawing/2014/main" id="{168CA181-E74C-41C7-970E-13E42BBBC606}"/>
              </a:ext>
            </a:extLst>
          </p:cNvPr>
          <p:cNvSpPr>
            <a:spLocks xmlns:a="http://schemas.openxmlformats.org/drawingml/2006/main" noGrp="1"/>
          </p:cNvSpPr>
          <p:nvPr/>
        </p:nvSpPr>
        <p:spPr>
          <a:xfrm xmlns:a="http://schemas.openxmlformats.org/drawingml/2006/main">
            <a:off x="1409700" y="4175760"/>
            <a:ext cx="3886200" cy="975360"/>
          </a:xfrm>
          <a:custGeom xmlns:a="http://schemas.openxmlformats.org/drawingml/2006/main">
            <a:pathLst>
              <a:path w="4857750" h="1219200">
                <a:moveTo>
                  <a:pt x="0" y="0"/>
                </a:moveTo>
                <a:lnTo>
                  <a:pt x="4857750" y="0"/>
                </a:lnTo>
                <a:lnTo>
                  <a:pt x="4262438" y="1219200"/>
                </a:lnTo>
                <a:lnTo>
                  <a:pt x="595313" y="1219200"/>
                </a:lnTo>
                <a:close/>
              </a:path>
            </a:pathLst>
          </a:custGeom>
          <a:solidFill xmlns:a="http://schemas.openxmlformats.org/drawingml/2006/main">
            <a:srgbClr val="7399C6"/>
          </a:solidFill>
          <a:ln xmlns:a="http://schemas.openxmlformats.org/drawingml/2006/main" w="16764">
            <a:solidFill>
              <a:srgbClr val="00355F"/>
            </a:solidFill>
          </a:ln>
        </p:spPr>
      </p:sp>
      <p:sp>
        <p:nvSpPr>
          <p:cNvPr id="11" name="Physically made">
            <a:extLst xmlns:a="http://schemas.openxmlformats.org/drawingml/2006/main">
              <a:ext uri="{FF2B5EF4-FFF2-40B4-BE49-F238E27FC236}">
                <a16:creationId xmlns:a16="http://schemas.microsoft.com/office/drawing/2014/main" id="{FFB9A473-2A21-4724-88D2-BB4114A0EF8B}"/>
              </a:ext>
            </a:extLst>
          </p:cNvPr>
          <p:cNvSpPr>
            <a:spLocks xmlns:a="http://schemas.openxmlformats.org/drawingml/2006/main" noGrp="1"/>
          </p:cNvSpPr>
          <p:nvPr/>
        </p:nvSpPr>
        <p:spPr>
          <a:xfrm xmlns:a="http://schemas.openxmlformats.org/drawingml/2006/main">
            <a:off x="1409700" y="4335780"/>
            <a:ext cx="38862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40" b="1">
                <a:solidFill>
                  <a:srgbClr val="00355F"/>
                </a:solidFill>
                <a:latin typeface="Arial"/>
                <a:ea typeface="Arial"/>
                <a:cs typeface="Arial"/>
              </a:defRPr>
            </a:defPPr>
          </a:lstStyle>
          <a:p xmlns:a="http://schemas.openxmlformats.org/drawingml/2006/main">
            <a:pPr algn="ctr">
              <a:defRPr sz="1740" b="1">
                <a:solidFill>
                  <a:srgbClr val="00355F"/>
                </a:solidFill>
                <a:latin typeface="Arial"/>
                <a:ea typeface="Arial"/>
                <a:cs typeface="Arial"/>
              </a:defRPr>
            </a:pPr>
            <a:r>
              <a:rPr sz="1740" b="1">
                <a:solidFill>
                  <a:srgbClr val="00355F"/>
                </a:solidFill>
                <a:latin typeface="Arial"/>
                <a:ea typeface="Arial"/>
                <a:cs typeface="Arial"/>
              </a:rPr>
              <a:t>Physically made</a:t>
            </a:r>
          </a:p>
        </p:txBody>
      </p:sp>
      <p:sp>
        <p:nvSpPr>
          <p:cNvPr id="12" name="10³–10⁴">
            <a:extLst xmlns:a="http://schemas.openxmlformats.org/drawingml/2006/main">
              <a:ext uri="{FF2B5EF4-FFF2-40B4-BE49-F238E27FC236}">
                <a16:creationId xmlns:a16="http://schemas.microsoft.com/office/drawing/2014/main" id="{A304D462-EB8B-4809-B39C-308A0F91BA49}"/>
              </a:ext>
            </a:extLst>
          </p:cNvPr>
          <p:cNvSpPr>
            <a:spLocks xmlns:a="http://schemas.openxmlformats.org/drawingml/2006/main" noGrp="1"/>
          </p:cNvSpPr>
          <p:nvPr/>
        </p:nvSpPr>
        <p:spPr>
          <a:xfrm xmlns:a="http://schemas.openxmlformats.org/drawingml/2006/main">
            <a:off x="1409700" y="4693920"/>
            <a:ext cx="388620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580" b="1">
                <a:solidFill>
                  <a:srgbClr val="00355F"/>
                </a:solidFill>
                <a:latin typeface="Arial"/>
                <a:ea typeface="Arial"/>
                <a:cs typeface="Arial"/>
              </a:defRPr>
            </a:defPPr>
          </a:lstStyle>
          <a:p xmlns:a="http://schemas.openxmlformats.org/drawingml/2006/main">
            <a:pPr algn="ctr">
              <a:defRPr sz="2580" b="1">
                <a:solidFill>
                  <a:srgbClr val="00355F"/>
                </a:solidFill>
                <a:latin typeface="Arial"/>
                <a:ea typeface="Arial"/>
                <a:cs typeface="Arial"/>
              </a:defRPr>
            </a:pPr>
            <a:r>
              <a:rPr sz="2580" b="1">
                <a:solidFill>
                  <a:srgbClr val="00355F"/>
                </a:solidFill>
                <a:latin typeface="Arial"/>
                <a:ea typeface="Arial"/>
                <a:cs typeface="Arial"/>
              </a:rPr>
              <a:t>10³–10⁴</a:t>
            </a:r>
          </a:p>
        </p:txBody>
      </p:sp>
      <p:sp>
        <p:nvSpPr>
          <p:cNvPr id="13" name="">
            <a:extLst xmlns:a="http://schemas.openxmlformats.org/drawingml/2006/main">
              <a:ext uri="{FF2B5EF4-FFF2-40B4-BE49-F238E27FC236}">
                <a16:creationId xmlns:a16="http://schemas.microsoft.com/office/drawing/2014/main" id="{D1C3E236-3CAD-4EA1-B540-0FA37EB1EFC4}"/>
              </a:ext>
            </a:extLst>
          </p:cNvPr>
          <p:cNvSpPr>
            <a:spLocks xmlns:a="http://schemas.openxmlformats.org/drawingml/2006/main" noGrp="1"/>
          </p:cNvSpPr>
          <p:nvPr/>
        </p:nvSpPr>
        <p:spPr>
          <a:xfrm xmlns:a="http://schemas.openxmlformats.org/drawingml/2006/main">
            <a:off x="1885950" y="5273040"/>
            <a:ext cx="2933700" cy="1005840"/>
          </a:xfrm>
          <a:custGeom xmlns:a="http://schemas.openxmlformats.org/drawingml/2006/main">
            <a:pathLst>
              <a:path w="3667125" h="1257300">
                <a:moveTo>
                  <a:pt x="0" y="0"/>
                </a:moveTo>
                <a:lnTo>
                  <a:pt x="3667125" y="0"/>
                </a:lnTo>
                <a:lnTo>
                  <a:pt x="3119438" y="1257300"/>
                </a:lnTo>
                <a:lnTo>
                  <a:pt x="547688" y="1257300"/>
                </a:lnTo>
                <a:close/>
              </a:path>
            </a:pathLst>
          </a:custGeom>
          <a:solidFill xmlns:a="http://schemas.openxmlformats.org/drawingml/2006/main">
            <a:srgbClr val="00355F"/>
          </a:solidFill>
          <a:ln xmlns:a="http://schemas.openxmlformats.org/drawingml/2006/main" w="16764">
            <a:solidFill>
              <a:srgbClr val="00355F"/>
            </a:solidFill>
          </a:ln>
        </p:spPr>
      </p:sp>
      <p:sp>
        <p:nvSpPr>
          <p:cNvPr id="14" name="Fully profiled">
            <a:extLst xmlns:a="http://schemas.openxmlformats.org/drawingml/2006/main">
              <a:ext uri="{FF2B5EF4-FFF2-40B4-BE49-F238E27FC236}">
                <a16:creationId xmlns:a16="http://schemas.microsoft.com/office/drawing/2014/main" id="{80BB4CA1-E1A6-4E39-9F89-808CEDAF8BCA}"/>
              </a:ext>
            </a:extLst>
          </p:cNvPr>
          <p:cNvSpPr>
            <a:spLocks xmlns:a="http://schemas.openxmlformats.org/drawingml/2006/main" noGrp="1"/>
          </p:cNvSpPr>
          <p:nvPr/>
        </p:nvSpPr>
        <p:spPr>
          <a:xfrm xmlns:a="http://schemas.openxmlformats.org/drawingml/2006/main">
            <a:off x="1885950" y="5433060"/>
            <a:ext cx="29337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40" b="1">
                <a:solidFill>
                  <a:srgbClr val="FFFFFF"/>
                </a:solidFill>
                <a:latin typeface="Arial"/>
                <a:ea typeface="Arial"/>
                <a:cs typeface="Arial"/>
              </a:defRPr>
            </a:defPPr>
          </a:lstStyle>
          <a:p xmlns:a="http://schemas.openxmlformats.org/drawingml/2006/main">
            <a:pPr algn="ctr">
              <a:defRPr sz="1740" b="1">
                <a:solidFill>
                  <a:srgbClr val="FFFFFF"/>
                </a:solidFill>
                <a:latin typeface="Arial"/>
                <a:ea typeface="Arial"/>
                <a:cs typeface="Arial"/>
              </a:defRPr>
            </a:pPr>
            <a:r>
              <a:rPr sz="1740" b="1">
                <a:solidFill>
                  <a:srgbClr val="FFFFFF"/>
                </a:solidFill>
                <a:latin typeface="Arial"/>
                <a:ea typeface="Arial"/>
                <a:cs typeface="Arial"/>
              </a:rPr>
              <a:t>Fully profiled</a:t>
            </a:r>
          </a:p>
        </p:txBody>
      </p:sp>
      <p:sp>
        <p:nvSpPr>
          <p:cNvPr id="15" name="50 → 500">
            <a:extLst xmlns:a="http://schemas.openxmlformats.org/drawingml/2006/main">
              <a:ext uri="{FF2B5EF4-FFF2-40B4-BE49-F238E27FC236}">
                <a16:creationId xmlns:a16="http://schemas.microsoft.com/office/drawing/2014/main" id="{2054B034-913C-46C1-901F-E93806B60559}"/>
              </a:ext>
            </a:extLst>
          </p:cNvPr>
          <p:cNvSpPr>
            <a:spLocks xmlns:a="http://schemas.openxmlformats.org/drawingml/2006/main" noGrp="1"/>
          </p:cNvSpPr>
          <p:nvPr/>
        </p:nvSpPr>
        <p:spPr>
          <a:xfrm xmlns:a="http://schemas.openxmlformats.org/drawingml/2006/main">
            <a:off x="1885950" y="5791200"/>
            <a:ext cx="293370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580" b="1">
                <a:solidFill>
                  <a:srgbClr val="FFFFFF"/>
                </a:solidFill>
                <a:latin typeface="Arial"/>
                <a:ea typeface="Arial"/>
                <a:cs typeface="Arial"/>
              </a:defRPr>
            </a:defPPr>
          </a:lstStyle>
          <a:p xmlns:a="http://schemas.openxmlformats.org/drawingml/2006/main">
            <a:pPr algn="ctr">
              <a:defRPr sz="2580" b="1">
                <a:solidFill>
                  <a:srgbClr val="FFFFFF"/>
                </a:solidFill>
                <a:latin typeface="Arial"/>
                <a:ea typeface="Arial"/>
                <a:cs typeface="Arial"/>
              </a:defRPr>
            </a:pPr>
            <a:r>
              <a:rPr sz="2580" b="1">
                <a:solidFill>
                  <a:srgbClr val="FFFFFF"/>
                </a:solidFill>
                <a:latin typeface="Arial"/>
                <a:ea typeface="Arial"/>
                <a:cs typeface="Arial"/>
              </a:rPr>
              <a:t>50 → 500</a:t>
            </a:r>
          </a:p>
        </p:txBody>
      </p:sp>
      <p:sp>
        <p:nvSpPr>
          <p:cNvPr id="16" name="">
            <a:extLst xmlns:a="http://schemas.openxmlformats.org/drawingml/2006/main">
              <a:ext uri="{FF2B5EF4-FFF2-40B4-BE49-F238E27FC236}">
                <a16:creationId xmlns:a16="http://schemas.microsoft.com/office/drawing/2014/main" id="{FE1F75E6-3B4F-4C28-A161-E089F69A21ED}"/>
              </a:ext>
            </a:extLst>
          </p:cNvPr>
          <p:cNvSpPr>
            <a:spLocks xmlns:a="http://schemas.openxmlformats.org/drawingml/2006/main" noGrp="1"/>
          </p:cNvSpPr>
          <p:nvPr/>
        </p:nvSpPr>
        <p:spPr>
          <a:xfrm xmlns:a="http://schemas.openxmlformats.org/drawingml/2006/main">
            <a:off x="2324100" y="6400800"/>
            <a:ext cx="2057400" cy="815340"/>
          </a:xfrm>
          <a:custGeom xmlns:a="http://schemas.openxmlformats.org/drawingml/2006/main">
            <a:pathLst>
              <a:path w="2571750" h="1019175">
                <a:moveTo>
                  <a:pt x="0" y="0"/>
                </a:moveTo>
                <a:lnTo>
                  <a:pt x="2571750" y="0"/>
                </a:lnTo>
                <a:lnTo>
                  <a:pt x="2238375" y="1019175"/>
                </a:lnTo>
                <a:lnTo>
                  <a:pt x="333375" y="1019175"/>
                </a:lnTo>
                <a:close/>
              </a:path>
            </a:pathLst>
          </a:custGeom>
          <a:solidFill xmlns:a="http://schemas.openxmlformats.org/drawingml/2006/main">
            <a:srgbClr val="FFFFFF"/>
          </a:solidFill>
          <a:ln xmlns:a="http://schemas.openxmlformats.org/drawingml/2006/main" w="16764">
            <a:solidFill>
              <a:srgbClr val="F67F26"/>
            </a:solidFill>
          </a:ln>
        </p:spPr>
      </p:sp>
      <p:sp>
        <p:nvSpPr>
          <p:cNvPr id="17" name="Clinical entry">
            <a:extLst xmlns:a="http://schemas.openxmlformats.org/drawingml/2006/main">
              <a:ext uri="{FF2B5EF4-FFF2-40B4-BE49-F238E27FC236}">
                <a16:creationId xmlns:a16="http://schemas.microsoft.com/office/drawing/2014/main" id="{5EFD58BF-28F5-475D-BABF-78096EBC222D}"/>
              </a:ext>
            </a:extLst>
          </p:cNvPr>
          <p:cNvSpPr>
            <a:spLocks xmlns:a="http://schemas.openxmlformats.org/drawingml/2006/main" noGrp="1"/>
          </p:cNvSpPr>
          <p:nvPr/>
        </p:nvSpPr>
        <p:spPr>
          <a:xfrm xmlns:a="http://schemas.openxmlformats.org/drawingml/2006/main">
            <a:off x="2324100" y="6560820"/>
            <a:ext cx="20574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80" b="1">
                <a:solidFill>
                  <a:srgbClr val="00355F"/>
                </a:solidFill>
                <a:latin typeface="Arial"/>
                <a:ea typeface="Arial"/>
                <a:cs typeface="Arial"/>
              </a:defRPr>
            </a:defPPr>
          </a:lstStyle>
          <a:p xmlns:a="http://schemas.openxmlformats.org/drawingml/2006/main">
            <a:pPr algn="ctr">
              <a:defRPr sz="1380" b="1">
                <a:solidFill>
                  <a:srgbClr val="00355F"/>
                </a:solidFill>
                <a:latin typeface="Arial"/>
                <a:ea typeface="Arial"/>
                <a:cs typeface="Arial"/>
              </a:defRPr>
            </a:pPr>
            <a:r>
              <a:rPr sz="1380" b="1">
                <a:solidFill>
                  <a:srgbClr val="00355F"/>
                </a:solidFill>
                <a:latin typeface="Arial"/>
                <a:ea typeface="Arial"/>
                <a:cs typeface="Arial"/>
              </a:rPr>
              <a:t>Clinical entry</a:t>
            </a:r>
          </a:p>
        </p:txBody>
      </p:sp>
      <p:sp>
        <p:nvSpPr>
          <p:cNvPr id="18" name="1">
            <a:extLst xmlns:a="http://schemas.openxmlformats.org/drawingml/2006/main">
              <a:ext uri="{FF2B5EF4-FFF2-40B4-BE49-F238E27FC236}">
                <a16:creationId xmlns:a16="http://schemas.microsoft.com/office/drawing/2014/main" id="{688F8D8B-F0F4-48C0-B7AA-C27A04305B58}"/>
              </a:ext>
            </a:extLst>
          </p:cNvPr>
          <p:cNvSpPr>
            <a:spLocks xmlns:a="http://schemas.openxmlformats.org/drawingml/2006/main" noGrp="1"/>
          </p:cNvSpPr>
          <p:nvPr/>
        </p:nvSpPr>
        <p:spPr>
          <a:xfrm xmlns:a="http://schemas.openxmlformats.org/drawingml/2006/main">
            <a:off x="2324100" y="6918960"/>
            <a:ext cx="205740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0" b="1">
                <a:solidFill>
                  <a:srgbClr val="00355F"/>
                </a:solidFill>
                <a:latin typeface="Arial"/>
                <a:ea typeface="Arial"/>
                <a:cs typeface="Arial"/>
              </a:defRPr>
            </a:defPPr>
          </a:lstStyle>
          <a:p xmlns:a="http://schemas.openxmlformats.org/drawingml/2006/main">
            <a:pPr algn="ctr">
              <a:defRPr sz="1680" b="1">
                <a:solidFill>
                  <a:srgbClr val="00355F"/>
                </a:solidFill>
                <a:latin typeface="Arial"/>
                <a:ea typeface="Arial"/>
                <a:cs typeface="Arial"/>
              </a:defRPr>
            </a:pPr>
            <a:r>
              <a:rPr sz="1680" b="1">
                <a:solidFill>
                  <a:srgbClr val="00355F"/>
                </a:solidFill>
                <a:latin typeface="Arial"/>
                <a:ea typeface="Arial"/>
                <a:cs typeface="Arial"/>
              </a:rPr>
              <a:t>1</a:t>
            </a:r>
          </a:p>
        </p:txBody>
      </p:sp>
      <p:sp>
        <p:nvSpPr>
          <p:cNvPr id="19" name="">
            <a:extLst xmlns:a="http://schemas.openxmlformats.org/drawingml/2006/main">
              <a:ext uri="{FF2B5EF4-FFF2-40B4-BE49-F238E27FC236}">
                <a16:creationId xmlns:a16="http://schemas.microsoft.com/office/drawing/2014/main" id="{DD683BF2-CEB6-4D79-8930-5C5ABBB58C9C}"/>
              </a:ext>
            </a:extLst>
          </p:cNvPr>
          <p:cNvSpPr>
            <a:spLocks xmlns:a="http://schemas.openxmlformats.org/drawingml/2006/main" noGrp="1"/>
          </p:cNvSpPr>
          <p:nvPr/>
        </p:nvSpPr>
        <p:spPr>
          <a:xfrm xmlns:a="http://schemas.openxmlformats.org/drawingml/2006/main">
            <a:off x="2590800" y="7338060"/>
            <a:ext cx="1524000" cy="815340"/>
          </a:xfrm>
          <a:custGeom xmlns:a="http://schemas.openxmlformats.org/drawingml/2006/main">
            <a:pathLst>
              <a:path w="1905000" h="1019175">
                <a:moveTo>
                  <a:pt x="0" y="0"/>
                </a:moveTo>
                <a:lnTo>
                  <a:pt x="1905000" y="0"/>
                </a:lnTo>
                <a:lnTo>
                  <a:pt x="1700213" y="1019175"/>
                </a:lnTo>
                <a:lnTo>
                  <a:pt x="204788" y="1019175"/>
                </a:lnTo>
                <a:close/>
              </a:path>
            </a:pathLst>
          </a:custGeom>
          <a:solidFill xmlns:a="http://schemas.openxmlformats.org/drawingml/2006/main">
            <a:srgbClr val="FFFFFF"/>
          </a:solidFill>
          <a:ln xmlns:a="http://schemas.openxmlformats.org/drawingml/2006/main" w="16764">
            <a:solidFill>
              <a:srgbClr val="BE3232"/>
            </a:solidFill>
          </a:ln>
        </p:spPr>
      </p:sp>
      <p:sp>
        <p:nvSpPr>
          <p:cNvPr id="20" name="Approvals">
            <a:extLst xmlns:a="http://schemas.openxmlformats.org/drawingml/2006/main">
              <a:ext uri="{FF2B5EF4-FFF2-40B4-BE49-F238E27FC236}">
                <a16:creationId xmlns:a16="http://schemas.microsoft.com/office/drawing/2014/main" id="{F0D0F73F-86D0-4EA8-B9D0-CB2C3D99DD83}"/>
              </a:ext>
            </a:extLst>
          </p:cNvPr>
          <p:cNvSpPr>
            <a:spLocks xmlns:a="http://schemas.openxmlformats.org/drawingml/2006/main" noGrp="1"/>
          </p:cNvSpPr>
          <p:nvPr/>
        </p:nvSpPr>
        <p:spPr>
          <a:xfrm xmlns:a="http://schemas.openxmlformats.org/drawingml/2006/main">
            <a:off x="2590800" y="7498080"/>
            <a:ext cx="15240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80" b="1">
                <a:solidFill>
                  <a:srgbClr val="00355F"/>
                </a:solidFill>
                <a:latin typeface="Arial"/>
                <a:ea typeface="Arial"/>
                <a:cs typeface="Arial"/>
              </a:defRPr>
            </a:defPPr>
          </a:lstStyle>
          <a:p xmlns:a="http://schemas.openxmlformats.org/drawingml/2006/main">
            <a:pPr algn="ctr">
              <a:defRPr sz="1380" b="1">
                <a:solidFill>
                  <a:srgbClr val="00355F"/>
                </a:solidFill>
                <a:latin typeface="Arial"/>
                <a:ea typeface="Arial"/>
                <a:cs typeface="Arial"/>
              </a:defRPr>
            </a:pPr>
            <a:r>
              <a:rPr sz="1380" b="1">
                <a:solidFill>
                  <a:srgbClr val="00355F"/>
                </a:solidFill>
                <a:latin typeface="Arial"/>
                <a:ea typeface="Arial"/>
                <a:cs typeface="Arial"/>
              </a:rPr>
              <a:t>Approvals</a:t>
            </a:r>
          </a:p>
        </p:txBody>
      </p:sp>
      <p:sp>
        <p:nvSpPr>
          <p:cNvPr id="21" name="Unknown">
            <a:extLst xmlns:a="http://schemas.openxmlformats.org/drawingml/2006/main">
              <a:ext uri="{FF2B5EF4-FFF2-40B4-BE49-F238E27FC236}">
                <a16:creationId xmlns:a16="http://schemas.microsoft.com/office/drawing/2014/main" id="{ED228442-7255-428A-87AB-483850A307C2}"/>
              </a:ext>
            </a:extLst>
          </p:cNvPr>
          <p:cNvSpPr>
            <a:spLocks xmlns:a="http://schemas.openxmlformats.org/drawingml/2006/main" noGrp="1"/>
          </p:cNvSpPr>
          <p:nvPr/>
        </p:nvSpPr>
        <p:spPr>
          <a:xfrm xmlns:a="http://schemas.openxmlformats.org/drawingml/2006/main">
            <a:off x="2590800" y="7856220"/>
            <a:ext cx="152400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0" b="1">
                <a:solidFill>
                  <a:srgbClr val="00355F"/>
                </a:solidFill>
                <a:latin typeface="Arial"/>
                <a:ea typeface="Arial"/>
                <a:cs typeface="Arial"/>
              </a:defRPr>
            </a:defPPr>
          </a:lstStyle>
          <a:p xmlns:a="http://schemas.openxmlformats.org/drawingml/2006/main">
            <a:pPr algn="ctr">
              <a:defRPr sz="1680" b="1">
                <a:solidFill>
                  <a:srgbClr val="00355F"/>
                </a:solidFill>
                <a:latin typeface="Arial"/>
                <a:ea typeface="Arial"/>
                <a:cs typeface="Arial"/>
              </a:defRPr>
            </a:pPr>
            <a:r>
              <a:rPr sz="1680" b="1">
                <a:solidFill>
                  <a:srgbClr val="00355F"/>
                </a:solidFill>
                <a:latin typeface="Arial"/>
                <a:ea typeface="Arial"/>
                <a:cs typeface="Arial"/>
              </a:rPr>
              <a:t>Unknown</a:t>
            </a:r>
          </a:p>
        </p:txBody>
      </p:sp>
      <p:sp>
        <p:nvSpPr>
          <p:cNvPr id="22" name="">
            <a:extLst xmlns:a="http://schemas.openxmlformats.org/drawingml/2006/main">
              <a:ext uri="{FF2B5EF4-FFF2-40B4-BE49-F238E27FC236}">
                <a16:creationId xmlns:a16="http://schemas.microsoft.com/office/drawing/2014/main" id="{01E99CBD-EA71-40C1-B317-D33AF59C5031}"/>
              </a:ext>
            </a:extLst>
          </p:cNvPr>
          <p:cNvSpPr>
            <a:spLocks xmlns:a="http://schemas.openxmlformats.org/drawingml/2006/main" noGrp="1"/>
          </p:cNvSpPr>
          <p:nvPr/>
        </p:nvSpPr>
        <p:spPr>
          <a:xfrm xmlns:a="http://schemas.openxmlformats.org/drawingml/2006/main">
            <a:off x="5539740" y="4175760"/>
            <a:ext cx="342900" cy="76"/>
          </a:xfrm>
          <a:custGeom xmlns:a="http://schemas.openxmlformats.org/drawingml/2006/main">
            <a:pathLst>
              <a:path w="428625" h="95">
                <a:moveTo>
                  <a:pt x="0" y="0"/>
                </a:moveTo>
                <a:lnTo>
                  <a:pt x="428625" y="0"/>
                </a:lnTo>
              </a:path>
            </a:pathLst>
          </a:custGeom>
          <a:noFill xmlns:a="http://schemas.openxmlformats.org/drawingml/2006/main"/>
          <a:ln xmlns:a="http://schemas.openxmlformats.org/drawingml/2006/main" w="22860">
            <a:solidFill>
              <a:srgbClr val="00355F"/>
            </a:solidFill>
            <a:prstDash val="solid"/>
          </a:ln>
        </p:spPr>
      </p:sp>
      <p:sp>
        <p:nvSpPr>
          <p:cNvPr id="23" name="">
            <a:extLst xmlns:a="http://schemas.openxmlformats.org/drawingml/2006/main">
              <a:ext uri="{FF2B5EF4-FFF2-40B4-BE49-F238E27FC236}">
                <a16:creationId xmlns:a16="http://schemas.microsoft.com/office/drawing/2014/main" id="{AC076321-D852-4612-BC29-75B18E703607}"/>
              </a:ext>
            </a:extLst>
          </p:cNvPr>
          <p:cNvSpPr>
            <a:spLocks xmlns:a="http://schemas.openxmlformats.org/drawingml/2006/main" noGrp="1"/>
          </p:cNvSpPr>
          <p:nvPr/>
        </p:nvSpPr>
        <p:spPr>
          <a:xfrm xmlns:a="http://schemas.openxmlformats.org/drawingml/2006/main">
            <a:off x="5882640" y="4175760"/>
            <a:ext cx="76" cy="2103120"/>
          </a:xfrm>
          <a:custGeom xmlns:a="http://schemas.openxmlformats.org/drawingml/2006/main">
            <a:pathLst>
              <a:path w="95" h="2628900">
                <a:moveTo>
                  <a:pt x="0" y="0"/>
                </a:moveTo>
                <a:lnTo>
                  <a:pt x="0" y="2628900"/>
                </a:lnTo>
              </a:path>
            </a:pathLst>
          </a:custGeom>
          <a:noFill xmlns:a="http://schemas.openxmlformats.org/drawingml/2006/main"/>
          <a:ln xmlns:a="http://schemas.openxmlformats.org/drawingml/2006/main" w="22860">
            <a:solidFill>
              <a:srgbClr val="00355F"/>
            </a:solidFill>
            <a:prstDash val="solid"/>
          </a:ln>
        </p:spPr>
      </p:sp>
      <p:sp>
        <p:nvSpPr>
          <p:cNvPr id="24" name="">
            <a:extLst xmlns:a="http://schemas.openxmlformats.org/drawingml/2006/main">
              <a:ext uri="{FF2B5EF4-FFF2-40B4-BE49-F238E27FC236}">
                <a16:creationId xmlns:a16="http://schemas.microsoft.com/office/drawing/2014/main" id="{3E42E26C-4B32-4728-9C3E-A39F96397C43}"/>
              </a:ext>
            </a:extLst>
          </p:cNvPr>
          <p:cNvSpPr>
            <a:spLocks xmlns:a="http://schemas.openxmlformats.org/drawingml/2006/main" noGrp="1"/>
          </p:cNvSpPr>
          <p:nvPr/>
        </p:nvSpPr>
        <p:spPr>
          <a:xfrm xmlns:a="http://schemas.openxmlformats.org/drawingml/2006/main">
            <a:off x="5539740" y="6278880"/>
            <a:ext cx="342900" cy="76"/>
          </a:xfrm>
          <a:custGeom xmlns:a="http://schemas.openxmlformats.org/drawingml/2006/main">
            <a:pathLst>
              <a:path w="428625" h="95">
                <a:moveTo>
                  <a:pt x="428625" y="0"/>
                </a:moveTo>
                <a:lnTo>
                  <a:pt x="0" y="0"/>
                </a:lnTo>
              </a:path>
            </a:pathLst>
          </a:custGeom>
          <a:noFill xmlns:a="http://schemas.openxmlformats.org/drawingml/2006/main"/>
          <a:ln xmlns:a="http://schemas.openxmlformats.org/drawingml/2006/main" w="22860">
            <a:solidFill>
              <a:srgbClr val="00355F"/>
            </a:solidFill>
            <a:prstDash val="solid"/>
          </a:ln>
        </p:spPr>
      </p:sp>
      <p:sp>
        <p:nvSpPr>
          <p:cNvPr id="25" name="">
            <a:extLst xmlns:a="http://schemas.openxmlformats.org/drawingml/2006/main">
              <a:ext uri="{FF2B5EF4-FFF2-40B4-BE49-F238E27FC236}">
                <a16:creationId xmlns:a16="http://schemas.microsoft.com/office/drawing/2014/main" id="{D8E1A228-82CA-4AE1-978F-8EC3424F4AEA}"/>
              </a:ext>
            </a:extLst>
          </p:cNvPr>
          <p:cNvSpPr>
            <a:spLocks xmlns:a="http://schemas.openxmlformats.org/drawingml/2006/main" noGrp="1"/>
          </p:cNvSpPr>
          <p:nvPr/>
        </p:nvSpPr>
        <p:spPr>
          <a:xfrm xmlns:a="http://schemas.openxmlformats.org/drawingml/2006/main">
            <a:off x="5958840" y="2552700"/>
            <a:ext cx="762000" cy="6446520"/>
          </a:xfrm>
          <a:custGeom xmlns:a="http://schemas.openxmlformats.org/drawingml/2006/main">
            <a:pathLst>
              <a:path w="952500" h="8058150">
                <a:moveTo>
                  <a:pt x="0" y="2133600"/>
                </a:moveTo>
                <a:lnTo>
                  <a:pt x="952500" y="0"/>
                </a:lnTo>
                <a:lnTo>
                  <a:pt x="952500" y="8058150"/>
                </a:lnTo>
                <a:lnTo>
                  <a:pt x="0" y="4552950"/>
                </a:lnTo>
                <a:close/>
              </a:path>
            </a:pathLst>
          </a:custGeom>
          <a:solidFill xmlns:a="http://schemas.openxmlformats.org/drawingml/2006/main">
            <a:srgbClr val="EEF6FC"/>
          </a:solidFill>
          <a:ln xmlns:a="http://schemas.openxmlformats.org/drawingml/2006/main" w="7620">
            <a:noFill/>
          </a:ln>
        </p:spPr>
      </p:sp>
      <p:sp>
        <p:nvSpPr>
          <p:cNvPr id="26" name="">
            <a:extLst xmlns:a="http://schemas.openxmlformats.org/drawingml/2006/main">
              <a:ext uri="{FF2B5EF4-FFF2-40B4-BE49-F238E27FC236}">
                <a16:creationId xmlns:a16="http://schemas.microsoft.com/office/drawing/2014/main" id="{6E60B072-F71A-4A7C-ABCB-794DA40CAC26}"/>
              </a:ext>
            </a:extLst>
          </p:cNvPr>
          <p:cNvSpPr>
            <a:spLocks xmlns:a="http://schemas.openxmlformats.org/drawingml/2006/main" noGrp="1"/>
          </p:cNvSpPr>
          <p:nvPr/>
        </p:nvSpPr>
        <p:spPr>
          <a:xfrm xmlns:a="http://schemas.openxmlformats.org/drawingml/2006/main">
            <a:off x="5882640" y="2552700"/>
            <a:ext cx="838200" cy="1706880"/>
          </a:xfrm>
          <a:custGeom xmlns:a="http://schemas.openxmlformats.org/drawingml/2006/main">
            <a:pathLst>
              <a:path w="1047750" h="2133600">
                <a:moveTo>
                  <a:pt x="0" y="2133600"/>
                </a:moveTo>
                <a:lnTo>
                  <a:pt x="1047750" y="0"/>
                </a:lnTo>
              </a:path>
            </a:pathLst>
          </a:custGeom>
          <a:noFill xmlns:a="http://schemas.openxmlformats.org/drawingml/2006/main"/>
          <a:ln xmlns:a="http://schemas.openxmlformats.org/drawingml/2006/main" w="11430">
            <a:solidFill>
              <a:srgbClr val="7399C6"/>
            </a:solidFill>
            <a:prstDash val="solid"/>
          </a:ln>
        </p:spPr>
      </p:sp>
      <p:sp>
        <p:nvSpPr>
          <p:cNvPr id="27" name="">
            <a:extLst xmlns:a="http://schemas.openxmlformats.org/drawingml/2006/main">
              <a:ext uri="{FF2B5EF4-FFF2-40B4-BE49-F238E27FC236}">
                <a16:creationId xmlns:a16="http://schemas.microsoft.com/office/drawing/2014/main" id="{53905B69-C2F4-4A28-955F-F51A693BA9E6}"/>
              </a:ext>
            </a:extLst>
          </p:cNvPr>
          <p:cNvSpPr>
            <a:spLocks xmlns:a="http://schemas.openxmlformats.org/drawingml/2006/main" noGrp="1"/>
          </p:cNvSpPr>
          <p:nvPr/>
        </p:nvSpPr>
        <p:spPr>
          <a:xfrm xmlns:a="http://schemas.openxmlformats.org/drawingml/2006/main">
            <a:off x="5882640" y="6195060"/>
            <a:ext cx="838200" cy="2804160"/>
          </a:xfrm>
          <a:custGeom xmlns:a="http://schemas.openxmlformats.org/drawingml/2006/main">
            <a:pathLst>
              <a:path w="1047750" h="3505200">
                <a:moveTo>
                  <a:pt x="0" y="0"/>
                </a:moveTo>
                <a:lnTo>
                  <a:pt x="1047750" y="3505200"/>
                </a:lnTo>
              </a:path>
            </a:pathLst>
          </a:custGeom>
          <a:noFill xmlns:a="http://schemas.openxmlformats.org/drawingml/2006/main"/>
          <a:ln xmlns:a="http://schemas.openxmlformats.org/drawingml/2006/main" w="11430">
            <a:solidFill>
              <a:srgbClr val="7399C6"/>
            </a:solidFill>
            <a:prstDash val="solid"/>
          </a:ln>
        </p:spPr>
      </p:sp>
      <p:sp>
        <p:nvSpPr>
          <p:cNvPr id="28" name="">
            <a:extLst xmlns:a="http://schemas.openxmlformats.org/drawingml/2006/main">
              <a:ext uri="{FF2B5EF4-FFF2-40B4-BE49-F238E27FC236}">
                <a16:creationId xmlns:a16="http://schemas.microsoft.com/office/drawing/2014/main" id="{4C2C97A1-C73B-4EC0-A6B7-214BB919450E}"/>
              </a:ext>
            </a:extLst>
          </p:cNvPr>
          <p:cNvSpPr>
            <a:spLocks xmlns:a="http://schemas.openxmlformats.org/drawingml/2006/main" noGrp="1"/>
          </p:cNvSpPr>
          <p:nvPr/>
        </p:nvSpPr>
        <p:spPr>
          <a:xfrm xmlns:a="http://schemas.openxmlformats.org/drawingml/2006/main">
            <a:off x="762000" y="8481060"/>
            <a:ext cx="5181600" cy="632460"/>
          </a:xfrm>
          <a:prstGeom xmlns:a="http://schemas.openxmlformats.org/drawingml/2006/main" prst="roundRect">
            <a:avLst>
              <a:gd name="adj" fmla="val 10843"/>
            </a:avLst>
          </a:prstGeom>
          <a:solidFill xmlns:a="http://schemas.openxmlformats.org/drawingml/2006/main">
            <a:srgbClr val="ACD4F1"/>
          </a:solidFill>
          <a:ln xmlns:a="http://schemas.openxmlformats.org/drawingml/2006/main" w="7620">
            <a:noFill/>
          </a:ln>
        </p:spPr>
      </p:sp>
      <p:pic>
        <p:nvPicPr>
          <p:cNvPr id="29" name="">
            <a:extLst xmlns:a="http://schemas.openxmlformats.org/drawingml/2006/main">
              <a:ext uri="{FF2B5EF4-FFF2-40B4-BE49-F238E27FC236}">
                <a16:creationId xmlns:a16="http://schemas.microsoft.com/office/drawing/2014/main" id="{BDB6B42A-E735-4315-B143-C999C0F2E92F}"/>
              </a:ext>
            </a:extLst>
          </p:cNvPr>
          <p:cNvPicPr>
            <a:picLocks xmlns:a="http://schemas.openxmlformats.org/drawingml/2006/main" noChangeAspect="1"/>
          </p:cNvPicPr>
          <p:nvPr/>
        </p:nvPicPr>
        <p:blipFill>
          <a:blip xmlns:r="http://schemas.openxmlformats.org/officeDocument/2006/relationships" xmlns:a="http://schemas.openxmlformats.org/drawingml/2006/main" r:embed="Rab9c40bcb30e4003">
            <a:extLst>
              <a:ext uri="{96DAC541-7B7A-43D3-8B79-37D633B846F1}">
                <asvg:svgBlip xmlns:asvg="http://schemas.microsoft.com/office/drawing/2016/SVG/main" r:embed="Ra5f99879d8714ef4"/>
              </a:ext>
            </a:extLst>
          </a:blip>
          <a:stretch xmlns:a="http://schemas.openxmlformats.org/drawingml/2006/main"/>
        </p:blipFill>
        <p:spPr>
          <a:xfrm xmlns:a="http://schemas.openxmlformats.org/drawingml/2006/main">
            <a:off x="929640" y="8625840"/>
            <a:ext cx="327660" cy="327660"/>
          </a:xfrm>
          <a:prstGeom xmlns:a="http://schemas.openxmlformats.org/drawingml/2006/main" prst="rect">
            <a:avLst/>
          </a:prstGeom>
        </p:spPr>
      </p:pic>
      <p:sp>
        <p:nvSpPr>
          <p:cNvPr id="30" name="WET LAB = BUILD + TEST">
            <a:extLst xmlns:a="http://schemas.openxmlformats.org/drawingml/2006/main">
              <a:ext uri="{FF2B5EF4-FFF2-40B4-BE49-F238E27FC236}">
                <a16:creationId xmlns:a16="http://schemas.microsoft.com/office/drawing/2014/main" id="{422AD2CA-4E6F-46FB-B297-41F7A0D69F9A}"/>
              </a:ext>
            </a:extLst>
          </p:cNvPr>
          <p:cNvSpPr>
            <a:spLocks xmlns:a="http://schemas.openxmlformats.org/drawingml/2006/main" noGrp="1"/>
          </p:cNvSpPr>
          <p:nvPr/>
        </p:nvSpPr>
        <p:spPr>
          <a:xfrm xmlns:a="http://schemas.openxmlformats.org/drawingml/2006/main">
            <a:off x="1447800" y="8663940"/>
            <a:ext cx="43434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40" b="1">
                <a:solidFill>
                  <a:srgbClr val="00355F"/>
                </a:solidFill>
                <a:latin typeface="Arial"/>
                <a:ea typeface="Arial"/>
                <a:cs typeface="Arial"/>
              </a:defRPr>
            </a:defPPr>
          </a:lstStyle>
          <a:p xmlns:a="http://schemas.openxmlformats.org/drawingml/2006/main">
            <a:pPr algn="l">
              <a:defRPr sz="1740" b="1">
                <a:solidFill>
                  <a:srgbClr val="00355F"/>
                </a:solidFill>
                <a:latin typeface="Arial"/>
                <a:ea typeface="Arial"/>
                <a:cs typeface="Arial"/>
              </a:defRPr>
            </a:pPr>
            <a:r>
              <a:rPr sz="1740" b="1">
                <a:solidFill>
                  <a:srgbClr val="00355F"/>
                </a:solidFill>
                <a:latin typeface="Arial"/>
                <a:ea typeface="Arial"/>
                <a:cs typeface="Arial"/>
              </a:rPr>
              <a:t>WET LAB = BUILD + TEST</a:t>
            </a:r>
          </a:p>
        </p:txBody>
      </p:sp>
      <p:sp>
        <p:nvSpPr>
          <p:cNvPr id="31" name="Funnel widths are schematic.">
            <a:extLst xmlns:a="http://schemas.openxmlformats.org/drawingml/2006/main">
              <a:ext uri="{FF2B5EF4-FFF2-40B4-BE49-F238E27FC236}">
                <a16:creationId xmlns:a16="http://schemas.microsoft.com/office/drawing/2014/main" id="{8F405FA3-DACE-432E-A681-C1783FD6D5BB}"/>
              </a:ext>
            </a:extLst>
          </p:cNvPr>
          <p:cNvSpPr>
            <a:spLocks xmlns:a="http://schemas.openxmlformats.org/drawingml/2006/main" noGrp="1"/>
          </p:cNvSpPr>
          <p:nvPr/>
        </p:nvSpPr>
        <p:spPr>
          <a:xfrm xmlns:a="http://schemas.openxmlformats.org/drawingml/2006/main">
            <a:off x="762000" y="9304020"/>
            <a:ext cx="5181600" cy="579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defRPr sz="1260" b="0">
                <a:solidFill>
                  <a:srgbClr val="00355F"/>
                </a:solidFill>
                <a:latin typeface="Arial"/>
                <a:ea typeface="Arial"/>
                <a:cs typeface="Arial"/>
              </a:defRPr>
            </a:pPr>
            <a:r>
              <a:rPr sz="1260" b="0">
                <a:solidFill>
                  <a:srgbClr val="00355F"/>
                </a:solidFill>
                <a:latin typeface="Arial"/>
                <a:ea typeface="Arial"/>
                <a:cs typeface="Arial"/>
              </a:rPr>
              <a:t>Funnel widths are schematic.</a:t>
            </a:r>
          </a:p>
          <a:p xmlns:a="http://schemas.openxmlformats.org/drawingml/2006/main">
            <a:pPr algn="l">
              <a:defRPr sz="1260" b="0">
                <a:solidFill>
                  <a:srgbClr val="00355F"/>
                </a:solidFill>
                <a:latin typeface="Arial"/>
                <a:ea typeface="Arial"/>
                <a:cs typeface="Arial"/>
              </a:defRPr>
            </a:pPr>
            <a:r>
              <a:rPr sz="1260" b="0">
                <a:solidFill>
                  <a:srgbClr val="00355F"/>
                </a:solidFill>
                <a:latin typeface="Arial"/>
                <a:ea typeface="Arial"/>
                <a:cs typeface="Arial"/>
              </a:rPr>
              <a:t>Clinical success remains unproven</a:t>
            </a:r>
          </a:p>
          <a:p xmlns:a="http://schemas.openxmlformats.org/drawingml/2006/main">
            <a:pPr algn="l">
              <a:defRPr sz="1260" b="0">
                <a:solidFill>
                  <a:srgbClr val="00355F"/>
                </a:solidFill>
                <a:latin typeface="Arial"/>
                <a:ea typeface="Arial"/>
                <a:cs typeface="Arial"/>
              </a:defRPr>
            </a:pPr>
            <a:r>
              <a:rPr sz="1260" b="0">
                <a:solidFill>
                  <a:srgbClr val="00355F"/>
                </a:solidFill>
                <a:latin typeface="Arial"/>
                <a:ea typeface="Arial"/>
                <a:cs typeface="Arial"/>
              </a:rPr>
              <a:t>in this scenario.</a:t>
            </a:r>
          </a:p>
        </p:txBody>
      </p:sp>
      <p:sp>
        <p:nvSpPr>
          <p:cNvPr id="32" name="">
            <a:extLst xmlns:a="http://schemas.openxmlformats.org/drawingml/2006/main">
              <a:ext uri="{FF2B5EF4-FFF2-40B4-BE49-F238E27FC236}">
                <a16:creationId xmlns:a16="http://schemas.microsoft.com/office/drawing/2014/main" id="{EEA447D5-EAA6-4D86-8AF1-52C781709928}"/>
              </a:ext>
            </a:extLst>
          </p:cNvPr>
          <p:cNvSpPr>
            <a:spLocks xmlns:a="http://schemas.openxmlformats.org/drawingml/2006/main" noGrp="1"/>
          </p:cNvSpPr>
          <p:nvPr/>
        </p:nvSpPr>
        <p:spPr>
          <a:xfrm xmlns:a="http://schemas.openxmlformats.org/drawingml/2006/main">
            <a:off x="6743700" y="1943100"/>
            <a:ext cx="10782300" cy="7231380"/>
          </a:xfrm>
          <a:prstGeom xmlns:a="http://schemas.openxmlformats.org/drawingml/2006/main" prst="roundRect">
            <a:avLst>
              <a:gd name="adj" fmla="val 1581"/>
            </a:avLst>
          </a:prstGeom>
          <a:solidFill xmlns:a="http://schemas.openxmlformats.org/drawingml/2006/main">
            <a:srgbClr val="F4F9FD"/>
          </a:solidFill>
          <a:ln xmlns:a="http://schemas.openxmlformats.org/drawingml/2006/main" w="7620">
            <a:solidFill>
              <a:srgbClr val="A5A5A5"/>
            </a:solidFill>
          </a:ln>
        </p:spPr>
      </p:sp>
      <p:sp>
        <p:nvSpPr>
          <p:cNvPr id="33" name="The LST ecosystem behind the capacity gate">
            <a:extLst xmlns:a="http://schemas.openxmlformats.org/drawingml/2006/main">
              <a:ext uri="{FF2B5EF4-FFF2-40B4-BE49-F238E27FC236}">
                <a16:creationId xmlns:a16="http://schemas.microsoft.com/office/drawing/2014/main" id="{7782A3B0-28BD-41D0-8811-3E64106229A2}"/>
              </a:ext>
            </a:extLst>
          </p:cNvPr>
          <p:cNvSpPr>
            <a:spLocks xmlns:a="http://schemas.openxmlformats.org/drawingml/2006/main" noGrp="1"/>
          </p:cNvSpPr>
          <p:nvPr/>
        </p:nvSpPr>
        <p:spPr>
          <a:xfrm xmlns:a="http://schemas.openxmlformats.org/drawingml/2006/main">
            <a:off x="6987540" y="2103120"/>
            <a:ext cx="10287000" cy="396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60" b="1">
                <a:solidFill>
                  <a:srgbClr val="00355F"/>
                </a:solidFill>
                <a:latin typeface="Arial"/>
                <a:ea typeface="Arial"/>
                <a:cs typeface="Arial"/>
              </a:defRPr>
            </a:defPPr>
          </a:lstStyle>
          <a:p xmlns:a="http://schemas.openxmlformats.org/drawingml/2006/main">
            <a:pPr algn="l">
              <a:defRPr sz="2160" b="1">
                <a:solidFill>
                  <a:srgbClr val="00355F"/>
                </a:solidFill>
                <a:latin typeface="Arial"/>
                <a:ea typeface="Arial"/>
                <a:cs typeface="Arial"/>
              </a:defRPr>
            </a:pPr>
            <a:r>
              <a:rPr sz="2160" b="1">
                <a:solidFill>
                  <a:srgbClr val="00355F"/>
                </a:solidFill>
                <a:latin typeface="Arial"/>
                <a:ea typeface="Arial"/>
                <a:cs typeface="Arial"/>
              </a:rPr>
              <a:t>The LST ecosystem behind the capacity gate</a:t>
            </a:r>
          </a:p>
        </p:txBody>
      </p:sp>
      <p:sp>
        <p:nvSpPr>
          <p:cNvPr id="34" name="Selected market anchors · different scopes and years · do not add these values">
            <a:extLst xmlns:a="http://schemas.openxmlformats.org/drawingml/2006/main">
              <a:ext uri="{FF2B5EF4-FFF2-40B4-BE49-F238E27FC236}">
                <a16:creationId xmlns:a16="http://schemas.microsoft.com/office/drawing/2014/main" id="{9757D6E1-FDF7-4BB0-BAB8-C76279B6E9C7}"/>
              </a:ext>
            </a:extLst>
          </p:cNvPr>
          <p:cNvSpPr>
            <a:spLocks xmlns:a="http://schemas.openxmlformats.org/drawingml/2006/main" noGrp="1"/>
          </p:cNvSpPr>
          <p:nvPr/>
        </p:nvSpPr>
        <p:spPr>
          <a:xfrm xmlns:a="http://schemas.openxmlformats.org/drawingml/2006/main">
            <a:off x="6987540" y="2514600"/>
            <a:ext cx="10287000" cy="236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0">
                <a:solidFill>
                  <a:srgbClr val="00355F"/>
                </a:solidFill>
                <a:latin typeface="Arial"/>
                <a:ea typeface="Arial"/>
                <a:cs typeface="Arial"/>
              </a:defRPr>
            </a:defPPr>
          </a:lstStyle>
          <a:p xmlns:a="http://schemas.openxmlformats.org/drawingml/2006/main">
            <a:pPr algn="l">
              <a:defRPr sz="1200" b="0">
                <a:solidFill>
                  <a:srgbClr val="00355F"/>
                </a:solidFill>
                <a:latin typeface="Arial"/>
                <a:ea typeface="Arial"/>
                <a:cs typeface="Arial"/>
              </a:defRPr>
            </a:pPr>
            <a:r>
              <a:rPr sz="1200" b="0">
                <a:solidFill>
                  <a:srgbClr val="00355F"/>
                </a:solidFill>
                <a:latin typeface="Arial"/>
                <a:ea typeface="Arial"/>
                <a:cs typeface="Arial"/>
              </a:rPr>
              <a:t>Selected market anchors · different scopes and years · do not add these values</a:t>
            </a:r>
          </a:p>
        </p:txBody>
      </p:sp>
      <p:sp>
        <p:nvSpPr>
          <p:cNvPr id="35" name="">
            <a:extLst xmlns:a="http://schemas.openxmlformats.org/drawingml/2006/main">
              <a:ext uri="{FF2B5EF4-FFF2-40B4-BE49-F238E27FC236}">
                <a16:creationId xmlns:a16="http://schemas.microsoft.com/office/drawing/2014/main" id="{7A4D78E2-C655-4F17-B637-412B75A8CDF0}"/>
              </a:ext>
            </a:extLst>
          </p:cNvPr>
          <p:cNvSpPr>
            <a:spLocks xmlns:a="http://schemas.openxmlformats.org/drawingml/2006/main" noGrp="1"/>
          </p:cNvSpPr>
          <p:nvPr/>
        </p:nvSpPr>
        <p:spPr>
          <a:xfrm xmlns:a="http://schemas.openxmlformats.org/drawingml/2006/main">
            <a:off x="6987540" y="2842260"/>
            <a:ext cx="3238500" cy="2994660"/>
          </a:xfrm>
          <a:prstGeom xmlns:a="http://schemas.openxmlformats.org/drawingml/2006/main" prst="roundRect">
            <a:avLst>
              <a:gd name="adj" fmla="val 2545"/>
            </a:avLst>
          </a:prstGeom>
          <a:solidFill xmlns:a="http://schemas.openxmlformats.org/drawingml/2006/main">
            <a:srgbClr val="FFFFFF"/>
          </a:solidFill>
          <a:ln xmlns:a="http://schemas.openxmlformats.org/drawingml/2006/main" w="7620">
            <a:solidFill>
              <a:srgbClr val="A5A5A5"/>
            </a:solidFill>
          </a:ln>
        </p:spPr>
      </p:sp>
      <p:pic>
        <p:nvPicPr>
          <p:cNvPr id="36" name="">
            <a:extLst xmlns:a="http://schemas.openxmlformats.org/drawingml/2006/main">
              <a:ext uri="{FF2B5EF4-FFF2-40B4-BE49-F238E27FC236}">
                <a16:creationId xmlns:a16="http://schemas.microsoft.com/office/drawing/2014/main" id="{7F8F4C9A-6849-4BCC-8ADC-93B3DC6DE324}"/>
              </a:ext>
            </a:extLst>
          </p:cNvPr>
          <p:cNvPicPr>
            <a:picLocks xmlns:a="http://schemas.openxmlformats.org/drawingml/2006/main" noChangeAspect="1"/>
          </p:cNvPicPr>
          <p:nvPr/>
        </p:nvPicPr>
        <p:blipFill>
          <a:blip xmlns:r="http://schemas.openxmlformats.org/officeDocument/2006/relationships" xmlns:a="http://schemas.openxmlformats.org/drawingml/2006/main" r:embed="R871a5a57e9ce42b9">
            <a:extLst>
              <a:ext uri="{96DAC541-7B7A-43D3-8B79-37D633B846F1}">
                <asvg:svgBlip xmlns:asvg="http://schemas.microsoft.com/office/drawing/2016/SVG/main" r:embed="Re31af63687734b62"/>
              </a:ext>
            </a:extLst>
          </a:blip>
          <a:stretch xmlns:a="http://schemas.openxmlformats.org/drawingml/2006/main"/>
        </p:blipFill>
        <p:spPr>
          <a:xfrm xmlns:a="http://schemas.openxmlformats.org/drawingml/2006/main">
            <a:off x="7124700" y="2987040"/>
            <a:ext cx="289560" cy="289560"/>
          </a:xfrm>
          <a:prstGeom xmlns:a="http://schemas.openxmlformats.org/drawingml/2006/main" prst="rect">
            <a:avLst/>
          </a:prstGeom>
        </p:spPr>
      </p:pic>
      <p:sp>
        <p:nvSpPr>
          <p:cNvPr id="37" name="Molecular construction">
            <a:extLst xmlns:a="http://schemas.openxmlformats.org/drawingml/2006/main">
              <a:ext uri="{FF2B5EF4-FFF2-40B4-BE49-F238E27FC236}">
                <a16:creationId xmlns:a16="http://schemas.microsoft.com/office/drawing/2014/main" id="{63E4DD47-C636-4639-96F0-434A108271EC}"/>
              </a:ext>
            </a:extLst>
          </p:cNvPr>
          <p:cNvSpPr>
            <a:spLocks xmlns:a="http://schemas.openxmlformats.org/drawingml/2006/main" noGrp="1"/>
          </p:cNvSpPr>
          <p:nvPr/>
        </p:nvSpPr>
        <p:spPr>
          <a:xfrm xmlns:a="http://schemas.openxmlformats.org/drawingml/2006/main">
            <a:off x="7551420" y="3017520"/>
            <a:ext cx="254508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defRPr sz="1560" b="1">
                <a:solidFill>
                  <a:srgbClr val="00355F"/>
                </a:solidFill>
                <a:latin typeface="Arial"/>
                <a:ea typeface="Arial"/>
                <a:cs typeface="Arial"/>
              </a:defRPr>
            </a:pPr>
            <a:r>
              <a:rPr sz="1560" b="1">
                <a:solidFill>
                  <a:srgbClr val="00355F"/>
                </a:solidFill>
                <a:latin typeface="Arial"/>
                <a:ea typeface="Arial"/>
                <a:cs typeface="Arial"/>
              </a:rPr>
              <a:t>Molecular construction</a:t>
            </a:r>
          </a:p>
        </p:txBody>
      </p:sp>
      <p:sp>
        <p:nvSpPr>
          <p:cNvPr id="38" name="DNA / RNA synthesis, enzymes">
            <a:extLst xmlns:a="http://schemas.openxmlformats.org/drawingml/2006/main">
              <a:ext uri="{FF2B5EF4-FFF2-40B4-BE49-F238E27FC236}">
                <a16:creationId xmlns:a16="http://schemas.microsoft.com/office/drawing/2014/main" id="{CB64AF39-81DF-4C0D-80BE-E9945D9A3610}"/>
              </a:ext>
            </a:extLst>
          </p:cNvPr>
          <p:cNvSpPr>
            <a:spLocks xmlns:a="http://schemas.openxmlformats.org/drawingml/2006/main" noGrp="1"/>
          </p:cNvSpPr>
          <p:nvPr/>
        </p:nvSpPr>
        <p:spPr>
          <a:xfrm xmlns:a="http://schemas.openxmlformats.org/drawingml/2006/main">
            <a:off x="7139940" y="3390900"/>
            <a:ext cx="2933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defRPr sz="1260" b="0">
                <a:solidFill>
                  <a:srgbClr val="00355F"/>
                </a:solidFill>
                <a:latin typeface="Arial"/>
                <a:ea typeface="Arial"/>
                <a:cs typeface="Arial"/>
              </a:defRPr>
            </a:pPr>
            <a:r>
              <a:rPr sz="1260" b="0">
                <a:solidFill>
                  <a:srgbClr val="00355F"/>
                </a:solidFill>
                <a:latin typeface="Arial"/>
                <a:ea typeface="Arial"/>
                <a:cs typeface="Arial"/>
              </a:rPr>
              <a:t>DNA / RNA synthesis, enzymes</a:t>
            </a:r>
          </a:p>
          <a:p xmlns:a="http://schemas.openxmlformats.org/drawingml/2006/main">
            <a:pPr algn="l">
              <a:defRPr sz="1260" b="0">
                <a:solidFill>
                  <a:srgbClr val="00355F"/>
                </a:solidFill>
                <a:latin typeface="Arial"/>
                <a:ea typeface="Arial"/>
                <a:cs typeface="Arial"/>
              </a:defRPr>
            </a:pPr>
            <a:r>
              <a:rPr sz="1260" b="0">
                <a:solidFill>
                  <a:srgbClr val="00355F"/>
                </a:solidFill>
                <a:latin typeface="Arial"/>
                <a:ea typeface="Arial"/>
                <a:cs typeface="Arial"/>
              </a:rPr>
              <a:t>Chemical building blocks</a:t>
            </a:r>
          </a:p>
        </p:txBody>
      </p:sp>
      <p:sp>
        <p:nvSpPr>
          <p:cNvPr id="39" name="RMB 1.33bn">
            <a:extLst xmlns:a="http://schemas.openxmlformats.org/drawingml/2006/main">
              <a:ext uri="{FF2B5EF4-FFF2-40B4-BE49-F238E27FC236}">
                <a16:creationId xmlns:a16="http://schemas.microsoft.com/office/drawing/2014/main" id="{656DD2E5-1767-4D83-A293-797496549523}"/>
              </a:ext>
            </a:extLst>
          </p:cNvPr>
          <p:cNvSpPr>
            <a:spLocks xmlns:a="http://schemas.openxmlformats.org/drawingml/2006/main" noGrp="1"/>
          </p:cNvSpPr>
          <p:nvPr/>
        </p:nvSpPr>
        <p:spPr>
          <a:xfrm xmlns:a="http://schemas.openxmlformats.org/drawingml/2006/main">
            <a:off x="7139940" y="3870960"/>
            <a:ext cx="29337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defRPr sz="2220" b="1">
                <a:solidFill>
                  <a:srgbClr val="00355F"/>
                </a:solidFill>
                <a:latin typeface="Arial"/>
                <a:ea typeface="Arial"/>
                <a:cs typeface="Arial"/>
              </a:defRPr>
            </a:pPr>
            <a:r>
              <a:rPr sz="2220" b="1">
                <a:solidFill>
                  <a:srgbClr val="00355F"/>
                </a:solidFill>
                <a:latin typeface="Arial"/>
                <a:ea typeface="Arial"/>
                <a:cs typeface="Arial"/>
              </a:rPr>
              <a:t>RMB 1.33bn</a:t>
            </a:r>
          </a:p>
        </p:txBody>
      </p:sp>
      <p:sp>
        <p:nvSpPr>
          <p:cNvPr id="40" name="China • 2025 • DNA synthesis services [1]">
            <a:extLst xmlns:a="http://schemas.openxmlformats.org/drawingml/2006/main">
              <a:ext uri="{FF2B5EF4-FFF2-40B4-BE49-F238E27FC236}">
                <a16:creationId xmlns:a16="http://schemas.microsoft.com/office/drawing/2014/main" id="{0D08DFEC-677D-4951-96AF-4D7837A7E56A}"/>
              </a:ext>
            </a:extLst>
          </p:cNvPr>
          <p:cNvSpPr>
            <a:spLocks xmlns:a="http://schemas.openxmlformats.org/drawingml/2006/main" noGrp="1"/>
          </p:cNvSpPr>
          <p:nvPr/>
        </p:nvSpPr>
        <p:spPr>
          <a:xfrm xmlns:a="http://schemas.openxmlformats.org/drawingml/2006/main">
            <a:off x="7139940" y="4251960"/>
            <a:ext cx="293370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defRPr sz="1050" b="0">
                <a:solidFill>
                  <a:srgbClr val="00355F"/>
                </a:solidFill>
                <a:latin typeface="Arial"/>
                <a:ea typeface="Arial"/>
                <a:cs typeface="Arial"/>
              </a:defRPr>
            </a:pPr>
            <a:r>
              <a:rPr sz="1050" b="0">
                <a:solidFill>
                  <a:srgbClr val="00355F"/>
                </a:solidFill>
                <a:latin typeface="Arial"/>
                <a:ea typeface="Arial"/>
                <a:cs typeface="Arial"/>
              </a:rPr>
              <a:t>China • 2025 • DNA synthesis services [1]</a:t>
            </a:r>
          </a:p>
        </p:txBody>
      </p:sp>
      <p:sp>
        <p:nvSpPr>
          <p:cNvPr id="41" name="Oligos + long fragments only">
            <a:extLst xmlns:a="http://schemas.openxmlformats.org/drawingml/2006/main">
              <a:ext uri="{FF2B5EF4-FFF2-40B4-BE49-F238E27FC236}">
                <a16:creationId xmlns:a16="http://schemas.microsoft.com/office/drawing/2014/main" id="{3A9A03E6-6143-4C2E-8078-BC07F62C2744}"/>
              </a:ext>
            </a:extLst>
          </p:cNvPr>
          <p:cNvSpPr>
            <a:spLocks xmlns:a="http://schemas.openxmlformats.org/drawingml/2006/main" noGrp="1"/>
          </p:cNvSpPr>
          <p:nvPr/>
        </p:nvSpPr>
        <p:spPr>
          <a:xfrm xmlns:a="http://schemas.openxmlformats.org/drawingml/2006/main">
            <a:off x="7139940" y="4472940"/>
            <a:ext cx="29337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defRPr sz="990" b="0">
                <a:solidFill>
                  <a:srgbClr val="00355F"/>
                </a:solidFill>
                <a:latin typeface="Arial"/>
                <a:ea typeface="Arial"/>
                <a:cs typeface="Arial"/>
              </a:defRPr>
            </a:pPr>
            <a:r>
              <a:rPr sz="990" b="0">
                <a:solidFill>
                  <a:srgbClr val="00355F"/>
                </a:solidFill>
                <a:latin typeface="Arial"/>
                <a:ea typeface="Arial"/>
                <a:cs typeface="Arial"/>
              </a:rPr>
              <a:t>Oligos + long fragments only</a:t>
            </a:r>
          </a:p>
        </p:txBody>
      </p:sp>
      <p:pic>
        <p:nvPicPr>
          <p:cNvPr id="42" name="">
            <a:extLst xmlns:a="http://schemas.openxmlformats.org/drawingml/2006/main">
              <a:ext uri="{FF2B5EF4-FFF2-40B4-BE49-F238E27FC236}">
                <a16:creationId xmlns:a16="http://schemas.microsoft.com/office/drawing/2014/main" id="{B62108DF-5615-409F-9F6E-31F5D93E31E2}"/>
              </a:ext>
            </a:extLst>
          </p:cNvPr>
          <p:cNvPicPr>
            <a:picLocks xmlns:a="http://schemas.openxmlformats.org/drawingml/2006/main" noChangeAspect="1"/>
          </p:cNvPicPr>
          <p:nvPr/>
        </p:nvPicPr>
        <p:blipFill>
          <a:blip xmlns:r="http://schemas.openxmlformats.org/officeDocument/2006/relationships" xmlns:a="http://schemas.openxmlformats.org/drawingml/2006/main" r:embed="R698e669ac613448d"/>
          <a:stretch xmlns:a="http://schemas.openxmlformats.org/drawingml/2006/main"/>
        </p:blipFill>
        <p:spPr>
          <a:xfrm xmlns:a="http://schemas.openxmlformats.org/drawingml/2006/main">
            <a:off x="7266971" y="4724400"/>
            <a:ext cx="713678" cy="304800"/>
          </a:xfrm>
          <a:prstGeom xmlns:a="http://schemas.openxmlformats.org/drawingml/2006/main" prst="rect">
            <a:avLst/>
          </a:prstGeom>
        </p:spPr>
      </p:pic>
      <p:pic>
        <p:nvPicPr>
          <p:cNvPr id="43" name="">
            <a:extLst xmlns:a="http://schemas.openxmlformats.org/drawingml/2006/main">
              <a:ext uri="{FF2B5EF4-FFF2-40B4-BE49-F238E27FC236}">
                <a16:creationId xmlns:a16="http://schemas.microsoft.com/office/drawing/2014/main" id="{67486E76-24C6-469F-A85C-E7BF01020976}"/>
              </a:ext>
            </a:extLst>
          </p:cNvPr>
          <p:cNvPicPr>
            <a:picLocks xmlns:a="http://schemas.openxmlformats.org/drawingml/2006/main" noChangeAspect="1"/>
          </p:cNvPicPr>
          <p:nvPr/>
        </p:nvPicPr>
        <p:blipFill>
          <a:blip xmlns:r="http://schemas.openxmlformats.org/officeDocument/2006/relationships" xmlns:a="http://schemas.openxmlformats.org/drawingml/2006/main" r:embed="R36009eb92cb94a18"/>
          <a:stretch xmlns:a="http://schemas.openxmlformats.org/drawingml/2006/main"/>
        </p:blipFill>
        <p:spPr>
          <a:xfrm xmlns:a="http://schemas.openxmlformats.org/drawingml/2006/main">
            <a:off x="8309187" y="4724400"/>
            <a:ext cx="1075267" cy="304800"/>
          </a:xfrm>
          <a:prstGeom xmlns:a="http://schemas.openxmlformats.org/drawingml/2006/main" prst="rect">
            <a:avLst/>
          </a:prstGeom>
        </p:spPr>
      </p:pic>
      <p:sp>
        <p:nvSpPr>
          <p:cNvPr id="44" name="CHINA / HK LISTINGS">
            <a:extLst xmlns:a="http://schemas.openxmlformats.org/drawingml/2006/main">
              <a:ext uri="{FF2B5EF4-FFF2-40B4-BE49-F238E27FC236}">
                <a16:creationId xmlns:a16="http://schemas.microsoft.com/office/drawing/2014/main" id="{22D9E52A-D695-4E72-A3C8-BB2B9EB3D8FF}"/>
              </a:ext>
            </a:extLst>
          </p:cNvPr>
          <p:cNvSpPr>
            <a:spLocks xmlns:a="http://schemas.openxmlformats.org/drawingml/2006/main" noGrp="1"/>
          </p:cNvSpPr>
          <p:nvPr/>
        </p:nvSpPr>
        <p:spPr>
          <a:xfrm xmlns:a="http://schemas.openxmlformats.org/drawingml/2006/main">
            <a:off x="7139940" y="5113020"/>
            <a:ext cx="153162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45" name="US LISTINGS / PARENTS">
            <a:extLst xmlns:a="http://schemas.openxmlformats.org/drawingml/2006/main">
              <a:ext uri="{FF2B5EF4-FFF2-40B4-BE49-F238E27FC236}">
                <a16:creationId xmlns:a16="http://schemas.microsoft.com/office/drawing/2014/main" id="{3E7F2547-C497-475E-A859-BD4A8D2626FC}"/>
              </a:ext>
            </a:extLst>
          </p:cNvPr>
          <p:cNvSpPr>
            <a:spLocks xmlns:a="http://schemas.openxmlformats.org/drawingml/2006/main" noGrp="1"/>
          </p:cNvSpPr>
          <p:nvPr/>
        </p:nvSpPr>
        <p:spPr>
          <a:xfrm xmlns:a="http://schemas.openxmlformats.org/drawingml/2006/main">
            <a:off x="8778240" y="5113020"/>
            <a:ext cx="132588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46" name="GenScript · 1548.HK">
            <a:extLst xmlns:a="http://schemas.openxmlformats.org/drawingml/2006/main">
              <a:ext uri="{FF2B5EF4-FFF2-40B4-BE49-F238E27FC236}">
                <a16:creationId xmlns:a16="http://schemas.microsoft.com/office/drawing/2014/main" id="{CBB04C80-46D9-4326-ABDF-2417DE48871E}"/>
              </a:ext>
            </a:extLst>
          </p:cNvPr>
          <p:cNvSpPr>
            <a:spLocks xmlns:a="http://schemas.openxmlformats.org/drawingml/2006/main" noGrp="1"/>
          </p:cNvSpPr>
          <p:nvPr/>
        </p:nvSpPr>
        <p:spPr>
          <a:xfrm xmlns:a="http://schemas.openxmlformats.org/drawingml/2006/main">
            <a:off x="7139940" y="5334000"/>
            <a:ext cx="158496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defRPr sz="1020" b="0">
                <a:solidFill>
                  <a:srgbClr val="00355F"/>
                </a:solidFill>
                <a:latin typeface="Arial"/>
                <a:ea typeface="Arial"/>
                <a:cs typeface="Arial"/>
              </a:defRPr>
            </a:pPr>
            <a:r>
              <a:rPr sz="1020" b="0">
                <a:solidFill>
                  <a:srgbClr val="00355F"/>
                </a:solidFill>
                <a:latin typeface="Arial"/>
                <a:ea typeface="Arial"/>
                <a:cs typeface="Arial"/>
              </a:rPr>
              <a:t>GenScript · 1548.HK</a:t>
            </a:r>
          </a:p>
          <a:p xmlns:a="http://schemas.openxmlformats.org/drawingml/2006/main">
            <a:pPr algn="l">
              <a:defRPr sz="1020" b="0">
                <a:solidFill>
                  <a:srgbClr val="00355F"/>
                </a:solidFill>
                <a:latin typeface="Arial"/>
                <a:ea typeface="Arial"/>
                <a:cs typeface="Arial"/>
              </a:defRPr>
            </a:pPr>
            <a:r>
              <a:rPr sz="1020" b="0">
                <a:solidFill>
                  <a:srgbClr val="00355F"/>
                </a:solidFill>
                <a:latin typeface="Arial"/>
                <a:ea typeface="Arial"/>
                <a:cs typeface="Arial"/>
              </a:rPr>
              <a:t>Vazyme · 688105.SH</a:t>
            </a:r>
          </a:p>
          <a:p xmlns:a="http://schemas.openxmlformats.org/drawingml/2006/main">
            <a:pPr algn="l">
              <a:defRPr sz="1020" b="0">
                <a:solidFill>
                  <a:srgbClr val="00355F"/>
                </a:solidFill>
                <a:latin typeface="Arial"/>
                <a:ea typeface="Arial"/>
                <a:cs typeface="Arial"/>
              </a:defRPr>
            </a:pPr>
            <a:r>
              <a:rPr sz="1020" b="0">
                <a:solidFill>
                  <a:srgbClr val="00355F"/>
                </a:solidFill>
                <a:latin typeface="Arial"/>
                <a:ea typeface="Arial"/>
                <a:cs typeface="Arial"/>
              </a:rPr>
              <a:t>Tsingke · NEEQ:874813</a:t>
            </a:r>
          </a:p>
        </p:txBody>
      </p:sp>
      <p:sp>
        <p:nvSpPr>
          <p:cNvPr id="47" name="Twist · TWST">
            <a:extLst xmlns:a="http://schemas.openxmlformats.org/drawingml/2006/main">
              <a:ext uri="{FF2B5EF4-FFF2-40B4-BE49-F238E27FC236}">
                <a16:creationId xmlns:a16="http://schemas.microsoft.com/office/drawing/2014/main" id="{749D61CA-79B5-4A08-ACCC-8A42A7C745B0}"/>
              </a:ext>
            </a:extLst>
          </p:cNvPr>
          <p:cNvSpPr>
            <a:spLocks xmlns:a="http://schemas.openxmlformats.org/drawingml/2006/main" noGrp="1"/>
          </p:cNvSpPr>
          <p:nvPr/>
        </p:nvSpPr>
        <p:spPr>
          <a:xfrm xmlns:a="http://schemas.openxmlformats.org/drawingml/2006/main">
            <a:off x="8778240" y="5334000"/>
            <a:ext cx="132588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defRPr sz="972" b="0">
                <a:solidFill>
                  <a:srgbClr val="00355F"/>
                </a:solidFill>
                <a:latin typeface="Arial"/>
                <a:ea typeface="Arial"/>
                <a:cs typeface="Arial"/>
              </a:defRPr>
            </a:pPr>
            <a:r>
              <a:rPr sz="972" b="0">
                <a:solidFill>
                  <a:srgbClr val="00355F"/>
                </a:solidFill>
                <a:latin typeface="Arial"/>
                <a:ea typeface="Arial"/>
                <a:cs typeface="Arial"/>
              </a:rPr>
              <a:t>Twist · TWST</a:t>
            </a:r>
          </a:p>
          <a:p xmlns:a="http://schemas.openxmlformats.org/drawingml/2006/main">
            <a:pPr algn="l">
              <a:defRPr sz="972" b="0">
                <a:solidFill>
                  <a:srgbClr val="00355F"/>
                </a:solidFill>
                <a:latin typeface="Arial"/>
                <a:ea typeface="Arial"/>
                <a:cs typeface="Arial"/>
              </a:defRPr>
            </a:pPr>
            <a:r>
              <a:rPr sz="972" b="0">
                <a:solidFill>
                  <a:srgbClr val="00355F"/>
                </a:solidFill>
                <a:latin typeface="Arial"/>
                <a:ea typeface="Arial"/>
                <a:cs typeface="Arial"/>
              </a:rPr>
              <a:t>Thermo Fisher · TMO</a:t>
            </a:r>
          </a:p>
        </p:txBody>
      </p:sp>
      <p:sp>
        <p:nvSpPr>
          <p:cNvPr id="48" name="">
            <a:extLst xmlns:a="http://schemas.openxmlformats.org/drawingml/2006/main">
              <a:ext uri="{FF2B5EF4-FFF2-40B4-BE49-F238E27FC236}">
                <a16:creationId xmlns:a16="http://schemas.microsoft.com/office/drawing/2014/main" id="{66326342-1666-480B-BF8F-7FCBE9468284}"/>
              </a:ext>
            </a:extLst>
          </p:cNvPr>
          <p:cNvSpPr>
            <a:spLocks xmlns:a="http://schemas.openxmlformats.org/drawingml/2006/main" noGrp="1"/>
          </p:cNvSpPr>
          <p:nvPr/>
        </p:nvSpPr>
        <p:spPr>
          <a:xfrm xmlns:a="http://schemas.openxmlformats.org/drawingml/2006/main">
            <a:off x="10515600" y="2842260"/>
            <a:ext cx="3238500" cy="2994660"/>
          </a:xfrm>
          <a:prstGeom xmlns:a="http://schemas.openxmlformats.org/drawingml/2006/main" prst="roundRect">
            <a:avLst>
              <a:gd name="adj" fmla="val 2545"/>
            </a:avLst>
          </a:prstGeom>
          <a:solidFill xmlns:a="http://schemas.openxmlformats.org/drawingml/2006/main">
            <a:srgbClr val="FFFFFF"/>
          </a:solidFill>
          <a:ln xmlns:a="http://schemas.openxmlformats.org/drawingml/2006/main" w="15240">
            <a:solidFill>
              <a:srgbClr val="00355F"/>
            </a:solidFill>
          </a:ln>
        </p:spPr>
      </p:sp>
      <p:pic>
        <p:nvPicPr>
          <p:cNvPr id="49" name="">
            <a:extLst xmlns:a="http://schemas.openxmlformats.org/drawingml/2006/main">
              <a:ext uri="{FF2B5EF4-FFF2-40B4-BE49-F238E27FC236}">
                <a16:creationId xmlns:a16="http://schemas.microsoft.com/office/drawing/2014/main" id="{0DAA6CF1-3DB6-4E7D-BD5A-30625AC1C7B1}"/>
              </a:ext>
            </a:extLst>
          </p:cNvPr>
          <p:cNvPicPr>
            <a:picLocks xmlns:a="http://schemas.openxmlformats.org/drawingml/2006/main" noChangeAspect="1"/>
          </p:cNvPicPr>
          <p:nvPr/>
        </p:nvPicPr>
        <p:blipFill>
          <a:blip xmlns:r="http://schemas.openxmlformats.org/officeDocument/2006/relationships" xmlns:a="http://schemas.openxmlformats.org/drawingml/2006/main" r:embed="R227872ef7bfd46d0">
            <a:extLst>
              <a:ext uri="{96DAC541-7B7A-43D3-8B79-37D633B846F1}">
                <asvg:svgBlip xmlns:asvg="http://schemas.microsoft.com/office/drawing/2016/SVG/main" r:embed="R472ea3765f114fa9"/>
              </a:ext>
            </a:extLst>
          </a:blip>
          <a:stretch xmlns:a="http://schemas.openxmlformats.org/drawingml/2006/main"/>
        </p:blipFill>
        <p:spPr>
          <a:xfrm xmlns:a="http://schemas.openxmlformats.org/drawingml/2006/main">
            <a:off x="10652760" y="2987040"/>
            <a:ext cx="289560" cy="289560"/>
          </a:xfrm>
          <a:prstGeom xmlns:a="http://schemas.openxmlformats.org/drawingml/2006/main" prst="rect">
            <a:avLst/>
          </a:prstGeom>
        </p:spPr>
      </p:pic>
      <p:sp>
        <p:nvSpPr>
          <p:cNvPr id="50" name="Protein &amp; functional assays">
            <a:extLst xmlns:a="http://schemas.openxmlformats.org/drawingml/2006/main">
              <a:ext uri="{FF2B5EF4-FFF2-40B4-BE49-F238E27FC236}">
                <a16:creationId xmlns:a16="http://schemas.microsoft.com/office/drawing/2014/main" id="{19F07BF1-281C-46C7-B424-CCAF94491867}"/>
              </a:ext>
            </a:extLst>
          </p:cNvPr>
          <p:cNvSpPr>
            <a:spLocks xmlns:a="http://schemas.openxmlformats.org/drawingml/2006/main" noGrp="1"/>
          </p:cNvSpPr>
          <p:nvPr/>
        </p:nvSpPr>
        <p:spPr>
          <a:xfrm xmlns:a="http://schemas.openxmlformats.org/drawingml/2006/main">
            <a:off x="11079480" y="3017520"/>
            <a:ext cx="254508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defRPr sz="1560" b="1">
                <a:solidFill>
                  <a:srgbClr val="00355F"/>
                </a:solidFill>
                <a:latin typeface="Arial"/>
                <a:ea typeface="Arial"/>
                <a:cs typeface="Arial"/>
              </a:defRPr>
            </a:pPr>
            <a:r>
              <a:rPr sz="1560" b="1">
                <a:solidFill>
                  <a:srgbClr val="00355F"/>
                </a:solidFill>
                <a:latin typeface="Arial"/>
                <a:ea typeface="Arial"/>
                <a:cs typeface="Arial"/>
              </a:rPr>
              <a:t>Protein &amp; functional assays</a:t>
            </a:r>
          </a:p>
        </p:txBody>
      </p:sp>
      <p:sp>
        <p:nvSpPr>
          <p:cNvPr id="51" name="Recombinant proteins, antibodies">
            <a:extLst xmlns:a="http://schemas.openxmlformats.org/drawingml/2006/main">
              <a:ext uri="{FF2B5EF4-FFF2-40B4-BE49-F238E27FC236}">
                <a16:creationId xmlns:a16="http://schemas.microsoft.com/office/drawing/2014/main" id="{8BC10CC2-37BE-4256-B6F5-9A92053643FB}"/>
              </a:ext>
            </a:extLst>
          </p:cNvPr>
          <p:cNvSpPr>
            <a:spLocks xmlns:a="http://schemas.openxmlformats.org/drawingml/2006/main" noGrp="1"/>
          </p:cNvSpPr>
          <p:nvPr/>
        </p:nvSpPr>
        <p:spPr>
          <a:xfrm xmlns:a="http://schemas.openxmlformats.org/drawingml/2006/main">
            <a:off x="10668000" y="3390900"/>
            <a:ext cx="2933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defRPr sz="1260" b="0">
                <a:solidFill>
                  <a:srgbClr val="00355F"/>
                </a:solidFill>
                <a:latin typeface="Arial"/>
                <a:ea typeface="Arial"/>
                <a:cs typeface="Arial"/>
              </a:defRPr>
            </a:pPr>
            <a:r>
              <a:rPr sz="1260" b="0">
                <a:solidFill>
                  <a:srgbClr val="00355F"/>
                </a:solidFill>
                <a:latin typeface="Arial"/>
                <a:ea typeface="Arial"/>
                <a:cs typeface="Arial"/>
              </a:rPr>
              <a:t>Recombinant proteins, antibodies</a:t>
            </a:r>
          </a:p>
          <a:p xmlns:a="http://schemas.openxmlformats.org/drawingml/2006/main">
            <a:pPr algn="l">
              <a:defRPr sz="1260" b="0">
                <a:solidFill>
                  <a:srgbClr val="00355F"/>
                </a:solidFill>
                <a:latin typeface="Arial"/>
                <a:ea typeface="Arial"/>
                <a:cs typeface="Arial"/>
              </a:defRPr>
            </a:pPr>
            <a:r>
              <a:rPr sz="1260" b="0">
                <a:solidFill>
                  <a:srgbClr val="00355F"/>
                </a:solidFill>
                <a:latin typeface="Arial"/>
                <a:ea typeface="Arial"/>
                <a:cs typeface="Arial"/>
              </a:rPr>
              <a:t>Binding and activity assays</a:t>
            </a:r>
          </a:p>
        </p:txBody>
      </p:sp>
      <p:sp>
        <p:nvSpPr>
          <p:cNvPr id="52" name="US$3.5bn">
            <a:extLst xmlns:a="http://schemas.openxmlformats.org/drawingml/2006/main">
              <a:ext uri="{FF2B5EF4-FFF2-40B4-BE49-F238E27FC236}">
                <a16:creationId xmlns:a16="http://schemas.microsoft.com/office/drawing/2014/main" id="{1A594EFA-DCD8-42B4-8193-4E8F3D73B4B3}"/>
              </a:ext>
            </a:extLst>
          </p:cNvPr>
          <p:cNvSpPr>
            <a:spLocks xmlns:a="http://schemas.openxmlformats.org/drawingml/2006/main" noGrp="1"/>
          </p:cNvSpPr>
          <p:nvPr/>
        </p:nvSpPr>
        <p:spPr>
          <a:xfrm xmlns:a="http://schemas.openxmlformats.org/drawingml/2006/main">
            <a:off x="10668000" y="3870960"/>
            <a:ext cx="29337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defRPr sz="2220" b="1">
                <a:solidFill>
                  <a:srgbClr val="00355F"/>
                </a:solidFill>
                <a:latin typeface="Arial"/>
                <a:ea typeface="Arial"/>
                <a:cs typeface="Arial"/>
              </a:defRPr>
            </a:pPr>
            <a:r>
              <a:rPr sz="2220" b="1">
                <a:solidFill>
                  <a:srgbClr val="00355F"/>
                </a:solidFill>
                <a:latin typeface="Arial"/>
                <a:ea typeface="Arial"/>
                <a:cs typeface="Arial"/>
              </a:rPr>
              <a:t>US$3.5bn</a:t>
            </a:r>
          </a:p>
        </p:txBody>
      </p:sp>
      <p:sp>
        <p:nvSpPr>
          <p:cNvPr id="53" name="Global • 2025 • research proteins [2]">
            <a:extLst xmlns:a="http://schemas.openxmlformats.org/drawingml/2006/main">
              <a:ext uri="{FF2B5EF4-FFF2-40B4-BE49-F238E27FC236}">
                <a16:creationId xmlns:a16="http://schemas.microsoft.com/office/drawing/2014/main" id="{628A3EC5-841C-498A-9F81-9238D4EFEEC0}"/>
              </a:ext>
            </a:extLst>
          </p:cNvPr>
          <p:cNvSpPr>
            <a:spLocks xmlns:a="http://schemas.openxmlformats.org/drawingml/2006/main" noGrp="1"/>
          </p:cNvSpPr>
          <p:nvPr/>
        </p:nvSpPr>
        <p:spPr>
          <a:xfrm xmlns:a="http://schemas.openxmlformats.org/drawingml/2006/main">
            <a:off x="10668000" y="4251960"/>
            <a:ext cx="293370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defRPr sz="1050" b="0">
                <a:solidFill>
                  <a:srgbClr val="00355F"/>
                </a:solidFill>
                <a:latin typeface="Arial"/>
                <a:ea typeface="Arial"/>
                <a:cs typeface="Arial"/>
              </a:defRPr>
            </a:pPr>
            <a:r>
              <a:rPr sz="1050" b="0">
                <a:solidFill>
                  <a:srgbClr val="00355F"/>
                </a:solidFill>
                <a:latin typeface="Arial"/>
                <a:ea typeface="Arial"/>
                <a:cs typeface="Arial"/>
              </a:rPr>
              <a:t>Global • 2025 • research proteins [2]</a:t>
            </a:r>
          </a:p>
        </p:txBody>
      </p:sp>
      <p:sp>
        <p:nvSpPr>
          <p:cNvPr id="54" name="China: ~US$0.4bn • RUO scope">
            <a:extLst xmlns:a="http://schemas.openxmlformats.org/drawingml/2006/main">
              <a:ext uri="{FF2B5EF4-FFF2-40B4-BE49-F238E27FC236}">
                <a16:creationId xmlns:a16="http://schemas.microsoft.com/office/drawing/2014/main" id="{78195C79-A4B0-4B6B-A972-40B68E956597}"/>
              </a:ext>
            </a:extLst>
          </p:cNvPr>
          <p:cNvSpPr>
            <a:spLocks xmlns:a="http://schemas.openxmlformats.org/drawingml/2006/main" noGrp="1"/>
          </p:cNvSpPr>
          <p:nvPr/>
        </p:nvSpPr>
        <p:spPr>
          <a:xfrm xmlns:a="http://schemas.openxmlformats.org/drawingml/2006/main">
            <a:off x="10668000" y="4472940"/>
            <a:ext cx="29337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defRPr sz="990" b="0">
                <a:solidFill>
                  <a:srgbClr val="00355F"/>
                </a:solidFill>
                <a:latin typeface="Arial"/>
                <a:ea typeface="Arial"/>
                <a:cs typeface="Arial"/>
              </a:defRPr>
            </a:pPr>
            <a:r>
              <a:rPr sz="990" b="0">
                <a:solidFill>
                  <a:srgbClr val="00355F"/>
                </a:solidFill>
                <a:latin typeface="Arial"/>
                <a:ea typeface="Arial"/>
                <a:cs typeface="Arial"/>
              </a:rPr>
              <a:t>China: ~US$0.4bn • RUO scope</a:t>
            </a:r>
          </a:p>
        </p:txBody>
      </p:sp>
      <p:pic>
        <p:nvPicPr>
          <p:cNvPr id="55" name="">
            <a:extLst xmlns:a="http://schemas.openxmlformats.org/drawingml/2006/main">
              <a:ext uri="{FF2B5EF4-FFF2-40B4-BE49-F238E27FC236}">
                <a16:creationId xmlns:a16="http://schemas.microsoft.com/office/drawing/2014/main" id="{B5BB412B-F9EF-4ABA-8D81-35560D7B177A}"/>
              </a:ext>
            </a:extLst>
          </p:cNvPr>
          <p:cNvPicPr>
            <a:picLocks xmlns:a="http://schemas.openxmlformats.org/drawingml/2006/main" noChangeAspect="1"/>
          </p:cNvPicPr>
          <p:nvPr/>
        </p:nvPicPr>
        <p:blipFill>
          <a:blip xmlns:r="http://schemas.openxmlformats.org/officeDocument/2006/relationships" xmlns:a="http://schemas.openxmlformats.org/drawingml/2006/main" r:embed="R53099180937e4389"/>
          <a:stretch xmlns:a="http://schemas.openxmlformats.org/drawingml/2006/main"/>
        </p:blipFill>
        <p:spPr>
          <a:xfrm xmlns:a="http://schemas.openxmlformats.org/drawingml/2006/main">
            <a:off x="10754940" y="4709160"/>
            <a:ext cx="1037699" cy="335280"/>
          </a:xfrm>
          <a:prstGeom xmlns:a="http://schemas.openxmlformats.org/drawingml/2006/main" prst="rect">
            <a:avLst/>
          </a:prstGeom>
        </p:spPr>
      </p:pic>
      <p:sp>
        <p:nvSpPr>
          <p:cNvPr id="56" name="CHINA / HK LISTINGS">
            <a:extLst xmlns:a="http://schemas.openxmlformats.org/drawingml/2006/main">
              <a:ext uri="{FF2B5EF4-FFF2-40B4-BE49-F238E27FC236}">
                <a16:creationId xmlns:a16="http://schemas.microsoft.com/office/drawing/2014/main" id="{09E32DDF-F760-4F7A-A790-D506A5C0F214}"/>
              </a:ext>
            </a:extLst>
          </p:cNvPr>
          <p:cNvSpPr>
            <a:spLocks xmlns:a="http://schemas.openxmlformats.org/drawingml/2006/main" noGrp="1"/>
          </p:cNvSpPr>
          <p:nvPr/>
        </p:nvSpPr>
        <p:spPr>
          <a:xfrm xmlns:a="http://schemas.openxmlformats.org/drawingml/2006/main">
            <a:off x="10668000" y="5113020"/>
            <a:ext cx="153162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57" name="US LISTINGS / PARENTS">
            <a:extLst xmlns:a="http://schemas.openxmlformats.org/drawingml/2006/main">
              <a:ext uri="{FF2B5EF4-FFF2-40B4-BE49-F238E27FC236}">
                <a16:creationId xmlns:a16="http://schemas.microsoft.com/office/drawing/2014/main" id="{6B0CF5DB-542C-4622-8FB1-A0611D2AFF3E}"/>
              </a:ext>
            </a:extLst>
          </p:cNvPr>
          <p:cNvSpPr>
            <a:spLocks xmlns:a="http://schemas.openxmlformats.org/drawingml/2006/main" noGrp="1"/>
          </p:cNvSpPr>
          <p:nvPr/>
        </p:nvSpPr>
        <p:spPr>
          <a:xfrm xmlns:a="http://schemas.openxmlformats.org/drawingml/2006/main">
            <a:off x="12306300" y="5113020"/>
            <a:ext cx="132588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58" name="ACRO · 301080.SZ">
            <a:extLst xmlns:a="http://schemas.openxmlformats.org/drawingml/2006/main">
              <a:ext uri="{FF2B5EF4-FFF2-40B4-BE49-F238E27FC236}">
                <a16:creationId xmlns:a16="http://schemas.microsoft.com/office/drawing/2014/main" id="{B11AF569-25B3-47AC-A298-525096A8EBD9}"/>
              </a:ext>
            </a:extLst>
          </p:cNvPr>
          <p:cNvSpPr>
            <a:spLocks xmlns:a="http://schemas.openxmlformats.org/drawingml/2006/main" noGrp="1"/>
          </p:cNvSpPr>
          <p:nvPr/>
        </p:nvSpPr>
        <p:spPr>
          <a:xfrm xmlns:a="http://schemas.openxmlformats.org/drawingml/2006/main">
            <a:off x="10668000" y="5334000"/>
            <a:ext cx="158496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defRPr sz="1020" b="0">
                <a:solidFill>
                  <a:srgbClr val="00355F"/>
                </a:solidFill>
                <a:latin typeface="Arial"/>
                <a:ea typeface="Arial"/>
                <a:cs typeface="Arial"/>
              </a:defRPr>
            </a:pPr>
            <a:r>
              <a:rPr sz="1020" b="0">
                <a:solidFill>
                  <a:srgbClr val="00355F"/>
                </a:solidFill>
                <a:latin typeface="Arial"/>
                <a:ea typeface="Arial"/>
                <a:cs typeface="Arial"/>
              </a:rPr>
              <a:t>ACRO · 301080.SZ</a:t>
            </a:r>
          </a:p>
          <a:p xmlns:a="http://schemas.openxmlformats.org/drawingml/2006/main">
            <a:pPr algn="l">
              <a:defRPr sz="1020" b="0">
                <a:solidFill>
                  <a:srgbClr val="00355F"/>
                </a:solidFill>
                <a:latin typeface="Arial"/>
                <a:ea typeface="Arial"/>
                <a:cs typeface="Arial"/>
              </a:defRPr>
            </a:pPr>
            <a:r>
              <a:rPr sz="1020" b="0">
                <a:solidFill>
                  <a:srgbClr val="00355F"/>
                </a:solidFill>
                <a:latin typeface="Arial"/>
                <a:ea typeface="Arial"/>
                <a:cs typeface="Arial"/>
              </a:rPr>
              <a:t>Sino · 301047.SZ</a:t>
            </a:r>
          </a:p>
        </p:txBody>
      </p:sp>
      <p:sp>
        <p:nvSpPr>
          <p:cNvPr id="59" name="Bio-Techne · TECH">
            <a:extLst xmlns:a="http://schemas.openxmlformats.org/drawingml/2006/main">
              <a:ext uri="{FF2B5EF4-FFF2-40B4-BE49-F238E27FC236}">
                <a16:creationId xmlns:a16="http://schemas.microsoft.com/office/drawing/2014/main" id="{6C89002A-B4C6-4302-9647-163960384B9F}"/>
              </a:ext>
            </a:extLst>
          </p:cNvPr>
          <p:cNvSpPr>
            <a:spLocks xmlns:a="http://schemas.openxmlformats.org/drawingml/2006/main" noGrp="1"/>
          </p:cNvSpPr>
          <p:nvPr/>
        </p:nvSpPr>
        <p:spPr>
          <a:xfrm xmlns:a="http://schemas.openxmlformats.org/drawingml/2006/main">
            <a:off x="12306300" y="5334000"/>
            <a:ext cx="132588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defRPr sz="972" b="0">
                <a:solidFill>
                  <a:srgbClr val="00355F"/>
                </a:solidFill>
                <a:latin typeface="Arial"/>
                <a:ea typeface="Arial"/>
                <a:cs typeface="Arial"/>
              </a:defRPr>
            </a:pPr>
            <a:r>
              <a:rPr sz="972" b="0">
                <a:solidFill>
                  <a:srgbClr val="00355F"/>
                </a:solidFill>
                <a:latin typeface="Arial"/>
                <a:ea typeface="Arial"/>
                <a:cs typeface="Arial"/>
              </a:rPr>
              <a:t>Bio-Techne · TECH</a:t>
            </a:r>
          </a:p>
          <a:p xmlns:a="http://schemas.openxmlformats.org/drawingml/2006/main">
            <a:pPr algn="l">
              <a:defRPr sz="972" b="0">
                <a:solidFill>
                  <a:srgbClr val="00355F"/>
                </a:solidFill>
                <a:latin typeface="Arial"/>
                <a:ea typeface="Arial"/>
                <a:cs typeface="Arial"/>
              </a:defRPr>
            </a:pPr>
            <a:r>
              <a:rPr sz="972" b="0">
                <a:solidFill>
                  <a:srgbClr val="00355F"/>
                </a:solidFill>
                <a:latin typeface="Arial"/>
                <a:ea typeface="Arial"/>
                <a:cs typeface="Arial"/>
              </a:rPr>
              <a:t>Thermo Fisher · TMO</a:t>
            </a:r>
          </a:p>
        </p:txBody>
      </p:sp>
      <p:sp>
        <p:nvSpPr>
          <p:cNvPr id="60" name="">
            <a:extLst xmlns:a="http://schemas.openxmlformats.org/drawingml/2006/main">
              <a:ext uri="{FF2B5EF4-FFF2-40B4-BE49-F238E27FC236}">
                <a16:creationId xmlns:a16="http://schemas.microsoft.com/office/drawing/2014/main" id="{7919EC2B-E1D6-434F-A524-F82B19109B6A}"/>
              </a:ext>
            </a:extLst>
          </p:cNvPr>
          <p:cNvSpPr>
            <a:spLocks xmlns:a="http://schemas.openxmlformats.org/drawingml/2006/main" noGrp="1"/>
          </p:cNvSpPr>
          <p:nvPr/>
        </p:nvSpPr>
        <p:spPr>
          <a:xfrm xmlns:a="http://schemas.openxmlformats.org/drawingml/2006/main">
            <a:off x="14043660" y="2842260"/>
            <a:ext cx="3238500" cy="2994660"/>
          </a:xfrm>
          <a:prstGeom xmlns:a="http://schemas.openxmlformats.org/drawingml/2006/main" prst="roundRect">
            <a:avLst>
              <a:gd name="adj" fmla="val 2545"/>
            </a:avLst>
          </a:prstGeom>
          <a:solidFill xmlns:a="http://schemas.openxmlformats.org/drawingml/2006/main">
            <a:srgbClr val="FFFFFF"/>
          </a:solidFill>
          <a:ln xmlns:a="http://schemas.openxmlformats.org/drawingml/2006/main" w="7620">
            <a:solidFill>
              <a:srgbClr val="A5A5A5"/>
            </a:solidFill>
          </a:ln>
        </p:spPr>
      </p:sp>
      <p:pic>
        <p:nvPicPr>
          <p:cNvPr id="61" name="">
            <a:extLst xmlns:a="http://schemas.openxmlformats.org/drawingml/2006/main">
              <a:ext uri="{FF2B5EF4-FFF2-40B4-BE49-F238E27FC236}">
                <a16:creationId xmlns:a16="http://schemas.microsoft.com/office/drawing/2014/main" id="{08DF7DBE-E3F1-40E4-A9B6-977A93DFCFA7}"/>
              </a:ext>
            </a:extLst>
          </p:cNvPr>
          <p:cNvPicPr>
            <a:picLocks xmlns:a="http://schemas.openxmlformats.org/drawingml/2006/main" noChangeAspect="1"/>
          </p:cNvPicPr>
          <p:nvPr/>
        </p:nvPicPr>
        <p:blipFill>
          <a:blip xmlns:r="http://schemas.openxmlformats.org/officeDocument/2006/relationships" xmlns:a="http://schemas.openxmlformats.org/drawingml/2006/main" r:embed="Rb9c9be6f9e4441d9">
            <a:extLst>
              <a:ext uri="{96DAC541-7B7A-43D3-8B79-37D633B846F1}">
                <asvg:svgBlip xmlns:asvg="http://schemas.microsoft.com/office/drawing/2016/SVG/main" r:embed="R17976a0be0af4c3c"/>
              </a:ext>
            </a:extLst>
          </a:blip>
          <a:stretch xmlns:a="http://schemas.openxmlformats.org/drawingml/2006/main"/>
        </p:blipFill>
        <p:spPr>
          <a:xfrm xmlns:a="http://schemas.openxmlformats.org/drawingml/2006/main">
            <a:off x="14180820" y="2987040"/>
            <a:ext cx="289560" cy="289560"/>
          </a:xfrm>
          <a:prstGeom xmlns:a="http://schemas.openxmlformats.org/drawingml/2006/main" prst="rect">
            <a:avLst/>
          </a:prstGeom>
        </p:spPr>
      </p:pic>
      <p:sp>
        <p:nvSpPr>
          <p:cNvPr id="62" name="Cells &amp; culture systems">
            <a:extLst xmlns:a="http://schemas.openxmlformats.org/drawingml/2006/main">
              <a:ext uri="{FF2B5EF4-FFF2-40B4-BE49-F238E27FC236}">
                <a16:creationId xmlns:a16="http://schemas.microsoft.com/office/drawing/2014/main" id="{8CCE68B7-F40F-4FDF-8348-85CE8BE92F05}"/>
              </a:ext>
            </a:extLst>
          </p:cNvPr>
          <p:cNvSpPr>
            <a:spLocks xmlns:a="http://schemas.openxmlformats.org/drawingml/2006/main" noGrp="1"/>
          </p:cNvSpPr>
          <p:nvPr/>
        </p:nvSpPr>
        <p:spPr>
          <a:xfrm xmlns:a="http://schemas.openxmlformats.org/drawingml/2006/main">
            <a:off x="14607540" y="3017520"/>
            <a:ext cx="254508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defRPr sz="1560" b="1">
                <a:solidFill>
                  <a:srgbClr val="00355F"/>
                </a:solidFill>
                <a:latin typeface="Arial"/>
                <a:ea typeface="Arial"/>
                <a:cs typeface="Arial"/>
              </a:defRPr>
            </a:pPr>
            <a:r>
              <a:rPr sz="1560" b="1">
                <a:solidFill>
                  <a:srgbClr val="00355F"/>
                </a:solidFill>
                <a:latin typeface="Arial"/>
                <a:ea typeface="Arial"/>
                <a:cs typeface="Arial"/>
              </a:rPr>
              <a:t>Cells &amp; culture systems</a:t>
            </a:r>
          </a:p>
        </p:txBody>
      </p:sp>
      <p:sp>
        <p:nvSpPr>
          <p:cNvPr id="63" name="Cell models, media, feeds">
            <a:extLst xmlns:a="http://schemas.openxmlformats.org/drawingml/2006/main">
              <a:ext uri="{FF2B5EF4-FFF2-40B4-BE49-F238E27FC236}">
                <a16:creationId xmlns:a16="http://schemas.microsoft.com/office/drawing/2014/main" id="{83FB76BD-1865-4C08-B1AE-9AB8E1A65F2B}"/>
              </a:ext>
            </a:extLst>
          </p:cNvPr>
          <p:cNvSpPr>
            <a:spLocks xmlns:a="http://schemas.openxmlformats.org/drawingml/2006/main" noGrp="1"/>
          </p:cNvSpPr>
          <p:nvPr/>
        </p:nvSpPr>
        <p:spPr>
          <a:xfrm xmlns:a="http://schemas.openxmlformats.org/drawingml/2006/main">
            <a:off x="14196060" y="3390900"/>
            <a:ext cx="2933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defRPr sz="1260" b="0">
                <a:solidFill>
                  <a:srgbClr val="00355F"/>
                </a:solidFill>
                <a:latin typeface="Arial"/>
                <a:ea typeface="Arial"/>
                <a:cs typeface="Arial"/>
              </a:defRPr>
            </a:pPr>
            <a:r>
              <a:rPr sz="1260" b="0">
                <a:solidFill>
                  <a:srgbClr val="00355F"/>
                </a:solidFill>
                <a:latin typeface="Arial"/>
                <a:ea typeface="Arial"/>
                <a:cs typeface="Arial"/>
              </a:rPr>
              <a:t>Cell models, media, feeds</a:t>
            </a:r>
          </a:p>
          <a:p xmlns:a="http://schemas.openxmlformats.org/drawingml/2006/main">
            <a:pPr algn="l">
              <a:defRPr sz="1260" b="0">
                <a:solidFill>
                  <a:srgbClr val="00355F"/>
                </a:solidFill>
                <a:latin typeface="Arial"/>
                <a:ea typeface="Arial"/>
                <a:cs typeface="Arial"/>
              </a:defRPr>
            </a:pPr>
            <a:r>
              <a:rPr sz="1260" b="0">
                <a:solidFill>
                  <a:srgbClr val="00355F"/>
                </a:solidFill>
                <a:latin typeface="Arial"/>
                <a:ea typeface="Arial"/>
                <a:cs typeface="Arial"/>
              </a:rPr>
              <a:t>Bioreactors and cell expansion</a:t>
            </a:r>
          </a:p>
        </p:txBody>
      </p:sp>
      <p:sp>
        <p:nvSpPr>
          <p:cNvPr id="64" name="US$323.5m*">
            <a:extLst xmlns:a="http://schemas.openxmlformats.org/drawingml/2006/main">
              <a:ext uri="{FF2B5EF4-FFF2-40B4-BE49-F238E27FC236}">
                <a16:creationId xmlns:a16="http://schemas.microsoft.com/office/drawing/2014/main" id="{E700A98A-317C-4AD5-BAE2-43942F325998}"/>
              </a:ext>
            </a:extLst>
          </p:cNvPr>
          <p:cNvSpPr>
            <a:spLocks xmlns:a="http://schemas.openxmlformats.org/drawingml/2006/main" noGrp="1"/>
          </p:cNvSpPr>
          <p:nvPr/>
        </p:nvSpPr>
        <p:spPr>
          <a:xfrm xmlns:a="http://schemas.openxmlformats.org/drawingml/2006/main">
            <a:off x="14196060" y="3870960"/>
            <a:ext cx="29337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defRPr sz="2220" b="1">
                <a:solidFill>
                  <a:srgbClr val="00355F"/>
                </a:solidFill>
                <a:latin typeface="Arial"/>
                <a:ea typeface="Arial"/>
                <a:cs typeface="Arial"/>
              </a:defRPr>
            </a:pPr>
            <a:r>
              <a:rPr sz="2220" b="1">
                <a:solidFill>
                  <a:srgbClr val="00355F"/>
                </a:solidFill>
                <a:latin typeface="Arial"/>
                <a:ea typeface="Arial"/>
                <a:cs typeface="Arial"/>
              </a:rPr>
              <a:t>US$323.5m*</a:t>
            </a:r>
          </a:p>
        </p:txBody>
      </p:sp>
      <p:sp>
        <p:nvSpPr>
          <p:cNvPr id="65" name="China • 2024 • bioprocess media [3]">
            <a:extLst xmlns:a="http://schemas.openxmlformats.org/drawingml/2006/main">
              <a:ext uri="{FF2B5EF4-FFF2-40B4-BE49-F238E27FC236}">
                <a16:creationId xmlns:a16="http://schemas.microsoft.com/office/drawing/2014/main" id="{4EB8285D-36A2-431F-A27D-804232175103}"/>
              </a:ext>
            </a:extLst>
          </p:cNvPr>
          <p:cNvSpPr>
            <a:spLocks xmlns:a="http://schemas.openxmlformats.org/drawingml/2006/main" noGrp="1"/>
          </p:cNvSpPr>
          <p:nvPr/>
        </p:nvSpPr>
        <p:spPr>
          <a:xfrm xmlns:a="http://schemas.openxmlformats.org/drawingml/2006/main">
            <a:off x="14196060" y="4251960"/>
            <a:ext cx="293370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defRPr sz="1050" b="0">
                <a:solidFill>
                  <a:srgbClr val="00355F"/>
                </a:solidFill>
                <a:latin typeface="Arial"/>
                <a:ea typeface="Arial"/>
                <a:cs typeface="Arial"/>
              </a:defRPr>
            </a:pPr>
            <a:r>
              <a:rPr sz="1050" b="0">
                <a:solidFill>
                  <a:srgbClr val="00355F"/>
                </a:solidFill>
                <a:latin typeface="Arial"/>
                <a:ea typeface="Arial"/>
                <a:cs typeface="Arial"/>
              </a:rPr>
              <a:t>China • 2024 • bioprocess media [3]</a:t>
            </a:r>
          </a:p>
        </p:txBody>
      </p:sp>
      <p:sp>
        <p:nvSpPr>
          <p:cNvPr id="66" name="Selected media anchor; not all cell tools">
            <a:extLst xmlns:a="http://schemas.openxmlformats.org/drawingml/2006/main">
              <a:ext uri="{FF2B5EF4-FFF2-40B4-BE49-F238E27FC236}">
                <a16:creationId xmlns:a16="http://schemas.microsoft.com/office/drawing/2014/main" id="{637F147D-F694-416F-AD8D-B3578E166675}"/>
              </a:ext>
            </a:extLst>
          </p:cNvPr>
          <p:cNvSpPr>
            <a:spLocks xmlns:a="http://schemas.openxmlformats.org/drawingml/2006/main" noGrp="1"/>
          </p:cNvSpPr>
          <p:nvPr/>
        </p:nvSpPr>
        <p:spPr>
          <a:xfrm xmlns:a="http://schemas.openxmlformats.org/drawingml/2006/main">
            <a:off x="14196060" y="4472940"/>
            <a:ext cx="29337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defRPr sz="990" b="0">
                <a:solidFill>
                  <a:srgbClr val="00355F"/>
                </a:solidFill>
                <a:latin typeface="Arial"/>
                <a:ea typeface="Arial"/>
                <a:cs typeface="Arial"/>
              </a:defRPr>
            </a:pPr>
            <a:r>
              <a:rPr sz="990" b="0">
                <a:solidFill>
                  <a:srgbClr val="00355F"/>
                </a:solidFill>
                <a:latin typeface="Arial"/>
                <a:ea typeface="Arial"/>
                <a:cs typeface="Arial"/>
              </a:rPr>
              <a:t>Selected media anchor; not all cell tools</a:t>
            </a:r>
          </a:p>
        </p:txBody>
      </p:sp>
      <p:sp>
        <p:nvSpPr>
          <p:cNvPr id="67" name="Gibco / HyClone">
            <a:extLst xmlns:a="http://schemas.openxmlformats.org/drawingml/2006/main">
              <a:ext uri="{FF2B5EF4-FFF2-40B4-BE49-F238E27FC236}">
                <a16:creationId xmlns:a16="http://schemas.microsoft.com/office/drawing/2014/main" id="{D50E4DF5-A743-4499-9556-5EC4327B949E}"/>
              </a:ext>
            </a:extLst>
          </p:cNvPr>
          <p:cNvSpPr>
            <a:spLocks xmlns:a="http://schemas.openxmlformats.org/drawingml/2006/main" noGrp="1"/>
          </p:cNvSpPr>
          <p:nvPr/>
        </p:nvSpPr>
        <p:spPr>
          <a:xfrm xmlns:a="http://schemas.openxmlformats.org/drawingml/2006/main">
            <a:off x="14196060" y="4785360"/>
            <a:ext cx="13716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defRPr sz="1500" b="1">
                <a:solidFill>
                  <a:srgbClr val="00355F"/>
                </a:solidFill>
                <a:latin typeface="Arial"/>
                <a:ea typeface="Arial"/>
                <a:cs typeface="Arial"/>
              </a:defRPr>
            </a:pPr>
            <a:r>
              <a:rPr sz="1500" b="1">
                <a:solidFill>
                  <a:srgbClr val="00355F"/>
                </a:solidFill>
                <a:latin typeface="Arial"/>
                <a:ea typeface="Arial"/>
                <a:cs typeface="Arial"/>
              </a:rPr>
              <a:t>Gibco / HyClone</a:t>
            </a:r>
          </a:p>
        </p:txBody>
      </p:sp>
      <p:sp>
        <p:nvSpPr>
          <p:cNvPr id="68" name="CHINA / HK LISTINGS">
            <a:extLst xmlns:a="http://schemas.openxmlformats.org/drawingml/2006/main">
              <a:ext uri="{FF2B5EF4-FFF2-40B4-BE49-F238E27FC236}">
                <a16:creationId xmlns:a16="http://schemas.microsoft.com/office/drawing/2014/main" id="{F1DED9DC-0318-4C9F-8E95-902C46A18BE7}"/>
              </a:ext>
            </a:extLst>
          </p:cNvPr>
          <p:cNvSpPr>
            <a:spLocks xmlns:a="http://schemas.openxmlformats.org/drawingml/2006/main" noGrp="1"/>
          </p:cNvSpPr>
          <p:nvPr/>
        </p:nvSpPr>
        <p:spPr>
          <a:xfrm xmlns:a="http://schemas.openxmlformats.org/drawingml/2006/main">
            <a:off x="14196060" y="5113020"/>
            <a:ext cx="153162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69" name="US LISTINGS / PARENTS">
            <a:extLst xmlns:a="http://schemas.openxmlformats.org/drawingml/2006/main">
              <a:ext uri="{FF2B5EF4-FFF2-40B4-BE49-F238E27FC236}">
                <a16:creationId xmlns:a16="http://schemas.microsoft.com/office/drawing/2014/main" id="{2B82C810-10BD-4C11-81A9-B43152B1CD51}"/>
              </a:ext>
            </a:extLst>
          </p:cNvPr>
          <p:cNvSpPr>
            <a:spLocks xmlns:a="http://schemas.openxmlformats.org/drawingml/2006/main" noGrp="1"/>
          </p:cNvSpPr>
          <p:nvPr/>
        </p:nvSpPr>
        <p:spPr>
          <a:xfrm xmlns:a="http://schemas.openxmlformats.org/drawingml/2006/main">
            <a:off x="15834360" y="5113020"/>
            <a:ext cx="132588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70" name="OPM · 688293.SH">
            <a:extLst xmlns:a="http://schemas.openxmlformats.org/drawingml/2006/main">
              <a:ext uri="{FF2B5EF4-FFF2-40B4-BE49-F238E27FC236}">
                <a16:creationId xmlns:a16="http://schemas.microsoft.com/office/drawing/2014/main" id="{C245258C-A401-4AF8-BCF3-88980EC18229}"/>
              </a:ext>
            </a:extLst>
          </p:cNvPr>
          <p:cNvSpPr>
            <a:spLocks xmlns:a="http://schemas.openxmlformats.org/drawingml/2006/main" noGrp="1"/>
          </p:cNvSpPr>
          <p:nvPr/>
        </p:nvSpPr>
        <p:spPr>
          <a:xfrm xmlns:a="http://schemas.openxmlformats.org/drawingml/2006/main">
            <a:off x="14196060" y="5334000"/>
            <a:ext cx="158496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defRPr sz="1020" b="0">
                <a:solidFill>
                  <a:srgbClr val="00355F"/>
                </a:solidFill>
                <a:latin typeface="Arial"/>
                <a:ea typeface="Arial"/>
                <a:cs typeface="Arial"/>
              </a:defRPr>
            </a:pPr>
            <a:r>
              <a:rPr sz="1020" b="0">
                <a:solidFill>
                  <a:srgbClr val="00355F"/>
                </a:solidFill>
                <a:latin typeface="Arial"/>
                <a:ea typeface="Arial"/>
                <a:cs typeface="Arial"/>
              </a:rPr>
              <a:t>OPM · 688293.SH</a:t>
            </a:r>
          </a:p>
          <a:p xmlns:a="http://schemas.openxmlformats.org/drawingml/2006/main">
            <a:pPr algn="l">
              <a:defRPr sz="1020" b="0">
                <a:solidFill>
                  <a:srgbClr val="00355F"/>
                </a:solidFill>
                <a:latin typeface="Arial"/>
                <a:ea typeface="Arial"/>
                <a:cs typeface="Arial"/>
              </a:defRPr>
            </a:pPr>
            <a:r>
              <a:rPr sz="1020" b="0">
                <a:solidFill>
                  <a:srgbClr val="00355F"/>
                </a:solidFill>
                <a:latin typeface="Arial"/>
                <a:ea typeface="Arial"/>
                <a:cs typeface="Arial"/>
              </a:rPr>
              <a:t>ACRO · 301080.SZ</a:t>
            </a:r>
          </a:p>
        </p:txBody>
      </p:sp>
      <p:sp>
        <p:nvSpPr>
          <p:cNvPr id="71" name="Gibco / Thermo · TMO">
            <a:extLst xmlns:a="http://schemas.openxmlformats.org/drawingml/2006/main">
              <a:ext uri="{FF2B5EF4-FFF2-40B4-BE49-F238E27FC236}">
                <a16:creationId xmlns:a16="http://schemas.microsoft.com/office/drawing/2014/main" id="{3164D376-FE1D-4BE5-A819-752863275EB1}"/>
              </a:ext>
            </a:extLst>
          </p:cNvPr>
          <p:cNvSpPr>
            <a:spLocks xmlns:a="http://schemas.openxmlformats.org/drawingml/2006/main" noGrp="1"/>
          </p:cNvSpPr>
          <p:nvPr/>
        </p:nvSpPr>
        <p:spPr>
          <a:xfrm xmlns:a="http://schemas.openxmlformats.org/drawingml/2006/main">
            <a:off x="15834360" y="5334000"/>
            <a:ext cx="132588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defRPr sz="972" b="0">
                <a:solidFill>
                  <a:srgbClr val="00355F"/>
                </a:solidFill>
                <a:latin typeface="Arial"/>
                <a:ea typeface="Arial"/>
                <a:cs typeface="Arial"/>
              </a:defRPr>
            </a:pPr>
            <a:r>
              <a:rPr sz="972" b="0">
                <a:solidFill>
                  <a:srgbClr val="00355F"/>
                </a:solidFill>
                <a:latin typeface="Arial"/>
                <a:ea typeface="Arial"/>
                <a:cs typeface="Arial"/>
              </a:rPr>
              <a:t>Gibco / Thermo · TMO</a:t>
            </a:r>
          </a:p>
          <a:p xmlns:a="http://schemas.openxmlformats.org/drawingml/2006/main">
            <a:pPr algn="l">
              <a:defRPr sz="972" b="0">
                <a:solidFill>
                  <a:srgbClr val="00355F"/>
                </a:solidFill>
                <a:latin typeface="Arial"/>
                <a:ea typeface="Arial"/>
                <a:cs typeface="Arial"/>
              </a:defRPr>
            </a:pPr>
            <a:r>
              <a:rPr sz="972" b="0">
                <a:solidFill>
                  <a:srgbClr val="00355F"/>
                </a:solidFill>
                <a:latin typeface="Arial"/>
                <a:ea typeface="Arial"/>
                <a:cs typeface="Arial"/>
              </a:rPr>
              <a:t>Cytiva / HyClone · DHR</a:t>
            </a:r>
          </a:p>
        </p:txBody>
      </p:sp>
      <p:sp>
        <p:nvSpPr>
          <p:cNvPr id="72" name="">
            <a:extLst xmlns:a="http://schemas.openxmlformats.org/drawingml/2006/main">
              <a:ext uri="{FF2B5EF4-FFF2-40B4-BE49-F238E27FC236}">
                <a16:creationId xmlns:a16="http://schemas.microsoft.com/office/drawing/2014/main" id="{520E00AC-23A7-494C-BEE6-9CED53F7196B}"/>
              </a:ext>
            </a:extLst>
          </p:cNvPr>
          <p:cNvSpPr>
            <a:spLocks xmlns:a="http://schemas.openxmlformats.org/drawingml/2006/main" noGrp="1"/>
          </p:cNvSpPr>
          <p:nvPr/>
        </p:nvSpPr>
        <p:spPr>
          <a:xfrm xmlns:a="http://schemas.openxmlformats.org/drawingml/2006/main">
            <a:off x="6987540" y="6019800"/>
            <a:ext cx="3238500" cy="2994660"/>
          </a:xfrm>
          <a:prstGeom xmlns:a="http://schemas.openxmlformats.org/drawingml/2006/main" prst="roundRect">
            <a:avLst>
              <a:gd name="adj" fmla="val 2545"/>
            </a:avLst>
          </a:prstGeom>
          <a:solidFill xmlns:a="http://schemas.openxmlformats.org/drawingml/2006/main">
            <a:srgbClr val="FFFFFF"/>
          </a:solidFill>
          <a:ln xmlns:a="http://schemas.openxmlformats.org/drawingml/2006/main" w="7620">
            <a:solidFill>
              <a:srgbClr val="A5A5A5"/>
            </a:solidFill>
          </a:ln>
        </p:spPr>
      </p:sp>
      <p:pic>
        <p:nvPicPr>
          <p:cNvPr id="73" name="">
            <a:extLst xmlns:a="http://schemas.openxmlformats.org/drawingml/2006/main">
              <a:ext uri="{FF2B5EF4-FFF2-40B4-BE49-F238E27FC236}">
                <a16:creationId xmlns:a16="http://schemas.microsoft.com/office/drawing/2014/main" id="{A31EE9D3-9FF7-47E5-92B9-D870F1EA4921}"/>
              </a:ext>
            </a:extLst>
          </p:cNvPr>
          <p:cNvPicPr>
            <a:picLocks xmlns:a="http://schemas.openxmlformats.org/drawingml/2006/main" noChangeAspect="1"/>
          </p:cNvPicPr>
          <p:nvPr/>
        </p:nvPicPr>
        <p:blipFill>
          <a:blip xmlns:r="http://schemas.openxmlformats.org/officeDocument/2006/relationships" xmlns:a="http://schemas.openxmlformats.org/drawingml/2006/main" r:embed="R985a31b4e2584177">
            <a:extLst>
              <a:ext uri="{96DAC541-7B7A-43D3-8B79-37D633B846F1}">
                <asvg:svgBlip xmlns:asvg="http://schemas.microsoft.com/office/drawing/2016/SVG/main" r:embed="Re07767a7cabc4f5f"/>
              </a:ext>
            </a:extLst>
          </a:blip>
          <a:stretch xmlns:a="http://schemas.openxmlformats.org/drawingml/2006/main"/>
        </p:blipFill>
        <p:spPr>
          <a:xfrm xmlns:a="http://schemas.openxmlformats.org/drawingml/2006/main">
            <a:off x="7124700" y="6164580"/>
            <a:ext cx="289560" cy="289560"/>
          </a:xfrm>
          <a:prstGeom xmlns:a="http://schemas.openxmlformats.org/drawingml/2006/main" prst="rect">
            <a:avLst/>
          </a:prstGeom>
        </p:spPr>
      </p:pic>
      <p:sp>
        <p:nvSpPr>
          <p:cNvPr id="74" name="Labware &amp; sample handling">
            <a:extLst xmlns:a="http://schemas.openxmlformats.org/drawingml/2006/main">
              <a:ext uri="{FF2B5EF4-FFF2-40B4-BE49-F238E27FC236}">
                <a16:creationId xmlns:a16="http://schemas.microsoft.com/office/drawing/2014/main" id="{4DF490C0-2D24-4B3C-B2E5-C45420308301}"/>
              </a:ext>
            </a:extLst>
          </p:cNvPr>
          <p:cNvSpPr>
            <a:spLocks xmlns:a="http://schemas.openxmlformats.org/drawingml/2006/main" noGrp="1"/>
          </p:cNvSpPr>
          <p:nvPr/>
        </p:nvSpPr>
        <p:spPr>
          <a:xfrm xmlns:a="http://schemas.openxmlformats.org/drawingml/2006/main">
            <a:off x="7551420" y="6195060"/>
            <a:ext cx="254508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defRPr sz="1560" b="1">
                <a:solidFill>
                  <a:srgbClr val="00355F"/>
                </a:solidFill>
                <a:latin typeface="Arial"/>
                <a:ea typeface="Arial"/>
                <a:cs typeface="Arial"/>
              </a:defRPr>
            </a:pPr>
            <a:r>
              <a:rPr sz="1560" b="1">
                <a:solidFill>
                  <a:srgbClr val="00355F"/>
                </a:solidFill>
                <a:latin typeface="Arial"/>
                <a:ea typeface="Arial"/>
                <a:cs typeface="Arial"/>
              </a:rPr>
              <a:t>Labware &amp; sample handling</a:t>
            </a:r>
          </a:p>
        </p:txBody>
      </p:sp>
      <p:sp>
        <p:nvSpPr>
          <p:cNvPr id="75" name="Tips, plates, tubes, filtration">
            <a:extLst xmlns:a="http://schemas.openxmlformats.org/drawingml/2006/main">
              <a:ext uri="{FF2B5EF4-FFF2-40B4-BE49-F238E27FC236}">
                <a16:creationId xmlns:a16="http://schemas.microsoft.com/office/drawing/2014/main" id="{36BE5E0D-43AA-4764-8207-9D1D4FC96089}"/>
              </a:ext>
            </a:extLst>
          </p:cNvPr>
          <p:cNvSpPr>
            <a:spLocks xmlns:a="http://schemas.openxmlformats.org/drawingml/2006/main" noGrp="1"/>
          </p:cNvSpPr>
          <p:nvPr/>
        </p:nvSpPr>
        <p:spPr>
          <a:xfrm xmlns:a="http://schemas.openxmlformats.org/drawingml/2006/main">
            <a:off x="7139940" y="6568440"/>
            <a:ext cx="2933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defRPr sz="1260" b="0">
                <a:solidFill>
                  <a:srgbClr val="00355F"/>
                </a:solidFill>
                <a:latin typeface="Arial"/>
                <a:ea typeface="Arial"/>
                <a:cs typeface="Arial"/>
              </a:defRPr>
            </a:pPr>
            <a:r>
              <a:rPr sz="1260" b="0">
                <a:solidFill>
                  <a:srgbClr val="00355F"/>
                </a:solidFill>
                <a:latin typeface="Arial"/>
                <a:ea typeface="Arial"/>
                <a:cs typeface="Arial"/>
              </a:rPr>
              <a:t>Tips, plates, tubes, filtration</a:t>
            </a:r>
          </a:p>
          <a:p xmlns:a="http://schemas.openxmlformats.org/drawingml/2006/main">
            <a:pPr algn="l">
              <a:defRPr sz="1260" b="0">
                <a:solidFill>
                  <a:srgbClr val="00355F"/>
                </a:solidFill>
                <a:latin typeface="Arial"/>
                <a:ea typeface="Arial"/>
                <a:cs typeface="Arial"/>
              </a:defRPr>
            </a:pPr>
            <a:r>
              <a:rPr sz="1260" b="0">
                <a:solidFill>
                  <a:srgbClr val="00355F"/>
                </a:solidFill>
                <a:latin typeface="Arial"/>
                <a:ea typeface="Arial"/>
                <a:cs typeface="Arial"/>
              </a:rPr>
              <a:t>Automation-compatible labware</a:t>
            </a:r>
          </a:p>
        </p:txBody>
      </p:sp>
      <p:sp>
        <p:nvSpPr>
          <p:cNvPr id="76" name="~RMB 23bn">
            <a:extLst xmlns:a="http://schemas.openxmlformats.org/drawingml/2006/main">
              <a:ext uri="{FF2B5EF4-FFF2-40B4-BE49-F238E27FC236}">
                <a16:creationId xmlns:a16="http://schemas.microsoft.com/office/drawing/2014/main" id="{49FADE2A-FC99-4EE7-AA39-ACBC728D4AE2}"/>
              </a:ext>
            </a:extLst>
          </p:cNvPr>
          <p:cNvSpPr>
            <a:spLocks xmlns:a="http://schemas.openxmlformats.org/drawingml/2006/main" noGrp="1"/>
          </p:cNvSpPr>
          <p:nvPr/>
        </p:nvSpPr>
        <p:spPr>
          <a:xfrm xmlns:a="http://schemas.openxmlformats.org/drawingml/2006/main">
            <a:off x="7139940" y="7048500"/>
            <a:ext cx="29337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defRPr sz="2220" b="1">
                <a:solidFill>
                  <a:srgbClr val="00355F"/>
                </a:solidFill>
                <a:latin typeface="Arial"/>
                <a:ea typeface="Arial"/>
                <a:cs typeface="Arial"/>
              </a:defRPr>
            </a:pPr>
            <a:r>
              <a:rPr sz="2220" b="1">
                <a:solidFill>
                  <a:srgbClr val="00355F"/>
                </a:solidFill>
                <a:latin typeface="Arial"/>
                <a:ea typeface="Arial"/>
                <a:cs typeface="Arial"/>
              </a:rPr>
              <a:t>~RMB 23bn</a:t>
            </a:r>
          </a:p>
        </p:txBody>
      </p:sp>
      <p:sp>
        <p:nvSpPr>
          <p:cNvPr id="77" name="China • 2024 • plastic labware [4]">
            <a:extLst xmlns:a="http://schemas.openxmlformats.org/drawingml/2006/main">
              <a:ext uri="{FF2B5EF4-FFF2-40B4-BE49-F238E27FC236}">
                <a16:creationId xmlns:a16="http://schemas.microsoft.com/office/drawing/2014/main" id="{353FB520-56F0-4C68-B9EC-E25D93646B07}"/>
              </a:ext>
            </a:extLst>
          </p:cNvPr>
          <p:cNvSpPr>
            <a:spLocks xmlns:a="http://schemas.openxmlformats.org/drawingml/2006/main" noGrp="1"/>
          </p:cNvSpPr>
          <p:nvPr/>
        </p:nvSpPr>
        <p:spPr>
          <a:xfrm xmlns:a="http://schemas.openxmlformats.org/drawingml/2006/main">
            <a:off x="7139940" y="7429500"/>
            <a:ext cx="293370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defRPr sz="1050" b="0">
                <a:solidFill>
                  <a:srgbClr val="00355F"/>
                </a:solidFill>
                <a:latin typeface="Arial"/>
                <a:ea typeface="Arial"/>
                <a:cs typeface="Arial"/>
              </a:defRPr>
            </a:pPr>
            <a:r>
              <a:rPr sz="1050" b="0">
                <a:solidFill>
                  <a:srgbClr val="00355F"/>
                </a:solidFill>
                <a:latin typeface="Arial"/>
                <a:ea typeface="Arial"/>
                <a:cs typeface="Arial"/>
              </a:rPr>
              <a:t>China • 2024 • plastic labware [4]</a:t>
            </a:r>
          </a:p>
        </p:txBody>
      </p:sp>
      <p:sp>
        <p:nvSpPr>
          <p:cNvPr id="78" name="Includes clinical and industrial uses">
            <a:extLst xmlns:a="http://schemas.openxmlformats.org/drawingml/2006/main">
              <a:ext uri="{FF2B5EF4-FFF2-40B4-BE49-F238E27FC236}">
                <a16:creationId xmlns:a16="http://schemas.microsoft.com/office/drawing/2014/main" id="{D3F75192-7498-4AA2-881F-DD763C411E62}"/>
              </a:ext>
            </a:extLst>
          </p:cNvPr>
          <p:cNvSpPr>
            <a:spLocks xmlns:a="http://schemas.openxmlformats.org/drawingml/2006/main" noGrp="1"/>
          </p:cNvSpPr>
          <p:nvPr/>
        </p:nvSpPr>
        <p:spPr>
          <a:xfrm xmlns:a="http://schemas.openxmlformats.org/drawingml/2006/main">
            <a:off x="7139940" y="7650480"/>
            <a:ext cx="29337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defRPr sz="990" b="0">
                <a:solidFill>
                  <a:srgbClr val="00355F"/>
                </a:solidFill>
                <a:latin typeface="Arial"/>
                <a:ea typeface="Arial"/>
                <a:cs typeface="Arial"/>
              </a:defRPr>
            </a:pPr>
            <a:r>
              <a:rPr sz="990" b="0">
                <a:solidFill>
                  <a:srgbClr val="00355F"/>
                </a:solidFill>
                <a:latin typeface="Arial"/>
                <a:ea typeface="Arial"/>
                <a:cs typeface="Arial"/>
              </a:rPr>
              <a:t>Includes clinical and industrial uses</a:t>
            </a:r>
          </a:p>
        </p:txBody>
      </p:sp>
      <p:pic>
        <p:nvPicPr>
          <p:cNvPr id="79" name="">
            <a:extLst xmlns:a="http://schemas.openxmlformats.org/drawingml/2006/main">
              <a:ext uri="{FF2B5EF4-FFF2-40B4-BE49-F238E27FC236}">
                <a16:creationId xmlns:a16="http://schemas.microsoft.com/office/drawing/2014/main" id="{56A88CA5-AE30-4EEB-AB15-25842410F222}"/>
              </a:ext>
            </a:extLst>
          </p:cNvPr>
          <p:cNvPicPr>
            <a:picLocks xmlns:a="http://schemas.openxmlformats.org/drawingml/2006/main" noChangeAspect="1"/>
          </p:cNvPicPr>
          <p:nvPr/>
        </p:nvPicPr>
        <p:blipFill>
          <a:blip xmlns:r="http://schemas.openxmlformats.org/officeDocument/2006/relationships" xmlns:a="http://schemas.openxmlformats.org/drawingml/2006/main" r:embed="R3681ea87e4b74428"/>
          <a:stretch xmlns:a="http://schemas.openxmlformats.org/drawingml/2006/main"/>
        </p:blipFill>
        <p:spPr>
          <a:xfrm xmlns:a="http://schemas.openxmlformats.org/drawingml/2006/main">
            <a:off x="7349490" y="7879080"/>
            <a:ext cx="670560" cy="335280"/>
          </a:xfrm>
          <a:prstGeom xmlns:a="http://schemas.openxmlformats.org/drawingml/2006/main" prst="rect">
            <a:avLst/>
          </a:prstGeom>
        </p:spPr>
      </p:pic>
      <p:pic>
        <p:nvPicPr>
          <p:cNvPr id="80" name="">
            <a:extLst xmlns:a="http://schemas.openxmlformats.org/drawingml/2006/main">
              <a:ext uri="{FF2B5EF4-FFF2-40B4-BE49-F238E27FC236}">
                <a16:creationId xmlns:a16="http://schemas.microsoft.com/office/drawing/2014/main" id="{910F7819-56EB-4676-A6AB-8839D6619961}"/>
              </a:ext>
            </a:extLst>
          </p:cNvPr>
          <p:cNvPicPr>
            <a:picLocks xmlns:a="http://schemas.openxmlformats.org/drawingml/2006/main" noChangeAspect="1"/>
          </p:cNvPicPr>
          <p:nvPr/>
        </p:nvPicPr>
        <p:blipFill>
          <a:blip xmlns:r="http://schemas.openxmlformats.org/officeDocument/2006/relationships" xmlns:a="http://schemas.openxmlformats.org/drawingml/2006/main" r:embed="R96c6a63007ca4388">
            <a:extLst>
              <a:ext uri="{96DAC541-7B7A-43D3-8B79-37D633B846F1}">
                <asvg:svgBlip xmlns:asvg="http://schemas.microsoft.com/office/drawing/2016/SVG/main" r:embed="Rbb17e3195f984837"/>
              </a:ext>
            </a:extLst>
          </a:blip>
          <a:stretch xmlns:a="http://schemas.openxmlformats.org/drawingml/2006/main"/>
        </p:blipFill>
        <p:spPr>
          <a:xfrm xmlns:a="http://schemas.openxmlformats.org/drawingml/2006/main">
            <a:off x="8763000" y="7879080"/>
            <a:ext cx="800100" cy="335280"/>
          </a:xfrm>
          <a:prstGeom xmlns:a="http://schemas.openxmlformats.org/drawingml/2006/main" prst="rect">
            <a:avLst/>
          </a:prstGeom>
        </p:spPr>
      </p:pic>
      <p:sp>
        <p:nvSpPr>
          <p:cNvPr id="81" name="CHINA / HK LISTINGS">
            <a:extLst xmlns:a="http://schemas.openxmlformats.org/drawingml/2006/main">
              <a:ext uri="{FF2B5EF4-FFF2-40B4-BE49-F238E27FC236}">
                <a16:creationId xmlns:a16="http://schemas.microsoft.com/office/drawing/2014/main" id="{E65FB1D6-89F1-4384-8AAA-0F9053790FC7}"/>
              </a:ext>
            </a:extLst>
          </p:cNvPr>
          <p:cNvSpPr>
            <a:spLocks xmlns:a="http://schemas.openxmlformats.org/drawingml/2006/main" noGrp="1"/>
          </p:cNvSpPr>
          <p:nvPr/>
        </p:nvSpPr>
        <p:spPr>
          <a:xfrm xmlns:a="http://schemas.openxmlformats.org/drawingml/2006/main">
            <a:off x="7139940" y="8290560"/>
            <a:ext cx="153162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82" name="US LISTINGS / PARENTS">
            <a:extLst xmlns:a="http://schemas.openxmlformats.org/drawingml/2006/main">
              <a:ext uri="{FF2B5EF4-FFF2-40B4-BE49-F238E27FC236}">
                <a16:creationId xmlns:a16="http://schemas.microsoft.com/office/drawing/2014/main" id="{16E33716-9CC1-4F7C-A4F6-5042901E0407}"/>
              </a:ext>
            </a:extLst>
          </p:cNvPr>
          <p:cNvSpPr>
            <a:spLocks xmlns:a="http://schemas.openxmlformats.org/drawingml/2006/main" noGrp="1"/>
          </p:cNvSpPr>
          <p:nvPr/>
        </p:nvSpPr>
        <p:spPr>
          <a:xfrm xmlns:a="http://schemas.openxmlformats.org/drawingml/2006/main">
            <a:off x="8778240" y="8290560"/>
            <a:ext cx="132588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83" name="JET Biofil · 688026.SH">
            <a:extLst xmlns:a="http://schemas.openxmlformats.org/drawingml/2006/main">
              <a:ext uri="{FF2B5EF4-FFF2-40B4-BE49-F238E27FC236}">
                <a16:creationId xmlns:a16="http://schemas.microsoft.com/office/drawing/2014/main" id="{808886CB-E744-42C0-B836-116D9CEFB440}"/>
              </a:ext>
            </a:extLst>
          </p:cNvPr>
          <p:cNvSpPr>
            <a:spLocks xmlns:a="http://schemas.openxmlformats.org/drawingml/2006/main" noGrp="1"/>
          </p:cNvSpPr>
          <p:nvPr/>
        </p:nvSpPr>
        <p:spPr>
          <a:xfrm xmlns:a="http://schemas.openxmlformats.org/drawingml/2006/main">
            <a:off x="7139940" y="8511540"/>
            <a:ext cx="158496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defRPr sz="1020" b="0">
                <a:solidFill>
                  <a:srgbClr val="00355F"/>
                </a:solidFill>
                <a:latin typeface="Arial"/>
                <a:ea typeface="Arial"/>
                <a:cs typeface="Arial"/>
              </a:defRPr>
            </a:pPr>
            <a:r>
              <a:rPr sz="1020" b="0">
                <a:solidFill>
                  <a:srgbClr val="00355F"/>
                </a:solidFill>
                <a:latin typeface="Arial"/>
                <a:ea typeface="Arial"/>
                <a:cs typeface="Arial"/>
              </a:rPr>
              <a:t>JET Biofil · 688026.SH</a:t>
            </a:r>
          </a:p>
          <a:p xmlns:a="http://schemas.openxmlformats.org/drawingml/2006/main">
            <a:pPr algn="l">
              <a:defRPr sz="1020" b="0">
                <a:solidFill>
                  <a:srgbClr val="00355F"/>
                </a:solidFill>
                <a:latin typeface="Arial"/>
                <a:ea typeface="Arial"/>
                <a:cs typeface="Arial"/>
              </a:defRPr>
            </a:pPr>
            <a:r>
              <a:rPr sz="1020" b="0">
                <a:solidFill>
                  <a:srgbClr val="00355F"/>
                </a:solidFill>
                <a:latin typeface="Arial"/>
                <a:ea typeface="Arial"/>
                <a:cs typeface="Arial"/>
              </a:rPr>
              <a:t>Changhong · 300151.SZ</a:t>
            </a:r>
          </a:p>
        </p:txBody>
      </p:sp>
      <p:sp>
        <p:nvSpPr>
          <p:cNvPr id="84" name="Corning · GLW">
            <a:extLst xmlns:a="http://schemas.openxmlformats.org/drawingml/2006/main">
              <a:ext uri="{FF2B5EF4-FFF2-40B4-BE49-F238E27FC236}">
                <a16:creationId xmlns:a16="http://schemas.microsoft.com/office/drawing/2014/main" id="{EB87D236-BE12-4148-A461-060487522C36}"/>
              </a:ext>
            </a:extLst>
          </p:cNvPr>
          <p:cNvSpPr>
            <a:spLocks xmlns:a="http://schemas.openxmlformats.org/drawingml/2006/main" noGrp="1"/>
          </p:cNvSpPr>
          <p:nvPr/>
        </p:nvSpPr>
        <p:spPr>
          <a:xfrm xmlns:a="http://schemas.openxmlformats.org/drawingml/2006/main">
            <a:off x="8778240" y="8511540"/>
            <a:ext cx="132588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defRPr sz="972" b="0">
                <a:solidFill>
                  <a:srgbClr val="00355F"/>
                </a:solidFill>
                <a:latin typeface="Arial"/>
                <a:ea typeface="Arial"/>
                <a:cs typeface="Arial"/>
              </a:defRPr>
            </a:pPr>
            <a:r>
              <a:rPr sz="972" b="0">
                <a:solidFill>
                  <a:srgbClr val="00355F"/>
                </a:solidFill>
                <a:latin typeface="Arial"/>
                <a:ea typeface="Arial"/>
                <a:cs typeface="Arial"/>
              </a:rPr>
              <a:t>Corning · GLW</a:t>
            </a:r>
          </a:p>
          <a:p xmlns:a="http://schemas.openxmlformats.org/drawingml/2006/main">
            <a:pPr algn="l">
              <a:defRPr sz="972" b="0">
                <a:solidFill>
                  <a:srgbClr val="00355F"/>
                </a:solidFill>
                <a:latin typeface="Arial"/>
                <a:ea typeface="Arial"/>
                <a:cs typeface="Arial"/>
              </a:defRPr>
            </a:pPr>
            <a:r>
              <a:rPr sz="972" b="0">
                <a:solidFill>
                  <a:srgbClr val="00355F"/>
                </a:solidFill>
                <a:latin typeface="Arial"/>
                <a:ea typeface="Arial"/>
                <a:cs typeface="Arial"/>
              </a:rPr>
              <a:t>BD · BDX</a:t>
            </a:r>
          </a:p>
        </p:txBody>
      </p:sp>
      <p:sp>
        <p:nvSpPr>
          <p:cNvPr id="85" name="">
            <a:extLst xmlns:a="http://schemas.openxmlformats.org/drawingml/2006/main">
              <a:ext uri="{FF2B5EF4-FFF2-40B4-BE49-F238E27FC236}">
                <a16:creationId xmlns:a16="http://schemas.microsoft.com/office/drawing/2014/main" id="{D748637A-EF1F-496D-8536-422FEAC63637}"/>
              </a:ext>
            </a:extLst>
          </p:cNvPr>
          <p:cNvSpPr>
            <a:spLocks xmlns:a="http://schemas.openxmlformats.org/drawingml/2006/main" noGrp="1"/>
          </p:cNvSpPr>
          <p:nvPr/>
        </p:nvSpPr>
        <p:spPr>
          <a:xfrm xmlns:a="http://schemas.openxmlformats.org/drawingml/2006/main">
            <a:off x="10515600" y="6019800"/>
            <a:ext cx="3238500" cy="2994660"/>
          </a:xfrm>
          <a:prstGeom xmlns:a="http://schemas.openxmlformats.org/drawingml/2006/main" prst="roundRect">
            <a:avLst>
              <a:gd name="adj" fmla="val 2545"/>
            </a:avLst>
          </a:prstGeom>
          <a:solidFill xmlns:a="http://schemas.openxmlformats.org/drawingml/2006/main">
            <a:srgbClr val="FFFFFF"/>
          </a:solidFill>
          <a:ln xmlns:a="http://schemas.openxmlformats.org/drawingml/2006/main" w="7620">
            <a:solidFill>
              <a:srgbClr val="A5A5A5"/>
            </a:solidFill>
          </a:ln>
        </p:spPr>
      </p:sp>
      <p:pic>
        <p:nvPicPr>
          <p:cNvPr id="86" name="">
            <a:extLst xmlns:a="http://schemas.openxmlformats.org/drawingml/2006/main">
              <a:ext uri="{FF2B5EF4-FFF2-40B4-BE49-F238E27FC236}">
                <a16:creationId xmlns:a16="http://schemas.microsoft.com/office/drawing/2014/main" id="{837369B9-E661-41C2-9530-7A18A5DC16B4}"/>
              </a:ext>
            </a:extLst>
          </p:cNvPr>
          <p:cNvPicPr>
            <a:picLocks xmlns:a="http://schemas.openxmlformats.org/drawingml/2006/main" noChangeAspect="1"/>
          </p:cNvPicPr>
          <p:nvPr/>
        </p:nvPicPr>
        <p:blipFill>
          <a:blip xmlns:r="http://schemas.openxmlformats.org/officeDocument/2006/relationships" xmlns:a="http://schemas.openxmlformats.org/drawingml/2006/main" r:embed="R58ca6951c2e54605">
            <a:extLst>
              <a:ext uri="{96DAC541-7B7A-43D3-8B79-37D633B846F1}">
                <asvg:svgBlip xmlns:asvg="http://schemas.microsoft.com/office/drawing/2016/SVG/main" r:embed="Re807d33377274488"/>
              </a:ext>
            </a:extLst>
          </a:blip>
          <a:stretch xmlns:a="http://schemas.openxmlformats.org/drawingml/2006/main"/>
        </p:blipFill>
        <p:spPr>
          <a:xfrm xmlns:a="http://schemas.openxmlformats.org/drawingml/2006/main">
            <a:off x="10652760" y="6164580"/>
            <a:ext cx="289560" cy="289560"/>
          </a:xfrm>
          <a:prstGeom xmlns:a="http://schemas.openxmlformats.org/drawingml/2006/main" prst="rect">
            <a:avLst/>
          </a:prstGeom>
        </p:spPr>
      </p:pic>
      <p:sp>
        <p:nvSpPr>
          <p:cNvPr id="87" name="Measurement &amp; analytics">
            <a:extLst xmlns:a="http://schemas.openxmlformats.org/drawingml/2006/main">
              <a:ext uri="{FF2B5EF4-FFF2-40B4-BE49-F238E27FC236}">
                <a16:creationId xmlns:a16="http://schemas.microsoft.com/office/drawing/2014/main" id="{87EBB5E1-C950-4226-B82D-9DFD6990C758}"/>
              </a:ext>
            </a:extLst>
          </p:cNvPr>
          <p:cNvSpPr>
            <a:spLocks xmlns:a="http://schemas.openxmlformats.org/drawingml/2006/main" noGrp="1"/>
          </p:cNvSpPr>
          <p:nvPr/>
        </p:nvSpPr>
        <p:spPr>
          <a:xfrm xmlns:a="http://schemas.openxmlformats.org/drawingml/2006/main">
            <a:off x="11079480" y="6195060"/>
            <a:ext cx="254508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defRPr sz="1560" b="1">
                <a:solidFill>
                  <a:srgbClr val="00355F"/>
                </a:solidFill>
                <a:latin typeface="Arial"/>
                <a:ea typeface="Arial"/>
                <a:cs typeface="Arial"/>
              </a:defRPr>
            </a:pPr>
            <a:r>
              <a:rPr sz="1560" b="1">
                <a:solidFill>
                  <a:srgbClr val="00355F"/>
                </a:solidFill>
                <a:latin typeface="Arial"/>
                <a:ea typeface="Arial"/>
                <a:cs typeface="Arial"/>
              </a:rPr>
              <a:t>Measurement &amp; analytics</a:t>
            </a:r>
          </a:p>
        </p:txBody>
      </p:sp>
      <p:sp>
        <p:nvSpPr>
          <p:cNvPr id="88" name="Sequencing, LC / LC-MS, flow">
            <a:extLst xmlns:a="http://schemas.openxmlformats.org/drawingml/2006/main">
              <a:ext uri="{FF2B5EF4-FFF2-40B4-BE49-F238E27FC236}">
                <a16:creationId xmlns:a16="http://schemas.microsoft.com/office/drawing/2014/main" id="{49826398-8AFF-4F53-992C-CCC77E74926A}"/>
              </a:ext>
            </a:extLst>
          </p:cNvPr>
          <p:cNvSpPr>
            <a:spLocks xmlns:a="http://schemas.openxmlformats.org/drawingml/2006/main" noGrp="1"/>
          </p:cNvSpPr>
          <p:nvPr/>
        </p:nvSpPr>
        <p:spPr>
          <a:xfrm xmlns:a="http://schemas.openxmlformats.org/drawingml/2006/main">
            <a:off x="10668000" y="6568440"/>
            <a:ext cx="2933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defRPr sz="1260" b="0">
                <a:solidFill>
                  <a:srgbClr val="00355F"/>
                </a:solidFill>
                <a:latin typeface="Arial"/>
                <a:ea typeface="Arial"/>
                <a:cs typeface="Arial"/>
              </a:defRPr>
            </a:pPr>
            <a:r>
              <a:rPr sz="1260" b="0">
                <a:solidFill>
                  <a:srgbClr val="00355F"/>
                </a:solidFill>
                <a:latin typeface="Arial"/>
                <a:ea typeface="Arial"/>
                <a:cs typeface="Arial"/>
              </a:rPr>
              <a:t>Sequencing, LC / LC-MS, flow</a:t>
            </a:r>
          </a:p>
          <a:p xmlns:a="http://schemas.openxmlformats.org/drawingml/2006/main">
            <a:pPr algn="l">
              <a:defRPr sz="1260" b="0">
                <a:solidFill>
                  <a:srgbClr val="00355F"/>
                </a:solidFill>
                <a:latin typeface="Arial"/>
                <a:ea typeface="Arial"/>
                <a:cs typeface="Arial"/>
              </a:defRPr>
            </a:pPr>
            <a:r>
              <a:rPr sz="1260" b="0">
                <a:solidFill>
                  <a:srgbClr val="00355F"/>
                </a:solidFill>
                <a:latin typeface="Arial"/>
                <a:ea typeface="Arial"/>
                <a:cs typeface="Arial"/>
              </a:rPr>
              <a:t>Imaging and quality control</a:t>
            </a:r>
          </a:p>
        </p:txBody>
      </p:sp>
      <p:sp>
        <p:nvSpPr>
          <p:cNvPr id="89" name="RMB 4.3bn">
            <a:extLst xmlns:a="http://schemas.openxmlformats.org/drawingml/2006/main">
              <a:ext uri="{FF2B5EF4-FFF2-40B4-BE49-F238E27FC236}">
                <a16:creationId xmlns:a16="http://schemas.microsoft.com/office/drawing/2014/main" id="{908B88DB-F5B5-4EFD-9E0E-F0278319DE2F}"/>
              </a:ext>
            </a:extLst>
          </p:cNvPr>
          <p:cNvSpPr>
            <a:spLocks xmlns:a="http://schemas.openxmlformats.org/drawingml/2006/main" noGrp="1"/>
          </p:cNvSpPr>
          <p:nvPr/>
        </p:nvSpPr>
        <p:spPr>
          <a:xfrm xmlns:a="http://schemas.openxmlformats.org/drawingml/2006/main">
            <a:off x="10668000" y="7048500"/>
            <a:ext cx="29337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defRPr sz="2220" b="1">
                <a:solidFill>
                  <a:srgbClr val="00355F"/>
                </a:solidFill>
                <a:latin typeface="Arial"/>
                <a:ea typeface="Arial"/>
                <a:cs typeface="Arial"/>
              </a:defRPr>
            </a:pPr>
            <a:r>
              <a:rPr sz="2220" b="1">
                <a:solidFill>
                  <a:srgbClr val="00355F"/>
                </a:solidFill>
                <a:latin typeface="Arial"/>
                <a:ea typeface="Arial"/>
                <a:cs typeface="Arial"/>
              </a:rPr>
              <a:t>RMB 4.3bn</a:t>
            </a:r>
          </a:p>
        </p:txBody>
      </p:sp>
      <p:sp>
        <p:nvSpPr>
          <p:cNvPr id="90" name="China • 2024 • sequencing tools [5]">
            <a:extLst xmlns:a="http://schemas.openxmlformats.org/drawingml/2006/main">
              <a:ext uri="{FF2B5EF4-FFF2-40B4-BE49-F238E27FC236}">
                <a16:creationId xmlns:a16="http://schemas.microsoft.com/office/drawing/2014/main" id="{6E7B4DC5-2E78-48AF-8B75-184121071ADA}"/>
              </a:ext>
            </a:extLst>
          </p:cNvPr>
          <p:cNvSpPr>
            <a:spLocks xmlns:a="http://schemas.openxmlformats.org/drawingml/2006/main" noGrp="1"/>
          </p:cNvSpPr>
          <p:nvPr/>
        </p:nvSpPr>
        <p:spPr>
          <a:xfrm xmlns:a="http://schemas.openxmlformats.org/drawingml/2006/main">
            <a:off x="10668000" y="7429500"/>
            <a:ext cx="293370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defRPr sz="1050" b="0">
                <a:solidFill>
                  <a:srgbClr val="00355F"/>
                </a:solidFill>
                <a:latin typeface="Arial"/>
                <a:ea typeface="Arial"/>
                <a:cs typeface="Arial"/>
              </a:defRPr>
            </a:pPr>
            <a:r>
              <a:rPr sz="1050" b="0">
                <a:solidFill>
                  <a:srgbClr val="00355F"/>
                </a:solidFill>
                <a:latin typeface="Arial"/>
                <a:ea typeface="Arial"/>
                <a:cs typeface="Arial"/>
              </a:rPr>
              <a:t>China • 2024 • sequencing tools [5]</a:t>
            </a:r>
          </a:p>
        </p:txBody>
      </p:sp>
      <p:sp>
        <p:nvSpPr>
          <p:cNvPr id="91" name="Sequencers + consumables; all uses">
            <a:extLst xmlns:a="http://schemas.openxmlformats.org/drawingml/2006/main">
              <a:ext uri="{FF2B5EF4-FFF2-40B4-BE49-F238E27FC236}">
                <a16:creationId xmlns:a16="http://schemas.microsoft.com/office/drawing/2014/main" id="{2C34A8C2-4E77-4783-9B57-8AE1F76AFB68}"/>
              </a:ext>
            </a:extLst>
          </p:cNvPr>
          <p:cNvSpPr>
            <a:spLocks xmlns:a="http://schemas.openxmlformats.org/drawingml/2006/main" noGrp="1"/>
          </p:cNvSpPr>
          <p:nvPr/>
        </p:nvSpPr>
        <p:spPr>
          <a:xfrm xmlns:a="http://schemas.openxmlformats.org/drawingml/2006/main">
            <a:off x="10668000" y="7650480"/>
            <a:ext cx="29337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defRPr sz="990" b="0">
                <a:solidFill>
                  <a:srgbClr val="00355F"/>
                </a:solidFill>
                <a:latin typeface="Arial"/>
                <a:ea typeface="Arial"/>
                <a:cs typeface="Arial"/>
              </a:defRPr>
            </a:pPr>
            <a:r>
              <a:rPr sz="990" b="0">
                <a:solidFill>
                  <a:srgbClr val="00355F"/>
                </a:solidFill>
                <a:latin typeface="Arial"/>
                <a:ea typeface="Arial"/>
                <a:cs typeface="Arial"/>
              </a:rPr>
              <a:t>Sequencers + consumables; all uses</a:t>
            </a:r>
          </a:p>
        </p:txBody>
      </p:sp>
      <p:pic>
        <p:nvPicPr>
          <p:cNvPr id="92" name="">
            <a:extLst xmlns:a="http://schemas.openxmlformats.org/drawingml/2006/main">
              <a:ext uri="{FF2B5EF4-FFF2-40B4-BE49-F238E27FC236}">
                <a16:creationId xmlns:a16="http://schemas.microsoft.com/office/drawing/2014/main" id="{E80EF37E-C187-437E-9802-5C6D2148B65E}"/>
              </a:ext>
            </a:extLst>
          </p:cNvPr>
          <p:cNvPicPr>
            <a:picLocks xmlns:a="http://schemas.openxmlformats.org/drawingml/2006/main" noChangeAspect="1"/>
          </p:cNvPicPr>
          <p:nvPr/>
        </p:nvPicPr>
        <p:blipFill>
          <a:blip xmlns:r="http://schemas.openxmlformats.org/officeDocument/2006/relationships" xmlns:a="http://schemas.openxmlformats.org/drawingml/2006/main" r:embed="R9cb2a0d0c3dd4ecd"/>
          <a:stretch xmlns:a="http://schemas.openxmlformats.org/drawingml/2006/main"/>
        </p:blipFill>
        <p:spPr>
          <a:xfrm xmlns:a="http://schemas.openxmlformats.org/drawingml/2006/main">
            <a:off x="10668000" y="7936122"/>
            <a:ext cx="769620" cy="244055"/>
          </a:xfrm>
          <a:prstGeom xmlns:a="http://schemas.openxmlformats.org/drawingml/2006/main" prst="rect">
            <a:avLst/>
          </a:prstGeom>
        </p:spPr>
      </p:pic>
      <p:sp>
        <p:nvSpPr>
          <p:cNvPr id="93" name="BD flow → WAT†">
            <a:extLst xmlns:a="http://schemas.openxmlformats.org/drawingml/2006/main">
              <a:ext uri="{FF2B5EF4-FFF2-40B4-BE49-F238E27FC236}">
                <a16:creationId xmlns:a16="http://schemas.microsoft.com/office/drawing/2014/main" id="{642F11BC-1605-4D62-9E5A-5BB2B468E739}"/>
              </a:ext>
            </a:extLst>
          </p:cNvPr>
          <p:cNvSpPr>
            <a:spLocks xmlns:a="http://schemas.openxmlformats.org/drawingml/2006/main" noGrp="1"/>
          </p:cNvSpPr>
          <p:nvPr/>
        </p:nvSpPr>
        <p:spPr>
          <a:xfrm xmlns:a="http://schemas.openxmlformats.org/drawingml/2006/main">
            <a:off x="11765280" y="7985760"/>
            <a:ext cx="1790700"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0" b="1">
                <a:solidFill>
                  <a:srgbClr val="00355F"/>
                </a:solidFill>
                <a:latin typeface="Arial"/>
                <a:ea typeface="Arial"/>
                <a:cs typeface="Arial"/>
              </a:defRPr>
            </a:defPPr>
          </a:lstStyle>
          <a:p xmlns:a="http://schemas.openxmlformats.org/drawingml/2006/main">
            <a:pPr algn="l">
              <a:defRPr sz="1380" b="1">
                <a:solidFill>
                  <a:srgbClr val="00355F"/>
                </a:solidFill>
                <a:latin typeface="Arial"/>
                <a:ea typeface="Arial"/>
                <a:cs typeface="Arial"/>
              </a:defRPr>
            </a:pPr>
            <a:r>
              <a:rPr sz="1380" b="1">
                <a:solidFill>
                  <a:srgbClr val="00355F"/>
                </a:solidFill>
                <a:latin typeface="Arial"/>
                <a:ea typeface="Arial"/>
                <a:cs typeface="Arial"/>
              </a:rPr>
              <a:t>BD flow → WAT†</a:t>
            </a:r>
          </a:p>
        </p:txBody>
      </p:sp>
      <p:sp>
        <p:nvSpPr>
          <p:cNvPr id="94" name="CHINA / HK LISTINGS">
            <a:extLst xmlns:a="http://schemas.openxmlformats.org/drawingml/2006/main">
              <a:ext uri="{FF2B5EF4-FFF2-40B4-BE49-F238E27FC236}">
                <a16:creationId xmlns:a16="http://schemas.microsoft.com/office/drawing/2014/main" id="{0EBC2D6D-ACB8-450E-A626-D65352DC2C9C}"/>
              </a:ext>
            </a:extLst>
          </p:cNvPr>
          <p:cNvSpPr>
            <a:spLocks xmlns:a="http://schemas.openxmlformats.org/drawingml/2006/main" noGrp="1"/>
          </p:cNvSpPr>
          <p:nvPr/>
        </p:nvSpPr>
        <p:spPr>
          <a:xfrm xmlns:a="http://schemas.openxmlformats.org/drawingml/2006/main">
            <a:off x="10668000" y="8290560"/>
            <a:ext cx="153162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95" name="US LISTINGS / PARENTS">
            <a:extLst xmlns:a="http://schemas.openxmlformats.org/drawingml/2006/main">
              <a:ext uri="{FF2B5EF4-FFF2-40B4-BE49-F238E27FC236}">
                <a16:creationId xmlns:a16="http://schemas.microsoft.com/office/drawing/2014/main" id="{93B5A8C2-ED6A-43E6-AEFD-53B4420E2337}"/>
              </a:ext>
            </a:extLst>
          </p:cNvPr>
          <p:cNvSpPr>
            <a:spLocks xmlns:a="http://schemas.openxmlformats.org/drawingml/2006/main" noGrp="1"/>
          </p:cNvSpPr>
          <p:nvPr/>
        </p:nvSpPr>
        <p:spPr>
          <a:xfrm xmlns:a="http://schemas.openxmlformats.org/drawingml/2006/main">
            <a:off x="12306300" y="8290560"/>
            <a:ext cx="132588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96" name="MGI · 688114.SH">
            <a:extLst xmlns:a="http://schemas.openxmlformats.org/drawingml/2006/main">
              <a:ext uri="{FF2B5EF4-FFF2-40B4-BE49-F238E27FC236}">
                <a16:creationId xmlns:a16="http://schemas.microsoft.com/office/drawing/2014/main" id="{677C6441-2146-48DD-AE57-002F602E91D3}"/>
              </a:ext>
            </a:extLst>
          </p:cNvPr>
          <p:cNvSpPr>
            <a:spLocks xmlns:a="http://schemas.openxmlformats.org/drawingml/2006/main" noGrp="1"/>
          </p:cNvSpPr>
          <p:nvPr/>
        </p:nvSpPr>
        <p:spPr>
          <a:xfrm xmlns:a="http://schemas.openxmlformats.org/drawingml/2006/main">
            <a:off x="10668000" y="8511540"/>
            <a:ext cx="158496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defRPr sz="1020" b="0">
                <a:solidFill>
                  <a:srgbClr val="00355F"/>
                </a:solidFill>
                <a:latin typeface="Arial"/>
                <a:ea typeface="Arial"/>
                <a:cs typeface="Arial"/>
              </a:defRPr>
            </a:pPr>
            <a:r>
              <a:rPr sz="1020" b="0">
                <a:solidFill>
                  <a:srgbClr val="00355F"/>
                </a:solidFill>
                <a:latin typeface="Arial"/>
                <a:ea typeface="Arial"/>
                <a:cs typeface="Arial"/>
              </a:rPr>
              <a:t>MGI · 688114.SH</a:t>
            </a:r>
          </a:p>
          <a:p xmlns:a="http://schemas.openxmlformats.org/drawingml/2006/main">
            <a:pPr algn="l">
              <a:defRPr sz="1020" b="0">
                <a:solidFill>
                  <a:srgbClr val="00355F"/>
                </a:solidFill>
                <a:latin typeface="Arial"/>
                <a:ea typeface="Arial"/>
                <a:cs typeface="Arial"/>
              </a:defRPr>
            </a:pPr>
            <a:r>
              <a:rPr sz="1020" b="0">
                <a:solidFill>
                  <a:srgbClr val="00355F"/>
                </a:solidFill>
                <a:latin typeface="Arial"/>
                <a:ea typeface="Arial"/>
                <a:cs typeface="Arial"/>
              </a:rPr>
              <a:t>NanoMicro · 688690.SH</a:t>
            </a:r>
          </a:p>
        </p:txBody>
      </p:sp>
      <p:sp>
        <p:nvSpPr>
          <p:cNvPr id="97" name="Illumina · ILMN">
            <a:extLst xmlns:a="http://schemas.openxmlformats.org/drawingml/2006/main">
              <a:ext uri="{FF2B5EF4-FFF2-40B4-BE49-F238E27FC236}">
                <a16:creationId xmlns:a16="http://schemas.microsoft.com/office/drawing/2014/main" id="{D9B92017-52B0-4A89-8263-C8B2F54026B8}"/>
              </a:ext>
            </a:extLst>
          </p:cNvPr>
          <p:cNvSpPr>
            <a:spLocks xmlns:a="http://schemas.openxmlformats.org/drawingml/2006/main" noGrp="1"/>
          </p:cNvSpPr>
          <p:nvPr/>
        </p:nvSpPr>
        <p:spPr>
          <a:xfrm xmlns:a="http://schemas.openxmlformats.org/drawingml/2006/main">
            <a:off x="12306300" y="8511540"/>
            <a:ext cx="132588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defRPr sz="972" b="0">
                <a:solidFill>
                  <a:srgbClr val="00355F"/>
                </a:solidFill>
                <a:latin typeface="Arial"/>
                <a:ea typeface="Arial"/>
                <a:cs typeface="Arial"/>
              </a:defRPr>
            </a:pPr>
            <a:r>
              <a:rPr sz="972" b="0">
                <a:solidFill>
                  <a:srgbClr val="00355F"/>
                </a:solidFill>
                <a:latin typeface="Arial"/>
                <a:ea typeface="Arial"/>
                <a:cs typeface="Arial"/>
              </a:rPr>
              <a:t>Illumina · ILMN</a:t>
            </a:r>
          </a:p>
          <a:p xmlns:a="http://schemas.openxmlformats.org/drawingml/2006/main">
            <a:pPr algn="l">
              <a:defRPr sz="972" b="0">
                <a:solidFill>
                  <a:srgbClr val="00355F"/>
                </a:solidFill>
                <a:latin typeface="Arial"/>
                <a:ea typeface="Arial"/>
                <a:cs typeface="Arial"/>
              </a:defRPr>
            </a:pPr>
            <a:r>
              <a:rPr sz="972" b="0">
                <a:solidFill>
                  <a:srgbClr val="00355F"/>
                </a:solidFill>
                <a:latin typeface="Arial"/>
                <a:ea typeface="Arial"/>
                <a:cs typeface="Arial"/>
              </a:rPr>
              <a:t>Agilent · A</a:t>
            </a:r>
          </a:p>
          <a:p xmlns:a="http://schemas.openxmlformats.org/drawingml/2006/main">
            <a:pPr algn="l">
              <a:defRPr sz="972" b="0">
                <a:solidFill>
                  <a:srgbClr val="00355F"/>
                </a:solidFill>
                <a:latin typeface="Arial"/>
                <a:ea typeface="Arial"/>
                <a:cs typeface="Arial"/>
              </a:defRPr>
            </a:pPr>
            <a:r>
              <a:rPr sz="972" b="0">
                <a:solidFill>
                  <a:srgbClr val="00355F"/>
                </a:solidFill>
                <a:latin typeface="Arial"/>
                <a:ea typeface="Arial"/>
                <a:cs typeface="Arial"/>
              </a:rPr>
              <a:t>Waters · WAT†</a:t>
            </a:r>
          </a:p>
        </p:txBody>
      </p:sp>
      <p:sp>
        <p:nvSpPr>
          <p:cNvPr id="98" name="">
            <a:extLst xmlns:a="http://schemas.openxmlformats.org/drawingml/2006/main">
              <a:ext uri="{FF2B5EF4-FFF2-40B4-BE49-F238E27FC236}">
                <a16:creationId xmlns:a16="http://schemas.microsoft.com/office/drawing/2014/main" id="{B7565F19-47AB-456F-A7B5-21E78A9F11AA}"/>
              </a:ext>
            </a:extLst>
          </p:cNvPr>
          <p:cNvSpPr>
            <a:spLocks xmlns:a="http://schemas.openxmlformats.org/drawingml/2006/main" noGrp="1"/>
          </p:cNvSpPr>
          <p:nvPr/>
        </p:nvSpPr>
        <p:spPr>
          <a:xfrm xmlns:a="http://schemas.openxmlformats.org/drawingml/2006/main">
            <a:off x="14043660" y="6019800"/>
            <a:ext cx="3238500" cy="2994660"/>
          </a:xfrm>
          <a:prstGeom xmlns:a="http://schemas.openxmlformats.org/drawingml/2006/main" prst="roundRect">
            <a:avLst>
              <a:gd name="adj" fmla="val 2545"/>
            </a:avLst>
          </a:prstGeom>
          <a:solidFill xmlns:a="http://schemas.openxmlformats.org/drawingml/2006/main">
            <a:srgbClr val="FFFFFF"/>
          </a:solidFill>
          <a:ln xmlns:a="http://schemas.openxmlformats.org/drawingml/2006/main" w="15240">
            <a:solidFill>
              <a:srgbClr val="00355F"/>
            </a:solidFill>
          </a:ln>
        </p:spPr>
      </p:sp>
      <p:pic>
        <p:nvPicPr>
          <p:cNvPr id="99" name="">
            <a:extLst xmlns:a="http://schemas.openxmlformats.org/drawingml/2006/main">
              <a:ext uri="{FF2B5EF4-FFF2-40B4-BE49-F238E27FC236}">
                <a16:creationId xmlns:a16="http://schemas.microsoft.com/office/drawing/2014/main" id="{249A25CD-E785-42FB-9D06-B94660001FD0}"/>
              </a:ext>
            </a:extLst>
          </p:cNvPr>
          <p:cNvPicPr>
            <a:picLocks xmlns:a="http://schemas.openxmlformats.org/drawingml/2006/main" noChangeAspect="1"/>
          </p:cNvPicPr>
          <p:nvPr/>
        </p:nvPicPr>
        <p:blipFill>
          <a:blip xmlns:r="http://schemas.openxmlformats.org/officeDocument/2006/relationships" xmlns:a="http://schemas.openxmlformats.org/drawingml/2006/main" r:embed="Raf504cd660df44fb">
            <a:extLst>
              <a:ext uri="{96DAC541-7B7A-43D3-8B79-37D633B846F1}">
                <asvg:svgBlip xmlns:asvg="http://schemas.microsoft.com/office/drawing/2016/SVG/main" r:embed="R384ea239142d41c5"/>
              </a:ext>
            </a:extLst>
          </a:blip>
          <a:stretch xmlns:a="http://schemas.openxmlformats.org/drawingml/2006/main"/>
        </p:blipFill>
        <p:spPr>
          <a:xfrm xmlns:a="http://schemas.openxmlformats.org/drawingml/2006/main">
            <a:off x="14180820" y="6164580"/>
            <a:ext cx="289560" cy="289560"/>
          </a:xfrm>
          <a:prstGeom xmlns:a="http://schemas.openxmlformats.org/drawingml/2006/main" prst="rect">
            <a:avLst/>
          </a:prstGeom>
        </p:spPr>
      </p:pic>
      <p:sp>
        <p:nvSpPr>
          <p:cNvPr id="100" name="Purification &amp; scale-up">
            <a:extLst xmlns:a="http://schemas.openxmlformats.org/drawingml/2006/main">
              <a:ext uri="{FF2B5EF4-FFF2-40B4-BE49-F238E27FC236}">
                <a16:creationId xmlns:a16="http://schemas.microsoft.com/office/drawing/2014/main" id="{4226B4E5-A189-4AD5-8993-D32F7146E206}"/>
              </a:ext>
            </a:extLst>
          </p:cNvPr>
          <p:cNvSpPr>
            <a:spLocks xmlns:a="http://schemas.openxmlformats.org/drawingml/2006/main" noGrp="1"/>
          </p:cNvSpPr>
          <p:nvPr/>
        </p:nvSpPr>
        <p:spPr>
          <a:xfrm xmlns:a="http://schemas.openxmlformats.org/drawingml/2006/main">
            <a:off x="14607540" y="6195060"/>
            <a:ext cx="254508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defRPr sz="1560" b="1">
                <a:solidFill>
                  <a:srgbClr val="00355F"/>
                </a:solidFill>
                <a:latin typeface="Arial"/>
                <a:ea typeface="Arial"/>
                <a:cs typeface="Arial"/>
              </a:defRPr>
            </a:pPr>
            <a:r>
              <a:rPr sz="1560" b="1">
                <a:solidFill>
                  <a:srgbClr val="00355F"/>
                </a:solidFill>
                <a:latin typeface="Arial"/>
                <a:ea typeface="Arial"/>
                <a:cs typeface="Arial"/>
              </a:rPr>
              <a:t>Purification &amp; scale-up</a:t>
            </a:r>
          </a:p>
        </p:txBody>
      </p:sp>
      <p:sp>
        <p:nvSpPr>
          <p:cNvPr id="101" name="Analytical columns, process resins">
            <a:extLst xmlns:a="http://schemas.openxmlformats.org/drawingml/2006/main">
              <a:ext uri="{FF2B5EF4-FFF2-40B4-BE49-F238E27FC236}">
                <a16:creationId xmlns:a16="http://schemas.microsoft.com/office/drawing/2014/main" id="{CCAD1A37-650F-484F-92BF-7E3C444DFB4B}"/>
              </a:ext>
            </a:extLst>
          </p:cNvPr>
          <p:cNvSpPr>
            <a:spLocks xmlns:a="http://schemas.openxmlformats.org/drawingml/2006/main" noGrp="1"/>
          </p:cNvSpPr>
          <p:nvPr/>
        </p:nvSpPr>
        <p:spPr>
          <a:xfrm xmlns:a="http://schemas.openxmlformats.org/drawingml/2006/main">
            <a:off x="14196060" y="6568440"/>
            <a:ext cx="2933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defRPr sz="1260" b="0">
                <a:solidFill>
                  <a:srgbClr val="00355F"/>
                </a:solidFill>
                <a:latin typeface="Arial"/>
                <a:ea typeface="Arial"/>
                <a:cs typeface="Arial"/>
              </a:defRPr>
            </a:pPr>
            <a:r>
              <a:rPr sz="1260" b="0">
                <a:solidFill>
                  <a:srgbClr val="00355F"/>
                </a:solidFill>
                <a:latin typeface="Arial"/>
                <a:ea typeface="Arial"/>
                <a:cs typeface="Arial"/>
              </a:rPr>
              <a:t>Analytical columns, process resins</a:t>
            </a:r>
          </a:p>
          <a:p xmlns:a="http://schemas.openxmlformats.org/drawingml/2006/main">
            <a:pPr algn="l">
              <a:defRPr sz="1260" b="0">
                <a:solidFill>
                  <a:srgbClr val="00355F"/>
                </a:solidFill>
                <a:latin typeface="Arial"/>
                <a:ea typeface="Arial"/>
                <a:cs typeface="Arial"/>
              </a:defRPr>
            </a:pPr>
            <a:r>
              <a:rPr sz="1260" b="0">
                <a:solidFill>
                  <a:srgbClr val="00355F"/>
                </a:solidFill>
                <a:latin typeface="Arial"/>
                <a:ea typeface="Arial"/>
                <a:cs typeface="Arial"/>
              </a:rPr>
              <a:t>Filtration and single-use systems</a:t>
            </a:r>
          </a:p>
        </p:txBody>
      </p:sp>
      <p:sp>
        <p:nvSpPr>
          <p:cNvPr id="102" name="US$578.2m*">
            <a:extLst xmlns:a="http://schemas.openxmlformats.org/drawingml/2006/main">
              <a:ext uri="{FF2B5EF4-FFF2-40B4-BE49-F238E27FC236}">
                <a16:creationId xmlns:a16="http://schemas.microsoft.com/office/drawing/2014/main" id="{D74059DD-AFE8-4409-A97C-CB60064FFAC7}"/>
              </a:ext>
            </a:extLst>
          </p:cNvPr>
          <p:cNvSpPr>
            <a:spLocks xmlns:a="http://schemas.openxmlformats.org/drawingml/2006/main" noGrp="1"/>
          </p:cNvSpPr>
          <p:nvPr/>
        </p:nvSpPr>
        <p:spPr>
          <a:xfrm xmlns:a="http://schemas.openxmlformats.org/drawingml/2006/main">
            <a:off x="14196060" y="7048500"/>
            <a:ext cx="29337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defRPr sz="2220" b="1">
                <a:solidFill>
                  <a:srgbClr val="00355F"/>
                </a:solidFill>
                <a:latin typeface="Arial"/>
                <a:ea typeface="Arial"/>
                <a:cs typeface="Arial"/>
              </a:defRPr>
            </a:pPr>
            <a:r>
              <a:rPr sz="2220" b="1">
                <a:solidFill>
                  <a:srgbClr val="00355F"/>
                </a:solidFill>
                <a:latin typeface="Arial"/>
                <a:ea typeface="Arial"/>
                <a:cs typeface="Arial"/>
              </a:rPr>
              <a:t>US$578.2m*</a:t>
            </a:r>
          </a:p>
        </p:txBody>
      </p:sp>
      <p:sp>
        <p:nvSpPr>
          <p:cNvPr id="103" name="China • 2024 • bioprocess resins [3]">
            <a:extLst xmlns:a="http://schemas.openxmlformats.org/drawingml/2006/main">
              <a:ext uri="{FF2B5EF4-FFF2-40B4-BE49-F238E27FC236}">
                <a16:creationId xmlns:a16="http://schemas.microsoft.com/office/drawing/2014/main" id="{0FD53FCA-C16B-40CD-872A-7A23874AC63E}"/>
              </a:ext>
            </a:extLst>
          </p:cNvPr>
          <p:cNvSpPr>
            <a:spLocks xmlns:a="http://schemas.openxmlformats.org/drawingml/2006/main" noGrp="1"/>
          </p:cNvSpPr>
          <p:nvPr/>
        </p:nvSpPr>
        <p:spPr>
          <a:xfrm xmlns:a="http://schemas.openxmlformats.org/drawingml/2006/main">
            <a:off x="14196060" y="7429500"/>
            <a:ext cx="2933700" cy="220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defRPr sz="1050" b="0">
                <a:solidFill>
                  <a:srgbClr val="00355F"/>
                </a:solidFill>
                <a:latin typeface="Arial"/>
                <a:ea typeface="Arial"/>
                <a:cs typeface="Arial"/>
              </a:defRPr>
            </a:pPr>
            <a:r>
              <a:rPr sz="1050" b="0">
                <a:solidFill>
                  <a:srgbClr val="00355F"/>
                </a:solidFill>
                <a:latin typeface="Arial"/>
                <a:ea typeface="Arial"/>
                <a:cs typeface="Arial"/>
              </a:rPr>
              <a:t>China • 2024 • bioprocess resins [3]</a:t>
            </a:r>
          </a:p>
        </p:txBody>
      </p:sp>
      <p:sp>
        <p:nvSpPr>
          <p:cNvPr id="104" name="Manufacturing demand has a longer lag">
            <a:extLst xmlns:a="http://schemas.openxmlformats.org/drawingml/2006/main">
              <a:ext uri="{FF2B5EF4-FFF2-40B4-BE49-F238E27FC236}">
                <a16:creationId xmlns:a16="http://schemas.microsoft.com/office/drawing/2014/main" id="{671898DE-2FFD-430D-A321-5F14627BB4FB}"/>
              </a:ext>
            </a:extLst>
          </p:cNvPr>
          <p:cNvSpPr>
            <a:spLocks xmlns:a="http://schemas.openxmlformats.org/drawingml/2006/main" noGrp="1"/>
          </p:cNvSpPr>
          <p:nvPr/>
        </p:nvSpPr>
        <p:spPr>
          <a:xfrm xmlns:a="http://schemas.openxmlformats.org/drawingml/2006/main">
            <a:off x="14196060" y="7650480"/>
            <a:ext cx="293370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defRPr sz="990" b="0">
                <a:solidFill>
                  <a:srgbClr val="00355F"/>
                </a:solidFill>
                <a:latin typeface="Arial"/>
                <a:ea typeface="Arial"/>
                <a:cs typeface="Arial"/>
              </a:defRPr>
            </a:pPr>
            <a:r>
              <a:rPr sz="990" b="0">
                <a:solidFill>
                  <a:srgbClr val="00355F"/>
                </a:solidFill>
                <a:latin typeface="Arial"/>
                <a:ea typeface="Arial"/>
                <a:cs typeface="Arial"/>
              </a:rPr>
              <a:t>Manufacturing demand has a longer lag</a:t>
            </a:r>
          </a:p>
        </p:txBody>
      </p:sp>
      <p:pic>
        <p:nvPicPr>
          <p:cNvPr id="105" name="">
            <a:extLst xmlns:a="http://schemas.openxmlformats.org/drawingml/2006/main">
              <a:ext uri="{FF2B5EF4-FFF2-40B4-BE49-F238E27FC236}">
                <a16:creationId xmlns:a16="http://schemas.microsoft.com/office/drawing/2014/main" id="{C91465CE-7C64-47DF-8D73-44EE102B840C}"/>
              </a:ext>
            </a:extLst>
          </p:cNvPr>
          <p:cNvPicPr>
            <a:picLocks xmlns:a="http://schemas.openxmlformats.org/drawingml/2006/main" noChangeAspect="1"/>
          </p:cNvPicPr>
          <p:nvPr/>
        </p:nvPicPr>
        <p:blipFill>
          <a:blip xmlns:r="http://schemas.openxmlformats.org/officeDocument/2006/relationships" xmlns:a="http://schemas.openxmlformats.org/drawingml/2006/main" r:embed="Ra95deacf35fd4f65">
            <a:extLst>
              <a:ext uri="{96DAC541-7B7A-43D3-8B79-37D633B846F1}">
                <asvg:svgBlip xmlns:asvg="http://schemas.microsoft.com/office/drawing/2016/SVG/main" r:embed="Rd66935cc50f0489f"/>
              </a:ext>
            </a:extLst>
          </a:blip>
          <a:stretch xmlns:a="http://schemas.openxmlformats.org/drawingml/2006/main"/>
        </p:blipFill>
        <p:spPr>
          <a:xfrm xmlns:a="http://schemas.openxmlformats.org/drawingml/2006/main">
            <a:off x="14196060" y="7917180"/>
            <a:ext cx="281940" cy="281940"/>
          </a:xfrm>
          <a:prstGeom xmlns:a="http://schemas.openxmlformats.org/drawingml/2006/main" prst="rect">
            <a:avLst/>
          </a:prstGeom>
        </p:spPr>
      </p:pic>
      <p:sp>
        <p:nvSpPr>
          <p:cNvPr id="106" name="NanoMicro">
            <a:extLst xmlns:a="http://schemas.openxmlformats.org/drawingml/2006/main">
              <a:ext uri="{FF2B5EF4-FFF2-40B4-BE49-F238E27FC236}">
                <a16:creationId xmlns:a16="http://schemas.microsoft.com/office/drawing/2014/main" id="{3F578045-5FE2-43A9-9FCB-02BBB09ED7AD}"/>
              </a:ext>
            </a:extLst>
          </p:cNvPr>
          <p:cNvSpPr>
            <a:spLocks xmlns:a="http://schemas.openxmlformats.org/drawingml/2006/main" noGrp="1"/>
          </p:cNvSpPr>
          <p:nvPr/>
        </p:nvSpPr>
        <p:spPr>
          <a:xfrm xmlns:a="http://schemas.openxmlformats.org/drawingml/2006/main">
            <a:off x="14546580" y="7970520"/>
            <a:ext cx="120396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40" b="1">
                <a:solidFill>
                  <a:srgbClr val="00355F"/>
                </a:solidFill>
                <a:latin typeface="Arial"/>
                <a:ea typeface="Arial"/>
                <a:cs typeface="Arial"/>
              </a:defRPr>
            </a:defPPr>
          </a:lstStyle>
          <a:p xmlns:a="http://schemas.openxmlformats.org/drawingml/2006/main">
            <a:pPr algn="l">
              <a:defRPr sz="1440" b="1">
                <a:solidFill>
                  <a:srgbClr val="00355F"/>
                </a:solidFill>
                <a:latin typeface="Arial"/>
                <a:ea typeface="Arial"/>
                <a:cs typeface="Arial"/>
              </a:defRPr>
            </a:pPr>
            <a:r>
              <a:rPr sz="1440" b="1">
                <a:solidFill>
                  <a:srgbClr val="00355F"/>
                </a:solidFill>
                <a:latin typeface="Arial"/>
                <a:ea typeface="Arial"/>
                <a:cs typeface="Arial"/>
              </a:rPr>
              <a:t>NanoMicro</a:t>
            </a:r>
          </a:p>
        </p:txBody>
      </p:sp>
      <p:pic>
        <p:nvPicPr>
          <p:cNvPr id="107" name="">
            <a:extLst xmlns:a="http://schemas.openxmlformats.org/drawingml/2006/main">
              <a:ext uri="{FF2B5EF4-FFF2-40B4-BE49-F238E27FC236}">
                <a16:creationId xmlns:a16="http://schemas.microsoft.com/office/drawing/2014/main" id="{22678B34-9F75-49A3-AAA8-0756A4F8C509}"/>
              </a:ext>
            </a:extLst>
          </p:cNvPr>
          <p:cNvPicPr>
            <a:picLocks xmlns:a="http://schemas.openxmlformats.org/drawingml/2006/main" noChangeAspect="1"/>
          </p:cNvPicPr>
          <p:nvPr/>
        </p:nvPicPr>
        <p:blipFill>
          <a:blip xmlns:r="http://schemas.openxmlformats.org/officeDocument/2006/relationships" xmlns:a="http://schemas.openxmlformats.org/drawingml/2006/main" r:embed="R1e2e86853e404737"/>
          <a:stretch xmlns:a="http://schemas.openxmlformats.org/drawingml/2006/main"/>
        </p:blipFill>
        <p:spPr>
          <a:xfrm xmlns:a="http://schemas.openxmlformats.org/drawingml/2006/main">
            <a:off x="15949686" y="7932420"/>
            <a:ext cx="1041887" cy="289560"/>
          </a:xfrm>
          <a:prstGeom xmlns:a="http://schemas.openxmlformats.org/drawingml/2006/main" prst="rect">
            <a:avLst/>
          </a:prstGeom>
        </p:spPr>
      </p:pic>
      <p:sp>
        <p:nvSpPr>
          <p:cNvPr id="108" name="CHINA / HK LISTINGS">
            <a:extLst xmlns:a="http://schemas.openxmlformats.org/drawingml/2006/main">
              <a:ext uri="{FF2B5EF4-FFF2-40B4-BE49-F238E27FC236}">
                <a16:creationId xmlns:a16="http://schemas.microsoft.com/office/drawing/2014/main" id="{F6946C97-E383-4EDD-B8B0-06D5C6D0770E}"/>
              </a:ext>
            </a:extLst>
          </p:cNvPr>
          <p:cNvSpPr>
            <a:spLocks xmlns:a="http://schemas.openxmlformats.org/drawingml/2006/main" noGrp="1"/>
          </p:cNvSpPr>
          <p:nvPr/>
        </p:nvSpPr>
        <p:spPr>
          <a:xfrm xmlns:a="http://schemas.openxmlformats.org/drawingml/2006/main">
            <a:off x="14196060" y="8290560"/>
            <a:ext cx="153162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109" name="US LISTINGS / PARENTS">
            <a:extLst xmlns:a="http://schemas.openxmlformats.org/drawingml/2006/main">
              <a:ext uri="{FF2B5EF4-FFF2-40B4-BE49-F238E27FC236}">
                <a16:creationId xmlns:a16="http://schemas.microsoft.com/office/drawing/2014/main" id="{BFFA75CD-F9A2-4CD6-BA49-11349E8500D7}"/>
              </a:ext>
            </a:extLst>
          </p:cNvPr>
          <p:cNvSpPr>
            <a:spLocks xmlns:a="http://schemas.openxmlformats.org/drawingml/2006/main" noGrp="1"/>
          </p:cNvSpPr>
          <p:nvPr/>
        </p:nvSpPr>
        <p:spPr>
          <a:xfrm xmlns:a="http://schemas.openxmlformats.org/drawingml/2006/main">
            <a:off x="15834360" y="8290560"/>
            <a:ext cx="132588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110" name="NanoMicro · 688690.SH">
            <a:extLst xmlns:a="http://schemas.openxmlformats.org/drawingml/2006/main">
              <a:ext uri="{FF2B5EF4-FFF2-40B4-BE49-F238E27FC236}">
                <a16:creationId xmlns:a16="http://schemas.microsoft.com/office/drawing/2014/main" id="{85E4D165-068E-4EE8-9290-46E82D935158}"/>
              </a:ext>
            </a:extLst>
          </p:cNvPr>
          <p:cNvSpPr>
            <a:spLocks xmlns:a="http://schemas.openxmlformats.org/drawingml/2006/main" noGrp="1"/>
          </p:cNvSpPr>
          <p:nvPr/>
        </p:nvSpPr>
        <p:spPr>
          <a:xfrm xmlns:a="http://schemas.openxmlformats.org/drawingml/2006/main">
            <a:off x="14196060" y="8511540"/>
            <a:ext cx="158496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defRPr sz="1020" b="0">
                <a:solidFill>
                  <a:srgbClr val="00355F"/>
                </a:solidFill>
                <a:latin typeface="Arial"/>
                <a:ea typeface="Arial"/>
                <a:cs typeface="Arial"/>
              </a:defRPr>
            </a:pPr>
            <a:r>
              <a:rPr sz="1020" b="0">
                <a:solidFill>
                  <a:srgbClr val="00355F"/>
                </a:solidFill>
                <a:latin typeface="Arial"/>
                <a:ea typeface="Arial"/>
                <a:cs typeface="Arial"/>
              </a:rPr>
              <a:t>NanoMicro · 688690.SH</a:t>
            </a:r>
          </a:p>
          <a:p xmlns:a="http://schemas.openxmlformats.org/drawingml/2006/main">
            <a:pPr algn="l">
              <a:defRPr sz="1020" b="0">
                <a:solidFill>
                  <a:srgbClr val="00355F"/>
                </a:solidFill>
                <a:latin typeface="Arial"/>
                <a:ea typeface="Arial"/>
                <a:cs typeface="Arial"/>
              </a:defRPr>
            </a:pPr>
            <a:r>
              <a:rPr sz="1020" b="0">
                <a:solidFill>
                  <a:srgbClr val="00355F"/>
                </a:solidFill>
                <a:latin typeface="Arial"/>
                <a:ea typeface="Arial"/>
                <a:cs typeface="Arial"/>
              </a:rPr>
              <a:t>Sepax · 688758.SH</a:t>
            </a:r>
          </a:p>
        </p:txBody>
      </p:sp>
      <p:sp>
        <p:nvSpPr>
          <p:cNvPr id="111" name="Cytiva · DHR">
            <a:extLst xmlns:a="http://schemas.openxmlformats.org/drawingml/2006/main">
              <a:ext uri="{FF2B5EF4-FFF2-40B4-BE49-F238E27FC236}">
                <a16:creationId xmlns:a16="http://schemas.microsoft.com/office/drawing/2014/main" id="{BAC961D8-AAF8-4602-970D-90B5CADD0F35}"/>
              </a:ext>
            </a:extLst>
          </p:cNvPr>
          <p:cNvSpPr>
            <a:spLocks xmlns:a="http://schemas.openxmlformats.org/drawingml/2006/main" noGrp="1"/>
          </p:cNvSpPr>
          <p:nvPr/>
        </p:nvSpPr>
        <p:spPr>
          <a:xfrm xmlns:a="http://schemas.openxmlformats.org/drawingml/2006/main">
            <a:off x="15834360" y="8511540"/>
            <a:ext cx="132588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defRPr sz="972" b="0">
                <a:solidFill>
                  <a:srgbClr val="00355F"/>
                </a:solidFill>
                <a:latin typeface="Arial"/>
                <a:ea typeface="Arial"/>
                <a:cs typeface="Arial"/>
              </a:defRPr>
            </a:pPr>
            <a:r>
              <a:rPr sz="972" b="0">
                <a:solidFill>
                  <a:srgbClr val="00355F"/>
                </a:solidFill>
                <a:latin typeface="Arial"/>
                <a:ea typeface="Arial"/>
                <a:cs typeface="Arial"/>
              </a:rPr>
              <a:t>Cytiva · DHR</a:t>
            </a:r>
          </a:p>
          <a:p xmlns:a="http://schemas.openxmlformats.org/drawingml/2006/main">
            <a:pPr algn="l">
              <a:defRPr sz="972" b="0">
                <a:solidFill>
                  <a:srgbClr val="00355F"/>
                </a:solidFill>
                <a:latin typeface="Arial"/>
                <a:ea typeface="Arial"/>
                <a:cs typeface="Arial"/>
              </a:defRPr>
            </a:pPr>
            <a:r>
              <a:rPr sz="972" b="0">
                <a:solidFill>
                  <a:srgbClr val="00355F"/>
                </a:solidFill>
                <a:latin typeface="Arial"/>
                <a:ea typeface="Arial"/>
                <a:cs typeface="Arial"/>
              </a:rPr>
              <a:t>Repligen · RGEN</a:t>
            </a:r>
          </a:p>
        </p:txBody>
      </p:sp>
      <p:sp>
        <p:nvSpPr>
          <p:cNvPr id="112" name="">
            <a:extLst xmlns:a="http://schemas.openxmlformats.org/drawingml/2006/main">
              <a:ext uri="{FF2B5EF4-FFF2-40B4-BE49-F238E27FC236}">
                <a16:creationId xmlns:a16="http://schemas.microsoft.com/office/drawing/2014/main" id="{B6D2AC1B-A069-4DBE-BD0C-DF7FAE494481}"/>
              </a:ext>
            </a:extLst>
          </p:cNvPr>
          <p:cNvSpPr>
            <a:spLocks xmlns:a="http://schemas.openxmlformats.org/drawingml/2006/main" noGrp="1"/>
          </p:cNvSpPr>
          <p:nvPr/>
        </p:nvSpPr>
        <p:spPr>
          <a:xfrm xmlns:a="http://schemas.openxmlformats.org/drawingml/2006/main">
            <a:off x="6743700" y="9296400"/>
            <a:ext cx="10782300" cy="434340"/>
          </a:xfrm>
          <a:prstGeom xmlns:a="http://schemas.openxmlformats.org/drawingml/2006/main" prst="roundRect">
            <a:avLst>
              <a:gd name="adj" fmla="val 15789"/>
            </a:avLst>
          </a:prstGeom>
          <a:solidFill xmlns:a="http://schemas.openxmlformats.org/drawingml/2006/main">
            <a:srgbClr val="00355F"/>
          </a:solidFill>
          <a:ln xmlns:a="http://schemas.openxmlformats.org/drawingml/2006/main" w="7620">
            <a:noFill/>
          </a:ln>
        </p:spPr>
      </p:sp>
      <p:pic>
        <p:nvPicPr>
          <p:cNvPr id="113" name="">
            <a:extLst xmlns:a="http://schemas.openxmlformats.org/drawingml/2006/main">
              <a:ext uri="{FF2B5EF4-FFF2-40B4-BE49-F238E27FC236}">
                <a16:creationId xmlns:a16="http://schemas.microsoft.com/office/drawing/2014/main" id="{4FB774FE-F19B-4C8B-9054-88915D8EAE0A}"/>
              </a:ext>
            </a:extLst>
          </p:cNvPr>
          <p:cNvPicPr>
            <a:picLocks xmlns:a="http://schemas.openxmlformats.org/drawingml/2006/main" noChangeAspect="1"/>
          </p:cNvPicPr>
          <p:nvPr/>
        </p:nvPicPr>
        <p:blipFill>
          <a:blip xmlns:r="http://schemas.openxmlformats.org/officeDocument/2006/relationships" xmlns:a="http://schemas.openxmlformats.org/drawingml/2006/main" r:embed="R4b288a93dd7c41fd">
            <a:extLst>
              <a:ext uri="{96DAC541-7B7A-43D3-8B79-37D633B846F1}">
                <asvg:svgBlip xmlns:asvg="http://schemas.microsoft.com/office/drawing/2016/SVG/main" r:embed="Rc392d85c0f6e437f"/>
              </a:ext>
            </a:extLst>
          </a:blip>
          <a:stretch xmlns:a="http://schemas.openxmlformats.org/drawingml/2006/main"/>
        </p:blipFill>
        <p:spPr>
          <a:xfrm xmlns:a="http://schemas.openxmlformats.org/drawingml/2006/main">
            <a:off x="6865620" y="9380220"/>
            <a:ext cx="259080" cy="259080"/>
          </a:xfrm>
          <a:prstGeom xmlns:a="http://schemas.openxmlformats.org/drawingml/2006/main" prst="rect">
            <a:avLst/>
          </a:prstGeom>
        </p:spPr>
      </p:pic>
      <p:sp>
        <p:nvSpPr>
          <p:cNvPr id="114" name="Automation + data orchestration span every tool family">
            <a:extLst xmlns:a="http://schemas.openxmlformats.org/drawingml/2006/main">
              <a:ext uri="{FF2B5EF4-FFF2-40B4-BE49-F238E27FC236}">
                <a16:creationId xmlns:a16="http://schemas.microsoft.com/office/drawing/2014/main" id="{6C767A39-6E4D-4907-B673-44EE46F53F33}"/>
              </a:ext>
            </a:extLst>
          </p:cNvPr>
          <p:cNvSpPr>
            <a:spLocks xmlns:a="http://schemas.openxmlformats.org/drawingml/2006/main" noGrp="1"/>
          </p:cNvSpPr>
          <p:nvPr/>
        </p:nvSpPr>
        <p:spPr>
          <a:xfrm xmlns:a="http://schemas.openxmlformats.org/drawingml/2006/main">
            <a:off x="7231380" y="9425940"/>
            <a:ext cx="729234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FFFFFF"/>
                </a:solidFill>
                <a:latin typeface="Arial"/>
                <a:ea typeface="Arial"/>
                <a:cs typeface="Arial"/>
              </a:defRPr>
            </a:defPPr>
          </a:lstStyle>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Automation + data orchestration span every tool family</a:t>
            </a:r>
          </a:p>
        </p:txBody>
      </p:sp>
      <p:sp>
        <p:nvSpPr>
          <p:cNvPr id="115" name="">
            <a:extLst xmlns:a="http://schemas.openxmlformats.org/drawingml/2006/main">
              <a:ext uri="{FF2B5EF4-FFF2-40B4-BE49-F238E27FC236}">
                <a16:creationId xmlns:a16="http://schemas.microsoft.com/office/drawing/2014/main" id="{C81716F4-E31D-4D44-8FD9-F4B638E667B6}"/>
              </a:ext>
            </a:extLst>
          </p:cNvPr>
          <p:cNvSpPr>
            <a:spLocks xmlns:a="http://schemas.openxmlformats.org/drawingml/2006/main" noGrp="1"/>
          </p:cNvSpPr>
          <p:nvPr/>
        </p:nvSpPr>
        <p:spPr>
          <a:xfrm xmlns:a="http://schemas.openxmlformats.org/drawingml/2006/main">
            <a:off x="14859000" y="9357360"/>
            <a:ext cx="2430780" cy="31242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7620">
            <a:noFill/>
          </a:ln>
        </p:spPr>
      </p:sp>
      <p:pic>
        <p:nvPicPr>
          <p:cNvPr id="116" name="">
            <a:extLst xmlns:a="http://schemas.openxmlformats.org/drawingml/2006/main">
              <a:ext uri="{FF2B5EF4-FFF2-40B4-BE49-F238E27FC236}">
                <a16:creationId xmlns:a16="http://schemas.microsoft.com/office/drawing/2014/main" id="{F226223E-4D6E-4F34-AD3B-E98F8751EE10}"/>
              </a:ext>
            </a:extLst>
          </p:cNvPr>
          <p:cNvPicPr>
            <a:picLocks xmlns:a="http://schemas.openxmlformats.org/drawingml/2006/main" noChangeAspect="1"/>
          </p:cNvPicPr>
          <p:nvPr/>
        </p:nvPicPr>
        <p:blipFill>
          <a:blip xmlns:r="http://schemas.openxmlformats.org/officeDocument/2006/relationships" xmlns:a="http://schemas.openxmlformats.org/drawingml/2006/main" r:embed="R6767303e2a124ee1"/>
          <a:stretch xmlns:a="http://schemas.openxmlformats.org/drawingml/2006/main"/>
        </p:blipFill>
        <p:spPr>
          <a:xfrm xmlns:a="http://schemas.openxmlformats.org/drawingml/2006/main">
            <a:off x="14958060" y="9412819"/>
            <a:ext cx="1143000" cy="193882"/>
          </a:xfrm>
          <a:prstGeom xmlns:a="http://schemas.openxmlformats.org/drawingml/2006/main" prst="rect">
            <a:avLst/>
          </a:prstGeom>
        </p:spPr>
      </p:pic>
      <p:sp>
        <p:nvSpPr>
          <p:cNvPr id="117" name="SIX: TECN">
            <a:extLst xmlns:a="http://schemas.openxmlformats.org/drawingml/2006/main">
              <a:ext uri="{FF2B5EF4-FFF2-40B4-BE49-F238E27FC236}">
                <a16:creationId xmlns:a16="http://schemas.microsoft.com/office/drawing/2014/main" id="{0BA3457F-434F-4147-9807-213038EFABC8}"/>
              </a:ext>
            </a:extLst>
          </p:cNvPr>
          <p:cNvSpPr>
            <a:spLocks xmlns:a="http://schemas.openxmlformats.org/drawingml/2006/main" noGrp="1"/>
          </p:cNvSpPr>
          <p:nvPr/>
        </p:nvSpPr>
        <p:spPr>
          <a:xfrm xmlns:a="http://schemas.openxmlformats.org/drawingml/2006/main">
            <a:off x="16261080" y="9441180"/>
            <a:ext cx="92964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40" b="1">
                <a:solidFill>
                  <a:srgbClr val="00355F"/>
                </a:solidFill>
                <a:latin typeface="Arial"/>
                <a:ea typeface="Arial"/>
                <a:cs typeface="Arial"/>
              </a:defRPr>
            </a:defPPr>
          </a:lstStyle>
          <a:p xmlns:a="http://schemas.openxmlformats.org/drawingml/2006/main">
            <a:pPr algn="l">
              <a:defRPr sz="1140" b="1">
                <a:solidFill>
                  <a:srgbClr val="00355F"/>
                </a:solidFill>
                <a:latin typeface="Arial"/>
                <a:ea typeface="Arial"/>
                <a:cs typeface="Arial"/>
              </a:defRPr>
            </a:pPr>
            <a:r>
              <a:rPr sz="1140" b="1">
                <a:solidFill>
                  <a:srgbClr val="00355F"/>
                </a:solidFill>
                <a:latin typeface="Arial"/>
                <a:ea typeface="Arial"/>
                <a:cs typeface="Arial"/>
              </a:rPr>
              <a:t>SIX: TECN</a:t>
            </a:r>
          </a:p>
        </p:txBody>
      </p:sp>
      <p:sp>
        <p:nvSpPr>
          <p:cNvPr id="118" name="† Ex-BD biosciences / flow moved to Waters on 9 Feb 2026; BD (BDX) here means specimen collection.">
            <a:extLst xmlns:a="http://schemas.openxmlformats.org/drawingml/2006/main">
              <a:ext uri="{FF2B5EF4-FFF2-40B4-BE49-F238E27FC236}">
                <a16:creationId xmlns:a16="http://schemas.microsoft.com/office/drawing/2014/main" id="{416EF607-3619-493C-8FFD-5AE36EB75A7B}"/>
              </a:ext>
            </a:extLst>
          </p:cNvPr>
          <p:cNvSpPr>
            <a:spLocks xmlns:a="http://schemas.openxmlformats.org/drawingml/2006/main" noGrp="1"/>
          </p:cNvSpPr>
          <p:nvPr/>
        </p:nvSpPr>
        <p:spPr>
          <a:xfrm xmlns:a="http://schemas.openxmlformats.org/drawingml/2006/main">
            <a:off x="6743700" y="9852660"/>
            <a:ext cx="10782300" cy="167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defRPr sz="990" b="0">
                <a:solidFill>
                  <a:srgbClr val="00355F"/>
                </a:solidFill>
                <a:latin typeface="Arial"/>
                <a:ea typeface="Arial"/>
                <a:cs typeface="Arial"/>
              </a:defRPr>
            </a:pPr>
            <a:r>
              <a:rPr sz="990" b="0">
                <a:solidFill>
                  <a:srgbClr val="00355F"/>
                </a:solidFill>
                <a:latin typeface="Arial"/>
                <a:ea typeface="Arial"/>
                <a:cs typeface="Arial"/>
              </a:rPr>
              <a:t>† Ex-BD biosciences / flow moved to Waters on 9 Feb 2026; BD (BDX) here means specimen collection.</a:t>
            </a:r>
          </a:p>
        </p:txBody>
      </p:sp>
      <p:sp>
        <p:nvSpPr>
          <p:cNvPr id="119" name="Groups denote listings, not incorporation; brands use parent tickers. * Source access limited. Sources and ticker register: SOURCES.md.">
            <a:extLst xmlns:a="http://schemas.openxmlformats.org/drawingml/2006/main">
              <a:ext uri="{FF2B5EF4-FFF2-40B4-BE49-F238E27FC236}">
                <a16:creationId xmlns:a16="http://schemas.microsoft.com/office/drawing/2014/main" id="{23399A8B-6E5E-460E-A014-BFDA853C6B5B}"/>
              </a:ext>
            </a:extLst>
          </p:cNvPr>
          <p:cNvSpPr>
            <a:spLocks xmlns:a="http://schemas.openxmlformats.org/drawingml/2006/main" noGrp="1"/>
          </p:cNvSpPr>
          <p:nvPr/>
        </p:nvSpPr>
        <p:spPr>
          <a:xfrm xmlns:a="http://schemas.openxmlformats.org/drawingml/2006/main">
            <a:off x="6743700" y="10058400"/>
            <a:ext cx="1078230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30" b="0">
                <a:solidFill>
                  <a:srgbClr val="00355F"/>
                </a:solidFill>
                <a:latin typeface="Arial"/>
                <a:ea typeface="Arial"/>
                <a:cs typeface="Arial"/>
              </a:defRPr>
            </a:defPPr>
          </a:lstStyle>
          <a:p xmlns:a="http://schemas.openxmlformats.org/drawingml/2006/main">
            <a:pPr algn="l">
              <a:defRPr sz="930" b="0">
                <a:solidFill>
                  <a:srgbClr val="00355F"/>
                </a:solidFill>
                <a:latin typeface="Arial"/>
                <a:ea typeface="Arial"/>
                <a:cs typeface="Arial"/>
              </a:defRPr>
            </a:pPr>
            <a:r>
              <a:rPr sz="930" b="0">
                <a:solidFill>
                  <a:srgbClr val="00355F"/>
                </a:solidFill>
                <a:latin typeface="Arial"/>
                <a:ea typeface="Arial"/>
                <a:cs typeface="Arial"/>
              </a:rPr>
              <a:t>Groups denote listings, not incorporation; brands use parent tickers. * Source access limited. Sources and ticker register: SOURCES.md.</a:t>
            </a:r>
          </a:p>
        </p:txBody>
      </p:sp>
    </p:spTree>
    <p:extLst>
      <p:ext uri="{BB962C8B-B14F-4D97-AF65-F5344CB8AC3E}">
        <p14:creationId xmlns:p14="http://schemas.microsoft.com/office/powerpoint/2010/main" val="12518415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2026-10-13T04:04:47.3660000Z</dcterms:created>
  <dcterms:modified xsi:type="dcterms:W3CDTF">2026-10-13T04:04:47.3660000Z</dcterms:modified>
</coreProperties>
</file>