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6690976565a4ef4" /><Relationship Type="http://schemas.openxmlformats.org/officeDocument/2006/relationships/extended-properties" Target="/docProps/app.xml" Id="R2dbe67ac78a74462" /><Relationship Type="http://schemas.openxmlformats.org/officeDocument/2006/relationships/officeDocument" Target="/ppt/presentation.xml" Id="Rd519d07b4128477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dd5ee60785b43f3"/>
  </p:sldMasterIdLst>
  <p:notesMasterIdLst>
    <p:notesMasterId xmlns:r="http://schemas.openxmlformats.org/officeDocument/2006/relationships" r:id="Rb59b5bfc770d4ca9"/>
  </p:notesMasterIdLst>
  <p:sldIdLst>
    <p:sldId xmlns:r="http://schemas.openxmlformats.org/officeDocument/2006/relationships" id="256" r:id="R2022257ebd214da5"/>
    <p:sldId xmlns:r="http://schemas.openxmlformats.org/officeDocument/2006/relationships" id="257" r:id="Rbbee2b3e05484191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5cfd0d3c2f74c2e" /><Relationship Type="http://schemas.openxmlformats.org/officeDocument/2006/relationships/slideMaster" Target="/ppt/slideMasters/slideMaster1.xml" Id="R6dd5ee60785b43f3" /><Relationship Type="http://schemas.openxmlformats.org/officeDocument/2006/relationships/notesMaster" Target="/ppt/notesMasters/notesMaster1.xml" Id="Rb59b5bfc770d4ca9" /><Relationship Type="http://schemas.openxmlformats.org/officeDocument/2006/relationships/presProps" Target="/ppt/presProps.xml" Id="R10fd7ef81ef645e1" /><Relationship Type="http://schemas.openxmlformats.org/officeDocument/2006/relationships/tableStyles" Target="/ppt/tableStyles.xml" Id="Rb2275072f11d4ce9" /><Relationship Type="http://schemas.openxmlformats.org/officeDocument/2006/relationships/slide" Target="/ppt/slides/slide1.xml" Id="R2022257ebd214da5" /><Relationship Type="http://schemas.openxmlformats.org/officeDocument/2006/relationships/slide" Target="/ppt/slides/slide2.xml" Id="Rbbee2b3e0548419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5788f6bcbab4b0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04b3b345bec4117" /><Relationship Type="http://schemas.openxmlformats.org/officeDocument/2006/relationships/notesMaster" Target="/ppt/notesMasters/notesMaster1.xml" Id="Rcc0c1a96e2ca4d8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820443981524e09" /><Relationship Type="http://schemas.openxmlformats.org/officeDocument/2006/relationships/notesMaster" Target="/ppt/notesMasters/notesMaster1.xml" Id="Rbd16e0e83c5f474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user-provided stage comparison screenshot, supplied 12 October 2026. All stage counts are illustrative assumptions, not researched empirical cohort statistics. Denominator: per one clinical entrant. The separate reference funnel uses per approved drug and is used only for its visual form; its numbers are not mixed into this comparison. Virtual design is not literally free. DNA-encoded libraries are not equivalent to fully characterized discrete compounds; construction counts are conceptual. Approved ~0.14 is an expected count, not a measured probability established by this deck. Clinical benefit and approval rates in the AI era are unknown. Icon: Lucide flask-conical, ISC license, https://github.com/lucide-icons/lucide.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Research date: 12 October 2026. This is an investment research hypothesis, not evidence of a realized bottleneck. Candidate design can become abundant, but design quality, synthesis, biological interpretation and clinical translation remain constraints. Funnel is illustrative per one clinical entrant, with unknown AI-era approval outcome. The illustrative 50 to 500 wet-lab count is a scenario, not a forecast. DNA-encoded libraries are not fully profiled discrete candidates. Selected TAM anchors are non-additive and not entire six-category totals.</a:t>
            </a:r>
          </a:p>
          <a:p xmlns:a="http://schemas.openxmlformats.org/drawingml/2006/main">
            <a:r>
              <a:t>[1] Tsingke 30 Jun 2026 IPO prospectus, printed pp. 156-158: China 2025 oligo synthesis 0.53bn RMB plus long-fragment synthesis 0.80bn RMB =1.33bn RMB. https://static.sse.com.cn/stock/disclosure/announcement/c/202606/002233_20260630_Z9LA.pdf</a:t>
            </a:r>
          </a:p>
          <a:p xmlns:a="http://schemas.openxmlformats.org/drawingml/2006/main">
            <a:r>
              <a:t>[2] ACROBiosystems HKEX application 30 Sep 2026, printed p.71 / PDF p.80: global research-use recombinant protein market 2025 $3.5bn; China approximately $0.4bn, rounded to $0.1bn. https://www1.hkexnews.hk/app/sehk/2026/108910/documents/sehk26093002651_c.pdf</a:t>
            </a:r>
          </a:p>
          <a:p xmlns:a="http://schemas.openxmlformats.org/drawingml/2006/main">
            <a:r>
              <a:t>[3] Duoning HKEX application 18 Jan 2026, F&amp;S historical estimates. China 2024 media $323.5m, printed p.126; chromatography resins $578.2m, printed p.132. Footnote excludes COVID impact on vaccine products. Previously verified public official index on 9-10 Oct 2026, original PDF currently unavailable; lower source confidence than directly downloaded documents. https://www.hkexnews.hk/app/sehk/2026/108106/documents/sehk26011800033_c.pdf</a:t>
            </a:r>
          </a:p>
          <a:p xmlns:a="http://schemas.openxmlformats.org/drawingml/2006/main">
            <a:r>
              <a:t>[4] JET Biofil 2025 annual report summary on CNINFO, 30 Apr 2026, PDF p.6, China 2024 disposable plastic biological laboratory consumables approximately RMB23bn, broad clinical and industrial uses. https://static.cninfo.com.cn/finalpage/2026-04-30/1225255989.PDF</a:t>
            </a:r>
          </a:p>
          <a:p xmlns:a="http://schemas.openxmlformats.org/drawingml/2006/main">
            <a:r>
              <a:t>[5] MGI 2024 annual report pp.41-42, China 2024 sequencers plus consumables RMB4.3bn, all uses incl. clinical. https://static.cninfo.com.cn/finalpage/2025-04-30/1223427376.PDF</a:t>
            </a:r>
          </a:p>
          <a:p xmlns:a="http://schemas.openxmlformats.org/drawingml/2006/main">
            <a:r>
              <a:t>Representative companies are examples, not ranks, endorsements, market shares or measured AI-revenue exposure. ACRO product pathway: recombinant protein expression and functional validation. NanoMicro product pathway: chromatography/purification and manufacturing scale-up, which has a longer commercial-volume lag. Automation is not independently sized.</a:t>
            </a:r>
          </a:p>
          <a:p xmlns:a="http://schemas.openxmlformats.org/drawingml/2006/main">
            <a:r>
              <a:t>Image sources: {</a:t>
            </a:r>
          </a:p>
          <a:p xmlns:a="http://schemas.openxmlformats.org/drawingml/2006/main">
            <a:r>
              <a:t>  "logos/twist.svg": "https://www.twistbioscience.com/content/dam/twist-aem-migration/twist-home-logo.svg",</a:t>
            </a:r>
          </a:p>
          <a:p xmlns:a="http://schemas.openxmlformats.org/drawingml/2006/main">
            <a:r>
              <a:t>  "logos/nanomicro.svg": "https://www.nanomicro.com/Public/Cn/images/com_logo.svg",</a:t>
            </a:r>
          </a:p>
          <a:p xmlns:a="http://schemas.openxmlformats.org/drawingml/2006/main">
            <a:r>
              <a:t>  "logos/jet.png": "https://www.jetbiofil.com/vancheerfile/images/2026/3/20260330015636962.png",</a:t>
            </a:r>
          </a:p>
          <a:p xmlns:a="http://schemas.openxmlformats.org/drawingml/2006/main">
            <a:r>
              <a:t>  "logos/mgi.png": "https://global-mgitech.com/wp-content/uploads/2026/05/MGI-logo-sq.png",</a:t>
            </a:r>
          </a:p>
          <a:p xmlns:a="http://schemas.openxmlformats.org/drawingml/2006/main">
            <a:r>
              <a:t>  "logos/tecan.png": "https://www.tecan.com/hubfs/page_images/logo.png",</a:t>
            </a:r>
          </a:p>
          <a:p xmlns:a="http://schemas.openxmlformats.org/drawingml/2006/main">
            <a:r>
              <a:t>  "icons/dna.svg": "https://raw.githubusercontent.com/lucide-icons/lucide/main/icons/dna.svg",</a:t>
            </a:r>
          </a:p>
          <a:p xmlns:a="http://schemas.openxmlformats.org/drawingml/2006/main">
            <a:r>
              <a:t>  "icons/flask-conical.svg": "https://raw.githubusercontent.com/lucide-icons/lucide/main/icons/flask-conical.svg",</a:t>
            </a:r>
          </a:p>
          <a:p xmlns:a="http://schemas.openxmlformats.org/drawingml/2006/main">
            <a:r>
              <a:t>  "icons/pipette.svg": "https://raw.githubusercontent.com/lucide-icons/lucide/main/icons/pipette.svg",</a:t>
            </a:r>
          </a:p>
          <a:p xmlns:a="http://schemas.openxmlformats.org/drawingml/2006/main">
            <a:r>
              <a:t>  "icons/test-tubes.svg": "https://raw.githubusercontent.com/lucide-icons/lucide/main/icons/test-tubes.svg",</a:t>
            </a:r>
          </a:p>
          <a:p xmlns:a="http://schemas.openxmlformats.org/drawingml/2006/main">
            <a:r>
              <a:t>  "icons/microscope.svg": "https://raw.githubusercontent.com/lucide-icons/lucide/main/icons/microscope.svg",</a:t>
            </a:r>
          </a:p>
          <a:p xmlns:a="http://schemas.openxmlformats.org/drawingml/2006/main">
            <a:r>
              <a:t>  "icons/factory.svg": "https://raw.githubusercontent.com/lucide-icons/lucide/main/icons/factory.svg",</a:t>
            </a:r>
          </a:p>
          <a:p xmlns:a="http://schemas.openxmlformats.org/drawingml/2006/main">
            <a:r>
              <a:t>  "icons/bot.svg": "https://raw.githubusercontent.com/lucide-icons/lucide/main/icons/bot.svg",</a:t>
            </a:r>
          </a:p>
          <a:p xmlns:a="http://schemas.openxmlformats.org/drawingml/2006/main">
            <a:r>
              <a:t>  "icons/brain-circuit.svg": "https://raw.githubusercontent.com/lucide-icons/lucide/main/icons/brain-circuit.svg",</a:t>
            </a:r>
          </a:p>
          <a:p xmlns:a="http://schemas.openxmlformats.org/drawingml/2006/main">
            <a:r>
              <a:t>  "icons/chart-no-axes-combined.svg": "https://raw.githubusercontent.com/lucide-icons/lucide/main/icons/chart-no-axes-combined.svg",</a:t>
            </a:r>
          </a:p>
          <a:p xmlns:a="http://schemas.openxmlformats.org/drawingml/2006/main">
            <a:r>
              <a:t>  "icons/scan-line.svg": "https://raw.githubusercontent.com/lucide-icons/lucide/main/icons/scan-line.svg",</a:t>
            </a:r>
          </a:p>
          <a:p xmlns:a="http://schemas.openxmlformats.org/drawingml/2006/main">
            <a:r>
              <a:t>  "icons/LICENSE": "https://raw.githubusercontent.com/lucide-icons/lucide/main/LICENSE",</a:t>
            </a:r>
          </a:p>
          <a:p xmlns:a="http://schemas.openxmlformats.org/drawingml/2006/main">
            <a:r>
              <a:t>  "logos/thermo.jpg": "https://mms.businesswire.com/media/20220207005491/en/1350958/23/Thermo_Fisher_Scientific.jpg",</a:t>
            </a:r>
          </a:p>
          <a:p xmlns:a="http://schemas.openxmlformats.org/drawingml/2006/main">
            <a:r>
              <a:t>  "logos/cytiva.png": "https://massbioportalimages.blob.core.windows.net/massbioportalimages/a28b10cf8e90ea11a811000d3a33b4ee/Cytiva%20-%20Copy.png",</a:t>
            </a:r>
          </a:p>
          <a:p xmlns:a="http://schemas.openxmlformats.org/drawingml/2006/main">
            <a:r>
              <a:t>  "logos/genscript.jpg": "https://www.genscript.com/gsimages/logo.jpg",</a:t>
            </a:r>
          </a:p>
          <a:p xmlns:a="http://schemas.openxmlformats.org/drawingml/2006/main">
            <a:r>
              <a:t>  "logos/acro.png": "https://console.acrobiosystems.com/public/images/LOGO-download.png",</a:t>
            </a:r>
          </a:p>
          <a:p xmlns:a="http://schemas.openxmlformats.org/drawingml/2006/main">
            <a:r>
              <a:t>  "logos/jet-english.png": "https://image.makewebeasy.net/makeweb/m_1920x0/EtyBgz2ZO/Product_Brand/Jet_01.png?v=202012190947"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>Lucide icons are ISC licensed, https://github.com/lucide-icons/lucide. Logos identify the respective companies; no endorsement. NanoMicro uses only its unchanged circular emblem plus a separate editable English company label.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877139d0e24c8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4ae6e206f4423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a3e4ebc712497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d4c30d7ba5433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419f6e1060430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5995cc83874f0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5B61285-7F7F-4F56-9B10-79CDD1B8D3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828800" y="3886200"/>
            <a:ext cx="146304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67F4CC0-713E-47FA-9A34-FA12832F6D4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743200" y="5657850"/>
            <a:ext cx="12801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61EBFA9-7239-40FA-8A63-8CFB195DDAC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828800" y="4286250"/>
            <a:ext cx="14630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6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8AD0B71-5888-4914-A8EA-8164350084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028700" y="800100"/>
            <a:ext cx="162306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E9A05A8-5F38-4E79-98E7-A94C5E20071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28700" y="2857500"/>
            <a:ext cx="16230600" cy="640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42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1pPr>
            <a:lvl2pPr marL="800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2pPr>
            <a:lvl3pPr marL="1257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3pPr>
            <a:lvl4pPr marL="1714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4pPr>
            <a:lvl5pPr marL="21717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5pPr>
            <a:lvl6pPr marL="2628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6pPr>
            <a:lvl7pPr marL="3086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7pPr>
            <a:lvl8pPr marL="3543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8pPr>
            <a:lvl9pPr marL="4000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1C71319-D829-4F62-AA2E-933BFEF2FE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028700" y="800100"/>
            <a:ext cx="162306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0BEA5BC-A89F-441D-9800-A49F85A74DC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28700" y="2857500"/>
            <a:ext cx="7543800" cy="640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42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1pPr>
            <a:lvl2pPr marL="800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2pPr>
            <a:lvl3pPr marL="1257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3pPr>
            <a:lvl4pPr marL="1714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4pPr>
            <a:lvl5pPr marL="21717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5pPr>
            <a:lvl6pPr marL="2628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6pPr>
            <a:lvl7pPr marL="3086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7pPr>
            <a:lvl8pPr marL="3543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8pPr>
            <a:lvl9pPr marL="4000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2D0A277A-5AAD-4526-B978-EB8CF3BE20C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9715500" y="2857500"/>
            <a:ext cx="7543800" cy="640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42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1pPr>
            <a:lvl2pPr marL="800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2pPr>
            <a:lvl3pPr marL="1257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3pPr>
            <a:lvl4pPr marL="1714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4pPr>
            <a:lvl5pPr marL="21717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5pPr>
            <a:lvl6pPr marL="2628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6pPr>
            <a:lvl7pPr marL="3086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7pPr>
            <a:lvl8pPr marL="3543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8pPr>
            <a:lvl9pPr marL="4000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5E05E4E-CEB5-4655-8BBB-109A90DFAE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028700" y="800100"/>
            <a:ext cx="162306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DFD9740-E574-4F28-9CD8-D13DDEE7A2D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28700" y="2857500"/>
            <a:ext cx="7543800" cy="640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42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1pPr>
            <a:lvl2pPr marL="800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2pPr>
            <a:lvl3pPr marL="1257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3pPr>
            <a:lvl4pPr marL="1714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4pPr>
            <a:lvl5pPr marL="21717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5pPr>
            <a:lvl6pPr marL="2628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6pPr>
            <a:lvl7pPr marL="3086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7pPr>
            <a:lvl8pPr marL="3543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8pPr>
            <a:lvl9pPr marL="4000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a18a5350d364db5" /><Relationship Type="http://schemas.openxmlformats.org/officeDocument/2006/relationships/slideLayout" Target="/ppt/slideLayouts/slideLayout1.xml" Id="Rd9ecacaaacc24db9" /><Relationship Type="http://schemas.openxmlformats.org/officeDocument/2006/relationships/slideLayout" Target="/ppt/slideLayouts/slideLayout2.xml" Id="Rc26cc80a3e2c4fbd" /><Relationship Type="http://schemas.openxmlformats.org/officeDocument/2006/relationships/slideLayout" Target="/ppt/slideLayouts/slideLayout3.xml" Id="R216069b4dc8d4dd4" /><Relationship Type="http://schemas.openxmlformats.org/officeDocument/2006/relationships/slideLayout" Target="/ppt/slideLayouts/slideLayout4.xml" Id="R1d352f5897534328" /><Relationship Type="http://schemas.openxmlformats.org/officeDocument/2006/relationships/slideLayout" Target="/ppt/slideLayouts/slideLayout5.xml" Id="Ra2293d8935104f5a" /><Relationship Type="http://schemas.openxmlformats.org/officeDocument/2006/relationships/slideLayout" Target="/ppt/slideLayouts/slideLayout6.xml" Id="Rf6859523f0cd44d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9ecacaaacc24db9"/>
    <p:sldLayoutId xmlns:r="http://schemas.openxmlformats.org/officeDocument/2006/relationships" id="2147483650" r:id="Rc26cc80a3e2c4fbd"/>
    <p:sldLayoutId xmlns:r="http://schemas.openxmlformats.org/officeDocument/2006/relationships" id="2147483651" r:id="R216069b4dc8d4dd4"/>
    <p:sldLayoutId xmlns:r="http://schemas.openxmlformats.org/officeDocument/2006/relationships" id="2147483652" r:id="R1d352f5897534328"/>
    <p:sldLayoutId xmlns:r="http://schemas.openxmlformats.org/officeDocument/2006/relationships" id="2147483653" r:id="Ra2293d8935104f5a"/>
    <p:sldLayoutId xmlns:r="http://schemas.openxmlformats.org/officeDocument/2006/relationships" id="2147483654" r:id="Rf6859523f0cd44d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f1a8226f72471e" /><Relationship Type="http://schemas.openxmlformats.org/officeDocument/2006/relationships/image" Target="/ppt/media/image.png" Id="R8878055a958a4539" /><Relationship Type="http://schemas.openxmlformats.org/officeDocument/2006/relationships/image" Target="/ppt/media/image.svg" Id="R0c1a2a118a7444cf" /><Relationship Type="http://schemas.openxmlformats.org/officeDocument/2006/relationships/notesSlide" Target="/ppt/notesSlides/notesSlide1.xml" Id="R6575b9f17a4d47c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86e40595f9a4e79" /><Relationship Type="http://schemas.openxmlformats.org/officeDocument/2006/relationships/image" Target="/ppt/media/image2.png" Id="R66fa754b39ee470e" /><Relationship Type="http://schemas.openxmlformats.org/officeDocument/2006/relationships/image" Target="/ppt/media/image2.svg" Id="Rfc8c013a01444221" /><Relationship Type="http://schemas.openxmlformats.org/officeDocument/2006/relationships/image" Target="/ppt/media/image3.png" Id="R485116065dfd4a2d" /><Relationship Type="http://schemas.openxmlformats.org/officeDocument/2006/relationships/image" Target="/ppt/media/image3.svg" Id="Re4c66bae6c184666" /><Relationship Type="http://schemas.openxmlformats.org/officeDocument/2006/relationships/image" Target="/ppt/media/image4.png" Id="Rfca505f33dcd429b" /><Relationship Type="http://schemas.openxmlformats.org/officeDocument/2006/relationships/image" Target="/ppt/media/image5.png" Id="Rf5b5b7f0a0a442db" /><Relationship Type="http://schemas.openxmlformats.org/officeDocument/2006/relationships/image" Target="/ppt/media/image6.png" Id="R0e739c30c52c46f1" /><Relationship Type="http://schemas.openxmlformats.org/officeDocument/2006/relationships/image" Target="/ppt/media/image4.svg" Id="R93c9826a0ceb4ccf" /><Relationship Type="http://schemas.openxmlformats.org/officeDocument/2006/relationships/image" Target="/ppt/media/image7.png" Id="R06448fff97044946" /><Relationship Type="http://schemas.openxmlformats.org/officeDocument/2006/relationships/image" Target="/ppt/media/image8.png" Id="R5152e438100d4a96" /><Relationship Type="http://schemas.openxmlformats.org/officeDocument/2006/relationships/image" Target="/ppt/media/image5.svg" Id="Rdb05f8b4dfee4215" /><Relationship Type="http://schemas.openxmlformats.org/officeDocument/2006/relationships/image" Target="/ppt/media/image9.png" Id="R40faf30749a6435d" /><Relationship Type="http://schemas.openxmlformats.org/officeDocument/2006/relationships/image" Target="/ppt/media/image6.svg" Id="R6dfee67780c8473a" /><Relationship Type="http://schemas.openxmlformats.org/officeDocument/2006/relationships/image" Target="/ppt/media/image10.png" Id="Rda0dacb6fcc64720" /><Relationship Type="http://schemas.openxmlformats.org/officeDocument/2006/relationships/image" Target="/ppt/media/image11.png" Id="R936931221d614111" /><Relationship Type="http://schemas.openxmlformats.org/officeDocument/2006/relationships/image" Target="/ppt/media/image7.svg" Id="R10c662e9556441d4" /><Relationship Type="http://schemas.openxmlformats.org/officeDocument/2006/relationships/image" Target="/ppt/media/image12.png" Id="R4c78358e70f34231" /><Relationship Type="http://schemas.openxmlformats.org/officeDocument/2006/relationships/image" Target="/ppt/media/image13.png" Id="Rb48104255b1e4b29" /><Relationship Type="http://schemas.openxmlformats.org/officeDocument/2006/relationships/image" Target="/ppt/media/image8.svg" Id="Rf8fffe66b5044491" /><Relationship Type="http://schemas.openxmlformats.org/officeDocument/2006/relationships/image" Target="/ppt/media/image14.png" Id="Rb4dfe8b6075d4149" /><Relationship Type="http://schemas.openxmlformats.org/officeDocument/2006/relationships/image" Target="/ppt/media/image9.svg" Id="R6e309d656ef54f75" /><Relationship Type="http://schemas.openxmlformats.org/officeDocument/2006/relationships/image" Target="/ppt/media/image15.png" Id="R7d7e94ccf9494ab7" /><Relationship Type="http://schemas.openxmlformats.org/officeDocument/2006/relationships/image" Target="/ppt/media/image16.png" Id="R70131ebc2979472d" /><Relationship Type="http://schemas.openxmlformats.org/officeDocument/2006/relationships/image" Target="/ppt/media/image10.svg" Id="R3067d1f7b46d4a07" /><Relationship Type="http://schemas.openxmlformats.org/officeDocument/2006/relationships/image" Target="/ppt/media/image17.png" Id="R516abd31a4404fbb" /><Relationship Type="http://schemas.openxmlformats.org/officeDocument/2006/relationships/notesSlide" Target="/ppt/notesSlides/notesSlide2.xml" Id="R13aeb4572c634b1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1BB25B-E0F6-412F-9616-4CE2BF4CE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85725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D80"/>
          </a:solidFill>
          <a:ln xmlns:a="http://schemas.openxmlformats.org/drawingml/2006/main" w="9525">
            <a:noFill/>
          </a:ln>
        </p:spPr>
      </p:sp>
      <p:sp>
        <p:nvSpPr>
          <p:cNvPr id="2" name="Design capacity expands. Validation must keep up.">
            <a:extLst xmlns:a="http://schemas.openxmlformats.org/drawingml/2006/main">
              <a:ext uri="{FF2B5EF4-FFF2-40B4-BE49-F238E27FC236}">
                <a16:creationId xmlns:a16="http://schemas.microsoft.com/office/drawing/2014/main" id="{B4904520-0DF9-4689-B4A4-F9C4C8566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95300"/>
            <a:ext cx="16525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3450" b="1">
                <a:solidFill>
                  <a:srgbClr val="152C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52C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52C3A"/>
                </a:solidFill>
                <a:latin typeface="Arial"/>
                <a:ea typeface="Arial"/>
                <a:cs typeface="Arial"/>
              </a:rPr>
              <a:t>Design capacity expands. Validation must keep up.</a:t>
            </a:r>
          </a:p>
        </p:txBody>
      </p:sp>
      <p:sp>
        <p:nvSpPr>
          <p:cNvPr id="3" name="Illustrative stage comparison, normalized per one clinical entrant. Supplied assumptions, not cohort statistics.">
            <a:extLst xmlns:a="http://schemas.openxmlformats.org/drawingml/2006/main">
              <a:ext uri="{FF2B5EF4-FFF2-40B4-BE49-F238E27FC236}">
                <a16:creationId xmlns:a16="http://schemas.microsoft.com/office/drawing/2014/main" id="{AAF3C0A4-B354-43CF-ADCE-66AAF4BC1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143000"/>
            <a:ext cx="1619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1725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47887"/>
                </a:solidFill>
                <a:latin typeface="Arial"/>
                <a:ea typeface="Arial"/>
                <a:cs typeface="Arial"/>
              </a:rPr>
              <a:t>Illustrative stage comparison, normalized per one clinical entrant. Supplied assumptions, not cohort statistics.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F10A0D-1F79-487C-A920-1793B5570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6916400" cy="95"/>
          </a:xfrm>
          <a:custGeom xmlns:a="http://schemas.openxmlformats.org/drawingml/2006/main">
            <a:pathLst>
              <a:path w="16916400" h="95">
                <a:moveTo>
                  <a:pt x="0" y="0"/>
                </a:moveTo>
                <a:lnTo>
                  <a:pt x="169164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7E3E8"/>
            </a:solidFill>
            <a:prstDash val="solid"/>
          </a:ln>
        </p:spPr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95ECFF-B4A7-4AA5-9F8C-4A96DC5EB2A5}"/>
              </a:ext>
            </a:extLst>
          </p:cNvPr>
          <p:cNvGraphicFramePr/>
          <p:nvPr/>
        </p:nvGraphicFramePr>
        <p:xfrm>
          <a:off xmlns:a="http://schemas.openxmlformats.org/drawingml/2006/main" x="685800" y="2190750"/>
          <a:ext xmlns:a="http://schemas.openxmlformats.org/drawingml/2006/main" cx="16916400" cy="57721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4905375"/>
                <a:gridCol w="1809750"/>
                <a:gridCol w="2428875"/>
                <a:gridCol w="7772400"/>
              </a:tblGrid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STAGE</a:t>
                      </a:r>
                    </a:p>
                  </a:txBody>
                  <a:tcPr marL="209550" marR="171450" marT="152400" marB="133350" anchor="ctr">
                    <a:solidFill>
                      <a:srgbClr val="152C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PRE-AI</a:t>
                      </a:r>
                    </a:p>
                  </a:txBody>
                  <a:tcPr marL="209550" marR="171450" marT="152400" marB="133350" anchor="ctr">
                    <a:solidFill>
                      <a:srgbClr val="152C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AI ERA</a:t>
                      </a:r>
                    </a:p>
                  </a:txBody>
                  <a:tcPr marL="209550" marR="171450" marT="152400" marB="133350" anchor="ctr">
                    <a:solidFill>
                      <a:srgbClr val="152C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WHAT CHANGES</a:t>
                      </a:r>
                    </a:p>
                  </a:txBody>
                  <a:tcPr marL="209550" marR="171450" marT="152400" marB="133350" anchor="ctr">
                    <a:solidFill>
                      <a:srgbClr val="152C3A"/>
                    </a:solidFill>
                  </a:tcPr>
                </a:tc>
              </a:tr>
              <a:tr h="1104900"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152C3A"/>
                          </a:solidFill>
                          <a:latin typeface="Arial"/>
                          <a:ea typeface="Arial"/>
                          <a:cs typeface="Arial"/>
                        </a:rPr>
                        <a:t>Molecules designed</a:t>
                      </a:r>
                    </a:p>
                    <a:p>
                      <a:pPr algn="l"/>
                      <a:r>
                        <a:rPr sz="1875" b="0">
                          <a:solidFill>
                            <a:srgbClr val="152C3A"/>
                          </a:solidFill>
                          <a:latin typeface="Arial"/>
                          <a:ea typeface="Arial"/>
                          <a:cs typeface="Arial"/>
                        </a:rPr>
                        <a:t>(virtual)</a:t>
                      </a:r>
                    </a:p>
                  </a:txBody>
                  <a:tcPr marL="209550" marR="171450" marT="15240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52C3A"/>
                          </a:solidFill>
                          <a:latin typeface="Arial"/>
                          <a:ea typeface="Arial"/>
                          <a:cs typeface="Arial"/>
                        </a:rPr>
                        <a:t>~10³</a:t>
                      </a:r>
                    </a:p>
                  </a:txBody>
                  <a:tcPr marL="209550" marR="171450" marT="15240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52C3A"/>
                          </a:solidFill>
                          <a:latin typeface="Arial"/>
                          <a:ea typeface="Arial"/>
                          <a:cs typeface="Arial"/>
                        </a:rPr>
                        <a:t>10⁵–10⁹</a:t>
                      </a:r>
                    </a:p>
                  </a:txBody>
                  <a:tcPr marL="209550" marR="171450" marT="15240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152C3A"/>
                          </a:solidFill>
                          <a:latin typeface="Arial"/>
                          <a:ea typeface="Arial"/>
                          <a:cs typeface="Arial"/>
                        </a:rPr>
                        <a:t>Generative models can expand</a:t>
                      </a:r>
                    </a:p>
                    <a:p>
                      <a:pPr algn="l"/>
                      <a:r>
                        <a:rPr sz="1875" b="0">
                          <a:solidFill>
                            <a:srgbClr val="152C3A"/>
                          </a:solidFill>
                          <a:latin typeface="Arial"/>
                          <a:ea typeface="Arial"/>
                          <a:cs typeface="Arial"/>
                        </a:rPr>
                        <a:t>candidate enumeration at low marginal cost.</a:t>
                      </a:r>
                    </a:p>
                  </a:txBody>
                  <a:tcPr marL="209550" marR="171450" marT="152400" marB="133350" anchor="ctr">
                    <a:solidFill>
                      <a:srgbClr val="FFFFFF"/>
                    </a:solidFill>
                  </a:tcPr>
                </a:tc>
              </a:tr>
              <a:tr h="1000125"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152C3A"/>
                          </a:solidFill>
                          <a:latin typeface="Arial"/>
                          <a:ea typeface="Arial"/>
                          <a:cs typeface="Arial"/>
                        </a:rPr>
                        <a:t>Molecules physically made</a:t>
                      </a:r>
                    </a:p>
                  </a:txBody>
                  <a:tcPr marL="209550" marR="171450" marT="152400" marB="133350" anchor="ctr"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52C3A"/>
                          </a:solidFill>
                          <a:latin typeface="Arial"/>
                          <a:ea typeface="Arial"/>
                          <a:cs typeface="Arial"/>
                        </a:rPr>
                        <a:t>~10³</a:t>
                      </a:r>
                    </a:p>
                  </a:txBody>
                  <a:tcPr marL="209550" marR="171450" marT="152400" marB="133350" anchor="ctr"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52C3A"/>
                          </a:solidFill>
                          <a:latin typeface="Arial"/>
                          <a:ea typeface="Arial"/>
                          <a:cs typeface="Arial"/>
                        </a:rPr>
                        <a:t>10³–10⁴</a:t>
                      </a:r>
                    </a:p>
                  </a:txBody>
                  <a:tcPr marL="209550" marR="171450" marT="152400" marB="133350" anchor="ctr"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152C3A"/>
                          </a:solidFill>
                          <a:latin typeface="Arial"/>
                          <a:ea typeface="Arial"/>
                          <a:cs typeface="Arial"/>
                        </a:rPr>
                        <a:t>Automated synthesis and DNA libraries</a:t>
                      </a:r>
                    </a:p>
                    <a:p>
                      <a:pPr algn="l"/>
                      <a:r>
                        <a:rPr sz="1875" b="0">
                          <a:solidFill>
                            <a:srgbClr val="152C3A"/>
                          </a:solidFill>
                          <a:latin typeface="Arial"/>
                          <a:ea typeface="Arial"/>
                          <a:cs typeface="Arial"/>
                        </a:rPr>
                        <a:t>can expand construction capacity.</a:t>
                      </a:r>
                    </a:p>
                  </a:txBody>
                  <a:tcPr marL="209550" marR="171450" marT="152400" marB="133350" anchor="ctr">
                    <a:solidFill>
                      <a:srgbClr val="EAF6F4"/>
                    </a:solidFill>
                  </a:tcPr>
                </a:tc>
              </a:tr>
              <a:tr h="1000125">
                <a:tc>
                  <a:txBody>
                    <a:bodyPr/>
                    <a:lstStyle/>
                    <a:p>
                      <a:pPr algn="l"/>
                      <a:r>
                        <a:rPr sz="1875" b="1">
                          <a:solidFill>
                            <a:srgbClr val="007D80"/>
                          </a:solidFill>
                          <a:latin typeface="Arial"/>
                          <a:ea typeface="Arial"/>
                          <a:cs typeface="Arial"/>
                        </a:rPr>
                        <a:t>Fully profiled in wet lab</a:t>
                      </a:r>
                    </a:p>
                  </a:txBody>
                  <a:tcPr marL="209550" marR="171450" marT="152400" marB="133350" anchor="ctr"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007D80"/>
                          </a:solidFill>
                          <a:latin typeface="Arial"/>
                          <a:ea typeface="Arial"/>
                          <a:cs typeface="Arial"/>
                        </a:rPr>
                        <a:t>~50</a:t>
                      </a:r>
                    </a:p>
                  </a:txBody>
                  <a:tcPr marL="209550" marR="171450" marT="152400" marB="133350" anchor="ctr"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007D80"/>
                          </a:solidFill>
                          <a:latin typeface="Arial"/>
                          <a:ea typeface="Arial"/>
                          <a:cs typeface="Arial"/>
                        </a:rPr>
                        <a:t>50 → 500</a:t>
                      </a:r>
                    </a:p>
                  </a:txBody>
                  <a:tcPr marL="209550" marR="171450" marT="152400" marB="133350" anchor="ctr"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1">
                          <a:solidFill>
                            <a:srgbClr val="007D80"/>
                          </a:solidFill>
                          <a:latin typeface="Arial"/>
                          <a:ea typeface="Arial"/>
                          <a:cs typeface="Arial"/>
                        </a:rPr>
                        <a:t>Illustrative capacity expansion</a:t>
                      </a:r>
                    </a:p>
                    <a:p>
                      <a:pPr algn="l"/>
                      <a:r>
                        <a:rPr sz="1875" b="1">
                          <a:solidFill>
                            <a:srgbClr val="007D80"/>
                          </a:solidFill>
                          <a:latin typeface="Arial"/>
                          <a:ea typeface="Arial"/>
                          <a:cs typeface="Arial"/>
                        </a:rPr>
                        <a:t>that investors would need to fund.</a:t>
                      </a:r>
                    </a:p>
                  </a:txBody>
                  <a:tcPr marL="209550" marR="171450" marT="152400" marB="133350" anchor="ctr">
                    <a:solidFill>
                      <a:srgbClr val="EAF6F4"/>
                    </a:solidFill>
                  </a:tcPr>
                </a:tc>
              </a:tr>
              <a:tr h="1000125"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152C3A"/>
                          </a:solidFill>
                          <a:latin typeface="Arial"/>
                          <a:ea typeface="Arial"/>
                          <a:cs typeface="Arial"/>
                        </a:rPr>
                        <a:t>Clinical entry</a:t>
                      </a:r>
                    </a:p>
                  </a:txBody>
                  <a:tcPr marL="209550" marR="171450" marT="152400" marB="133350" anchor="ctr">
                    <a:solidFill>
                      <a:srgbClr val="FA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52C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209550" marR="171450" marT="152400" marB="133350" anchor="ctr">
                    <a:solidFill>
                      <a:srgbClr val="FA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52C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209550" marR="171450" marT="152400" marB="133350" anchor="ctr">
                    <a:solidFill>
                      <a:srgbClr val="FAF5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152C3A"/>
                          </a:solidFill>
                          <a:latin typeface="Arial"/>
                          <a:ea typeface="Arial"/>
                          <a:cs typeface="Arial"/>
                        </a:rPr>
                        <a:t>Patients, ethics, capital and time</a:t>
                      </a:r>
                    </a:p>
                    <a:p>
                      <a:pPr algn="l"/>
                      <a:r>
                        <a:rPr sz="1875" b="0">
                          <a:solidFill>
                            <a:srgbClr val="152C3A"/>
                          </a:solidFill>
                          <a:latin typeface="Arial"/>
                          <a:ea typeface="Arial"/>
                          <a:cs typeface="Arial"/>
                        </a:rPr>
                        <a:t>remain hard constraints.</a:t>
                      </a:r>
                    </a:p>
                  </a:txBody>
                  <a:tcPr marL="209550" marR="171450" marT="152400" marB="133350" anchor="ctr">
                    <a:solidFill>
                      <a:srgbClr val="FAF5EB"/>
                    </a:solidFill>
                  </a:tcPr>
                </a:tc>
              </a:tr>
              <a:tr h="1000125"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152C3A"/>
                          </a:solidFill>
                          <a:latin typeface="Arial"/>
                          <a:ea typeface="Arial"/>
                          <a:cs typeface="Arial"/>
                        </a:rPr>
                        <a:t>Expected approvals</a:t>
                      </a:r>
                    </a:p>
                  </a:txBody>
                  <a:tcPr marL="209550" marR="171450" marT="152400" marB="133350" anchor="ctr">
                    <a:solidFill>
                      <a:srgbClr val="FA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52C3A"/>
                          </a:solidFill>
                          <a:latin typeface="Arial"/>
                          <a:ea typeface="Arial"/>
                          <a:cs typeface="Arial"/>
                        </a:rPr>
                        <a:t>~0.14</a:t>
                      </a:r>
                    </a:p>
                  </a:txBody>
                  <a:tcPr marL="209550" marR="171450" marT="152400" marB="133350" anchor="ctr">
                    <a:solidFill>
                      <a:srgbClr val="FA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52C3A"/>
                          </a:solidFill>
                          <a:latin typeface="Arial"/>
                          <a:ea typeface="Arial"/>
                          <a:cs typeface="Arial"/>
                        </a:rPr>
                        <a:t>Unknown</a:t>
                      </a:r>
                    </a:p>
                  </a:txBody>
                  <a:tcPr marL="209550" marR="171450" marT="152400" marB="133350" anchor="ctr">
                    <a:solidFill>
                      <a:srgbClr val="FAF5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152C3A"/>
                          </a:solidFill>
                          <a:latin typeface="Arial"/>
                          <a:ea typeface="Arial"/>
                          <a:cs typeface="Arial"/>
                        </a:rPr>
                        <a:t>Clinical success must be demonstrated;</a:t>
                      </a:r>
                    </a:p>
                    <a:p>
                      <a:pPr algn="l"/>
                      <a:r>
                        <a:rPr sz="1875" b="0">
                          <a:solidFill>
                            <a:srgbClr val="152C3A"/>
                          </a:solidFill>
                          <a:latin typeface="Arial"/>
                          <a:ea typeface="Arial"/>
                          <a:cs typeface="Arial"/>
                        </a:rPr>
                        <a:t>AI does not establish an approval rate.</a:t>
                      </a:r>
                    </a:p>
                  </a:txBody>
                  <a:tcPr marL="209550" marR="171450" marT="152400" marB="133350" anchor="ctr">
                    <a:solidFill>
                      <a:srgbClr val="FAF5EB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C4BD63-883B-4ABE-8447-8D68C643A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53425"/>
            <a:ext cx="16916400" cy="933450"/>
          </a:xfrm>
          <a:prstGeom xmlns:a="http://schemas.openxmlformats.org/drawingml/2006/main" prst="roundRect">
            <a:avLst>
              <a:gd name="adj" fmla="val 10204"/>
            </a:avLst>
          </a:prstGeom>
          <a:solidFill xmlns:a="http://schemas.openxmlformats.org/drawingml/2006/main">
            <a:srgbClr val="152C3A"/>
          </a:solidFill>
          <a:ln xmlns:a="http://schemas.openxmlformats.org/drawingml/2006/main" w="9525">
            <a:noFill/>
          </a:ln>
        </p:spPr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C6279F-989E-40DB-B2AD-FE917BEE6E2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78055a958a4539">
            <a:extLst>
              <a:ext uri="{96DAC541-7B7A-43D3-8B79-37D633B846F1}">
                <asvg:svgBlip xmlns:asvg="http://schemas.microsoft.com/office/drawing/2016/SVG/main" r:embed="R0c1a2a118a7444c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04875" y="8562975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8" name="Working thesis: experimental throughput becomes a capacity gate as virtual design scales.">
            <a:extLst xmlns:a="http://schemas.openxmlformats.org/drawingml/2006/main">
              <a:ext uri="{FF2B5EF4-FFF2-40B4-BE49-F238E27FC236}">
                <a16:creationId xmlns:a16="http://schemas.microsoft.com/office/drawing/2014/main" id="{7AE6D2EB-12B4-4B92-ABB8-66BC6F8E3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8562975"/>
            <a:ext cx="156686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Working thesis: experimental throughput becomes a capacity gate as virtual design scales.</a:t>
            </a:r>
          </a:p>
        </p:txBody>
      </p:sp>
      <p:sp>
        <p:nvSpPr>
          <p:cNvPr id="9" name="Source: user-supplied comparison. ~0.14 is an illustrative expected approval count per clinical entrant; the AI-era outcome is unknown.">
            <a:extLst xmlns:a="http://schemas.openxmlformats.org/drawingml/2006/main">
              <a:ext uri="{FF2B5EF4-FFF2-40B4-BE49-F238E27FC236}">
                <a16:creationId xmlns:a16="http://schemas.microsoft.com/office/drawing/2014/main" id="{0D4EB9AE-A16F-4E84-8893-301AABB15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601200"/>
            <a:ext cx="16916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1275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47887"/>
                </a:solidFill>
                <a:latin typeface="Arial"/>
                <a:ea typeface="Arial"/>
                <a:cs typeface="Arial"/>
              </a:rPr>
              <a:t>Source: user-supplied comparison. ~0.14 is an illustrative expected approval count per clinical entrant; the AI-era outcome is unknown.</a:t>
            </a:r>
          </a:p>
        </p:txBody>
      </p:sp>
    </p:spTree>
    <p:extLst>
      <p:ext uri="{BB962C8B-B14F-4D97-AF65-F5344CB8AC3E}">
        <p14:creationId xmlns:p14="http://schemas.microsoft.com/office/powerpoint/2010/main" val="91294953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5D013EC4-C028-48FE-B4FF-57D49CB0E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85725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D80"/>
          </a:solidFill>
          <a:ln xmlns:a="http://schemas.openxmlformats.org/drawingml/2006/main" w="9525">
            <a:noFill/>
          </a:ln>
        </p:spPr>
      </p:sp>
      <p:sp>
        <p:nvSpPr>
          <p:cNvPr id="2" name="AI-scale design meets finite experimental capacity">
            <a:extLst xmlns:a="http://schemas.openxmlformats.org/drawingml/2006/main">
              <a:ext uri="{FF2B5EF4-FFF2-40B4-BE49-F238E27FC236}">
                <a16:creationId xmlns:a16="http://schemas.microsoft.com/office/drawing/2014/main" id="{59FE82D3-23D6-4A52-B95D-4E486A22F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95300"/>
            <a:ext cx="16525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3450" b="1">
                <a:solidFill>
                  <a:srgbClr val="152C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52C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52C3A"/>
                </a:solidFill>
                <a:latin typeface="Arial"/>
                <a:ea typeface="Arial"/>
                <a:cs typeface="Arial"/>
              </a:rPr>
              <a:t>AI-scale design meets finite experimental capacity</a:t>
            </a:r>
          </a:p>
        </p:txBody>
      </p:sp>
      <p:sp>
        <p:nvSpPr>
          <p:cNvPr id="3" name="Working scenario: candidate generation expands faster than physical construction and biological validation.">
            <a:extLst xmlns:a="http://schemas.openxmlformats.org/drawingml/2006/main">
              <a:ext uri="{FF2B5EF4-FFF2-40B4-BE49-F238E27FC236}">
                <a16:creationId xmlns:a16="http://schemas.microsoft.com/office/drawing/2014/main" id="{48B7314A-71F9-4E3B-95FA-FBE558304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143000"/>
            <a:ext cx="1619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1725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47887"/>
                </a:solidFill>
                <a:latin typeface="Arial"/>
                <a:ea typeface="Arial"/>
                <a:cs typeface="Arial"/>
              </a:rPr>
              <a:t>Working scenario: candidate generation expands faster than physical construction and biological validation.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58F9E7-88E9-4EE7-B4E7-B0111837D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6916400" cy="95"/>
          </a:xfrm>
          <a:custGeom xmlns:a="http://schemas.openxmlformats.org/drawingml/2006/main">
            <a:pathLst>
              <a:path w="16916400" h="95">
                <a:moveTo>
                  <a:pt x="0" y="0"/>
                </a:moveTo>
                <a:lnTo>
                  <a:pt x="169164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7E3E8"/>
            </a:solidFill>
            <a:prstDash val="solid"/>
          </a:ln>
        </p:spPr>
      </p:sp>
      <p:sp>
        <p:nvSpPr>
          <p:cNvPr id="5" name="AI-ERA DISCOVERY FUNNEL">
            <a:extLst xmlns:a="http://schemas.openxmlformats.org/drawingml/2006/main">
              <a:ext uri="{FF2B5EF4-FFF2-40B4-BE49-F238E27FC236}">
                <a16:creationId xmlns:a16="http://schemas.microsoft.com/office/drawing/2014/main" id="{5986FECE-3AE9-4A50-8943-3C4879EF9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514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1650" b="1">
                <a:solidFill>
                  <a:srgbClr val="152C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52C3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2C3A"/>
                </a:solidFill>
                <a:latin typeface="Arial"/>
                <a:ea typeface="Arial"/>
                <a:cs typeface="Arial"/>
              </a:rPr>
              <a:t>AI-ERA DISCOVERY FUNNEL</a:t>
            </a:r>
          </a:p>
        </p:txBody>
      </p:sp>
      <p:sp>
        <p:nvSpPr>
          <p:cNvPr id="6" name="Illustrative counts per one clinical entrant">
            <a:extLst xmlns:a="http://schemas.openxmlformats.org/drawingml/2006/main">
              <a:ext uri="{FF2B5EF4-FFF2-40B4-BE49-F238E27FC236}">
                <a16:creationId xmlns:a16="http://schemas.microsoft.com/office/drawing/2014/main" id="{65B7C79D-DE7D-4742-BAE8-F310D979F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9077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1350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7887"/>
                </a:solidFill>
                <a:latin typeface="Arial"/>
                <a:ea typeface="Arial"/>
                <a:cs typeface="Arial"/>
              </a:rPr>
              <a:t>Illustrative counts per one clinical entrant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763FAC-5F8C-4752-A81C-A8A4F8BAA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5067300" cy="1066800"/>
          </a:xfrm>
          <a:custGeom xmlns:a="http://schemas.openxmlformats.org/drawingml/2006/main">
            <a:pathLst>
              <a:path w="5067300" h="1066800">
                <a:moveTo>
                  <a:pt x="0" y="0"/>
                </a:moveTo>
                <a:lnTo>
                  <a:pt x="5067300" y="0"/>
                </a:lnTo>
                <a:lnTo>
                  <a:pt x="4438650" y="1066800"/>
                </a:lnTo>
                <a:lnTo>
                  <a:pt x="628650" y="1066800"/>
                </a:lnTo>
                <a:close/>
              </a:path>
            </a:pathLst>
          </a:custGeom>
          <a:solidFill xmlns:a="http://schemas.openxmlformats.org/drawingml/2006/main">
            <a:srgbClr val="EAF0FA"/>
          </a:solidFill>
          <a:ln xmlns:a="http://schemas.openxmlformats.org/drawingml/2006/main" w="19050">
            <a:solidFill>
              <a:srgbClr val="2B62B1"/>
            </a:solidFill>
          </a:ln>
        </p:spPr>
      </p:sp>
      <p:sp>
        <p:nvSpPr>
          <p:cNvPr id="8" name="Virtual designs">
            <a:extLst xmlns:a="http://schemas.openxmlformats.org/drawingml/2006/main">
              <a:ext uri="{FF2B5EF4-FFF2-40B4-BE49-F238E27FC236}">
                <a16:creationId xmlns:a16="http://schemas.microsoft.com/office/drawing/2014/main" id="{749339BC-3691-4AC4-9D93-AFC168110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14675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ctr">
              <a:defRPr sz="1725" b="1">
                <a:solidFill>
                  <a:srgbClr val="2B62B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2B62B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B62B1"/>
                </a:solidFill>
                <a:latin typeface="Arial"/>
                <a:ea typeface="Arial"/>
                <a:cs typeface="Arial"/>
              </a:rPr>
              <a:t>Virtual designs</a:t>
            </a:r>
          </a:p>
        </p:txBody>
      </p:sp>
      <p:sp>
        <p:nvSpPr>
          <p:cNvPr id="9" name="10⁵–10⁹">
            <a:extLst xmlns:a="http://schemas.openxmlformats.org/drawingml/2006/main">
              <a:ext uri="{FF2B5EF4-FFF2-40B4-BE49-F238E27FC236}">
                <a16:creationId xmlns:a16="http://schemas.microsoft.com/office/drawing/2014/main" id="{4689A067-EC03-4D94-A68D-36BB2D9AD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5067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ctr">
              <a:defRPr sz="2550" b="1">
                <a:solidFill>
                  <a:srgbClr val="2B62B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550" b="1">
                <a:solidFill>
                  <a:srgbClr val="2B62B1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B62B1"/>
                </a:solidFill>
                <a:latin typeface="Arial"/>
                <a:ea typeface="Arial"/>
                <a:cs typeface="Arial"/>
              </a:rPr>
              <a:t>10⁵–10⁹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5ED982-F66E-4BED-ADE9-F78EB73B9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133850"/>
            <a:ext cx="3810000" cy="990600"/>
          </a:xfrm>
          <a:custGeom xmlns:a="http://schemas.openxmlformats.org/drawingml/2006/main">
            <a:pathLst>
              <a:path w="3810000" h="990600">
                <a:moveTo>
                  <a:pt x="0" y="0"/>
                </a:moveTo>
                <a:lnTo>
                  <a:pt x="3810000" y="0"/>
                </a:lnTo>
                <a:lnTo>
                  <a:pt x="3381375" y="990600"/>
                </a:lnTo>
                <a:lnTo>
                  <a:pt x="428625" y="990600"/>
                </a:lnTo>
                <a:close/>
              </a:path>
            </a:pathLst>
          </a:custGeom>
          <a:solidFill xmlns:a="http://schemas.openxmlformats.org/drawingml/2006/main">
            <a:srgbClr val="BFE8E1"/>
          </a:solidFill>
          <a:ln xmlns:a="http://schemas.openxmlformats.org/drawingml/2006/main" w="19050">
            <a:solidFill>
              <a:srgbClr val="007D80"/>
            </a:solidFill>
          </a:ln>
        </p:spPr>
      </p:sp>
      <p:sp>
        <p:nvSpPr>
          <p:cNvPr id="11" name="Physically made">
            <a:extLst xmlns:a="http://schemas.openxmlformats.org/drawingml/2006/main">
              <a:ext uri="{FF2B5EF4-FFF2-40B4-BE49-F238E27FC236}">
                <a16:creationId xmlns:a16="http://schemas.microsoft.com/office/drawing/2014/main" id="{99DF193A-A73D-4F82-8CD9-6D33F9358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295775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ctr">
              <a:defRPr sz="1725" b="1">
                <a:solidFill>
                  <a:srgbClr val="007D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007D8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7D80"/>
                </a:solidFill>
                <a:latin typeface="Arial"/>
                <a:ea typeface="Arial"/>
                <a:cs typeface="Arial"/>
              </a:rPr>
              <a:t>Physically made</a:t>
            </a:r>
          </a:p>
        </p:txBody>
      </p:sp>
      <p:sp>
        <p:nvSpPr>
          <p:cNvPr id="12" name="10³–10⁴">
            <a:extLst xmlns:a="http://schemas.openxmlformats.org/drawingml/2006/main">
              <a:ext uri="{FF2B5EF4-FFF2-40B4-BE49-F238E27FC236}">
                <a16:creationId xmlns:a16="http://schemas.microsoft.com/office/drawing/2014/main" id="{44FFB980-CF7E-437D-800E-689245331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29150"/>
            <a:ext cx="381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ctr">
              <a:defRPr sz="2550" b="1">
                <a:solidFill>
                  <a:srgbClr val="007D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550" b="1">
                <a:solidFill>
                  <a:srgbClr val="007D8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07D80"/>
                </a:solidFill>
                <a:latin typeface="Arial"/>
                <a:ea typeface="Arial"/>
                <a:cs typeface="Arial"/>
              </a:rPr>
              <a:t>10³–10⁴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A2E45A-F166-4686-8938-23C84A0C0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5238750"/>
            <a:ext cx="2952750" cy="1028700"/>
          </a:xfrm>
          <a:custGeom xmlns:a="http://schemas.openxmlformats.org/drawingml/2006/main">
            <a:pathLst>
              <a:path w="2952750" h="1028700">
                <a:moveTo>
                  <a:pt x="0" y="0"/>
                </a:moveTo>
                <a:lnTo>
                  <a:pt x="2952750" y="0"/>
                </a:lnTo>
                <a:lnTo>
                  <a:pt x="2476500" y="1028700"/>
                </a:lnTo>
                <a:lnTo>
                  <a:pt x="476250" y="1028700"/>
                </a:lnTo>
                <a:close/>
              </a:path>
            </a:pathLst>
          </a:custGeom>
          <a:solidFill xmlns:a="http://schemas.openxmlformats.org/drawingml/2006/main">
            <a:srgbClr val="007D80"/>
          </a:solidFill>
          <a:ln xmlns:a="http://schemas.openxmlformats.org/drawingml/2006/main" w="19050">
            <a:solidFill>
              <a:srgbClr val="007D80"/>
            </a:solidFill>
          </a:ln>
        </p:spPr>
      </p:sp>
      <p:sp>
        <p:nvSpPr>
          <p:cNvPr id="14" name="Fully profiled">
            <a:extLst xmlns:a="http://schemas.openxmlformats.org/drawingml/2006/main">
              <a:ext uri="{FF2B5EF4-FFF2-40B4-BE49-F238E27FC236}">
                <a16:creationId xmlns:a16="http://schemas.microsoft.com/office/drawing/2014/main" id="{4180401C-C516-48D8-855E-BD4BCD159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5400675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Fully profiled</a:t>
            </a:r>
          </a:p>
        </p:txBody>
      </p:sp>
      <p:sp>
        <p:nvSpPr>
          <p:cNvPr id="15" name="50 → 500">
            <a:extLst xmlns:a="http://schemas.openxmlformats.org/drawingml/2006/main">
              <a:ext uri="{FF2B5EF4-FFF2-40B4-BE49-F238E27FC236}">
                <a16:creationId xmlns:a16="http://schemas.microsoft.com/office/drawing/2014/main" id="{ACEA52AE-CE1B-4241-9158-54CA358E6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5734050"/>
            <a:ext cx="295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ctr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50 → 500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8086EE-FA86-4002-9EC2-CA48868AD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6381750"/>
            <a:ext cx="2000250" cy="809625"/>
          </a:xfrm>
          <a:custGeom xmlns:a="http://schemas.openxmlformats.org/drawingml/2006/main">
            <a:pathLst>
              <a:path w="2000250" h="809625">
                <a:moveTo>
                  <a:pt x="0" y="0"/>
                </a:moveTo>
                <a:lnTo>
                  <a:pt x="2000250" y="0"/>
                </a:lnTo>
                <a:lnTo>
                  <a:pt x="1714500" y="809625"/>
                </a:lnTo>
                <a:lnTo>
                  <a:pt x="285750" y="809625"/>
                </a:lnTo>
                <a:close/>
              </a:path>
            </a:pathLst>
          </a:custGeom>
          <a:solidFill xmlns:a="http://schemas.openxmlformats.org/drawingml/2006/main">
            <a:srgbClr val="FAF5EB"/>
          </a:solidFill>
          <a:ln xmlns:a="http://schemas.openxmlformats.org/drawingml/2006/main" w="19050">
            <a:solidFill>
              <a:srgbClr val="BB8D37"/>
            </a:solidFill>
          </a:ln>
        </p:spPr>
      </p:sp>
      <p:sp>
        <p:nvSpPr>
          <p:cNvPr id="17" name="Clinical entry">
            <a:extLst xmlns:a="http://schemas.openxmlformats.org/drawingml/2006/main">
              <a:ext uri="{FF2B5EF4-FFF2-40B4-BE49-F238E27FC236}">
                <a16:creationId xmlns:a16="http://schemas.microsoft.com/office/drawing/2014/main" id="{6632AF77-5B24-453B-8A1C-7EF7DD9A2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6543675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ctr">
              <a:defRPr sz="1350" b="1">
                <a:solidFill>
                  <a:srgbClr val="152C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350" b="1">
                <a:solidFill>
                  <a:srgbClr val="152C3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2C3A"/>
                </a:solidFill>
                <a:latin typeface="Arial"/>
                <a:ea typeface="Arial"/>
                <a:cs typeface="Arial"/>
              </a:rPr>
              <a:t>Clinical entry</a:t>
            </a:r>
          </a:p>
        </p:txBody>
      </p:sp>
      <p:sp>
        <p:nvSpPr>
          <p:cNvPr id="18" name="1">
            <a:extLst xmlns:a="http://schemas.openxmlformats.org/drawingml/2006/main">
              <a:ext uri="{FF2B5EF4-FFF2-40B4-BE49-F238E27FC236}">
                <a16:creationId xmlns:a16="http://schemas.microsoft.com/office/drawing/2014/main" id="{4CF3374F-788B-4DF2-A96A-6EE7A18A5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687705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ctr">
              <a:defRPr sz="1725" b="1">
                <a:solidFill>
                  <a:srgbClr val="152C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152C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52C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4DBE0C-677A-4067-9679-C0CF9890A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7305675"/>
            <a:ext cx="1428750" cy="819150"/>
          </a:xfrm>
          <a:custGeom xmlns:a="http://schemas.openxmlformats.org/drawingml/2006/main">
            <a:pathLst>
              <a:path w="1428750" h="819150">
                <a:moveTo>
                  <a:pt x="0" y="0"/>
                </a:moveTo>
                <a:lnTo>
                  <a:pt x="1428750" y="0"/>
                </a:lnTo>
                <a:lnTo>
                  <a:pt x="1304925" y="819150"/>
                </a:lnTo>
                <a:lnTo>
                  <a:pt x="123825" y="819150"/>
                </a:lnTo>
                <a:close/>
              </a:path>
            </a:pathLst>
          </a:custGeom>
          <a:solidFill xmlns:a="http://schemas.openxmlformats.org/drawingml/2006/main">
            <a:srgbClr val="F8EBEE"/>
          </a:solidFill>
          <a:ln xmlns:a="http://schemas.openxmlformats.org/drawingml/2006/main" w="19050">
            <a:solidFill>
              <a:srgbClr val="BB5360"/>
            </a:solidFill>
          </a:ln>
        </p:spPr>
      </p:sp>
      <p:sp>
        <p:nvSpPr>
          <p:cNvPr id="20" name="Approvals">
            <a:extLst xmlns:a="http://schemas.openxmlformats.org/drawingml/2006/main">
              <a:ext uri="{FF2B5EF4-FFF2-40B4-BE49-F238E27FC236}">
                <a16:creationId xmlns:a16="http://schemas.microsoft.com/office/drawing/2014/main" id="{F447150C-EA3D-4046-9062-14B6575F0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746760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ctr">
              <a:defRPr sz="1350" b="1">
                <a:solidFill>
                  <a:srgbClr val="152C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350" b="1">
                <a:solidFill>
                  <a:srgbClr val="152C3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2C3A"/>
                </a:solidFill>
                <a:latin typeface="Arial"/>
                <a:ea typeface="Arial"/>
                <a:cs typeface="Arial"/>
              </a:rPr>
              <a:t>Approvals</a:t>
            </a:r>
          </a:p>
        </p:txBody>
      </p:sp>
      <p:sp>
        <p:nvSpPr>
          <p:cNvPr id="21" name="Unknown">
            <a:extLst xmlns:a="http://schemas.openxmlformats.org/drawingml/2006/main">
              <a:ext uri="{FF2B5EF4-FFF2-40B4-BE49-F238E27FC236}">
                <a16:creationId xmlns:a16="http://schemas.microsoft.com/office/drawing/2014/main" id="{A5B2972E-FC02-493C-AD4A-CFB041C5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7800975"/>
            <a:ext cx="142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ctr">
              <a:defRPr sz="1725" b="1">
                <a:solidFill>
                  <a:srgbClr val="152C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152C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52C3A"/>
                </a:solidFill>
                <a:latin typeface="Arial"/>
                <a:ea typeface="Arial"/>
                <a:cs typeface="Arial"/>
              </a:rPr>
              <a:t>Unknown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966BE4-CB9A-4264-B02C-A5DEED661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133850"/>
            <a:ext cx="333375" cy="95"/>
          </a:xfrm>
          <a:custGeom xmlns:a="http://schemas.openxmlformats.org/drawingml/2006/main">
            <a:pathLst>
              <a:path w="333375" h="95">
                <a:moveTo>
                  <a:pt x="0" y="0"/>
                </a:moveTo>
                <a:lnTo>
                  <a:pt x="333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07D8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CA0039-BC5A-4FDB-B546-3CAA4AC2C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133850"/>
            <a:ext cx="95" cy="2133600"/>
          </a:xfrm>
          <a:custGeom xmlns:a="http://schemas.openxmlformats.org/drawingml/2006/main">
            <a:pathLst>
              <a:path w="95" h="2133600">
                <a:moveTo>
                  <a:pt x="0" y="0"/>
                </a:moveTo>
                <a:lnTo>
                  <a:pt x="0" y="21336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07D8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135867-249D-431A-BD2B-CB4462E9B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6267450"/>
            <a:ext cx="333375" cy="95"/>
          </a:xfrm>
          <a:custGeom xmlns:a="http://schemas.openxmlformats.org/drawingml/2006/main">
            <a:pathLst>
              <a:path w="333375" h="95">
                <a:moveTo>
                  <a:pt x="3333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07D8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6CCB09-ABF9-4D51-A030-63FF2E6BE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571750"/>
            <a:ext cx="657225" cy="6067425"/>
          </a:xfrm>
          <a:custGeom xmlns:a="http://schemas.openxmlformats.org/drawingml/2006/main">
            <a:pathLst>
              <a:path w="657225" h="6067425">
                <a:moveTo>
                  <a:pt x="0" y="1666875"/>
                </a:moveTo>
                <a:lnTo>
                  <a:pt x="657225" y="0"/>
                </a:lnTo>
                <a:lnTo>
                  <a:pt x="657225" y="6067425"/>
                </a:lnTo>
                <a:lnTo>
                  <a:pt x="0" y="3609975"/>
                </a:lnTo>
                <a:close/>
              </a:path>
            </a:pathLst>
          </a:custGeom>
          <a:solidFill xmlns:a="http://schemas.openxmlformats.org/drawingml/2006/main">
            <a:srgbClr val="F4FAF9"/>
          </a:solidFill>
          <a:ln xmlns:a="http://schemas.openxmlformats.org/drawingml/2006/main" w="9525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9937E1-CD09-43C6-97AE-ACD4E7E7D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571750"/>
            <a:ext cx="752475" cy="1666875"/>
          </a:xfrm>
          <a:custGeom xmlns:a="http://schemas.openxmlformats.org/drawingml/2006/main">
            <a:pathLst>
              <a:path w="752475" h="1666875">
                <a:moveTo>
                  <a:pt x="0" y="1666875"/>
                </a:moveTo>
                <a:lnTo>
                  <a:pt x="7524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8EBDB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2CF8915-4B87-4664-AC7B-2197D70A4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181725"/>
            <a:ext cx="752475" cy="2457450"/>
          </a:xfrm>
          <a:custGeom xmlns:a="http://schemas.openxmlformats.org/drawingml/2006/main">
            <a:pathLst>
              <a:path w="752475" h="2457450">
                <a:moveTo>
                  <a:pt x="0" y="0"/>
                </a:moveTo>
                <a:lnTo>
                  <a:pt x="752475" y="245745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8EBDB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DCB9E3-5560-4D6B-B4C2-254518B7E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458200"/>
            <a:ext cx="5095875" cy="676275"/>
          </a:xfrm>
          <a:prstGeom xmlns:a="http://schemas.openxmlformats.org/drawingml/2006/main" prst="roundRect">
            <a:avLst>
              <a:gd name="adj" fmla="val 11268"/>
            </a:avLst>
          </a:prstGeom>
          <a:solidFill xmlns:a="http://schemas.openxmlformats.org/drawingml/2006/main">
            <a:srgbClr val="EAF6F4"/>
          </a:solidFill>
          <a:ln xmlns:a="http://schemas.openxmlformats.org/drawingml/2006/main" w="9525">
            <a:noFill/>
          </a:ln>
        </p:spPr>
      </p:sp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57121AD-A44B-4676-B97B-E6D4211957C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fa754b39ee470e">
            <a:extLst>
              <a:ext uri="{96DAC541-7B7A-43D3-8B79-37D633B846F1}">
                <asvg:svgBlip xmlns:asvg="http://schemas.microsoft.com/office/drawing/2016/SVG/main" r:embed="Rfc8c013a0144422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66775" y="859155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30" name="WET LAB = BUILD + TEST">
            <a:extLst xmlns:a="http://schemas.openxmlformats.org/drawingml/2006/main">
              <a:ext uri="{FF2B5EF4-FFF2-40B4-BE49-F238E27FC236}">
                <a16:creationId xmlns:a16="http://schemas.microsoft.com/office/drawing/2014/main" id="{0D628F0E-5B8C-4E3D-BDE8-50E09A48B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859155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1725" b="1">
                <a:solidFill>
                  <a:srgbClr val="007D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07D8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7D80"/>
                </a:solidFill>
                <a:latin typeface="Arial"/>
                <a:ea typeface="Arial"/>
                <a:cs typeface="Arial"/>
              </a:rPr>
              <a:t>WET LAB = BUILD + TEST</a:t>
            </a:r>
          </a:p>
        </p:txBody>
      </p:sp>
      <p:sp>
        <p:nvSpPr>
          <p:cNvPr id="31" name="Funnel widths are schematic.">
            <a:extLst xmlns:a="http://schemas.openxmlformats.org/drawingml/2006/main">
              <a:ext uri="{FF2B5EF4-FFF2-40B4-BE49-F238E27FC236}">
                <a16:creationId xmlns:a16="http://schemas.microsoft.com/office/drawing/2014/main" id="{F35479D1-8630-466A-A83E-770CC26F7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0"/>
            <a:ext cx="523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1275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47887"/>
                </a:solidFill>
                <a:latin typeface="Arial"/>
                <a:ea typeface="Arial"/>
                <a:cs typeface="Arial"/>
              </a:rPr>
              <a:t>Funnel widths are schematic.</a:t>
            </a:r>
          </a:p>
          <a:p xmlns:a="http://schemas.openxmlformats.org/drawingml/2006/main">
            <a:pPr algn="l">
              <a:defRPr sz="1275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47887"/>
                </a:solidFill>
                <a:latin typeface="Arial"/>
                <a:ea typeface="Arial"/>
                <a:cs typeface="Arial"/>
              </a:rPr>
              <a:t>Clinical success remains unproven in this scenario.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022AB94-150A-449A-9DA3-92DA9AE2D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1990725"/>
            <a:ext cx="10925175" cy="6677025"/>
          </a:xfrm>
          <a:prstGeom xmlns:a="http://schemas.openxmlformats.org/drawingml/2006/main" prst="roundRect">
            <a:avLst>
              <a:gd name="adj" fmla="val 1997"/>
            </a:avLst>
          </a:prstGeom>
          <a:solidFill xmlns:a="http://schemas.openxmlformats.org/drawingml/2006/main">
            <a:srgbClr val="F8FBFC"/>
          </a:solidFill>
          <a:ln xmlns:a="http://schemas.openxmlformats.org/drawingml/2006/main" w="9525">
            <a:solidFill>
              <a:srgbClr val="D7E3E8"/>
            </a:solidFill>
          </a:ln>
        </p:spPr>
      </p:sp>
      <p:sp>
        <p:nvSpPr>
          <p:cNvPr id="33" name="The LST ecosystem behind the capacity gate">
            <a:extLst xmlns:a="http://schemas.openxmlformats.org/drawingml/2006/main">
              <a:ext uri="{FF2B5EF4-FFF2-40B4-BE49-F238E27FC236}">
                <a16:creationId xmlns:a16="http://schemas.microsoft.com/office/drawing/2014/main" id="{58E901C6-A7CE-43BB-84F3-0D4DF3DC5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2143125"/>
            <a:ext cx="10429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2175" b="1">
                <a:solidFill>
                  <a:srgbClr val="152C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152C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52C3A"/>
                </a:solidFill>
                <a:latin typeface="Arial"/>
                <a:ea typeface="Arial"/>
                <a:cs typeface="Arial"/>
              </a:rPr>
              <a:t>The LST ecosystem behind the capacity gate</a:t>
            </a:r>
          </a:p>
        </p:txBody>
      </p:sp>
      <p:sp>
        <p:nvSpPr>
          <p:cNvPr id="34" name="Selected market anchors • different scopes and years • do not add these values">
            <a:extLst xmlns:a="http://schemas.openxmlformats.org/drawingml/2006/main">
              <a:ext uri="{FF2B5EF4-FFF2-40B4-BE49-F238E27FC236}">
                <a16:creationId xmlns:a16="http://schemas.microsoft.com/office/drawing/2014/main" id="{6242D807-417F-471F-9E7B-379313F17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2543175"/>
            <a:ext cx="1038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1200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47887"/>
                </a:solidFill>
                <a:latin typeface="Arial"/>
                <a:ea typeface="Arial"/>
                <a:cs typeface="Arial"/>
              </a:rPr>
              <a:t>Selected market anchors • different scopes and years • do not add these values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E50E865-3EF4-4233-B48E-5F65C1A89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3038475"/>
            <a:ext cx="3286125" cy="2552700"/>
          </a:xfrm>
          <a:prstGeom xmlns:a="http://schemas.openxmlformats.org/drawingml/2006/main" prst="roundRect">
            <a:avLst>
              <a:gd name="adj" fmla="val 335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3E8"/>
            </a:solidFill>
          </a:ln>
        </p:spPr>
      </p:sp>
      <p:pic>
        <p:nvPic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3A246F5-8062-40D8-AC6E-27C0C1217A4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5116065dfd4a2d">
            <a:extLst>
              <a:ext uri="{96DAC541-7B7A-43D3-8B79-37D633B846F1}">
                <asvg:svgBlip xmlns:asvg="http://schemas.microsoft.com/office/drawing/2016/SVG/main" r:embed="Re4c66bae6c18466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086600" y="3209925"/>
            <a:ext cx="304800" cy="304800"/>
          </a:xfrm>
          <a:prstGeom xmlns:a="http://schemas.openxmlformats.org/drawingml/2006/main" prst="rect">
            <a:avLst/>
          </a:prstGeom>
        </p:spPr>
      </p:pic>
      <p:sp>
        <p:nvSpPr>
          <p:cNvPr id="37" name="Molecular construction">
            <a:extLst xmlns:a="http://schemas.openxmlformats.org/drawingml/2006/main">
              <a:ext uri="{FF2B5EF4-FFF2-40B4-BE49-F238E27FC236}">
                <a16:creationId xmlns:a16="http://schemas.microsoft.com/office/drawing/2014/main" id="{76AD23FB-3CC2-4CC7-BAAD-216BBE3D5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219450"/>
            <a:ext cx="259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1575" b="1">
                <a:solidFill>
                  <a:srgbClr val="152C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52C3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52C3A"/>
                </a:solidFill>
                <a:latin typeface="Arial"/>
                <a:ea typeface="Arial"/>
                <a:cs typeface="Arial"/>
              </a:rPr>
              <a:t>Molecular construction</a:t>
            </a:r>
          </a:p>
        </p:txBody>
      </p:sp>
      <p:sp>
        <p:nvSpPr>
          <p:cNvPr id="38" name="DNA / RNA synthesis, enzymes">
            <a:extLst xmlns:a="http://schemas.openxmlformats.org/drawingml/2006/main">
              <a:ext uri="{FF2B5EF4-FFF2-40B4-BE49-F238E27FC236}">
                <a16:creationId xmlns:a16="http://schemas.microsoft.com/office/drawing/2014/main" id="{47456F8A-F2CE-43AA-A0F4-8A42B8448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619500"/>
            <a:ext cx="2962275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1275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47887"/>
                </a:solidFill>
                <a:latin typeface="Arial"/>
                <a:ea typeface="Arial"/>
                <a:cs typeface="Arial"/>
              </a:rPr>
              <a:t>DNA / RNA synthesis, enzymes</a:t>
            </a:r>
          </a:p>
          <a:p xmlns:a="http://schemas.openxmlformats.org/drawingml/2006/main">
            <a:pPr algn="l">
              <a:defRPr sz="1275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47887"/>
                </a:solidFill>
                <a:latin typeface="Arial"/>
                <a:ea typeface="Arial"/>
                <a:cs typeface="Arial"/>
              </a:rPr>
              <a:t>Chemical building blocks</a:t>
            </a:r>
          </a:p>
        </p:txBody>
      </p:sp>
      <p:sp>
        <p:nvSpPr>
          <p:cNvPr id="39" name="RMB 1.33bn">
            <a:extLst xmlns:a="http://schemas.openxmlformats.org/drawingml/2006/main">
              <a:ext uri="{FF2B5EF4-FFF2-40B4-BE49-F238E27FC236}">
                <a16:creationId xmlns:a16="http://schemas.microsoft.com/office/drawing/2014/main" id="{2A570BF4-16DD-4081-AF35-0A0E2B77D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276725"/>
            <a:ext cx="29622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2250" b="1">
                <a:solidFill>
                  <a:srgbClr val="152C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52C3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2C3A"/>
                </a:solidFill>
                <a:latin typeface="Arial"/>
                <a:ea typeface="Arial"/>
                <a:cs typeface="Arial"/>
              </a:rPr>
              <a:t>RMB 1.33bn</a:t>
            </a:r>
          </a:p>
        </p:txBody>
      </p:sp>
      <p:sp>
        <p:nvSpPr>
          <p:cNvPr id="40" name="China • 2025 • DNA synthesis services [1]">
            <a:extLst xmlns:a="http://schemas.openxmlformats.org/drawingml/2006/main">
              <a:ext uri="{FF2B5EF4-FFF2-40B4-BE49-F238E27FC236}">
                <a16:creationId xmlns:a16="http://schemas.microsoft.com/office/drawing/2014/main" id="{5A2DFC55-9094-44C7-9FDE-32DDAFA72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695825"/>
            <a:ext cx="29622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1028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28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pPr>
            <a:r>
              <a:rPr sz="1028" b="0">
                <a:solidFill>
                  <a:srgbClr val="647887"/>
                </a:solidFill>
                <a:latin typeface="Arial"/>
                <a:ea typeface="Arial"/>
                <a:cs typeface="Arial"/>
              </a:rPr>
              <a:t>China • 2025 • DNA synthesis services [1]</a:t>
            </a:r>
          </a:p>
        </p:txBody>
      </p:sp>
      <p:sp>
        <p:nvSpPr>
          <p:cNvPr id="41" name="Oligos + long fragments only">
            <a:extLst xmlns:a="http://schemas.openxmlformats.org/drawingml/2006/main">
              <a:ext uri="{FF2B5EF4-FFF2-40B4-BE49-F238E27FC236}">
                <a16:creationId xmlns:a16="http://schemas.microsoft.com/office/drawing/2014/main" id="{882CEAC6-2A7D-42C1-8FD9-C880C0F2E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933950"/>
            <a:ext cx="29622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1013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13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647887"/>
                </a:solidFill>
                <a:latin typeface="Arial"/>
                <a:ea typeface="Arial"/>
                <a:cs typeface="Arial"/>
              </a:rPr>
              <a:t>Oligos + long fragments only</a:t>
            </a:r>
          </a:p>
        </p:txBody>
      </p:sp>
      <p:pic>
        <p:nvPic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1AAB7E2-3139-4854-8A56-0CEAC375CDE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a505f33dcd429b"/>
          <a:stretch xmlns:a="http://schemas.openxmlformats.org/drawingml/2006/main"/>
        </p:blipFill>
        <p:spPr>
          <a:xfrm xmlns:a="http://schemas.openxmlformats.org/drawingml/2006/main">
            <a:off x="7278959" y="5172075"/>
            <a:ext cx="758283" cy="323850"/>
          </a:xfrm>
          <a:prstGeom xmlns:a="http://schemas.openxmlformats.org/drawingml/2006/main" prst="rect">
            <a:avLst/>
          </a:prstGeom>
        </p:spPr>
      </p:pic>
      <p:pic>
        <p:nvPic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1E689F4-B6AF-47ED-B459-742DAA7FEC7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b5b7f0a0a442db"/>
          <a:stretch xmlns:a="http://schemas.openxmlformats.org/drawingml/2006/main"/>
        </p:blipFill>
        <p:spPr>
          <a:xfrm xmlns:a="http://schemas.openxmlformats.org/drawingml/2006/main">
            <a:off x="8415602" y="5172075"/>
            <a:ext cx="1142471" cy="323850"/>
          </a:xfrm>
          <a:prstGeom xmlns:a="http://schemas.openxmlformats.org/drawingml/2006/main" prst="rect">
            <a:avLst/>
          </a:prstGeom>
        </p:spPr>
      </p:pic>
      <p:sp>
        <p:nvSpPr>
          <p:cNvPr id="44" name="Twist • GenScript • Tsingke • Vazyme">
            <a:extLst xmlns:a="http://schemas.openxmlformats.org/drawingml/2006/main">
              <a:ext uri="{FF2B5EF4-FFF2-40B4-BE49-F238E27FC236}">
                <a16:creationId xmlns:a16="http://schemas.microsoft.com/office/drawing/2014/main" id="{50D1FDF7-DF6C-475C-BF2B-D2C3A5EEA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629275"/>
            <a:ext cx="296227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923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23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647887"/>
                </a:solidFill>
                <a:latin typeface="Arial"/>
                <a:ea typeface="Arial"/>
                <a:cs typeface="Arial"/>
              </a:rPr>
              <a:t>Twist • GenScript • Tsingke • Vazyme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5BF5D50-29B4-43EF-9C5B-87A8C0D9C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038475"/>
            <a:ext cx="3286125" cy="2552700"/>
          </a:xfrm>
          <a:prstGeom xmlns:a="http://schemas.openxmlformats.org/drawingml/2006/main" prst="roundRect">
            <a:avLst>
              <a:gd name="adj" fmla="val 335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B8D37"/>
            </a:solidFill>
          </a:ln>
        </p:spPr>
      </p:sp>
      <p:pic>
        <p:nvPic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AA4990C-EF77-413A-B984-68F0DEC4163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739c30c52c46f1">
            <a:extLst>
              <a:ext uri="{96DAC541-7B7A-43D3-8B79-37D633B846F1}">
                <asvg:svgBlip xmlns:asvg="http://schemas.microsoft.com/office/drawing/2016/SVG/main" r:embed="R93c9826a0ceb4cc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658475" y="3209925"/>
            <a:ext cx="304800" cy="304800"/>
          </a:xfrm>
          <a:prstGeom xmlns:a="http://schemas.openxmlformats.org/drawingml/2006/main" prst="rect">
            <a:avLst/>
          </a:prstGeom>
        </p:spPr>
      </p:pic>
      <p:sp>
        <p:nvSpPr>
          <p:cNvPr id="47" name="Protein &amp; functional assays">
            <a:extLst xmlns:a="http://schemas.openxmlformats.org/drawingml/2006/main">
              <a:ext uri="{FF2B5EF4-FFF2-40B4-BE49-F238E27FC236}">
                <a16:creationId xmlns:a16="http://schemas.microsoft.com/office/drawing/2014/main" id="{BFFFEAF9-080B-4F71-A800-58C50E3E9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3219450"/>
            <a:ext cx="259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1575" b="1">
                <a:solidFill>
                  <a:srgbClr val="152C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52C3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52C3A"/>
                </a:solidFill>
                <a:latin typeface="Arial"/>
                <a:ea typeface="Arial"/>
                <a:cs typeface="Arial"/>
              </a:rPr>
              <a:t>Protein &amp; functional assays</a:t>
            </a:r>
          </a:p>
        </p:txBody>
      </p:sp>
      <p:sp>
        <p:nvSpPr>
          <p:cNvPr id="48" name="Recombinant proteins, antibodies">
            <a:extLst xmlns:a="http://schemas.openxmlformats.org/drawingml/2006/main">
              <a:ext uri="{FF2B5EF4-FFF2-40B4-BE49-F238E27FC236}">
                <a16:creationId xmlns:a16="http://schemas.microsoft.com/office/drawing/2014/main" id="{C4603C1A-DB59-4B5C-BE1F-98173BA96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3619500"/>
            <a:ext cx="2962275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1275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47887"/>
                </a:solidFill>
                <a:latin typeface="Arial"/>
                <a:ea typeface="Arial"/>
                <a:cs typeface="Arial"/>
              </a:rPr>
              <a:t>Recombinant proteins, antibodies</a:t>
            </a:r>
          </a:p>
          <a:p xmlns:a="http://schemas.openxmlformats.org/drawingml/2006/main">
            <a:pPr algn="l">
              <a:defRPr sz="1275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47887"/>
                </a:solidFill>
                <a:latin typeface="Arial"/>
                <a:ea typeface="Arial"/>
                <a:cs typeface="Arial"/>
              </a:rPr>
              <a:t>Binding and activity assays</a:t>
            </a:r>
          </a:p>
        </p:txBody>
      </p:sp>
      <p:sp>
        <p:nvSpPr>
          <p:cNvPr id="49" name="US$3.5bn">
            <a:extLst xmlns:a="http://schemas.openxmlformats.org/drawingml/2006/main">
              <a:ext uri="{FF2B5EF4-FFF2-40B4-BE49-F238E27FC236}">
                <a16:creationId xmlns:a16="http://schemas.microsoft.com/office/drawing/2014/main" id="{A580B060-DF7D-49A0-BCB6-090CEAFB6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276725"/>
            <a:ext cx="29622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2250" b="1">
                <a:solidFill>
                  <a:srgbClr val="007D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007D8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7D80"/>
                </a:solidFill>
                <a:latin typeface="Arial"/>
                <a:ea typeface="Arial"/>
                <a:cs typeface="Arial"/>
              </a:rPr>
              <a:t>US$3.5bn</a:t>
            </a:r>
          </a:p>
        </p:txBody>
      </p:sp>
      <p:sp>
        <p:nvSpPr>
          <p:cNvPr id="50" name="Global • 2025 • research proteins [2]">
            <a:extLst xmlns:a="http://schemas.openxmlformats.org/drawingml/2006/main">
              <a:ext uri="{FF2B5EF4-FFF2-40B4-BE49-F238E27FC236}">
                <a16:creationId xmlns:a16="http://schemas.microsoft.com/office/drawing/2014/main" id="{FA0CA06E-4F61-4DCC-A958-78CDF21C2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695825"/>
            <a:ext cx="29622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1028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28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pPr>
            <a:r>
              <a:rPr sz="1028" b="0">
                <a:solidFill>
                  <a:srgbClr val="647887"/>
                </a:solidFill>
                <a:latin typeface="Arial"/>
                <a:ea typeface="Arial"/>
                <a:cs typeface="Arial"/>
              </a:rPr>
              <a:t>Global • 2025 • research proteins [2]</a:t>
            </a:r>
          </a:p>
        </p:txBody>
      </p:sp>
      <p:sp>
        <p:nvSpPr>
          <p:cNvPr id="51" name="China: ~US$0.4bn • RUO scope">
            <a:extLst xmlns:a="http://schemas.openxmlformats.org/drawingml/2006/main">
              <a:ext uri="{FF2B5EF4-FFF2-40B4-BE49-F238E27FC236}">
                <a16:creationId xmlns:a16="http://schemas.microsoft.com/office/drawing/2014/main" id="{95216EB2-EA6F-4B5E-9C07-53FCE0E9A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933950"/>
            <a:ext cx="29622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1013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13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647887"/>
                </a:solidFill>
                <a:latin typeface="Arial"/>
                <a:ea typeface="Arial"/>
                <a:cs typeface="Arial"/>
              </a:rPr>
              <a:t>China: ~US$0.4bn • RUO scope</a:t>
            </a:r>
          </a:p>
        </p:txBody>
      </p:sp>
      <p:pic>
        <p:nvPic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68445BD-B0D7-4F1C-8263-B44EE99809C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448fff97044946"/>
          <a:stretch xmlns:a="http://schemas.openxmlformats.org/drawingml/2006/main"/>
        </p:blipFill>
        <p:spPr>
          <a:xfrm xmlns:a="http://schemas.openxmlformats.org/drawingml/2006/main">
            <a:off x="10847876" y="5172075"/>
            <a:ext cx="1002323" cy="323850"/>
          </a:xfrm>
          <a:prstGeom xmlns:a="http://schemas.openxmlformats.org/drawingml/2006/main" prst="rect">
            <a:avLst/>
          </a:prstGeom>
        </p:spPr>
      </p:pic>
      <p:sp>
        <p:nvSpPr>
          <p:cNvPr id="53" name="ACROBiosystems • Bio-Techne • Sino">
            <a:extLst xmlns:a="http://schemas.openxmlformats.org/drawingml/2006/main">
              <a:ext uri="{FF2B5EF4-FFF2-40B4-BE49-F238E27FC236}">
                <a16:creationId xmlns:a16="http://schemas.microsoft.com/office/drawing/2014/main" id="{C11934FF-3A1D-4398-A139-7FDFD0C45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5629275"/>
            <a:ext cx="296227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923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23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647887"/>
                </a:solidFill>
                <a:latin typeface="Arial"/>
                <a:ea typeface="Arial"/>
                <a:cs typeface="Arial"/>
              </a:rPr>
              <a:t>ACROBiosystems • Bio-Techne • Sino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65F199F-FCE1-4BE7-9D06-66688ABEF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8425" y="3038475"/>
            <a:ext cx="3286125" cy="2552700"/>
          </a:xfrm>
          <a:prstGeom xmlns:a="http://schemas.openxmlformats.org/drawingml/2006/main" prst="roundRect">
            <a:avLst>
              <a:gd name="adj" fmla="val 335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3E8"/>
            </a:solidFill>
          </a:ln>
        </p:spPr>
      </p:sp>
      <p:pic>
        <p:nvPic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5FE8129-3523-441F-9D4C-D865FEA75DF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52e438100d4a96">
            <a:extLst>
              <a:ext uri="{96DAC541-7B7A-43D3-8B79-37D633B846F1}">
                <asvg:svgBlip xmlns:asvg="http://schemas.microsoft.com/office/drawing/2016/SVG/main" r:embed="Rdb05f8b4dfee421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4230350" y="3209925"/>
            <a:ext cx="304800" cy="304800"/>
          </a:xfrm>
          <a:prstGeom xmlns:a="http://schemas.openxmlformats.org/drawingml/2006/main" prst="rect">
            <a:avLst/>
          </a:prstGeom>
        </p:spPr>
      </p:pic>
      <p:sp>
        <p:nvSpPr>
          <p:cNvPr id="56" name="Cells &amp; culture systems">
            <a:extLst xmlns:a="http://schemas.openxmlformats.org/drawingml/2006/main">
              <a:ext uri="{FF2B5EF4-FFF2-40B4-BE49-F238E27FC236}">
                <a16:creationId xmlns:a16="http://schemas.microsoft.com/office/drawing/2014/main" id="{A016B12A-BD62-4D91-BDB4-F22AD3F20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49450" y="3219450"/>
            <a:ext cx="259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1575" b="1">
                <a:solidFill>
                  <a:srgbClr val="152C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52C3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52C3A"/>
                </a:solidFill>
                <a:latin typeface="Arial"/>
                <a:ea typeface="Arial"/>
                <a:cs typeface="Arial"/>
              </a:rPr>
              <a:t>Cells &amp; culture systems</a:t>
            </a:r>
          </a:p>
        </p:txBody>
      </p:sp>
      <p:sp>
        <p:nvSpPr>
          <p:cNvPr id="57" name="Cell models, media, feeds">
            <a:extLst xmlns:a="http://schemas.openxmlformats.org/drawingml/2006/main">
              <a:ext uri="{FF2B5EF4-FFF2-40B4-BE49-F238E27FC236}">
                <a16:creationId xmlns:a16="http://schemas.microsoft.com/office/drawing/2014/main" id="{77DB0D37-2A25-4F02-B6FE-918601AFC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30350" y="3619500"/>
            <a:ext cx="2962275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1275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47887"/>
                </a:solidFill>
                <a:latin typeface="Arial"/>
                <a:ea typeface="Arial"/>
                <a:cs typeface="Arial"/>
              </a:rPr>
              <a:t>Cell models, media, feeds</a:t>
            </a:r>
          </a:p>
          <a:p xmlns:a="http://schemas.openxmlformats.org/drawingml/2006/main">
            <a:pPr algn="l">
              <a:defRPr sz="1275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47887"/>
                </a:solidFill>
                <a:latin typeface="Arial"/>
                <a:ea typeface="Arial"/>
                <a:cs typeface="Arial"/>
              </a:rPr>
              <a:t>Bioreactors and cell expansion</a:t>
            </a:r>
          </a:p>
        </p:txBody>
      </p:sp>
      <p:sp>
        <p:nvSpPr>
          <p:cNvPr id="58" name="US$323.5m*">
            <a:extLst xmlns:a="http://schemas.openxmlformats.org/drawingml/2006/main">
              <a:ext uri="{FF2B5EF4-FFF2-40B4-BE49-F238E27FC236}">
                <a16:creationId xmlns:a16="http://schemas.microsoft.com/office/drawing/2014/main" id="{2D42E054-A5A7-497F-9D43-BBBC7C492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30350" y="4276725"/>
            <a:ext cx="29622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2250" b="1">
                <a:solidFill>
                  <a:srgbClr val="152C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52C3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2C3A"/>
                </a:solidFill>
                <a:latin typeface="Arial"/>
                <a:ea typeface="Arial"/>
                <a:cs typeface="Arial"/>
              </a:rPr>
              <a:t>US$323.5m*</a:t>
            </a:r>
          </a:p>
        </p:txBody>
      </p:sp>
      <p:sp>
        <p:nvSpPr>
          <p:cNvPr id="59" name="China • 2024 • bioprocess media [3]">
            <a:extLst xmlns:a="http://schemas.openxmlformats.org/drawingml/2006/main">
              <a:ext uri="{FF2B5EF4-FFF2-40B4-BE49-F238E27FC236}">
                <a16:creationId xmlns:a16="http://schemas.microsoft.com/office/drawing/2014/main" id="{4627BA4E-B14A-400E-B6A0-1701B7F60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30350" y="4695825"/>
            <a:ext cx="29622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1028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28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pPr>
            <a:r>
              <a:rPr sz="1028" b="0">
                <a:solidFill>
                  <a:srgbClr val="647887"/>
                </a:solidFill>
                <a:latin typeface="Arial"/>
                <a:ea typeface="Arial"/>
                <a:cs typeface="Arial"/>
              </a:rPr>
              <a:t>China • 2024 • bioprocess media [3]</a:t>
            </a:r>
          </a:p>
        </p:txBody>
      </p:sp>
      <p:sp>
        <p:nvSpPr>
          <p:cNvPr id="60" name="Selected media anchor; not all cell tools">
            <a:extLst xmlns:a="http://schemas.openxmlformats.org/drawingml/2006/main">
              <a:ext uri="{FF2B5EF4-FFF2-40B4-BE49-F238E27FC236}">
                <a16:creationId xmlns:a16="http://schemas.microsoft.com/office/drawing/2014/main" id="{EAAFD134-AAD3-48A1-B838-8AACECD04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30350" y="4933950"/>
            <a:ext cx="29622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1013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13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647887"/>
                </a:solidFill>
                <a:latin typeface="Arial"/>
                <a:ea typeface="Arial"/>
                <a:cs typeface="Arial"/>
              </a:rPr>
              <a:t>Selected media anchor; not all cell tools</a:t>
            </a:r>
          </a:p>
        </p:txBody>
      </p:sp>
      <p:sp>
        <p:nvSpPr>
          <p:cNvPr id="61" name="Gibco  |  OPM  |  Duoning">
            <a:extLst xmlns:a="http://schemas.openxmlformats.org/drawingml/2006/main">
              <a:ext uri="{FF2B5EF4-FFF2-40B4-BE49-F238E27FC236}">
                <a16:creationId xmlns:a16="http://schemas.microsoft.com/office/drawing/2014/main" id="{A0DE5F78-DA1C-41AE-A5B3-E9467DD9A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30350" y="5229225"/>
            <a:ext cx="2962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1275" b="1">
                <a:solidFill>
                  <a:srgbClr val="152C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52C3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2C3A"/>
                </a:solidFill>
                <a:latin typeface="Arial"/>
                <a:ea typeface="Arial"/>
                <a:cs typeface="Arial"/>
              </a:rPr>
              <a:t>Gibco  |  OPM  |  Duoning</a:t>
            </a:r>
          </a:p>
        </p:txBody>
      </p:sp>
      <p:sp>
        <p:nvSpPr>
          <p:cNvPr id="62" name="Thermo / Gibco • OPM • Duoning">
            <a:extLst xmlns:a="http://schemas.openxmlformats.org/drawingml/2006/main">
              <a:ext uri="{FF2B5EF4-FFF2-40B4-BE49-F238E27FC236}">
                <a16:creationId xmlns:a16="http://schemas.microsoft.com/office/drawing/2014/main" id="{8DE95863-16E4-47FB-B40C-B80E62EA4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30350" y="5629275"/>
            <a:ext cx="296227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923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23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647887"/>
                </a:solidFill>
                <a:latin typeface="Arial"/>
                <a:ea typeface="Arial"/>
                <a:cs typeface="Arial"/>
              </a:rPr>
              <a:t>Thermo / Gibco • OPM • Duoning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6727712-FFC8-42D7-B5C8-B519A17FE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5810250"/>
            <a:ext cx="3286125" cy="2552700"/>
          </a:xfrm>
          <a:prstGeom xmlns:a="http://schemas.openxmlformats.org/drawingml/2006/main" prst="roundRect">
            <a:avLst>
              <a:gd name="adj" fmla="val 335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3E8"/>
            </a:solidFill>
          </a:ln>
        </p:spPr>
      </p:sp>
      <p:pic>
        <p:nvPic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141D163-AF14-40F6-BFE3-A34021288D3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faf30749a6435d">
            <a:extLst>
              <a:ext uri="{96DAC541-7B7A-43D3-8B79-37D633B846F1}">
                <asvg:svgBlip xmlns:asvg="http://schemas.microsoft.com/office/drawing/2016/SVG/main" r:embed="R6dfee67780c8473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086600" y="5981700"/>
            <a:ext cx="304800" cy="304800"/>
          </a:xfrm>
          <a:prstGeom xmlns:a="http://schemas.openxmlformats.org/drawingml/2006/main" prst="rect">
            <a:avLst/>
          </a:prstGeom>
        </p:spPr>
      </p:pic>
      <p:sp>
        <p:nvSpPr>
          <p:cNvPr id="65" name="Labware &amp; sample handling">
            <a:extLst xmlns:a="http://schemas.openxmlformats.org/drawingml/2006/main">
              <a:ext uri="{FF2B5EF4-FFF2-40B4-BE49-F238E27FC236}">
                <a16:creationId xmlns:a16="http://schemas.microsoft.com/office/drawing/2014/main" id="{95E48812-8F54-45C3-87F0-7A9686ACE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5991225"/>
            <a:ext cx="259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1575" b="1">
                <a:solidFill>
                  <a:srgbClr val="152C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52C3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52C3A"/>
                </a:solidFill>
                <a:latin typeface="Arial"/>
                <a:ea typeface="Arial"/>
                <a:cs typeface="Arial"/>
              </a:rPr>
              <a:t>Labware &amp; sample handling</a:t>
            </a:r>
          </a:p>
        </p:txBody>
      </p:sp>
      <p:sp>
        <p:nvSpPr>
          <p:cNvPr id="66" name="Tips, plates, tubes, filtration">
            <a:extLst xmlns:a="http://schemas.openxmlformats.org/drawingml/2006/main">
              <a:ext uri="{FF2B5EF4-FFF2-40B4-BE49-F238E27FC236}">
                <a16:creationId xmlns:a16="http://schemas.microsoft.com/office/drawing/2014/main" id="{8C1B9FEE-2ED4-4B90-90F4-C0771226C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6391275"/>
            <a:ext cx="2962275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1275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47887"/>
                </a:solidFill>
                <a:latin typeface="Arial"/>
                <a:ea typeface="Arial"/>
                <a:cs typeface="Arial"/>
              </a:rPr>
              <a:t>Tips, plates, tubes, filtration</a:t>
            </a:r>
          </a:p>
          <a:p xmlns:a="http://schemas.openxmlformats.org/drawingml/2006/main">
            <a:pPr algn="l">
              <a:defRPr sz="1275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47887"/>
                </a:solidFill>
                <a:latin typeface="Arial"/>
                <a:ea typeface="Arial"/>
                <a:cs typeface="Arial"/>
              </a:rPr>
              <a:t>Automation-compatible labware</a:t>
            </a:r>
          </a:p>
        </p:txBody>
      </p:sp>
      <p:sp>
        <p:nvSpPr>
          <p:cNvPr id="67" name="~RMB 23bn">
            <a:extLst xmlns:a="http://schemas.openxmlformats.org/drawingml/2006/main">
              <a:ext uri="{FF2B5EF4-FFF2-40B4-BE49-F238E27FC236}">
                <a16:creationId xmlns:a16="http://schemas.microsoft.com/office/drawing/2014/main" id="{69661B05-E410-4A70-9B6B-004B60C4C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7048500"/>
            <a:ext cx="29622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2250" b="1">
                <a:solidFill>
                  <a:srgbClr val="152C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52C3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2C3A"/>
                </a:solidFill>
                <a:latin typeface="Arial"/>
                <a:ea typeface="Arial"/>
                <a:cs typeface="Arial"/>
              </a:rPr>
              <a:t>~RMB 23bn</a:t>
            </a:r>
          </a:p>
        </p:txBody>
      </p:sp>
      <p:sp>
        <p:nvSpPr>
          <p:cNvPr id="68" name="China • 2024 • plastic labware [4]">
            <a:extLst xmlns:a="http://schemas.openxmlformats.org/drawingml/2006/main">
              <a:ext uri="{FF2B5EF4-FFF2-40B4-BE49-F238E27FC236}">
                <a16:creationId xmlns:a16="http://schemas.microsoft.com/office/drawing/2014/main" id="{60B5DF1B-B9B5-4A20-A48E-DE36447FC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7467600"/>
            <a:ext cx="29622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1028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28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pPr>
            <a:r>
              <a:rPr sz="1028" b="0">
                <a:solidFill>
                  <a:srgbClr val="647887"/>
                </a:solidFill>
                <a:latin typeface="Arial"/>
                <a:ea typeface="Arial"/>
                <a:cs typeface="Arial"/>
              </a:rPr>
              <a:t>China • 2024 • plastic labware [4]</a:t>
            </a:r>
          </a:p>
        </p:txBody>
      </p:sp>
      <p:sp>
        <p:nvSpPr>
          <p:cNvPr id="69" name="Includes clinical and industrial uses">
            <a:extLst xmlns:a="http://schemas.openxmlformats.org/drawingml/2006/main">
              <a:ext uri="{FF2B5EF4-FFF2-40B4-BE49-F238E27FC236}">
                <a16:creationId xmlns:a16="http://schemas.microsoft.com/office/drawing/2014/main" id="{2497BD31-9C01-4C90-95D0-524392EF6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7705725"/>
            <a:ext cx="29622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1013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13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647887"/>
                </a:solidFill>
                <a:latin typeface="Arial"/>
                <a:ea typeface="Arial"/>
                <a:cs typeface="Arial"/>
              </a:rPr>
              <a:t>Includes clinical and industrial uses</a:t>
            </a:r>
          </a:p>
        </p:txBody>
      </p:sp>
      <p:pic>
        <p:nvPic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B1E8D5B-775F-4DFC-AA60-AC0E7A1EC4F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0dacb6fcc64720"/>
          <a:stretch xmlns:a="http://schemas.openxmlformats.org/drawingml/2006/main"/>
        </p:blipFill>
        <p:spPr>
          <a:xfrm xmlns:a="http://schemas.openxmlformats.org/drawingml/2006/main">
            <a:off x="7215188" y="7943850"/>
            <a:ext cx="647700" cy="323850"/>
          </a:xfrm>
          <a:prstGeom xmlns:a="http://schemas.openxmlformats.org/drawingml/2006/main" prst="rect">
            <a:avLst/>
          </a:prstGeom>
        </p:spPr>
      </p:pic>
      <p:sp>
        <p:nvSpPr>
          <p:cNvPr id="71" name="JET Biofil • Corning • Changhong">
            <a:extLst xmlns:a="http://schemas.openxmlformats.org/drawingml/2006/main">
              <a:ext uri="{FF2B5EF4-FFF2-40B4-BE49-F238E27FC236}">
                <a16:creationId xmlns:a16="http://schemas.microsoft.com/office/drawing/2014/main" id="{4A5A7964-1999-491C-943A-8619ADCA7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8401050"/>
            <a:ext cx="296227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923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23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647887"/>
                </a:solidFill>
                <a:latin typeface="Arial"/>
                <a:ea typeface="Arial"/>
                <a:cs typeface="Arial"/>
              </a:rPr>
              <a:t>JET Biofil • Corning • Changhong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89E150B-42C2-416C-B8E3-90D500DD6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5810250"/>
            <a:ext cx="3286125" cy="2552700"/>
          </a:xfrm>
          <a:prstGeom xmlns:a="http://schemas.openxmlformats.org/drawingml/2006/main" prst="roundRect">
            <a:avLst>
              <a:gd name="adj" fmla="val 335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3E8"/>
            </a:solidFill>
          </a:ln>
        </p:spPr>
      </p:sp>
      <p:pic>
        <p:nvPic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0215646-6F24-4E35-839D-5D03039A416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6931221d614111">
            <a:extLst>
              <a:ext uri="{96DAC541-7B7A-43D3-8B79-37D633B846F1}">
                <asvg:svgBlip xmlns:asvg="http://schemas.microsoft.com/office/drawing/2016/SVG/main" r:embed="R10c662e9556441d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658475" y="5981700"/>
            <a:ext cx="304800" cy="304800"/>
          </a:xfrm>
          <a:prstGeom xmlns:a="http://schemas.openxmlformats.org/drawingml/2006/main" prst="rect">
            <a:avLst/>
          </a:prstGeom>
        </p:spPr>
      </p:pic>
      <p:sp>
        <p:nvSpPr>
          <p:cNvPr id="74" name="Measurement &amp; analytics">
            <a:extLst xmlns:a="http://schemas.openxmlformats.org/drawingml/2006/main">
              <a:ext uri="{FF2B5EF4-FFF2-40B4-BE49-F238E27FC236}">
                <a16:creationId xmlns:a16="http://schemas.microsoft.com/office/drawing/2014/main" id="{C37B7D4E-3521-4848-88E7-28057B9AF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5991225"/>
            <a:ext cx="259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1575" b="1">
                <a:solidFill>
                  <a:srgbClr val="152C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52C3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52C3A"/>
                </a:solidFill>
                <a:latin typeface="Arial"/>
                <a:ea typeface="Arial"/>
                <a:cs typeface="Arial"/>
              </a:rPr>
              <a:t>Measurement &amp; analytics</a:t>
            </a:r>
          </a:p>
        </p:txBody>
      </p:sp>
      <p:sp>
        <p:nvSpPr>
          <p:cNvPr id="75" name="Sequencing, LC / LC-MS, flow">
            <a:extLst xmlns:a="http://schemas.openxmlformats.org/drawingml/2006/main">
              <a:ext uri="{FF2B5EF4-FFF2-40B4-BE49-F238E27FC236}">
                <a16:creationId xmlns:a16="http://schemas.microsoft.com/office/drawing/2014/main" id="{7A40AEC1-C7CD-4171-8380-DB9E7E8CB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6391275"/>
            <a:ext cx="2962275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1275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47887"/>
                </a:solidFill>
                <a:latin typeface="Arial"/>
                <a:ea typeface="Arial"/>
                <a:cs typeface="Arial"/>
              </a:rPr>
              <a:t>Sequencing, LC / LC-MS, flow</a:t>
            </a:r>
          </a:p>
          <a:p xmlns:a="http://schemas.openxmlformats.org/drawingml/2006/main">
            <a:pPr algn="l">
              <a:defRPr sz="1275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47887"/>
                </a:solidFill>
                <a:latin typeface="Arial"/>
                <a:ea typeface="Arial"/>
                <a:cs typeface="Arial"/>
              </a:rPr>
              <a:t>Imaging and quality control</a:t>
            </a:r>
          </a:p>
        </p:txBody>
      </p:sp>
      <p:sp>
        <p:nvSpPr>
          <p:cNvPr id="76" name="RMB 4.3bn">
            <a:extLst xmlns:a="http://schemas.openxmlformats.org/drawingml/2006/main">
              <a:ext uri="{FF2B5EF4-FFF2-40B4-BE49-F238E27FC236}">
                <a16:creationId xmlns:a16="http://schemas.microsoft.com/office/drawing/2014/main" id="{BAB81B16-F8FD-4D57-B61C-DB46A7648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7048500"/>
            <a:ext cx="29622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2250" b="1">
                <a:solidFill>
                  <a:srgbClr val="152C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52C3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2C3A"/>
                </a:solidFill>
                <a:latin typeface="Arial"/>
                <a:ea typeface="Arial"/>
                <a:cs typeface="Arial"/>
              </a:rPr>
              <a:t>RMB 4.3bn</a:t>
            </a:r>
          </a:p>
        </p:txBody>
      </p:sp>
      <p:sp>
        <p:nvSpPr>
          <p:cNvPr id="77" name="China • 2024 • sequencing tools [5]">
            <a:extLst xmlns:a="http://schemas.openxmlformats.org/drawingml/2006/main">
              <a:ext uri="{FF2B5EF4-FFF2-40B4-BE49-F238E27FC236}">
                <a16:creationId xmlns:a16="http://schemas.microsoft.com/office/drawing/2014/main" id="{7A49A8E4-630A-420D-A370-6007421C0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7467600"/>
            <a:ext cx="29622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1028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28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pPr>
            <a:r>
              <a:rPr sz="1028" b="0">
                <a:solidFill>
                  <a:srgbClr val="647887"/>
                </a:solidFill>
                <a:latin typeface="Arial"/>
                <a:ea typeface="Arial"/>
                <a:cs typeface="Arial"/>
              </a:rPr>
              <a:t>China • 2024 • sequencing tools [5]</a:t>
            </a:r>
          </a:p>
        </p:txBody>
      </p:sp>
      <p:sp>
        <p:nvSpPr>
          <p:cNvPr id="78" name="Sequencers + consumables; all uses">
            <a:extLst xmlns:a="http://schemas.openxmlformats.org/drawingml/2006/main">
              <a:ext uri="{FF2B5EF4-FFF2-40B4-BE49-F238E27FC236}">
                <a16:creationId xmlns:a16="http://schemas.microsoft.com/office/drawing/2014/main" id="{E08CAAB0-969F-432E-B9B0-D9834AAD7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7705725"/>
            <a:ext cx="29622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1013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13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647887"/>
                </a:solidFill>
                <a:latin typeface="Arial"/>
                <a:ea typeface="Arial"/>
                <a:cs typeface="Arial"/>
              </a:rPr>
              <a:t>Sequencers + consumables; all uses</a:t>
            </a:r>
          </a:p>
        </p:txBody>
      </p:sp>
      <p:pic>
        <p:nvPic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E7821F7-053A-42EF-83D1-1EE39BF3A38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78358e70f34231"/>
          <a:stretch xmlns:a="http://schemas.openxmlformats.org/drawingml/2006/main"/>
        </p:blipFill>
        <p:spPr>
          <a:xfrm xmlns:a="http://schemas.openxmlformats.org/drawingml/2006/main">
            <a:off x="10658475" y="7987976"/>
            <a:ext cx="742950" cy="235598"/>
          </a:xfrm>
          <a:prstGeom xmlns:a="http://schemas.openxmlformats.org/drawingml/2006/main" prst="rect">
            <a:avLst/>
          </a:prstGeom>
        </p:spPr>
      </p:pic>
      <p:sp>
        <p:nvSpPr>
          <p:cNvPr id="80" name="MGI • Illumina • Agilent • Waters">
            <a:extLst xmlns:a="http://schemas.openxmlformats.org/drawingml/2006/main">
              <a:ext uri="{FF2B5EF4-FFF2-40B4-BE49-F238E27FC236}">
                <a16:creationId xmlns:a16="http://schemas.microsoft.com/office/drawing/2014/main" id="{423E1921-C84C-4F2C-998B-ADA6A6951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8401050"/>
            <a:ext cx="296227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923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23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647887"/>
                </a:solidFill>
                <a:latin typeface="Arial"/>
                <a:ea typeface="Arial"/>
                <a:cs typeface="Arial"/>
              </a:rPr>
              <a:t>MGI • Illumina • Agilent • Waters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69C48A0A-CA17-4E41-8BA4-3C65194CA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8425" y="5810250"/>
            <a:ext cx="3286125" cy="2552700"/>
          </a:xfrm>
          <a:prstGeom xmlns:a="http://schemas.openxmlformats.org/drawingml/2006/main" prst="roundRect">
            <a:avLst>
              <a:gd name="adj" fmla="val 335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B8D37"/>
            </a:solidFill>
          </a:ln>
        </p:spPr>
      </p:sp>
      <p:pic>
        <p:nvPic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49B68C0C-5003-41B9-BB14-BE315ECD394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8104255b1e4b29">
            <a:extLst>
              <a:ext uri="{96DAC541-7B7A-43D3-8B79-37D633B846F1}">
                <asvg:svgBlip xmlns:asvg="http://schemas.microsoft.com/office/drawing/2016/SVG/main" r:embed="Rf8fffe66b504449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4230350" y="5981700"/>
            <a:ext cx="304800" cy="304800"/>
          </a:xfrm>
          <a:prstGeom xmlns:a="http://schemas.openxmlformats.org/drawingml/2006/main" prst="rect">
            <a:avLst/>
          </a:prstGeom>
        </p:spPr>
      </p:pic>
      <p:sp>
        <p:nvSpPr>
          <p:cNvPr id="83" name="Purification &amp; scale-up">
            <a:extLst xmlns:a="http://schemas.openxmlformats.org/drawingml/2006/main">
              <a:ext uri="{FF2B5EF4-FFF2-40B4-BE49-F238E27FC236}">
                <a16:creationId xmlns:a16="http://schemas.microsoft.com/office/drawing/2014/main" id="{F644F218-2CF4-481A-A794-C9D376D88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49450" y="5991225"/>
            <a:ext cx="259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1575" b="1">
                <a:solidFill>
                  <a:srgbClr val="152C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52C3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52C3A"/>
                </a:solidFill>
                <a:latin typeface="Arial"/>
                <a:ea typeface="Arial"/>
                <a:cs typeface="Arial"/>
              </a:rPr>
              <a:t>Purification &amp; scale-up</a:t>
            </a:r>
          </a:p>
        </p:txBody>
      </p:sp>
      <p:sp>
        <p:nvSpPr>
          <p:cNvPr id="84" name="Analytical columns, process resins">
            <a:extLst xmlns:a="http://schemas.openxmlformats.org/drawingml/2006/main">
              <a:ext uri="{FF2B5EF4-FFF2-40B4-BE49-F238E27FC236}">
                <a16:creationId xmlns:a16="http://schemas.microsoft.com/office/drawing/2014/main" id="{E92AE6CA-7060-4D9C-9518-E950AB87D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30350" y="6391275"/>
            <a:ext cx="2962275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1275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47887"/>
                </a:solidFill>
                <a:latin typeface="Arial"/>
                <a:ea typeface="Arial"/>
                <a:cs typeface="Arial"/>
              </a:rPr>
              <a:t>Analytical columns, process resins</a:t>
            </a:r>
          </a:p>
          <a:p xmlns:a="http://schemas.openxmlformats.org/drawingml/2006/main">
            <a:pPr algn="l">
              <a:defRPr sz="1275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47887"/>
                </a:solidFill>
                <a:latin typeface="Arial"/>
                <a:ea typeface="Arial"/>
                <a:cs typeface="Arial"/>
              </a:rPr>
              <a:t>Filtration and single-use systems</a:t>
            </a:r>
          </a:p>
        </p:txBody>
      </p:sp>
      <p:sp>
        <p:nvSpPr>
          <p:cNvPr id="85" name="US$578.2m*">
            <a:extLst xmlns:a="http://schemas.openxmlformats.org/drawingml/2006/main">
              <a:ext uri="{FF2B5EF4-FFF2-40B4-BE49-F238E27FC236}">
                <a16:creationId xmlns:a16="http://schemas.microsoft.com/office/drawing/2014/main" id="{1C7BC82F-5ABE-40E9-BA13-1876F8A11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30350" y="7048500"/>
            <a:ext cx="29622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2250" b="1">
                <a:solidFill>
                  <a:srgbClr val="007D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007D8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7D80"/>
                </a:solidFill>
                <a:latin typeface="Arial"/>
                <a:ea typeface="Arial"/>
                <a:cs typeface="Arial"/>
              </a:rPr>
              <a:t>US$578.2m*</a:t>
            </a:r>
          </a:p>
        </p:txBody>
      </p:sp>
      <p:sp>
        <p:nvSpPr>
          <p:cNvPr id="86" name="China • 2024 • bioprocess resins [3]">
            <a:extLst xmlns:a="http://schemas.openxmlformats.org/drawingml/2006/main">
              <a:ext uri="{FF2B5EF4-FFF2-40B4-BE49-F238E27FC236}">
                <a16:creationId xmlns:a16="http://schemas.microsoft.com/office/drawing/2014/main" id="{A2F1EF49-E320-4A72-A479-D8A59A639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30350" y="7467600"/>
            <a:ext cx="29622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1028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28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pPr>
            <a:r>
              <a:rPr sz="1028" b="0">
                <a:solidFill>
                  <a:srgbClr val="647887"/>
                </a:solidFill>
                <a:latin typeface="Arial"/>
                <a:ea typeface="Arial"/>
                <a:cs typeface="Arial"/>
              </a:rPr>
              <a:t>China • 2024 • bioprocess resins [3]</a:t>
            </a:r>
          </a:p>
        </p:txBody>
      </p:sp>
      <p:sp>
        <p:nvSpPr>
          <p:cNvPr id="87" name="Manufacturing demand has a longer lag">
            <a:extLst xmlns:a="http://schemas.openxmlformats.org/drawingml/2006/main">
              <a:ext uri="{FF2B5EF4-FFF2-40B4-BE49-F238E27FC236}">
                <a16:creationId xmlns:a16="http://schemas.microsoft.com/office/drawing/2014/main" id="{0019DC6B-09F6-4896-9523-01FA74138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30350" y="7705725"/>
            <a:ext cx="29622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1013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13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647887"/>
                </a:solidFill>
                <a:latin typeface="Arial"/>
                <a:ea typeface="Arial"/>
                <a:cs typeface="Arial"/>
              </a:rPr>
              <a:t>Manufacturing demand has a longer lag</a:t>
            </a:r>
          </a:p>
        </p:txBody>
      </p:sp>
      <p:pic>
        <p:nvPic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FBBDAFDE-2213-40C3-A554-A7D760C7D68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dfe8b6075d4149">
            <a:extLst>
              <a:ext uri="{96DAC541-7B7A-43D3-8B79-37D633B846F1}">
                <asvg:svgBlip xmlns:asvg="http://schemas.microsoft.com/office/drawing/2016/SVG/main" r:embed="R6e309d656ef54f7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4230350" y="794385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9" name="NanoMicro">
            <a:extLst xmlns:a="http://schemas.openxmlformats.org/drawingml/2006/main">
              <a:ext uri="{FF2B5EF4-FFF2-40B4-BE49-F238E27FC236}">
                <a16:creationId xmlns:a16="http://schemas.microsoft.com/office/drawing/2014/main" id="{FF8A8663-C4ED-430C-94D1-3C0613C31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49450" y="8010525"/>
            <a:ext cx="11144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1350" b="1">
                <a:solidFill>
                  <a:srgbClr val="0078A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0078A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78A0"/>
                </a:solidFill>
                <a:latin typeface="Arial"/>
                <a:ea typeface="Arial"/>
                <a:cs typeface="Arial"/>
              </a:rPr>
              <a:t>NanoMicro</a:t>
            </a:r>
          </a:p>
        </p:txBody>
      </p:sp>
      <p:pic>
        <p:nvPic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30283929-9796-435F-A1B3-3BA8F983F2E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7e94ccf9494ab7"/>
          <a:stretch xmlns:a="http://schemas.openxmlformats.org/drawingml/2006/main"/>
        </p:blipFill>
        <p:spPr>
          <a:xfrm xmlns:a="http://schemas.openxmlformats.org/drawingml/2006/main">
            <a:off x="16042275" y="7981950"/>
            <a:ext cx="1062451" cy="295275"/>
          </a:xfrm>
          <a:prstGeom xmlns:a="http://schemas.openxmlformats.org/drawingml/2006/main" prst="rect">
            <a:avLst/>
          </a:prstGeom>
        </p:spPr>
      </p:pic>
      <p:sp>
        <p:nvSpPr>
          <p:cNvPr id="91" name="NanoMicro • Cytiva • Sepax">
            <a:extLst xmlns:a="http://schemas.openxmlformats.org/drawingml/2006/main">
              <a:ext uri="{FF2B5EF4-FFF2-40B4-BE49-F238E27FC236}">
                <a16:creationId xmlns:a16="http://schemas.microsoft.com/office/drawing/2014/main" id="{D3FA27E9-1B0E-46BA-9217-CC977D244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30350" y="8401050"/>
            <a:ext cx="296227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923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23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647887"/>
                </a:solidFill>
                <a:latin typeface="Arial"/>
                <a:ea typeface="Arial"/>
                <a:cs typeface="Arial"/>
              </a:rPr>
              <a:t>NanoMicro • Cytiva • Sepax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26FE60E9-878E-4A68-9F72-0858C81A0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8877300"/>
            <a:ext cx="10925175" cy="523875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152C3A"/>
          </a:solidFill>
          <a:ln xmlns:a="http://schemas.openxmlformats.org/drawingml/2006/main" w="9525">
            <a:noFill/>
          </a:ln>
        </p:spPr>
      </p:sp>
      <p:pic>
        <p:nvPic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BCBDF5ED-B777-4C82-AFF8-B3498A1ACBF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131ebc2979472d">
            <a:extLst>
              <a:ext uri="{96DAC541-7B7A-43D3-8B79-37D633B846F1}">
                <asvg:svgBlip xmlns:asvg="http://schemas.microsoft.com/office/drawing/2016/SVG/main" r:embed="R3067d1f7b46d4a0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19900" y="8963025"/>
            <a:ext cx="333375" cy="333375"/>
          </a:xfrm>
          <a:prstGeom xmlns:a="http://schemas.openxmlformats.org/drawingml/2006/main" prst="rect">
            <a:avLst/>
          </a:prstGeom>
        </p:spPr>
      </p:pic>
      <p:sp>
        <p:nvSpPr>
          <p:cNvPr id="94" name="Automation + data orchestration span every tool family">
            <a:extLst xmlns:a="http://schemas.openxmlformats.org/drawingml/2006/main">
              <a:ext uri="{FF2B5EF4-FFF2-40B4-BE49-F238E27FC236}">
                <a16:creationId xmlns:a16="http://schemas.microsoft.com/office/drawing/2014/main" id="{23B55992-EA73-4C1A-AEF3-735D4D5C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9039225"/>
            <a:ext cx="714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Automation + data orchestration span every tool family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C27AB413-661F-41F9-9567-5C0BA45D6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01925" y="8953500"/>
            <a:ext cx="1695450" cy="3810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noFill/>
          </a:ln>
        </p:spPr>
      </p:sp>
      <p:pic>
        <p:nvPic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26AA5072-D34D-4A19-AB55-D0F3CB458EA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6abd31a4404fbb"/>
          <a:stretch xmlns:a="http://schemas.openxmlformats.org/drawingml/2006/main"/>
        </p:blipFill>
        <p:spPr>
          <a:xfrm xmlns:a="http://schemas.openxmlformats.org/drawingml/2006/main">
            <a:off x="15542973" y="9020175"/>
            <a:ext cx="1403830" cy="238125"/>
          </a:xfrm>
          <a:prstGeom xmlns:a="http://schemas.openxmlformats.org/drawingml/2006/main" prst="rect">
            <a:avLst/>
          </a:prstGeom>
        </p:spPr>
      </p:pic>
      <p:sp>
        <p:nvSpPr>
          <p:cNvPr id="97" name="[1] Tsingke IPO 2026  [2] ACRO HKEX 2026  [3] Duoning HKEX 2026*  [4] JET 2025  [5] MGI 2024">
            <a:extLst xmlns:a="http://schemas.openxmlformats.org/drawingml/2006/main">
              <a:ext uri="{FF2B5EF4-FFF2-40B4-BE49-F238E27FC236}">
                <a16:creationId xmlns:a16="http://schemas.microsoft.com/office/drawing/2014/main" id="{AABCC815-BFBD-4A9E-8280-F0557DC2E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9572625"/>
            <a:ext cx="10810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 algn="l">
              <a:defRPr sz="1050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47887"/>
                </a:solidFill>
                <a:latin typeface="Arial"/>
                <a:ea typeface="Arial"/>
                <a:cs typeface="Arial"/>
              </a:rPr>
              <a:t>[1] Tsingke IPO 2026  [2] ACRO HKEX 2026  [3] Duoning HKEX 2026*  [4] JET 2025  [5] MGI 2024</a:t>
            </a:r>
          </a:p>
          <a:p xmlns:a="http://schemas.openxmlformats.org/drawingml/2006/main">
            <a:pPr algn="l">
              <a:defRPr sz="1050" b="0">
                <a:solidFill>
                  <a:srgbClr val="64788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47887"/>
                </a:solidFill>
                <a:latin typeface="Arial"/>
                <a:ea typeface="Arial"/>
                <a:cs typeface="Arial"/>
              </a:rPr>
              <a:t>*Previously checked official-index data; source PDFs currently unavailable. Scope and citations: SOURCES.md.</a:t>
            </a:r>
          </a:p>
        </p:txBody>
      </p:sp>
    </p:spTree>
    <p:extLst>
      <p:ext uri="{BB962C8B-B14F-4D97-AF65-F5344CB8AC3E}">
        <p14:creationId xmlns:p14="http://schemas.microsoft.com/office/powerpoint/2010/main" val="17880071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2026-10-12T08:10:22.7690000Z</dcterms:created>
  <dcterms:modified xsi:type="dcterms:W3CDTF">2026-10-12T08:10:22.7690000Z</dcterms:modified>
</coreProperties>
</file>