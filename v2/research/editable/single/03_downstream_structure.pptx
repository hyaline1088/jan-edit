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25f304d270346e4" /><Relationship Type="http://schemas.openxmlformats.org/officeDocument/2006/relationships/extended-properties" Target="/docProps/app.xml" Id="Re2ddfb10cfe54908" /><Relationship Type="http://schemas.openxmlformats.org/officeDocument/2006/relationships/officeDocument" Target="/ppt/presentation.xml" Id="R292ff1c3cbaa48c2" /></Relationships>
</file>

<file path=ppt/presentation.xml><?xml version="1.0" encoding="utf-8"?>
<p:presentation xmlns:p="http://schemas.openxmlformats.org/presentationml/2006/main">
  <p:sldMasterIdLst>
    <p:sldMasterId xmlns:r="http://schemas.openxmlformats.org/officeDocument/2006/relationships" id="2147483648" r:id="R485a64c9a7aa43c9"/>
  </p:sldMasterIdLst>
  <p:notesMasterIdLst>
    <p:notesMasterId xmlns:r="http://schemas.openxmlformats.org/officeDocument/2006/relationships" r:id="R2a1d8ac2eb104b3e"/>
  </p:notesMasterIdLst>
  <p:sldIdLst>
    <p:sldId xmlns:r="http://schemas.openxmlformats.org/officeDocument/2006/relationships" id="256" r:id="R8e66800a80d84bca"/>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81d1e3b28f94262" /><Relationship Type="http://schemas.openxmlformats.org/officeDocument/2006/relationships/slideMaster" Target="/ppt/slideMasters/slideMaster1.xml" Id="R485a64c9a7aa43c9" /><Relationship Type="http://schemas.openxmlformats.org/officeDocument/2006/relationships/notesMaster" Target="/ppt/notesMasters/notesMaster1.xml" Id="R2a1d8ac2eb104b3e" /><Relationship Type="http://schemas.openxmlformats.org/officeDocument/2006/relationships/presProps" Target="/ppt/presProps.xml" Id="Rdd6175cd8597403d" /><Relationship Type="http://schemas.openxmlformats.org/officeDocument/2006/relationships/tableStyles" Target="/ppt/tableStyles.xml" Id="Rd9fab78fc50b45b4" /><Relationship Type="http://schemas.openxmlformats.org/officeDocument/2006/relationships/slide" Target="/ppt/slides/slide1.xml" Id="R8e66800a80d84bc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20b8f7f68ee429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7fc9d393a4b4a4a" /><Relationship Type="http://schemas.openxmlformats.org/officeDocument/2006/relationships/notesMaster" Target="/ppt/notesMasters/notesMaster1.xml" Id="R4a845ce4a2e8420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3: How downstream demand differs</a:t>
            </a:r>
          </a:p>
          <a:p xmlns:a="http://schemas.openxmlformats.org/drawingml/2006/main">
            <a:r>
              <a:t>Evidence status: Illustrative scenario</a:t>
            </a:r>
          </a:p>
          <a:p xmlns:a="http://schemas.openxmlformats.org/drawingml/2006/main">
            <a:r>
              <a:t/>
            </a:r>
          </a:p>
          <a:p xmlns:a="http://schemas.openxmlformats.org/drawingml/2006/main">
            <a:r>
              <a:t># Sources, assumptions and market boundaries</a:t>
            </a:r>
          </a:p>
          <a:p xmlns:a="http://schemas.openxmlformats.org/drawingml/2006/main">
            <a:r>
              <a:t/>
            </a:r>
          </a:p>
          <a:p xmlns:a="http://schemas.openxmlformats.org/drawingml/2006/main">
            <a:r>
              <a:t>Research date: 12 October 2026. This package visualizes the supplied research framework and selected anchors from the preceding primary-source research. Historical industry numbers are consultant or company-cited estimates, rather than administrative census measurements.</a:t>
            </a:r>
          </a:p>
          <a:p xmlns:a="http://schemas.openxmlformats.org/drawingml/2006/main">
            <a:r>
              <a:t/>
            </a:r>
          </a:p>
          <a:p xmlns:a="http://schemas.openxmlformats.org/drawingml/2006/main">
            <a:r>
              <a:t>## Stage table and funnel</a:t>
            </a:r>
          </a:p>
          <a:p xmlns:a="http://schemas.openxmlformats.org/drawingml/2006/main">
            <a:r>
              <a:t/>
            </a:r>
          </a:p>
          <a:p xmlns:a="http://schemas.openxmlformats.org/drawingml/2006/main">
            <a:r>
              <a:t>The supplied stage table uses virtual designs ~1,000 before AI versus 100,000–1 billion in the AI scenario; physical candidates ~1,000 versus 1,000–10,000; wet-lab profiling ~50 versus an illustrative 50→500 expansion; clinical entry 1 versus 1; expected approvals ~0.14 versus unknown. These are user-supplied assumptions, not empirical cohort statistics.</a:t>
            </a:r>
          </a:p>
          <a:p xmlns:a="http://schemas.openxmlformats.org/drawingml/2006/main">
            <a:r>
              <a:t/>
            </a:r>
          </a:p>
          <a:p xmlns:a="http://schemas.openxmlformats.org/drawingml/2006/main">
            <a:r>
              <a:t>The denominator is one clinical entrant. The second reference image uses a different denominator, per approved drug; its counts are not mixed into this table. ~0.14 is an illustrative expected count, not an independently validated success probability. DNA-encoded libraries are not equivalent to fully characterized discrete candidates. Virtual design has costs and quality constraints. The diagram states a working capacity-gate hypothesis, not that design quality or clinical biology cease to matter.</a:t>
            </a:r>
          </a:p>
          <a:p xmlns:a="http://schemas.openxmlformats.org/drawingml/2006/main">
            <a:r>
              <a:t/>
            </a:r>
          </a:p>
          <a:p xmlns:a="http://schemas.openxmlformats.org/drawingml/2006/main">
            <a:r>
              <a:t>## Market anchors in the enlarged ecosystem</a:t>
            </a:r>
          </a:p>
          <a:p xmlns:a="http://schemas.openxmlformats.org/drawingml/2006/main">
            <a:r>
              <a:t/>
            </a:r>
          </a:p>
          <a:p xmlns:a="http://schemas.openxmlformats.org/drawingml/2006/main">
            <a:r>
              <a:t>| Anchor | Geography / year | Value | Scope and evidence |</a:t>
            </a:r>
          </a:p>
          <a:p xmlns:a="http://schemas.openxmlformats.org/drawingml/2006/main">
            <a:r>
              <a:t>|---|---|---|---|</a:t>
            </a:r>
          </a:p>
          <a:p xmlns:a="http://schemas.openxmlformats.org/drawingml/2006/main">
            <a:r>
              <a:t>| DNA synthesis services | China / 2025 | RMB1.33bn | Oligonucleotide RMB0.53bn + long-fragment RMB0.80bn. Midstream services only. Tsingke 2026 IPO filing, pp.156–158. [Primary filing](https://static.sse.com.cn/stock/disclosure/announcement/c/202606/002233_20260630_Z9LA.pdf). |</a:t>
            </a:r>
          </a:p>
          <a:p xmlns:a="http://schemas.openxmlformats.org/drawingml/2006/main">
            <a:r>
              <a:t>| Research-use recombinant proteins | Global / 2025 | US$3.5bn | Research use; not therapeutic protein manufacturing. China ~US$0.4bn is rounded to US$0.1bn precision. ACROBiosystems 2026 HKEX application, printed p.71 / PDF p.80. [Primary filing](https://www1.hkexnews.hk/app/sehk/2026/108910/documents/sehk26093002651_c.pdf). |</a:t>
            </a:r>
          </a:p>
          <a:p xmlns:a="http://schemas.openxmlformats.org/drawingml/2006/main">
            <a:r>
              <a:t>| Bioprocess culture media | China / 2024 | US$323.5m* | Selected media market; not all cellular tools. F&amp;S in Duoning 2026 filing, printed p.126. Excludes the COVID impact on vaccine products. [Filing URL](https://www.hkexnews.hk/app/sehk/2026/108106/documents/sehk26011800033_c.pdf). |</a:t>
            </a:r>
          </a:p>
          <a:p xmlns:a="http://schemas.openxmlformats.org/drawingml/2006/main">
            <a:r>
              <a:t>| Disposable plastic biological laboratory consumables | China / 2024 | ~RMB23bn | Includes research, clinical and industrial uses. JET Biofil 2025 annual-report summary, PDF p.6; company cites F&amp;S and industry research. Direct primary PDF rechecked on 12 Oct 2026. [Primary disclosure](https://static.cninfo.com.cn/finalpage/2026-04-30/1225255989.PDF). |</a:t>
            </a:r>
          </a:p>
          <a:p xmlns:a="http://schemas.openxmlformats.org/drawingml/2006/main">
            <a:r>
              <a:t>| Sequencing instruments and consumables | China / 2024 | RMB4.3bn | Includes clinical sequencing; not instruments alone, and not a combined LC/MS market. MGI 2024 annual report pp.41–42, citing CIC. [Primary disclosure](https://static.cninfo.com.cn/finalpage/2025-04-30/1223427376.PDF). |</a:t>
            </a:r>
          </a:p>
          <a:p xmlns:a="http://schemas.openxmlformats.org/drawingml/2006/main">
            <a:r>
              <a:t>| Bioprocess chromatography resins | China / 2024 | US$578.2m* | Biological process resins; not all analytical columns, chemical adsorption resins or purification hardware. F&amp;S in Duoning 2026 filing, printed p.132. [Filing URL](https://www.hkexnews.hk/app/sehk/2026/108106/documents/sehk26011800033_c.pdf). |</a:t>
            </a:r>
          </a:p>
          <a:p xmlns:a="http://schemas.openxmlformats.org/drawingml/2006/main">
            <a:r>
              <a:t/>
            </a:r>
          </a:p>
          <a:p xmlns:a="http://schemas.openxmlformats.org/drawingml/2006/main">
            <a:r>
              <a:t>*The Duoning figures were checked against the publicly indexed official filing during the preceding research on 9–10 October 2026. Direct PDF access now returns 404. They carry lower source-access confidence than directly downloaded filings. The 2025 values in that filing remain forecasts and are deliberately not presented as 2025 actual results here.*</a:t>
            </a:r>
          </a:p>
          <a:p xmlns:a="http://schemas.openxmlformats.org/drawingml/2006/main">
            <a:r>
              <a:t/>
            </a:r>
          </a:p>
          <a:p xmlns:a="http://schemas.openxmlformats.org/drawingml/2006/main">
            <a:r>
              <a:t>These anchors cannot be added. Their geography, currency, year and boundary differ, and tools can be used across the six product families. Each headline sizes the stated subset, not the full box. In particular, the culture-media figure is a bioprocess anchor and cannot be generalized to all research media and cell models. Automation, mass spectrometry, flow cytometry, imaging and analytical columns are shown as tool families but are not assigned an unsupported combined TAM.</a:t>
            </a:r>
          </a:p>
          <a:p xmlns:a="http://schemas.openxmlformats.org/drawingml/2006/main">
            <a:r>
              <a:t/>
            </a:r>
          </a:p>
          <a:p xmlns:a="http://schemas.openxmlformats.org/drawingml/2006/main">
            <a:r>
              <a:t>## Supporting figure 02: consistent-scope LST comparison</a:t>
            </a:r>
          </a:p>
          <a:p xmlns:a="http://schemas.openxmlformats.org/drawingml/2006/main">
            <a:r>
              <a:t/>
            </a:r>
          </a:p>
          <a:p xmlns:a="http://schemas.openxmlformats.org/drawingml/2006/main">
            <a:r>
              <a:t>The ACROBiosystems HKEX filing of 30 Sep 2026 reports 2025 global LST US$41.5bn and China US$7.7bn under its F&amp;S scope, printed p.65 / PDF p.74. Research biological reagents are global US$26.4bn and China US$4.6bn, printed p.67 / PDF p.76. The residual other-tool values are derived: 41.5−26.4 =15.1 and 7.7−4.6 =3.1, in US$bn. China/global share is 7.7÷41.5 =18.6% rounded. This scope does not reconcile automatically to broader laboratory or manufacturing markets. [Primary filing](https://www1.hkexnews.hk/app/sehk/2026/108910/documents/sehk26093002651_c.pdf).</a:t>
            </a:r>
          </a:p>
          <a:p xmlns:a="http://schemas.openxmlformats.org/drawingml/2006/main">
            <a:r>
              <a:t/>
            </a:r>
          </a:p>
          <a:p xmlns:a="http://schemas.openxmlformats.org/drawingml/2006/main">
            <a:r>
              <a:t>## Illustrative and qualitative figures</a:t>
            </a:r>
          </a:p>
          <a:p xmlns:a="http://schemas.openxmlformats.org/drawingml/2006/main">
            <a:r>
              <a:t/>
            </a:r>
          </a:p>
          <a:p xmlns:a="http://schemas.openxmlformats.org/drawingml/2006/main">
            <a:r>
              <a:t>Figure 03 uses the supplied customer mixes: reagents 30/25/15/10/20%, consumables 20/20/15/30/15%, and instruments 25/20/10/15/30%, for academia, biotech/pharma R&amp;D, CRO/CDMO, pharma-owned production and IVD development. These are illustrative purchasing shares. Hospitals are not independently modeled, and distributors are not an end-customer category.</a:t>
            </a:r>
          </a:p>
          <a:p xmlns:a="http://schemas.openxmlformats.org/drawingml/2006/main">
            <a:r>
              <a:t/>
            </a:r>
          </a:p>
          <a:p xmlns:a="http://schemas.openxmlformats.org/drawingml/2006/main">
            <a:r>
              <a:t>Figure 06 compares 100,000 tests at 100µL in 96-well plates with 1,000,000 tests at 5µL in 1,536-well plates. Reagents fall from 10L to 5L; full-plate counts are ceiling(100,000/96)=1,042 and ceiling(1,000,000/1,536)=652. Tips per test are assumed to fall from 1 to 0.1, giving 100,000 tips in both cases. Volume index 1,000; reagent index 50; plate index 62.6; tip index 100, against a baseline of 100. Dead volume, controls, retests, ASP and service spending are excluded. The two panels use different y-axis scales.</a:t>
            </a:r>
          </a:p>
          <a:p xmlns:a="http://schemas.openxmlformats.org/drawingml/2006/main">
            <a:r>
              <a:t/>
            </a:r>
          </a:p>
          <a:p xmlns:a="http://schemas.openxmlformats.org/drawingml/2006/main">
            <a:r>
              <a:t>Figure 07 uses illustrative cumulative funding pools of US$50bn, US$100bn and US$200bn. No time horizon is specified. Allocations are 30% research equipment/automation, 25% research reagents, 20% research consumables, 15% manufacturing bioprocess tools and 10% services/other. Research-use and manufacturing-use allocations are mutually exclusive. These are not realized financing, annual TAM or a company revenue forecast.</a:t>
            </a:r>
          </a:p>
          <a:p xmlns:a="http://schemas.openxmlformats.org/drawingml/2006/main">
            <a:r>
              <a:t/>
            </a:r>
          </a:p>
          <a:p xmlns:a="http://schemas.openxmlformats.org/drawingml/2006/main">
            <a:r>
              <a:t>Figures 05, 08 and 09 use qualitative analyst positions. Bubble area in figure 05 is schematic relative opportunity, not measured TAM. Axis positions and the gold emphasis on ACROBiosystems and NanoMicro are not numerical scores, stock recommendations, market-share estimates or measured AI revenue. Supply barriers do not establish a current shortage.</a:t>
            </a:r>
          </a:p>
          <a:p xmlns:a="http://schemas.openxmlformats.org/drawingml/2006/main">
            <a:r>
              <a:t/>
            </a:r>
          </a:p>
          <a:p xmlns:a="http://schemas.openxmlformats.org/drawingml/2006/main">
            <a:r>
              <a:t>Figures 04 and 10 describe a conditional mechanism: funded projects → physical experimentation → net tool consumption and purchasing → company share → profit and cash flow. AI funding announcements alone do not establish LST orders. Miniaturization, faster candidate triage, resin reuse and pricing can offset higher experiment counts.</a:t>
            </a:r>
          </a:p>
          <a:p xmlns:a="http://schemas.openxmlformats.org/drawingml/2006/main">
            <a:r>
              <a:t/>
            </a:r>
          </a:p>
          <a:p xmlns:a="http://schemas.openxmlformats.org/drawingml/2006/main">
            <a:r>
              <a:t>## Representative-company product evidence</a:t>
            </a:r>
          </a:p>
          <a:p xmlns:a="http://schemas.openxmlformats.org/drawingml/2006/main">
            <a:r>
              <a:t/>
            </a:r>
          </a:p>
          <a:p xmlns:a="http://schemas.openxmlformats.org/drawingml/2006/main">
            <a:r>
              <a:t>- [ACROBiosystems HKEX application, 30 Sep 2026](https://www1.hkexnews.hk/app/sehk/2026/108910/documents/sehk26093002651_c.pdf): Printed pp. 65, 67 and 71 (PDF pp. 74, 76, 80); defined LST scope, research reagents and recombinant proteins.</a:t>
            </a:r>
          </a:p>
          <a:p xmlns:a="http://schemas.openxmlformats.org/drawingml/2006/main">
            <a:r>
              <a:t>- [Vazyme 2024 annual report](https://static.cninfo.com.cn/finalpage/2025-04-10/1223046699.PDF): Product and business evidence; matrix positions are analyst assumptions.</a:t>
            </a:r>
          </a:p>
          <a:p xmlns:a="http://schemas.openxmlformats.org/drawingml/2006/main">
            <a:r>
              <a:t>- [ACROBiosystems filing: recombinant protein competitive landscape](https://www1.hkexnews.hk/app/sehk/2026/108910/documents/sehk26093002651_c.pdf): Product and business evidence; matrix positions are analyst assumptions.</a:t>
            </a:r>
          </a:p>
          <a:p xmlns:a="http://schemas.openxmlformats.org/drawingml/2006/main">
            <a:r>
              <a:t>- [Novoprotein official product catalog](https://www.novoprotein.com.cn/products): Product and business evidence; matrix positions are analyst assumptions.</a:t>
            </a:r>
          </a:p>
          <a:p xmlns:a="http://schemas.openxmlformats.org/drawingml/2006/main">
            <a:r>
              <a:t>- [NanoMicro 2025 annual report](https://static.cninfo.com.cn/finalpage/2026-04-16/1225107014.PDF): Product and business evidence; matrix positions are analyst assumptions.</a:t>
            </a:r>
          </a:p>
          <a:p xmlns:a="http://schemas.openxmlformats.org/drawingml/2006/main">
            <a:r>
              <a:t>- [Sepax IPO prospectus, Jan 2025](https://static.cninfo.com.cn/finalpage/2025-01-06/1222238930.PDF): Product and business evidence; matrix positions are analyst assumptions.</a:t>
            </a:r>
          </a:p>
          <a:p xmlns:a="http://schemas.openxmlformats.org/drawingml/2006/main">
            <a:r>
              <a:t>- [JET Biofil 2025 interim report](https://stockmc.xueqiu.com/202508/688026_20250830_4FZX.pdf): Product and business evidence; matrix positions are analyst assumptions.</a:t>
            </a:r>
          </a:p>
          <a:p xmlns:a="http://schemas.openxmlformats.org/drawingml/2006/main">
            <a:r>
              <a:t>- [Changhong official website](https://cn.sz-changhong.com/): Product and business evidence; matrix positions are analyst assumptions.</a:t>
            </a:r>
          </a:p>
          <a:p xmlns:a="http://schemas.openxmlformats.org/drawingml/2006/main">
            <a:r>
              <a:t>- [Bide Pharmatech official catalog](https://www.bidepharm.com/): Product and business evidence; matrix positions are analyst assumptions.</a:t>
            </a:r>
          </a:p>
          <a:p xmlns:a="http://schemas.openxmlformats.org/drawingml/2006/main">
            <a:r>
              <a:t>- [ChemExpress official website](https://www.chemexpress.com.cn/): Product and business evidence; matrix positions are analyst assumptions.</a:t>
            </a:r>
          </a:p>
          <a:p xmlns:a="http://schemas.openxmlformats.org/drawingml/2006/main">
            <a:r>
              <a:t>- [MGI 2025 annual report](https://static.cninfo.com.cn/finalpage/2026-04-25/1225194780.PDF): Product and business evidence; matrix positions are analyst assumptions.</a:t>
            </a:r>
          </a:p>
          <a:p xmlns:a="http://schemas.openxmlformats.org/drawingml/2006/main">
            <a:r>
              <a:t>- [OPM Biosciences 2025 annual report](https://pdf.dfcfw.com/pdf/H2_AN202604221821449851_1.pdf): Product and business evidence; matrix positions are analyst assumptions.</a:t>
            </a:r>
          </a:p>
          <a:p xmlns:a="http://schemas.openxmlformats.org/drawingml/2006/main">
            <a:r>
              <a:t/>
            </a:r>
          </a:p>
          <a:p xmlns:a="http://schemas.openxmlformats.org/drawingml/2006/main">
            <a:r>
              <a:t>The primary distinction in this research is product exposure: ACROBiosystems supplies recombinant proteins and assay tools used in expression and functional validation; NanoMicro supplies purification and chromatography products used in analytical/process development and manufacturing. A broad increase in virtual candidates does not establish either company's incremental orders. Manufacturing demand also depends on successful clinical translation and drug output.</a:t>
            </a:r>
          </a:p>
          <a:p xmlns:a="http://schemas.openxmlformats.org/drawingml/2006/main">
            <a:r>
              <a:t/>
            </a:r>
          </a:p>
          <a:p xmlns:a="http://schemas.openxmlformats.org/drawingml/2006/main">
            <a:r>
              <a:t>## Logo and icon assets</a:t>
            </a:r>
          </a:p>
          <a:p xmlns:a="http://schemas.openxmlformats.org/drawingml/2006/main">
            <a:r>
              <a:t/>
            </a:r>
          </a:p>
          <a:p xmlns:a="http://schemas.openxmlformats.org/drawingml/2006/main">
            <a:r>
              <a:t>Logo files identify representative suppliers. `assets/sources.json` gives source URLs and modifications. Where whitespace was trimmed, the brand artwork is unchanged. NanoMicro uses its circular emblem alongside a separate editable English company label, keeping all visible labels English. JET uses an English brand asset from a supplier listing. Company names remain editable even when a logo is embedded. Supplier lists are examples and are not rankings or endorsements.</a:t>
            </a:r>
          </a:p>
          <a:p xmlns:a="http://schemas.openxmlformats.org/drawingml/2006/main">
            <a:r>
              <a:t/>
            </a:r>
          </a:p>
          <a:p xmlns:a="http://schemas.openxmlformats.org/drawingml/2006/main">
            <a:r>
              <a:t>Lucide icons are sourced from the project's official GitHub repository, recolored teal for the graphic and provided under the ISC license. The full license is included in `assets/icons/LICENSE`.</a:t>
            </a:r>
          </a:p>
          <a:p xmlns:a="http://schemas.openxmlformats.org/drawingml/2006/main">
            <a:r>
              <a:t/>
            </a:r>
          </a:p>
          <a:p xmlns:a="http://schemas.openxmlformats.org/drawingml/2006/main">
            <a:r>
              <a:t/>
            </a:r>
          </a:p>
          <a:p xmlns:a="http://schemas.openxmlformats.org/drawingml/2006/main">
            <a:r>
              <a:t># Supplier tickers and current BD exposure</a:t>
            </a:r>
          </a:p>
          <a:p xmlns:a="http://schemas.openxmlformats.org/drawingml/2006/main">
            <a:r>
              <a:t/>
            </a:r>
          </a:p>
          <a:p xmlns:a="http://schemas.openxmlformats.org/drawingml/2006/main">
            <a:r>
              <a:t>Updated 13 October 2026. Rows identify representative suppliers or their listed parents, not market shares or investment recommendations. China/HK and US groups refer to listing venues; they do not imply legal domicile, headquarters or pure-play exposure.</a:t>
            </a:r>
          </a:p>
          <a:p xmlns:a="http://schemas.openxmlformats.org/drawingml/2006/main">
            <a:r>
              <a:t/>
            </a:r>
          </a:p>
          <a:p xmlns:a="http://schemas.openxmlformats.org/drawingml/2006/main">
            <a:r>
              <a:t>BD (NYSE:BDX) remains relevant to specimen collection and preanalytical sample handling. Its former Biosciences and Diagnostic Solutions business, including flow cytometry, moved to Waters (NYSE:WAT) on 9 February 2026.</a:t>
            </a:r>
          </a:p>
          <a:p xmlns:a="http://schemas.openxmlformats.org/drawingml/2006/main">
            <a:r>
              <a:t/>
            </a:r>
          </a:p>
          <a:p xmlns:a="http://schemas.openxmlformats.org/drawingml/2006/main">
            <a:r>
              <a:t>- [BD completion release](https://investors.bd.com/news-events/press-releases/detail/937/bd-completes-combination-of-biosciences-diagnostic-solutions-business-with-waters-corporation)</a:t>
            </a:r>
          </a:p>
          <a:p xmlns:a="http://schemas.openxmlformats.org/drawingml/2006/main">
            <a:r>
              <a:t>- [Waters current transaction disclosure](https://www.waters.com/nextgen/us/en/about-waters/corporate-governance/legal-and-privacy-notices/bdtransaction.html)</a:t>
            </a:r>
          </a:p>
          <a:p xmlns:a="http://schemas.openxmlformats.org/drawingml/2006/main">
            <a:r>
              <a:t>- [Current BD Vacutainer portfolio](https://go.bd.com/vacutainer-product-updates-TY.html): specimen-collection / sample-management products.</a:t>
            </a:r>
          </a:p>
          <a:p xmlns:a="http://schemas.openxmlformats.org/drawingml/2006/main">
            <a:r>
              <a:t/>
            </a:r>
          </a:p>
          <a:p xmlns:a="http://schemas.openxmlformats.org/drawingml/2006/main">
            <a:r>
              <a:t>Gibco is shown with Thermo Fisher (TMO); Cytiva and HyClone with Danaher (DHR). The underlying business exposure is narrower than the parent company's total revenue. Tsingke's code 874813 is a NEEQ code, not an A-share exchange listing; its IPO application is a separate filing. Suzhou Sepax is 688758.SH; the graphic refers to the China-listed issuer's chromatography portfolio.</a:t>
            </a:r>
          </a:p>
          <a:p xmlns:a="http://schemas.openxmlformats.org/drawingml/2006/main">
            <a:r>
              <a:t/>
            </a:r>
          </a:p>
          <a:p xmlns:a="http://schemas.openxmlformats.org/drawingml/2006/main">
            <a:r>
              <a:t>| Supplier / parent | Exchange | Ticker | Product pathway | Primary listing / business source |</a:t>
            </a:r>
          </a:p>
          <a:p xmlns:a="http://schemas.openxmlformats.org/drawingml/2006/main">
            <a:r>
              <a:t>|---|---|---|---|---|</a:t>
            </a:r>
          </a:p>
          <a:p xmlns:a="http://schemas.openxmlformats.org/drawingml/2006/main">
            <a:r>
              <a:t>| GenScript | HKEX | 1548 | Molecular construction | [Source](https://www.genscript.com/genscript-biotech-demonstrates-profitable-scale-and-strategic-leadership-in-h1-2025.html) |</a:t>
            </a:r>
          </a:p>
          <a:p xmlns:a="http://schemas.openxmlformats.org/drawingml/2006/main">
            <a:r>
              <a:t>| Vazyme | SSE | 688105 | Molecular construction | [Source](https://www.vazyme.us/AboutUs/OurStrories/) |</a:t>
            </a:r>
          </a:p>
          <a:p xmlns:a="http://schemas.openxmlformats.org/drawingml/2006/main">
            <a:r>
              <a:t>| Tsingke | NEEQ | 874813 | DNA synthesis; NEEQ-listed, A-share IPO application is separate | [Source](https://static.sse.com.cn/stock/disclosure/announcement/c/202606/002233_20260630_Z9LA.pdf) |</a:t>
            </a:r>
          </a:p>
          <a:p xmlns:a="http://schemas.openxmlformats.org/drawingml/2006/main">
            <a:r>
              <a:t>| ACROBiosystems | SZSE | 301080 | Proteins / functional cells | [Source](https://www1.hkexnews.hk/app/sehk/2026/108910/documents/sehk26093002651_c.pdf) |</a:t>
            </a:r>
          </a:p>
          <a:p xmlns:a="http://schemas.openxmlformats.org/drawingml/2006/main">
            <a:r>
              <a:t>| Sino Biological | SZSE | 301047 | Research proteins / antibodies | [Source](https://disc.static.szse.cn/disc/disk03/finalpage/2026-08-26/cd4ea950-7931-4164-bcec-20c03b8236e1.PDF) |</a:t>
            </a:r>
          </a:p>
          <a:p xmlns:a="http://schemas.openxmlformats.org/drawingml/2006/main">
            <a:r>
              <a:t>| OPM Biosciences | SSE | 688293 | Cell culture media | [Source](https://opmbiosciences.com/) |</a:t>
            </a:r>
          </a:p>
          <a:p xmlns:a="http://schemas.openxmlformats.org/drawingml/2006/main">
            <a:r>
              <a:t>| JET Biofil | SSE | 688026 | Plastic laboratory consumables | [Source](https://static.cninfo.com.cn/finalpage/2026-04-30/1225255989.PDF) |</a:t>
            </a:r>
          </a:p>
          <a:p xmlns:a="http://schemas.openxmlformats.org/drawingml/2006/main">
            <a:r>
              <a:t>| Changhong | SZSE | 300151 | Life science / medical plastic consumables | [Source](https://static.cninfo.com.cn/finalpage/2025-10-30/1224764410.PDF) |</a:t>
            </a:r>
          </a:p>
          <a:p xmlns:a="http://schemas.openxmlformats.org/drawingml/2006/main">
            <a:r>
              <a:t>| MGI | SSE | 688114 | Sequencing instruments / consumables | [Source](https://static.cninfo.com.cn/finalpage/2025-04-30/1223427376.PDF) |</a:t>
            </a:r>
          </a:p>
          <a:p xmlns:a="http://schemas.openxmlformats.org/drawingml/2006/main">
            <a:r>
              <a:t>| NanoMicro | SSE | 688690 | Chromatography materials and analytical separation / purification | [Source](https://static.cninfo.com.cn/finalpage/2026-09-22/1225575593.PDF) |</a:t>
            </a:r>
          </a:p>
          <a:p xmlns:a="http://schemas.openxmlformats.org/drawingml/2006/main">
            <a:r>
              <a:t>| Suzhou Sepax | SSE | 688758 | Chromatography columns / process media | [Source](https://www.sepax-tech.com.cn/skin/default/investorpdf/%E8%8B%8F%E5%B7%9E%E8%B5%9B%E5%88%86%E7%A7%91%E6%8A%80%E8%82%A1%E4%BB%BD%E6%9C%89%E9%99%90%E5%85%AC%E5%8F%B82025%E5%B9%B4%E7%AC%AC%E4%B8%80%E6%AC%A1%E4%B8%B4%E6%97%B6%E8%82%A1%E4%B8%9C%E4%BC%9A%E4%BC%9A%E8%AE%AE%E8%B5%84%E6%96%99.pdf) |</a:t>
            </a:r>
          </a:p>
          <a:p xmlns:a="http://schemas.openxmlformats.org/drawingml/2006/main">
            <a:r>
              <a:t>| Twist Bioscience | NASDAQ | TWST | DNA synthesis | [Source](https://investors.twistbioscience.com/static-files/8c1d5bed-df6f-48d5-832f-eb2f32717c27) |</a:t>
            </a:r>
          </a:p>
          <a:p xmlns:a="http://schemas.openxmlformats.org/drawingml/2006/main">
            <a:r>
              <a:t>| Thermo Fisher / Gibco | NYSE | TMO | Molecular tools, proteins, media and instruments; parent ticker | [Source](https://ir.thermofisher.com/investors/news-events/news/news-details/2026/Thermo-Fisher-Scientific-Reports-Second-Quarter-2026-Results/) |</a:t>
            </a:r>
          </a:p>
          <a:p xmlns:a="http://schemas.openxmlformats.org/drawingml/2006/main">
            <a:r>
              <a:t>| Bio-Techne | NASDAQ | TECH | Proteins / functional assay reagents | [Source](https://investors.bio-techne.com/stock-data) |</a:t>
            </a:r>
          </a:p>
          <a:p xmlns:a="http://schemas.openxmlformats.org/drawingml/2006/main">
            <a:r>
              <a:t>| Danaher / Cytiva / HyClone | NYSE | DHR | Culture and purification; parent ticker | [Source](https://www.danaher.com/our-businesses/biotechnology) |</a:t>
            </a:r>
          </a:p>
          <a:p xmlns:a="http://schemas.openxmlformats.org/drawingml/2006/main">
            <a:r>
              <a:t>| Corning | NYSE | GLW | Laboratory plastics / cell culture | [Source](https://www.corning.com/content/dam/corning/media/worldwide/global/documents/corning_10-k_2025.pdf) |</a:t>
            </a:r>
          </a:p>
          <a:p xmlns:a="http://schemas.openxmlformats.org/drawingml/2006/main">
            <a:r>
              <a:t>| BD | NYSE | BDX | Current specimen collection / preanalytics; ex-BD flow is WAT | [Source](https://investors.bd.com/news-events/press-releases/detail/937/bd-completes-combination-of-biosciences-diagnostic-solutions-business-with-waters-corporation) |</a:t>
            </a:r>
          </a:p>
          <a:p xmlns:a="http://schemas.openxmlformats.org/drawingml/2006/main">
            <a:r>
              <a:t>| Illumina | NASDAQ | ILMN | Sequencing instruments / consumables | [Source](https://investor.illumina.com/static-files/eb129ea4-1f1a-408f-b87a-44eaee93c63d) |</a:t>
            </a:r>
          </a:p>
          <a:p xmlns:a="http://schemas.openxmlformats.org/drawingml/2006/main">
            <a:r>
              <a:t>| Agilent | NYSE | A | Chromatography / analytical instruments | [Source](https://www.investor.agilent.com/stock-info/stock-quote-and-chart/) |</a:t>
            </a:r>
          </a:p>
          <a:p xmlns:a="http://schemas.openxmlformats.org/drawingml/2006/main">
            <a:r>
              <a:t>| Waters / former BD Biosciences | NYSE | WAT | LC-MS / chromatography and ex-BD flow cytometry | [Source](https://www.waters.com/nextgen/us/en/about-waters/corporate-governance/legal-and-privacy-notices/bdtransaction.html) |</a:t>
            </a:r>
          </a:p>
          <a:p xmlns:a="http://schemas.openxmlformats.org/drawingml/2006/main">
            <a:r>
              <a:t>| Repligen | NASDAQ | RGEN | Bioprocess purification / filtration tools | [Source](https://investors.repligen.com/stock-info/default.aspx) |</a:t>
            </a:r>
          </a:p>
          <a:p xmlns:a="http://schemas.openxmlformats.org/drawingml/2006/main">
            <a:r>
              <a:t>| Tecan | SIX | TECN | Laboratory automation; Swiss-listed | [Source](https://www.tecan.com/hubfs/HubDB/Te-PrArc/180323_Tecan_KeplerCheuvreux.pdf) |</a:t>
            </a:r>
          </a:p>
          <a:p xmlns:a="http://schemas.openxmlformats.org/drawingml/2006/main">
            <a:r>
              <a:t/>
            </a:r>
          </a:p>
          <a:p xmlns:a="http://schemas.openxmlformats.org/drawingml/2006/main">
            <a:r>
              <a:t>The market anchors retain their original scope and sources. Adding a supplier does not broaden or update the displayed TAM. The labware family includes a clinical/preanalytical adjacency for BD; the displayed anchor continues to be the selected China plastic laboratory-consumables estimate. The analytics anchor remains China sequencing instruments plus consumables; it does not size flow cytometry.</a:t>
            </a:r>
          </a:p>
          <a:p xmlns:a="http://schemas.openxmlformats.org/drawingml/2006/main">
            <a:r>
              <a:t/>
            </a:r>
          </a:p>
          <a:p xmlns:a="http://schemas.openxmlformats.org/drawingml/2006/main">
            <a:r>
              <a:t>Original BD logo: https://news.bd.com/images/header-bd-logo.svg. Original company marks retain their colors; chart/UI colors use the user-supplied palette. The second RGB value was explicitly confirmed by the user as 172:212:241.</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bca0e624c8544b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b0a8b75d502489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b5822b4c89242b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3d39f44665544b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dc26c870670438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584c69761d74e7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44B83A0-09A3-4FEF-BED1-91F4F6EC598D}"/>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27ED62F-A26A-4B02-9977-44A221FE2041}"/>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0C5D465-0DB3-492B-BDED-914A8B179FE4}"/>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FC0EAB4-7F12-4015-9B6D-96A0FAC6F152}"/>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E4CABBE-B501-4C05-A776-B0D0671CC626}"/>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75DF615-7C56-41F2-86D4-2A107540C9D1}"/>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06C856D-0567-42BE-959A-E52B6A289B39}"/>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9A74224-2A3C-4429-8210-27B5C2B15AE0}"/>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780D093-E26B-4F28-A2A0-2B710C9F3821}"/>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CDDF9D0-C90B-4E92-8F3F-0E23D1FA7927}"/>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c0f1073afda45c4" /><Relationship Type="http://schemas.openxmlformats.org/officeDocument/2006/relationships/slideLayout" Target="/ppt/slideLayouts/slideLayout1.xml" Id="Rf9a6c56987064215" /><Relationship Type="http://schemas.openxmlformats.org/officeDocument/2006/relationships/slideLayout" Target="/ppt/slideLayouts/slideLayout2.xml" Id="R161ae6e67dcb47d0" /><Relationship Type="http://schemas.openxmlformats.org/officeDocument/2006/relationships/slideLayout" Target="/ppt/slideLayouts/slideLayout3.xml" Id="R4732d6c657924bb7" /><Relationship Type="http://schemas.openxmlformats.org/officeDocument/2006/relationships/slideLayout" Target="/ppt/slideLayouts/slideLayout4.xml" Id="Ra831d1c0582545fc" /><Relationship Type="http://schemas.openxmlformats.org/officeDocument/2006/relationships/slideLayout" Target="/ppt/slideLayouts/slideLayout5.xml" Id="R1f5c899d5ae64995" /><Relationship Type="http://schemas.openxmlformats.org/officeDocument/2006/relationships/slideLayout" Target="/ppt/slideLayouts/slideLayout6.xml" Id="R836c36f798704fd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9a6c56987064215"/>
    <p:sldLayoutId xmlns:r="http://schemas.openxmlformats.org/officeDocument/2006/relationships" id="2147483650" r:id="R161ae6e67dcb47d0"/>
    <p:sldLayoutId xmlns:r="http://schemas.openxmlformats.org/officeDocument/2006/relationships" id="2147483651" r:id="R4732d6c657924bb7"/>
    <p:sldLayoutId xmlns:r="http://schemas.openxmlformats.org/officeDocument/2006/relationships" id="2147483652" r:id="Ra831d1c0582545fc"/>
    <p:sldLayoutId xmlns:r="http://schemas.openxmlformats.org/officeDocument/2006/relationships" id="2147483653" r:id="R1f5c899d5ae64995"/>
    <p:sldLayoutId xmlns:r="http://schemas.openxmlformats.org/officeDocument/2006/relationships" id="2147483654" r:id="R836c36f798704fd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fed385c788145b0" /><Relationship Type="http://schemas.openxmlformats.org/officeDocument/2006/relationships/image" Target="/ppt/media/image.png" Id="R2d2050c451d945dc" /><Relationship Type="http://schemas.openxmlformats.org/officeDocument/2006/relationships/notesSlide" Target="/ppt/notesSlides/notesSlide1.xml" Id="Red15943e2dfb4245"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9" name="">
            <a:extLst xmlns:a="http://schemas.openxmlformats.org/drawingml/2006/main">
              <a:ext uri="{FF2B5EF4-FFF2-40B4-BE49-F238E27FC236}">
                <a16:creationId xmlns:a16="http://schemas.microsoft.com/office/drawing/2014/main" id="{33959396-53A3-471C-8819-A920889F0834}"/>
              </a:ext>
            </a:extLst>
          </p:cNvPr>
          <p:cNvPicPr>
            <a:picLocks xmlns:a="http://schemas.openxmlformats.org/drawingml/2006/main" noChangeAspect="1"/>
          </p:cNvPicPr>
          <p:nvPr/>
        </p:nvPicPr>
        <p:blipFill>
          <a:blip xmlns:r="http://schemas.openxmlformats.org/officeDocument/2006/relationships" xmlns:a="http://schemas.openxmlformats.org/drawingml/2006/main" r:embed="R2d2050c451d945dc"/>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Figure 3 label 1 line 1">
            <a:extLst xmlns:a="http://schemas.openxmlformats.org/drawingml/2006/main">
              <a:ext uri="{FF2B5EF4-FFF2-40B4-BE49-F238E27FC236}">
                <a16:creationId xmlns:a16="http://schemas.microsoft.com/office/drawing/2014/main" id="{082DD7BB-3D82-44FC-BF2C-4C300A7CCE10}"/>
              </a:ext>
            </a:extLst>
          </p:cNvPr>
          <p:cNvSpPr>
            <a:spLocks xmlns:a="http://schemas.openxmlformats.org/drawingml/2006/main" noGrp="1"/>
          </p:cNvSpPr>
          <p:nvPr/>
        </p:nvSpPr>
        <p:spPr>
          <a:xfrm xmlns:a="http://schemas.openxmlformats.org/drawingml/2006/main" rot="0">
            <a:off x="1994982" y="7255976"/>
            <a:ext cx="399157"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0%</a:t>
            </a:r>
          </a:p>
        </p:txBody>
      </p:sp>
      <p:sp>
        <p:nvSpPr>
          <p:cNvPr id="3" name="Figure 3 label 2 line 1">
            <a:extLst xmlns:a="http://schemas.openxmlformats.org/drawingml/2006/main">
              <a:ext uri="{FF2B5EF4-FFF2-40B4-BE49-F238E27FC236}">
                <a16:creationId xmlns:a16="http://schemas.microsoft.com/office/drawing/2014/main" id="{58C906F2-3377-4B53-92EB-E7A5E2E85D8C}"/>
              </a:ext>
            </a:extLst>
          </p:cNvPr>
          <p:cNvSpPr>
            <a:spLocks xmlns:a="http://schemas.openxmlformats.org/drawingml/2006/main" noGrp="1"/>
          </p:cNvSpPr>
          <p:nvPr/>
        </p:nvSpPr>
        <p:spPr>
          <a:xfrm xmlns:a="http://schemas.openxmlformats.org/drawingml/2006/main" rot="0">
            <a:off x="5599599" y="7255976"/>
            <a:ext cx="505123"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25%</a:t>
            </a:r>
          </a:p>
        </p:txBody>
      </p:sp>
      <p:sp>
        <p:nvSpPr>
          <p:cNvPr id="4" name="Figure 3 label 3 line 1">
            <a:extLst xmlns:a="http://schemas.openxmlformats.org/drawingml/2006/main">
              <a:ext uri="{FF2B5EF4-FFF2-40B4-BE49-F238E27FC236}">
                <a16:creationId xmlns:a16="http://schemas.microsoft.com/office/drawing/2014/main" id="{51625886-BC0C-4DDB-BCBC-1587E21826B4}"/>
              </a:ext>
            </a:extLst>
          </p:cNvPr>
          <p:cNvSpPr>
            <a:spLocks xmlns:a="http://schemas.openxmlformats.org/drawingml/2006/main" noGrp="1"/>
          </p:cNvSpPr>
          <p:nvPr/>
        </p:nvSpPr>
        <p:spPr>
          <a:xfrm xmlns:a="http://schemas.openxmlformats.org/drawingml/2006/main" rot="0">
            <a:off x="9257199" y="7255976"/>
            <a:ext cx="505123"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50%</a:t>
            </a:r>
          </a:p>
        </p:txBody>
      </p:sp>
      <p:sp>
        <p:nvSpPr>
          <p:cNvPr id="5" name="Figure 3 label 4 line 1">
            <a:extLst xmlns:a="http://schemas.openxmlformats.org/drawingml/2006/main">
              <a:ext uri="{FF2B5EF4-FFF2-40B4-BE49-F238E27FC236}">
                <a16:creationId xmlns:a16="http://schemas.microsoft.com/office/drawing/2014/main" id="{CC766733-F904-4FBC-AED6-3BA149E6D67F}"/>
              </a:ext>
            </a:extLst>
          </p:cNvPr>
          <p:cNvSpPr>
            <a:spLocks xmlns:a="http://schemas.openxmlformats.org/drawingml/2006/main" noGrp="1"/>
          </p:cNvSpPr>
          <p:nvPr/>
        </p:nvSpPr>
        <p:spPr>
          <a:xfrm xmlns:a="http://schemas.openxmlformats.org/drawingml/2006/main" rot="0">
            <a:off x="12914799" y="7255976"/>
            <a:ext cx="505123"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75%</a:t>
            </a:r>
          </a:p>
        </p:txBody>
      </p:sp>
      <p:sp>
        <p:nvSpPr>
          <p:cNvPr id="6" name="Figure 3 label 5 line 1">
            <a:extLst xmlns:a="http://schemas.openxmlformats.org/drawingml/2006/main">
              <a:ext uri="{FF2B5EF4-FFF2-40B4-BE49-F238E27FC236}">
                <a16:creationId xmlns:a16="http://schemas.microsoft.com/office/drawing/2014/main" id="{46A4AB36-1AEE-4E0D-A582-1AA7579F55BF}"/>
              </a:ext>
            </a:extLst>
          </p:cNvPr>
          <p:cNvSpPr>
            <a:spLocks xmlns:a="http://schemas.openxmlformats.org/drawingml/2006/main" noGrp="1"/>
          </p:cNvSpPr>
          <p:nvPr/>
        </p:nvSpPr>
        <p:spPr>
          <a:xfrm xmlns:a="http://schemas.openxmlformats.org/drawingml/2006/main" rot="0">
            <a:off x="16519416" y="7255976"/>
            <a:ext cx="611088"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100%</a:t>
            </a:r>
          </a:p>
        </p:txBody>
      </p:sp>
      <p:sp>
        <p:nvSpPr>
          <p:cNvPr id="7" name="Figure 3 label 6 line 1">
            <a:extLst xmlns:a="http://schemas.openxmlformats.org/drawingml/2006/main">
              <a:ext uri="{FF2B5EF4-FFF2-40B4-BE49-F238E27FC236}">
                <a16:creationId xmlns:a16="http://schemas.microsoft.com/office/drawing/2014/main" id="{A2F0F5FF-4460-4A7B-BCAB-F121CC275D07}"/>
              </a:ext>
            </a:extLst>
          </p:cNvPr>
          <p:cNvSpPr>
            <a:spLocks xmlns:a="http://schemas.openxmlformats.org/drawingml/2006/main" noGrp="1"/>
          </p:cNvSpPr>
          <p:nvPr/>
        </p:nvSpPr>
        <p:spPr>
          <a:xfrm xmlns:a="http://schemas.openxmlformats.org/drawingml/2006/main" rot="0">
            <a:off x="7901747" y="7623105"/>
            <a:ext cx="3216027"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Assumed share of purchasing spend</a:t>
            </a:r>
          </a:p>
        </p:txBody>
      </p:sp>
      <p:sp>
        <p:nvSpPr>
          <p:cNvPr id="8" name="Figure 3 label 7 line 1">
            <a:extLst xmlns:a="http://schemas.openxmlformats.org/drawingml/2006/main">
              <a:ext uri="{FF2B5EF4-FFF2-40B4-BE49-F238E27FC236}">
                <a16:creationId xmlns:a16="http://schemas.microsoft.com/office/drawing/2014/main" id="{34503307-4DBE-4E6F-93D0-64FF2362FB0E}"/>
              </a:ext>
            </a:extLst>
          </p:cNvPr>
          <p:cNvSpPr>
            <a:spLocks xmlns:a="http://schemas.openxmlformats.org/drawingml/2006/main" noGrp="1"/>
          </p:cNvSpPr>
          <p:nvPr/>
        </p:nvSpPr>
        <p:spPr>
          <a:xfrm xmlns:a="http://schemas.openxmlformats.org/drawingml/2006/main" rot="0">
            <a:off x="705187" y="3900957"/>
            <a:ext cx="1330623" cy="3373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2125" b="0">
                <a:solidFill>
                  <a:srgbClr val="00355F"/>
                </a:solidFill>
                <a:latin typeface="Arial Unicode MS"/>
                <a:ea typeface="Arial Unicode MS"/>
                <a:cs typeface="Arial Unicode MS"/>
              </a:defRPr>
            </a:defPPr>
          </a:lstStyle>
          <a:p xmlns:a="http://schemas.openxmlformats.org/drawingml/2006/main">
            <a:pPr algn="r">
              <a:lnSpc>
                <a:spcPct val="100000"/>
              </a:lnSpc>
              <a:buNone/>
              <a:defRPr sz="2125" b="0">
                <a:solidFill>
                  <a:srgbClr val="00355F"/>
                </a:solidFill>
                <a:latin typeface="Arial Unicode MS"/>
                <a:ea typeface="Arial Unicode MS"/>
                <a:cs typeface="Arial Unicode MS"/>
              </a:defRPr>
            </a:pPr>
            <a:r>
              <a:rPr sz="2125" b="0">
                <a:solidFill>
                  <a:srgbClr val="00355F"/>
                </a:solidFill>
                <a:latin typeface="Arial Unicode MS"/>
                <a:ea typeface="Arial Unicode MS"/>
                <a:cs typeface="Arial Unicode MS"/>
              </a:rPr>
              <a:t>Reagents</a:t>
            </a:r>
          </a:p>
        </p:txBody>
      </p:sp>
      <p:sp>
        <p:nvSpPr>
          <p:cNvPr id="9" name="Figure 3 label 8 line 1">
            <a:extLst xmlns:a="http://schemas.openxmlformats.org/drawingml/2006/main">
              <a:ext uri="{FF2B5EF4-FFF2-40B4-BE49-F238E27FC236}">
                <a16:creationId xmlns:a16="http://schemas.microsoft.com/office/drawing/2014/main" id="{F429DC29-305F-4526-AAB0-E65A60841F65}"/>
              </a:ext>
            </a:extLst>
          </p:cNvPr>
          <p:cNvSpPr>
            <a:spLocks xmlns:a="http://schemas.openxmlformats.org/drawingml/2006/main" noGrp="1"/>
          </p:cNvSpPr>
          <p:nvPr/>
        </p:nvSpPr>
        <p:spPr>
          <a:xfrm xmlns:a="http://schemas.openxmlformats.org/drawingml/2006/main" rot="0">
            <a:off x="210483" y="5054348"/>
            <a:ext cx="1825327" cy="3373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2125" b="0">
                <a:solidFill>
                  <a:srgbClr val="00355F"/>
                </a:solidFill>
                <a:latin typeface="Arial Unicode MS"/>
                <a:ea typeface="Arial Unicode MS"/>
                <a:cs typeface="Arial Unicode MS"/>
              </a:defRPr>
            </a:defPPr>
          </a:lstStyle>
          <a:p xmlns:a="http://schemas.openxmlformats.org/drawingml/2006/main">
            <a:pPr algn="r">
              <a:lnSpc>
                <a:spcPct val="100000"/>
              </a:lnSpc>
              <a:buNone/>
              <a:defRPr sz="2125" b="0">
                <a:solidFill>
                  <a:srgbClr val="00355F"/>
                </a:solidFill>
                <a:latin typeface="Arial Unicode MS"/>
                <a:ea typeface="Arial Unicode MS"/>
                <a:cs typeface="Arial Unicode MS"/>
              </a:defRPr>
            </a:pPr>
            <a:r>
              <a:rPr sz="2125" b="0">
                <a:solidFill>
                  <a:srgbClr val="00355F"/>
                </a:solidFill>
                <a:latin typeface="Arial Unicode MS"/>
                <a:ea typeface="Arial Unicode MS"/>
                <a:cs typeface="Arial Unicode MS"/>
              </a:rPr>
              <a:t>Consumables</a:t>
            </a:r>
          </a:p>
        </p:txBody>
      </p:sp>
      <p:sp>
        <p:nvSpPr>
          <p:cNvPr id="10" name="Figure 3 label 9 line 1">
            <a:extLst xmlns:a="http://schemas.openxmlformats.org/drawingml/2006/main">
              <a:ext uri="{FF2B5EF4-FFF2-40B4-BE49-F238E27FC236}">
                <a16:creationId xmlns:a16="http://schemas.microsoft.com/office/drawing/2014/main" id="{2F676C8E-4254-4CD6-884B-8A2DFF3723CE}"/>
              </a:ext>
            </a:extLst>
          </p:cNvPr>
          <p:cNvSpPr>
            <a:spLocks xmlns:a="http://schemas.openxmlformats.org/drawingml/2006/main" noGrp="1"/>
          </p:cNvSpPr>
          <p:nvPr/>
        </p:nvSpPr>
        <p:spPr>
          <a:xfrm xmlns:a="http://schemas.openxmlformats.org/drawingml/2006/main" rot="0">
            <a:off x="450691" y="6207739"/>
            <a:ext cx="1585119" cy="3373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2125" b="0">
                <a:solidFill>
                  <a:srgbClr val="00355F"/>
                </a:solidFill>
                <a:latin typeface="Arial Unicode MS"/>
                <a:ea typeface="Arial Unicode MS"/>
                <a:cs typeface="Arial Unicode MS"/>
              </a:defRPr>
            </a:defPPr>
          </a:lstStyle>
          <a:p xmlns:a="http://schemas.openxmlformats.org/drawingml/2006/main">
            <a:pPr algn="r">
              <a:lnSpc>
                <a:spcPct val="100000"/>
              </a:lnSpc>
              <a:buNone/>
              <a:defRPr sz="2125" b="0">
                <a:solidFill>
                  <a:srgbClr val="00355F"/>
                </a:solidFill>
                <a:latin typeface="Arial Unicode MS"/>
                <a:ea typeface="Arial Unicode MS"/>
                <a:cs typeface="Arial Unicode MS"/>
              </a:defRPr>
            </a:pPr>
            <a:r>
              <a:rPr sz="2125" b="0">
                <a:solidFill>
                  <a:srgbClr val="00355F"/>
                </a:solidFill>
                <a:latin typeface="Arial Unicode MS"/>
                <a:ea typeface="Arial Unicode MS"/>
                <a:cs typeface="Arial Unicode MS"/>
              </a:rPr>
              <a:t>Instruments</a:t>
            </a:r>
          </a:p>
        </p:txBody>
      </p:sp>
      <p:sp>
        <p:nvSpPr>
          <p:cNvPr id="11" name="Figure 3 label 10 line 1">
            <a:extLst xmlns:a="http://schemas.openxmlformats.org/drawingml/2006/main">
              <a:ext uri="{FF2B5EF4-FFF2-40B4-BE49-F238E27FC236}">
                <a16:creationId xmlns:a16="http://schemas.microsoft.com/office/drawing/2014/main" id="{82F59F48-9B4F-4E60-AD20-378056699512}"/>
              </a:ext>
            </a:extLst>
          </p:cNvPr>
          <p:cNvSpPr>
            <a:spLocks xmlns:a="http://schemas.openxmlformats.org/drawingml/2006/main" noGrp="1"/>
          </p:cNvSpPr>
          <p:nvPr/>
        </p:nvSpPr>
        <p:spPr>
          <a:xfrm xmlns:a="http://schemas.openxmlformats.org/drawingml/2006/main" rot="0">
            <a:off x="4073382" y="3905880"/>
            <a:ext cx="631478"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75" b="0">
                <a:solidFill>
                  <a:srgbClr val="FFFFFF"/>
                </a:solidFill>
                <a:latin typeface="Arial Unicode MS"/>
                <a:ea typeface="Arial Unicode MS"/>
                <a:cs typeface="Arial Unicode MS"/>
              </a:defRPr>
            </a:defPPr>
          </a:lstStyle>
          <a:p xmlns:a="http://schemas.openxmlformats.org/drawingml/2006/main">
            <a:pPr algn="ctr">
              <a:lnSpc>
                <a:spcPct val="100000"/>
              </a:lnSpc>
              <a:buNone/>
              <a:defRPr sz="1875" b="0">
                <a:solidFill>
                  <a:srgbClr val="FFFFFF"/>
                </a:solidFill>
                <a:latin typeface="Arial Unicode MS"/>
                <a:ea typeface="Arial Unicode MS"/>
                <a:cs typeface="Arial Unicode MS"/>
              </a:defRPr>
            </a:pPr>
            <a:r>
              <a:rPr sz="1875" b="0">
                <a:solidFill>
                  <a:srgbClr val="FFFFFF"/>
                </a:solidFill>
                <a:latin typeface="Arial Unicode MS"/>
                <a:ea typeface="Arial Unicode MS"/>
                <a:cs typeface="Arial Unicode MS"/>
              </a:rPr>
              <a:t>30%</a:t>
            </a:r>
          </a:p>
        </p:txBody>
      </p:sp>
      <p:sp>
        <p:nvSpPr>
          <p:cNvPr id="12" name="Figure 3 label 11 line 1">
            <a:extLst xmlns:a="http://schemas.openxmlformats.org/drawingml/2006/main">
              <a:ext uri="{FF2B5EF4-FFF2-40B4-BE49-F238E27FC236}">
                <a16:creationId xmlns:a16="http://schemas.microsoft.com/office/drawing/2014/main" id="{8B773435-583E-4360-BE7F-DB18C085ABBD}"/>
              </a:ext>
            </a:extLst>
          </p:cNvPr>
          <p:cNvSpPr>
            <a:spLocks xmlns:a="http://schemas.openxmlformats.org/drawingml/2006/main" noGrp="1"/>
          </p:cNvSpPr>
          <p:nvPr/>
        </p:nvSpPr>
        <p:spPr>
          <a:xfrm xmlns:a="http://schemas.openxmlformats.org/drawingml/2006/main" rot="0">
            <a:off x="3341861" y="5059271"/>
            <a:ext cx="631478"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75" b="0">
                <a:solidFill>
                  <a:srgbClr val="FFFFFF"/>
                </a:solidFill>
                <a:latin typeface="Arial Unicode MS"/>
                <a:ea typeface="Arial Unicode MS"/>
                <a:cs typeface="Arial Unicode MS"/>
              </a:defRPr>
            </a:defPPr>
          </a:lstStyle>
          <a:p xmlns:a="http://schemas.openxmlformats.org/drawingml/2006/main">
            <a:pPr algn="ctr">
              <a:lnSpc>
                <a:spcPct val="100000"/>
              </a:lnSpc>
              <a:buNone/>
              <a:defRPr sz="1875" b="0">
                <a:solidFill>
                  <a:srgbClr val="FFFFFF"/>
                </a:solidFill>
                <a:latin typeface="Arial Unicode MS"/>
                <a:ea typeface="Arial Unicode MS"/>
                <a:cs typeface="Arial Unicode MS"/>
              </a:defRPr>
            </a:pPr>
            <a:r>
              <a:rPr sz="1875" b="0">
                <a:solidFill>
                  <a:srgbClr val="FFFFFF"/>
                </a:solidFill>
                <a:latin typeface="Arial Unicode MS"/>
                <a:ea typeface="Arial Unicode MS"/>
                <a:cs typeface="Arial Unicode MS"/>
              </a:rPr>
              <a:t>20%</a:t>
            </a:r>
          </a:p>
        </p:txBody>
      </p:sp>
      <p:sp>
        <p:nvSpPr>
          <p:cNvPr id="13" name="Figure 3 label 12 line 1">
            <a:extLst xmlns:a="http://schemas.openxmlformats.org/drawingml/2006/main">
              <a:ext uri="{FF2B5EF4-FFF2-40B4-BE49-F238E27FC236}">
                <a16:creationId xmlns:a16="http://schemas.microsoft.com/office/drawing/2014/main" id="{A185C957-B09F-45D4-8722-70C994C3CF6E}"/>
              </a:ext>
            </a:extLst>
          </p:cNvPr>
          <p:cNvSpPr>
            <a:spLocks xmlns:a="http://schemas.openxmlformats.org/drawingml/2006/main" noGrp="1"/>
          </p:cNvSpPr>
          <p:nvPr/>
        </p:nvSpPr>
        <p:spPr>
          <a:xfrm xmlns:a="http://schemas.openxmlformats.org/drawingml/2006/main" rot="0">
            <a:off x="3707621" y="6212662"/>
            <a:ext cx="631478"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75" b="0">
                <a:solidFill>
                  <a:srgbClr val="FFFFFF"/>
                </a:solidFill>
                <a:latin typeface="Arial Unicode MS"/>
                <a:ea typeface="Arial Unicode MS"/>
                <a:cs typeface="Arial Unicode MS"/>
              </a:defRPr>
            </a:defPPr>
          </a:lstStyle>
          <a:p xmlns:a="http://schemas.openxmlformats.org/drawingml/2006/main">
            <a:pPr algn="ctr">
              <a:lnSpc>
                <a:spcPct val="100000"/>
              </a:lnSpc>
              <a:buNone/>
              <a:defRPr sz="1875" b="0">
                <a:solidFill>
                  <a:srgbClr val="FFFFFF"/>
                </a:solidFill>
                <a:latin typeface="Arial Unicode MS"/>
                <a:ea typeface="Arial Unicode MS"/>
                <a:cs typeface="Arial Unicode MS"/>
              </a:defRPr>
            </a:pPr>
            <a:r>
              <a:rPr sz="1875" b="0">
                <a:solidFill>
                  <a:srgbClr val="FFFFFF"/>
                </a:solidFill>
                <a:latin typeface="Arial Unicode MS"/>
                <a:ea typeface="Arial Unicode MS"/>
                <a:cs typeface="Arial Unicode MS"/>
              </a:rPr>
              <a:t>25%</a:t>
            </a:r>
          </a:p>
        </p:txBody>
      </p:sp>
      <p:sp>
        <p:nvSpPr>
          <p:cNvPr id="14" name="Figure 3 label 13 line 1">
            <a:extLst xmlns:a="http://schemas.openxmlformats.org/drawingml/2006/main">
              <a:ext uri="{FF2B5EF4-FFF2-40B4-BE49-F238E27FC236}">
                <a16:creationId xmlns:a16="http://schemas.microsoft.com/office/drawing/2014/main" id="{5504EA2D-2AC1-413E-9250-B708095498F2}"/>
              </a:ext>
            </a:extLst>
          </p:cNvPr>
          <p:cNvSpPr>
            <a:spLocks xmlns:a="http://schemas.openxmlformats.org/drawingml/2006/main" noGrp="1"/>
          </p:cNvSpPr>
          <p:nvPr/>
        </p:nvSpPr>
        <p:spPr>
          <a:xfrm xmlns:a="http://schemas.openxmlformats.org/drawingml/2006/main" rot="0">
            <a:off x="8096741" y="3905880"/>
            <a:ext cx="631478"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7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875" b="0">
                <a:solidFill>
                  <a:srgbClr val="00355F"/>
                </a:solidFill>
                <a:latin typeface="Arial Unicode MS"/>
                <a:ea typeface="Arial Unicode MS"/>
                <a:cs typeface="Arial Unicode MS"/>
              </a:defRPr>
            </a:pPr>
            <a:r>
              <a:rPr sz="1875" b="0">
                <a:solidFill>
                  <a:srgbClr val="00355F"/>
                </a:solidFill>
                <a:latin typeface="Arial Unicode MS"/>
                <a:ea typeface="Arial Unicode MS"/>
                <a:cs typeface="Arial Unicode MS"/>
              </a:rPr>
              <a:t>25%</a:t>
            </a:r>
          </a:p>
        </p:txBody>
      </p:sp>
      <p:sp>
        <p:nvSpPr>
          <p:cNvPr id="15" name="Figure 3 label 14 line 1">
            <a:extLst xmlns:a="http://schemas.openxmlformats.org/drawingml/2006/main">
              <a:ext uri="{FF2B5EF4-FFF2-40B4-BE49-F238E27FC236}">
                <a16:creationId xmlns:a16="http://schemas.microsoft.com/office/drawing/2014/main" id="{990CA609-D050-4C64-93B1-2C4F73E52825}"/>
              </a:ext>
            </a:extLst>
          </p:cNvPr>
          <p:cNvSpPr>
            <a:spLocks xmlns:a="http://schemas.openxmlformats.org/drawingml/2006/main" noGrp="1"/>
          </p:cNvSpPr>
          <p:nvPr/>
        </p:nvSpPr>
        <p:spPr>
          <a:xfrm xmlns:a="http://schemas.openxmlformats.org/drawingml/2006/main" rot="0">
            <a:off x="6267942" y="5059271"/>
            <a:ext cx="631478"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7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875" b="0">
                <a:solidFill>
                  <a:srgbClr val="00355F"/>
                </a:solidFill>
                <a:latin typeface="Arial Unicode MS"/>
                <a:ea typeface="Arial Unicode MS"/>
                <a:cs typeface="Arial Unicode MS"/>
              </a:defRPr>
            </a:pPr>
            <a:r>
              <a:rPr sz="1875" b="0">
                <a:solidFill>
                  <a:srgbClr val="00355F"/>
                </a:solidFill>
                <a:latin typeface="Arial Unicode MS"/>
                <a:ea typeface="Arial Unicode MS"/>
                <a:cs typeface="Arial Unicode MS"/>
              </a:rPr>
              <a:t>20%</a:t>
            </a:r>
          </a:p>
        </p:txBody>
      </p:sp>
      <p:sp>
        <p:nvSpPr>
          <p:cNvPr id="16" name="Figure 3 label 15 line 1">
            <a:extLst xmlns:a="http://schemas.openxmlformats.org/drawingml/2006/main">
              <a:ext uri="{FF2B5EF4-FFF2-40B4-BE49-F238E27FC236}">
                <a16:creationId xmlns:a16="http://schemas.microsoft.com/office/drawing/2014/main" id="{BAC53AEF-66CB-4211-B92B-E9130561115B}"/>
              </a:ext>
            </a:extLst>
          </p:cNvPr>
          <p:cNvSpPr>
            <a:spLocks xmlns:a="http://schemas.openxmlformats.org/drawingml/2006/main" noGrp="1"/>
          </p:cNvSpPr>
          <p:nvPr/>
        </p:nvSpPr>
        <p:spPr>
          <a:xfrm xmlns:a="http://schemas.openxmlformats.org/drawingml/2006/main" rot="0">
            <a:off x="6999461" y="6212662"/>
            <a:ext cx="631478"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7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875" b="0">
                <a:solidFill>
                  <a:srgbClr val="00355F"/>
                </a:solidFill>
                <a:latin typeface="Arial Unicode MS"/>
                <a:ea typeface="Arial Unicode MS"/>
                <a:cs typeface="Arial Unicode MS"/>
              </a:defRPr>
            </a:pPr>
            <a:r>
              <a:rPr sz="1875" b="0">
                <a:solidFill>
                  <a:srgbClr val="00355F"/>
                </a:solidFill>
                <a:latin typeface="Arial Unicode MS"/>
                <a:ea typeface="Arial Unicode MS"/>
                <a:cs typeface="Arial Unicode MS"/>
              </a:rPr>
              <a:t>20%</a:t>
            </a:r>
          </a:p>
        </p:txBody>
      </p:sp>
      <p:sp>
        <p:nvSpPr>
          <p:cNvPr id="17" name="Figure 3 label 16 line 1">
            <a:extLst xmlns:a="http://schemas.openxmlformats.org/drawingml/2006/main">
              <a:ext uri="{FF2B5EF4-FFF2-40B4-BE49-F238E27FC236}">
                <a16:creationId xmlns:a16="http://schemas.microsoft.com/office/drawing/2014/main" id="{92CAB169-7384-4966-BF54-D8500029E0FD}"/>
              </a:ext>
            </a:extLst>
          </p:cNvPr>
          <p:cNvSpPr>
            <a:spLocks xmlns:a="http://schemas.openxmlformats.org/drawingml/2006/main" noGrp="1"/>
          </p:cNvSpPr>
          <p:nvPr/>
        </p:nvSpPr>
        <p:spPr>
          <a:xfrm xmlns:a="http://schemas.openxmlformats.org/drawingml/2006/main" rot="0">
            <a:off x="11022820" y="3905880"/>
            <a:ext cx="631478"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7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875" b="0">
                <a:solidFill>
                  <a:srgbClr val="00355F"/>
                </a:solidFill>
                <a:latin typeface="Arial Unicode MS"/>
                <a:ea typeface="Arial Unicode MS"/>
                <a:cs typeface="Arial Unicode MS"/>
              </a:defRPr>
            </a:pPr>
            <a:r>
              <a:rPr sz="1875" b="0">
                <a:solidFill>
                  <a:srgbClr val="00355F"/>
                </a:solidFill>
                <a:latin typeface="Arial Unicode MS"/>
                <a:ea typeface="Arial Unicode MS"/>
                <a:cs typeface="Arial Unicode MS"/>
              </a:rPr>
              <a:t>15%</a:t>
            </a:r>
          </a:p>
        </p:txBody>
      </p:sp>
      <p:sp>
        <p:nvSpPr>
          <p:cNvPr id="18" name="Figure 3 label 17 line 1">
            <a:extLst xmlns:a="http://schemas.openxmlformats.org/drawingml/2006/main">
              <a:ext uri="{FF2B5EF4-FFF2-40B4-BE49-F238E27FC236}">
                <a16:creationId xmlns:a16="http://schemas.microsoft.com/office/drawing/2014/main" id="{DAB4D50E-67B8-46E1-8198-E2FE6D38E7EA}"/>
              </a:ext>
            </a:extLst>
          </p:cNvPr>
          <p:cNvSpPr>
            <a:spLocks xmlns:a="http://schemas.openxmlformats.org/drawingml/2006/main" noGrp="1"/>
          </p:cNvSpPr>
          <p:nvPr/>
        </p:nvSpPr>
        <p:spPr>
          <a:xfrm xmlns:a="http://schemas.openxmlformats.org/drawingml/2006/main" rot="0">
            <a:off x="8828262" y="5059271"/>
            <a:ext cx="631478"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7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875" b="0">
                <a:solidFill>
                  <a:srgbClr val="00355F"/>
                </a:solidFill>
                <a:latin typeface="Arial Unicode MS"/>
                <a:ea typeface="Arial Unicode MS"/>
                <a:cs typeface="Arial Unicode MS"/>
              </a:defRPr>
            </a:pPr>
            <a:r>
              <a:rPr sz="1875" b="0">
                <a:solidFill>
                  <a:srgbClr val="00355F"/>
                </a:solidFill>
                <a:latin typeface="Arial Unicode MS"/>
                <a:ea typeface="Arial Unicode MS"/>
                <a:cs typeface="Arial Unicode MS"/>
              </a:rPr>
              <a:t>15%</a:t>
            </a:r>
          </a:p>
        </p:txBody>
      </p:sp>
      <p:sp>
        <p:nvSpPr>
          <p:cNvPr id="19" name="Figure 3 label 18 line 1">
            <a:extLst xmlns:a="http://schemas.openxmlformats.org/drawingml/2006/main">
              <a:ext uri="{FF2B5EF4-FFF2-40B4-BE49-F238E27FC236}">
                <a16:creationId xmlns:a16="http://schemas.microsoft.com/office/drawing/2014/main" id="{8C68B2CA-EB44-40DB-A678-605A7E70F966}"/>
              </a:ext>
            </a:extLst>
          </p:cNvPr>
          <p:cNvSpPr>
            <a:spLocks xmlns:a="http://schemas.openxmlformats.org/drawingml/2006/main" noGrp="1"/>
          </p:cNvSpPr>
          <p:nvPr/>
        </p:nvSpPr>
        <p:spPr>
          <a:xfrm xmlns:a="http://schemas.openxmlformats.org/drawingml/2006/main" rot="0">
            <a:off x="9194022" y="6212662"/>
            <a:ext cx="631478"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7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875" b="0">
                <a:solidFill>
                  <a:srgbClr val="00355F"/>
                </a:solidFill>
                <a:latin typeface="Arial Unicode MS"/>
                <a:ea typeface="Arial Unicode MS"/>
                <a:cs typeface="Arial Unicode MS"/>
              </a:defRPr>
            </a:pPr>
            <a:r>
              <a:rPr sz="1875" b="0">
                <a:solidFill>
                  <a:srgbClr val="00355F"/>
                </a:solidFill>
                <a:latin typeface="Arial Unicode MS"/>
                <a:ea typeface="Arial Unicode MS"/>
                <a:cs typeface="Arial Unicode MS"/>
              </a:rPr>
              <a:t>10%</a:t>
            </a:r>
          </a:p>
        </p:txBody>
      </p:sp>
      <p:sp>
        <p:nvSpPr>
          <p:cNvPr id="20" name="Figure 3 label 19 line 1">
            <a:extLst xmlns:a="http://schemas.openxmlformats.org/drawingml/2006/main">
              <a:ext uri="{FF2B5EF4-FFF2-40B4-BE49-F238E27FC236}">
                <a16:creationId xmlns:a16="http://schemas.microsoft.com/office/drawing/2014/main" id="{E7604E5D-0C43-4414-82F8-2586FA35E466}"/>
              </a:ext>
            </a:extLst>
          </p:cNvPr>
          <p:cNvSpPr>
            <a:spLocks xmlns:a="http://schemas.openxmlformats.org/drawingml/2006/main" noGrp="1"/>
          </p:cNvSpPr>
          <p:nvPr/>
        </p:nvSpPr>
        <p:spPr>
          <a:xfrm xmlns:a="http://schemas.openxmlformats.org/drawingml/2006/main" rot="0">
            <a:off x="12851622" y="3905880"/>
            <a:ext cx="631478"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7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875" b="0">
                <a:solidFill>
                  <a:srgbClr val="00355F"/>
                </a:solidFill>
                <a:latin typeface="Arial Unicode MS"/>
                <a:ea typeface="Arial Unicode MS"/>
                <a:cs typeface="Arial Unicode MS"/>
              </a:defRPr>
            </a:pPr>
            <a:r>
              <a:rPr sz="1875" b="0">
                <a:solidFill>
                  <a:srgbClr val="00355F"/>
                </a:solidFill>
                <a:latin typeface="Arial Unicode MS"/>
                <a:ea typeface="Arial Unicode MS"/>
                <a:cs typeface="Arial Unicode MS"/>
              </a:rPr>
              <a:t>10%</a:t>
            </a:r>
          </a:p>
        </p:txBody>
      </p:sp>
      <p:sp>
        <p:nvSpPr>
          <p:cNvPr id="21" name="Figure 3 label 20 line 1">
            <a:extLst xmlns:a="http://schemas.openxmlformats.org/drawingml/2006/main">
              <a:ext uri="{FF2B5EF4-FFF2-40B4-BE49-F238E27FC236}">
                <a16:creationId xmlns:a16="http://schemas.microsoft.com/office/drawing/2014/main" id="{2BBFDC38-4AFA-4F36-BF00-CA72FCC90A55}"/>
              </a:ext>
            </a:extLst>
          </p:cNvPr>
          <p:cNvSpPr>
            <a:spLocks xmlns:a="http://schemas.openxmlformats.org/drawingml/2006/main" noGrp="1"/>
          </p:cNvSpPr>
          <p:nvPr/>
        </p:nvSpPr>
        <p:spPr>
          <a:xfrm xmlns:a="http://schemas.openxmlformats.org/drawingml/2006/main" rot="0">
            <a:off x="12120101" y="5059271"/>
            <a:ext cx="631478"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7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875" b="0">
                <a:solidFill>
                  <a:srgbClr val="00355F"/>
                </a:solidFill>
                <a:latin typeface="Arial Unicode MS"/>
                <a:ea typeface="Arial Unicode MS"/>
                <a:cs typeface="Arial Unicode MS"/>
              </a:defRPr>
            </a:pPr>
            <a:r>
              <a:rPr sz="1875" b="0">
                <a:solidFill>
                  <a:srgbClr val="00355F"/>
                </a:solidFill>
                <a:latin typeface="Arial Unicode MS"/>
                <a:ea typeface="Arial Unicode MS"/>
                <a:cs typeface="Arial Unicode MS"/>
              </a:rPr>
              <a:t>30%</a:t>
            </a:r>
          </a:p>
        </p:txBody>
      </p:sp>
      <p:sp>
        <p:nvSpPr>
          <p:cNvPr id="22" name="Figure 3 label 21 line 1">
            <a:extLst xmlns:a="http://schemas.openxmlformats.org/drawingml/2006/main">
              <a:ext uri="{FF2B5EF4-FFF2-40B4-BE49-F238E27FC236}">
                <a16:creationId xmlns:a16="http://schemas.microsoft.com/office/drawing/2014/main" id="{79E8A12D-F2D4-49DC-B443-BAFA313F1675}"/>
              </a:ext>
            </a:extLst>
          </p:cNvPr>
          <p:cNvSpPr>
            <a:spLocks xmlns:a="http://schemas.openxmlformats.org/drawingml/2006/main" noGrp="1"/>
          </p:cNvSpPr>
          <p:nvPr/>
        </p:nvSpPr>
        <p:spPr>
          <a:xfrm xmlns:a="http://schemas.openxmlformats.org/drawingml/2006/main" rot="0">
            <a:off x="11022820" y="6212662"/>
            <a:ext cx="631478"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7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875" b="0">
                <a:solidFill>
                  <a:srgbClr val="00355F"/>
                </a:solidFill>
                <a:latin typeface="Arial Unicode MS"/>
                <a:ea typeface="Arial Unicode MS"/>
                <a:cs typeface="Arial Unicode MS"/>
              </a:defRPr>
            </a:pPr>
            <a:r>
              <a:rPr sz="1875" b="0">
                <a:solidFill>
                  <a:srgbClr val="00355F"/>
                </a:solidFill>
                <a:latin typeface="Arial Unicode MS"/>
                <a:ea typeface="Arial Unicode MS"/>
                <a:cs typeface="Arial Unicode MS"/>
              </a:rPr>
              <a:t>15%</a:t>
            </a:r>
          </a:p>
        </p:txBody>
      </p:sp>
      <p:sp>
        <p:nvSpPr>
          <p:cNvPr id="23" name="Figure 3 label 22 line 1">
            <a:extLst xmlns:a="http://schemas.openxmlformats.org/drawingml/2006/main">
              <a:ext uri="{FF2B5EF4-FFF2-40B4-BE49-F238E27FC236}">
                <a16:creationId xmlns:a16="http://schemas.microsoft.com/office/drawing/2014/main" id="{6B3D406C-F061-4364-9F71-343EC30A62F5}"/>
              </a:ext>
            </a:extLst>
          </p:cNvPr>
          <p:cNvSpPr>
            <a:spLocks xmlns:a="http://schemas.openxmlformats.org/drawingml/2006/main" noGrp="1"/>
          </p:cNvSpPr>
          <p:nvPr/>
        </p:nvSpPr>
        <p:spPr>
          <a:xfrm xmlns:a="http://schemas.openxmlformats.org/drawingml/2006/main" rot="0">
            <a:off x="15046181" y="3905880"/>
            <a:ext cx="631478"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75" b="0">
                <a:solidFill>
                  <a:srgbClr val="FFFFFF"/>
                </a:solidFill>
                <a:latin typeface="Arial Unicode MS"/>
                <a:ea typeface="Arial Unicode MS"/>
                <a:cs typeface="Arial Unicode MS"/>
              </a:defRPr>
            </a:defPPr>
          </a:lstStyle>
          <a:p xmlns:a="http://schemas.openxmlformats.org/drawingml/2006/main">
            <a:pPr algn="ctr">
              <a:lnSpc>
                <a:spcPct val="100000"/>
              </a:lnSpc>
              <a:buNone/>
              <a:defRPr sz="1875" b="0">
                <a:solidFill>
                  <a:srgbClr val="FFFFFF"/>
                </a:solidFill>
                <a:latin typeface="Arial Unicode MS"/>
                <a:ea typeface="Arial Unicode MS"/>
                <a:cs typeface="Arial Unicode MS"/>
              </a:defRPr>
            </a:pPr>
            <a:r>
              <a:rPr sz="1875" b="0">
                <a:solidFill>
                  <a:srgbClr val="FFFFFF"/>
                </a:solidFill>
                <a:latin typeface="Arial Unicode MS"/>
                <a:ea typeface="Arial Unicode MS"/>
                <a:cs typeface="Arial Unicode MS"/>
              </a:rPr>
              <a:t>20%</a:t>
            </a:r>
          </a:p>
        </p:txBody>
      </p:sp>
      <p:sp>
        <p:nvSpPr>
          <p:cNvPr id="24" name="Figure 3 label 23 line 1">
            <a:extLst xmlns:a="http://schemas.openxmlformats.org/drawingml/2006/main">
              <a:ext uri="{FF2B5EF4-FFF2-40B4-BE49-F238E27FC236}">
                <a16:creationId xmlns:a16="http://schemas.microsoft.com/office/drawing/2014/main" id="{AC3D9306-9BAD-403C-8D40-90749A2810D9}"/>
              </a:ext>
            </a:extLst>
          </p:cNvPr>
          <p:cNvSpPr>
            <a:spLocks xmlns:a="http://schemas.openxmlformats.org/drawingml/2006/main" noGrp="1"/>
          </p:cNvSpPr>
          <p:nvPr/>
        </p:nvSpPr>
        <p:spPr>
          <a:xfrm xmlns:a="http://schemas.openxmlformats.org/drawingml/2006/main" rot="0">
            <a:off x="15411941" y="5059271"/>
            <a:ext cx="631478"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75" b="0">
                <a:solidFill>
                  <a:srgbClr val="FFFFFF"/>
                </a:solidFill>
                <a:latin typeface="Arial Unicode MS"/>
                <a:ea typeface="Arial Unicode MS"/>
                <a:cs typeface="Arial Unicode MS"/>
              </a:defRPr>
            </a:defPPr>
          </a:lstStyle>
          <a:p xmlns:a="http://schemas.openxmlformats.org/drawingml/2006/main">
            <a:pPr algn="ctr">
              <a:lnSpc>
                <a:spcPct val="100000"/>
              </a:lnSpc>
              <a:buNone/>
              <a:defRPr sz="1875" b="0">
                <a:solidFill>
                  <a:srgbClr val="FFFFFF"/>
                </a:solidFill>
                <a:latin typeface="Arial Unicode MS"/>
                <a:ea typeface="Arial Unicode MS"/>
                <a:cs typeface="Arial Unicode MS"/>
              </a:defRPr>
            </a:pPr>
            <a:r>
              <a:rPr sz="1875" b="0">
                <a:solidFill>
                  <a:srgbClr val="FFFFFF"/>
                </a:solidFill>
                <a:latin typeface="Arial Unicode MS"/>
                <a:ea typeface="Arial Unicode MS"/>
                <a:cs typeface="Arial Unicode MS"/>
              </a:rPr>
              <a:t>15%</a:t>
            </a:r>
          </a:p>
        </p:txBody>
      </p:sp>
      <p:sp>
        <p:nvSpPr>
          <p:cNvPr id="25" name="Figure 3 label 24 line 1">
            <a:extLst xmlns:a="http://schemas.openxmlformats.org/drawingml/2006/main">
              <a:ext uri="{FF2B5EF4-FFF2-40B4-BE49-F238E27FC236}">
                <a16:creationId xmlns:a16="http://schemas.microsoft.com/office/drawing/2014/main" id="{028910B7-E13E-402A-9427-F719D147BD71}"/>
              </a:ext>
            </a:extLst>
          </p:cNvPr>
          <p:cNvSpPr>
            <a:spLocks xmlns:a="http://schemas.openxmlformats.org/drawingml/2006/main" noGrp="1"/>
          </p:cNvSpPr>
          <p:nvPr/>
        </p:nvSpPr>
        <p:spPr>
          <a:xfrm xmlns:a="http://schemas.openxmlformats.org/drawingml/2006/main" rot="0">
            <a:off x="14314660" y="6212662"/>
            <a:ext cx="631478"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75" b="0">
                <a:solidFill>
                  <a:srgbClr val="FFFFFF"/>
                </a:solidFill>
                <a:latin typeface="Arial Unicode MS"/>
                <a:ea typeface="Arial Unicode MS"/>
                <a:cs typeface="Arial Unicode MS"/>
              </a:defRPr>
            </a:defPPr>
          </a:lstStyle>
          <a:p xmlns:a="http://schemas.openxmlformats.org/drawingml/2006/main">
            <a:pPr algn="ctr">
              <a:lnSpc>
                <a:spcPct val="100000"/>
              </a:lnSpc>
              <a:buNone/>
              <a:defRPr sz="1875" b="0">
                <a:solidFill>
                  <a:srgbClr val="FFFFFF"/>
                </a:solidFill>
                <a:latin typeface="Arial Unicode MS"/>
                <a:ea typeface="Arial Unicode MS"/>
                <a:cs typeface="Arial Unicode MS"/>
              </a:defRPr>
            </a:pPr>
            <a:r>
              <a:rPr sz="1875" b="0">
                <a:solidFill>
                  <a:srgbClr val="FFFFFF"/>
                </a:solidFill>
                <a:latin typeface="Arial Unicode MS"/>
                <a:ea typeface="Arial Unicode MS"/>
                <a:cs typeface="Arial Unicode MS"/>
              </a:rPr>
              <a:t>30%</a:t>
            </a:r>
          </a:p>
        </p:txBody>
      </p:sp>
      <p:sp>
        <p:nvSpPr>
          <p:cNvPr id="26" name="Figure 3 label 25 line 1">
            <a:extLst xmlns:a="http://schemas.openxmlformats.org/drawingml/2006/main">
              <a:ext uri="{FF2B5EF4-FFF2-40B4-BE49-F238E27FC236}">
                <a16:creationId xmlns:a16="http://schemas.microsoft.com/office/drawing/2014/main" id="{8D93A5D2-E581-4C8D-BA62-D74CC36B8316}"/>
              </a:ext>
            </a:extLst>
          </p:cNvPr>
          <p:cNvSpPr>
            <a:spLocks xmlns:a="http://schemas.openxmlformats.org/drawingml/2006/main" noGrp="1"/>
          </p:cNvSpPr>
          <p:nvPr/>
        </p:nvSpPr>
        <p:spPr>
          <a:xfrm xmlns:a="http://schemas.openxmlformats.org/drawingml/2006/main" rot="0">
            <a:off x="991870" y="421675"/>
            <a:ext cx="5816848" cy="436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750" b="1">
                <a:solidFill>
                  <a:srgbClr val="00355F"/>
                </a:solidFill>
                <a:latin typeface="Arial Unicode MS"/>
                <a:ea typeface="Arial Unicode MS"/>
                <a:cs typeface="Arial Unicode MS"/>
              </a:defRPr>
            </a:defPPr>
          </a:lstStyle>
          <a:p xmlns:a="http://schemas.openxmlformats.org/drawingml/2006/main">
            <a:pPr algn="l">
              <a:lnSpc>
                <a:spcPct val="100000"/>
              </a:lnSpc>
              <a:buNone/>
              <a:defRPr sz="2750" b="1">
                <a:solidFill>
                  <a:srgbClr val="00355F"/>
                </a:solidFill>
                <a:latin typeface="Arial Unicode MS"/>
                <a:ea typeface="Arial Unicode MS"/>
                <a:cs typeface="Arial Unicode MS"/>
              </a:defRPr>
            </a:pPr>
            <a:r>
              <a:rPr sz="2750" b="1">
                <a:solidFill>
                  <a:srgbClr val="00355F"/>
                </a:solidFill>
                <a:latin typeface="Arial Unicode MS"/>
                <a:ea typeface="Arial Unicode MS"/>
                <a:cs typeface="Arial Unicode MS"/>
              </a:rPr>
              <a:t>03  How downstream demand differs</a:t>
            </a:r>
          </a:p>
        </p:txBody>
      </p:sp>
      <p:sp>
        <p:nvSpPr>
          <p:cNvPr id="27" name="Figure 3 label 26 line 1">
            <a:extLst xmlns:a="http://schemas.openxmlformats.org/drawingml/2006/main">
              <a:ext uri="{FF2B5EF4-FFF2-40B4-BE49-F238E27FC236}">
                <a16:creationId xmlns:a16="http://schemas.microsoft.com/office/drawing/2014/main" id="{519301BF-8233-47CC-9591-D84B6A79B57F}"/>
              </a:ext>
            </a:extLst>
          </p:cNvPr>
          <p:cNvSpPr>
            <a:spLocks xmlns:a="http://schemas.openxmlformats.org/drawingml/2006/main" noGrp="1"/>
          </p:cNvSpPr>
          <p:nvPr/>
        </p:nvSpPr>
        <p:spPr>
          <a:xfrm xmlns:a="http://schemas.openxmlformats.org/drawingml/2006/main" rot="0">
            <a:off x="15653693" y="661601"/>
            <a:ext cx="1153815" cy="188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188"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188" b="0">
                <a:solidFill>
                  <a:srgbClr val="00355F"/>
                </a:solidFill>
                <a:latin typeface="Arial Unicode MS"/>
                <a:ea typeface="Arial Unicode MS"/>
                <a:cs typeface="Arial Unicode MS"/>
              </a:defRPr>
            </a:pPr>
            <a:r>
              <a:rPr sz="1188" b="0">
                <a:solidFill>
                  <a:srgbClr val="00355F"/>
                </a:solidFill>
                <a:latin typeface="Arial Unicode MS"/>
                <a:ea typeface="Arial Unicode MS"/>
                <a:cs typeface="Arial Unicode MS"/>
              </a:rPr>
              <a:t>ILLUSTRATIVE</a:t>
            </a:r>
          </a:p>
        </p:txBody>
      </p:sp>
      <p:sp>
        <p:nvSpPr>
          <p:cNvPr id="28" name="Figure 3 label 27 line 1">
            <a:extLst xmlns:a="http://schemas.openxmlformats.org/drawingml/2006/main">
              <a:ext uri="{FF2B5EF4-FFF2-40B4-BE49-F238E27FC236}">
                <a16:creationId xmlns:a16="http://schemas.microsoft.com/office/drawing/2014/main" id="{64886BA1-1753-434D-9924-5D4A7756E362}"/>
              </a:ext>
            </a:extLst>
          </p:cNvPr>
          <p:cNvSpPr>
            <a:spLocks xmlns:a="http://schemas.openxmlformats.org/drawingml/2006/main" noGrp="1"/>
          </p:cNvSpPr>
          <p:nvPr/>
        </p:nvSpPr>
        <p:spPr>
          <a:xfrm xmlns:a="http://schemas.openxmlformats.org/drawingml/2006/main" rot="0">
            <a:off x="998220" y="1249487"/>
            <a:ext cx="8573542"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Direct purchasing differs by product basket. These supplied assumptions sum to 100% for each row.</a:t>
            </a:r>
          </a:p>
        </p:txBody>
      </p:sp>
      <p:sp>
        <p:nvSpPr>
          <p:cNvPr id="29" name="Figure 3 label 28 line 1">
            <a:extLst xmlns:a="http://schemas.openxmlformats.org/drawingml/2006/main">
              <a:ext uri="{FF2B5EF4-FFF2-40B4-BE49-F238E27FC236}">
                <a16:creationId xmlns:a16="http://schemas.microsoft.com/office/drawing/2014/main" id="{F5B496FA-234B-4F20-BD4E-C5E74FA908FB}"/>
              </a:ext>
            </a:extLst>
          </p:cNvPr>
          <p:cNvSpPr>
            <a:spLocks xmlns:a="http://schemas.openxmlformats.org/drawingml/2006/main" noGrp="1"/>
          </p:cNvSpPr>
          <p:nvPr/>
        </p:nvSpPr>
        <p:spPr>
          <a:xfrm xmlns:a="http://schemas.openxmlformats.org/drawingml/2006/main" rot="0">
            <a:off x="999173" y="9256035"/>
            <a:ext cx="8085386"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CRO/CDMO purchases are separate from pharma-owned production. Hospitals are not separately modeled.</a:t>
            </a:r>
          </a:p>
        </p:txBody>
      </p:sp>
      <p:sp>
        <p:nvSpPr>
          <p:cNvPr id="30" name="Figure 3 label 29 line 1">
            <a:extLst xmlns:a="http://schemas.openxmlformats.org/drawingml/2006/main">
              <a:ext uri="{FF2B5EF4-FFF2-40B4-BE49-F238E27FC236}">
                <a16:creationId xmlns:a16="http://schemas.microsoft.com/office/drawing/2014/main" id="{76CB62D8-6FAD-4D9F-B154-7CC63A343C8F}"/>
              </a:ext>
            </a:extLst>
          </p:cNvPr>
          <p:cNvSpPr>
            <a:spLocks xmlns:a="http://schemas.openxmlformats.org/drawingml/2006/main" noGrp="1"/>
          </p:cNvSpPr>
          <p:nvPr/>
        </p:nvSpPr>
        <p:spPr>
          <a:xfrm xmlns:a="http://schemas.openxmlformats.org/drawingml/2006/main" rot="0">
            <a:off x="1000316" y="9676290"/>
            <a:ext cx="5943035" cy="1726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88" b="0">
                <a:solidFill>
                  <a:srgbClr val="00355F"/>
                </a:solidFill>
                <a:latin typeface="Arial Unicode MS"/>
                <a:ea typeface="Arial Unicode MS"/>
                <a:cs typeface="Arial Unicode MS"/>
              </a:defRPr>
            </a:defPPr>
          </a:lstStyle>
          <a:p xmlns:a="http://schemas.openxmlformats.org/drawingml/2006/main">
            <a:pPr algn="l">
              <a:lnSpc>
                <a:spcPct val="100000"/>
              </a:lnSpc>
              <a:buNone/>
              <a:defRPr sz="1088" b="0">
                <a:solidFill>
                  <a:srgbClr val="00355F"/>
                </a:solidFill>
                <a:latin typeface="Arial Unicode MS"/>
                <a:ea typeface="Arial Unicode MS"/>
                <a:cs typeface="Arial Unicode MS"/>
              </a:defRPr>
            </a:pPr>
            <a:r>
              <a:rPr sz="1088" b="0">
                <a:solidFill>
                  <a:srgbClr val="00355F"/>
                </a:solidFill>
                <a:latin typeface="Arial Unicode MS"/>
                <a:ea typeface="Arial Unicode MS"/>
                <a:cs typeface="Arial Unicode MS"/>
              </a:rPr>
              <a:t>Source: illustrative shares in the supplied manuscript; these are not measured customer shares.</a:t>
            </a:r>
          </a:p>
        </p:txBody>
      </p:sp>
      <p:sp>
        <p:nvSpPr>
          <p:cNvPr id="31" name="Figure 3 label 30 line 1">
            <a:extLst xmlns:a="http://schemas.openxmlformats.org/drawingml/2006/main">
              <a:ext uri="{FF2B5EF4-FFF2-40B4-BE49-F238E27FC236}">
                <a16:creationId xmlns:a16="http://schemas.microsoft.com/office/drawing/2014/main" id="{7449C1B8-0E17-4452-AA0D-6E5BD81EF9F6}"/>
              </a:ext>
            </a:extLst>
          </p:cNvPr>
          <p:cNvSpPr>
            <a:spLocks xmlns:a="http://schemas.openxmlformats.org/drawingml/2006/main" noGrp="1"/>
          </p:cNvSpPr>
          <p:nvPr/>
        </p:nvSpPr>
        <p:spPr>
          <a:xfrm xmlns:a="http://schemas.openxmlformats.org/drawingml/2006/main" rot="0">
            <a:off x="16440260" y="9667497"/>
            <a:ext cx="841901" cy="1825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150" b="0">
                <a:solidFill>
                  <a:srgbClr val="00355F"/>
                </a:solidFill>
                <a:latin typeface="Arial Unicode MS"/>
                <a:ea typeface="Arial Unicode MS"/>
                <a:cs typeface="Arial Unicode MS"/>
              </a:defRPr>
            </a:defPPr>
          </a:lstStyle>
          <a:p xmlns:a="http://schemas.openxmlformats.org/drawingml/2006/main">
            <a:pPr algn="r">
              <a:lnSpc>
                <a:spcPct val="100000"/>
              </a:lnSpc>
              <a:buNone/>
              <a:defRPr sz="1150" b="0">
                <a:solidFill>
                  <a:srgbClr val="00355F"/>
                </a:solidFill>
                <a:latin typeface="Arial Unicode MS"/>
                <a:ea typeface="Arial Unicode MS"/>
                <a:cs typeface="Arial Unicode MS"/>
              </a:defRPr>
            </a:pPr>
            <a:r>
              <a:rPr sz="1150" b="0">
                <a:solidFill>
                  <a:srgbClr val="00355F"/>
                </a:solidFill>
                <a:latin typeface="Arial Unicode MS"/>
                <a:ea typeface="Arial Unicode MS"/>
                <a:cs typeface="Arial Unicode MS"/>
              </a:rPr>
              <a:t>2026-10-12</a:t>
            </a:r>
          </a:p>
        </p:txBody>
      </p:sp>
      <p:sp>
        <p:nvSpPr>
          <p:cNvPr id="32" name="Figure 3 label 31 line 1">
            <a:extLst xmlns:a="http://schemas.openxmlformats.org/drawingml/2006/main">
              <a:ext uri="{FF2B5EF4-FFF2-40B4-BE49-F238E27FC236}">
                <a16:creationId xmlns:a16="http://schemas.microsoft.com/office/drawing/2014/main" id="{6227F9BA-F064-4621-98F2-F3265B073D9E}"/>
              </a:ext>
            </a:extLst>
          </p:cNvPr>
          <p:cNvSpPr>
            <a:spLocks xmlns:a="http://schemas.openxmlformats.org/drawingml/2006/main" noGrp="1"/>
          </p:cNvSpPr>
          <p:nvPr/>
        </p:nvSpPr>
        <p:spPr>
          <a:xfrm xmlns:a="http://schemas.openxmlformats.org/drawingml/2006/main" rot="0">
            <a:off x="2552700" y="8161190"/>
            <a:ext cx="443344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Reagents: more research exposure in this scenario</a:t>
            </a:r>
          </a:p>
        </p:txBody>
      </p:sp>
      <p:sp>
        <p:nvSpPr>
          <p:cNvPr id="33" name="Figure 3 label 32 line 1">
            <a:extLst xmlns:a="http://schemas.openxmlformats.org/drawingml/2006/main">
              <a:ext uri="{FF2B5EF4-FFF2-40B4-BE49-F238E27FC236}">
                <a16:creationId xmlns:a16="http://schemas.microsoft.com/office/drawing/2014/main" id="{1DABD624-3159-42BD-8E9D-B24D28B9DA83}"/>
              </a:ext>
            </a:extLst>
          </p:cNvPr>
          <p:cNvSpPr>
            <a:spLocks xmlns:a="http://schemas.openxmlformats.org/drawingml/2006/main" noGrp="1"/>
          </p:cNvSpPr>
          <p:nvPr/>
        </p:nvSpPr>
        <p:spPr>
          <a:xfrm xmlns:a="http://schemas.openxmlformats.org/drawingml/2006/main" rot="0">
            <a:off x="10599421" y="8163378"/>
            <a:ext cx="3607743"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Consumables: more production exposure</a:t>
            </a:r>
          </a:p>
        </p:txBody>
      </p:sp>
      <p:sp>
        <p:nvSpPr>
          <p:cNvPr id="34" name="Figure 3 label 33 line 1">
            <a:extLst xmlns:a="http://schemas.openxmlformats.org/drawingml/2006/main">
              <a:ext uri="{FF2B5EF4-FFF2-40B4-BE49-F238E27FC236}">
                <a16:creationId xmlns:a16="http://schemas.microsoft.com/office/drawing/2014/main" id="{8C9E9BC3-6613-46BE-BA96-CFC7E00560A3}"/>
              </a:ext>
            </a:extLst>
          </p:cNvPr>
          <p:cNvSpPr>
            <a:spLocks xmlns:a="http://schemas.openxmlformats.org/drawingml/2006/main" noGrp="1"/>
          </p:cNvSpPr>
          <p:nvPr/>
        </p:nvSpPr>
        <p:spPr>
          <a:xfrm xmlns:a="http://schemas.openxmlformats.org/drawingml/2006/main" rot="0">
            <a:off x="5075317" y="2353584"/>
            <a:ext cx="825431" cy="202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0000"/>
                </a:solidFill>
                <a:latin typeface="Arial Unicode MS"/>
                <a:ea typeface="Arial Unicode MS"/>
                <a:cs typeface="Arial Unicode MS"/>
              </a:defRPr>
            </a:defPPr>
          </a:lstStyle>
          <a:p xmlns:a="http://schemas.openxmlformats.org/drawingml/2006/main">
            <a:pPr algn="l">
              <a:lnSpc>
                <a:spcPct val="100000"/>
              </a:lnSpc>
              <a:buNone/>
              <a:defRPr sz="1275" b="0">
                <a:solidFill>
                  <a:srgbClr val="000000"/>
                </a:solidFill>
                <a:latin typeface="Arial Unicode MS"/>
                <a:ea typeface="Arial Unicode MS"/>
                <a:cs typeface="Arial Unicode MS"/>
              </a:defRPr>
            </a:pPr>
            <a:r>
              <a:rPr sz="1275" b="0">
                <a:solidFill>
                  <a:srgbClr val="000000"/>
                </a:solidFill>
                <a:latin typeface="Arial Unicode MS"/>
                <a:ea typeface="Arial Unicode MS"/>
                <a:cs typeface="Arial Unicode MS"/>
              </a:rPr>
              <a:t>Academia</a:t>
            </a:r>
          </a:p>
        </p:txBody>
      </p:sp>
      <p:sp>
        <p:nvSpPr>
          <p:cNvPr id="35" name="Figure 3 label 34 line 1">
            <a:extLst xmlns:a="http://schemas.openxmlformats.org/drawingml/2006/main">
              <a:ext uri="{FF2B5EF4-FFF2-40B4-BE49-F238E27FC236}">
                <a16:creationId xmlns:a16="http://schemas.microsoft.com/office/drawing/2014/main" id="{F843602F-36A6-4E01-A0D8-D0EFE6CD7FCD}"/>
              </a:ext>
            </a:extLst>
          </p:cNvPr>
          <p:cNvSpPr>
            <a:spLocks xmlns:a="http://schemas.openxmlformats.org/drawingml/2006/main" noGrp="1"/>
          </p:cNvSpPr>
          <p:nvPr/>
        </p:nvSpPr>
        <p:spPr>
          <a:xfrm xmlns:a="http://schemas.openxmlformats.org/drawingml/2006/main" rot="0">
            <a:off x="6572567" y="2353584"/>
            <a:ext cx="1716316" cy="202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0000"/>
                </a:solidFill>
                <a:latin typeface="Arial Unicode MS"/>
                <a:ea typeface="Arial Unicode MS"/>
                <a:cs typeface="Arial Unicode MS"/>
              </a:defRPr>
            </a:defPPr>
          </a:lstStyle>
          <a:p xmlns:a="http://schemas.openxmlformats.org/drawingml/2006/main">
            <a:pPr algn="l">
              <a:lnSpc>
                <a:spcPct val="100000"/>
              </a:lnSpc>
              <a:buNone/>
              <a:defRPr sz="1275" b="0">
                <a:solidFill>
                  <a:srgbClr val="000000"/>
                </a:solidFill>
                <a:latin typeface="Arial Unicode MS"/>
                <a:ea typeface="Arial Unicode MS"/>
                <a:cs typeface="Arial Unicode MS"/>
              </a:defRPr>
            </a:pPr>
            <a:r>
              <a:rPr sz="1275" b="0">
                <a:solidFill>
                  <a:srgbClr val="000000"/>
                </a:solidFill>
                <a:latin typeface="Arial Unicode MS"/>
                <a:ea typeface="Arial Unicode MS"/>
                <a:cs typeface="Arial Unicode MS"/>
              </a:rPr>
              <a:t>Biotech / pharma R&amp;D</a:t>
            </a:r>
          </a:p>
        </p:txBody>
      </p:sp>
      <p:sp>
        <p:nvSpPr>
          <p:cNvPr id="36" name="Figure 3 label 35 line 1">
            <a:extLst xmlns:a="http://schemas.openxmlformats.org/drawingml/2006/main">
              <a:ext uri="{FF2B5EF4-FFF2-40B4-BE49-F238E27FC236}">
                <a16:creationId xmlns:a16="http://schemas.microsoft.com/office/drawing/2014/main" id="{B69F8F22-0E8F-4B76-8ED5-957C0AA9B8CE}"/>
              </a:ext>
            </a:extLst>
          </p:cNvPr>
          <p:cNvSpPr>
            <a:spLocks xmlns:a="http://schemas.openxmlformats.org/drawingml/2006/main" noGrp="1"/>
          </p:cNvSpPr>
          <p:nvPr/>
        </p:nvSpPr>
        <p:spPr>
          <a:xfrm xmlns:a="http://schemas.openxmlformats.org/drawingml/2006/main" rot="0">
            <a:off x="8960682" y="2353584"/>
            <a:ext cx="1094809" cy="202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0000"/>
                </a:solidFill>
                <a:latin typeface="Arial Unicode MS"/>
                <a:ea typeface="Arial Unicode MS"/>
                <a:cs typeface="Arial Unicode MS"/>
              </a:defRPr>
            </a:defPPr>
          </a:lstStyle>
          <a:p xmlns:a="http://schemas.openxmlformats.org/drawingml/2006/main">
            <a:pPr algn="l">
              <a:lnSpc>
                <a:spcPct val="100000"/>
              </a:lnSpc>
              <a:buNone/>
              <a:defRPr sz="1275" b="0">
                <a:solidFill>
                  <a:srgbClr val="000000"/>
                </a:solidFill>
                <a:latin typeface="Arial Unicode MS"/>
                <a:ea typeface="Arial Unicode MS"/>
                <a:cs typeface="Arial Unicode MS"/>
              </a:defRPr>
            </a:pPr>
            <a:r>
              <a:rPr sz="1275" b="0">
                <a:solidFill>
                  <a:srgbClr val="000000"/>
                </a:solidFill>
                <a:latin typeface="Arial Unicode MS"/>
                <a:ea typeface="Arial Unicode MS"/>
                <a:cs typeface="Arial Unicode MS"/>
              </a:rPr>
              <a:t>CRO / CDMO</a:t>
            </a:r>
          </a:p>
        </p:txBody>
      </p:sp>
      <p:sp>
        <p:nvSpPr>
          <p:cNvPr id="37" name="Figure 3 label 36 line 1">
            <a:extLst xmlns:a="http://schemas.openxmlformats.org/drawingml/2006/main">
              <a:ext uri="{FF2B5EF4-FFF2-40B4-BE49-F238E27FC236}">
                <a16:creationId xmlns:a16="http://schemas.microsoft.com/office/drawing/2014/main" id="{FAADAEAF-27E0-4300-9463-DE09AFE658C5}"/>
              </a:ext>
            </a:extLst>
          </p:cNvPr>
          <p:cNvSpPr>
            <a:spLocks xmlns:a="http://schemas.openxmlformats.org/drawingml/2006/main" noGrp="1"/>
          </p:cNvSpPr>
          <p:nvPr/>
        </p:nvSpPr>
        <p:spPr>
          <a:xfrm xmlns:a="http://schemas.openxmlformats.org/drawingml/2006/main" rot="0">
            <a:off x="10727410" y="2353584"/>
            <a:ext cx="1743402" cy="202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0000"/>
                </a:solidFill>
                <a:latin typeface="Arial Unicode MS"/>
                <a:ea typeface="Arial Unicode MS"/>
                <a:cs typeface="Arial Unicode MS"/>
              </a:defRPr>
            </a:defPPr>
          </a:lstStyle>
          <a:p xmlns:a="http://schemas.openxmlformats.org/drawingml/2006/main">
            <a:pPr algn="l">
              <a:lnSpc>
                <a:spcPct val="100000"/>
              </a:lnSpc>
              <a:buNone/>
              <a:defRPr sz="1275" b="0">
                <a:solidFill>
                  <a:srgbClr val="000000"/>
                </a:solidFill>
                <a:latin typeface="Arial Unicode MS"/>
                <a:ea typeface="Arial Unicode MS"/>
                <a:cs typeface="Arial Unicode MS"/>
              </a:defRPr>
            </a:pPr>
            <a:r>
              <a:rPr sz="1275" b="0">
                <a:solidFill>
                  <a:srgbClr val="000000"/>
                </a:solidFill>
                <a:latin typeface="Arial Unicode MS"/>
                <a:ea typeface="Arial Unicode MS"/>
                <a:cs typeface="Arial Unicode MS"/>
              </a:rPr>
              <a:t>Pharma manufacturing</a:t>
            </a:r>
          </a:p>
        </p:txBody>
      </p:sp>
      <p:sp>
        <p:nvSpPr>
          <p:cNvPr id="38" name="Figure 3 label 37 line 1">
            <a:extLst xmlns:a="http://schemas.openxmlformats.org/drawingml/2006/main">
              <a:ext uri="{FF2B5EF4-FFF2-40B4-BE49-F238E27FC236}">
                <a16:creationId xmlns:a16="http://schemas.microsoft.com/office/drawing/2014/main" id="{F9BB1D4E-71F2-42B4-B49F-C08C7DA395A5}"/>
              </a:ext>
            </a:extLst>
          </p:cNvPr>
          <p:cNvSpPr>
            <a:spLocks xmlns:a="http://schemas.openxmlformats.org/drawingml/2006/main" noGrp="1"/>
          </p:cNvSpPr>
          <p:nvPr/>
        </p:nvSpPr>
        <p:spPr>
          <a:xfrm xmlns:a="http://schemas.openxmlformats.org/drawingml/2006/main" rot="0">
            <a:off x="13142599" y="2353584"/>
            <a:ext cx="1347371" cy="202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0000"/>
                </a:solidFill>
                <a:latin typeface="Arial Unicode MS"/>
                <a:ea typeface="Arial Unicode MS"/>
                <a:cs typeface="Arial Unicode MS"/>
              </a:defRPr>
            </a:defPPr>
          </a:lstStyle>
          <a:p xmlns:a="http://schemas.openxmlformats.org/drawingml/2006/main">
            <a:pPr algn="l">
              <a:lnSpc>
                <a:spcPct val="100000"/>
              </a:lnSpc>
              <a:buNone/>
              <a:defRPr sz="1275" b="0">
                <a:solidFill>
                  <a:srgbClr val="000000"/>
                </a:solidFill>
                <a:latin typeface="Arial Unicode MS"/>
                <a:ea typeface="Arial Unicode MS"/>
                <a:cs typeface="Arial Unicode MS"/>
              </a:defRPr>
            </a:pPr>
            <a:r>
              <a:rPr sz="1275" b="0">
                <a:solidFill>
                  <a:srgbClr val="000000"/>
                </a:solidFill>
                <a:latin typeface="Arial Unicode MS"/>
                <a:ea typeface="Arial Unicode MS"/>
                <a:cs typeface="Arial Unicode MS"/>
              </a:rPr>
              <a:t>IVD development</a:t>
            </a:r>
          </a:p>
        </p:txBody>
      </p:sp>
    </p:spTree>
    <p:extLst>
      <p:ext uri="{BB962C8B-B14F-4D97-AF65-F5344CB8AC3E}">
        <p14:creationId xmlns:p14="http://schemas.microsoft.com/office/powerpoint/2010/main" val="42095429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2026-10-13T06:02:02.7770000Z</dcterms:created>
  <dcterms:modified xsi:type="dcterms:W3CDTF">2026-10-13T06:02:02.7770000Z</dcterms:modified>
</coreProperties>
</file>