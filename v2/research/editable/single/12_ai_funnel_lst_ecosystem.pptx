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5b127b622664bcd" /><Relationship Type="http://schemas.openxmlformats.org/officeDocument/2006/relationships/extended-properties" Target="/docProps/app.xml" Id="Rc662d70ba906437e" /><Relationship Type="http://schemas.openxmlformats.org/officeDocument/2006/relationships/officeDocument" Target="/ppt/presentation.xml" Id="R73ac08f26f4748d7" /></Relationships>
</file>

<file path=ppt/presentation.xml><?xml version="1.0" encoding="utf-8"?>
<p:presentation xmlns:p="http://schemas.openxmlformats.org/presentationml/2006/main">
  <p:sldMasterIdLst>
    <p:sldMasterId xmlns:r="http://schemas.openxmlformats.org/officeDocument/2006/relationships" id="2147483648" r:id="R47ed06138ebe4043"/>
  </p:sldMasterIdLst>
  <p:notesMasterIdLst>
    <p:notesMasterId xmlns:r="http://schemas.openxmlformats.org/officeDocument/2006/relationships" r:id="Rc166d3ca738d458d"/>
  </p:notesMasterIdLst>
  <p:sldIdLst>
    <p:sldId xmlns:r="http://schemas.openxmlformats.org/officeDocument/2006/relationships" id="256" r:id="R67945b57a3a44166"/>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6165a355acf4c36" /><Relationship Type="http://schemas.openxmlformats.org/officeDocument/2006/relationships/slideMaster" Target="/ppt/slideMasters/slideMaster1.xml" Id="R47ed06138ebe4043" /><Relationship Type="http://schemas.openxmlformats.org/officeDocument/2006/relationships/notesMaster" Target="/ppt/notesMasters/notesMaster1.xml" Id="Rc166d3ca738d458d" /><Relationship Type="http://schemas.openxmlformats.org/officeDocument/2006/relationships/presProps" Target="/ppt/presProps.xml" Id="R73e1b5b53c704fce" /><Relationship Type="http://schemas.openxmlformats.org/officeDocument/2006/relationships/tableStyles" Target="/ppt/tableStyles.xml" Id="R37ac7021bc9b4fa5" /><Relationship Type="http://schemas.openxmlformats.org/officeDocument/2006/relationships/slide" Target="/ppt/slides/slide1.xml" Id="R67945b57a3a4416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ade0d0c1fd7497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734e19c829a4465" /><Relationship Type="http://schemas.openxmlformats.org/officeDocument/2006/relationships/notesMaster" Target="/ppt/notesMasters/notesMaster1.xml" Id="R0a9b021cb8a74a2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12. Updated 13 October 2026. The market anchors and illustrative stage counts retain their original units, years, geography and boundaries. The six product families are broader than the displayed anchors; the values must not be added. Company rows group listing venues, not incorporation or headquarters. GenScript is HK-listed; Gibco maps to Thermo Fisher TMO and Cytiva/HyClone to Danaher DHR. BD BDX is shown for specimen collection/preanalytics; its former Biosciences and Diagnostic Solutions business, including flow cytometry, moved to Waters WAT on 9 February 2026. These are different current equity exposures. Tsingke NEEQ:874813 is not an A-share exchange listing. Brand logos remain original; chart colors use the user-supplied eight-color palette.</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0c63b51f8f741a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8c55a1b9d9a441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1a08b0602424e8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f2416d6ee02428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b4d90b95050420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f79e2bdff4f400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4AB42AD-DED0-49D1-9DDF-BAB2A212728B}"/>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FC0D2CF-CCEB-4459-84A0-0E089CD71F16}"/>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A33C56B-E2E9-40A1-82E4-211550905FA2}"/>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EB52BA4-4E84-4DB8-A23A-BBB37DD36E3B}"/>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F01BFC8-AF08-4C9A-92E1-908B99C77424}"/>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25C02AE-D62F-4C51-BBD3-9D7E12E4A2C8}"/>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FC3780E-978F-4013-BD48-649C6ADD02EB}"/>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722314F-E0AC-4295-9AC3-F1663D3987F8}"/>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1F80378-D4C5-4DBD-9CAD-81C3AFCBC0CE}"/>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054C07A-684A-475F-B210-E0E895686749}"/>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c518a217f4b45f5" /><Relationship Type="http://schemas.openxmlformats.org/officeDocument/2006/relationships/slideLayout" Target="/ppt/slideLayouts/slideLayout1.xml" Id="Reeadcb622341486c" /><Relationship Type="http://schemas.openxmlformats.org/officeDocument/2006/relationships/slideLayout" Target="/ppt/slideLayouts/slideLayout2.xml" Id="R1d899a785c444d97" /><Relationship Type="http://schemas.openxmlformats.org/officeDocument/2006/relationships/slideLayout" Target="/ppt/slideLayouts/slideLayout3.xml" Id="R7096ffb312f04fd9" /><Relationship Type="http://schemas.openxmlformats.org/officeDocument/2006/relationships/slideLayout" Target="/ppt/slideLayouts/slideLayout4.xml" Id="R072a7ab012fd45de" /><Relationship Type="http://schemas.openxmlformats.org/officeDocument/2006/relationships/slideLayout" Target="/ppt/slideLayouts/slideLayout5.xml" Id="R15b011495dbd4c29" /><Relationship Type="http://schemas.openxmlformats.org/officeDocument/2006/relationships/slideLayout" Target="/ppt/slideLayouts/slideLayout6.xml" Id="Re0fc75a443c24d9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eadcb622341486c"/>
    <p:sldLayoutId xmlns:r="http://schemas.openxmlformats.org/officeDocument/2006/relationships" id="2147483650" r:id="R1d899a785c444d97"/>
    <p:sldLayoutId xmlns:r="http://schemas.openxmlformats.org/officeDocument/2006/relationships" id="2147483651" r:id="R7096ffb312f04fd9"/>
    <p:sldLayoutId xmlns:r="http://schemas.openxmlformats.org/officeDocument/2006/relationships" id="2147483652" r:id="R072a7ab012fd45de"/>
    <p:sldLayoutId xmlns:r="http://schemas.openxmlformats.org/officeDocument/2006/relationships" id="2147483653" r:id="R15b011495dbd4c29"/>
    <p:sldLayoutId xmlns:r="http://schemas.openxmlformats.org/officeDocument/2006/relationships" id="2147483654" r:id="Re0fc75a443c24d9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46bfbf710dc4c44" /><Relationship Type="http://schemas.openxmlformats.org/officeDocument/2006/relationships/image" Target="/ppt/media/image.png" Id="Ra5d57eadd4a24024" /><Relationship Type="http://schemas.openxmlformats.org/officeDocument/2006/relationships/image" Target="/ppt/media/image.svg" Id="R43c0fe98aa5a4da9" /><Relationship Type="http://schemas.openxmlformats.org/officeDocument/2006/relationships/image" Target="/ppt/media/image2.png" Id="R89b8274eb9ac453d" /><Relationship Type="http://schemas.openxmlformats.org/officeDocument/2006/relationships/image" Target="/ppt/media/image2.svg" Id="Rd8277dbebc4144b7" /><Relationship Type="http://schemas.openxmlformats.org/officeDocument/2006/relationships/image" Target="/ppt/media/image3.png" Id="Rbb26a54706d34495" /><Relationship Type="http://schemas.openxmlformats.org/officeDocument/2006/relationships/image" Target="/ppt/media/image4.png" Id="R43801d5b5c014741" /><Relationship Type="http://schemas.openxmlformats.org/officeDocument/2006/relationships/image" Target="/ppt/media/image3.svg" Id="Rf5757dcd54144e1c" /><Relationship Type="http://schemas.openxmlformats.org/officeDocument/2006/relationships/image" Target="/ppt/media/image5.png" Id="R2b52523d4e394751" /><Relationship Type="http://schemas.openxmlformats.org/officeDocument/2006/relationships/image" Target="/ppt/media/image4.svg" Id="R4e548d0e873148a0" /><Relationship Type="http://schemas.openxmlformats.org/officeDocument/2006/relationships/image" Target="/ppt/media/image6.png" Id="Rd550bb1a9e414eb1" /><Relationship Type="http://schemas.openxmlformats.org/officeDocument/2006/relationships/image" Target="/ppt/media/image5.svg" Id="R319bbd13ab1745b4" /><Relationship Type="http://schemas.openxmlformats.org/officeDocument/2006/relationships/image" Target="/ppt/media/image7.png" Id="Rf5ae518bc6e448b7" /><Relationship Type="http://schemas.openxmlformats.org/officeDocument/2006/relationships/image" Target="/ppt/media/image6.svg" Id="R470f57f06f9a4eeb" /><Relationship Type="http://schemas.openxmlformats.org/officeDocument/2006/relationships/image" Target="/ppt/media/image8.png" Id="R7b1b7be611f843f9" /><Relationship Type="http://schemas.openxmlformats.org/officeDocument/2006/relationships/image" Target="/ppt/media/image7.svg" Id="Rcd8fb2012b314c4f" /><Relationship Type="http://schemas.openxmlformats.org/officeDocument/2006/relationships/image" Target="/ppt/media/image9.png" Id="R922de039721f4530" /><Relationship Type="http://schemas.openxmlformats.org/officeDocument/2006/relationships/image" Target="/ppt/media/image10.png" Id="R4900accef28f4b25" /><Relationship Type="http://schemas.openxmlformats.org/officeDocument/2006/relationships/image" Target="/ppt/media/image8.svg" Id="R80fd79af247c46ac" /><Relationship Type="http://schemas.openxmlformats.org/officeDocument/2006/relationships/image" Target="/ppt/media/image9.svg" Id="R963aa88321a043c2" /><Relationship Type="http://schemas.openxmlformats.org/officeDocument/2006/relationships/image" Target="/ppt/media/image11.png" Id="R66ca786e3b284425" /><Relationship Type="http://schemas.openxmlformats.org/officeDocument/2006/relationships/image" Target="/ppt/media/image12.png" Id="Re0ed9db04a504537" /><Relationship Type="http://schemas.openxmlformats.org/officeDocument/2006/relationships/image" Target="/ppt/media/image10.svg" Id="Rc1331c6417824758" /><Relationship Type="http://schemas.openxmlformats.org/officeDocument/2006/relationships/image" Target="/ppt/media/image13.png" Id="R1cde28844f55469d" /><Relationship Type="http://schemas.openxmlformats.org/officeDocument/2006/relationships/notesSlide" Target="/ppt/notesSlides/notesSlide1.xml" Id="R624b82505a64428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0" name="">
            <a:extLst xmlns:a="http://schemas.openxmlformats.org/drawingml/2006/main">
              <a:ext uri="{FF2B5EF4-FFF2-40B4-BE49-F238E27FC236}">
                <a16:creationId xmlns:a16="http://schemas.microsoft.com/office/drawing/2014/main" id="{B38B60C4-C7E2-489F-883D-617E54161961}"/>
              </a:ext>
            </a:extLst>
          </p:cNvPr>
          <p:cNvSpPr>
            <a:spLocks xmlns:a="http://schemas.openxmlformats.org/drawingml/2006/main" noGrp="1"/>
          </p:cNvSpPr>
          <p:nvPr/>
        </p:nvSpPr>
        <p:spPr>
          <a:xfrm xmlns:a="http://schemas.openxmlformats.org/drawingml/2006/main">
            <a:off x="762000" y="457200"/>
            <a:ext cx="76200" cy="800100"/>
          </a:xfrm>
          <a:prstGeom xmlns:a="http://schemas.openxmlformats.org/drawingml/2006/main" prst="rect">
            <a:avLst/>
          </a:prstGeom>
          <a:solidFill xmlns:a="http://schemas.openxmlformats.org/drawingml/2006/main">
            <a:srgbClr val="00355F"/>
          </a:solidFill>
          <a:ln xmlns:a="http://schemas.openxmlformats.org/drawingml/2006/main" w="7620">
            <a:noFill/>
          </a:ln>
        </p:spPr>
      </p:sp>
      <p:sp>
        <p:nvSpPr>
          <p:cNvPr id="2" name="AI-scale design meets finite experimental capacity">
            <a:extLst xmlns:a="http://schemas.openxmlformats.org/drawingml/2006/main">
              <a:ext uri="{FF2B5EF4-FFF2-40B4-BE49-F238E27FC236}">
                <a16:creationId xmlns:a16="http://schemas.microsoft.com/office/drawing/2014/main" id="{D1256405-E27B-48A3-89A0-2E58AA6F396F}"/>
              </a:ext>
            </a:extLst>
          </p:cNvPr>
          <p:cNvSpPr>
            <a:spLocks xmlns:a="http://schemas.openxmlformats.org/drawingml/2006/main" noGrp="1"/>
          </p:cNvSpPr>
          <p:nvPr/>
        </p:nvSpPr>
        <p:spPr>
          <a:xfrm xmlns:a="http://schemas.openxmlformats.org/drawingml/2006/main">
            <a:off x="1074420" y="434340"/>
            <a:ext cx="16451580"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3360" b="1">
                <a:solidFill>
                  <a:srgbClr val="00355F"/>
                </a:solidFill>
                <a:latin typeface="Arial"/>
                <a:ea typeface="Arial"/>
                <a:cs typeface="Arial"/>
              </a:defRPr>
            </a:defPPr>
          </a:lstStyle>
          <a:p xmlns:a="http://schemas.openxmlformats.org/drawingml/2006/main">
            <a:pPr algn="l">
              <a:buNone/>
              <a:defRPr sz="3360" b="1">
                <a:solidFill>
                  <a:srgbClr val="00355F"/>
                </a:solidFill>
                <a:latin typeface="Arial"/>
                <a:ea typeface="Arial"/>
                <a:cs typeface="Arial"/>
              </a:defRPr>
            </a:pPr>
            <a:r>
              <a:rPr sz="3360" b="1">
                <a:solidFill>
                  <a:srgbClr val="00355F"/>
                </a:solidFill>
                <a:latin typeface="Arial"/>
                <a:ea typeface="Arial"/>
                <a:cs typeface="Arial"/>
              </a:rPr>
              <a:t>AI-scale design meets finite experimental capacity</a:t>
            </a:r>
          </a:p>
        </p:txBody>
      </p:sp>
      <p:sp>
        <p:nvSpPr>
          <p:cNvPr id="3" name="Working scenario: candidate generation expands faster than physical construction and biological validation.">
            <a:extLst xmlns:a="http://schemas.openxmlformats.org/drawingml/2006/main">
              <a:ext uri="{FF2B5EF4-FFF2-40B4-BE49-F238E27FC236}">
                <a16:creationId xmlns:a16="http://schemas.microsoft.com/office/drawing/2014/main" id="{663958C5-1751-429C-AD1B-558118134D94}"/>
              </a:ext>
            </a:extLst>
          </p:cNvPr>
          <p:cNvSpPr>
            <a:spLocks xmlns:a="http://schemas.openxmlformats.org/drawingml/2006/main" noGrp="1"/>
          </p:cNvSpPr>
          <p:nvPr/>
        </p:nvSpPr>
        <p:spPr>
          <a:xfrm xmlns:a="http://schemas.openxmlformats.org/drawingml/2006/main">
            <a:off x="1074420" y="1043940"/>
            <a:ext cx="16451580"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40" b="0">
                <a:solidFill>
                  <a:srgbClr val="00355F"/>
                </a:solidFill>
                <a:latin typeface="Arial"/>
                <a:ea typeface="Arial"/>
                <a:cs typeface="Arial"/>
              </a:defRPr>
            </a:defPPr>
          </a:lstStyle>
          <a:p xmlns:a="http://schemas.openxmlformats.org/drawingml/2006/main">
            <a:pPr algn="l">
              <a:buNone/>
              <a:defRPr sz="1740" b="0">
                <a:solidFill>
                  <a:srgbClr val="00355F"/>
                </a:solidFill>
                <a:latin typeface="Arial"/>
                <a:ea typeface="Arial"/>
                <a:cs typeface="Arial"/>
              </a:defRPr>
            </a:pPr>
            <a:r>
              <a:rPr sz="1740" b="0">
                <a:solidFill>
                  <a:srgbClr val="00355F"/>
                </a:solidFill>
                <a:latin typeface="Arial"/>
                <a:ea typeface="Arial"/>
                <a:cs typeface="Arial"/>
              </a:rPr>
              <a:t>Working scenario: candidate generation expands faster than physical construction and biological validation.</a:t>
            </a:r>
          </a:p>
        </p:txBody>
      </p:sp>
      <p:sp>
        <p:nvSpPr>
          <p:cNvPr id="4" name="">
            <a:extLst xmlns:a="http://schemas.openxmlformats.org/drawingml/2006/main">
              <a:ext uri="{FF2B5EF4-FFF2-40B4-BE49-F238E27FC236}">
                <a16:creationId xmlns:a16="http://schemas.microsoft.com/office/drawing/2014/main" id="{A306A4CA-6A20-4709-B4A1-2F945A0BA6A8}"/>
              </a:ext>
            </a:extLst>
          </p:cNvPr>
          <p:cNvSpPr>
            <a:spLocks xmlns:a="http://schemas.openxmlformats.org/drawingml/2006/main" noGrp="1"/>
          </p:cNvSpPr>
          <p:nvPr/>
        </p:nvSpPr>
        <p:spPr>
          <a:xfrm xmlns:a="http://schemas.openxmlformats.org/drawingml/2006/main">
            <a:off x="762000" y="1744980"/>
            <a:ext cx="16764000" cy="76"/>
          </a:xfrm>
          <a:custGeom xmlns:a="http://schemas.openxmlformats.org/drawingml/2006/main">
            <a:pathLst>
              <a:path w="20955000" h="95">
                <a:moveTo>
                  <a:pt x="0" y="0"/>
                </a:moveTo>
                <a:lnTo>
                  <a:pt x="20955000" y="0"/>
                </a:lnTo>
              </a:path>
            </a:pathLst>
          </a:custGeom>
          <a:noFill xmlns:a="http://schemas.openxmlformats.org/drawingml/2006/main"/>
          <a:ln xmlns:a="http://schemas.openxmlformats.org/drawingml/2006/main" w="7620">
            <a:solidFill>
              <a:srgbClr val="A5A5A5"/>
            </a:solidFill>
            <a:prstDash val="solid"/>
          </a:ln>
        </p:spPr>
      </p:sp>
      <p:sp>
        <p:nvSpPr>
          <p:cNvPr id="5" name="AI-ERA DISCOVERY FUNNEL">
            <a:extLst xmlns:a="http://schemas.openxmlformats.org/drawingml/2006/main">
              <a:ext uri="{FF2B5EF4-FFF2-40B4-BE49-F238E27FC236}">
                <a16:creationId xmlns:a16="http://schemas.microsoft.com/office/drawing/2014/main" id="{725C4AEE-7E45-4453-AB2B-F8CC282D5E5C}"/>
              </a:ext>
            </a:extLst>
          </p:cNvPr>
          <p:cNvSpPr>
            <a:spLocks xmlns:a="http://schemas.openxmlformats.org/drawingml/2006/main" noGrp="1"/>
          </p:cNvSpPr>
          <p:nvPr/>
        </p:nvSpPr>
        <p:spPr>
          <a:xfrm xmlns:a="http://schemas.openxmlformats.org/drawingml/2006/main">
            <a:off x="762000" y="2103120"/>
            <a:ext cx="5181600"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80" b="1">
                <a:solidFill>
                  <a:srgbClr val="00355F"/>
                </a:solidFill>
                <a:latin typeface="Arial"/>
                <a:ea typeface="Arial"/>
                <a:cs typeface="Arial"/>
              </a:defRPr>
            </a:defPPr>
          </a:lstStyle>
          <a:p xmlns:a="http://schemas.openxmlformats.org/drawingml/2006/main">
            <a:pPr algn="l">
              <a:buNone/>
              <a:defRPr sz="1680" b="1">
                <a:solidFill>
                  <a:srgbClr val="00355F"/>
                </a:solidFill>
                <a:latin typeface="Arial"/>
                <a:ea typeface="Arial"/>
                <a:cs typeface="Arial"/>
              </a:defRPr>
            </a:pPr>
            <a:r>
              <a:rPr sz="1680" b="1">
                <a:solidFill>
                  <a:srgbClr val="00355F"/>
                </a:solidFill>
                <a:latin typeface="Arial"/>
                <a:ea typeface="Arial"/>
                <a:cs typeface="Arial"/>
              </a:rPr>
              <a:t>AI-ERA DISCOVERY FUNNEL</a:t>
            </a:r>
          </a:p>
        </p:txBody>
      </p:sp>
      <p:sp>
        <p:nvSpPr>
          <p:cNvPr id="6" name="Illustrative counts per one clinical entrant">
            <a:extLst xmlns:a="http://schemas.openxmlformats.org/drawingml/2006/main">
              <a:ext uri="{FF2B5EF4-FFF2-40B4-BE49-F238E27FC236}">
                <a16:creationId xmlns:a16="http://schemas.microsoft.com/office/drawing/2014/main" id="{F1F78BD2-F9AE-4075-9035-074698798EF8}"/>
              </a:ext>
            </a:extLst>
          </p:cNvPr>
          <p:cNvSpPr>
            <a:spLocks xmlns:a="http://schemas.openxmlformats.org/drawingml/2006/main" noGrp="1"/>
          </p:cNvSpPr>
          <p:nvPr/>
        </p:nvSpPr>
        <p:spPr>
          <a:xfrm xmlns:a="http://schemas.openxmlformats.org/drawingml/2006/main">
            <a:off x="762000" y="2461260"/>
            <a:ext cx="5181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20" b="0">
                <a:solidFill>
                  <a:srgbClr val="00355F"/>
                </a:solidFill>
                <a:latin typeface="Arial"/>
                <a:ea typeface="Arial"/>
                <a:cs typeface="Arial"/>
              </a:defRPr>
            </a:defPPr>
          </a:lstStyle>
          <a:p xmlns:a="http://schemas.openxmlformats.org/drawingml/2006/main">
            <a:pPr algn="l">
              <a:buNone/>
              <a:defRPr sz="1320" b="0">
                <a:solidFill>
                  <a:srgbClr val="00355F"/>
                </a:solidFill>
                <a:latin typeface="Arial"/>
                <a:ea typeface="Arial"/>
                <a:cs typeface="Arial"/>
              </a:defRPr>
            </a:pPr>
            <a:r>
              <a:rPr sz="1320" b="0">
                <a:solidFill>
                  <a:srgbClr val="00355F"/>
                </a:solidFill>
                <a:latin typeface="Arial"/>
                <a:ea typeface="Arial"/>
                <a:cs typeface="Arial"/>
              </a:rPr>
              <a:t>Illustrative counts per one clinical entrant</a:t>
            </a:r>
          </a:p>
        </p:txBody>
      </p:sp>
      <p:sp>
        <p:nvSpPr>
          <p:cNvPr id="7" name="">
            <a:extLst xmlns:a="http://schemas.openxmlformats.org/drawingml/2006/main">
              <a:ext uri="{FF2B5EF4-FFF2-40B4-BE49-F238E27FC236}">
                <a16:creationId xmlns:a16="http://schemas.microsoft.com/office/drawing/2014/main" id="{C8673702-F09F-4D25-A1A3-9D5224301F11}"/>
              </a:ext>
            </a:extLst>
          </p:cNvPr>
          <p:cNvSpPr>
            <a:spLocks xmlns:a="http://schemas.openxmlformats.org/drawingml/2006/main" noGrp="1"/>
          </p:cNvSpPr>
          <p:nvPr/>
        </p:nvSpPr>
        <p:spPr>
          <a:xfrm xmlns:a="http://schemas.openxmlformats.org/drawingml/2006/main">
            <a:off x="762000" y="2971800"/>
            <a:ext cx="5181600" cy="1082040"/>
          </a:xfrm>
          <a:custGeom xmlns:a="http://schemas.openxmlformats.org/drawingml/2006/main">
            <a:pathLst>
              <a:path w="6477000" h="1352550">
                <a:moveTo>
                  <a:pt x="0" y="0"/>
                </a:moveTo>
                <a:lnTo>
                  <a:pt x="6477000" y="0"/>
                </a:lnTo>
                <a:lnTo>
                  <a:pt x="5667375" y="1352550"/>
                </a:lnTo>
                <a:lnTo>
                  <a:pt x="809625" y="1352550"/>
                </a:lnTo>
                <a:close/>
              </a:path>
            </a:pathLst>
          </a:custGeom>
          <a:solidFill xmlns:a="http://schemas.openxmlformats.org/drawingml/2006/main">
            <a:srgbClr val="ACD4F1"/>
          </a:solidFill>
          <a:ln xmlns:a="http://schemas.openxmlformats.org/drawingml/2006/main" w="16764">
            <a:solidFill>
              <a:srgbClr val="00355F"/>
            </a:solidFill>
          </a:ln>
        </p:spPr>
      </p:sp>
      <p:sp>
        <p:nvSpPr>
          <p:cNvPr id="8" name="Virtual designs">
            <a:extLst xmlns:a="http://schemas.openxmlformats.org/drawingml/2006/main">
              <a:ext uri="{FF2B5EF4-FFF2-40B4-BE49-F238E27FC236}">
                <a16:creationId xmlns:a16="http://schemas.microsoft.com/office/drawing/2014/main" id="{2690A193-0744-4423-B0AB-8E132D798698}"/>
              </a:ext>
            </a:extLst>
          </p:cNvPr>
          <p:cNvSpPr>
            <a:spLocks xmlns:a="http://schemas.openxmlformats.org/drawingml/2006/main" noGrp="1"/>
          </p:cNvSpPr>
          <p:nvPr/>
        </p:nvSpPr>
        <p:spPr>
          <a:xfrm xmlns:a="http://schemas.openxmlformats.org/drawingml/2006/main">
            <a:off x="762000" y="3131820"/>
            <a:ext cx="5181600"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740" b="1">
                <a:solidFill>
                  <a:srgbClr val="00355F"/>
                </a:solidFill>
                <a:latin typeface="Arial"/>
                <a:ea typeface="Arial"/>
                <a:cs typeface="Arial"/>
              </a:defRPr>
            </a:defPPr>
          </a:lstStyle>
          <a:p xmlns:a="http://schemas.openxmlformats.org/drawingml/2006/main">
            <a:pPr algn="ctr">
              <a:buNone/>
              <a:defRPr sz="1740" b="1">
                <a:solidFill>
                  <a:srgbClr val="00355F"/>
                </a:solidFill>
                <a:latin typeface="Arial"/>
                <a:ea typeface="Arial"/>
                <a:cs typeface="Arial"/>
              </a:defRPr>
            </a:pPr>
            <a:r>
              <a:rPr sz="1740" b="1">
                <a:solidFill>
                  <a:srgbClr val="00355F"/>
                </a:solidFill>
                <a:latin typeface="Arial"/>
                <a:ea typeface="Arial"/>
                <a:cs typeface="Arial"/>
              </a:rPr>
              <a:t>Virtual designs</a:t>
            </a:r>
          </a:p>
        </p:txBody>
      </p:sp>
      <p:sp>
        <p:nvSpPr>
          <p:cNvPr id="9" name="10⁵–10⁹">
            <a:extLst xmlns:a="http://schemas.openxmlformats.org/drawingml/2006/main">
              <a:ext uri="{FF2B5EF4-FFF2-40B4-BE49-F238E27FC236}">
                <a16:creationId xmlns:a16="http://schemas.microsoft.com/office/drawing/2014/main" id="{3C16F12F-C698-4887-A501-EAC7D1F015F4}"/>
              </a:ext>
            </a:extLst>
          </p:cNvPr>
          <p:cNvSpPr>
            <a:spLocks xmlns:a="http://schemas.openxmlformats.org/drawingml/2006/main" noGrp="1"/>
          </p:cNvSpPr>
          <p:nvPr/>
        </p:nvSpPr>
        <p:spPr>
          <a:xfrm xmlns:a="http://schemas.openxmlformats.org/drawingml/2006/main">
            <a:off x="762000" y="3489960"/>
            <a:ext cx="5181600" cy="4114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580" b="1">
                <a:solidFill>
                  <a:srgbClr val="00355F"/>
                </a:solidFill>
                <a:latin typeface="Arial"/>
                <a:ea typeface="Arial"/>
                <a:cs typeface="Arial"/>
              </a:defRPr>
            </a:defPPr>
          </a:lstStyle>
          <a:p xmlns:a="http://schemas.openxmlformats.org/drawingml/2006/main">
            <a:pPr algn="ctr">
              <a:buNone/>
              <a:defRPr sz="2580" b="1">
                <a:solidFill>
                  <a:srgbClr val="00355F"/>
                </a:solidFill>
                <a:latin typeface="Arial"/>
                <a:ea typeface="Arial"/>
                <a:cs typeface="Arial"/>
              </a:defRPr>
            </a:pPr>
            <a:r>
              <a:rPr sz="2580" b="1">
                <a:solidFill>
                  <a:srgbClr val="00355F"/>
                </a:solidFill>
                <a:latin typeface="Arial"/>
                <a:ea typeface="Arial"/>
                <a:cs typeface="Arial"/>
              </a:rPr>
              <a:t>10⁵–10⁹</a:t>
            </a:r>
          </a:p>
        </p:txBody>
      </p:sp>
      <p:sp>
        <p:nvSpPr>
          <p:cNvPr id="10" name="">
            <a:extLst xmlns:a="http://schemas.openxmlformats.org/drawingml/2006/main">
              <a:ext uri="{FF2B5EF4-FFF2-40B4-BE49-F238E27FC236}">
                <a16:creationId xmlns:a16="http://schemas.microsoft.com/office/drawing/2014/main" id="{168CA181-E74C-41C7-970E-13E42BBBC606}"/>
              </a:ext>
            </a:extLst>
          </p:cNvPr>
          <p:cNvSpPr>
            <a:spLocks xmlns:a="http://schemas.openxmlformats.org/drawingml/2006/main" noGrp="1"/>
          </p:cNvSpPr>
          <p:nvPr/>
        </p:nvSpPr>
        <p:spPr>
          <a:xfrm xmlns:a="http://schemas.openxmlformats.org/drawingml/2006/main">
            <a:off x="1409700" y="4175760"/>
            <a:ext cx="3886200" cy="975360"/>
          </a:xfrm>
          <a:custGeom xmlns:a="http://schemas.openxmlformats.org/drawingml/2006/main">
            <a:pathLst>
              <a:path w="4857750" h="1219200">
                <a:moveTo>
                  <a:pt x="0" y="0"/>
                </a:moveTo>
                <a:lnTo>
                  <a:pt x="4857750" y="0"/>
                </a:lnTo>
                <a:lnTo>
                  <a:pt x="4262438" y="1219200"/>
                </a:lnTo>
                <a:lnTo>
                  <a:pt x="595313" y="1219200"/>
                </a:lnTo>
                <a:close/>
              </a:path>
            </a:pathLst>
          </a:custGeom>
          <a:solidFill xmlns:a="http://schemas.openxmlformats.org/drawingml/2006/main">
            <a:srgbClr val="7399C6"/>
          </a:solidFill>
          <a:ln xmlns:a="http://schemas.openxmlformats.org/drawingml/2006/main" w="16764">
            <a:solidFill>
              <a:srgbClr val="00355F"/>
            </a:solidFill>
          </a:ln>
        </p:spPr>
      </p:sp>
      <p:sp>
        <p:nvSpPr>
          <p:cNvPr id="11" name="Physically made">
            <a:extLst xmlns:a="http://schemas.openxmlformats.org/drawingml/2006/main">
              <a:ext uri="{FF2B5EF4-FFF2-40B4-BE49-F238E27FC236}">
                <a16:creationId xmlns:a16="http://schemas.microsoft.com/office/drawing/2014/main" id="{FFB9A473-2A21-4724-88D2-BB4114A0EF8B}"/>
              </a:ext>
            </a:extLst>
          </p:cNvPr>
          <p:cNvSpPr>
            <a:spLocks xmlns:a="http://schemas.openxmlformats.org/drawingml/2006/main" noGrp="1"/>
          </p:cNvSpPr>
          <p:nvPr/>
        </p:nvSpPr>
        <p:spPr>
          <a:xfrm xmlns:a="http://schemas.openxmlformats.org/drawingml/2006/main">
            <a:off x="1409700" y="4335780"/>
            <a:ext cx="3886200"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740" b="1">
                <a:solidFill>
                  <a:srgbClr val="00355F"/>
                </a:solidFill>
                <a:latin typeface="Arial"/>
                <a:ea typeface="Arial"/>
                <a:cs typeface="Arial"/>
              </a:defRPr>
            </a:defPPr>
          </a:lstStyle>
          <a:p xmlns:a="http://schemas.openxmlformats.org/drawingml/2006/main">
            <a:pPr algn="ctr">
              <a:buNone/>
              <a:defRPr sz="1740" b="1">
                <a:solidFill>
                  <a:srgbClr val="00355F"/>
                </a:solidFill>
                <a:latin typeface="Arial"/>
                <a:ea typeface="Arial"/>
                <a:cs typeface="Arial"/>
              </a:defRPr>
            </a:pPr>
            <a:r>
              <a:rPr sz="1740" b="1">
                <a:solidFill>
                  <a:srgbClr val="00355F"/>
                </a:solidFill>
                <a:latin typeface="Arial"/>
                <a:ea typeface="Arial"/>
                <a:cs typeface="Arial"/>
              </a:rPr>
              <a:t>Physically made</a:t>
            </a:r>
          </a:p>
        </p:txBody>
      </p:sp>
      <p:sp>
        <p:nvSpPr>
          <p:cNvPr id="12" name="10³–10⁴">
            <a:extLst xmlns:a="http://schemas.openxmlformats.org/drawingml/2006/main">
              <a:ext uri="{FF2B5EF4-FFF2-40B4-BE49-F238E27FC236}">
                <a16:creationId xmlns:a16="http://schemas.microsoft.com/office/drawing/2014/main" id="{A304D462-EB8B-4809-B39C-308A0F91BA49}"/>
              </a:ext>
            </a:extLst>
          </p:cNvPr>
          <p:cNvSpPr>
            <a:spLocks xmlns:a="http://schemas.openxmlformats.org/drawingml/2006/main" noGrp="1"/>
          </p:cNvSpPr>
          <p:nvPr/>
        </p:nvSpPr>
        <p:spPr>
          <a:xfrm xmlns:a="http://schemas.openxmlformats.org/drawingml/2006/main">
            <a:off x="1409700" y="4693920"/>
            <a:ext cx="3886200" cy="4114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580" b="1">
                <a:solidFill>
                  <a:srgbClr val="00355F"/>
                </a:solidFill>
                <a:latin typeface="Arial"/>
                <a:ea typeface="Arial"/>
                <a:cs typeface="Arial"/>
              </a:defRPr>
            </a:defPPr>
          </a:lstStyle>
          <a:p xmlns:a="http://schemas.openxmlformats.org/drawingml/2006/main">
            <a:pPr algn="ctr">
              <a:buNone/>
              <a:defRPr sz="2580" b="1">
                <a:solidFill>
                  <a:srgbClr val="00355F"/>
                </a:solidFill>
                <a:latin typeface="Arial"/>
                <a:ea typeface="Arial"/>
                <a:cs typeface="Arial"/>
              </a:defRPr>
            </a:pPr>
            <a:r>
              <a:rPr sz="2580" b="1">
                <a:solidFill>
                  <a:srgbClr val="00355F"/>
                </a:solidFill>
                <a:latin typeface="Arial"/>
                <a:ea typeface="Arial"/>
                <a:cs typeface="Arial"/>
              </a:rPr>
              <a:t>10³–10⁴</a:t>
            </a:r>
          </a:p>
        </p:txBody>
      </p:sp>
      <p:sp>
        <p:nvSpPr>
          <p:cNvPr id="13" name="">
            <a:extLst xmlns:a="http://schemas.openxmlformats.org/drawingml/2006/main">
              <a:ext uri="{FF2B5EF4-FFF2-40B4-BE49-F238E27FC236}">
                <a16:creationId xmlns:a16="http://schemas.microsoft.com/office/drawing/2014/main" id="{D1C3E236-3CAD-4EA1-B540-0FA37EB1EFC4}"/>
              </a:ext>
            </a:extLst>
          </p:cNvPr>
          <p:cNvSpPr>
            <a:spLocks xmlns:a="http://schemas.openxmlformats.org/drawingml/2006/main" noGrp="1"/>
          </p:cNvSpPr>
          <p:nvPr/>
        </p:nvSpPr>
        <p:spPr>
          <a:xfrm xmlns:a="http://schemas.openxmlformats.org/drawingml/2006/main">
            <a:off x="1885950" y="5273040"/>
            <a:ext cx="2933700" cy="1005840"/>
          </a:xfrm>
          <a:custGeom xmlns:a="http://schemas.openxmlformats.org/drawingml/2006/main">
            <a:pathLst>
              <a:path w="3667125" h="1257300">
                <a:moveTo>
                  <a:pt x="0" y="0"/>
                </a:moveTo>
                <a:lnTo>
                  <a:pt x="3667125" y="0"/>
                </a:lnTo>
                <a:lnTo>
                  <a:pt x="3119438" y="1257300"/>
                </a:lnTo>
                <a:lnTo>
                  <a:pt x="547688" y="1257300"/>
                </a:lnTo>
                <a:close/>
              </a:path>
            </a:pathLst>
          </a:custGeom>
          <a:solidFill xmlns:a="http://schemas.openxmlformats.org/drawingml/2006/main">
            <a:srgbClr val="00355F"/>
          </a:solidFill>
          <a:ln xmlns:a="http://schemas.openxmlformats.org/drawingml/2006/main" w="16764">
            <a:solidFill>
              <a:srgbClr val="00355F"/>
            </a:solidFill>
          </a:ln>
        </p:spPr>
      </p:sp>
      <p:sp>
        <p:nvSpPr>
          <p:cNvPr id="14" name="Fully profiled">
            <a:extLst xmlns:a="http://schemas.openxmlformats.org/drawingml/2006/main">
              <a:ext uri="{FF2B5EF4-FFF2-40B4-BE49-F238E27FC236}">
                <a16:creationId xmlns:a16="http://schemas.microsoft.com/office/drawing/2014/main" id="{80BB4CA1-E1A6-4E39-9F89-808CEDAF8BCA}"/>
              </a:ext>
            </a:extLst>
          </p:cNvPr>
          <p:cNvSpPr>
            <a:spLocks xmlns:a="http://schemas.openxmlformats.org/drawingml/2006/main" noGrp="1"/>
          </p:cNvSpPr>
          <p:nvPr/>
        </p:nvSpPr>
        <p:spPr>
          <a:xfrm xmlns:a="http://schemas.openxmlformats.org/drawingml/2006/main">
            <a:off x="1885950" y="5433060"/>
            <a:ext cx="2933700"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740" b="1">
                <a:solidFill>
                  <a:srgbClr val="FFFFFF"/>
                </a:solidFill>
                <a:latin typeface="Arial"/>
                <a:ea typeface="Arial"/>
                <a:cs typeface="Arial"/>
              </a:defRPr>
            </a:defPPr>
          </a:lstStyle>
          <a:p xmlns:a="http://schemas.openxmlformats.org/drawingml/2006/main">
            <a:pPr algn="ctr">
              <a:buNone/>
              <a:defRPr sz="1740" b="1">
                <a:solidFill>
                  <a:srgbClr val="FFFFFF"/>
                </a:solidFill>
                <a:latin typeface="Arial"/>
                <a:ea typeface="Arial"/>
                <a:cs typeface="Arial"/>
              </a:defRPr>
            </a:pPr>
            <a:r>
              <a:rPr sz="1740" b="1">
                <a:solidFill>
                  <a:srgbClr val="FFFFFF"/>
                </a:solidFill>
                <a:latin typeface="Arial"/>
                <a:ea typeface="Arial"/>
                <a:cs typeface="Arial"/>
              </a:rPr>
              <a:t>Fully profiled</a:t>
            </a:r>
          </a:p>
        </p:txBody>
      </p:sp>
      <p:sp>
        <p:nvSpPr>
          <p:cNvPr id="15" name="50 → 500">
            <a:extLst xmlns:a="http://schemas.openxmlformats.org/drawingml/2006/main">
              <a:ext uri="{FF2B5EF4-FFF2-40B4-BE49-F238E27FC236}">
                <a16:creationId xmlns:a16="http://schemas.microsoft.com/office/drawing/2014/main" id="{2054B034-913C-46C1-901F-E93806B60559}"/>
              </a:ext>
            </a:extLst>
          </p:cNvPr>
          <p:cNvSpPr>
            <a:spLocks xmlns:a="http://schemas.openxmlformats.org/drawingml/2006/main" noGrp="1"/>
          </p:cNvSpPr>
          <p:nvPr/>
        </p:nvSpPr>
        <p:spPr>
          <a:xfrm xmlns:a="http://schemas.openxmlformats.org/drawingml/2006/main">
            <a:off x="1885950" y="5791200"/>
            <a:ext cx="2933700" cy="4114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580" b="1">
                <a:solidFill>
                  <a:srgbClr val="FFFFFF"/>
                </a:solidFill>
                <a:latin typeface="Arial"/>
                <a:ea typeface="Arial"/>
                <a:cs typeface="Arial"/>
              </a:defRPr>
            </a:defPPr>
          </a:lstStyle>
          <a:p xmlns:a="http://schemas.openxmlformats.org/drawingml/2006/main">
            <a:pPr algn="ctr">
              <a:buNone/>
              <a:defRPr sz="2580" b="1">
                <a:solidFill>
                  <a:srgbClr val="FFFFFF"/>
                </a:solidFill>
                <a:latin typeface="Arial"/>
                <a:ea typeface="Arial"/>
                <a:cs typeface="Arial"/>
              </a:defRPr>
            </a:pPr>
            <a:r>
              <a:rPr sz="2580" b="1">
                <a:solidFill>
                  <a:srgbClr val="FFFFFF"/>
                </a:solidFill>
                <a:latin typeface="Arial"/>
                <a:ea typeface="Arial"/>
                <a:cs typeface="Arial"/>
              </a:rPr>
              <a:t>50 → 500</a:t>
            </a:r>
          </a:p>
        </p:txBody>
      </p:sp>
      <p:sp>
        <p:nvSpPr>
          <p:cNvPr id="16" name="">
            <a:extLst xmlns:a="http://schemas.openxmlformats.org/drawingml/2006/main">
              <a:ext uri="{FF2B5EF4-FFF2-40B4-BE49-F238E27FC236}">
                <a16:creationId xmlns:a16="http://schemas.microsoft.com/office/drawing/2014/main" id="{FE1F75E6-3B4F-4C28-A161-E089F69A21ED}"/>
              </a:ext>
            </a:extLst>
          </p:cNvPr>
          <p:cNvSpPr>
            <a:spLocks xmlns:a="http://schemas.openxmlformats.org/drawingml/2006/main" noGrp="1"/>
          </p:cNvSpPr>
          <p:nvPr/>
        </p:nvSpPr>
        <p:spPr>
          <a:xfrm xmlns:a="http://schemas.openxmlformats.org/drawingml/2006/main">
            <a:off x="2324100" y="6400800"/>
            <a:ext cx="2057400" cy="815340"/>
          </a:xfrm>
          <a:custGeom xmlns:a="http://schemas.openxmlformats.org/drawingml/2006/main">
            <a:pathLst>
              <a:path w="2571750" h="1019175">
                <a:moveTo>
                  <a:pt x="0" y="0"/>
                </a:moveTo>
                <a:lnTo>
                  <a:pt x="2571750" y="0"/>
                </a:lnTo>
                <a:lnTo>
                  <a:pt x="2238375" y="1019175"/>
                </a:lnTo>
                <a:lnTo>
                  <a:pt x="333375" y="1019175"/>
                </a:lnTo>
                <a:close/>
              </a:path>
            </a:pathLst>
          </a:custGeom>
          <a:solidFill xmlns:a="http://schemas.openxmlformats.org/drawingml/2006/main">
            <a:srgbClr val="FFFFFF"/>
          </a:solidFill>
          <a:ln xmlns:a="http://schemas.openxmlformats.org/drawingml/2006/main" w="16764">
            <a:solidFill>
              <a:srgbClr val="F67F26"/>
            </a:solidFill>
          </a:ln>
        </p:spPr>
      </p:sp>
      <p:sp>
        <p:nvSpPr>
          <p:cNvPr id="17" name="Clinical entry">
            <a:extLst xmlns:a="http://schemas.openxmlformats.org/drawingml/2006/main">
              <a:ext uri="{FF2B5EF4-FFF2-40B4-BE49-F238E27FC236}">
                <a16:creationId xmlns:a16="http://schemas.microsoft.com/office/drawing/2014/main" id="{5EFD58BF-28F5-475D-BABF-78096EBC222D}"/>
              </a:ext>
            </a:extLst>
          </p:cNvPr>
          <p:cNvSpPr>
            <a:spLocks xmlns:a="http://schemas.openxmlformats.org/drawingml/2006/main" noGrp="1"/>
          </p:cNvSpPr>
          <p:nvPr/>
        </p:nvSpPr>
        <p:spPr>
          <a:xfrm xmlns:a="http://schemas.openxmlformats.org/drawingml/2006/main">
            <a:off x="2324100" y="6560820"/>
            <a:ext cx="2057400"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80" b="1">
                <a:solidFill>
                  <a:srgbClr val="00355F"/>
                </a:solidFill>
                <a:latin typeface="Arial"/>
                <a:ea typeface="Arial"/>
                <a:cs typeface="Arial"/>
              </a:defRPr>
            </a:defPPr>
          </a:lstStyle>
          <a:p xmlns:a="http://schemas.openxmlformats.org/drawingml/2006/main">
            <a:pPr algn="ctr">
              <a:buNone/>
              <a:defRPr sz="1380" b="1">
                <a:solidFill>
                  <a:srgbClr val="00355F"/>
                </a:solidFill>
                <a:latin typeface="Arial"/>
                <a:ea typeface="Arial"/>
                <a:cs typeface="Arial"/>
              </a:defRPr>
            </a:pPr>
            <a:r>
              <a:rPr sz="1380" b="1">
                <a:solidFill>
                  <a:srgbClr val="00355F"/>
                </a:solidFill>
                <a:latin typeface="Arial"/>
                <a:ea typeface="Arial"/>
                <a:cs typeface="Arial"/>
              </a:rPr>
              <a:t>Clinical entry</a:t>
            </a:r>
          </a:p>
        </p:txBody>
      </p:sp>
      <p:sp>
        <p:nvSpPr>
          <p:cNvPr id="18" name="1">
            <a:extLst xmlns:a="http://schemas.openxmlformats.org/drawingml/2006/main">
              <a:ext uri="{FF2B5EF4-FFF2-40B4-BE49-F238E27FC236}">
                <a16:creationId xmlns:a16="http://schemas.microsoft.com/office/drawing/2014/main" id="{688F8D8B-F0F4-48C0-B7AA-C27A04305B58}"/>
              </a:ext>
            </a:extLst>
          </p:cNvPr>
          <p:cNvSpPr>
            <a:spLocks xmlns:a="http://schemas.openxmlformats.org/drawingml/2006/main" noGrp="1"/>
          </p:cNvSpPr>
          <p:nvPr/>
        </p:nvSpPr>
        <p:spPr>
          <a:xfrm xmlns:a="http://schemas.openxmlformats.org/drawingml/2006/main">
            <a:off x="2324100" y="6918960"/>
            <a:ext cx="2057400" cy="4114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80" b="1">
                <a:solidFill>
                  <a:srgbClr val="00355F"/>
                </a:solidFill>
                <a:latin typeface="Arial"/>
                <a:ea typeface="Arial"/>
                <a:cs typeface="Arial"/>
              </a:defRPr>
            </a:defPPr>
          </a:lstStyle>
          <a:p xmlns:a="http://schemas.openxmlformats.org/drawingml/2006/main">
            <a:pPr algn="ctr">
              <a:buNone/>
              <a:defRPr sz="1680" b="1">
                <a:solidFill>
                  <a:srgbClr val="00355F"/>
                </a:solidFill>
                <a:latin typeface="Arial"/>
                <a:ea typeface="Arial"/>
                <a:cs typeface="Arial"/>
              </a:defRPr>
            </a:pPr>
            <a:r>
              <a:rPr sz="1680" b="1">
                <a:solidFill>
                  <a:srgbClr val="00355F"/>
                </a:solidFill>
                <a:latin typeface="Arial"/>
                <a:ea typeface="Arial"/>
                <a:cs typeface="Arial"/>
              </a:rPr>
              <a:t>1</a:t>
            </a:r>
          </a:p>
        </p:txBody>
      </p:sp>
      <p:sp>
        <p:nvSpPr>
          <p:cNvPr id="19" name="">
            <a:extLst xmlns:a="http://schemas.openxmlformats.org/drawingml/2006/main">
              <a:ext uri="{FF2B5EF4-FFF2-40B4-BE49-F238E27FC236}">
                <a16:creationId xmlns:a16="http://schemas.microsoft.com/office/drawing/2014/main" id="{DD683BF2-CEB6-4D79-8930-5C5ABBB58C9C}"/>
              </a:ext>
            </a:extLst>
          </p:cNvPr>
          <p:cNvSpPr>
            <a:spLocks xmlns:a="http://schemas.openxmlformats.org/drawingml/2006/main" noGrp="1"/>
          </p:cNvSpPr>
          <p:nvPr/>
        </p:nvSpPr>
        <p:spPr>
          <a:xfrm xmlns:a="http://schemas.openxmlformats.org/drawingml/2006/main">
            <a:off x="2590800" y="7338060"/>
            <a:ext cx="1524000" cy="815340"/>
          </a:xfrm>
          <a:custGeom xmlns:a="http://schemas.openxmlformats.org/drawingml/2006/main">
            <a:pathLst>
              <a:path w="1905000" h="1019175">
                <a:moveTo>
                  <a:pt x="0" y="0"/>
                </a:moveTo>
                <a:lnTo>
                  <a:pt x="1905000" y="0"/>
                </a:lnTo>
                <a:lnTo>
                  <a:pt x="1700213" y="1019175"/>
                </a:lnTo>
                <a:lnTo>
                  <a:pt x="204788" y="1019175"/>
                </a:lnTo>
                <a:close/>
              </a:path>
            </a:pathLst>
          </a:custGeom>
          <a:solidFill xmlns:a="http://schemas.openxmlformats.org/drawingml/2006/main">
            <a:srgbClr val="FFFFFF"/>
          </a:solidFill>
          <a:ln xmlns:a="http://schemas.openxmlformats.org/drawingml/2006/main" w="16764">
            <a:solidFill>
              <a:srgbClr val="BE3232"/>
            </a:solidFill>
          </a:ln>
        </p:spPr>
      </p:sp>
      <p:sp>
        <p:nvSpPr>
          <p:cNvPr id="20" name="Approvals">
            <a:extLst xmlns:a="http://schemas.openxmlformats.org/drawingml/2006/main">
              <a:ext uri="{FF2B5EF4-FFF2-40B4-BE49-F238E27FC236}">
                <a16:creationId xmlns:a16="http://schemas.microsoft.com/office/drawing/2014/main" id="{F0D0F73F-86D0-4EA8-B9D0-CB2C3D99DD83}"/>
              </a:ext>
            </a:extLst>
          </p:cNvPr>
          <p:cNvSpPr>
            <a:spLocks xmlns:a="http://schemas.openxmlformats.org/drawingml/2006/main" noGrp="1"/>
          </p:cNvSpPr>
          <p:nvPr/>
        </p:nvSpPr>
        <p:spPr>
          <a:xfrm xmlns:a="http://schemas.openxmlformats.org/drawingml/2006/main">
            <a:off x="2590800" y="7498080"/>
            <a:ext cx="1524000"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80" b="1">
                <a:solidFill>
                  <a:srgbClr val="00355F"/>
                </a:solidFill>
                <a:latin typeface="Arial"/>
                <a:ea typeface="Arial"/>
                <a:cs typeface="Arial"/>
              </a:defRPr>
            </a:defPPr>
          </a:lstStyle>
          <a:p xmlns:a="http://schemas.openxmlformats.org/drawingml/2006/main">
            <a:pPr algn="ctr">
              <a:buNone/>
              <a:defRPr sz="1380" b="1">
                <a:solidFill>
                  <a:srgbClr val="00355F"/>
                </a:solidFill>
                <a:latin typeface="Arial"/>
                <a:ea typeface="Arial"/>
                <a:cs typeface="Arial"/>
              </a:defRPr>
            </a:pPr>
            <a:r>
              <a:rPr sz="1380" b="1">
                <a:solidFill>
                  <a:srgbClr val="00355F"/>
                </a:solidFill>
                <a:latin typeface="Arial"/>
                <a:ea typeface="Arial"/>
                <a:cs typeface="Arial"/>
              </a:rPr>
              <a:t>Approvals</a:t>
            </a:r>
          </a:p>
        </p:txBody>
      </p:sp>
      <p:sp>
        <p:nvSpPr>
          <p:cNvPr id="21" name="Unknown">
            <a:extLst xmlns:a="http://schemas.openxmlformats.org/drawingml/2006/main">
              <a:ext uri="{FF2B5EF4-FFF2-40B4-BE49-F238E27FC236}">
                <a16:creationId xmlns:a16="http://schemas.microsoft.com/office/drawing/2014/main" id="{ED228442-7255-428A-87AB-483850A307C2}"/>
              </a:ext>
            </a:extLst>
          </p:cNvPr>
          <p:cNvSpPr>
            <a:spLocks xmlns:a="http://schemas.openxmlformats.org/drawingml/2006/main" noGrp="1"/>
          </p:cNvSpPr>
          <p:nvPr/>
        </p:nvSpPr>
        <p:spPr>
          <a:xfrm xmlns:a="http://schemas.openxmlformats.org/drawingml/2006/main">
            <a:off x="2590800" y="7856220"/>
            <a:ext cx="1524000" cy="4114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80" b="1">
                <a:solidFill>
                  <a:srgbClr val="00355F"/>
                </a:solidFill>
                <a:latin typeface="Arial"/>
                <a:ea typeface="Arial"/>
                <a:cs typeface="Arial"/>
              </a:defRPr>
            </a:defPPr>
          </a:lstStyle>
          <a:p xmlns:a="http://schemas.openxmlformats.org/drawingml/2006/main">
            <a:pPr algn="ctr">
              <a:buNone/>
              <a:defRPr sz="1680" b="1">
                <a:solidFill>
                  <a:srgbClr val="00355F"/>
                </a:solidFill>
                <a:latin typeface="Arial"/>
                <a:ea typeface="Arial"/>
                <a:cs typeface="Arial"/>
              </a:defRPr>
            </a:pPr>
            <a:r>
              <a:rPr sz="1680" b="1">
                <a:solidFill>
                  <a:srgbClr val="00355F"/>
                </a:solidFill>
                <a:latin typeface="Arial"/>
                <a:ea typeface="Arial"/>
                <a:cs typeface="Arial"/>
              </a:rPr>
              <a:t>Unknown</a:t>
            </a:r>
          </a:p>
        </p:txBody>
      </p:sp>
      <p:sp>
        <p:nvSpPr>
          <p:cNvPr id="22" name="">
            <a:extLst xmlns:a="http://schemas.openxmlformats.org/drawingml/2006/main">
              <a:ext uri="{FF2B5EF4-FFF2-40B4-BE49-F238E27FC236}">
                <a16:creationId xmlns:a16="http://schemas.microsoft.com/office/drawing/2014/main" id="{01E99CBD-EA71-40C1-B317-D33AF59C5031}"/>
              </a:ext>
            </a:extLst>
          </p:cNvPr>
          <p:cNvSpPr>
            <a:spLocks xmlns:a="http://schemas.openxmlformats.org/drawingml/2006/main" noGrp="1"/>
          </p:cNvSpPr>
          <p:nvPr/>
        </p:nvSpPr>
        <p:spPr>
          <a:xfrm xmlns:a="http://schemas.openxmlformats.org/drawingml/2006/main">
            <a:off x="5539740" y="4175760"/>
            <a:ext cx="342900" cy="76"/>
          </a:xfrm>
          <a:custGeom xmlns:a="http://schemas.openxmlformats.org/drawingml/2006/main">
            <a:pathLst>
              <a:path w="428625" h="95">
                <a:moveTo>
                  <a:pt x="0" y="0"/>
                </a:moveTo>
                <a:lnTo>
                  <a:pt x="428625" y="0"/>
                </a:lnTo>
              </a:path>
            </a:pathLst>
          </a:custGeom>
          <a:noFill xmlns:a="http://schemas.openxmlformats.org/drawingml/2006/main"/>
          <a:ln xmlns:a="http://schemas.openxmlformats.org/drawingml/2006/main" w="22860">
            <a:solidFill>
              <a:srgbClr val="00355F"/>
            </a:solidFill>
            <a:prstDash val="solid"/>
          </a:ln>
        </p:spPr>
      </p:sp>
      <p:sp>
        <p:nvSpPr>
          <p:cNvPr id="23" name="">
            <a:extLst xmlns:a="http://schemas.openxmlformats.org/drawingml/2006/main">
              <a:ext uri="{FF2B5EF4-FFF2-40B4-BE49-F238E27FC236}">
                <a16:creationId xmlns:a16="http://schemas.microsoft.com/office/drawing/2014/main" id="{AC076321-D852-4612-BC29-75B18E703607}"/>
              </a:ext>
            </a:extLst>
          </p:cNvPr>
          <p:cNvSpPr>
            <a:spLocks xmlns:a="http://schemas.openxmlformats.org/drawingml/2006/main" noGrp="1"/>
          </p:cNvSpPr>
          <p:nvPr/>
        </p:nvSpPr>
        <p:spPr>
          <a:xfrm xmlns:a="http://schemas.openxmlformats.org/drawingml/2006/main">
            <a:off x="5882640" y="4175760"/>
            <a:ext cx="76" cy="2103120"/>
          </a:xfrm>
          <a:custGeom xmlns:a="http://schemas.openxmlformats.org/drawingml/2006/main">
            <a:pathLst>
              <a:path w="95" h="2628900">
                <a:moveTo>
                  <a:pt x="0" y="0"/>
                </a:moveTo>
                <a:lnTo>
                  <a:pt x="0" y="2628900"/>
                </a:lnTo>
              </a:path>
            </a:pathLst>
          </a:custGeom>
          <a:noFill xmlns:a="http://schemas.openxmlformats.org/drawingml/2006/main"/>
          <a:ln xmlns:a="http://schemas.openxmlformats.org/drawingml/2006/main" w="22860">
            <a:solidFill>
              <a:srgbClr val="00355F"/>
            </a:solidFill>
            <a:prstDash val="solid"/>
          </a:ln>
        </p:spPr>
      </p:sp>
      <p:sp>
        <p:nvSpPr>
          <p:cNvPr id="24" name="">
            <a:extLst xmlns:a="http://schemas.openxmlformats.org/drawingml/2006/main">
              <a:ext uri="{FF2B5EF4-FFF2-40B4-BE49-F238E27FC236}">
                <a16:creationId xmlns:a16="http://schemas.microsoft.com/office/drawing/2014/main" id="{3E42E26C-4B32-4728-9C3E-A39F96397C43}"/>
              </a:ext>
            </a:extLst>
          </p:cNvPr>
          <p:cNvSpPr>
            <a:spLocks xmlns:a="http://schemas.openxmlformats.org/drawingml/2006/main" noGrp="1"/>
          </p:cNvSpPr>
          <p:nvPr/>
        </p:nvSpPr>
        <p:spPr>
          <a:xfrm xmlns:a="http://schemas.openxmlformats.org/drawingml/2006/main">
            <a:off x="5539740" y="6278880"/>
            <a:ext cx="342900" cy="76"/>
          </a:xfrm>
          <a:custGeom xmlns:a="http://schemas.openxmlformats.org/drawingml/2006/main">
            <a:pathLst>
              <a:path w="428625" h="95">
                <a:moveTo>
                  <a:pt x="428625" y="0"/>
                </a:moveTo>
                <a:lnTo>
                  <a:pt x="0" y="0"/>
                </a:lnTo>
              </a:path>
            </a:pathLst>
          </a:custGeom>
          <a:noFill xmlns:a="http://schemas.openxmlformats.org/drawingml/2006/main"/>
          <a:ln xmlns:a="http://schemas.openxmlformats.org/drawingml/2006/main" w="22860">
            <a:solidFill>
              <a:srgbClr val="00355F"/>
            </a:solidFill>
            <a:prstDash val="solid"/>
          </a:ln>
        </p:spPr>
      </p:sp>
      <p:sp>
        <p:nvSpPr>
          <p:cNvPr id="25" name="">
            <a:extLst xmlns:a="http://schemas.openxmlformats.org/drawingml/2006/main">
              <a:ext uri="{FF2B5EF4-FFF2-40B4-BE49-F238E27FC236}">
                <a16:creationId xmlns:a16="http://schemas.microsoft.com/office/drawing/2014/main" id="{D8E1A228-82CA-4AE1-978F-8EC3424F4AEA}"/>
              </a:ext>
            </a:extLst>
          </p:cNvPr>
          <p:cNvSpPr>
            <a:spLocks xmlns:a="http://schemas.openxmlformats.org/drawingml/2006/main" noGrp="1"/>
          </p:cNvSpPr>
          <p:nvPr/>
        </p:nvSpPr>
        <p:spPr>
          <a:xfrm xmlns:a="http://schemas.openxmlformats.org/drawingml/2006/main">
            <a:off x="5958840" y="2552700"/>
            <a:ext cx="762000" cy="6446520"/>
          </a:xfrm>
          <a:custGeom xmlns:a="http://schemas.openxmlformats.org/drawingml/2006/main">
            <a:pathLst>
              <a:path w="952500" h="8058150">
                <a:moveTo>
                  <a:pt x="0" y="2133600"/>
                </a:moveTo>
                <a:lnTo>
                  <a:pt x="952500" y="0"/>
                </a:lnTo>
                <a:lnTo>
                  <a:pt x="952500" y="8058150"/>
                </a:lnTo>
                <a:lnTo>
                  <a:pt x="0" y="4552950"/>
                </a:lnTo>
                <a:close/>
              </a:path>
            </a:pathLst>
          </a:custGeom>
          <a:solidFill xmlns:a="http://schemas.openxmlformats.org/drawingml/2006/main">
            <a:srgbClr val="EEF6FC"/>
          </a:solidFill>
          <a:ln xmlns:a="http://schemas.openxmlformats.org/drawingml/2006/main" w="7620">
            <a:noFill/>
          </a:ln>
        </p:spPr>
      </p:sp>
      <p:sp>
        <p:nvSpPr>
          <p:cNvPr id="26" name="">
            <a:extLst xmlns:a="http://schemas.openxmlformats.org/drawingml/2006/main">
              <a:ext uri="{FF2B5EF4-FFF2-40B4-BE49-F238E27FC236}">
                <a16:creationId xmlns:a16="http://schemas.microsoft.com/office/drawing/2014/main" id="{6E60B072-F71A-4A7C-ABCB-794DA40CAC26}"/>
              </a:ext>
            </a:extLst>
          </p:cNvPr>
          <p:cNvSpPr>
            <a:spLocks xmlns:a="http://schemas.openxmlformats.org/drawingml/2006/main" noGrp="1"/>
          </p:cNvSpPr>
          <p:nvPr/>
        </p:nvSpPr>
        <p:spPr>
          <a:xfrm xmlns:a="http://schemas.openxmlformats.org/drawingml/2006/main">
            <a:off x="5882640" y="2552700"/>
            <a:ext cx="838200" cy="1706880"/>
          </a:xfrm>
          <a:custGeom xmlns:a="http://schemas.openxmlformats.org/drawingml/2006/main">
            <a:pathLst>
              <a:path w="1047750" h="2133600">
                <a:moveTo>
                  <a:pt x="0" y="2133600"/>
                </a:moveTo>
                <a:lnTo>
                  <a:pt x="1047750" y="0"/>
                </a:lnTo>
              </a:path>
            </a:pathLst>
          </a:custGeom>
          <a:noFill xmlns:a="http://schemas.openxmlformats.org/drawingml/2006/main"/>
          <a:ln xmlns:a="http://schemas.openxmlformats.org/drawingml/2006/main" w="11430">
            <a:solidFill>
              <a:srgbClr val="7399C6"/>
            </a:solidFill>
            <a:prstDash val="solid"/>
          </a:ln>
        </p:spPr>
      </p:sp>
      <p:sp>
        <p:nvSpPr>
          <p:cNvPr id="27" name="">
            <a:extLst xmlns:a="http://schemas.openxmlformats.org/drawingml/2006/main">
              <a:ext uri="{FF2B5EF4-FFF2-40B4-BE49-F238E27FC236}">
                <a16:creationId xmlns:a16="http://schemas.microsoft.com/office/drawing/2014/main" id="{53905B69-C2F4-4A28-955F-F51A693BA9E6}"/>
              </a:ext>
            </a:extLst>
          </p:cNvPr>
          <p:cNvSpPr>
            <a:spLocks xmlns:a="http://schemas.openxmlformats.org/drawingml/2006/main" noGrp="1"/>
          </p:cNvSpPr>
          <p:nvPr/>
        </p:nvSpPr>
        <p:spPr>
          <a:xfrm xmlns:a="http://schemas.openxmlformats.org/drawingml/2006/main">
            <a:off x="5882640" y="6195060"/>
            <a:ext cx="838200" cy="2804160"/>
          </a:xfrm>
          <a:custGeom xmlns:a="http://schemas.openxmlformats.org/drawingml/2006/main">
            <a:pathLst>
              <a:path w="1047750" h="3505200">
                <a:moveTo>
                  <a:pt x="0" y="0"/>
                </a:moveTo>
                <a:lnTo>
                  <a:pt x="1047750" y="3505200"/>
                </a:lnTo>
              </a:path>
            </a:pathLst>
          </a:custGeom>
          <a:noFill xmlns:a="http://schemas.openxmlformats.org/drawingml/2006/main"/>
          <a:ln xmlns:a="http://schemas.openxmlformats.org/drawingml/2006/main" w="11430">
            <a:solidFill>
              <a:srgbClr val="7399C6"/>
            </a:solidFill>
            <a:prstDash val="solid"/>
          </a:ln>
        </p:spPr>
      </p:sp>
      <p:sp>
        <p:nvSpPr>
          <p:cNvPr id="28" name="">
            <a:extLst xmlns:a="http://schemas.openxmlformats.org/drawingml/2006/main">
              <a:ext uri="{FF2B5EF4-FFF2-40B4-BE49-F238E27FC236}">
                <a16:creationId xmlns:a16="http://schemas.microsoft.com/office/drawing/2014/main" id="{4C2C97A1-C73B-4EC0-A6B7-214BB919450E}"/>
              </a:ext>
            </a:extLst>
          </p:cNvPr>
          <p:cNvSpPr>
            <a:spLocks xmlns:a="http://schemas.openxmlformats.org/drawingml/2006/main" noGrp="1"/>
          </p:cNvSpPr>
          <p:nvPr/>
        </p:nvSpPr>
        <p:spPr>
          <a:xfrm xmlns:a="http://schemas.openxmlformats.org/drawingml/2006/main">
            <a:off x="762000" y="8481060"/>
            <a:ext cx="5181600" cy="632460"/>
          </a:xfrm>
          <a:prstGeom xmlns:a="http://schemas.openxmlformats.org/drawingml/2006/main" prst="roundRect">
            <a:avLst>
              <a:gd name="adj" fmla="val 10843"/>
            </a:avLst>
          </a:prstGeom>
          <a:solidFill xmlns:a="http://schemas.openxmlformats.org/drawingml/2006/main">
            <a:srgbClr val="ACD4F1"/>
          </a:solidFill>
          <a:ln xmlns:a="http://schemas.openxmlformats.org/drawingml/2006/main" w="7620">
            <a:noFill/>
          </a:ln>
        </p:spPr>
      </p:sp>
      <p:pic>
        <p:nvPicPr>
          <p:cNvPr id="29" name="">
            <a:extLst xmlns:a="http://schemas.openxmlformats.org/drawingml/2006/main">
              <a:ext uri="{FF2B5EF4-FFF2-40B4-BE49-F238E27FC236}">
                <a16:creationId xmlns:a16="http://schemas.microsoft.com/office/drawing/2014/main" id="{336DE10E-1820-4B4E-B705-27A90788D46E}"/>
              </a:ext>
            </a:extLst>
          </p:cNvPr>
          <p:cNvPicPr>
            <a:picLocks xmlns:a="http://schemas.openxmlformats.org/drawingml/2006/main" noChangeAspect="1"/>
          </p:cNvPicPr>
          <p:nvPr/>
        </p:nvPicPr>
        <p:blipFill>
          <a:blip xmlns:r="http://schemas.openxmlformats.org/officeDocument/2006/relationships" xmlns:a="http://schemas.openxmlformats.org/drawingml/2006/main" r:embed="Ra5d57eadd4a24024">
            <a:extLst>
              <a:ext uri="{96DAC541-7B7A-43D3-8B79-37D633B846F1}">
                <asvg:svgBlip xmlns:asvg="http://schemas.microsoft.com/office/drawing/2016/SVG/main" r:embed="R43c0fe98aa5a4da9"/>
              </a:ext>
            </a:extLst>
          </a:blip>
          <a:stretch xmlns:a="http://schemas.openxmlformats.org/drawingml/2006/main"/>
        </p:blipFill>
        <p:spPr>
          <a:xfrm xmlns:a="http://schemas.openxmlformats.org/drawingml/2006/main">
            <a:off x="929640" y="8625840"/>
            <a:ext cx="327660" cy="327660"/>
          </a:xfrm>
          <a:prstGeom xmlns:a="http://schemas.openxmlformats.org/drawingml/2006/main" prst="rect">
            <a:avLst/>
          </a:prstGeom>
        </p:spPr>
      </p:pic>
      <p:sp>
        <p:nvSpPr>
          <p:cNvPr id="30" name="WET LAB = BUILD + TEST">
            <a:extLst xmlns:a="http://schemas.openxmlformats.org/drawingml/2006/main">
              <a:ext uri="{FF2B5EF4-FFF2-40B4-BE49-F238E27FC236}">
                <a16:creationId xmlns:a16="http://schemas.microsoft.com/office/drawing/2014/main" id="{422AD2CA-4E6F-46FB-B297-41F7A0D69F9A}"/>
              </a:ext>
            </a:extLst>
          </p:cNvPr>
          <p:cNvSpPr>
            <a:spLocks xmlns:a="http://schemas.openxmlformats.org/drawingml/2006/main" noGrp="1"/>
          </p:cNvSpPr>
          <p:nvPr/>
        </p:nvSpPr>
        <p:spPr>
          <a:xfrm xmlns:a="http://schemas.openxmlformats.org/drawingml/2006/main">
            <a:off x="1447800" y="8663940"/>
            <a:ext cx="43434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40" b="1">
                <a:solidFill>
                  <a:srgbClr val="00355F"/>
                </a:solidFill>
                <a:latin typeface="Arial"/>
                <a:ea typeface="Arial"/>
                <a:cs typeface="Arial"/>
              </a:defRPr>
            </a:defPPr>
          </a:lstStyle>
          <a:p xmlns:a="http://schemas.openxmlformats.org/drawingml/2006/main">
            <a:pPr algn="l">
              <a:buNone/>
              <a:defRPr sz="1740" b="1">
                <a:solidFill>
                  <a:srgbClr val="00355F"/>
                </a:solidFill>
                <a:latin typeface="Arial"/>
                <a:ea typeface="Arial"/>
                <a:cs typeface="Arial"/>
              </a:defRPr>
            </a:pPr>
            <a:r>
              <a:rPr sz="1740" b="1">
                <a:solidFill>
                  <a:srgbClr val="00355F"/>
                </a:solidFill>
                <a:latin typeface="Arial"/>
                <a:ea typeface="Arial"/>
                <a:cs typeface="Arial"/>
              </a:rPr>
              <a:t>WET LAB = BUILD + TEST</a:t>
            </a:r>
          </a:p>
        </p:txBody>
      </p:sp>
      <p:sp>
        <p:nvSpPr>
          <p:cNvPr id="31" name="Funnel widths are schematic.">
            <a:extLst xmlns:a="http://schemas.openxmlformats.org/drawingml/2006/main">
              <a:ext uri="{FF2B5EF4-FFF2-40B4-BE49-F238E27FC236}">
                <a16:creationId xmlns:a16="http://schemas.microsoft.com/office/drawing/2014/main" id="{8F405FA3-DACE-432E-A681-C1783FD6D5BB}"/>
              </a:ext>
            </a:extLst>
          </p:cNvPr>
          <p:cNvSpPr>
            <a:spLocks xmlns:a="http://schemas.openxmlformats.org/drawingml/2006/main" noGrp="1"/>
          </p:cNvSpPr>
          <p:nvPr/>
        </p:nvSpPr>
        <p:spPr>
          <a:xfrm xmlns:a="http://schemas.openxmlformats.org/drawingml/2006/main">
            <a:off x="762000" y="9304020"/>
            <a:ext cx="5181600" cy="5791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buNone/>
              <a:defRPr sz="1260" b="0">
                <a:solidFill>
                  <a:srgbClr val="00355F"/>
                </a:solidFill>
                <a:latin typeface="Arial"/>
                <a:ea typeface="Arial"/>
                <a:cs typeface="Arial"/>
              </a:defRPr>
            </a:pPr>
            <a:r>
              <a:rPr sz="1260" b="0">
                <a:solidFill>
                  <a:srgbClr val="00355F"/>
                </a:solidFill>
                <a:latin typeface="Arial"/>
                <a:ea typeface="Arial"/>
                <a:cs typeface="Arial"/>
              </a:rPr>
              <a:t>Funnel widths are schematic.</a:t>
            </a:r>
          </a:p>
          <a:p xmlns:a="http://schemas.openxmlformats.org/drawingml/2006/main">
            <a:pPr algn="l">
              <a:buNone/>
              <a:defRPr sz="1260" b="0">
                <a:solidFill>
                  <a:srgbClr val="00355F"/>
                </a:solidFill>
                <a:latin typeface="Arial"/>
                <a:ea typeface="Arial"/>
                <a:cs typeface="Arial"/>
              </a:defRPr>
            </a:pPr>
            <a:r>
              <a:rPr sz="1260" b="0">
                <a:solidFill>
                  <a:srgbClr val="00355F"/>
                </a:solidFill>
                <a:latin typeface="Arial"/>
                <a:ea typeface="Arial"/>
                <a:cs typeface="Arial"/>
              </a:rPr>
              <a:t>Clinical success remains unproven</a:t>
            </a:r>
          </a:p>
          <a:p xmlns:a="http://schemas.openxmlformats.org/drawingml/2006/main">
            <a:pPr algn="l">
              <a:buNone/>
              <a:defRPr sz="1260" b="0">
                <a:solidFill>
                  <a:srgbClr val="00355F"/>
                </a:solidFill>
                <a:latin typeface="Arial"/>
                <a:ea typeface="Arial"/>
                <a:cs typeface="Arial"/>
              </a:defRPr>
            </a:pPr>
            <a:r>
              <a:rPr sz="1260" b="0">
                <a:solidFill>
                  <a:srgbClr val="00355F"/>
                </a:solidFill>
                <a:latin typeface="Arial"/>
                <a:ea typeface="Arial"/>
                <a:cs typeface="Arial"/>
              </a:rPr>
              <a:t>in this scenario.</a:t>
            </a:r>
          </a:p>
        </p:txBody>
      </p:sp>
      <p:sp>
        <p:nvSpPr>
          <p:cNvPr id="32" name="">
            <a:extLst xmlns:a="http://schemas.openxmlformats.org/drawingml/2006/main">
              <a:ext uri="{FF2B5EF4-FFF2-40B4-BE49-F238E27FC236}">
                <a16:creationId xmlns:a16="http://schemas.microsoft.com/office/drawing/2014/main" id="{EEA447D5-EAA6-4D86-8AF1-52C781709928}"/>
              </a:ext>
            </a:extLst>
          </p:cNvPr>
          <p:cNvSpPr>
            <a:spLocks xmlns:a="http://schemas.openxmlformats.org/drawingml/2006/main" noGrp="1"/>
          </p:cNvSpPr>
          <p:nvPr/>
        </p:nvSpPr>
        <p:spPr>
          <a:xfrm xmlns:a="http://schemas.openxmlformats.org/drawingml/2006/main">
            <a:off x="6743700" y="1943100"/>
            <a:ext cx="10782300" cy="7231380"/>
          </a:xfrm>
          <a:prstGeom xmlns:a="http://schemas.openxmlformats.org/drawingml/2006/main" prst="roundRect">
            <a:avLst>
              <a:gd name="adj" fmla="val 1581"/>
            </a:avLst>
          </a:prstGeom>
          <a:solidFill xmlns:a="http://schemas.openxmlformats.org/drawingml/2006/main">
            <a:srgbClr val="F4F9FD"/>
          </a:solidFill>
          <a:ln xmlns:a="http://schemas.openxmlformats.org/drawingml/2006/main" w="7620">
            <a:solidFill>
              <a:srgbClr val="A5A5A5"/>
            </a:solidFill>
          </a:ln>
        </p:spPr>
      </p:sp>
      <p:sp>
        <p:nvSpPr>
          <p:cNvPr id="33" name="The LST ecosystem behind the capacity gate">
            <a:extLst xmlns:a="http://schemas.openxmlformats.org/drawingml/2006/main">
              <a:ext uri="{FF2B5EF4-FFF2-40B4-BE49-F238E27FC236}">
                <a16:creationId xmlns:a16="http://schemas.microsoft.com/office/drawing/2014/main" id="{7782A3B0-28BD-41D0-8811-3E64106229A2}"/>
              </a:ext>
            </a:extLst>
          </p:cNvPr>
          <p:cNvSpPr>
            <a:spLocks xmlns:a="http://schemas.openxmlformats.org/drawingml/2006/main" noGrp="1"/>
          </p:cNvSpPr>
          <p:nvPr/>
        </p:nvSpPr>
        <p:spPr>
          <a:xfrm xmlns:a="http://schemas.openxmlformats.org/drawingml/2006/main">
            <a:off x="6987540" y="2103120"/>
            <a:ext cx="10287000" cy="396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160" b="1">
                <a:solidFill>
                  <a:srgbClr val="00355F"/>
                </a:solidFill>
                <a:latin typeface="Arial"/>
                <a:ea typeface="Arial"/>
                <a:cs typeface="Arial"/>
              </a:defRPr>
            </a:defPPr>
          </a:lstStyle>
          <a:p xmlns:a="http://schemas.openxmlformats.org/drawingml/2006/main">
            <a:pPr algn="l">
              <a:buNone/>
              <a:defRPr sz="2160" b="1">
                <a:solidFill>
                  <a:srgbClr val="00355F"/>
                </a:solidFill>
                <a:latin typeface="Arial"/>
                <a:ea typeface="Arial"/>
                <a:cs typeface="Arial"/>
              </a:defRPr>
            </a:pPr>
            <a:r>
              <a:rPr sz="2160" b="1">
                <a:solidFill>
                  <a:srgbClr val="00355F"/>
                </a:solidFill>
                <a:latin typeface="Arial"/>
                <a:ea typeface="Arial"/>
                <a:cs typeface="Arial"/>
              </a:rPr>
              <a:t>The LST ecosystem behind the capacity gate</a:t>
            </a:r>
          </a:p>
        </p:txBody>
      </p:sp>
      <p:sp>
        <p:nvSpPr>
          <p:cNvPr id="34" name="Selected market anchors · different scopes and years · do not add these values">
            <a:extLst xmlns:a="http://schemas.openxmlformats.org/drawingml/2006/main">
              <a:ext uri="{FF2B5EF4-FFF2-40B4-BE49-F238E27FC236}">
                <a16:creationId xmlns:a16="http://schemas.microsoft.com/office/drawing/2014/main" id="{9757D6E1-FDF7-4BB0-BAB8-C76279B6E9C7}"/>
              </a:ext>
            </a:extLst>
          </p:cNvPr>
          <p:cNvSpPr>
            <a:spLocks xmlns:a="http://schemas.openxmlformats.org/drawingml/2006/main" noGrp="1"/>
          </p:cNvSpPr>
          <p:nvPr/>
        </p:nvSpPr>
        <p:spPr>
          <a:xfrm xmlns:a="http://schemas.openxmlformats.org/drawingml/2006/main">
            <a:off x="6987540" y="2514600"/>
            <a:ext cx="10287000" cy="2362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00" b="0">
                <a:solidFill>
                  <a:srgbClr val="00355F"/>
                </a:solidFill>
                <a:latin typeface="Arial"/>
                <a:ea typeface="Arial"/>
                <a:cs typeface="Arial"/>
              </a:defRPr>
            </a:defPPr>
          </a:lstStyle>
          <a:p xmlns:a="http://schemas.openxmlformats.org/drawingml/2006/main">
            <a:pPr algn="l">
              <a:buNone/>
              <a:defRPr sz="1200" b="0">
                <a:solidFill>
                  <a:srgbClr val="00355F"/>
                </a:solidFill>
                <a:latin typeface="Arial"/>
                <a:ea typeface="Arial"/>
                <a:cs typeface="Arial"/>
              </a:defRPr>
            </a:pPr>
            <a:r>
              <a:rPr sz="1200" b="0">
                <a:solidFill>
                  <a:srgbClr val="00355F"/>
                </a:solidFill>
                <a:latin typeface="Arial"/>
                <a:ea typeface="Arial"/>
                <a:cs typeface="Arial"/>
              </a:rPr>
              <a:t>Selected market anchors · different scopes and years · do not add these values</a:t>
            </a:r>
          </a:p>
        </p:txBody>
      </p:sp>
      <p:sp>
        <p:nvSpPr>
          <p:cNvPr id="35" name="">
            <a:extLst xmlns:a="http://schemas.openxmlformats.org/drawingml/2006/main">
              <a:ext uri="{FF2B5EF4-FFF2-40B4-BE49-F238E27FC236}">
                <a16:creationId xmlns:a16="http://schemas.microsoft.com/office/drawing/2014/main" id="{7A4D78E2-C655-4F17-B637-412B75A8CDF0}"/>
              </a:ext>
            </a:extLst>
          </p:cNvPr>
          <p:cNvSpPr>
            <a:spLocks xmlns:a="http://schemas.openxmlformats.org/drawingml/2006/main" noGrp="1"/>
          </p:cNvSpPr>
          <p:nvPr/>
        </p:nvSpPr>
        <p:spPr>
          <a:xfrm xmlns:a="http://schemas.openxmlformats.org/drawingml/2006/main">
            <a:off x="6987540" y="2842260"/>
            <a:ext cx="3238500" cy="2994660"/>
          </a:xfrm>
          <a:prstGeom xmlns:a="http://schemas.openxmlformats.org/drawingml/2006/main" prst="roundRect">
            <a:avLst>
              <a:gd name="adj" fmla="val 2545"/>
            </a:avLst>
          </a:prstGeom>
          <a:solidFill xmlns:a="http://schemas.openxmlformats.org/drawingml/2006/main">
            <a:srgbClr val="FFFFFF"/>
          </a:solidFill>
          <a:ln xmlns:a="http://schemas.openxmlformats.org/drawingml/2006/main" w="7620">
            <a:solidFill>
              <a:srgbClr val="A5A5A5"/>
            </a:solidFill>
          </a:ln>
        </p:spPr>
      </p:sp>
      <p:pic>
        <p:nvPicPr>
          <p:cNvPr id="36" name="">
            <a:extLst xmlns:a="http://schemas.openxmlformats.org/drawingml/2006/main">
              <a:ext uri="{FF2B5EF4-FFF2-40B4-BE49-F238E27FC236}">
                <a16:creationId xmlns:a16="http://schemas.microsoft.com/office/drawing/2014/main" id="{DB0E7D29-1995-4385-823F-498AEFD1CA86}"/>
              </a:ext>
            </a:extLst>
          </p:cNvPr>
          <p:cNvPicPr>
            <a:picLocks xmlns:a="http://schemas.openxmlformats.org/drawingml/2006/main" noChangeAspect="1"/>
          </p:cNvPicPr>
          <p:nvPr/>
        </p:nvPicPr>
        <p:blipFill>
          <a:blip xmlns:r="http://schemas.openxmlformats.org/officeDocument/2006/relationships" xmlns:a="http://schemas.openxmlformats.org/drawingml/2006/main" r:embed="R89b8274eb9ac453d">
            <a:extLst>
              <a:ext uri="{96DAC541-7B7A-43D3-8B79-37D633B846F1}">
                <asvg:svgBlip xmlns:asvg="http://schemas.microsoft.com/office/drawing/2016/SVG/main" r:embed="Rd8277dbebc4144b7"/>
              </a:ext>
            </a:extLst>
          </a:blip>
          <a:stretch xmlns:a="http://schemas.openxmlformats.org/drawingml/2006/main"/>
        </p:blipFill>
        <p:spPr>
          <a:xfrm xmlns:a="http://schemas.openxmlformats.org/drawingml/2006/main">
            <a:off x="7124700" y="2987040"/>
            <a:ext cx="289560" cy="289560"/>
          </a:xfrm>
          <a:prstGeom xmlns:a="http://schemas.openxmlformats.org/drawingml/2006/main" prst="rect">
            <a:avLst/>
          </a:prstGeom>
        </p:spPr>
      </p:pic>
      <p:sp>
        <p:nvSpPr>
          <p:cNvPr id="37" name="Molecular construction">
            <a:extLst xmlns:a="http://schemas.openxmlformats.org/drawingml/2006/main">
              <a:ext uri="{FF2B5EF4-FFF2-40B4-BE49-F238E27FC236}">
                <a16:creationId xmlns:a16="http://schemas.microsoft.com/office/drawing/2014/main" id="{63E4DD47-C636-4639-96F0-434A108271EC}"/>
              </a:ext>
            </a:extLst>
          </p:cNvPr>
          <p:cNvSpPr>
            <a:spLocks xmlns:a="http://schemas.openxmlformats.org/drawingml/2006/main" noGrp="1"/>
          </p:cNvSpPr>
          <p:nvPr/>
        </p:nvSpPr>
        <p:spPr>
          <a:xfrm xmlns:a="http://schemas.openxmlformats.org/drawingml/2006/main">
            <a:off x="7551420" y="3017520"/>
            <a:ext cx="254508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60" b="1">
                <a:solidFill>
                  <a:srgbClr val="00355F"/>
                </a:solidFill>
                <a:latin typeface="Arial"/>
                <a:ea typeface="Arial"/>
                <a:cs typeface="Arial"/>
              </a:defRPr>
            </a:defPPr>
          </a:lstStyle>
          <a:p xmlns:a="http://schemas.openxmlformats.org/drawingml/2006/main">
            <a:pPr algn="l">
              <a:buNone/>
              <a:defRPr sz="1560" b="1">
                <a:solidFill>
                  <a:srgbClr val="00355F"/>
                </a:solidFill>
                <a:latin typeface="Arial"/>
                <a:ea typeface="Arial"/>
                <a:cs typeface="Arial"/>
              </a:defRPr>
            </a:pPr>
            <a:r>
              <a:rPr sz="1560" b="1">
                <a:solidFill>
                  <a:srgbClr val="00355F"/>
                </a:solidFill>
                <a:latin typeface="Arial"/>
                <a:ea typeface="Arial"/>
                <a:cs typeface="Arial"/>
              </a:rPr>
              <a:t>Molecular construction</a:t>
            </a:r>
          </a:p>
        </p:txBody>
      </p:sp>
      <p:sp>
        <p:nvSpPr>
          <p:cNvPr id="38" name="DNA / RNA synthesis, enzymes">
            <a:extLst xmlns:a="http://schemas.openxmlformats.org/drawingml/2006/main">
              <a:ext uri="{FF2B5EF4-FFF2-40B4-BE49-F238E27FC236}">
                <a16:creationId xmlns:a16="http://schemas.microsoft.com/office/drawing/2014/main" id="{CB64AF39-81DF-4C0D-80BE-E9945D9A3610}"/>
              </a:ext>
            </a:extLst>
          </p:cNvPr>
          <p:cNvSpPr>
            <a:spLocks xmlns:a="http://schemas.openxmlformats.org/drawingml/2006/main" noGrp="1"/>
          </p:cNvSpPr>
          <p:nvPr/>
        </p:nvSpPr>
        <p:spPr>
          <a:xfrm xmlns:a="http://schemas.openxmlformats.org/drawingml/2006/main">
            <a:off x="7139940" y="3390900"/>
            <a:ext cx="2933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buNone/>
              <a:defRPr sz="1260" b="0">
                <a:solidFill>
                  <a:srgbClr val="00355F"/>
                </a:solidFill>
                <a:latin typeface="Arial"/>
                <a:ea typeface="Arial"/>
                <a:cs typeface="Arial"/>
              </a:defRPr>
            </a:pPr>
            <a:r>
              <a:rPr sz="1260" b="0">
                <a:solidFill>
                  <a:srgbClr val="00355F"/>
                </a:solidFill>
                <a:latin typeface="Arial"/>
                <a:ea typeface="Arial"/>
                <a:cs typeface="Arial"/>
              </a:rPr>
              <a:t>DNA / RNA synthesis, enzymes</a:t>
            </a:r>
          </a:p>
          <a:p xmlns:a="http://schemas.openxmlformats.org/drawingml/2006/main">
            <a:pPr algn="l">
              <a:buNone/>
              <a:defRPr sz="1260" b="0">
                <a:solidFill>
                  <a:srgbClr val="00355F"/>
                </a:solidFill>
                <a:latin typeface="Arial"/>
                <a:ea typeface="Arial"/>
                <a:cs typeface="Arial"/>
              </a:defRPr>
            </a:pPr>
            <a:r>
              <a:rPr sz="1260" b="0">
                <a:solidFill>
                  <a:srgbClr val="00355F"/>
                </a:solidFill>
                <a:latin typeface="Arial"/>
                <a:ea typeface="Arial"/>
                <a:cs typeface="Arial"/>
              </a:rPr>
              <a:t>Chemical building blocks</a:t>
            </a:r>
          </a:p>
        </p:txBody>
      </p:sp>
      <p:sp>
        <p:nvSpPr>
          <p:cNvPr id="39" name="RMB 1.33bn">
            <a:extLst xmlns:a="http://schemas.openxmlformats.org/drawingml/2006/main">
              <a:ext uri="{FF2B5EF4-FFF2-40B4-BE49-F238E27FC236}">
                <a16:creationId xmlns:a16="http://schemas.microsoft.com/office/drawing/2014/main" id="{656DD2E5-1767-4D83-A293-797496549523}"/>
              </a:ext>
            </a:extLst>
          </p:cNvPr>
          <p:cNvSpPr>
            <a:spLocks xmlns:a="http://schemas.openxmlformats.org/drawingml/2006/main" noGrp="1"/>
          </p:cNvSpPr>
          <p:nvPr/>
        </p:nvSpPr>
        <p:spPr>
          <a:xfrm xmlns:a="http://schemas.openxmlformats.org/drawingml/2006/main">
            <a:off x="7139940" y="3870960"/>
            <a:ext cx="2933700" cy="358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220" b="1">
                <a:solidFill>
                  <a:srgbClr val="00355F"/>
                </a:solidFill>
                <a:latin typeface="Arial"/>
                <a:ea typeface="Arial"/>
                <a:cs typeface="Arial"/>
              </a:defRPr>
            </a:defPPr>
          </a:lstStyle>
          <a:p xmlns:a="http://schemas.openxmlformats.org/drawingml/2006/main">
            <a:pPr algn="l">
              <a:buNone/>
              <a:defRPr sz="2220" b="1">
                <a:solidFill>
                  <a:srgbClr val="00355F"/>
                </a:solidFill>
                <a:latin typeface="Arial"/>
                <a:ea typeface="Arial"/>
                <a:cs typeface="Arial"/>
              </a:defRPr>
            </a:pPr>
            <a:r>
              <a:rPr sz="2220" b="1">
                <a:solidFill>
                  <a:srgbClr val="00355F"/>
                </a:solidFill>
                <a:latin typeface="Arial"/>
                <a:ea typeface="Arial"/>
                <a:cs typeface="Arial"/>
              </a:rPr>
              <a:t>RMB 1.33bn</a:t>
            </a:r>
          </a:p>
        </p:txBody>
      </p:sp>
      <p:sp>
        <p:nvSpPr>
          <p:cNvPr id="40" name="China • 2025 • DNA synthesis services [1]">
            <a:extLst xmlns:a="http://schemas.openxmlformats.org/drawingml/2006/main">
              <a:ext uri="{FF2B5EF4-FFF2-40B4-BE49-F238E27FC236}">
                <a16:creationId xmlns:a16="http://schemas.microsoft.com/office/drawing/2014/main" id="{0D08DFEC-677D-4951-96AF-4D7837A7E56A}"/>
              </a:ext>
            </a:extLst>
          </p:cNvPr>
          <p:cNvSpPr>
            <a:spLocks xmlns:a="http://schemas.openxmlformats.org/drawingml/2006/main" noGrp="1"/>
          </p:cNvSpPr>
          <p:nvPr/>
        </p:nvSpPr>
        <p:spPr>
          <a:xfrm xmlns:a="http://schemas.openxmlformats.org/drawingml/2006/main">
            <a:off x="7139940" y="4251960"/>
            <a:ext cx="2933700" cy="220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buNone/>
              <a:defRPr sz="1050" b="0">
                <a:solidFill>
                  <a:srgbClr val="00355F"/>
                </a:solidFill>
                <a:latin typeface="Arial"/>
                <a:ea typeface="Arial"/>
                <a:cs typeface="Arial"/>
              </a:defRPr>
            </a:pPr>
            <a:r>
              <a:rPr sz="1050" b="0">
                <a:solidFill>
                  <a:srgbClr val="00355F"/>
                </a:solidFill>
                <a:latin typeface="Arial"/>
                <a:ea typeface="Arial"/>
                <a:cs typeface="Arial"/>
              </a:rPr>
              <a:t>China • 2025 • DNA synthesis services [1]</a:t>
            </a:r>
          </a:p>
        </p:txBody>
      </p:sp>
      <p:sp>
        <p:nvSpPr>
          <p:cNvPr id="41" name="Oligos + long fragments only">
            <a:extLst xmlns:a="http://schemas.openxmlformats.org/drawingml/2006/main">
              <a:ext uri="{FF2B5EF4-FFF2-40B4-BE49-F238E27FC236}">
                <a16:creationId xmlns:a16="http://schemas.microsoft.com/office/drawing/2014/main" id="{3A9A03E6-6143-4C2E-8078-BC07F62C2744}"/>
              </a:ext>
            </a:extLst>
          </p:cNvPr>
          <p:cNvSpPr>
            <a:spLocks xmlns:a="http://schemas.openxmlformats.org/drawingml/2006/main" noGrp="1"/>
          </p:cNvSpPr>
          <p:nvPr/>
        </p:nvSpPr>
        <p:spPr>
          <a:xfrm xmlns:a="http://schemas.openxmlformats.org/drawingml/2006/main">
            <a:off x="7139940" y="4472940"/>
            <a:ext cx="293370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0">
                <a:solidFill>
                  <a:srgbClr val="00355F"/>
                </a:solidFill>
                <a:latin typeface="Arial"/>
                <a:ea typeface="Arial"/>
                <a:cs typeface="Arial"/>
              </a:defRPr>
            </a:defPPr>
          </a:lstStyle>
          <a:p xmlns:a="http://schemas.openxmlformats.org/drawingml/2006/main">
            <a:pPr algn="l">
              <a:buNone/>
              <a:defRPr sz="990" b="0">
                <a:solidFill>
                  <a:srgbClr val="00355F"/>
                </a:solidFill>
                <a:latin typeface="Arial"/>
                <a:ea typeface="Arial"/>
                <a:cs typeface="Arial"/>
              </a:defRPr>
            </a:pPr>
            <a:r>
              <a:rPr sz="990" b="0">
                <a:solidFill>
                  <a:srgbClr val="00355F"/>
                </a:solidFill>
                <a:latin typeface="Arial"/>
                <a:ea typeface="Arial"/>
                <a:cs typeface="Arial"/>
              </a:rPr>
              <a:t>Oligos + long fragments only</a:t>
            </a:r>
          </a:p>
        </p:txBody>
      </p:sp>
      <p:pic>
        <p:nvPicPr>
          <p:cNvPr id="42" name="">
            <a:extLst xmlns:a="http://schemas.openxmlformats.org/drawingml/2006/main">
              <a:ext uri="{FF2B5EF4-FFF2-40B4-BE49-F238E27FC236}">
                <a16:creationId xmlns:a16="http://schemas.microsoft.com/office/drawing/2014/main" id="{B5DB6EBF-6EA3-42B6-8E15-ACF580B5C114}"/>
              </a:ext>
            </a:extLst>
          </p:cNvPr>
          <p:cNvPicPr>
            <a:picLocks xmlns:a="http://schemas.openxmlformats.org/drawingml/2006/main" noChangeAspect="1"/>
          </p:cNvPicPr>
          <p:nvPr/>
        </p:nvPicPr>
        <p:blipFill>
          <a:blip xmlns:r="http://schemas.openxmlformats.org/officeDocument/2006/relationships" xmlns:a="http://schemas.openxmlformats.org/drawingml/2006/main" r:embed="Rbb26a54706d34495"/>
          <a:stretch xmlns:a="http://schemas.openxmlformats.org/drawingml/2006/main"/>
        </p:blipFill>
        <p:spPr>
          <a:xfrm xmlns:a="http://schemas.openxmlformats.org/drawingml/2006/main">
            <a:off x="7266971" y="4724400"/>
            <a:ext cx="713678" cy="304800"/>
          </a:xfrm>
          <a:prstGeom xmlns:a="http://schemas.openxmlformats.org/drawingml/2006/main" prst="rect">
            <a:avLst/>
          </a:prstGeom>
        </p:spPr>
      </p:pic>
      <p:pic>
        <p:nvPicPr>
          <p:cNvPr id="43" name="">
            <a:extLst xmlns:a="http://schemas.openxmlformats.org/drawingml/2006/main">
              <a:ext uri="{FF2B5EF4-FFF2-40B4-BE49-F238E27FC236}">
                <a16:creationId xmlns:a16="http://schemas.microsoft.com/office/drawing/2014/main" id="{FF3C6951-2F8F-42F6-9FD7-89096F215B09}"/>
              </a:ext>
            </a:extLst>
          </p:cNvPr>
          <p:cNvPicPr>
            <a:picLocks xmlns:a="http://schemas.openxmlformats.org/drawingml/2006/main" noChangeAspect="1"/>
          </p:cNvPicPr>
          <p:nvPr/>
        </p:nvPicPr>
        <p:blipFill>
          <a:blip xmlns:r="http://schemas.openxmlformats.org/officeDocument/2006/relationships" xmlns:a="http://schemas.openxmlformats.org/drawingml/2006/main" r:embed="R43801d5b5c014741"/>
          <a:stretch xmlns:a="http://schemas.openxmlformats.org/drawingml/2006/main"/>
        </p:blipFill>
        <p:spPr>
          <a:xfrm xmlns:a="http://schemas.openxmlformats.org/drawingml/2006/main">
            <a:off x="8309187" y="4724400"/>
            <a:ext cx="1075267" cy="304800"/>
          </a:xfrm>
          <a:prstGeom xmlns:a="http://schemas.openxmlformats.org/drawingml/2006/main" prst="rect">
            <a:avLst/>
          </a:prstGeom>
        </p:spPr>
      </p:pic>
      <p:sp>
        <p:nvSpPr>
          <p:cNvPr id="44" name="CHINA / HK LISTINGS">
            <a:extLst xmlns:a="http://schemas.openxmlformats.org/drawingml/2006/main">
              <a:ext uri="{FF2B5EF4-FFF2-40B4-BE49-F238E27FC236}">
                <a16:creationId xmlns:a16="http://schemas.microsoft.com/office/drawing/2014/main" id="{22D9E52A-D695-4E72-A3C8-BB2B9EB3D8FF}"/>
              </a:ext>
            </a:extLst>
          </p:cNvPr>
          <p:cNvSpPr>
            <a:spLocks xmlns:a="http://schemas.openxmlformats.org/drawingml/2006/main" noGrp="1"/>
          </p:cNvSpPr>
          <p:nvPr/>
        </p:nvSpPr>
        <p:spPr>
          <a:xfrm xmlns:a="http://schemas.openxmlformats.org/drawingml/2006/main">
            <a:off x="7139940" y="5113020"/>
            <a:ext cx="1531620" cy="1752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70" b="1">
                <a:solidFill>
                  <a:srgbClr val="00355F"/>
                </a:solidFill>
                <a:latin typeface="Arial"/>
                <a:ea typeface="Arial"/>
                <a:cs typeface="Arial"/>
              </a:defRPr>
            </a:defPPr>
          </a:lstStyle>
          <a:p xmlns:a="http://schemas.openxmlformats.org/drawingml/2006/main">
            <a:pPr algn="l">
              <a:buNone/>
              <a:defRPr sz="870" b="1">
                <a:solidFill>
                  <a:srgbClr val="00355F"/>
                </a:solidFill>
                <a:latin typeface="Arial"/>
                <a:ea typeface="Arial"/>
                <a:cs typeface="Arial"/>
              </a:defRPr>
            </a:pPr>
            <a:r>
              <a:rPr sz="870" b="1">
                <a:solidFill>
                  <a:srgbClr val="00355F"/>
                </a:solidFill>
                <a:latin typeface="Arial"/>
                <a:ea typeface="Arial"/>
                <a:cs typeface="Arial"/>
              </a:rPr>
              <a:t>CHINA / HK LISTINGS</a:t>
            </a:r>
          </a:p>
        </p:txBody>
      </p:sp>
      <p:sp>
        <p:nvSpPr>
          <p:cNvPr id="45" name="US LISTINGS / PARENTS">
            <a:extLst xmlns:a="http://schemas.openxmlformats.org/drawingml/2006/main">
              <a:ext uri="{FF2B5EF4-FFF2-40B4-BE49-F238E27FC236}">
                <a16:creationId xmlns:a16="http://schemas.microsoft.com/office/drawing/2014/main" id="{3E7F2547-C497-475E-A859-BD4A8D2626FC}"/>
              </a:ext>
            </a:extLst>
          </p:cNvPr>
          <p:cNvSpPr>
            <a:spLocks xmlns:a="http://schemas.openxmlformats.org/drawingml/2006/main" noGrp="1"/>
          </p:cNvSpPr>
          <p:nvPr/>
        </p:nvSpPr>
        <p:spPr>
          <a:xfrm xmlns:a="http://schemas.openxmlformats.org/drawingml/2006/main">
            <a:off x="8778240" y="5113020"/>
            <a:ext cx="1325880" cy="1752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40" b="1">
                <a:solidFill>
                  <a:srgbClr val="00355F"/>
                </a:solidFill>
                <a:latin typeface="Arial"/>
                <a:ea typeface="Arial"/>
                <a:cs typeface="Arial"/>
              </a:defRPr>
            </a:defPPr>
          </a:lstStyle>
          <a:p xmlns:a="http://schemas.openxmlformats.org/drawingml/2006/main">
            <a:pPr algn="l">
              <a:buNone/>
              <a:defRPr sz="840" b="1">
                <a:solidFill>
                  <a:srgbClr val="00355F"/>
                </a:solidFill>
                <a:latin typeface="Arial"/>
                <a:ea typeface="Arial"/>
                <a:cs typeface="Arial"/>
              </a:defRPr>
            </a:pPr>
            <a:r>
              <a:rPr sz="840" b="1">
                <a:solidFill>
                  <a:srgbClr val="00355F"/>
                </a:solidFill>
                <a:latin typeface="Arial"/>
                <a:ea typeface="Arial"/>
                <a:cs typeface="Arial"/>
              </a:rPr>
              <a:t>US LISTINGS / PARENTS</a:t>
            </a:r>
          </a:p>
        </p:txBody>
      </p:sp>
      <p:sp>
        <p:nvSpPr>
          <p:cNvPr id="46" name="GenScript · 1548.HK">
            <a:extLst xmlns:a="http://schemas.openxmlformats.org/drawingml/2006/main">
              <a:ext uri="{FF2B5EF4-FFF2-40B4-BE49-F238E27FC236}">
                <a16:creationId xmlns:a16="http://schemas.microsoft.com/office/drawing/2014/main" id="{CBB04C80-46D9-4326-ABDF-2417DE48871E}"/>
              </a:ext>
            </a:extLst>
          </p:cNvPr>
          <p:cNvSpPr>
            <a:spLocks xmlns:a="http://schemas.openxmlformats.org/drawingml/2006/main" noGrp="1"/>
          </p:cNvSpPr>
          <p:nvPr/>
        </p:nvSpPr>
        <p:spPr>
          <a:xfrm xmlns:a="http://schemas.openxmlformats.org/drawingml/2006/main">
            <a:off x="7139940" y="5334000"/>
            <a:ext cx="1584960"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buNone/>
              <a:defRPr sz="1020" b="0">
                <a:solidFill>
                  <a:srgbClr val="00355F"/>
                </a:solidFill>
                <a:latin typeface="Arial"/>
                <a:ea typeface="Arial"/>
                <a:cs typeface="Arial"/>
              </a:defRPr>
            </a:pPr>
            <a:r>
              <a:rPr sz="1020" b="0">
                <a:solidFill>
                  <a:srgbClr val="00355F"/>
                </a:solidFill>
                <a:latin typeface="Arial"/>
                <a:ea typeface="Arial"/>
                <a:cs typeface="Arial"/>
              </a:rPr>
              <a:t>GenScript · 1548.HK</a:t>
            </a:r>
          </a:p>
          <a:p xmlns:a="http://schemas.openxmlformats.org/drawingml/2006/main">
            <a:pPr algn="l">
              <a:buNone/>
              <a:defRPr sz="1020" b="0">
                <a:solidFill>
                  <a:srgbClr val="00355F"/>
                </a:solidFill>
                <a:latin typeface="Arial"/>
                <a:ea typeface="Arial"/>
                <a:cs typeface="Arial"/>
              </a:defRPr>
            </a:pPr>
            <a:r>
              <a:rPr sz="1020" b="0">
                <a:solidFill>
                  <a:srgbClr val="00355F"/>
                </a:solidFill>
                <a:latin typeface="Arial"/>
                <a:ea typeface="Arial"/>
                <a:cs typeface="Arial"/>
              </a:rPr>
              <a:t>Vazyme · 688105.SH</a:t>
            </a:r>
          </a:p>
          <a:p xmlns:a="http://schemas.openxmlformats.org/drawingml/2006/main">
            <a:pPr algn="l">
              <a:buNone/>
              <a:defRPr sz="1020" b="0">
                <a:solidFill>
                  <a:srgbClr val="00355F"/>
                </a:solidFill>
                <a:latin typeface="Arial"/>
                <a:ea typeface="Arial"/>
                <a:cs typeface="Arial"/>
              </a:defRPr>
            </a:pPr>
            <a:r>
              <a:rPr sz="1020" b="0">
                <a:solidFill>
                  <a:srgbClr val="00355F"/>
                </a:solidFill>
                <a:latin typeface="Arial"/>
                <a:ea typeface="Arial"/>
                <a:cs typeface="Arial"/>
              </a:rPr>
              <a:t>Tsingke · NEEQ:874813</a:t>
            </a:r>
          </a:p>
        </p:txBody>
      </p:sp>
      <p:sp>
        <p:nvSpPr>
          <p:cNvPr id="47" name="Twist · TWST">
            <a:extLst xmlns:a="http://schemas.openxmlformats.org/drawingml/2006/main">
              <a:ext uri="{FF2B5EF4-FFF2-40B4-BE49-F238E27FC236}">
                <a16:creationId xmlns:a16="http://schemas.microsoft.com/office/drawing/2014/main" id="{749D61CA-79B5-4A08-ACCC-8A42A7C745B0}"/>
              </a:ext>
            </a:extLst>
          </p:cNvPr>
          <p:cNvSpPr>
            <a:spLocks xmlns:a="http://schemas.openxmlformats.org/drawingml/2006/main" noGrp="1"/>
          </p:cNvSpPr>
          <p:nvPr/>
        </p:nvSpPr>
        <p:spPr>
          <a:xfrm xmlns:a="http://schemas.openxmlformats.org/drawingml/2006/main">
            <a:off x="8778240" y="5334000"/>
            <a:ext cx="1325880"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buNone/>
              <a:defRPr sz="972" b="0">
                <a:solidFill>
                  <a:srgbClr val="00355F"/>
                </a:solidFill>
                <a:latin typeface="Arial"/>
                <a:ea typeface="Arial"/>
                <a:cs typeface="Arial"/>
              </a:defRPr>
            </a:pPr>
            <a:r>
              <a:rPr sz="972" b="0">
                <a:solidFill>
                  <a:srgbClr val="00355F"/>
                </a:solidFill>
                <a:latin typeface="Arial"/>
                <a:ea typeface="Arial"/>
                <a:cs typeface="Arial"/>
              </a:rPr>
              <a:t>Twist · TWST</a:t>
            </a:r>
          </a:p>
          <a:p xmlns:a="http://schemas.openxmlformats.org/drawingml/2006/main">
            <a:pPr algn="l">
              <a:buNone/>
              <a:defRPr sz="972" b="0">
                <a:solidFill>
                  <a:srgbClr val="00355F"/>
                </a:solidFill>
                <a:latin typeface="Arial"/>
                <a:ea typeface="Arial"/>
                <a:cs typeface="Arial"/>
              </a:defRPr>
            </a:pPr>
            <a:r>
              <a:rPr sz="972" b="0">
                <a:solidFill>
                  <a:srgbClr val="00355F"/>
                </a:solidFill>
                <a:latin typeface="Arial"/>
                <a:ea typeface="Arial"/>
                <a:cs typeface="Arial"/>
              </a:rPr>
              <a:t>Thermo Fisher · TMO</a:t>
            </a:r>
          </a:p>
        </p:txBody>
      </p:sp>
      <p:sp>
        <p:nvSpPr>
          <p:cNvPr id="48" name="">
            <a:extLst xmlns:a="http://schemas.openxmlformats.org/drawingml/2006/main">
              <a:ext uri="{FF2B5EF4-FFF2-40B4-BE49-F238E27FC236}">
                <a16:creationId xmlns:a16="http://schemas.microsoft.com/office/drawing/2014/main" id="{66326342-1666-480B-BF8F-7FCBE9468284}"/>
              </a:ext>
            </a:extLst>
          </p:cNvPr>
          <p:cNvSpPr>
            <a:spLocks xmlns:a="http://schemas.openxmlformats.org/drawingml/2006/main" noGrp="1"/>
          </p:cNvSpPr>
          <p:nvPr/>
        </p:nvSpPr>
        <p:spPr>
          <a:xfrm xmlns:a="http://schemas.openxmlformats.org/drawingml/2006/main">
            <a:off x="10515600" y="2842260"/>
            <a:ext cx="3238500" cy="2994660"/>
          </a:xfrm>
          <a:prstGeom xmlns:a="http://schemas.openxmlformats.org/drawingml/2006/main" prst="roundRect">
            <a:avLst>
              <a:gd name="adj" fmla="val 2545"/>
            </a:avLst>
          </a:prstGeom>
          <a:solidFill xmlns:a="http://schemas.openxmlformats.org/drawingml/2006/main">
            <a:srgbClr val="FFFFFF"/>
          </a:solidFill>
          <a:ln xmlns:a="http://schemas.openxmlformats.org/drawingml/2006/main" w="15240">
            <a:solidFill>
              <a:srgbClr val="00355F"/>
            </a:solidFill>
          </a:ln>
        </p:spPr>
      </p:sp>
      <p:pic>
        <p:nvPicPr>
          <p:cNvPr id="49" name="">
            <a:extLst xmlns:a="http://schemas.openxmlformats.org/drawingml/2006/main">
              <a:ext uri="{FF2B5EF4-FFF2-40B4-BE49-F238E27FC236}">
                <a16:creationId xmlns:a16="http://schemas.microsoft.com/office/drawing/2014/main" id="{6C3C5E09-BCFA-4C1F-80B5-919EBC13943A}"/>
              </a:ext>
            </a:extLst>
          </p:cNvPr>
          <p:cNvPicPr>
            <a:picLocks xmlns:a="http://schemas.openxmlformats.org/drawingml/2006/main" noChangeAspect="1"/>
          </p:cNvPicPr>
          <p:nvPr/>
        </p:nvPicPr>
        <p:blipFill>
          <a:blip xmlns:r="http://schemas.openxmlformats.org/officeDocument/2006/relationships" xmlns:a="http://schemas.openxmlformats.org/drawingml/2006/main" r:embed="Rbb26a54706d34495">
            <a:extLst>
              <a:ext uri="{96DAC541-7B7A-43D3-8B79-37D633B846F1}">
                <asvg:svgBlip xmlns:asvg="http://schemas.microsoft.com/office/drawing/2016/SVG/main" r:embed="Rf5757dcd54144e1c"/>
              </a:ext>
            </a:extLst>
          </a:blip>
          <a:stretch xmlns:a="http://schemas.openxmlformats.org/drawingml/2006/main"/>
        </p:blipFill>
        <p:spPr>
          <a:xfrm xmlns:a="http://schemas.openxmlformats.org/drawingml/2006/main">
            <a:off x="10652760" y="2987040"/>
            <a:ext cx="289560" cy="289560"/>
          </a:xfrm>
          <a:prstGeom xmlns:a="http://schemas.openxmlformats.org/drawingml/2006/main" prst="rect">
            <a:avLst/>
          </a:prstGeom>
        </p:spPr>
      </p:pic>
      <p:sp>
        <p:nvSpPr>
          <p:cNvPr id="50" name="Protein &amp; functional assays">
            <a:extLst xmlns:a="http://schemas.openxmlformats.org/drawingml/2006/main">
              <a:ext uri="{FF2B5EF4-FFF2-40B4-BE49-F238E27FC236}">
                <a16:creationId xmlns:a16="http://schemas.microsoft.com/office/drawing/2014/main" id="{19F07BF1-281C-46C7-B424-CCAF94491867}"/>
              </a:ext>
            </a:extLst>
          </p:cNvPr>
          <p:cNvSpPr>
            <a:spLocks xmlns:a="http://schemas.openxmlformats.org/drawingml/2006/main" noGrp="1"/>
          </p:cNvSpPr>
          <p:nvPr/>
        </p:nvSpPr>
        <p:spPr>
          <a:xfrm xmlns:a="http://schemas.openxmlformats.org/drawingml/2006/main">
            <a:off x="11079480" y="3017520"/>
            <a:ext cx="254508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60" b="1">
                <a:solidFill>
                  <a:srgbClr val="00355F"/>
                </a:solidFill>
                <a:latin typeface="Arial"/>
                <a:ea typeface="Arial"/>
                <a:cs typeface="Arial"/>
              </a:defRPr>
            </a:defPPr>
          </a:lstStyle>
          <a:p xmlns:a="http://schemas.openxmlformats.org/drawingml/2006/main">
            <a:pPr algn="l">
              <a:buNone/>
              <a:defRPr sz="1560" b="1">
                <a:solidFill>
                  <a:srgbClr val="00355F"/>
                </a:solidFill>
                <a:latin typeface="Arial"/>
                <a:ea typeface="Arial"/>
                <a:cs typeface="Arial"/>
              </a:defRPr>
            </a:pPr>
            <a:r>
              <a:rPr sz="1560" b="1">
                <a:solidFill>
                  <a:srgbClr val="00355F"/>
                </a:solidFill>
                <a:latin typeface="Arial"/>
                <a:ea typeface="Arial"/>
                <a:cs typeface="Arial"/>
              </a:rPr>
              <a:t>Protein &amp; functional assays</a:t>
            </a:r>
          </a:p>
        </p:txBody>
      </p:sp>
      <p:sp>
        <p:nvSpPr>
          <p:cNvPr id="51" name="Recombinant proteins, antibodies">
            <a:extLst xmlns:a="http://schemas.openxmlformats.org/drawingml/2006/main">
              <a:ext uri="{FF2B5EF4-FFF2-40B4-BE49-F238E27FC236}">
                <a16:creationId xmlns:a16="http://schemas.microsoft.com/office/drawing/2014/main" id="{8BC10CC2-37BE-4256-B6F5-9A92053643FB}"/>
              </a:ext>
            </a:extLst>
          </p:cNvPr>
          <p:cNvSpPr>
            <a:spLocks xmlns:a="http://schemas.openxmlformats.org/drawingml/2006/main" noGrp="1"/>
          </p:cNvSpPr>
          <p:nvPr/>
        </p:nvSpPr>
        <p:spPr>
          <a:xfrm xmlns:a="http://schemas.openxmlformats.org/drawingml/2006/main">
            <a:off x="10668000" y="3390900"/>
            <a:ext cx="2933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buNone/>
              <a:defRPr sz="1260" b="0">
                <a:solidFill>
                  <a:srgbClr val="00355F"/>
                </a:solidFill>
                <a:latin typeface="Arial"/>
                <a:ea typeface="Arial"/>
                <a:cs typeface="Arial"/>
              </a:defRPr>
            </a:pPr>
            <a:r>
              <a:rPr sz="1260" b="0">
                <a:solidFill>
                  <a:srgbClr val="00355F"/>
                </a:solidFill>
                <a:latin typeface="Arial"/>
                <a:ea typeface="Arial"/>
                <a:cs typeface="Arial"/>
              </a:rPr>
              <a:t>Recombinant proteins, antibodies</a:t>
            </a:r>
          </a:p>
          <a:p xmlns:a="http://schemas.openxmlformats.org/drawingml/2006/main">
            <a:pPr algn="l">
              <a:buNone/>
              <a:defRPr sz="1260" b="0">
                <a:solidFill>
                  <a:srgbClr val="00355F"/>
                </a:solidFill>
                <a:latin typeface="Arial"/>
                <a:ea typeface="Arial"/>
                <a:cs typeface="Arial"/>
              </a:defRPr>
            </a:pPr>
            <a:r>
              <a:rPr sz="1260" b="0">
                <a:solidFill>
                  <a:srgbClr val="00355F"/>
                </a:solidFill>
                <a:latin typeface="Arial"/>
                <a:ea typeface="Arial"/>
                <a:cs typeface="Arial"/>
              </a:rPr>
              <a:t>Binding and activity assays</a:t>
            </a:r>
          </a:p>
        </p:txBody>
      </p:sp>
      <p:sp>
        <p:nvSpPr>
          <p:cNvPr id="52" name="US$3.5bn">
            <a:extLst xmlns:a="http://schemas.openxmlformats.org/drawingml/2006/main">
              <a:ext uri="{FF2B5EF4-FFF2-40B4-BE49-F238E27FC236}">
                <a16:creationId xmlns:a16="http://schemas.microsoft.com/office/drawing/2014/main" id="{1A594EFA-DCD8-42B4-8193-4E8F3D73B4B3}"/>
              </a:ext>
            </a:extLst>
          </p:cNvPr>
          <p:cNvSpPr>
            <a:spLocks xmlns:a="http://schemas.openxmlformats.org/drawingml/2006/main" noGrp="1"/>
          </p:cNvSpPr>
          <p:nvPr/>
        </p:nvSpPr>
        <p:spPr>
          <a:xfrm xmlns:a="http://schemas.openxmlformats.org/drawingml/2006/main">
            <a:off x="10668000" y="3870960"/>
            <a:ext cx="2933700" cy="358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220" b="1">
                <a:solidFill>
                  <a:srgbClr val="00355F"/>
                </a:solidFill>
                <a:latin typeface="Arial"/>
                <a:ea typeface="Arial"/>
                <a:cs typeface="Arial"/>
              </a:defRPr>
            </a:defPPr>
          </a:lstStyle>
          <a:p xmlns:a="http://schemas.openxmlformats.org/drawingml/2006/main">
            <a:pPr algn="l">
              <a:buNone/>
              <a:defRPr sz="2220" b="1">
                <a:solidFill>
                  <a:srgbClr val="00355F"/>
                </a:solidFill>
                <a:latin typeface="Arial"/>
                <a:ea typeface="Arial"/>
                <a:cs typeface="Arial"/>
              </a:defRPr>
            </a:pPr>
            <a:r>
              <a:rPr sz="2220" b="1">
                <a:solidFill>
                  <a:srgbClr val="00355F"/>
                </a:solidFill>
                <a:latin typeface="Arial"/>
                <a:ea typeface="Arial"/>
                <a:cs typeface="Arial"/>
              </a:rPr>
              <a:t>US$3.5bn</a:t>
            </a:r>
          </a:p>
        </p:txBody>
      </p:sp>
      <p:sp>
        <p:nvSpPr>
          <p:cNvPr id="53" name="Global • 2025 • research proteins [2]">
            <a:extLst xmlns:a="http://schemas.openxmlformats.org/drawingml/2006/main">
              <a:ext uri="{FF2B5EF4-FFF2-40B4-BE49-F238E27FC236}">
                <a16:creationId xmlns:a16="http://schemas.microsoft.com/office/drawing/2014/main" id="{628A3EC5-841C-498A-9F81-9238D4EFEEC0}"/>
              </a:ext>
            </a:extLst>
          </p:cNvPr>
          <p:cNvSpPr>
            <a:spLocks xmlns:a="http://schemas.openxmlformats.org/drawingml/2006/main" noGrp="1"/>
          </p:cNvSpPr>
          <p:nvPr/>
        </p:nvSpPr>
        <p:spPr>
          <a:xfrm xmlns:a="http://schemas.openxmlformats.org/drawingml/2006/main">
            <a:off x="10668000" y="4251960"/>
            <a:ext cx="2933700" cy="220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buNone/>
              <a:defRPr sz="1050" b="0">
                <a:solidFill>
                  <a:srgbClr val="00355F"/>
                </a:solidFill>
                <a:latin typeface="Arial"/>
                <a:ea typeface="Arial"/>
                <a:cs typeface="Arial"/>
              </a:defRPr>
            </a:pPr>
            <a:r>
              <a:rPr sz="1050" b="0">
                <a:solidFill>
                  <a:srgbClr val="00355F"/>
                </a:solidFill>
                <a:latin typeface="Arial"/>
                <a:ea typeface="Arial"/>
                <a:cs typeface="Arial"/>
              </a:rPr>
              <a:t>Global • 2025 • research proteins [2]</a:t>
            </a:r>
          </a:p>
        </p:txBody>
      </p:sp>
      <p:sp>
        <p:nvSpPr>
          <p:cNvPr id="54" name="China: ~US$0.4bn • RUO scope">
            <a:extLst xmlns:a="http://schemas.openxmlformats.org/drawingml/2006/main">
              <a:ext uri="{FF2B5EF4-FFF2-40B4-BE49-F238E27FC236}">
                <a16:creationId xmlns:a16="http://schemas.microsoft.com/office/drawing/2014/main" id="{78195C79-A4B0-4B6B-A972-40B68E956597}"/>
              </a:ext>
            </a:extLst>
          </p:cNvPr>
          <p:cNvSpPr>
            <a:spLocks xmlns:a="http://schemas.openxmlformats.org/drawingml/2006/main" noGrp="1"/>
          </p:cNvSpPr>
          <p:nvPr/>
        </p:nvSpPr>
        <p:spPr>
          <a:xfrm xmlns:a="http://schemas.openxmlformats.org/drawingml/2006/main">
            <a:off x="10668000" y="4472940"/>
            <a:ext cx="293370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0">
                <a:solidFill>
                  <a:srgbClr val="00355F"/>
                </a:solidFill>
                <a:latin typeface="Arial"/>
                <a:ea typeface="Arial"/>
                <a:cs typeface="Arial"/>
              </a:defRPr>
            </a:defPPr>
          </a:lstStyle>
          <a:p xmlns:a="http://schemas.openxmlformats.org/drawingml/2006/main">
            <a:pPr algn="l">
              <a:buNone/>
              <a:defRPr sz="990" b="0">
                <a:solidFill>
                  <a:srgbClr val="00355F"/>
                </a:solidFill>
                <a:latin typeface="Arial"/>
                <a:ea typeface="Arial"/>
                <a:cs typeface="Arial"/>
              </a:defRPr>
            </a:pPr>
            <a:r>
              <a:rPr sz="990" b="0">
                <a:solidFill>
                  <a:srgbClr val="00355F"/>
                </a:solidFill>
                <a:latin typeface="Arial"/>
                <a:ea typeface="Arial"/>
                <a:cs typeface="Arial"/>
              </a:rPr>
              <a:t>China: ~US$0.4bn • RUO scope</a:t>
            </a:r>
          </a:p>
        </p:txBody>
      </p:sp>
      <p:pic>
        <p:nvPicPr>
          <p:cNvPr id="55" name="">
            <a:extLst xmlns:a="http://schemas.openxmlformats.org/drawingml/2006/main">
              <a:ext uri="{FF2B5EF4-FFF2-40B4-BE49-F238E27FC236}">
                <a16:creationId xmlns:a16="http://schemas.microsoft.com/office/drawing/2014/main" id="{284C8592-443D-48A2-94DD-18B53B0C1B8A}"/>
              </a:ext>
            </a:extLst>
          </p:cNvPr>
          <p:cNvPicPr>
            <a:picLocks xmlns:a="http://schemas.openxmlformats.org/drawingml/2006/main" noChangeAspect="1"/>
          </p:cNvPicPr>
          <p:nvPr/>
        </p:nvPicPr>
        <p:blipFill>
          <a:blip xmlns:r="http://schemas.openxmlformats.org/officeDocument/2006/relationships" xmlns:a="http://schemas.openxmlformats.org/drawingml/2006/main" r:embed="R2b52523d4e394751"/>
          <a:stretch xmlns:a="http://schemas.openxmlformats.org/drawingml/2006/main"/>
        </p:blipFill>
        <p:spPr>
          <a:xfrm xmlns:a="http://schemas.openxmlformats.org/drawingml/2006/main">
            <a:off x="10754940" y="4709160"/>
            <a:ext cx="1037699" cy="335280"/>
          </a:xfrm>
          <a:prstGeom xmlns:a="http://schemas.openxmlformats.org/drawingml/2006/main" prst="rect">
            <a:avLst/>
          </a:prstGeom>
        </p:spPr>
      </p:pic>
      <p:sp>
        <p:nvSpPr>
          <p:cNvPr id="56" name="CHINA / HK LISTINGS">
            <a:extLst xmlns:a="http://schemas.openxmlformats.org/drawingml/2006/main">
              <a:ext uri="{FF2B5EF4-FFF2-40B4-BE49-F238E27FC236}">
                <a16:creationId xmlns:a16="http://schemas.microsoft.com/office/drawing/2014/main" id="{09E32DDF-F760-4F7A-A790-D506A5C0F214}"/>
              </a:ext>
            </a:extLst>
          </p:cNvPr>
          <p:cNvSpPr>
            <a:spLocks xmlns:a="http://schemas.openxmlformats.org/drawingml/2006/main" noGrp="1"/>
          </p:cNvSpPr>
          <p:nvPr/>
        </p:nvSpPr>
        <p:spPr>
          <a:xfrm xmlns:a="http://schemas.openxmlformats.org/drawingml/2006/main">
            <a:off x="10668000" y="5113020"/>
            <a:ext cx="1531620" cy="1752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70" b="1">
                <a:solidFill>
                  <a:srgbClr val="00355F"/>
                </a:solidFill>
                <a:latin typeface="Arial"/>
                <a:ea typeface="Arial"/>
                <a:cs typeface="Arial"/>
              </a:defRPr>
            </a:defPPr>
          </a:lstStyle>
          <a:p xmlns:a="http://schemas.openxmlformats.org/drawingml/2006/main">
            <a:pPr algn="l">
              <a:buNone/>
              <a:defRPr sz="870" b="1">
                <a:solidFill>
                  <a:srgbClr val="00355F"/>
                </a:solidFill>
                <a:latin typeface="Arial"/>
                <a:ea typeface="Arial"/>
                <a:cs typeface="Arial"/>
              </a:defRPr>
            </a:pPr>
            <a:r>
              <a:rPr sz="870" b="1">
                <a:solidFill>
                  <a:srgbClr val="00355F"/>
                </a:solidFill>
                <a:latin typeface="Arial"/>
                <a:ea typeface="Arial"/>
                <a:cs typeface="Arial"/>
              </a:rPr>
              <a:t>CHINA / HK LISTINGS</a:t>
            </a:r>
          </a:p>
        </p:txBody>
      </p:sp>
      <p:sp>
        <p:nvSpPr>
          <p:cNvPr id="57" name="US LISTINGS / PARENTS">
            <a:extLst xmlns:a="http://schemas.openxmlformats.org/drawingml/2006/main">
              <a:ext uri="{FF2B5EF4-FFF2-40B4-BE49-F238E27FC236}">
                <a16:creationId xmlns:a16="http://schemas.microsoft.com/office/drawing/2014/main" id="{6B0CF5DB-542C-4622-8FB1-A0611D2AFF3E}"/>
              </a:ext>
            </a:extLst>
          </p:cNvPr>
          <p:cNvSpPr>
            <a:spLocks xmlns:a="http://schemas.openxmlformats.org/drawingml/2006/main" noGrp="1"/>
          </p:cNvSpPr>
          <p:nvPr/>
        </p:nvSpPr>
        <p:spPr>
          <a:xfrm xmlns:a="http://schemas.openxmlformats.org/drawingml/2006/main">
            <a:off x="12306300" y="5113020"/>
            <a:ext cx="1325880" cy="1752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40" b="1">
                <a:solidFill>
                  <a:srgbClr val="00355F"/>
                </a:solidFill>
                <a:latin typeface="Arial"/>
                <a:ea typeface="Arial"/>
                <a:cs typeface="Arial"/>
              </a:defRPr>
            </a:defPPr>
          </a:lstStyle>
          <a:p xmlns:a="http://schemas.openxmlformats.org/drawingml/2006/main">
            <a:pPr algn="l">
              <a:buNone/>
              <a:defRPr sz="840" b="1">
                <a:solidFill>
                  <a:srgbClr val="00355F"/>
                </a:solidFill>
                <a:latin typeface="Arial"/>
                <a:ea typeface="Arial"/>
                <a:cs typeface="Arial"/>
              </a:defRPr>
            </a:pPr>
            <a:r>
              <a:rPr sz="840" b="1">
                <a:solidFill>
                  <a:srgbClr val="00355F"/>
                </a:solidFill>
                <a:latin typeface="Arial"/>
                <a:ea typeface="Arial"/>
                <a:cs typeface="Arial"/>
              </a:rPr>
              <a:t>US LISTINGS / PARENTS</a:t>
            </a:r>
          </a:p>
        </p:txBody>
      </p:sp>
      <p:sp>
        <p:nvSpPr>
          <p:cNvPr id="58" name="ACRO · 301080.SZ">
            <a:extLst xmlns:a="http://schemas.openxmlformats.org/drawingml/2006/main">
              <a:ext uri="{FF2B5EF4-FFF2-40B4-BE49-F238E27FC236}">
                <a16:creationId xmlns:a16="http://schemas.microsoft.com/office/drawing/2014/main" id="{B11AF569-25B3-47AC-A298-525096A8EBD9}"/>
              </a:ext>
            </a:extLst>
          </p:cNvPr>
          <p:cNvSpPr>
            <a:spLocks xmlns:a="http://schemas.openxmlformats.org/drawingml/2006/main" noGrp="1"/>
          </p:cNvSpPr>
          <p:nvPr/>
        </p:nvSpPr>
        <p:spPr>
          <a:xfrm xmlns:a="http://schemas.openxmlformats.org/drawingml/2006/main">
            <a:off x="10668000" y="5334000"/>
            <a:ext cx="1584960"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buNone/>
              <a:defRPr sz="1020" b="0">
                <a:solidFill>
                  <a:srgbClr val="00355F"/>
                </a:solidFill>
                <a:latin typeface="Arial"/>
                <a:ea typeface="Arial"/>
                <a:cs typeface="Arial"/>
              </a:defRPr>
            </a:pPr>
            <a:r>
              <a:rPr sz="1020" b="0">
                <a:solidFill>
                  <a:srgbClr val="00355F"/>
                </a:solidFill>
                <a:latin typeface="Arial"/>
                <a:ea typeface="Arial"/>
                <a:cs typeface="Arial"/>
              </a:rPr>
              <a:t>ACRO · 301080.SZ</a:t>
            </a:r>
          </a:p>
          <a:p xmlns:a="http://schemas.openxmlformats.org/drawingml/2006/main">
            <a:pPr algn="l">
              <a:buNone/>
              <a:defRPr sz="1020" b="0">
                <a:solidFill>
                  <a:srgbClr val="00355F"/>
                </a:solidFill>
                <a:latin typeface="Arial"/>
                <a:ea typeface="Arial"/>
                <a:cs typeface="Arial"/>
              </a:defRPr>
            </a:pPr>
            <a:r>
              <a:rPr sz="1020" b="0">
                <a:solidFill>
                  <a:srgbClr val="00355F"/>
                </a:solidFill>
                <a:latin typeface="Arial"/>
                <a:ea typeface="Arial"/>
                <a:cs typeface="Arial"/>
              </a:rPr>
              <a:t>Sino · 301047.SZ</a:t>
            </a:r>
          </a:p>
        </p:txBody>
      </p:sp>
      <p:sp>
        <p:nvSpPr>
          <p:cNvPr id="59" name="Bio-Techne · TECH">
            <a:extLst xmlns:a="http://schemas.openxmlformats.org/drawingml/2006/main">
              <a:ext uri="{FF2B5EF4-FFF2-40B4-BE49-F238E27FC236}">
                <a16:creationId xmlns:a16="http://schemas.microsoft.com/office/drawing/2014/main" id="{6C89002A-B4C6-4302-9647-163960384B9F}"/>
              </a:ext>
            </a:extLst>
          </p:cNvPr>
          <p:cNvSpPr>
            <a:spLocks xmlns:a="http://schemas.openxmlformats.org/drawingml/2006/main" noGrp="1"/>
          </p:cNvSpPr>
          <p:nvPr/>
        </p:nvSpPr>
        <p:spPr>
          <a:xfrm xmlns:a="http://schemas.openxmlformats.org/drawingml/2006/main">
            <a:off x="12306300" y="5334000"/>
            <a:ext cx="1325880"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buNone/>
              <a:defRPr sz="972" b="0">
                <a:solidFill>
                  <a:srgbClr val="00355F"/>
                </a:solidFill>
                <a:latin typeface="Arial"/>
                <a:ea typeface="Arial"/>
                <a:cs typeface="Arial"/>
              </a:defRPr>
            </a:pPr>
            <a:r>
              <a:rPr sz="972" b="0">
                <a:solidFill>
                  <a:srgbClr val="00355F"/>
                </a:solidFill>
                <a:latin typeface="Arial"/>
                <a:ea typeface="Arial"/>
                <a:cs typeface="Arial"/>
              </a:rPr>
              <a:t>Bio-Techne · TECH</a:t>
            </a:r>
          </a:p>
          <a:p xmlns:a="http://schemas.openxmlformats.org/drawingml/2006/main">
            <a:pPr algn="l">
              <a:buNone/>
              <a:defRPr sz="972" b="0">
                <a:solidFill>
                  <a:srgbClr val="00355F"/>
                </a:solidFill>
                <a:latin typeface="Arial"/>
                <a:ea typeface="Arial"/>
                <a:cs typeface="Arial"/>
              </a:defRPr>
            </a:pPr>
            <a:r>
              <a:rPr sz="972" b="0">
                <a:solidFill>
                  <a:srgbClr val="00355F"/>
                </a:solidFill>
                <a:latin typeface="Arial"/>
                <a:ea typeface="Arial"/>
                <a:cs typeface="Arial"/>
              </a:rPr>
              <a:t>Thermo Fisher · TMO</a:t>
            </a:r>
          </a:p>
        </p:txBody>
      </p:sp>
      <p:sp>
        <p:nvSpPr>
          <p:cNvPr id="60" name="">
            <a:extLst xmlns:a="http://schemas.openxmlformats.org/drawingml/2006/main">
              <a:ext uri="{FF2B5EF4-FFF2-40B4-BE49-F238E27FC236}">
                <a16:creationId xmlns:a16="http://schemas.microsoft.com/office/drawing/2014/main" id="{7919EC2B-E1D6-434F-A524-F82B19109B6A}"/>
              </a:ext>
            </a:extLst>
          </p:cNvPr>
          <p:cNvSpPr>
            <a:spLocks xmlns:a="http://schemas.openxmlformats.org/drawingml/2006/main" noGrp="1"/>
          </p:cNvSpPr>
          <p:nvPr/>
        </p:nvSpPr>
        <p:spPr>
          <a:xfrm xmlns:a="http://schemas.openxmlformats.org/drawingml/2006/main">
            <a:off x="14043660" y="2842260"/>
            <a:ext cx="3238500" cy="2994660"/>
          </a:xfrm>
          <a:prstGeom xmlns:a="http://schemas.openxmlformats.org/drawingml/2006/main" prst="roundRect">
            <a:avLst>
              <a:gd name="adj" fmla="val 2545"/>
            </a:avLst>
          </a:prstGeom>
          <a:solidFill xmlns:a="http://schemas.openxmlformats.org/drawingml/2006/main">
            <a:srgbClr val="FFFFFF"/>
          </a:solidFill>
          <a:ln xmlns:a="http://schemas.openxmlformats.org/drawingml/2006/main" w="7620">
            <a:solidFill>
              <a:srgbClr val="A5A5A5"/>
            </a:solidFill>
          </a:ln>
        </p:spPr>
      </p:sp>
      <p:pic>
        <p:nvPicPr>
          <p:cNvPr id="61" name="">
            <a:extLst xmlns:a="http://schemas.openxmlformats.org/drawingml/2006/main">
              <a:ext uri="{FF2B5EF4-FFF2-40B4-BE49-F238E27FC236}">
                <a16:creationId xmlns:a16="http://schemas.microsoft.com/office/drawing/2014/main" id="{C761F8E9-C891-4D87-A7E1-BF8A7F1B6761}"/>
              </a:ext>
            </a:extLst>
          </p:cNvPr>
          <p:cNvPicPr>
            <a:picLocks xmlns:a="http://schemas.openxmlformats.org/drawingml/2006/main" noChangeAspect="1"/>
          </p:cNvPicPr>
          <p:nvPr/>
        </p:nvPicPr>
        <p:blipFill>
          <a:blip xmlns:r="http://schemas.openxmlformats.org/officeDocument/2006/relationships" xmlns:a="http://schemas.openxmlformats.org/drawingml/2006/main" r:embed="R43801d5b5c014741">
            <a:extLst>
              <a:ext uri="{96DAC541-7B7A-43D3-8B79-37D633B846F1}">
                <asvg:svgBlip xmlns:asvg="http://schemas.microsoft.com/office/drawing/2016/SVG/main" r:embed="R4e548d0e873148a0"/>
              </a:ext>
            </a:extLst>
          </a:blip>
          <a:stretch xmlns:a="http://schemas.openxmlformats.org/drawingml/2006/main"/>
        </p:blipFill>
        <p:spPr>
          <a:xfrm xmlns:a="http://schemas.openxmlformats.org/drawingml/2006/main">
            <a:off x="14180820" y="2987040"/>
            <a:ext cx="289560" cy="289560"/>
          </a:xfrm>
          <a:prstGeom xmlns:a="http://schemas.openxmlformats.org/drawingml/2006/main" prst="rect">
            <a:avLst/>
          </a:prstGeom>
        </p:spPr>
      </p:pic>
      <p:sp>
        <p:nvSpPr>
          <p:cNvPr id="62" name="Cells &amp; culture systems">
            <a:extLst xmlns:a="http://schemas.openxmlformats.org/drawingml/2006/main">
              <a:ext uri="{FF2B5EF4-FFF2-40B4-BE49-F238E27FC236}">
                <a16:creationId xmlns:a16="http://schemas.microsoft.com/office/drawing/2014/main" id="{8CCE68B7-F40F-4FDF-8348-85CE8BE92F05}"/>
              </a:ext>
            </a:extLst>
          </p:cNvPr>
          <p:cNvSpPr>
            <a:spLocks xmlns:a="http://schemas.openxmlformats.org/drawingml/2006/main" noGrp="1"/>
          </p:cNvSpPr>
          <p:nvPr/>
        </p:nvSpPr>
        <p:spPr>
          <a:xfrm xmlns:a="http://schemas.openxmlformats.org/drawingml/2006/main">
            <a:off x="14607540" y="3017520"/>
            <a:ext cx="254508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60" b="1">
                <a:solidFill>
                  <a:srgbClr val="00355F"/>
                </a:solidFill>
                <a:latin typeface="Arial"/>
                <a:ea typeface="Arial"/>
                <a:cs typeface="Arial"/>
              </a:defRPr>
            </a:defPPr>
          </a:lstStyle>
          <a:p xmlns:a="http://schemas.openxmlformats.org/drawingml/2006/main">
            <a:pPr algn="l">
              <a:buNone/>
              <a:defRPr sz="1560" b="1">
                <a:solidFill>
                  <a:srgbClr val="00355F"/>
                </a:solidFill>
                <a:latin typeface="Arial"/>
                <a:ea typeface="Arial"/>
                <a:cs typeface="Arial"/>
              </a:defRPr>
            </a:pPr>
            <a:r>
              <a:rPr sz="1560" b="1">
                <a:solidFill>
                  <a:srgbClr val="00355F"/>
                </a:solidFill>
                <a:latin typeface="Arial"/>
                <a:ea typeface="Arial"/>
                <a:cs typeface="Arial"/>
              </a:rPr>
              <a:t>Cells &amp; culture systems</a:t>
            </a:r>
          </a:p>
        </p:txBody>
      </p:sp>
      <p:sp>
        <p:nvSpPr>
          <p:cNvPr id="63" name="Cell models, media, feeds">
            <a:extLst xmlns:a="http://schemas.openxmlformats.org/drawingml/2006/main">
              <a:ext uri="{FF2B5EF4-FFF2-40B4-BE49-F238E27FC236}">
                <a16:creationId xmlns:a16="http://schemas.microsoft.com/office/drawing/2014/main" id="{83FB76BD-1865-4C08-B1AE-9AB8E1A65F2B}"/>
              </a:ext>
            </a:extLst>
          </p:cNvPr>
          <p:cNvSpPr>
            <a:spLocks xmlns:a="http://schemas.openxmlformats.org/drawingml/2006/main" noGrp="1"/>
          </p:cNvSpPr>
          <p:nvPr/>
        </p:nvSpPr>
        <p:spPr>
          <a:xfrm xmlns:a="http://schemas.openxmlformats.org/drawingml/2006/main">
            <a:off x="14196060" y="3390900"/>
            <a:ext cx="2933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buNone/>
              <a:defRPr sz="1260" b="0">
                <a:solidFill>
                  <a:srgbClr val="00355F"/>
                </a:solidFill>
                <a:latin typeface="Arial"/>
                <a:ea typeface="Arial"/>
                <a:cs typeface="Arial"/>
              </a:defRPr>
            </a:pPr>
            <a:r>
              <a:rPr sz="1260" b="0">
                <a:solidFill>
                  <a:srgbClr val="00355F"/>
                </a:solidFill>
                <a:latin typeface="Arial"/>
                <a:ea typeface="Arial"/>
                <a:cs typeface="Arial"/>
              </a:rPr>
              <a:t>Cell models, media, feeds</a:t>
            </a:r>
          </a:p>
          <a:p xmlns:a="http://schemas.openxmlformats.org/drawingml/2006/main">
            <a:pPr algn="l">
              <a:buNone/>
              <a:defRPr sz="1260" b="0">
                <a:solidFill>
                  <a:srgbClr val="00355F"/>
                </a:solidFill>
                <a:latin typeface="Arial"/>
                <a:ea typeface="Arial"/>
                <a:cs typeface="Arial"/>
              </a:defRPr>
            </a:pPr>
            <a:r>
              <a:rPr sz="1260" b="0">
                <a:solidFill>
                  <a:srgbClr val="00355F"/>
                </a:solidFill>
                <a:latin typeface="Arial"/>
                <a:ea typeface="Arial"/>
                <a:cs typeface="Arial"/>
              </a:rPr>
              <a:t>Bioreactors and cell expansion</a:t>
            </a:r>
          </a:p>
        </p:txBody>
      </p:sp>
      <p:sp>
        <p:nvSpPr>
          <p:cNvPr id="64" name="US$323.5m*">
            <a:extLst xmlns:a="http://schemas.openxmlformats.org/drawingml/2006/main">
              <a:ext uri="{FF2B5EF4-FFF2-40B4-BE49-F238E27FC236}">
                <a16:creationId xmlns:a16="http://schemas.microsoft.com/office/drawing/2014/main" id="{E700A98A-317C-4AD5-BAE2-43942F325998}"/>
              </a:ext>
            </a:extLst>
          </p:cNvPr>
          <p:cNvSpPr>
            <a:spLocks xmlns:a="http://schemas.openxmlformats.org/drawingml/2006/main" noGrp="1"/>
          </p:cNvSpPr>
          <p:nvPr/>
        </p:nvSpPr>
        <p:spPr>
          <a:xfrm xmlns:a="http://schemas.openxmlformats.org/drawingml/2006/main">
            <a:off x="14196060" y="3870960"/>
            <a:ext cx="2933700" cy="358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220" b="1">
                <a:solidFill>
                  <a:srgbClr val="00355F"/>
                </a:solidFill>
                <a:latin typeface="Arial"/>
                <a:ea typeface="Arial"/>
                <a:cs typeface="Arial"/>
              </a:defRPr>
            </a:defPPr>
          </a:lstStyle>
          <a:p xmlns:a="http://schemas.openxmlformats.org/drawingml/2006/main">
            <a:pPr algn="l">
              <a:buNone/>
              <a:defRPr sz="2220" b="1">
                <a:solidFill>
                  <a:srgbClr val="00355F"/>
                </a:solidFill>
                <a:latin typeface="Arial"/>
                <a:ea typeface="Arial"/>
                <a:cs typeface="Arial"/>
              </a:defRPr>
            </a:pPr>
            <a:r>
              <a:rPr sz="2220" b="1">
                <a:solidFill>
                  <a:srgbClr val="00355F"/>
                </a:solidFill>
                <a:latin typeface="Arial"/>
                <a:ea typeface="Arial"/>
                <a:cs typeface="Arial"/>
              </a:rPr>
              <a:t>US$323.5m*</a:t>
            </a:r>
          </a:p>
        </p:txBody>
      </p:sp>
      <p:sp>
        <p:nvSpPr>
          <p:cNvPr id="65" name="China • 2024 • bioprocess media [3]">
            <a:extLst xmlns:a="http://schemas.openxmlformats.org/drawingml/2006/main">
              <a:ext uri="{FF2B5EF4-FFF2-40B4-BE49-F238E27FC236}">
                <a16:creationId xmlns:a16="http://schemas.microsoft.com/office/drawing/2014/main" id="{4EB8285D-36A2-431F-A27D-804232175103}"/>
              </a:ext>
            </a:extLst>
          </p:cNvPr>
          <p:cNvSpPr>
            <a:spLocks xmlns:a="http://schemas.openxmlformats.org/drawingml/2006/main" noGrp="1"/>
          </p:cNvSpPr>
          <p:nvPr/>
        </p:nvSpPr>
        <p:spPr>
          <a:xfrm xmlns:a="http://schemas.openxmlformats.org/drawingml/2006/main">
            <a:off x="14196060" y="4251960"/>
            <a:ext cx="2933700" cy="220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buNone/>
              <a:defRPr sz="1050" b="0">
                <a:solidFill>
                  <a:srgbClr val="00355F"/>
                </a:solidFill>
                <a:latin typeface="Arial"/>
                <a:ea typeface="Arial"/>
                <a:cs typeface="Arial"/>
              </a:defRPr>
            </a:pPr>
            <a:r>
              <a:rPr sz="1050" b="0">
                <a:solidFill>
                  <a:srgbClr val="00355F"/>
                </a:solidFill>
                <a:latin typeface="Arial"/>
                <a:ea typeface="Arial"/>
                <a:cs typeface="Arial"/>
              </a:rPr>
              <a:t>China • 2024 • bioprocess media [3]</a:t>
            </a:r>
          </a:p>
        </p:txBody>
      </p:sp>
      <p:sp>
        <p:nvSpPr>
          <p:cNvPr id="66" name="Selected media anchor; not all cell tools">
            <a:extLst xmlns:a="http://schemas.openxmlformats.org/drawingml/2006/main">
              <a:ext uri="{FF2B5EF4-FFF2-40B4-BE49-F238E27FC236}">
                <a16:creationId xmlns:a16="http://schemas.microsoft.com/office/drawing/2014/main" id="{637F147D-F694-416F-AD8D-B3578E166675}"/>
              </a:ext>
            </a:extLst>
          </p:cNvPr>
          <p:cNvSpPr>
            <a:spLocks xmlns:a="http://schemas.openxmlformats.org/drawingml/2006/main" noGrp="1"/>
          </p:cNvSpPr>
          <p:nvPr/>
        </p:nvSpPr>
        <p:spPr>
          <a:xfrm xmlns:a="http://schemas.openxmlformats.org/drawingml/2006/main">
            <a:off x="14196060" y="4472940"/>
            <a:ext cx="293370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0">
                <a:solidFill>
                  <a:srgbClr val="00355F"/>
                </a:solidFill>
                <a:latin typeface="Arial"/>
                <a:ea typeface="Arial"/>
                <a:cs typeface="Arial"/>
              </a:defRPr>
            </a:defPPr>
          </a:lstStyle>
          <a:p xmlns:a="http://schemas.openxmlformats.org/drawingml/2006/main">
            <a:pPr algn="l">
              <a:buNone/>
              <a:defRPr sz="990" b="0">
                <a:solidFill>
                  <a:srgbClr val="00355F"/>
                </a:solidFill>
                <a:latin typeface="Arial"/>
                <a:ea typeface="Arial"/>
                <a:cs typeface="Arial"/>
              </a:defRPr>
            </a:pPr>
            <a:r>
              <a:rPr sz="990" b="0">
                <a:solidFill>
                  <a:srgbClr val="00355F"/>
                </a:solidFill>
                <a:latin typeface="Arial"/>
                <a:ea typeface="Arial"/>
                <a:cs typeface="Arial"/>
              </a:rPr>
              <a:t>Selected media anchor; not all cell tools</a:t>
            </a:r>
          </a:p>
        </p:txBody>
      </p:sp>
      <p:sp>
        <p:nvSpPr>
          <p:cNvPr id="67" name="Gibco / HyClone">
            <a:extLst xmlns:a="http://schemas.openxmlformats.org/drawingml/2006/main">
              <a:ext uri="{FF2B5EF4-FFF2-40B4-BE49-F238E27FC236}">
                <a16:creationId xmlns:a16="http://schemas.microsoft.com/office/drawing/2014/main" id="{D50E4DF5-A743-4499-9556-5EC4327B949E}"/>
              </a:ext>
            </a:extLst>
          </p:cNvPr>
          <p:cNvSpPr>
            <a:spLocks xmlns:a="http://schemas.openxmlformats.org/drawingml/2006/main" noGrp="1"/>
          </p:cNvSpPr>
          <p:nvPr/>
        </p:nvSpPr>
        <p:spPr>
          <a:xfrm xmlns:a="http://schemas.openxmlformats.org/drawingml/2006/main">
            <a:off x="14196060" y="4785360"/>
            <a:ext cx="137160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00355F"/>
                </a:solidFill>
                <a:latin typeface="Arial"/>
                <a:ea typeface="Arial"/>
                <a:cs typeface="Arial"/>
              </a:defRPr>
            </a:defPPr>
          </a:lstStyle>
          <a:p xmlns:a="http://schemas.openxmlformats.org/drawingml/2006/main">
            <a:pPr algn="l">
              <a:buNone/>
              <a:defRPr sz="1500" b="1">
                <a:solidFill>
                  <a:srgbClr val="00355F"/>
                </a:solidFill>
                <a:latin typeface="Arial"/>
                <a:ea typeface="Arial"/>
                <a:cs typeface="Arial"/>
              </a:defRPr>
            </a:pPr>
            <a:r>
              <a:rPr sz="1500" b="1">
                <a:solidFill>
                  <a:srgbClr val="00355F"/>
                </a:solidFill>
                <a:latin typeface="Arial"/>
                <a:ea typeface="Arial"/>
                <a:cs typeface="Arial"/>
              </a:rPr>
              <a:t>Gibco / HyClone</a:t>
            </a:r>
          </a:p>
        </p:txBody>
      </p:sp>
      <p:sp>
        <p:nvSpPr>
          <p:cNvPr id="68" name="CHINA / HK LISTINGS">
            <a:extLst xmlns:a="http://schemas.openxmlformats.org/drawingml/2006/main">
              <a:ext uri="{FF2B5EF4-FFF2-40B4-BE49-F238E27FC236}">
                <a16:creationId xmlns:a16="http://schemas.microsoft.com/office/drawing/2014/main" id="{F1DED9DC-0318-4C9F-8E95-902C46A18BE7}"/>
              </a:ext>
            </a:extLst>
          </p:cNvPr>
          <p:cNvSpPr>
            <a:spLocks xmlns:a="http://schemas.openxmlformats.org/drawingml/2006/main" noGrp="1"/>
          </p:cNvSpPr>
          <p:nvPr/>
        </p:nvSpPr>
        <p:spPr>
          <a:xfrm xmlns:a="http://schemas.openxmlformats.org/drawingml/2006/main">
            <a:off x="14196060" y="5113020"/>
            <a:ext cx="1531620" cy="1752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70" b="1">
                <a:solidFill>
                  <a:srgbClr val="00355F"/>
                </a:solidFill>
                <a:latin typeface="Arial"/>
                <a:ea typeface="Arial"/>
                <a:cs typeface="Arial"/>
              </a:defRPr>
            </a:defPPr>
          </a:lstStyle>
          <a:p xmlns:a="http://schemas.openxmlformats.org/drawingml/2006/main">
            <a:pPr algn="l">
              <a:buNone/>
              <a:defRPr sz="870" b="1">
                <a:solidFill>
                  <a:srgbClr val="00355F"/>
                </a:solidFill>
                <a:latin typeface="Arial"/>
                <a:ea typeface="Arial"/>
                <a:cs typeface="Arial"/>
              </a:defRPr>
            </a:pPr>
            <a:r>
              <a:rPr sz="870" b="1">
                <a:solidFill>
                  <a:srgbClr val="00355F"/>
                </a:solidFill>
                <a:latin typeface="Arial"/>
                <a:ea typeface="Arial"/>
                <a:cs typeface="Arial"/>
              </a:rPr>
              <a:t>CHINA / HK LISTINGS</a:t>
            </a:r>
          </a:p>
        </p:txBody>
      </p:sp>
      <p:sp>
        <p:nvSpPr>
          <p:cNvPr id="69" name="US LISTINGS / PARENTS">
            <a:extLst xmlns:a="http://schemas.openxmlformats.org/drawingml/2006/main">
              <a:ext uri="{FF2B5EF4-FFF2-40B4-BE49-F238E27FC236}">
                <a16:creationId xmlns:a16="http://schemas.microsoft.com/office/drawing/2014/main" id="{2B82C810-10BD-4C11-81A9-B43152B1CD51}"/>
              </a:ext>
            </a:extLst>
          </p:cNvPr>
          <p:cNvSpPr>
            <a:spLocks xmlns:a="http://schemas.openxmlformats.org/drawingml/2006/main" noGrp="1"/>
          </p:cNvSpPr>
          <p:nvPr/>
        </p:nvSpPr>
        <p:spPr>
          <a:xfrm xmlns:a="http://schemas.openxmlformats.org/drawingml/2006/main">
            <a:off x="15834360" y="5113020"/>
            <a:ext cx="1325880" cy="1752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40" b="1">
                <a:solidFill>
                  <a:srgbClr val="00355F"/>
                </a:solidFill>
                <a:latin typeface="Arial"/>
                <a:ea typeface="Arial"/>
                <a:cs typeface="Arial"/>
              </a:defRPr>
            </a:defPPr>
          </a:lstStyle>
          <a:p xmlns:a="http://schemas.openxmlformats.org/drawingml/2006/main">
            <a:pPr algn="l">
              <a:buNone/>
              <a:defRPr sz="840" b="1">
                <a:solidFill>
                  <a:srgbClr val="00355F"/>
                </a:solidFill>
                <a:latin typeface="Arial"/>
                <a:ea typeface="Arial"/>
                <a:cs typeface="Arial"/>
              </a:defRPr>
            </a:pPr>
            <a:r>
              <a:rPr sz="840" b="1">
                <a:solidFill>
                  <a:srgbClr val="00355F"/>
                </a:solidFill>
                <a:latin typeface="Arial"/>
                <a:ea typeface="Arial"/>
                <a:cs typeface="Arial"/>
              </a:rPr>
              <a:t>US LISTINGS / PARENTS</a:t>
            </a:r>
          </a:p>
        </p:txBody>
      </p:sp>
      <p:sp>
        <p:nvSpPr>
          <p:cNvPr id="70" name="OPM · 688293.SH">
            <a:extLst xmlns:a="http://schemas.openxmlformats.org/drawingml/2006/main">
              <a:ext uri="{FF2B5EF4-FFF2-40B4-BE49-F238E27FC236}">
                <a16:creationId xmlns:a16="http://schemas.microsoft.com/office/drawing/2014/main" id="{C245258C-A401-4AF8-BCF3-88980EC18229}"/>
              </a:ext>
            </a:extLst>
          </p:cNvPr>
          <p:cNvSpPr>
            <a:spLocks xmlns:a="http://schemas.openxmlformats.org/drawingml/2006/main" noGrp="1"/>
          </p:cNvSpPr>
          <p:nvPr/>
        </p:nvSpPr>
        <p:spPr>
          <a:xfrm xmlns:a="http://schemas.openxmlformats.org/drawingml/2006/main">
            <a:off x="14196060" y="5334000"/>
            <a:ext cx="1584960"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buNone/>
              <a:defRPr sz="1020" b="0">
                <a:solidFill>
                  <a:srgbClr val="00355F"/>
                </a:solidFill>
                <a:latin typeface="Arial"/>
                <a:ea typeface="Arial"/>
                <a:cs typeface="Arial"/>
              </a:defRPr>
            </a:pPr>
            <a:r>
              <a:rPr sz="1020" b="0">
                <a:solidFill>
                  <a:srgbClr val="00355F"/>
                </a:solidFill>
                <a:latin typeface="Arial"/>
                <a:ea typeface="Arial"/>
                <a:cs typeface="Arial"/>
              </a:rPr>
              <a:t>OPM · 688293.SH</a:t>
            </a:r>
          </a:p>
          <a:p xmlns:a="http://schemas.openxmlformats.org/drawingml/2006/main">
            <a:pPr algn="l">
              <a:buNone/>
              <a:defRPr sz="1020" b="0">
                <a:solidFill>
                  <a:srgbClr val="00355F"/>
                </a:solidFill>
                <a:latin typeface="Arial"/>
                <a:ea typeface="Arial"/>
                <a:cs typeface="Arial"/>
              </a:defRPr>
            </a:pPr>
            <a:r>
              <a:rPr sz="1020" b="0">
                <a:solidFill>
                  <a:srgbClr val="00355F"/>
                </a:solidFill>
                <a:latin typeface="Arial"/>
                <a:ea typeface="Arial"/>
                <a:cs typeface="Arial"/>
              </a:rPr>
              <a:t>ACRO · 301080.SZ</a:t>
            </a:r>
          </a:p>
        </p:txBody>
      </p:sp>
      <p:sp>
        <p:nvSpPr>
          <p:cNvPr id="71" name="Gibco / Thermo · TMO">
            <a:extLst xmlns:a="http://schemas.openxmlformats.org/drawingml/2006/main">
              <a:ext uri="{FF2B5EF4-FFF2-40B4-BE49-F238E27FC236}">
                <a16:creationId xmlns:a16="http://schemas.microsoft.com/office/drawing/2014/main" id="{3164D376-FE1D-4BE5-A819-752863275EB1}"/>
              </a:ext>
            </a:extLst>
          </p:cNvPr>
          <p:cNvSpPr>
            <a:spLocks xmlns:a="http://schemas.openxmlformats.org/drawingml/2006/main" noGrp="1"/>
          </p:cNvSpPr>
          <p:nvPr/>
        </p:nvSpPr>
        <p:spPr>
          <a:xfrm xmlns:a="http://schemas.openxmlformats.org/drawingml/2006/main">
            <a:off x="15834360" y="5334000"/>
            <a:ext cx="1325880"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buNone/>
              <a:defRPr sz="972" b="0">
                <a:solidFill>
                  <a:srgbClr val="00355F"/>
                </a:solidFill>
                <a:latin typeface="Arial"/>
                <a:ea typeface="Arial"/>
                <a:cs typeface="Arial"/>
              </a:defRPr>
            </a:pPr>
            <a:r>
              <a:rPr sz="972" b="0">
                <a:solidFill>
                  <a:srgbClr val="00355F"/>
                </a:solidFill>
                <a:latin typeface="Arial"/>
                <a:ea typeface="Arial"/>
                <a:cs typeface="Arial"/>
              </a:rPr>
              <a:t>Gibco / Thermo · TMO</a:t>
            </a:r>
          </a:p>
          <a:p xmlns:a="http://schemas.openxmlformats.org/drawingml/2006/main">
            <a:pPr algn="l">
              <a:buNone/>
              <a:defRPr sz="972" b="0">
                <a:solidFill>
                  <a:srgbClr val="00355F"/>
                </a:solidFill>
                <a:latin typeface="Arial"/>
                <a:ea typeface="Arial"/>
                <a:cs typeface="Arial"/>
              </a:defRPr>
            </a:pPr>
            <a:r>
              <a:rPr sz="972" b="0">
                <a:solidFill>
                  <a:srgbClr val="00355F"/>
                </a:solidFill>
                <a:latin typeface="Arial"/>
                <a:ea typeface="Arial"/>
                <a:cs typeface="Arial"/>
              </a:rPr>
              <a:t>Cytiva / HyClone · DHR</a:t>
            </a:r>
          </a:p>
        </p:txBody>
      </p:sp>
      <p:sp>
        <p:nvSpPr>
          <p:cNvPr id="72" name="">
            <a:extLst xmlns:a="http://schemas.openxmlformats.org/drawingml/2006/main">
              <a:ext uri="{FF2B5EF4-FFF2-40B4-BE49-F238E27FC236}">
                <a16:creationId xmlns:a16="http://schemas.microsoft.com/office/drawing/2014/main" id="{520E00AC-23A7-494C-BEE6-9CED53F7196B}"/>
              </a:ext>
            </a:extLst>
          </p:cNvPr>
          <p:cNvSpPr>
            <a:spLocks xmlns:a="http://schemas.openxmlformats.org/drawingml/2006/main" noGrp="1"/>
          </p:cNvSpPr>
          <p:nvPr/>
        </p:nvSpPr>
        <p:spPr>
          <a:xfrm xmlns:a="http://schemas.openxmlformats.org/drawingml/2006/main">
            <a:off x="6987540" y="6019800"/>
            <a:ext cx="3238500" cy="2994660"/>
          </a:xfrm>
          <a:prstGeom xmlns:a="http://schemas.openxmlformats.org/drawingml/2006/main" prst="roundRect">
            <a:avLst>
              <a:gd name="adj" fmla="val 2545"/>
            </a:avLst>
          </a:prstGeom>
          <a:solidFill xmlns:a="http://schemas.openxmlformats.org/drawingml/2006/main">
            <a:srgbClr val="FFFFFF"/>
          </a:solidFill>
          <a:ln xmlns:a="http://schemas.openxmlformats.org/drawingml/2006/main" w="7620">
            <a:solidFill>
              <a:srgbClr val="A5A5A5"/>
            </a:solidFill>
          </a:ln>
        </p:spPr>
      </p:sp>
      <p:pic>
        <p:nvPicPr>
          <p:cNvPr id="73" name="">
            <a:extLst xmlns:a="http://schemas.openxmlformats.org/drawingml/2006/main">
              <a:ext uri="{FF2B5EF4-FFF2-40B4-BE49-F238E27FC236}">
                <a16:creationId xmlns:a16="http://schemas.microsoft.com/office/drawing/2014/main" id="{D7EBA621-0207-445E-BA57-B9B275A2DB4A}"/>
              </a:ext>
            </a:extLst>
          </p:cNvPr>
          <p:cNvPicPr>
            <a:picLocks xmlns:a="http://schemas.openxmlformats.org/drawingml/2006/main" noChangeAspect="1"/>
          </p:cNvPicPr>
          <p:nvPr/>
        </p:nvPicPr>
        <p:blipFill>
          <a:blip xmlns:r="http://schemas.openxmlformats.org/officeDocument/2006/relationships" xmlns:a="http://schemas.openxmlformats.org/drawingml/2006/main" r:embed="Rd550bb1a9e414eb1">
            <a:extLst>
              <a:ext uri="{96DAC541-7B7A-43D3-8B79-37D633B846F1}">
                <asvg:svgBlip xmlns:asvg="http://schemas.microsoft.com/office/drawing/2016/SVG/main" r:embed="R319bbd13ab1745b4"/>
              </a:ext>
            </a:extLst>
          </a:blip>
          <a:stretch xmlns:a="http://schemas.openxmlformats.org/drawingml/2006/main"/>
        </p:blipFill>
        <p:spPr>
          <a:xfrm xmlns:a="http://schemas.openxmlformats.org/drawingml/2006/main">
            <a:off x="7124700" y="6164580"/>
            <a:ext cx="289560" cy="289560"/>
          </a:xfrm>
          <a:prstGeom xmlns:a="http://schemas.openxmlformats.org/drawingml/2006/main" prst="rect">
            <a:avLst/>
          </a:prstGeom>
        </p:spPr>
      </p:pic>
      <p:sp>
        <p:nvSpPr>
          <p:cNvPr id="74" name="Labware &amp; sample handling">
            <a:extLst xmlns:a="http://schemas.openxmlformats.org/drawingml/2006/main">
              <a:ext uri="{FF2B5EF4-FFF2-40B4-BE49-F238E27FC236}">
                <a16:creationId xmlns:a16="http://schemas.microsoft.com/office/drawing/2014/main" id="{4DF490C0-2D24-4B3C-B2E5-C45420308301}"/>
              </a:ext>
            </a:extLst>
          </p:cNvPr>
          <p:cNvSpPr>
            <a:spLocks xmlns:a="http://schemas.openxmlformats.org/drawingml/2006/main" noGrp="1"/>
          </p:cNvSpPr>
          <p:nvPr/>
        </p:nvSpPr>
        <p:spPr>
          <a:xfrm xmlns:a="http://schemas.openxmlformats.org/drawingml/2006/main">
            <a:off x="7551420" y="6195060"/>
            <a:ext cx="254508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60" b="1">
                <a:solidFill>
                  <a:srgbClr val="00355F"/>
                </a:solidFill>
                <a:latin typeface="Arial"/>
                <a:ea typeface="Arial"/>
                <a:cs typeface="Arial"/>
              </a:defRPr>
            </a:defPPr>
          </a:lstStyle>
          <a:p xmlns:a="http://schemas.openxmlformats.org/drawingml/2006/main">
            <a:pPr algn="l">
              <a:buNone/>
              <a:defRPr sz="1560" b="1">
                <a:solidFill>
                  <a:srgbClr val="00355F"/>
                </a:solidFill>
                <a:latin typeface="Arial"/>
                <a:ea typeface="Arial"/>
                <a:cs typeface="Arial"/>
              </a:defRPr>
            </a:pPr>
            <a:r>
              <a:rPr sz="1560" b="1">
                <a:solidFill>
                  <a:srgbClr val="00355F"/>
                </a:solidFill>
                <a:latin typeface="Arial"/>
                <a:ea typeface="Arial"/>
                <a:cs typeface="Arial"/>
              </a:rPr>
              <a:t>Labware &amp; sample handling</a:t>
            </a:r>
          </a:p>
        </p:txBody>
      </p:sp>
      <p:sp>
        <p:nvSpPr>
          <p:cNvPr id="75" name="Tips, plates, tubes, filtration">
            <a:extLst xmlns:a="http://schemas.openxmlformats.org/drawingml/2006/main">
              <a:ext uri="{FF2B5EF4-FFF2-40B4-BE49-F238E27FC236}">
                <a16:creationId xmlns:a16="http://schemas.microsoft.com/office/drawing/2014/main" id="{36BE5E0D-43AA-4764-8207-9D1D4FC96089}"/>
              </a:ext>
            </a:extLst>
          </p:cNvPr>
          <p:cNvSpPr>
            <a:spLocks xmlns:a="http://schemas.openxmlformats.org/drawingml/2006/main" noGrp="1"/>
          </p:cNvSpPr>
          <p:nvPr/>
        </p:nvSpPr>
        <p:spPr>
          <a:xfrm xmlns:a="http://schemas.openxmlformats.org/drawingml/2006/main">
            <a:off x="7139940" y="6568440"/>
            <a:ext cx="2933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buNone/>
              <a:defRPr sz="1260" b="0">
                <a:solidFill>
                  <a:srgbClr val="00355F"/>
                </a:solidFill>
                <a:latin typeface="Arial"/>
                <a:ea typeface="Arial"/>
                <a:cs typeface="Arial"/>
              </a:defRPr>
            </a:pPr>
            <a:r>
              <a:rPr sz="1260" b="0">
                <a:solidFill>
                  <a:srgbClr val="00355F"/>
                </a:solidFill>
                <a:latin typeface="Arial"/>
                <a:ea typeface="Arial"/>
                <a:cs typeface="Arial"/>
              </a:rPr>
              <a:t>Tips, plates, tubes, filtration</a:t>
            </a:r>
          </a:p>
          <a:p xmlns:a="http://schemas.openxmlformats.org/drawingml/2006/main">
            <a:pPr algn="l">
              <a:buNone/>
              <a:defRPr sz="1260" b="0">
                <a:solidFill>
                  <a:srgbClr val="00355F"/>
                </a:solidFill>
                <a:latin typeface="Arial"/>
                <a:ea typeface="Arial"/>
                <a:cs typeface="Arial"/>
              </a:defRPr>
            </a:pPr>
            <a:r>
              <a:rPr sz="1260" b="0">
                <a:solidFill>
                  <a:srgbClr val="00355F"/>
                </a:solidFill>
                <a:latin typeface="Arial"/>
                <a:ea typeface="Arial"/>
                <a:cs typeface="Arial"/>
              </a:rPr>
              <a:t>Automation-compatible labware</a:t>
            </a:r>
          </a:p>
        </p:txBody>
      </p:sp>
      <p:sp>
        <p:nvSpPr>
          <p:cNvPr id="76" name="~RMB 23bn">
            <a:extLst xmlns:a="http://schemas.openxmlformats.org/drawingml/2006/main">
              <a:ext uri="{FF2B5EF4-FFF2-40B4-BE49-F238E27FC236}">
                <a16:creationId xmlns:a16="http://schemas.microsoft.com/office/drawing/2014/main" id="{49FADE2A-FC99-4EE7-AA39-ACBC728D4AE2}"/>
              </a:ext>
            </a:extLst>
          </p:cNvPr>
          <p:cNvSpPr>
            <a:spLocks xmlns:a="http://schemas.openxmlformats.org/drawingml/2006/main" noGrp="1"/>
          </p:cNvSpPr>
          <p:nvPr/>
        </p:nvSpPr>
        <p:spPr>
          <a:xfrm xmlns:a="http://schemas.openxmlformats.org/drawingml/2006/main">
            <a:off x="7139940" y="7048500"/>
            <a:ext cx="2933700" cy="358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220" b="1">
                <a:solidFill>
                  <a:srgbClr val="00355F"/>
                </a:solidFill>
                <a:latin typeface="Arial"/>
                <a:ea typeface="Arial"/>
                <a:cs typeface="Arial"/>
              </a:defRPr>
            </a:defPPr>
          </a:lstStyle>
          <a:p xmlns:a="http://schemas.openxmlformats.org/drawingml/2006/main">
            <a:pPr algn="l">
              <a:buNone/>
              <a:defRPr sz="2220" b="1">
                <a:solidFill>
                  <a:srgbClr val="00355F"/>
                </a:solidFill>
                <a:latin typeface="Arial"/>
                <a:ea typeface="Arial"/>
                <a:cs typeface="Arial"/>
              </a:defRPr>
            </a:pPr>
            <a:r>
              <a:rPr sz="2220" b="1">
                <a:solidFill>
                  <a:srgbClr val="00355F"/>
                </a:solidFill>
                <a:latin typeface="Arial"/>
                <a:ea typeface="Arial"/>
                <a:cs typeface="Arial"/>
              </a:rPr>
              <a:t>~RMB 23bn</a:t>
            </a:r>
          </a:p>
        </p:txBody>
      </p:sp>
      <p:sp>
        <p:nvSpPr>
          <p:cNvPr id="77" name="China • 2024 • plastic labware [4]">
            <a:extLst xmlns:a="http://schemas.openxmlformats.org/drawingml/2006/main">
              <a:ext uri="{FF2B5EF4-FFF2-40B4-BE49-F238E27FC236}">
                <a16:creationId xmlns:a16="http://schemas.microsoft.com/office/drawing/2014/main" id="{353FB520-56F0-4C68-B9EC-E25D93646B07}"/>
              </a:ext>
            </a:extLst>
          </p:cNvPr>
          <p:cNvSpPr>
            <a:spLocks xmlns:a="http://schemas.openxmlformats.org/drawingml/2006/main" noGrp="1"/>
          </p:cNvSpPr>
          <p:nvPr/>
        </p:nvSpPr>
        <p:spPr>
          <a:xfrm xmlns:a="http://schemas.openxmlformats.org/drawingml/2006/main">
            <a:off x="7139940" y="7429500"/>
            <a:ext cx="2933700" cy="220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buNone/>
              <a:defRPr sz="1050" b="0">
                <a:solidFill>
                  <a:srgbClr val="00355F"/>
                </a:solidFill>
                <a:latin typeface="Arial"/>
                <a:ea typeface="Arial"/>
                <a:cs typeface="Arial"/>
              </a:defRPr>
            </a:pPr>
            <a:r>
              <a:rPr sz="1050" b="0">
                <a:solidFill>
                  <a:srgbClr val="00355F"/>
                </a:solidFill>
                <a:latin typeface="Arial"/>
                <a:ea typeface="Arial"/>
                <a:cs typeface="Arial"/>
              </a:rPr>
              <a:t>China • 2024 • plastic labware [4]</a:t>
            </a:r>
          </a:p>
        </p:txBody>
      </p:sp>
      <p:sp>
        <p:nvSpPr>
          <p:cNvPr id="78" name="Includes clinical and industrial uses">
            <a:extLst xmlns:a="http://schemas.openxmlformats.org/drawingml/2006/main">
              <a:ext uri="{FF2B5EF4-FFF2-40B4-BE49-F238E27FC236}">
                <a16:creationId xmlns:a16="http://schemas.microsoft.com/office/drawing/2014/main" id="{D3F75192-7498-4AA2-881F-DD763C411E62}"/>
              </a:ext>
            </a:extLst>
          </p:cNvPr>
          <p:cNvSpPr>
            <a:spLocks xmlns:a="http://schemas.openxmlformats.org/drawingml/2006/main" noGrp="1"/>
          </p:cNvSpPr>
          <p:nvPr/>
        </p:nvSpPr>
        <p:spPr>
          <a:xfrm xmlns:a="http://schemas.openxmlformats.org/drawingml/2006/main">
            <a:off x="7139940" y="7650480"/>
            <a:ext cx="293370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0">
                <a:solidFill>
                  <a:srgbClr val="00355F"/>
                </a:solidFill>
                <a:latin typeface="Arial"/>
                <a:ea typeface="Arial"/>
                <a:cs typeface="Arial"/>
              </a:defRPr>
            </a:defPPr>
          </a:lstStyle>
          <a:p xmlns:a="http://schemas.openxmlformats.org/drawingml/2006/main">
            <a:pPr algn="l">
              <a:buNone/>
              <a:defRPr sz="990" b="0">
                <a:solidFill>
                  <a:srgbClr val="00355F"/>
                </a:solidFill>
                <a:latin typeface="Arial"/>
                <a:ea typeface="Arial"/>
                <a:cs typeface="Arial"/>
              </a:defRPr>
            </a:pPr>
            <a:r>
              <a:rPr sz="990" b="0">
                <a:solidFill>
                  <a:srgbClr val="00355F"/>
                </a:solidFill>
                <a:latin typeface="Arial"/>
                <a:ea typeface="Arial"/>
                <a:cs typeface="Arial"/>
              </a:rPr>
              <a:t>Includes clinical and industrial uses</a:t>
            </a:r>
          </a:p>
        </p:txBody>
      </p:sp>
      <p:pic>
        <p:nvPicPr>
          <p:cNvPr id="79" name="">
            <a:extLst xmlns:a="http://schemas.openxmlformats.org/drawingml/2006/main">
              <a:ext uri="{FF2B5EF4-FFF2-40B4-BE49-F238E27FC236}">
                <a16:creationId xmlns:a16="http://schemas.microsoft.com/office/drawing/2014/main" id="{3F173DA3-0AD5-42A7-B910-E6C6BD35C827}"/>
              </a:ext>
            </a:extLst>
          </p:cNvPr>
          <p:cNvPicPr>
            <a:picLocks xmlns:a="http://schemas.openxmlformats.org/drawingml/2006/main" noChangeAspect="1"/>
          </p:cNvPicPr>
          <p:nvPr/>
        </p:nvPicPr>
        <p:blipFill>
          <a:blip xmlns:r="http://schemas.openxmlformats.org/officeDocument/2006/relationships" xmlns:a="http://schemas.openxmlformats.org/drawingml/2006/main" r:embed="Rf5ae518bc6e448b7"/>
          <a:stretch xmlns:a="http://schemas.openxmlformats.org/drawingml/2006/main"/>
        </p:blipFill>
        <p:spPr>
          <a:xfrm xmlns:a="http://schemas.openxmlformats.org/drawingml/2006/main">
            <a:off x="7349490" y="7879080"/>
            <a:ext cx="670560" cy="335280"/>
          </a:xfrm>
          <a:prstGeom xmlns:a="http://schemas.openxmlformats.org/drawingml/2006/main" prst="rect">
            <a:avLst/>
          </a:prstGeom>
        </p:spPr>
      </p:pic>
      <p:pic>
        <p:nvPicPr>
          <p:cNvPr id="80" name="">
            <a:extLst xmlns:a="http://schemas.openxmlformats.org/drawingml/2006/main">
              <a:ext uri="{FF2B5EF4-FFF2-40B4-BE49-F238E27FC236}">
                <a16:creationId xmlns:a16="http://schemas.microsoft.com/office/drawing/2014/main" id="{2858BFAC-36E2-4732-A3E9-F9C03629790E}"/>
              </a:ext>
            </a:extLst>
          </p:cNvPr>
          <p:cNvPicPr>
            <a:picLocks xmlns:a="http://schemas.openxmlformats.org/drawingml/2006/main" noChangeAspect="1"/>
          </p:cNvPicPr>
          <p:nvPr/>
        </p:nvPicPr>
        <p:blipFill>
          <a:blip xmlns:r="http://schemas.openxmlformats.org/officeDocument/2006/relationships" xmlns:a="http://schemas.openxmlformats.org/drawingml/2006/main" r:embed="R2b52523d4e394751">
            <a:extLst>
              <a:ext uri="{96DAC541-7B7A-43D3-8B79-37D633B846F1}">
                <asvg:svgBlip xmlns:asvg="http://schemas.microsoft.com/office/drawing/2016/SVG/main" r:embed="R470f57f06f9a4eeb"/>
              </a:ext>
            </a:extLst>
          </a:blip>
          <a:stretch xmlns:a="http://schemas.openxmlformats.org/drawingml/2006/main"/>
        </p:blipFill>
        <p:spPr>
          <a:xfrm xmlns:a="http://schemas.openxmlformats.org/drawingml/2006/main">
            <a:off x="8763000" y="7879080"/>
            <a:ext cx="800100" cy="335280"/>
          </a:xfrm>
          <a:prstGeom xmlns:a="http://schemas.openxmlformats.org/drawingml/2006/main" prst="rect">
            <a:avLst/>
          </a:prstGeom>
        </p:spPr>
      </p:pic>
      <p:sp>
        <p:nvSpPr>
          <p:cNvPr id="81" name="CHINA / HK LISTINGS">
            <a:extLst xmlns:a="http://schemas.openxmlformats.org/drawingml/2006/main">
              <a:ext uri="{FF2B5EF4-FFF2-40B4-BE49-F238E27FC236}">
                <a16:creationId xmlns:a16="http://schemas.microsoft.com/office/drawing/2014/main" id="{E65FB1D6-89F1-4384-8AAA-0F9053790FC7}"/>
              </a:ext>
            </a:extLst>
          </p:cNvPr>
          <p:cNvSpPr>
            <a:spLocks xmlns:a="http://schemas.openxmlformats.org/drawingml/2006/main" noGrp="1"/>
          </p:cNvSpPr>
          <p:nvPr/>
        </p:nvSpPr>
        <p:spPr>
          <a:xfrm xmlns:a="http://schemas.openxmlformats.org/drawingml/2006/main">
            <a:off x="7139940" y="8290560"/>
            <a:ext cx="1531620" cy="1752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70" b="1">
                <a:solidFill>
                  <a:srgbClr val="00355F"/>
                </a:solidFill>
                <a:latin typeface="Arial"/>
                <a:ea typeface="Arial"/>
                <a:cs typeface="Arial"/>
              </a:defRPr>
            </a:defPPr>
          </a:lstStyle>
          <a:p xmlns:a="http://schemas.openxmlformats.org/drawingml/2006/main">
            <a:pPr algn="l">
              <a:buNone/>
              <a:defRPr sz="870" b="1">
                <a:solidFill>
                  <a:srgbClr val="00355F"/>
                </a:solidFill>
                <a:latin typeface="Arial"/>
                <a:ea typeface="Arial"/>
                <a:cs typeface="Arial"/>
              </a:defRPr>
            </a:pPr>
            <a:r>
              <a:rPr sz="870" b="1">
                <a:solidFill>
                  <a:srgbClr val="00355F"/>
                </a:solidFill>
                <a:latin typeface="Arial"/>
                <a:ea typeface="Arial"/>
                <a:cs typeface="Arial"/>
              </a:rPr>
              <a:t>CHINA / HK LISTINGS</a:t>
            </a:r>
          </a:p>
        </p:txBody>
      </p:sp>
      <p:sp>
        <p:nvSpPr>
          <p:cNvPr id="82" name="US LISTINGS / PARENTS">
            <a:extLst xmlns:a="http://schemas.openxmlformats.org/drawingml/2006/main">
              <a:ext uri="{FF2B5EF4-FFF2-40B4-BE49-F238E27FC236}">
                <a16:creationId xmlns:a16="http://schemas.microsoft.com/office/drawing/2014/main" id="{16E33716-9CC1-4F7C-A4F6-5042901E0407}"/>
              </a:ext>
            </a:extLst>
          </p:cNvPr>
          <p:cNvSpPr>
            <a:spLocks xmlns:a="http://schemas.openxmlformats.org/drawingml/2006/main" noGrp="1"/>
          </p:cNvSpPr>
          <p:nvPr/>
        </p:nvSpPr>
        <p:spPr>
          <a:xfrm xmlns:a="http://schemas.openxmlformats.org/drawingml/2006/main">
            <a:off x="8778240" y="8290560"/>
            <a:ext cx="1325880" cy="1752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40" b="1">
                <a:solidFill>
                  <a:srgbClr val="00355F"/>
                </a:solidFill>
                <a:latin typeface="Arial"/>
                <a:ea typeface="Arial"/>
                <a:cs typeface="Arial"/>
              </a:defRPr>
            </a:defPPr>
          </a:lstStyle>
          <a:p xmlns:a="http://schemas.openxmlformats.org/drawingml/2006/main">
            <a:pPr algn="l">
              <a:buNone/>
              <a:defRPr sz="840" b="1">
                <a:solidFill>
                  <a:srgbClr val="00355F"/>
                </a:solidFill>
                <a:latin typeface="Arial"/>
                <a:ea typeface="Arial"/>
                <a:cs typeface="Arial"/>
              </a:defRPr>
            </a:pPr>
            <a:r>
              <a:rPr sz="840" b="1">
                <a:solidFill>
                  <a:srgbClr val="00355F"/>
                </a:solidFill>
                <a:latin typeface="Arial"/>
                <a:ea typeface="Arial"/>
                <a:cs typeface="Arial"/>
              </a:rPr>
              <a:t>US LISTINGS / PARENTS</a:t>
            </a:r>
          </a:p>
        </p:txBody>
      </p:sp>
      <p:sp>
        <p:nvSpPr>
          <p:cNvPr id="83" name="JET Biofil · 688026.SH">
            <a:extLst xmlns:a="http://schemas.openxmlformats.org/drawingml/2006/main">
              <a:ext uri="{FF2B5EF4-FFF2-40B4-BE49-F238E27FC236}">
                <a16:creationId xmlns:a16="http://schemas.microsoft.com/office/drawing/2014/main" id="{808886CB-E744-42C0-B836-116D9CEFB440}"/>
              </a:ext>
            </a:extLst>
          </p:cNvPr>
          <p:cNvSpPr>
            <a:spLocks xmlns:a="http://schemas.openxmlformats.org/drawingml/2006/main" noGrp="1"/>
          </p:cNvSpPr>
          <p:nvPr/>
        </p:nvSpPr>
        <p:spPr>
          <a:xfrm xmlns:a="http://schemas.openxmlformats.org/drawingml/2006/main">
            <a:off x="7139940" y="8511540"/>
            <a:ext cx="1584960"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buNone/>
              <a:defRPr sz="1020" b="0">
                <a:solidFill>
                  <a:srgbClr val="00355F"/>
                </a:solidFill>
                <a:latin typeface="Arial"/>
                <a:ea typeface="Arial"/>
                <a:cs typeface="Arial"/>
              </a:defRPr>
            </a:pPr>
            <a:r>
              <a:rPr sz="1020" b="0">
                <a:solidFill>
                  <a:srgbClr val="00355F"/>
                </a:solidFill>
                <a:latin typeface="Arial"/>
                <a:ea typeface="Arial"/>
                <a:cs typeface="Arial"/>
              </a:rPr>
              <a:t>JET Biofil · 688026.SH</a:t>
            </a:r>
          </a:p>
          <a:p xmlns:a="http://schemas.openxmlformats.org/drawingml/2006/main">
            <a:pPr algn="l">
              <a:buNone/>
              <a:defRPr sz="1020" b="0">
                <a:solidFill>
                  <a:srgbClr val="00355F"/>
                </a:solidFill>
                <a:latin typeface="Arial"/>
                <a:ea typeface="Arial"/>
                <a:cs typeface="Arial"/>
              </a:defRPr>
            </a:pPr>
            <a:r>
              <a:rPr sz="1020" b="0">
                <a:solidFill>
                  <a:srgbClr val="00355F"/>
                </a:solidFill>
                <a:latin typeface="Arial"/>
                <a:ea typeface="Arial"/>
                <a:cs typeface="Arial"/>
              </a:rPr>
              <a:t>Changhong · 300151.SZ</a:t>
            </a:r>
          </a:p>
        </p:txBody>
      </p:sp>
      <p:sp>
        <p:nvSpPr>
          <p:cNvPr id="84" name="Corning · GLW">
            <a:extLst xmlns:a="http://schemas.openxmlformats.org/drawingml/2006/main">
              <a:ext uri="{FF2B5EF4-FFF2-40B4-BE49-F238E27FC236}">
                <a16:creationId xmlns:a16="http://schemas.microsoft.com/office/drawing/2014/main" id="{EB87D236-BE12-4148-A461-060487522C36}"/>
              </a:ext>
            </a:extLst>
          </p:cNvPr>
          <p:cNvSpPr>
            <a:spLocks xmlns:a="http://schemas.openxmlformats.org/drawingml/2006/main" noGrp="1"/>
          </p:cNvSpPr>
          <p:nvPr/>
        </p:nvSpPr>
        <p:spPr>
          <a:xfrm xmlns:a="http://schemas.openxmlformats.org/drawingml/2006/main">
            <a:off x="8778240" y="8511540"/>
            <a:ext cx="1325880"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buNone/>
              <a:defRPr sz="972" b="0">
                <a:solidFill>
                  <a:srgbClr val="00355F"/>
                </a:solidFill>
                <a:latin typeface="Arial"/>
                <a:ea typeface="Arial"/>
                <a:cs typeface="Arial"/>
              </a:defRPr>
            </a:pPr>
            <a:r>
              <a:rPr sz="972" b="0">
                <a:solidFill>
                  <a:srgbClr val="00355F"/>
                </a:solidFill>
                <a:latin typeface="Arial"/>
                <a:ea typeface="Arial"/>
                <a:cs typeface="Arial"/>
              </a:rPr>
              <a:t>Corning · GLW</a:t>
            </a:r>
          </a:p>
          <a:p xmlns:a="http://schemas.openxmlformats.org/drawingml/2006/main">
            <a:pPr algn="l">
              <a:buNone/>
              <a:defRPr sz="972" b="0">
                <a:solidFill>
                  <a:srgbClr val="00355F"/>
                </a:solidFill>
                <a:latin typeface="Arial"/>
                <a:ea typeface="Arial"/>
                <a:cs typeface="Arial"/>
              </a:defRPr>
            </a:pPr>
            <a:r>
              <a:rPr sz="972" b="0">
                <a:solidFill>
                  <a:srgbClr val="00355F"/>
                </a:solidFill>
                <a:latin typeface="Arial"/>
                <a:ea typeface="Arial"/>
                <a:cs typeface="Arial"/>
              </a:rPr>
              <a:t>BD · BDX</a:t>
            </a:r>
          </a:p>
        </p:txBody>
      </p:sp>
      <p:sp>
        <p:nvSpPr>
          <p:cNvPr id="85" name="">
            <a:extLst xmlns:a="http://schemas.openxmlformats.org/drawingml/2006/main">
              <a:ext uri="{FF2B5EF4-FFF2-40B4-BE49-F238E27FC236}">
                <a16:creationId xmlns:a16="http://schemas.microsoft.com/office/drawing/2014/main" id="{D748637A-EF1F-496D-8536-422FEAC63637}"/>
              </a:ext>
            </a:extLst>
          </p:cNvPr>
          <p:cNvSpPr>
            <a:spLocks xmlns:a="http://schemas.openxmlformats.org/drawingml/2006/main" noGrp="1"/>
          </p:cNvSpPr>
          <p:nvPr/>
        </p:nvSpPr>
        <p:spPr>
          <a:xfrm xmlns:a="http://schemas.openxmlformats.org/drawingml/2006/main">
            <a:off x="10515600" y="6019800"/>
            <a:ext cx="3238500" cy="2994660"/>
          </a:xfrm>
          <a:prstGeom xmlns:a="http://schemas.openxmlformats.org/drawingml/2006/main" prst="roundRect">
            <a:avLst>
              <a:gd name="adj" fmla="val 2545"/>
            </a:avLst>
          </a:prstGeom>
          <a:solidFill xmlns:a="http://schemas.openxmlformats.org/drawingml/2006/main">
            <a:srgbClr val="FFFFFF"/>
          </a:solidFill>
          <a:ln xmlns:a="http://schemas.openxmlformats.org/drawingml/2006/main" w="7620">
            <a:solidFill>
              <a:srgbClr val="A5A5A5"/>
            </a:solidFill>
          </a:ln>
        </p:spPr>
      </p:sp>
      <p:pic>
        <p:nvPicPr>
          <p:cNvPr id="86" name="">
            <a:extLst xmlns:a="http://schemas.openxmlformats.org/drawingml/2006/main">
              <a:ext uri="{FF2B5EF4-FFF2-40B4-BE49-F238E27FC236}">
                <a16:creationId xmlns:a16="http://schemas.microsoft.com/office/drawing/2014/main" id="{CBE01569-B00D-4B97-B85D-09FCC9579794}"/>
              </a:ext>
            </a:extLst>
          </p:cNvPr>
          <p:cNvPicPr>
            <a:picLocks xmlns:a="http://schemas.openxmlformats.org/drawingml/2006/main" noChangeAspect="1"/>
          </p:cNvPicPr>
          <p:nvPr/>
        </p:nvPicPr>
        <p:blipFill>
          <a:blip xmlns:r="http://schemas.openxmlformats.org/officeDocument/2006/relationships" xmlns:a="http://schemas.openxmlformats.org/drawingml/2006/main" r:embed="R7b1b7be611f843f9">
            <a:extLst>
              <a:ext uri="{96DAC541-7B7A-43D3-8B79-37D633B846F1}">
                <asvg:svgBlip xmlns:asvg="http://schemas.microsoft.com/office/drawing/2016/SVG/main" r:embed="Rcd8fb2012b314c4f"/>
              </a:ext>
            </a:extLst>
          </a:blip>
          <a:stretch xmlns:a="http://schemas.openxmlformats.org/drawingml/2006/main"/>
        </p:blipFill>
        <p:spPr>
          <a:xfrm xmlns:a="http://schemas.openxmlformats.org/drawingml/2006/main">
            <a:off x="10652760" y="6164580"/>
            <a:ext cx="289560" cy="289560"/>
          </a:xfrm>
          <a:prstGeom xmlns:a="http://schemas.openxmlformats.org/drawingml/2006/main" prst="rect">
            <a:avLst/>
          </a:prstGeom>
        </p:spPr>
      </p:pic>
      <p:sp>
        <p:nvSpPr>
          <p:cNvPr id="87" name="Measurement &amp; analytics">
            <a:extLst xmlns:a="http://schemas.openxmlformats.org/drawingml/2006/main">
              <a:ext uri="{FF2B5EF4-FFF2-40B4-BE49-F238E27FC236}">
                <a16:creationId xmlns:a16="http://schemas.microsoft.com/office/drawing/2014/main" id="{87EBB5E1-C950-4226-B82D-9DFD6990C758}"/>
              </a:ext>
            </a:extLst>
          </p:cNvPr>
          <p:cNvSpPr>
            <a:spLocks xmlns:a="http://schemas.openxmlformats.org/drawingml/2006/main" noGrp="1"/>
          </p:cNvSpPr>
          <p:nvPr/>
        </p:nvSpPr>
        <p:spPr>
          <a:xfrm xmlns:a="http://schemas.openxmlformats.org/drawingml/2006/main">
            <a:off x="11079480" y="6195060"/>
            <a:ext cx="254508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60" b="1">
                <a:solidFill>
                  <a:srgbClr val="00355F"/>
                </a:solidFill>
                <a:latin typeface="Arial"/>
                <a:ea typeface="Arial"/>
                <a:cs typeface="Arial"/>
              </a:defRPr>
            </a:defPPr>
          </a:lstStyle>
          <a:p xmlns:a="http://schemas.openxmlformats.org/drawingml/2006/main">
            <a:pPr algn="l">
              <a:buNone/>
              <a:defRPr sz="1560" b="1">
                <a:solidFill>
                  <a:srgbClr val="00355F"/>
                </a:solidFill>
                <a:latin typeface="Arial"/>
                <a:ea typeface="Arial"/>
                <a:cs typeface="Arial"/>
              </a:defRPr>
            </a:pPr>
            <a:r>
              <a:rPr sz="1560" b="1">
                <a:solidFill>
                  <a:srgbClr val="00355F"/>
                </a:solidFill>
                <a:latin typeface="Arial"/>
                <a:ea typeface="Arial"/>
                <a:cs typeface="Arial"/>
              </a:rPr>
              <a:t>Measurement &amp; analytics</a:t>
            </a:r>
          </a:p>
        </p:txBody>
      </p:sp>
      <p:sp>
        <p:nvSpPr>
          <p:cNvPr id="88" name="Sequencing, LC / LC-MS, flow">
            <a:extLst xmlns:a="http://schemas.openxmlformats.org/drawingml/2006/main">
              <a:ext uri="{FF2B5EF4-FFF2-40B4-BE49-F238E27FC236}">
                <a16:creationId xmlns:a16="http://schemas.microsoft.com/office/drawing/2014/main" id="{49826398-8AFF-4F53-992C-CCC77E74926A}"/>
              </a:ext>
            </a:extLst>
          </p:cNvPr>
          <p:cNvSpPr>
            <a:spLocks xmlns:a="http://schemas.openxmlformats.org/drawingml/2006/main" noGrp="1"/>
          </p:cNvSpPr>
          <p:nvPr/>
        </p:nvSpPr>
        <p:spPr>
          <a:xfrm xmlns:a="http://schemas.openxmlformats.org/drawingml/2006/main">
            <a:off x="10668000" y="6568440"/>
            <a:ext cx="2933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buNone/>
              <a:defRPr sz="1260" b="0">
                <a:solidFill>
                  <a:srgbClr val="00355F"/>
                </a:solidFill>
                <a:latin typeface="Arial"/>
                <a:ea typeface="Arial"/>
                <a:cs typeface="Arial"/>
              </a:defRPr>
            </a:pPr>
            <a:r>
              <a:rPr sz="1260" b="0">
                <a:solidFill>
                  <a:srgbClr val="00355F"/>
                </a:solidFill>
                <a:latin typeface="Arial"/>
                <a:ea typeface="Arial"/>
                <a:cs typeface="Arial"/>
              </a:rPr>
              <a:t>Sequencing, LC / LC-MS, flow</a:t>
            </a:r>
          </a:p>
          <a:p xmlns:a="http://schemas.openxmlformats.org/drawingml/2006/main">
            <a:pPr algn="l">
              <a:buNone/>
              <a:defRPr sz="1260" b="0">
                <a:solidFill>
                  <a:srgbClr val="00355F"/>
                </a:solidFill>
                <a:latin typeface="Arial"/>
                <a:ea typeface="Arial"/>
                <a:cs typeface="Arial"/>
              </a:defRPr>
            </a:pPr>
            <a:r>
              <a:rPr sz="1260" b="0">
                <a:solidFill>
                  <a:srgbClr val="00355F"/>
                </a:solidFill>
                <a:latin typeface="Arial"/>
                <a:ea typeface="Arial"/>
                <a:cs typeface="Arial"/>
              </a:rPr>
              <a:t>Imaging and quality control</a:t>
            </a:r>
          </a:p>
        </p:txBody>
      </p:sp>
      <p:sp>
        <p:nvSpPr>
          <p:cNvPr id="89" name="RMB 4.3bn">
            <a:extLst xmlns:a="http://schemas.openxmlformats.org/drawingml/2006/main">
              <a:ext uri="{FF2B5EF4-FFF2-40B4-BE49-F238E27FC236}">
                <a16:creationId xmlns:a16="http://schemas.microsoft.com/office/drawing/2014/main" id="{908B88DB-F5B5-4EFD-9E0E-F0278319DE2F}"/>
              </a:ext>
            </a:extLst>
          </p:cNvPr>
          <p:cNvSpPr>
            <a:spLocks xmlns:a="http://schemas.openxmlformats.org/drawingml/2006/main" noGrp="1"/>
          </p:cNvSpPr>
          <p:nvPr/>
        </p:nvSpPr>
        <p:spPr>
          <a:xfrm xmlns:a="http://schemas.openxmlformats.org/drawingml/2006/main">
            <a:off x="10668000" y="7048500"/>
            <a:ext cx="2933700" cy="358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220" b="1">
                <a:solidFill>
                  <a:srgbClr val="00355F"/>
                </a:solidFill>
                <a:latin typeface="Arial"/>
                <a:ea typeface="Arial"/>
                <a:cs typeface="Arial"/>
              </a:defRPr>
            </a:defPPr>
          </a:lstStyle>
          <a:p xmlns:a="http://schemas.openxmlformats.org/drawingml/2006/main">
            <a:pPr algn="l">
              <a:buNone/>
              <a:defRPr sz="2220" b="1">
                <a:solidFill>
                  <a:srgbClr val="00355F"/>
                </a:solidFill>
                <a:latin typeface="Arial"/>
                <a:ea typeface="Arial"/>
                <a:cs typeface="Arial"/>
              </a:defRPr>
            </a:pPr>
            <a:r>
              <a:rPr sz="2220" b="1">
                <a:solidFill>
                  <a:srgbClr val="00355F"/>
                </a:solidFill>
                <a:latin typeface="Arial"/>
                <a:ea typeface="Arial"/>
                <a:cs typeface="Arial"/>
              </a:rPr>
              <a:t>RMB 4.3bn</a:t>
            </a:r>
          </a:p>
        </p:txBody>
      </p:sp>
      <p:sp>
        <p:nvSpPr>
          <p:cNvPr id="90" name="China • 2024 • sequencing tools [5]">
            <a:extLst xmlns:a="http://schemas.openxmlformats.org/drawingml/2006/main">
              <a:ext uri="{FF2B5EF4-FFF2-40B4-BE49-F238E27FC236}">
                <a16:creationId xmlns:a16="http://schemas.microsoft.com/office/drawing/2014/main" id="{6E7B4DC5-2E78-48AF-8B75-184121071ADA}"/>
              </a:ext>
            </a:extLst>
          </p:cNvPr>
          <p:cNvSpPr>
            <a:spLocks xmlns:a="http://schemas.openxmlformats.org/drawingml/2006/main" noGrp="1"/>
          </p:cNvSpPr>
          <p:nvPr/>
        </p:nvSpPr>
        <p:spPr>
          <a:xfrm xmlns:a="http://schemas.openxmlformats.org/drawingml/2006/main">
            <a:off x="10668000" y="7429500"/>
            <a:ext cx="2933700" cy="220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buNone/>
              <a:defRPr sz="1050" b="0">
                <a:solidFill>
                  <a:srgbClr val="00355F"/>
                </a:solidFill>
                <a:latin typeface="Arial"/>
                <a:ea typeface="Arial"/>
                <a:cs typeface="Arial"/>
              </a:defRPr>
            </a:pPr>
            <a:r>
              <a:rPr sz="1050" b="0">
                <a:solidFill>
                  <a:srgbClr val="00355F"/>
                </a:solidFill>
                <a:latin typeface="Arial"/>
                <a:ea typeface="Arial"/>
                <a:cs typeface="Arial"/>
              </a:rPr>
              <a:t>China • 2024 • sequencing tools [5]</a:t>
            </a:r>
          </a:p>
        </p:txBody>
      </p:sp>
      <p:sp>
        <p:nvSpPr>
          <p:cNvPr id="91" name="Sequencers + consumables; all uses">
            <a:extLst xmlns:a="http://schemas.openxmlformats.org/drawingml/2006/main">
              <a:ext uri="{FF2B5EF4-FFF2-40B4-BE49-F238E27FC236}">
                <a16:creationId xmlns:a16="http://schemas.microsoft.com/office/drawing/2014/main" id="{2C34A8C2-4E77-4783-9B57-8AE1F76AFB68}"/>
              </a:ext>
            </a:extLst>
          </p:cNvPr>
          <p:cNvSpPr>
            <a:spLocks xmlns:a="http://schemas.openxmlformats.org/drawingml/2006/main" noGrp="1"/>
          </p:cNvSpPr>
          <p:nvPr/>
        </p:nvSpPr>
        <p:spPr>
          <a:xfrm xmlns:a="http://schemas.openxmlformats.org/drawingml/2006/main">
            <a:off x="10668000" y="7650480"/>
            <a:ext cx="293370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0">
                <a:solidFill>
                  <a:srgbClr val="00355F"/>
                </a:solidFill>
                <a:latin typeface="Arial"/>
                <a:ea typeface="Arial"/>
                <a:cs typeface="Arial"/>
              </a:defRPr>
            </a:defPPr>
          </a:lstStyle>
          <a:p xmlns:a="http://schemas.openxmlformats.org/drawingml/2006/main">
            <a:pPr algn="l">
              <a:buNone/>
              <a:defRPr sz="990" b="0">
                <a:solidFill>
                  <a:srgbClr val="00355F"/>
                </a:solidFill>
                <a:latin typeface="Arial"/>
                <a:ea typeface="Arial"/>
                <a:cs typeface="Arial"/>
              </a:defRPr>
            </a:pPr>
            <a:r>
              <a:rPr sz="990" b="0">
                <a:solidFill>
                  <a:srgbClr val="00355F"/>
                </a:solidFill>
                <a:latin typeface="Arial"/>
                <a:ea typeface="Arial"/>
                <a:cs typeface="Arial"/>
              </a:rPr>
              <a:t>Sequencers + consumables; all uses</a:t>
            </a:r>
          </a:p>
        </p:txBody>
      </p:sp>
      <p:pic>
        <p:nvPicPr>
          <p:cNvPr id="92" name="">
            <a:extLst xmlns:a="http://schemas.openxmlformats.org/drawingml/2006/main">
              <a:ext uri="{FF2B5EF4-FFF2-40B4-BE49-F238E27FC236}">
                <a16:creationId xmlns:a16="http://schemas.microsoft.com/office/drawing/2014/main" id="{DCEEBD67-538B-499B-B781-BE0C3DCEE592}"/>
              </a:ext>
            </a:extLst>
          </p:cNvPr>
          <p:cNvPicPr>
            <a:picLocks xmlns:a="http://schemas.openxmlformats.org/drawingml/2006/main" noChangeAspect="1"/>
          </p:cNvPicPr>
          <p:nvPr/>
        </p:nvPicPr>
        <p:blipFill>
          <a:blip xmlns:r="http://schemas.openxmlformats.org/officeDocument/2006/relationships" xmlns:a="http://schemas.openxmlformats.org/drawingml/2006/main" r:embed="R922de039721f4530"/>
          <a:stretch xmlns:a="http://schemas.openxmlformats.org/drawingml/2006/main"/>
        </p:blipFill>
        <p:spPr>
          <a:xfrm xmlns:a="http://schemas.openxmlformats.org/drawingml/2006/main">
            <a:off x="10668000" y="7936122"/>
            <a:ext cx="769620" cy="244055"/>
          </a:xfrm>
          <a:prstGeom xmlns:a="http://schemas.openxmlformats.org/drawingml/2006/main" prst="rect">
            <a:avLst/>
          </a:prstGeom>
        </p:spPr>
      </p:pic>
      <p:sp>
        <p:nvSpPr>
          <p:cNvPr id="93" name="BD flow → WAT†">
            <a:extLst xmlns:a="http://schemas.openxmlformats.org/drawingml/2006/main">
              <a:ext uri="{FF2B5EF4-FFF2-40B4-BE49-F238E27FC236}">
                <a16:creationId xmlns:a16="http://schemas.microsoft.com/office/drawing/2014/main" id="{642F11BC-1605-4D62-9E5A-5BB2B468E739}"/>
              </a:ext>
            </a:extLst>
          </p:cNvPr>
          <p:cNvSpPr>
            <a:spLocks xmlns:a="http://schemas.openxmlformats.org/drawingml/2006/main" noGrp="1"/>
          </p:cNvSpPr>
          <p:nvPr/>
        </p:nvSpPr>
        <p:spPr>
          <a:xfrm xmlns:a="http://schemas.openxmlformats.org/drawingml/2006/main">
            <a:off x="11765280" y="7985760"/>
            <a:ext cx="1790700" cy="2514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80" b="1">
                <a:solidFill>
                  <a:srgbClr val="00355F"/>
                </a:solidFill>
                <a:latin typeface="Arial"/>
                <a:ea typeface="Arial"/>
                <a:cs typeface="Arial"/>
              </a:defRPr>
            </a:defPPr>
          </a:lstStyle>
          <a:p xmlns:a="http://schemas.openxmlformats.org/drawingml/2006/main">
            <a:pPr algn="l">
              <a:buNone/>
              <a:defRPr sz="1380" b="1">
                <a:solidFill>
                  <a:srgbClr val="00355F"/>
                </a:solidFill>
                <a:latin typeface="Arial"/>
                <a:ea typeface="Arial"/>
                <a:cs typeface="Arial"/>
              </a:defRPr>
            </a:pPr>
            <a:r>
              <a:rPr sz="1380" b="1">
                <a:solidFill>
                  <a:srgbClr val="00355F"/>
                </a:solidFill>
                <a:latin typeface="Arial"/>
                <a:ea typeface="Arial"/>
                <a:cs typeface="Arial"/>
              </a:rPr>
              <a:t>BD flow → WAT†</a:t>
            </a:r>
          </a:p>
        </p:txBody>
      </p:sp>
      <p:sp>
        <p:nvSpPr>
          <p:cNvPr id="94" name="CHINA / HK LISTINGS">
            <a:extLst xmlns:a="http://schemas.openxmlformats.org/drawingml/2006/main">
              <a:ext uri="{FF2B5EF4-FFF2-40B4-BE49-F238E27FC236}">
                <a16:creationId xmlns:a16="http://schemas.microsoft.com/office/drawing/2014/main" id="{0EBC2D6D-ACB8-450E-A626-D65352DC2C9C}"/>
              </a:ext>
            </a:extLst>
          </p:cNvPr>
          <p:cNvSpPr>
            <a:spLocks xmlns:a="http://schemas.openxmlformats.org/drawingml/2006/main" noGrp="1"/>
          </p:cNvSpPr>
          <p:nvPr/>
        </p:nvSpPr>
        <p:spPr>
          <a:xfrm xmlns:a="http://schemas.openxmlformats.org/drawingml/2006/main">
            <a:off x="10668000" y="8290560"/>
            <a:ext cx="1531620" cy="1752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70" b="1">
                <a:solidFill>
                  <a:srgbClr val="00355F"/>
                </a:solidFill>
                <a:latin typeface="Arial"/>
                <a:ea typeface="Arial"/>
                <a:cs typeface="Arial"/>
              </a:defRPr>
            </a:defPPr>
          </a:lstStyle>
          <a:p xmlns:a="http://schemas.openxmlformats.org/drawingml/2006/main">
            <a:pPr algn="l">
              <a:buNone/>
              <a:defRPr sz="870" b="1">
                <a:solidFill>
                  <a:srgbClr val="00355F"/>
                </a:solidFill>
                <a:latin typeface="Arial"/>
                <a:ea typeface="Arial"/>
                <a:cs typeface="Arial"/>
              </a:defRPr>
            </a:pPr>
            <a:r>
              <a:rPr sz="870" b="1">
                <a:solidFill>
                  <a:srgbClr val="00355F"/>
                </a:solidFill>
                <a:latin typeface="Arial"/>
                <a:ea typeface="Arial"/>
                <a:cs typeface="Arial"/>
              </a:rPr>
              <a:t>CHINA / HK LISTINGS</a:t>
            </a:r>
          </a:p>
        </p:txBody>
      </p:sp>
      <p:sp>
        <p:nvSpPr>
          <p:cNvPr id="95" name="US LISTINGS / PARENTS">
            <a:extLst xmlns:a="http://schemas.openxmlformats.org/drawingml/2006/main">
              <a:ext uri="{FF2B5EF4-FFF2-40B4-BE49-F238E27FC236}">
                <a16:creationId xmlns:a16="http://schemas.microsoft.com/office/drawing/2014/main" id="{93B5A8C2-ED6A-43E6-AEFD-53B4420E2337}"/>
              </a:ext>
            </a:extLst>
          </p:cNvPr>
          <p:cNvSpPr>
            <a:spLocks xmlns:a="http://schemas.openxmlformats.org/drawingml/2006/main" noGrp="1"/>
          </p:cNvSpPr>
          <p:nvPr/>
        </p:nvSpPr>
        <p:spPr>
          <a:xfrm xmlns:a="http://schemas.openxmlformats.org/drawingml/2006/main">
            <a:off x="12306300" y="8290560"/>
            <a:ext cx="1325880" cy="1752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40" b="1">
                <a:solidFill>
                  <a:srgbClr val="00355F"/>
                </a:solidFill>
                <a:latin typeface="Arial"/>
                <a:ea typeface="Arial"/>
                <a:cs typeface="Arial"/>
              </a:defRPr>
            </a:defPPr>
          </a:lstStyle>
          <a:p xmlns:a="http://schemas.openxmlformats.org/drawingml/2006/main">
            <a:pPr algn="l">
              <a:buNone/>
              <a:defRPr sz="840" b="1">
                <a:solidFill>
                  <a:srgbClr val="00355F"/>
                </a:solidFill>
                <a:latin typeface="Arial"/>
                <a:ea typeface="Arial"/>
                <a:cs typeface="Arial"/>
              </a:defRPr>
            </a:pPr>
            <a:r>
              <a:rPr sz="840" b="1">
                <a:solidFill>
                  <a:srgbClr val="00355F"/>
                </a:solidFill>
                <a:latin typeface="Arial"/>
                <a:ea typeface="Arial"/>
                <a:cs typeface="Arial"/>
              </a:rPr>
              <a:t>US LISTINGS / PARENTS</a:t>
            </a:r>
          </a:p>
        </p:txBody>
      </p:sp>
      <p:sp>
        <p:nvSpPr>
          <p:cNvPr id="96" name="MGI · 688114.SH">
            <a:extLst xmlns:a="http://schemas.openxmlformats.org/drawingml/2006/main">
              <a:ext uri="{FF2B5EF4-FFF2-40B4-BE49-F238E27FC236}">
                <a16:creationId xmlns:a16="http://schemas.microsoft.com/office/drawing/2014/main" id="{677C6441-2146-48DD-AE57-002F602E91D3}"/>
              </a:ext>
            </a:extLst>
          </p:cNvPr>
          <p:cNvSpPr>
            <a:spLocks xmlns:a="http://schemas.openxmlformats.org/drawingml/2006/main" noGrp="1"/>
          </p:cNvSpPr>
          <p:nvPr/>
        </p:nvSpPr>
        <p:spPr>
          <a:xfrm xmlns:a="http://schemas.openxmlformats.org/drawingml/2006/main">
            <a:off x="10668000" y="8511540"/>
            <a:ext cx="1584960"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buNone/>
              <a:defRPr sz="1020" b="0">
                <a:solidFill>
                  <a:srgbClr val="00355F"/>
                </a:solidFill>
                <a:latin typeface="Arial"/>
                <a:ea typeface="Arial"/>
                <a:cs typeface="Arial"/>
              </a:defRPr>
            </a:pPr>
            <a:r>
              <a:rPr sz="1020" b="0">
                <a:solidFill>
                  <a:srgbClr val="00355F"/>
                </a:solidFill>
                <a:latin typeface="Arial"/>
                <a:ea typeface="Arial"/>
                <a:cs typeface="Arial"/>
              </a:rPr>
              <a:t>MGI · 688114.SH</a:t>
            </a:r>
          </a:p>
          <a:p xmlns:a="http://schemas.openxmlformats.org/drawingml/2006/main">
            <a:pPr algn="l">
              <a:buNone/>
              <a:defRPr sz="1020" b="0">
                <a:solidFill>
                  <a:srgbClr val="00355F"/>
                </a:solidFill>
                <a:latin typeface="Arial"/>
                <a:ea typeface="Arial"/>
                <a:cs typeface="Arial"/>
              </a:defRPr>
            </a:pPr>
            <a:r>
              <a:rPr sz="1020" b="0">
                <a:solidFill>
                  <a:srgbClr val="00355F"/>
                </a:solidFill>
                <a:latin typeface="Arial"/>
                <a:ea typeface="Arial"/>
                <a:cs typeface="Arial"/>
              </a:rPr>
              <a:t>NanoMicro · 688690.SH</a:t>
            </a:r>
          </a:p>
        </p:txBody>
      </p:sp>
      <p:sp>
        <p:nvSpPr>
          <p:cNvPr id="97" name="Illumina · ILMN">
            <a:extLst xmlns:a="http://schemas.openxmlformats.org/drawingml/2006/main">
              <a:ext uri="{FF2B5EF4-FFF2-40B4-BE49-F238E27FC236}">
                <a16:creationId xmlns:a16="http://schemas.microsoft.com/office/drawing/2014/main" id="{D9B92017-52B0-4A89-8263-C8B2F54026B8}"/>
              </a:ext>
            </a:extLst>
          </p:cNvPr>
          <p:cNvSpPr>
            <a:spLocks xmlns:a="http://schemas.openxmlformats.org/drawingml/2006/main" noGrp="1"/>
          </p:cNvSpPr>
          <p:nvPr/>
        </p:nvSpPr>
        <p:spPr>
          <a:xfrm xmlns:a="http://schemas.openxmlformats.org/drawingml/2006/main">
            <a:off x="12306300" y="8511540"/>
            <a:ext cx="1325880"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buNone/>
              <a:defRPr sz="972" b="0">
                <a:solidFill>
                  <a:srgbClr val="00355F"/>
                </a:solidFill>
                <a:latin typeface="Arial"/>
                <a:ea typeface="Arial"/>
                <a:cs typeface="Arial"/>
              </a:defRPr>
            </a:pPr>
            <a:r>
              <a:rPr sz="972" b="0">
                <a:solidFill>
                  <a:srgbClr val="00355F"/>
                </a:solidFill>
                <a:latin typeface="Arial"/>
                <a:ea typeface="Arial"/>
                <a:cs typeface="Arial"/>
              </a:rPr>
              <a:t>Illumina · ILMN</a:t>
            </a:r>
          </a:p>
          <a:p xmlns:a="http://schemas.openxmlformats.org/drawingml/2006/main">
            <a:pPr algn="l">
              <a:buNone/>
              <a:defRPr sz="972" b="0">
                <a:solidFill>
                  <a:srgbClr val="00355F"/>
                </a:solidFill>
                <a:latin typeface="Arial"/>
                <a:ea typeface="Arial"/>
                <a:cs typeface="Arial"/>
              </a:defRPr>
            </a:pPr>
            <a:r>
              <a:rPr sz="972" b="0">
                <a:solidFill>
                  <a:srgbClr val="00355F"/>
                </a:solidFill>
                <a:latin typeface="Arial"/>
                <a:ea typeface="Arial"/>
                <a:cs typeface="Arial"/>
              </a:rPr>
              <a:t>Agilent · A</a:t>
            </a:r>
          </a:p>
          <a:p xmlns:a="http://schemas.openxmlformats.org/drawingml/2006/main">
            <a:pPr algn="l">
              <a:buNone/>
              <a:defRPr sz="972" b="0">
                <a:solidFill>
                  <a:srgbClr val="00355F"/>
                </a:solidFill>
                <a:latin typeface="Arial"/>
                <a:ea typeface="Arial"/>
                <a:cs typeface="Arial"/>
              </a:defRPr>
            </a:pPr>
            <a:r>
              <a:rPr sz="972" b="0">
                <a:solidFill>
                  <a:srgbClr val="00355F"/>
                </a:solidFill>
                <a:latin typeface="Arial"/>
                <a:ea typeface="Arial"/>
                <a:cs typeface="Arial"/>
              </a:rPr>
              <a:t>Waters · WAT†</a:t>
            </a:r>
          </a:p>
        </p:txBody>
      </p:sp>
      <p:sp>
        <p:nvSpPr>
          <p:cNvPr id="98" name="">
            <a:extLst xmlns:a="http://schemas.openxmlformats.org/drawingml/2006/main">
              <a:ext uri="{FF2B5EF4-FFF2-40B4-BE49-F238E27FC236}">
                <a16:creationId xmlns:a16="http://schemas.microsoft.com/office/drawing/2014/main" id="{B7565F19-47AB-456F-A7B5-21E78A9F11AA}"/>
              </a:ext>
            </a:extLst>
          </p:cNvPr>
          <p:cNvSpPr>
            <a:spLocks xmlns:a="http://schemas.openxmlformats.org/drawingml/2006/main" noGrp="1"/>
          </p:cNvSpPr>
          <p:nvPr/>
        </p:nvSpPr>
        <p:spPr>
          <a:xfrm xmlns:a="http://schemas.openxmlformats.org/drawingml/2006/main">
            <a:off x="14043660" y="6019800"/>
            <a:ext cx="3238500" cy="2994660"/>
          </a:xfrm>
          <a:prstGeom xmlns:a="http://schemas.openxmlformats.org/drawingml/2006/main" prst="roundRect">
            <a:avLst>
              <a:gd name="adj" fmla="val 2545"/>
            </a:avLst>
          </a:prstGeom>
          <a:solidFill xmlns:a="http://schemas.openxmlformats.org/drawingml/2006/main">
            <a:srgbClr val="FFFFFF"/>
          </a:solidFill>
          <a:ln xmlns:a="http://schemas.openxmlformats.org/drawingml/2006/main" w="15240">
            <a:solidFill>
              <a:srgbClr val="00355F"/>
            </a:solidFill>
          </a:ln>
        </p:spPr>
      </p:sp>
      <p:pic>
        <p:nvPicPr>
          <p:cNvPr id="99" name="">
            <a:extLst xmlns:a="http://schemas.openxmlformats.org/drawingml/2006/main">
              <a:ext uri="{FF2B5EF4-FFF2-40B4-BE49-F238E27FC236}">
                <a16:creationId xmlns:a16="http://schemas.microsoft.com/office/drawing/2014/main" id="{7B1C9F00-7D3F-41E7-9BB0-D22ED071E9B4}"/>
              </a:ext>
            </a:extLst>
          </p:cNvPr>
          <p:cNvPicPr>
            <a:picLocks xmlns:a="http://schemas.openxmlformats.org/drawingml/2006/main" noChangeAspect="1"/>
          </p:cNvPicPr>
          <p:nvPr/>
        </p:nvPicPr>
        <p:blipFill>
          <a:blip xmlns:r="http://schemas.openxmlformats.org/officeDocument/2006/relationships" xmlns:a="http://schemas.openxmlformats.org/drawingml/2006/main" r:embed="R4900accef28f4b25">
            <a:extLst>
              <a:ext uri="{96DAC541-7B7A-43D3-8B79-37D633B846F1}">
                <asvg:svgBlip xmlns:asvg="http://schemas.microsoft.com/office/drawing/2016/SVG/main" r:embed="R80fd79af247c46ac"/>
              </a:ext>
            </a:extLst>
          </a:blip>
          <a:stretch xmlns:a="http://schemas.openxmlformats.org/drawingml/2006/main"/>
        </p:blipFill>
        <p:spPr>
          <a:xfrm xmlns:a="http://schemas.openxmlformats.org/drawingml/2006/main">
            <a:off x="14180820" y="6164580"/>
            <a:ext cx="289560" cy="289560"/>
          </a:xfrm>
          <a:prstGeom xmlns:a="http://schemas.openxmlformats.org/drawingml/2006/main" prst="rect">
            <a:avLst/>
          </a:prstGeom>
        </p:spPr>
      </p:pic>
      <p:sp>
        <p:nvSpPr>
          <p:cNvPr id="100" name="Purification &amp; scale-up">
            <a:extLst xmlns:a="http://schemas.openxmlformats.org/drawingml/2006/main">
              <a:ext uri="{FF2B5EF4-FFF2-40B4-BE49-F238E27FC236}">
                <a16:creationId xmlns:a16="http://schemas.microsoft.com/office/drawing/2014/main" id="{4226B4E5-A189-4AD5-8993-D32F7146E206}"/>
              </a:ext>
            </a:extLst>
          </p:cNvPr>
          <p:cNvSpPr>
            <a:spLocks xmlns:a="http://schemas.openxmlformats.org/drawingml/2006/main" noGrp="1"/>
          </p:cNvSpPr>
          <p:nvPr/>
        </p:nvSpPr>
        <p:spPr>
          <a:xfrm xmlns:a="http://schemas.openxmlformats.org/drawingml/2006/main">
            <a:off x="14607540" y="6195060"/>
            <a:ext cx="254508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60" b="1">
                <a:solidFill>
                  <a:srgbClr val="00355F"/>
                </a:solidFill>
                <a:latin typeface="Arial"/>
                <a:ea typeface="Arial"/>
                <a:cs typeface="Arial"/>
              </a:defRPr>
            </a:defPPr>
          </a:lstStyle>
          <a:p xmlns:a="http://schemas.openxmlformats.org/drawingml/2006/main">
            <a:pPr algn="l">
              <a:buNone/>
              <a:defRPr sz="1560" b="1">
                <a:solidFill>
                  <a:srgbClr val="00355F"/>
                </a:solidFill>
                <a:latin typeface="Arial"/>
                <a:ea typeface="Arial"/>
                <a:cs typeface="Arial"/>
              </a:defRPr>
            </a:pPr>
            <a:r>
              <a:rPr sz="1560" b="1">
                <a:solidFill>
                  <a:srgbClr val="00355F"/>
                </a:solidFill>
                <a:latin typeface="Arial"/>
                <a:ea typeface="Arial"/>
                <a:cs typeface="Arial"/>
              </a:rPr>
              <a:t>Purification &amp; scale-up</a:t>
            </a:r>
          </a:p>
        </p:txBody>
      </p:sp>
      <p:sp>
        <p:nvSpPr>
          <p:cNvPr id="101" name="Analytical columns, process resins">
            <a:extLst xmlns:a="http://schemas.openxmlformats.org/drawingml/2006/main">
              <a:ext uri="{FF2B5EF4-FFF2-40B4-BE49-F238E27FC236}">
                <a16:creationId xmlns:a16="http://schemas.microsoft.com/office/drawing/2014/main" id="{CCAD1A37-650F-484F-92BF-7E3C444DFB4B}"/>
              </a:ext>
            </a:extLst>
          </p:cNvPr>
          <p:cNvSpPr>
            <a:spLocks xmlns:a="http://schemas.openxmlformats.org/drawingml/2006/main" noGrp="1"/>
          </p:cNvSpPr>
          <p:nvPr/>
        </p:nvSpPr>
        <p:spPr>
          <a:xfrm xmlns:a="http://schemas.openxmlformats.org/drawingml/2006/main">
            <a:off x="14196060" y="6568440"/>
            <a:ext cx="2933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buNone/>
              <a:defRPr sz="1260" b="0">
                <a:solidFill>
                  <a:srgbClr val="00355F"/>
                </a:solidFill>
                <a:latin typeface="Arial"/>
                <a:ea typeface="Arial"/>
                <a:cs typeface="Arial"/>
              </a:defRPr>
            </a:pPr>
            <a:r>
              <a:rPr sz="1260" b="0">
                <a:solidFill>
                  <a:srgbClr val="00355F"/>
                </a:solidFill>
                <a:latin typeface="Arial"/>
                <a:ea typeface="Arial"/>
                <a:cs typeface="Arial"/>
              </a:rPr>
              <a:t>Analytical columns, process resins</a:t>
            </a:r>
          </a:p>
          <a:p xmlns:a="http://schemas.openxmlformats.org/drawingml/2006/main">
            <a:pPr algn="l">
              <a:buNone/>
              <a:defRPr sz="1260" b="0">
                <a:solidFill>
                  <a:srgbClr val="00355F"/>
                </a:solidFill>
                <a:latin typeface="Arial"/>
                <a:ea typeface="Arial"/>
                <a:cs typeface="Arial"/>
              </a:defRPr>
            </a:pPr>
            <a:r>
              <a:rPr sz="1260" b="0">
                <a:solidFill>
                  <a:srgbClr val="00355F"/>
                </a:solidFill>
                <a:latin typeface="Arial"/>
                <a:ea typeface="Arial"/>
                <a:cs typeface="Arial"/>
              </a:rPr>
              <a:t>Filtration and single-use systems</a:t>
            </a:r>
          </a:p>
        </p:txBody>
      </p:sp>
      <p:sp>
        <p:nvSpPr>
          <p:cNvPr id="102" name="US$578.2m*">
            <a:extLst xmlns:a="http://schemas.openxmlformats.org/drawingml/2006/main">
              <a:ext uri="{FF2B5EF4-FFF2-40B4-BE49-F238E27FC236}">
                <a16:creationId xmlns:a16="http://schemas.microsoft.com/office/drawing/2014/main" id="{D74059DD-AFE8-4409-A97C-CB60064FFAC7}"/>
              </a:ext>
            </a:extLst>
          </p:cNvPr>
          <p:cNvSpPr>
            <a:spLocks xmlns:a="http://schemas.openxmlformats.org/drawingml/2006/main" noGrp="1"/>
          </p:cNvSpPr>
          <p:nvPr/>
        </p:nvSpPr>
        <p:spPr>
          <a:xfrm xmlns:a="http://schemas.openxmlformats.org/drawingml/2006/main">
            <a:off x="14196060" y="7048500"/>
            <a:ext cx="2933700" cy="358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220" b="1">
                <a:solidFill>
                  <a:srgbClr val="00355F"/>
                </a:solidFill>
                <a:latin typeface="Arial"/>
                <a:ea typeface="Arial"/>
                <a:cs typeface="Arial"/>
              </a:defRPr>
            </a:defPPr>
          </a:lstStyle>
          <a:p xmlns:a="http://schemas.openxmlformats.org/drawingml/2006/main">
            <a:pPr algn="l">
              <a:buNone/>
              <a:defRPr sz="2220" b="1">
                <a:solidFill>
                  <a:srgbClr val="00355F"/>
                </a:solidFill>
                <a:latin typeface="Arial"/>
                <a:ea typeface="Arial"/>
                <a:cs typeface="Arial"/>
              </a:defRPr>
            </a:pPr>
            <a:r>
              <a:rPr sz="2220" b="1">
                <a:solidFill>
                  <a:srgbClr val="00355F"/>
                </a:solidFill>
                <a:latin typeface="Arial"/>
                <a:ea typeface="Arial"/>
                <a:cs typeface="Arial"/>
              </a:rPr>
              <a:t>US$578.2m*</a:t>
            </a:r>
          </a:p>
        </p:txBody>
      </p:sp>
      <p:sp>
        <p:nvSpPr>
          <p:cNvPr id="103" name="China • 2024 • bioprocess resins [3]">
            <a:extLst xmlns:a="http://schemas.openxmlformats.org/drawingml/2006/main">
              <a:ext uri="{FF2B5EF4-FFF2-40B4-BE49-F238E27FC236}">
                <a16:creationId xmlns:a16="http://schemas.microsoft.com/office/drawing/2014/main" id="{0FD53FCA-C16B-40CD-872A-7A23874AC63E}"/>
              </a:ext>
            </a:extLst>
          </p:cNvPr>
          <p:cNvSpPr>
            <a:spLocks xmlns:a="http://schemas.openxmlformats.org/drawingml/2006/main" noGrp="1"/>
          </p:cNvSpPr>
          <p:nvPr/>
        </p:nvSpPr>
        <p:spPr>
          <a:xfrm xmlns:a="http://schemas.openxmlformats.org/drawingml/2006/main">
            <a:off x="14196060" y="7429500"/>
            <a:ext cx="2933700" cy="220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buNone/>
              <a:defRPr sz="1050" b="0">
                <a:solidFill>
                  <a:srgbClr val="00355F"/>
                </a:solidFill>
                <a:latin typeface="Arial"/>
                <a:ea typeface="Arial"/>
                <a:cs typeface="Arial"/>
              </a:defRPr>
            </a:pPr>
            <a:r>
              <a:rPr sz="1050" b="0">
                <a:solidFill>
                  <a:srgbClr val="00355F"/>
                </a:solidFill>
                <a:latin typeface="Arial"/>
                <a:ea typeface="Arial"/>
                <a:cs typeface="Arial"/>
              </a:rPr>
              <a:t>China • 2024 • bioprocess resins [3]</a:t>
            </a:r>
          </a:p>
        </p:txBody>
      </p:sp>
      <p:sp>
        <p:nvSpPr>
          <p:cNvPr id="104" name="Manufacturing demand has a longer lag">
            <a:extLst xmlns:a="http://schemas.openxmlformats.org/drawingml/2006/main">
              <a:ext uri="{FF2B5EF4-FFF2-40B4-BE49-F238E27FC236}">
                <a16:creationId xmlns:a16="http://schemas.microsoft.com/office/drawing/2014/main" id="{671898DE-2FFD-430D-A321-5F14627BB4FB}"/>
              </a:ext>
            </a:extLst>
          </p:cNvPr>
          <p:cNvSpPr>
            <a:spLocks xmlns:a="http://schemas.openxmlformats.org/drawingml/2006/main" noGrp="1"/>
          </p:cNvSpPr>
          <p:nvPr/>
        </p:nvSpPr>
        <p:spPr>
          <a:xfrm xmlns:a="http://schemas.openxmlformats.org/drawingml/2006/main">
            <a:off x="14196060" y="7650480"/>
            <a:ext cx="293370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0">
                <a:solidFill>
                  <a:srgbClr val="00355F"/>
                </a:solidFill>
                <a:latin typeface="Arial"/>
                <a:ea typeface="Arial"/>
                <a:cs typeface="Arial"/>
              </a:defRPr>
            </a:defPPr>
          </a:lstStyle>
          <a:p xmlns:a="http://schemas.openxmlformats.org/drawingml/2006/main">
            <a:pPr algn="l">
              <a:buNone/>
              <a:defRPr sz="990" b="0">
                <a:solidFill>
                  <a:srgbClr val="00355F"/>
                </a:solidFill>
                <a:latin typeface="Arial"/>
                <a:ea typeface="Arial"/>
                <a:cs typeface="Arial"/>
              </a:defRPr>
            </a:pPr>
            <a:r>
              <a:rPr sz="990" b="0">
                <a:solidFill>
                  <a:srgbClr val="00355F"/>
                </a:solidFill>
                <a:latin typeface="Arial"/>
                <a:ea typeface="Arial"/>
                <a:cs typeface="Arial"/>
              </a:rPr>
              <a:t>Manufacturing demand has a longer lag</a:t>
            </a:r>
          </a:p>
        </p:txBody>
      </p:sp>
      <p:pic>
        <p:nvPicPr>
          <p:cNvPr id="105" name="">
            <a:extLst xmlns:a="http://schemas.openxmlformats.org/drawingml/2006/main">
              <a:ext uri="{FF2B5EF4-FFF2-40B4-BE49-F238E27FC236}">
                <a16:creationId xmlns:a16="http://schemas.microsoft.com/office/drawing/2014/main" id="{A8C1CA47-99A2-4691-A65F-31DBC80EEC05}"/>
              </a:ext>
            </a:extLst>
          </p:cNvPr>
          <p:cNvPicPr>
            <a:picLocks xmlns:a="http://schemas.openxmlformats.org/drawingml/2006/main" noChangeAspect="1"/>
          </p:cNvPicPr>
          <p:nvPr/>
        </p:nvPicPr>
        <p:blipFill>
          <a:blip xmlns:r="http://schemas.openxmlformats.org/officeDocument/2006/relationships" xmlns:a="http://schemas.openxmlformats.org/drawingml/2006/main" r:embed="Rf5ae518bc6e448b7">
            <a:extLst>
              <a:ext uri="{96DAC541-7B7A-43D3-8B79-37D633B846F1}">
                <asvg:svgBlip xmlns:asvg="http://schemas.microsoft.com/office/drawing/2016/SVG/main" r:embed="R963aa88321a043c2"/>
              </a:ext>
            </a:extLst>
          </a:blip>
          <a:stretch xmlns:a="http://schemas.openxmlformats.org/drawingml/2006/main"/>
        </p:blipFill>
        <p:spPr>
          <a:xfrm xmlns:a="http://schemas.openxmlformats.org/drawingml/2006/main">
            <a:off x="14196060" y="7917180"/>
            <a:ext cx="281940" cy="281940"/>
          </a:xfrm>
          <a:prstGeom xmlns:a="http://schemas.openxmlformats.org/drawingml/2006/main" prst="rect">
            <a:avLst/>
          </a:prstGeom>
        </p:spPr>
      </p:pic>
      <p:sp>
        <p:nvSpPr>
          <p:cNvPr id="106" name="NanoMicro">
            <a:extLst xmlns:a="http://schemas.openxmlformats.org/drawingml/2006/main">
              <a:ext uri="{FF2B5EF4-FFF2-40B4-BE49-F238E27FC236}">
                <a16:creationId xmlns:a16="http://schemas.microsoft.com/office/drawing/2014/main" id="{3F578045-5FE2-43A9-9FCB-02BBB09ED7AD}"/>
              </a:ext>
            </a:extLst>
          </p:cNvPr>
          <p:cNvSpPr>
            <a:spLocks xmlns:a="http://schemas.openxmlformats.org/drawingml/2006/main" noGrp="1"/>
          </p:cNvSpPr>
          <p:nvPr/>
        </p:nvSpPr>
        <p:spPr>
          <a:xfrm xmlns:a="http://schemas.openxmlformats.org/drawingml/2006/main">
            <a:off x="14546580" y="7970520"/>
            <a:ext cx="1203960" cy="243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40" b="1">
                <a:solidFill>
                  <a:srgbClr val="00355F"/>
                </a:solidFill>
                <a:latin typeface="Arial"/>
                <a:ea typeface="Arial"/>
                <a:cs typeface="Arial"/>
              </a:defRPr>
            </a:defPPr>
          </a:lstStyle>
          <a:p xmlns:a="http://schemas.openxmlformats.org/drawingml/2006/main">
            <a:pPr algn="l">
              <a:buNone/>
              <a:defRPr sz="1440" b="1">
                <a:solidFill>
                  <a:srgbClr val="00355F"/>
                </a:solidFill>
                <a:latin typeface="Arial"/>
                <a:ea typeface="Arial"/>
                <a:cs typeface="Arial"/>
              </a:defRPr>
            </a:pPr>
            <a:r>
              <a:rPr sz="1440" b="1">
                <a:solidFill>
                  <a:srgbClr val="00355F"/>
                </a:solidFill>
                <a:latin typeface="Arial"/>
                <a:ea typeface="Arial"/>
                <a:cs typeface="Arial"/>
              </a:rPr>
              <a:t>NanoMicro</a:t>
            </a:r>
          </a:p>
        </p:txBody>
      </p:sp>
      <p:pic>
        <p:nvPicPr>
          <p:cNvPr id="107" name="">
            <a:extLst xmlns:a="http://schemas.openxmlformats.org/drawingml/2006/main">
              <a:ext uri="{FF2B5EF4-FFF2-40B4-BE49-F238E27FC236}">
                <a16:creationId xmlns:a16="http://schemas.microsoft.com/office/drawing/2014/main" id="{46A32EEB-B996-4E71-A5B1-A4A3709911E1}"/>
              </a:ext>
            </a:extLst>
          </p:cNvPr>
          <p:cNvPicPr>
            <a:picLocks xmlns:a="http://schemas.openxmlformats.org/drawingml/2006/main" noChangeAspect="1"/>
          </p:cNvPicPr>
          <p:nvPr/>
        </p:nvPicPr>
        <p:blipFill>
          <a:blip xmlns:r="http://schemas.openxmlformats.org/officeDocument/2006/relationships" xmlns:a="http://schemas.openxmlformats.org/drawingml/2006/main" r:embed="R66ca786e3b284425"/>
          <a:stretch xmlns:a="http://schemas.openxmlformats.org/drawingml/2006/main"/>
        </p:blipFill>
        <p:spPr>
          <a:xfrm xmlns:a="http://schemas.openxmlformats.org/drawingml/2006/main">
            <a:off x="15949686" y="7932420"/>
            <a:ext cx="1041887" cy="289560"/>
          </a:xfrm>
          <a:prstGeom xmlns:a="http://schemas.openxmlformats.org/drawingml/2006/main" prst="rect">
            <a:avLst/>
          </a:prstGeom>
        </p:spPr>
      </p:pic>
      <p:sp>
        <p:nvSpPr>
          <p:cNvPr id="108" name="CHINA / HK LISTINGS">
            <a:extLst xmlns:a="http://schemas.openxmlformats.org/drawingml/2006/main">
              <a:ext uri="{FF2B5EF4-FFF2-40B4-BE49-F238E27FC236}">
                <a16:creationId xmlns:a16="http://schemas.microsoft.com/office/drawing/2014/main" id="{F6946C97-E383-4EDD-B8B0-06D5C6D0770E}"/>
              </a:ext>
            </a:extLst>
          </p:cNvPr>
          <p:cNvSpPr>
            <a:spLocks xmlns:a="http://schemas.openxmlformats.org/drawingml/2006/main" noGrp="1"/>
          </p:cNvSpPr>
          <p:nvPr/>
        </p:nvSpPr>
        <p:spPr>
          <a:xfrm xmlns:a="http://schemas.openxmlformats.org/drawingml/2006/main">
            <a:off x="14196060" y="8290560"/>
            <a:ext cx="1531620" cy="1752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70" b="1">
                <a:solidFill>
                  <a:srgbClr val="00355F"/>
                </a:solidFill>
                <a:latin typeface="Arial"/>
                <a:ea typeface="Arial"/>
                <a:cs typeface="Arial"/>
              </a:defRPr>
            </a:defPPr>
          </a:lstStyle>
          <a:p xmlns:a="http://schemas.openxmlformats.org/drawingml/2006/main">
            <a:pPr algn="l">
              <a:buNone/>
              <a:defRPr sz="870" b="1">
                <a:solidFill>
                  <a:srgbClr val="00355F"/>
                </a:solidFill>
                <a:latin typeface="Arial"/>
                <a:ea typeface="Arial"/>
                <a:cs typeface="Arial"/>
              </a:defRPr>
            </a:pPr>
            <a:r>
              <a:rPr sz="870" b="1">
                <a:solidFill>
                  <a:srgbClr val="00355F"/>
                </a:solidFill>
                <a:latin typeface="Arial"/>
                <a:ea typeface="Arial"/>
                <a:cs typeface="Arial"/>
              </a:rPr>
              <a:t>CHINA / HK LISTINGS</a:t>
            </a:r>
          </a:p>
        </p:txBody>
      </p:sp>
      <p:sp>
        <p:nvSpPr>
          <p:cNvPr id="109" name="US LISTINGS / PARENTS">
            <a:extLst xmlns:a="http://schemas.openxmlformats.org/drawingml/2006/main">
              <a:ext uri="{FF2B5EF4-FFF2-40B4-BE49-F238E27FC236}">
                <a16:creationId xmlns:a16="http://schemas.microsoft.com/office/drawing/2014/main" id="{BFFA75CD-F9A2-4CD6-BA49-11349E8500D7}"/>
              </a:ext>
            </a:extLst>
          </p:cNvPr>
          <p:cNvSpPr>
            <a:spLocks xmlns:a="http://schemas.openxmlformats.org/drawingml/2006/main" noGrp="1"/>
          </p:cNvSpPr>
          <p:nvPr/>
        </p:nvSpPr>
        <p:spPr>
          <a:xfrm xmlns:a="http://schemas.openxmlformats.org/drawingml/2006/main">
            <a:off x="15834360" y="8290560"/>
            <a:ext cx="1325880" cy="1752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40" b="1">
                <a:solidFill>
                  <a:srgbClr val="00355F"/>
                </a:solidFill>
                <a:latin typeface="Arial"/>
                <a:ea typeface="Arial"/>
                <a:cs typeface="Arial"/>
              </a:defRPr>
            </a:defPPr>
          </a:lstStyle>
          <a:p xmlns:a="http://schemas.openxmlformats.org/drawingml/2006/main">
            <a:pPr algn="l">
              <a:buNone/>
              <a:defRPr sz="840" b="1">
                <a:solidFill>
                  <a:srgbClr val="00355F"/>
                </a:solidFill>
                <a:latin typeface="Arial"/>
                <a:ea typeface="Arial"/>
                <a:cs typeface="Arial"/>
              </a:defRPr>
            </a:pPr>
            <a:r>
              <a:rPr sz="840" b="1">
                <a:solidFill>
                  <a:srgbClr val="00355F"/>
                </a:solidFill>
                <a:latin typeface="Arial"/>
                <a:ea typeface="Arial"/>
                <a:cs typeface="Arial"/>
              </a:rPr>
              <a:t>US LISTINGS / PARENTS</a:t>
            </a:r>
          </a:p>
        </p:txBody>
      </p:sp>
      <p:sp>
        <p:nvSpPr>
          <p:cNvPr id="110" name="NanoMicro · 688690.SH">
            <a:extLst xmlns:a="http://schemas.openxmlformats.org/drawingml/2006/main">
              <a:ext uri="{FF2B5EF4-FFF2-40B4-BE49-F238E27FC236}">
                <a16:creationId xmlns:a16="http://schemas.microsoft.com/office/drawing/2014/main" id="{85E4D165-068E-4EE8-9290-46E82D935158}"/>
              </a:ext>
            </a:extLst>
          </p:cNvPr>
          <p:cNvSpPr>
            <a:spLocks xmlns:a="http://schemas.openxmlformats.org/drawingml/2006/main" noGrp="1"/>
          </p:cNvSpPr>
          <p:nvPr/>
        </p:nvSpPr>
        <p:spPr>
          <a:xfrm xmlns:a="http://schemas.openxmlformats.org/drawingml/2006/main">
            <a:off x="14196060" y="8511540"/>
            <a:ext cx="1584960"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buNone/>
              <a:defRPr sz="1020" b="0">
                <a:solidFill>
                  <a:srgbClr val="00355F"/>
                </a:solidFill>
                <a:latin typeface="Arial"/>
                <a:ea typeface="Arial"/>
                <a:cs typeface="Arial"/>
              </a:defRPr>
            </a:pPr>
            <a:r>
              <a:rPr sz="1020" b="0">
                <a:solidFill>
                  <a:srgbClr val="00355F"/>
                </a:solidFill>
                <a:latin typeface="Arial"/>
                <a:ea typeface="Arial"/>
                <a:cs typeface="Arial"/>
              </a:rPr>
              <a:t>NanoMicro · 688690.SH</a:t>
            </a:r>
          </a:p>
          <a:p xmlns:a="http://schemas.openxmlformats.org/drawingml/2006/main">
            <a:pPr algn="l">
              <a:buNone/>
              <a:defRPr sz="1020" b="0">
                <a:solidFill>
                  <a:srgbClr val="00355F"/>
                </a:solidFill>
                <a:latin typeface="Arial"/>
                <a:ea typeface="Arial"/>
                <a:cs typeface="Arial"/>
              </a:defRPr>
            </a:pPr>
            <a:r>
              <a:rPr sz="1020" b="0">
                <a:solidFill>
                  <a:srgbClr val="00355F"/>
                </a:solidFill>
                <a:latin typeface="Arial"/>
                <a:ea typeface="Arial"/>
                <a:cs typeface="Arial"/>
              </a:rPr>
              <a:t>Sepax · 688758.SH</a:t>
            </a:r>
          </a:p>
        </p:txBody>
      </p:sp>
      <p:sp>
        <p:nvSpPr>
          <p:cNvPr id="111" name="Cytiva · DHR">
            <a:extLst xmlns:a="http://schemas.openxmlformats.org/drawingml/2006/main">
              <a:ext uri="{FF2B5EF4-FFF2-40B4-BE49-F238E27FC236}">
                <a16:creationId xmlns:a16="http://schemas.microsoft.com/office/drawing/2014/main" id="{BAC961D8-AAF8-4602-970D-90B5CADD0F35}"/>
              </a:ext>
            </a:extLst>
          </p:cNvPr>
          <p:cNvSpPr>
            <a:spLocks xmlns:a="http://schemas.openxmlformats.org/drawingml/2006/main" noGrp="1"/>
          </p:cNvSpPr>
          <p:nvPr/>
        </p:nvSpPr>
        <p:spPr>
          <a:xfrm xmlns:a="http://schemas.openxmlformats.org/drawingml/2006/main">
            <a:off x="15834360" y="8511540"/>
            <a:ext cx="1325880"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buNone/>
              <a:defRPr sz="972" b="0">
                <a:solidFill>
                  <a:srgbClr val="00355F"/>
                </a:solidFill>
                <a:latin typeface="Arial"/>
                <a:ea typeface="Arial"/>
                <a:cs typeface="Arial"/>
              </a:defRPr>
            </a:pPr>
            <a:r>
              <a:rPr sz="972" b="0">
                <a:solidFill>
                  <a:srgbClr val="00355F"/>
                </a:solidFill>
                <a:latin typeface="Arial"/>
                <a:ea typeface="Arial"/>
                <a:cs typeface="Arial"/>
              </a:rPr>
              <a:t>Cytiva · DHR</a:t>
            </a:r>
          </a:p>
          <a:p xmlns:a="http://schemas.openxmlformats.org/drawingml/2006/main">
            <a:pPr algn="l">
              <a:buNone/>
              <a:defRPr sz="972" b="0">
                <a:solidFill>
                  <a:srgbClr val="00355F"/>
                </a:solidFill>
                <a:latin typeface="Arial"/>
                <a:ea typeface="Arial"/>
                <a:cs typeface="Arial"/>
              </a:defRPr>
            </a:pPr>
            <a:r>
              <a:rPr sz="972" b="0">
                <a:solidFill>
                  <a:srgbClr val="00355F"/>
                </a:solidFill>
                <a:latin typeface="Arial"/>
                <a:ea typeface="Arial"/>
                <a:cs typeface="Arial"/>
              </a:rPr>
              <a:t>Repligen · RGEN</a:t>
            </a:r>
          </a:p>
        </p:txBody>
      </p:sp>
      <p:sp>
        <p:nvSpPr>
          <p:cNvPr id="112" name="">
            <a:extLst xmlns:a="http://schemas.openxmlformats.org/drawingml/2006/main">
              <a:ext uri="{FF2B5EF4-FFF2-40B4-BE49-F238E27FC236}">
                <a16:creationId xmlns:a16="http://schemas.microsoft.com/office/drawing/2014/main" id="{B6D2AC1B-A069-4DBE-BD0C-DF7FAE494481}"/>
              </a:ext>
            </a:extLst>
          </p:cNvPr>
          <p:cNvSpPr>
            <a:spLocks xmlns:a="http://schemas.openxmlformats.org/drawingml/2006/main" noGrp="1"/>
          </p:cNvSpPr>
          <p:nvPr/>
        </p:nvSpPr>
        <p:spPr>
          <a:xfrm xmlns:a="http://schemas.openxmlformats.org/drawingml/2006/main">
            <a:off x="6743700" y="9296400"/>
            <a:ext cx="10782300" cy="434340"/>
          </a:xfrm>
          <a:prstGeom xmlns:a="http://schemas.openxmlformats.org/drawingml/2006/main" prst="roundRect">
            <a:avLst>
              <a:gd name="adj" fmla="val 15789"/>
            </a:avLst>
          </a:prstGeom>
          <a:solidFill xmlns:a="http://schemas.openxmlformats.org/drawingml/2006/main">
            <a:srgbClr val="00355F"/>
          </a:solidFill>
          <a:ln xmlns:a="http://schemas.openxmlformats.org/drawingml/2006/main" w="7620">
            <a:noFill/>
          </a:ln>
        </p:spPr>
      </p:sp>
      <p:pic>
        <p:nvPicPr>
          <p:cNvPr id="113" name="">
            <a:extLst xmlns:a="http://schemas.openxmlformats.org/drawingml/2006/main">
              <a:ext uri="{FF2B5EF4-FFF2-40B4-BE49-F238E27FC236}">
                <a16:creationId xmlns:a16="http://schemas.microsoft.com/office/drawing/2014/main" id="{59BCA910-1980-492D-9F05-79D67DB18D39}"/>
              </a:ext>
            </a:extLst>
          </p:cNvPr>
          <p:cNvPicPr>
            <a:picLocks xmlns:a="http://schemas.openxmlformats.org/drawingml/2006/main" noChangeAspect="1"/>
          </p:cNvPicPr>
          <p:nvPr/>
        </p:nvPicPr>
        <p:blipFill>
          <a:blip xmlns:r="http://schemas.openxmlformats.org/officeDocument/2006/relationships" xmlns:a="http://schemas.openxmlformats.org/drawingml/2006/main" r:embed="Re0ed9db04a504537">
            <a:extLst>
              <a:ext uri="{96DAC541-7B7A-43D3-8B79-37D633B846F1}">
                <asvg:svgBlip xmlns:asvg="http://schemas.microsoft.com/office/drawing/2016/SVG/main" r:embed="Rc1331c6417824758"/>
              </a:ext>
            </a:extLst>
          </a:blip>
          <a:stretch xmlns:a="http://schemas.openxmlformats.org/drawingml/2006/main"/>
        </p:blipFill>
        <p:spPr>
          <a:xfrm xmlns:a="http://schemas.openxmlformats.org/drawingml/2006/main">
            <a:off x="6865620" y="9380220"/>
            <a:ext cx="259080" cy="259080"/>
          </a:xfrm>
          <a:prstGeom xmlns:a="http://schemas.openxmlformats.org/drawingml/2006/main" prst="rect">
            <a:avLst/>
          </a:prstGeom>
        </p:spPr>
      </p:pic>
      <p:sp>
        <p:nvSpPr>
          <p:cNvPr id="114" name="Automation + data orchestration span every tool family">
            <a:extLst xmlns:a="http://schemas.openxmlformats.org/drawingml/2006/main">
              <a:ext uri="{FF2B5EF4-FFF2-40B4-BE49-F238E27FC236}">
                <a16:creationId xmlns:a16="http://schemas.microsoft.com/office/drawing/2014/main" id="{6C767A39-6E4D-4907-B673-44EE46F53F33}"/>
              </a:ext>
            </a:extLst>
          </p:cNvPr>
          <p:cNvSpPr>
            <a:spLocks xmlns:a="http://schemas.openxmlformats.org/drawingml/2006/main" noGrp="1"/>
          </p:cNvSpPr>
          <p:nvPr/>
        </p:nvSpPr>
        <p:spPr>
          <a:xfrm xmlns:a="http://schemas.openxmlformats.org/drawingml/2006/main">
            <a:off x="7231380" y="9425940"/>
            <a:ext cx="7292340" cy="243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FFFFFF"/>
                </a:solidFill>
                <a:latin typeface="Arial"/>
                <a:ea typeface="Arial"/>
                <a:cs typeface="Arial"/>
              </a:defRPr>
            </a:defPPr>
          </a:lstStyle>
          <a:p xmlns:a="http://schemas.openxmlformats.org/drawingml/2006/main">
            <a:pPr algn="l">
              <a:buNone/>
              <a:defRPr sz="1500" b="1">
                <a:solidFill>
                  <a:srgbClr val="FFFFFF"/>
                </a:solidFill>
                <a:latin typeface="Arial"/>
                <a:ea typeface="Arial"/>
                <a:cs typeface="Arial"/>
              </a:defRPr>
            </a:pPr>
            <a:r>
              <a:rPr sz="1500" b="1">
                <a:solidFill>
                  <a:srgbClr val="FFFFFF"/>
                </a:solidFill>
                <a:latin typeface="Arial"/>
                <a:ea typeface="Arial"/>
                <a:cs typeface="Arial"/>
              </a:rPr>
              <a:t>Automation + data orchestration span every tool family</a:t>
            </a:r>
          </a:p>
        </p:txBody>
      </p:sp>
      <p:sp>
        <p:nvSpPr>
          <p:cNvPr id="115" name="">
            <a:extLst xmlns:a="http://schemas.openxmlformats.org/drawingml/2006/main">
              <a:ext uri="{FF2B5EF4-FFF2-40B4-BE49-F238E27FC236}">
                <a16:creationId xmlns:a16="http://schemas.microsoft.com/office/drawing/2014/main" id="{C81716F4-E31D-4D44-8FD9-F4B638E667B6}"/>
              </a:ext>
            </a:extLst>
          </p:cNvPr>
          <p:cNvSpPr>
            <a:spLocks xmlns:a="http://schemas.openxmlformats.org/drawingml/2006/main" noGrp="1"/>
          </p:cNvSpPr>
          <p:nvPr/>
        </p:nvSpPr>
        <p:spPr>
          <a:xfrm xmlns:a="http://schemas.openxmlformats.org/drawingml/2006/main">
            <a:off x="14859000" y="9357360"/>
            <a:ext cx="2430780" cy="31242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7620">
            <a:noFill/>
          </a:ln>
        </p:spPr>
      </p:sp>
      <p:pic>
        <p:nvPicPr>
          <p:cNvPr id="116" name="">
            <a:extLst xmlns:a="http://schemas.openxmlformats.org/drawingml/2006/main">
              <a:ext uri="{FF2B5EF4-FFF2-40B4-BE49-F238E27FC236}">
                <a16:creationId xmlns:a16="http://schemas.microsoft.com/office/drawing/2014/main" id="{C4F52D07-4246-431E-83E9-965A837E5093}"/>
              </a:ext>
            </a:extLst>
          </p:cNvPr>
          <p:cNvPicPr>
            <a:picLocks xmlns:a="http://schemas.openxmlformats.org/drawingml/2006/main" noChangeAspect="1"/>
          </p:cNvPicPr>
          <p:nvPr/>
        </p:nvPicPr>
        <p:blipFill>
          <a:blip xmlns:r="http://schemas.openxmlformats.org/officeDocument/2006/relationships" xmlns:a="http://schemas.openxmlformats.org/drawingml/2006/main" r:embed="R1cde28844f55469d"/>
          <a:stretch xmlns:a="http://schemas.openxmlformats.org/drawingml/2006/main"/>
        </p:blipFill>
        <p:spPr>
          <a:xfrm xmlns:a="http://schemas.openxmlformats.org/drawingml/2006/main">
            <a:off x="14958060" y="9412819"/>
            <a:ext cx="1143000" cy="193882"/>
          </a:xfrm>
          <a:prstGeom xmlns:a="http://schemas.openxmlformats.org/drawingml/2006/main" prst="rect">
            <a:avLst/>
          </a:prstGeom>
        </p:spPr>
      </p:pic>
      <p:sp>
        <p:nvSpPr>
          <p:cNvPr id="117" name="SIX: TECN">
            <a:extLst xmlns:a="http://schemas.openxmlformats.org/drawingml/2006/main">
              <a:ext uri="{FF2B5EF4-FFF2-40B4-BE49-F238E27FC236}">
                <a16:creationId xmlns:a16="http://schemas.microsoft.com/office/drawing/2014/main" id="{0BA3457F-434F-4147-9807-213038EFABC8}"/>
              </a:ext>
            </a:extLst>
          </p:cNvPr>
          <p:cNvSpPr>
            <a:spLocks xmlns:a="http://schemas.openxmlformats.org/drawingml/2006/main" noGrp="1"/>
          </p:cNvSpPr>
          <p:nvPr/>
        </p:nvSpPr>
        <p:spPr>
          <a:xfrm xmlns:a="http://schemas.openxmlformats.org/drawingml/2006/main">
            <a:off x="16261080" y="9441180"/>
            <a:ext cx="92964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40" b="1">
                <a:solidFill>
                  <a:srgbClr val="00355F"/>
                </a:solidFill>
                <a:latin typeface="Arial"/>
                <a:ea typeface="Arial"/>
                <a:cs typeface="Arial"/>
              </a:defRPr>
            </a:defPPr>
          </a:lstStyle>
          <a:p xmlns:a="http://schemas.openxmlformats.org/drawingml/2006/main">
            <a:pPr algn="l">
              <a:buNone/>
              <a:defRPr sz="1140" b="1">
                <a:solidFill>
                  <a:srgbClr val="00355F"/>
                </a:solidFill>
                <a:latin typeface="Arial"/>
                <a:ea typeface="Arial"/>
                <a:cs typeface="Arial"/>
              </a:defRPr>
            </a:pPr>
            <a:r>
              <a:rPr sz="1140" b="1">
                <a:solidFill>
                  <a:srgbClr val="00355F"/>
                </a:solidFill>
                <a:latin typeface="Arial"/>
                <a:ea typeface="Arial"/>
                <a:cs typeface="Arial"/>
              </a:rPr>
              <a:t>SIX: TECN</a:t>
            </a:r>
          </a:p>
        </p:txBody>
      </p:sp>
      <p:sp>
        <p:nvSpPr>
          <p:cNvPr id="118" name="† Ex-BD biosciences / flow moved to Waters on 9 Feb 2026; BD (BDX) here means specimen collection.">
            <a:extLst xmlns:a="http://schemas.openxmlformats.org/drawingml/2006/main">
              <a:ext uri="{FF2B5EF4-FFF2-40B4-BE49-F238E27FC236}">
                <a16:creationId xmlns:a16="http://schemas.microsoft.com/office/drawing/2014/main" id="{416EF607-3619-493C-8FFD-5AE36EB75A7B}"/>
              </a:ext>
            </a:extLst>
          </p:cNvPr>
          <p:cNvSpPr>
            <a:spLocks xmlns:a="http://schemas.openxmlformats.org/drawingml/2006/main" noGrp="1"/>
          </p:cNvSpPr>
          <p:nvPr/>
        </p:nvSpPr>
        <p:spPr>
          <a:xfrm xmlns:a="http://schemas.openxmlformats.org/drawingml/2006/main">
            <a:off x="6743700" y="9852660"/>
            <a:ext cx="10782300" cy="167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0">
                <a:solidFill>
                  <a:srgbClr val="00355F"/>
                </a:solidFill>
                <a:latin typeface="Arial"/>
                <a:ea typeface="Arial"/>
                <a:cs typeface="Arial"/>
              </a:defRPr>
            </a:defPPr>
          </a:lstStyle>
          <a:p xmlns:a="http://schemas.openxmlformats.org/drawingml/2006/main">
            <a:pPr algn="l">
              <a:buNone/>
              <a:defRPr sz="990" b="0">
                <a:solidFill>
                  <a:srgbClr val="00355F"/>
                </a:solidFill>
                <a:latin typeface="Arial"/>
                <a:ea typeface="Arial"/>
                <a:cs typeface="Arial"/>
              </a:defRPr>
            </a:pPr>
            <a:r>
              <a:rPr sz="990" b="0">
                <a:solidFill>
                  <a:srgbClr val="00355F"/>
                </a:solidFill>
                <a:latin typeface="Arial"/>
                <a:ea typeface="Arial"/>
                <a:cs typeface="Arial"/>
              </a:rPr>
              <a:t>† Ex-BD biosciences / flow moved to Waters on 9 Feb 2026; BD (BDX) here means specimen collection.</a:t>
            </a:r>
          </a:p>
        </p:txBody>
      </p:sp>
      <p:sp>
        <p:nvSpPr>
          <p:cNvPr id="119" name="Groups denote listings, not incorporation; brands use parent tickers. * Source access limited. Sources and ticker register: SOURCES.md.">
            <a:extLst xmlns:a="http://schemas.openxmlformats.org/drawingml/2006/main">
              <a:ext uri="{FF2B5EF4-FFF2-40B4-BE49-F238E27FC236}">
                <a16:creationId xmlns:a16="http://schemas.microsoft.com/office/drawing/2014/main" id="{23399A8B-6E5E-460E-A014-BFDA853C6B5B}"/>
              </a:ext>
            </a:extLst>
          </p:cNvPr>
          <p:cNvSpPr>
            <a:spLocks xmlns:a="http://schemas.openxmlformats.org/drawingml/2006/main" noGrp="1"/>
          </p:cNvSpPr>
          <p:nvPr/>
        </p:nvSpPr>
        <p:spPr>
          <a:xfrm xmlns:a="http://schemas.openxmlformats.org/drawingml/2006/main">
            <a:off x="6743700" y="10058400"/>
            <a:ext cx="10782300" cy="1752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30" b="0">
                <a:solidFill>
                  <a:srgbClr val="00355F"/>
                </a:solidFill>
                <a:latin typeface="Arial"/>
                <a:ea typeface="Arial"/>
                <a:cs typeface="Arial"/>
              </a:defRPr>
            </a:defPPr>
          </a:lstStyle>
          <a:p xmlns:a="http://schemas.openxmlformats.org/drawingml/2006/main">
            <a:pPr algn="l">
              <a:buNone/>
              <a:defRPr sz="930" b="0">
                <a:solidFill>
                  <a:srgbClr val="00355F"/>
                </a:solidFill>
                <a:latin typeface="Arial"/>
                <a:ea typeface="Arial"/>
                <a:cs typeface="Arial"/>
              </a:defRPr>
            </a:pPr>
            <a:r>
              <a:rPr sz="930" b="0">
                <a:solidFill>
                  <a:srgbClr val="00355F"/>
                </a:solidFill>
                <a:latin typeface="Arial"/>
                <a:ea typeface="Arial"/>
                <a:cs typeface="Arial"/>
              </a:rPr>
              <a:t>Groups denote listings, not incorporation; brands use parent tickers. * Source access limited. Sources and ticker register: SOURCES.md.</a:t>
            </a:r>
          </a:p>
        </p:txBody>
      </p:sp>
    </p:spTree>
    <p:extLst>
      <p:ext uri="{BB962C8B-B14F-4D97-AF65-F5344CB8AC3E}">
        <p14:creationId xmlns:p14="http://schemas.microsoft.com/office/powerpoint/2010/main" val="12518415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2026-10-13T06:02:27.2530000Z</dcterms:created>
  <dcterms:modified xsi:type="dcterms:W3CDTF">2026-10-13T06:02:27.2530000Z</dcterms:modified>
</coreProperties>
</file>