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0834bbcfe94720" /><Relationship Type="http://schemas.openxmlformats.org/officeDocument/2006/relationships/extended-properties" Target="/docProps/app.xml" Id="R731b75274d084d9d" /><Relationship Type="http://schemas.openxmlformats.org/officeDocument/2006/relationships/officeDocument" Target="/ppt/presentation.xml" Id="R23dc3425214b479b" /></Relationships>
</file>

<file path=ppt/presentation.xml><?xml version="1.0" encoding="utf-8"?>
<p:presentation xmlns:p="http://schemas.openxmlformats.org/presentationml/2006/main">
  <p:sldMasterIdLst>
    <p:sldMasterId xmlns:r="http://schemas.openxmlformats.org/officeDocument/2006/relationships" id="2147483648" r:id="R86f0ea2125174e6a"/>
  </p:sldMasterIdLst>
  <p:notesMasterIdLst>
    <p:notesMasterId xmlns:r="http://schemas.openxmlformats.org/officeDocument/2006/relationships" r:id="R1c605929cb054f62"/>
  </p:notesMasterIdLst>
  <p:sldIdLst>
    <p:sldId xmlns:r="http://schemas.openxmlformats.org/officeDocument/2006/relationships" id="256" r:id="R5c1aae16a13a4711"/>
  </p:sldIdLst>
  <p:sldSz cx="22860000" cy="128587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b2b59a472994968" /><Relationship Type="http://schemas.openxmlformats.org/officeDocument/2006/relationships/slideMaster" Target="/ppt/slideMasters/slideMaster1.xml" Id="R86f0ea2125174e6a" /><Relationship Type="http://schemas.openxmlformats.org/officeDocument/2006/relationships/notesMaster" Target="/ppt/notesMasters/notesMaster1.xml" Id="R1c605929cb054f62" /><Relationship Type="http://schemas.openxmlformats.org/officeDocument/2006/relationships/presProps" Target="/ppt/presProps.xml" Id="R174ffd1553cf4691" /><Relationship Type="http://schemas.openxmlformats.org/officeDocument/2006/relationships/tableStyles" Target="/ppt/tableStyles.xml" Id="R489307195f60416f" /><Relationship Type="http://schemas.openxmlformats.org/officeDocument/2006/relationships/slide" Target="/ppt/slides/slide1.xml" Id="R5c1aae16a13a47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97dfcc67214f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d4d705747549e0" /><Relationship Type="http://schemas.openxmlformats.org/officeDocument/2006/relationships/notesMaster" Target="/ppt/notesMasters/notesMaster1.xml" Id="R42b9854e6d0345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confirmed RSI means recursive self-improvement. The diagram is a conceptual mechanism: experimental evidence can improve a model or persistent experimental policy, which then designs later experiments. The promotion gate requires independently validated gains. A fixed AI model generating better answers from new context, or an improved biological candidate, is not by itself evidence of recursive capability growth. The tool-demand expression is a qualitative procurement framework, not a numerical forecast.</a:t>
            </a:r>
          </a:p>
          <a:p xmlns:a="http://schemas.openxmlformats.org/drawingml/2006/main">
            <a:r>
              <a:t/>
            </a:r>
          </a:p>
          <a:p xmlns:a="http://schemas.openxmlformats.org/drawingml/2006/main">
            <a:r>
              <a:t># RSI: AI design and biological validation</a:t>
            </a:r>
          </a:p>
          <a:p xmlns:a="http://schemas.openxmlformats.org/drawingml/2006/main">
            <a:r>
              <a:t/>
            </a:r>
          </a:p>
          <a:p xmlns:a="http://schemas.openxmlformats.org/drawingml/2006/main">
            <a:r>
              <a:t>Figure 16. English conceptual diagram. Prepared 13 October 2026.</a:t>
            </a:r>
          </a:p>
          <a:p xmlns:a="http://schemas.openxmlformats.org/drawingml/2006/main">
            <a:r>
              <a:t/>
            </a:r>
          </a:p>
          <a:p xmlns:a="http://schemas.openxmlformats.org/drawingml/2006/main">
            <a:r>
              <a:t>## What the diagram means</a:t>
            </a:r>
          </a:p>
          <a:p xmlns:a="http://schemas.openxmlformats.org/drawingml/2006/main">
            <a:r>
              <a:t/>
            </a:r>
          </a:p>
          <a:p xmlns:a="http://schemas.openxmlformats.org/drawingml/2006/main">
            <a:r>
              <a:t>The user confirmed RSI means **recursive self-improvement**. The figure illustrates a possible biology-grounded improvement loop: an AI model or experimental policy designs experiments; physical construction and biological assays generate evidence; data are curated; the model and/or selection policy are updated and benchmarked before the next cycle. The intended recursive layer improves the system that chooses future experiments, not just the biological candidate.</a:t>
            </a:r>
          </a:p>
          <a:p xmlns:a="http://schemas.openxmlformats.org/drawingml/2006/main">
            <a:r>
              <a:t/>
            </a:r>
          </a:p>
          <a:p xmlns:a="http://schemas.openxmlformats.org/drawingml/2006/main">
            <a:r>
              <a:t>This is a conceptual RSI mechanism, not a claim that autonomous, sustained or exponential RSI has been established in biological R&amp;D. Closing a design–build–test–learn loop is not by itself evidence of RSI. A system may simply reuse a fixed model with new context or improve a biological candidate without improving the model's persistent capability. Those cases need to be distinguished from validated changes to the model or learning policy.</a:t>
            </a:r>
          </a:p>
          <a:p xmlns:a="http://schemas.openxmlformats.org/drawingml/2006/main">
            <a:r>
              <a:t/>
            </a:r>
          </a:p>
          <a:p xmlns:a="http://schemas.openxmlformats.org/drawingml/2006/main">
            <a:r>
              <a:t>Experiments can inform candidate ranking, model learning, selection policies and the choice of the next assay. Promotion of a new model/policy requires controlled evaluation, with independent or held-out experimental evidence, reproducibility and tests of generalization. No specific improvement rate, success probability, cost saving, candidate count or AI revenue is estimated.</a:t>
            </a:r>
          </a:p>
          <a:p xmlns:a="http://schemas.openxmlformats.org/drawingml/2006/main">
            <a:r>
              <a:t/>
            </a:r>
          </a:p>
          <a:p xmlns:a="http://schemas.openxmlformats.org/drawingml/2006/main">
            <a:r>
              <a:t>The LST rail maps the loop to construction, measurement and connected laboratory workflows. The procurement expression is an analyst framework for recurring inputs, not a forecast. Actual purchases depend on funded activity, assay selection, miniaturization, reuse and price; instrument capital expenditure and services require separate accounting.</a:t>
            </a:r>
          </a:p>
          <a:p xmlns:a="http://schemas.openxmlformats.org/drawingml/2006/main">
            <a:r>
              <a:t/>
            </a:r>
          </a:p>
          <a:p xmlns:a="http://schemas.openxmlformats.org/drawingml/2006/main">
            <a:r>
              <a:t>## Primary sources</a:t>
            </a:r>
          </a:p>
          <a:p xmlns:a="http://schemas.openxmlformats.org/drawingml/2006/main">
            <a:r>
              <a:t/>
            </a:r>
          </a:p>
          <a:p xmlns:a="http://schemas.openxmlformats.org/drawingml/2006/main">
            <a:r>
              <a:t>1. [Self-driving laboratories to autonomously navigate the protein fitness landscape — Nature Chemical Engineering](https://www.nature.com/articles/s44286-023-00002-4). The reported system connects designed protein sequences to automated construction/expression/characterization and uses the resulting evidence to inform the next experimental round. This supports biological closed-loop learning, not unlimited recursive AI capability growth. The publisher's indexed abstract/figure description was accessible; full-page retrieval was blocked by its identity redirect during this request.</a:t>
            </a:r>
          </a:p>
          <a:p xmlns:a="http://schemas.openxmlformats.org/drawingml/2006/main">
            <a:r>
              <a:t>2. [A generalized platform for artificial intelligence-powered autonomous enzyme engineering — Nature Communications, 2025](https://www.nature.com/articles/s41467-025-61209-y). A reported platform connects ML/LLM capabilities to biofoundry automation. Used as a second example of autonomous experimentation, not proof of unrestricted RSI. Publisher-indexed abstract was accessible; full-page retrieval was blocked during this request.</a:t>
            </a:r>
          </a:p>
          <a:p xmlns:a="http://schemas.openxmlformats.org/drawingml/2006/main">
            <a:r>
              <a:t>3. [Ginkgo Bioworks — autonomous CFPS laboratory interface](https://github.com/ginkgobioworks/ginkgo-automation-cfps). The project describes structured experimental specifications, automated execution and return of results to the AI experimental-design process. Its interface supports the distinction between proposals, validated laboratory protocols and experimental feedback. The example does not establish that the underlying general AI model weights improved during the experiment.</a:t>
            </a:r>
          </a:p>
          <a:p xmlns:a="http://schemas.openxmlformats.org/drawingml/2006/main">
            <a:r>
              <a:t>4. [Chen, Wang and Qu — Recursive Self-Improvement in AI: From Bounded Self-Refinement to Autonomous Research Loops, arXiv:2607.07663v2, 2026](https://arxiv.org/abs/2607.07663v2). A **preprint survey**, used only for terminology and to distinguish the system behavior/policy/evaluator/research-process components that may be improved. It is not independent experimental proof of biology-specific RSI.</a:t>
            </a:r>
          </a:p>
          <a:p xmlns:a="http://schemas.openxmlformats.org/drawingml/2006/main">
            <a:r>
              <a:t>5. [ACROBiosystems — AIDD-Ready](https://www.acrobiosystems.com/aix/aidd-ready-solutions). Supporting product-workflow context from the preceding research: sample construction/expression, binding and selected functional assays can feed experimental iteration. This is an offering description and does not establish paid AI revenue.</a:t>
            </a:r>
          </a:p>
          <a:p xmlns:a="http://schemas.openxmlformats.org/drawingml/2006/main">
            <a:r>
              <a:t/>
            </a:r>
          </a:p>
          <a:p xmlns:a="http://schemas.openxmlformats.org/drawingml/2006/main">
            <a:r>
              <a:t>## Visual assets and editable formats</a:t>
            </a:r>
          </a:p>
          <a:p xmlns:a="http://schemas.openxmlformats.org/drawingml/2006/main">
            <a:r>
              <a:t/>
            </a:r>
          </a:p>
          <a:p xmlns:a="http://schemas.openxmlformats.org/drawingml/2006/main">
            <a:r>
              <a:t>The diagram is original native vector geometry. Text, node frames and arrows are editable in PowerPoint and SVG. Icons are original Lucide artwork under the ISC license: bot, DNA, flask-conical, microscope and database; original path geometry is preserved, with teal stroke color. Sources and license are available at https://github.com/lucide-icons/lucide and in the existing project asset library.</a:t>
            </a:r>
          </a:p>
          <a:p xmlns:a="http://schemas.openxmlformats.org/drawingml/2006/main">
            <a:r>
              <a:t/>
            </a:r>
          </a:p>
          <a:p xmlns:a="http://schemas.openxmlformats.org/drawingml/2006/main">
            <a:r>
              <a:t>The figure contains no company logos, market sizes or stock recommendations. It complements Figure 15's workflow and Figures 13–14's discussion of characterization depth and model-training data.</a:t>
            </a:r>
          </a:p>
          <a:p xmlns:a="http://schemas.openxmlformats.org/drawingml/2006/main">
            <a:r>
              <a:t/>
            </a:r>
          </a:p>
          <a:p xmlns:a="http://schemas.openxmlformats.org/drawingml/2006/main">
            <a:r>
              <a:t/>
            </a:r>
          </a:p>
          <a:p xmlns:a="http://schemas.openxmlformats.org/drawingml/2006/main">
            <a:r>
              <a:t>Palette updated to the user's eight RGB colors on 13 October 2026. Original company marks retain their brand colors.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f1d1736c7d42c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729c0781ee94ec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6f36405d17c405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e2707ea5b5547d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6584150fcca4b4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1b00abbb3a84e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1B2C2B-7844-4CBF-8FFF-96E8B9445C1E}"/>
              </a:ext>
            </a:extLst>
          </p:cNvPr>
          <p:cNvSpPr>
            <a:spLocks xmlns:a="http://schemas.openxmlformats.org/drawingml/2006/main" noGrp="1"/>
          </p:cNvSpPr>
          <p:nvPr>
            <p:ph type="title" idx="0"/>
          </p:nvPr>
        </p:nvSpPr>
        <p:spPr>
          <a:xfrm xmlns:a="http://schemas.openxmlformats.org/drawingml/2006/main">
            <a:off x="2286000" y="4857750"/>
            <a:ext cx="18288000" cy="18573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90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FBFAB88-929C-4967-8999-FB3B3CB9661C}"/>
              </a:ext>
            </a:extLst>
          </p:cNvPr>
          <p:cNvSpPr>
            <a:spLocks xmlns:a="http://schemas.openxmlformats.org/drawingml/2006/main" noGrp="1"/>
          </p:cNvSpPr>
          <p:nvPr>
            <p:ph type="subTitle" idx="1"/>
          </p:nvPr>
        </p:nvSpPr>
        <p:spPr>
          <a:xfrm xmlns:a="http://schemas.openxmlformats.org/drawingml/2006/main">
            <a:off x="3429000" y="7072313"/>
            <a:ext cx="1600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938"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6A972BE-FA1D-4AD0-B85F-4BBCDE9D2C8B}"/>
              </a:ext>
            </a:extLst>
          </p:cNvPr>
          <p:cNvSpPr>
            <a:spLocks xmlns:a="http://schemas.openxmlformats.org/drawingml/2006/main" noGrp="1"/>
          </p:cNvSpPr>
          <p:nvPr>
            <p:ph type="title" idx="0"/>
          </p:nvPr>
        </p:nvSpPr>
        <p:spPr>
          <a:xfrm xmlns:a="http://schemas.openxmlformats.org/drawingml/2006/main">
            <a:off x="2286000" y="5357813"/>
            <a:ext cx="18288000" cy="21431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875"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23EE9A0-40FB-431D-8E31-CCF5DB6AB50D}"/>
              </a:ext>
            </a:extLst>
          </p:cNvPr>
          <p:cNvSpPr>
            <a:spLocks xmlns:a="http://schemas.openxmlformats.org/drawingml/2006/main" noGrp="1"/>
          </p:cNvSpPr>
          <p:nvPr>
            <p:ph type="title" idx="0"/>
          </p:nvPr>
        </p:nvSpPr>
        <p:spPr>
          <a:xfrm xmlns:a="http://schemas.openxmlformats.org/drawingml/2006/main">
            <a:off x="1285875" y="1000125"/>
            <a:ext cx="20288250"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188"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6450D77-B27E-431A-A341-24AD4B143A5B}"/>
              </a:ext>
            </a:extLst>
          </p:cNvPr>
          <p:cNvSpPr>
            <a:spLocks xmlns:a="http://schemas.openxmlformats.org/drawingml/2006/main" noGrp="1"/>
          </p:cNvSpPr>
          <p:nvPr>
            <p:ph type="body" idx="1"/>
          </p:nvPr>
        </p:nvSpPr>
        <p:spPr>
          <a:xfrm xmlns:a="http://schemas.openxmlformats.org/drawingml/2006/main">
            <a:off x="1285875" y="3571875"/>
            <a:ext cx="20288250"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219" b="0">
                <a:solidFill>
                  <a:schemeClr val="tx1"/>
                </a:solidFill>
                <a:latin typeface="+mn-lt"/>
                <a:ea typeface="+mn-lt"/>
                <a:cs typeface="+mn-lt"/>
              </a:defRPr>
            </a:defPPr>
            <a:lvl1pPr marL="428625" indent="-428625">
              <a:lnSpc>
                <a:spcPct val="110000"/>
              </a:lnSpc>
              <a:spcBef>
                <a:spcPts val="0"/>
              </a:spcBef>
              <a:spcAft>
                <a:spcPts val="2250"/>
              </a:spcAft>
              <a:buChar char="•"/>
              <a:defRPr/>
            </a:lvl1pPr>
            <a:lvl2pPr marL="1000125" indent="-428625">
              <a:lnSpc>
                <a:spcPct val="110000"/>
              </a:lnSpc>
              <a:spcBef>
                <a:spcPts val="0"/>
              </a:spcBef>
              <a:spcAft>
                <a:spcPts val="2250"/>
              </a:spcAft>
              <a:buChar char="•"/>
              <a:defRPr/>
            </a:lvl2pPr>
            <a:lvl3pPr marL="1571625" indent="-428625">
              <a:lnSpc>
                <a:spcPct val="110000"/>
              </a:lnSpc>
              <a:spcBef>
                <a:spcPts val="0"/>
              </a:spcBef>
              <a:spcAft>
                <a:spcPts val="2250"/>
              </a:spcAft>
              <a:buChar char="•"/>
              <a:defRPr/>
            </a:lvl3pPr>
            <a:lvl4pPr marL="2143125" indent="-428625">
              <a:lnSpc>
                <a:spcPct val="110000"/>
              </a:lnSpc>
              <a:spcBef>
                <a:spcPts val="0"/>
              </a:spcBef>
              <a:spcAft>
                <a:spcPts val="2250"/>
              </a:spcAft>
              <a:buChar char="•"/>
              <a:defRPr/>
            </a:lvl4pPr>
            <a:lvl5pPr marL="2714625" indent="-428625">
              <a:lnSpc>
                <a:spcPct val="110000"/>
              </a:lnSpc>
              <a:spcBef>
                <a:spcPts val="0"/>
              </a:spcBef>
              <a:spcAft>
                <a:spcPts val="2250"/>
              </a:spcAft>
              <a:buChar char="•"/>
              <a:defRPr/>
            </a:lvl5pPr>
            <a:lvl6pPr marL="3286125" indent="-428625">
              <a:lnSpc>
                <a:spcPct val="110000"/>
              </a:lnSpc>
              <a:spcBef>
                <a:spcPts val="0"/>
              </a:spcBef>
              <a:spcAft>
                <a:spcPts val="2250"/>
              </a:spcAft>
              <a:buChar char="•"/>
              <a:defRPr/>
            </a:lvl6pPr>
            <a:lvl7pPr marL="3857625" indent="-428625">
              <a:lnSpc>
                <a:spcPct val="110000"/>
              </a:lnSpc>
              <a:spcBef>
                <a:spcPts val="0"/>
              </a:spcBef>
              <a:spcAft>
                <a:spcPts val="2250"/>
              </a:spcAft>
              <a:buChar char="•"/>
              <a:defRPr/>
            </a:lvl7pPr>
            <a:lvl8pPr marL="4429125" indent="-428625">
              <a:lnSpc>
                <a:spcPct val="110000"/>
              </a:lnSpc>
              <a:spcBef>
                <a:spcPts val="0"/>
              </a:spcBef>
              <a:spcAft>
                <a:spcPts val="2250"/>
              </a:spcAft>
              <a:buChar char="•"/>
              <a:defRPr/>
            </a:lvl8pPr>
            <a:lvl9pPr marL="5000625" indent="-428625">
              <a:lnSpc>
                <a:spcPct val="110000"/>
              </a:lnSpc>
              <a:spcBef>
                <a:spcPts val="0"/>
              </a:spcBef>
              <a:spcAft>
                <a:spcPts val="225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F9C40F6-E407-4E16-8978-17ED045BD710}"/>
              </a:ext>
            </a:extLst>
          </p:cNvPr>
          <p:cNvSpPr>
            <a:spLocks xmlns:a="http://schemas.openxmlformats.org/drawingml/2006/main" noGrp="1"/>
          </p:cNvSpPr>
          <p:nvPr>
            <p:ph type="title" idx="0"/>
          </p:nvPr>
        </p:nvSpPr>
        <p:spPr>
          <a:xfrm xmlns:a="http://schemas.openxmlformats.org/drawingml/2006/main">
            <a:off x="1285875" y="1000125"/>
            <a:ext cx="20288250"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188"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0169B4E-D99B-46E7-82FE-4A8FAD0F1D21}"/>
              </a:ext>
            </a:extLst>
          </p:cNvPr>
          <p:cNvSpPr>
            <a:spLocks xmlns:a="http://schemas.openxmlformats.org/drawingml/2006/main" noGrp="1"/>
          </p:cNvSpPr>
          <p:nvPr>
            <p:ph type="body" idx="1"/>
          </p:nvPr>
        </p:nvSpPr>
        <p:spPr>
          <a:xfrm xmlns:a="http://schemas.openxmlformats.org/drawingml/2006/main">
            <a:off x="1285875" y="3571875"/>
            <a:ext cx="9429750"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938" b="0">
                <a:solidFill>
                  <a:schemeClr val="tx1"/>
                </a:solidFill>
                <a:latin typeface="+mn-lt"/>
                <a:ea typeface="+mn-lt"/>
                <a:cs typeface="+mn-lt"/>
              </a:defRPr>
            </a:defPPr>
            <a:lvl1pPr marL="428625" indent="-428625">
              <a:lnSpc>
                <a:spcPct val="110000"/>
              </a:lnSpc>
              <a:spcBef>
                <a:spcPts val="0"/>
              </a:spcBef>
              <a:spcAft>
                <a:spcPts val="2250"/>
              </a:spcAft>
              <a:buChar char="•"/>
              <a:defRPr/>
            </a:lvl1pPr>
            <a:lvl2pPr marL="1000125" indent="-428625">
              <a:lnSpc>
                <a:spcPct val="110000"/>
              </a:lnSpc>
              <a:spcBef>
                <a:spcPts val="0"/>
              </a:spcBef>
              <a:spcAft>
                <a:spcPts val="2250"/>
              </a:spcAft>
              <a:buChar char="•"/>
              <a:defRPr/>
            </a:lvl2pPr>
            <a:lvl3pPr marL="1571625" indent="-428625">
              <a:lnSpc>
                <a:spcPct val="110000"/>
              </a:lnSpc>
              <a:spcBef>
                <a:spcPts val="0"/>
              </a:spcBef>
              <a:spcAft>
                <a:spcPts val="2250"/>
              </a:spcAft>
              <a:buChar char="•"/>
              <a:defRPr/>
            </a:lvl3pPr>
            <a:lvl4pPr marL="2143125" indent="-428625">
              <a:lnSpc>
                <a:spcPct val="110000"/>
              </a:lnSpc>
              <a:spcBef>
                <a:spcPts val="0"/>
              </a:spcBef>
              <a:spcAft>
                <a:spcPts val="2250"/>
              </a:spcAft>
              <a:buChar char="•"/>
              <a:defRPr/>
            </a:lvl4pPr>
            <a:lvl5pPr marL="2714625" indent="-428625">
              <a:lnSpc>
                <a:spcPct val="110000"/>
              </a:lnSpc>
              <a:spcBef>
                <a:spcPts val="0"/>
              </a:spcBef>
              <a:spcAft>
                <a:spcPts val="2250"/>
              </a:spcAft>
              <a:buChar char="•"/>
              <a:defRPr/>
            </a:lvl5pPr>
            <a:lvl6pPr marL="3286125" indent="-428625">
              <a:lnSpc>
                <a:spcPct val="110000"/>
              </a:lnSpc>
              <a:spcBef>
                <a:spcPts val="0"/>
              </a:spcBef>
              <a:spcAft>
                <a:spcPts val="2250"/>
              </a:spcAft>
              <a:buChar char="•"/>
              <a:defRPr/>
            </a:lvl6pPr>
            <a:lvl7pPr marL="3857625" indent="-428625">
              <a:lnSpc>
                <a:spcPct val="110000"/>
              </a:lnSpc>
              <a:spcBef>
                <a:spcPts val="0"/>
              </a:spcBef>
              <a:spcAft>
                <a:spcPts val="2250"/>
              </a:spcAft>
              <a:buChar char="•"/>
              <a:defRPr/>
            </a:lvl7pPr>
            <a:lvl8pPr marL="4429125" indent="-428625">
              <a:lnSpc>
                <a:spcPct val="110000"/>
              </a:lnSpc>
              <a:spcBef>
                <a:spcPts val="0"/>
              </a:spcBef>
              <a:spcAft>
                <a:spcPts val="2250"/>
              </a:spcAft>
              <a:buChar char="•"/>
              <a:defRPr/>
            </a:lvl8pPr>
            <a:lvl9pPr marL="5000625" indent="-428625">
              <a:lnSpc>
                <a:spcPct val="110000"/>
              </a:lnSpc>
              <a:spcBef>
                <a:spcPts val="0"/>
              </a:spcBef>
              <a:spcAft>
                <a:spcPts val="225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F545E2A-4978-4521-9301-D2730EE3A81F}"/>
              </a:ext>
            </a:extLst>
          </p:cNvPr>
          <p:cNvSpPr>
            <a:spLocks xmlns:a="http://schemas.openxmlformats.org/drawingml/2006/main" noGrp="1"/>
          </p:cNvSpPr>
          <p:nvPr>
            <p:ph type="body" idx="2"/>
          </p:nvPr>
        </p:nvSpPr>
        <p:spPr>
          <a:xfrm xmlns:a="http://schemas.openxmlformats.org/drawingml/2006/main">
            <a:off x="12144375" y="3571875"/>
            <a:ext cx="9429750"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938" b="0">
                <a:solidFill>
                  <a:schemeClr val="tx1"/>
                </a:solidFill>
                <a:latin typeface="+mn-lt"/>
                <a:ea typeface="+mn-lt"/>
                <a:cs typeface="+mn-lt"/>
              </a:defRPr>
            </a:defPPr>
            <a:lvl1pPr marL="428625" indent="-428625">
              <a:lnSpc>
                <a:spcPct val="110000"/>
              </a:lnSpc>
              <a:spcBef>
                <a:spcPts val="0"/>
              </a:spcBef>
              <a:spcAft>
                <a:spcPts val="2250"/>
              </a:spcAft>
              <a:buChar char="•"/>
              <a:defRPr/>
            </a:lvl1pPr>
            <a:lvl2pPr marL="1000125" indent="-428625">
              <a:lnSpc>
                <a:spcPct val="110000"/>
              </a:lnSpc>
              <a:spcBef>
                <a:spcPts val="0"/>
              </a:spcBef>
              <a:spcAft>
                <a:spcPts val="2250"/>
              </a:spcAft>
              <a:buChar char="•"/>
              <a:defRPr/>
            </a:lvl2pPr>
            <a:lvl3pPr marL="1571625" indent="-428625">
              <a:lnSpc>
                <a:spcPct val="110000"/>
              </a:lnSpc>
              <a:spcBef>
                <a:spcPts val="0"/>
              </a:spcBef>
              <a:spcAft>
                <a:spcPts val="2250"/>
              </a:spcAft>
              <a:buChar char="•"/>
              <a:defRPr/>
            </a:lvl3pPr>
            <a:lvl4pPr marL="2143125" indent="-428625">
              <a:lnSpc>
                <a:spcPct val="110000"/>
              </a:lnSpc>
              <a:spcBef>
                <a:spcPts val="0"/>
              </a:spcBef>
              <a:spcAft>
                <a:spcPts val="2250"/>
              </a:spcAft>
              <a:buChar char="•"/>
              <a:defRPr/>
            </a:lvl4pPr>
            <a:lvl5pPr marL="2714625" indent="-428625">
              <a:lnSpc>
                <a:spcPct val="110000"/>
              </a:lnSpc>
              <a:spcBef>
                <a:spcPts val="0"/>
              </a:spcBef>
              <a:spcAft>
                <a:spcPts val="2250"/>
              </a:spcAft>
              <a:buChar char="•"/>
              <a:defRPr/>
            </a:lvl5pPr>
            <a:lvl6pPr marL="3286125" indent="-428625">
              <a:lnSpc>
                <a:spcPct val="110000"/>
              </a:lnSpc>
              <a:spcBef>
                <a:spcPts val="0"/>
              </a:spcBef>
              <a:spcAft>
                <a:spcPts val="2250"/>
              </a:spcAft>
              <a:buChar char="•"/>
              <a:defRPr/>
            </a:lvl6pPr>
            <a:lvl7pPr marL="3857625" indent="-428625">
              <a:lnSpc>
                <a:spcPct val="110000"/>
              </a:lnSpc>
              <a:spcBef>
                <a:spcPts val="0"/>
              </a:spcBef>
              <a:spcAft>
                <a:spcPts val="2250"/>
              </a:spcAft>
              <a:buChar char="•"/>
              <a:defRPr/>
            </a:lvl7pPr>
            <a:lvl8pPr marL="4429125" indent="-428625">
              <a:lnSpc>
                <a:spcPct val="110000"/>
              </a:lnSpc>
              <a:spcBef>
                <a:spcPts val="0"/>
              </a:spcBef>
              <a:spcAft>
                <a:spcPts val="2250"/>
              </a:spcAft>
              <a:buChar char="•"/>
              <a:defRPr/>
            </a:lvl8pPr>
            <a:lvl9pPr marL="5000625" indent="-428625">
              <a:lnSpc>
                <a:spcPct val="110000"/>
              </a:lnSpc>
              <a:spcBef>
                <a:spcPts val="0"/>
              </a:spcBef>
              <a:spcAft>
                <a:spcPts val="225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484C08-6358-45C3-B218-6CCE1F56ADFE}"/>
              </a:ext>
            </a:extLst>
          </p:cNvPr>
          <p:cNvSpPr>
            <a:spLocks xmlns:a="http://schemas.openxmlformats.org/drawingml/2006/main" noGrp="1"/>
          </p:cNvSpPr>
          <p:nvPr>
            <p:ph type="title" idx="0"/>
          </p:nvPr>
        </p:nvSpPr>
        <p:spPr>
          <a:xfrm xmlns:a="http://schemas.openxmlformats.org/drawingml/2006/main">
            <a:off x="1285875" y="1000125"/>
            <a:ext cx="20288250"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188"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8B4E14E-2645-4766-B31A-9326D8317193}"/>
              </a:ext>
            </a:extLst>
          </p:cNvPr>
          <p:cNvSpPr>
            <a:spLocks xmlns:a="http://schemas.openxmlformats.org/drawingml/2006/main" noGrp="1"/>
          </p:cNvSpPr>
          <p:nvPr>
            <p:ph type="body" idx="1"/>
          </p:nvPr>
        </p:nvSpPr>
        <p:spPr>
          <a:xfrm xmlns:a="http://schemas.openxmlformats.org/drawingml/2006/main">
            <a:off x="1285875" y="3571875"/>
            <a:ext cx="9429750"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219" b="0">
                <a:solidFill>
                  <a:schemeClr val="tx1"/>
                </a:solidFill>
                <a:latin typeface="+mn-lt"/>
                <a:ea typeface="+mn-lt"/>
                <a:cs typeface="+mn-lt"/>
              </a:defRPr>
            </a:defPPr>
            <a:lvl1pPr marL="428625" indent="-428625">
              <a:lnSpc>
                <a:spcPct val="110000"/>
              </a:lnSpc>
              <a:spcBef>
                <a:spcPts val="0"/>
              </a:spcBef>
              <a:spcAft>
                <a:spcPts val="2250"/>
              </a:spcAft>
              <a:buChar char="•"/>
              <a:defRPr/>
            </a:lvl1pPr>
            <a:lvl2pPr marL="1000125" indent="-428625">
              <a:lnSpc>
                <a:spcPct val="110000"/>
              </a:lnSpc>
              <a:spcBef>
                <a:spcPts val="0"/>
              </a:spcBef>
              <a:spcAft>
                <a:spcPts val="2250"/>
              </a:spcAft>
              <a:buChar char="•"/>
              <a:defRPr/>
            </a:lvl2pPr>
            <a:lvl3pPr marL="1571625" indent="-428625">
              <a:lnSpc>
                <a:spcPct val="110000"/>
              </a:lnSpc>
              <a:spcBef>
                <a:spcPts val="0"/>
              </a:spcBef>
              <a:spcAft>
                <a:spcPts val="2250"/>
              </a:spcAft>
              <a:buChar char="•"/>
              <a:defRPr/>
            </a:lvl3pPr>
            <a:lvl4pPr marL="2143125" indent="-428625">
              <a:lnSpc>
                <a:spcPct val="110000"/>
              </a:lnSpc>
              <a:spcBef>
                <a:spcPts val="0"/>
              </a:spcBef>
              <a:spcAft>
                <a:spcPts val="2250"/>
              </a:spcAft>
              <a:buChar char="•"/>
              <a:defRPr/>
            </a:lvl4pPr>
            <a:lvl5pPr marL="2714625" indent="-428625">
              <a:lnSpc>
                <a:spcPct val="110000"/>
              </a:lnSpc>
              <a:spcBef>
                <a:spcPts val="0"/>
              </a:spcBef>
              <a:spcAft>
                <a:spcPts val="2250"/>
              </a:spcAft>
              <a:buChar char="•"/>
              <a:defRPr/>
            </a:lvl5pPr>
            <a:lvl6pPr marL="3286125" indent="-428625">
              <a:lnSpc>
                <a:spcPct val="110000"/>
              </a:lnSpc>
              <a:spcBef>
                <a:spcPts val="0"/>
              </a:spcBef>
              <a:spcAft>
                <a:spcPts val="2250"/>
              </a:spcAft>
              <a:buChar char="•"/>
              <a:defRPr/>
            </a:lvl6pPr>
            <a:lvl7pPr marL="3857625" indent="-428625">
              <a:lnSpc>
                <a:spcPct val="110000"/>
              </a:lnSpc>
              <a:spcBef>
                <a:spcPts val="0"/>
              </a:spcBef>
              <a:spcAft>
                <a:spcPts val="2250"/>
              </a:spcAft>
              <a:buChar char="•"/>
              <a:defRPr/>
            </a:lvl7pPr>
            <a:lvl8pPr marL="4429125" indent="-428625">
              <a:lnSpc>
                <a:spcPct val="110000"/>
              </a:lnSpc>
              <a:spcBef>
                <a:spcPts val="0"/>
              </a:spcBef>
              <a:spcAft>
                <a:spcPts val="2250"/>
              </a:spcAft>
              <a:buChar char="•"/>
              <a:defRPr/>
            </a:lvl8pPr>
            <a:lvl9pPr marL="5000625" indent="-428625">
              <a:lnSpc>
                <a:spcPct val="110000"/>
              </a:lnSpc>
              <a:spcBef>
                <a:spcPts val="0"/>
              </a:spcBef>
              <a:spcAft>
                <a:spcPts val="225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454c462981644aa" /><Relationship Type="http://schemas.openxmlformats.org/officeDocument/2006/relationships/slideLayout" Target="/ppt/slideLayouts/slideLayout1.xml" Id="R7a1161fe05044b15" /><Relationship Type="http://schemas.openxmlformats.org/officeDocument/2006/relationships/slideLayout" Target="/ppt/slideLayouts/slideLayout2.xml" Id="R41a93ff354a54c42" /><Relationship Type="http://schemas.openxmlformats.org/officeDocument/2006/relationships/slideLayout" Target="/ppt/slideLayouts/slideLayout3.xml" Id="R87dfa211c428422e" /><Relationship Type="http://schemas.openxmlformats.org/officeDocument/2006/relationships/slideLayout" Target="/ppt/slideLayouts/slideLayout4.xml" Id="R9a192722e177498e" /><Relationship Type="http://schemas.openxmlformats.org/officeDocument/2006/relationships/slideLayout" Target="/ppt/slideLayouts/slideLayout5.xml" Id="R7df1b4a5450b445b" /><Relationship Type="http://schemas.openxmlformats.org/officeDocument/2006/relationships/slideLayout" Target="/ppt/slideLayouts/slideLayout6.xml" Id="Rdbe93757cc8243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1161fe05044b15"/>
    <p:sldLayoutId xmlns:r="http://schemas.openxmlformats.org/officeDocument/2006/relationships" id="2147483650" r:id="R41a93ff354a54c42"/>
    <p:sldLayoutId xmlns:r="http://schemas.openxmlformats.org/officeDocument/2006/relationships" id="2147483651" r:id="R87dfa211c428422e"/>
    <p:sldLayoutId xmlns:r="http://schemas.openxmlformats.org/officeDocument/2006/relationships" id="2147483652" r:id="R9a192722e177498e"/>
    <p:sldLayoutId xmlns:r="http://schemas.openxmlformats.org/officeDocument/2006/relationships" id="2147483653" r:id="R7df1b4a5450b445b"/>
    <p:sldLayoutId xmlns:r="http://schemas.openxmlformats.org/officeDocument/2006/relationships" id="2147483654" r:id="Rdbe93757cc8243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083bae052ca4eb1" /><Relationship Type="http://schemas.openxmlformats.org/officeDocument/2006/relationships/image" Target="/ppt/media/image.png" Id="R798121496856441f" /><Relationship Type="http://schemas.openxmlformats.org/officeDocument/2006/relationships/image" Target="/ppt/media/image.svg" Id="R81e43c918e074e99" /><Relationship Type="http://schemas.openxmlformats.org/officeDocument/2006/relationships/image" Target="/ppt/media/image2.png" Id="R71a4b3ad7060401c" /><Relationship Type="http://schemas.openxmlformats.org/officeDocument/2006/relationships/image" Target="/ppt/media/image2.svg" Id="R903a56c62ded482e" /><Relationship Type="http://schemas.openxmlformats.org/officeDocument/2006/relationships/image" Target="/ppt/media/image3.png" Id="Ra639cf53928c4e60" /><Relationship Type="http://schemas.openxmlformats.org/officeDocument/2006/relationships/image" Target="/ppt/media/image3.svg" Id="R17bdb95ff93c4f84" /><Relationship Type="http://schemas.openxmlformats.org/officeDocument/2006/relationships/image" Target="/ppt/media/image4.png" Id="R74afaa50b4134002" /><Relationship Type="http://schemas.openxmlformats.org/officeDocument/2006/relationships/image" Target="/ppt/media/image4.svg" Id="Rd15dd91e6b9541fa" /><Relationship Type="http://schemas.openxmlformats.org/officeDocument/2006/relationships/image" Target="/ppt/media/image5.png" Id="R4ed2aa071e824ef9" /><Relationship Type="http://schemas.openxmlformats.org/officeDocument/2006/relationships/image" Target="/ppt/media/image5.svg" Id="R6d4f97ed551b4137" /><Relationship Type="http://schemas.openxmlformats.org/officeDocument/2006/relationships/image" Target="/ppt/media/image6.png" Id="Rdcc088b49bcd4288" /><Relationship Type="http://schemas.openxmlformats.org/officeDocument/2006/relationships/image" Target="/ppt/media/image6.svg" Id="Rb262d1a374d54638" /><Relationship Type="http://schemas.openxmlformats.org/officeDocument/2006/relationships/image" Target="/ppt/media/image7.png" Id="R39d4be8cc61248d6" /><Relationship Type="http://schemas.openxmlformats.org/officeDocument/2006/relationships/image" Target="/ppt/media/image7.svg" Id="R73e2378dbb824dcf" /><Relationship Type="http://schemas.openxmlformats.org/officeDocument/2006/relationships/image" Target="/ppt/media/image8.png" Id="Rfbb16127facf43ad" /><Relationship Type="http://schemas.openxmlformats.org/officeDocument/2006/relationships/image" Target="/ppt/media/image8.svg" Id="Rc6078e580a6c4b54" /><Relationship Type="http://schemas.openxmlformats.org/officeDocument/2006/relationships/image" Target="/ppt/media/image9.png" Id="R835b421986894d6a" /><Relationship Type="http://schemas.openxmlformats.org/officeDocument/2006/relationships/image" Target="/ppt/media/image9.svg" Id="R41575b96de064ac1" /><Relationship Type="http://schemas.openxmlformats.org/officeDocument/2006/relationships/notesSlide" Target="/ppt/notesSlides/notesSlide1.xml" Id="R226a4eb4d36a4fe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 name="">
            <a:extLst xmlns:a="http://schemas.openxmlformats.org/drawingml/2006/main">
              <a:ext uri="{FF2B5EF4-FFF2-40B4-BE49-F238E27FC236}">
                <a16:creationId xmlns:a16="http://schemas.microsoft.com/office/drawing/2014/main" id="{2044C1E1-3F86-4383-A1D7-2A52744B6654}"/>
              </a:ext>
            </a:extLst>
          </p:cNvPr>
          <p:cNvSpPr>
            <a:spLocks xmlns:a="http://schemas.openxmlformats.org/drawingml/2006/main" noGrp="1"/>
          </p:cNvSpPr>
          <p:nvPr/>
        </p:nvSpPr>
        <p:spPr>
          <a:xfrm xmlns:a="http://schemas.openxmlformats.org/drawingml/2006/main">
            <a:off x="952500" y="571500"/>
            <a:ext cx="95250" cy="1000125"/>
          </a:xfrm>
          <a:prstGeom xmlns:a="http://schemas.openxmlformats.org/drawingml/2006/main" prst="rect">
            <a:avLst/>
          </a:prstGeom>
          <a:solidFill xmlns:a="http://schemas.openxmlformats.org/drawingml/2006/main">
            <a:srgbClr val="00355F"/>
          </a:solidFill>
          <a:ln xmlns:a="http://schemas.openxmlformats.org/drawingml/2006/main" w="9525">
            <a:noFill/>
          </a:ln>
        </p:spPr>
      </p:sp>
      <p:sp>
        <p:nvSpPr>
          <p:cNvPr id="2" name="RSI: AI design and biological validation">
            <a:extLst xmlns:a="http://schemas.openxmlformats.org/drawingml/2006/main">
              <a:ext uri="{FF2B5EF4-FFF2-40B4-BE49-F238E27FC236}">
                <a16:creationId xmlns:a16="http://schemas.microsoft.com/office/drawing/2014/main" id="{56FB287F-7F7E-4A18-9A0C-F216AE9DF67E}"/>
              </a:ext>
            </a:extLst>
          </p:cNvPr>
          <p:cNvSpPr>
            <a:spLocks xmlns:a="http://schemas.openxmlformats.org/drawingml/2006/main" noGrp="1"/>
          </p:cNvSpPr>
          <p:nvPr/>
        </p:nvSpPr>
        <p:spPr>
          <a:xfrm xmlns:a="http://schemas.openxmlformats.org/drawingml/2006/main">
            <a:off x="1343025" y="552450"/>
            <a:ext cx="205644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4200" b="1">
                <a:solidFill>
                  <a:srgbClr val="00355F"/>
                </a:solidFill>
                <a:latin typeface="Arial"/>
                <a:ea typeface="Arial"/>
                <a:cs typeface="Arial"/>
              </a:defRPr>
            </a:defPPr>
          </a:lstStyle>
          <a:p xmlns:a="http://schemas.openxmlformats.org/drawingml/2006/main">
            <a:pPr algn="l">
              <a:lnSpc>
                <a:spcPct val="100000"/>
              </a:lnSpc>
              <a:buNone/>
              <a:defRPr sz="4200" b="1">
                <a:solidFill>
                  <a:srgbClr val="00355F"/>
                </a:solidFill>
                <a:latin typeface="Arial"/>
                <a:ea typeface="Arial"/>
                <a:cs typeface="Arial"/>
              </a:defRPr>
            </a:pPr>
            <a:r>
              <a:rPr sz="4200" b="1">
                <a:solidFill>
                  <a:srgbClr val="00355F"/>
                </a:solidFill>
                <a:latin typeface="Arial"/>
                <a:ea typeface="Arial"/>
                <a:cs typeface="Arial"/>
              </a:rPr>
              <a:t>RSI: AI design and biological validation</a:t>
            </a:r>
          </a:p>
        </p:txBody>
      </p:sp>
      <p:sp>
        <p:nvSpPr>
          <p:cNvPr id="3" name="How experimental feedback could improve both biological designs and the AI design process">
            <a:extLst xmlns:a="http://schemas.openxmlformats.org/drawingml/2006/main">
              <a:ext uri="{FF2B5EF4-FFF2-40B4-BE49-F238E27FC236}">
                <a16:creationId xmlns:a16="http://schemas.microsoft.com/office/drawing/2014/main" id="{7367E109-D284-4131-8765-F34A9DBA86C2}"/>
              </a:ext>
            </a:extLst>
          </p:cNvPr>
          <p:cNvSpPr>
            <a:spLocks xmlns:a="http://schemas.openxmlformats.org/drawingml/2006/main" noGrp="1"/>
          </p:cNvSpPr>
          <p:nvPr/>
        </p:nvSpPr>
        <p:spPr>
          <a:xfrm xmlns:a="http://schemas.openxmlformats.org/drawingml/2006/main">
            <a:off x="1343025" y="1304925"/>
            <a:ext cx="205644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75" b="0">
                <a:solidFill>
                  <a:srgbClr val="00355F"/>
                </a:solidFill>
                <a:latin typeface="Arial"/>
                <a:ea typeface="Arial"/>
                <a:cs typeface="Arial"/>
              </a:defRPr>
            </a:defPPr>
          </a:lstStyle>
          <a:p xmlns:a="http://schemas.openxmlformats.org/drawingml/2006/main">
            <a:pPr algn="l">
              <a:lnSpc>
                <a:spcPct val="100000"/>
              </a:lnSpc>
              <a:buNone/>
              <a:defRPr sz="2175" b="0">
                <a:solidFill>
                  <a:srgbClr val="00355F"/>
                </a:solidFill>
                <a:latin typeface="Arial"/>
                <a:ea typeface="Arial"/>
                <a:cs typeface="Arial"/>
              </a:defRPr>
            </a:pPr>
            <a:r>
              <a:rPr sz="2175" b="0">
                <a:solidFill>
                  <a:srgbClr val="00355F"/>
                </a:solidFill>
                <a:latin typeface="Arial"/>
                <a:ea typeface="Arial"/>
                <a:cs typeface="Arial"/>
              </a:rPr>
              <a:t>How experimental feedback could improve both biological designs and the AI design process</a:t>
            </a:r>
          </a:p>
        </p:txBody>
      </p:sp>
      <p:sp>
        <p:nvSpPr>
          <p:cNvPr id="4" name="RECURSIVE SELF-IMPROVEMENT  ·  CONCEPTUAL MECHANISM">
            <a:extLst xmlns:a="http://schemas.openxmlformats.org/drawingml/2006/main">
              <a:ext uri="{FF2B5EF4-FFF2-40B4-BE49-F238E27FC236}">
                <a16:creationId xmlns:a16="http://schemas.microsoft.com/office/drawing/2014/main" id="{57D88F58-E222-4218-B066-C1B2EB1662CE}"/>
              </a:ext>
            </a:extLst>
          </p:cNvPr>
          <p:cNvSpPr>
            <a:spLocks xmlns:a="http://schemas.openxmlformats.org/drawingml/2006/main" noGrp="1"/>
          </p:cNvSpPr>
          <p:nvPr/>
        </p:nvSpPr>
        <p:spPr>
          <a:xfrm xmlns:a="http://schemas.openxmlformats.org/drawingml/2006/main">
            <a:off x="1343025" y="1771650"/>
            <a:ext cx="20564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RECURSIVE SELF-IMPROVEMENT  ·  CONCEPTUAL MECHANISM</a:t>
            </a:r>
          </a:p>
        </p:txBody>
      </p:sp>
      <p:sp>
        <p:nvSpPr>
          <p:cNvPr id="5" name="">
            <a:extLst xmlns:a="http://schemas.openxmlformats.org/drawingml/2006/main">
              <a:ext uri="{FF2B5EF4-FFF2-40B4-BE49-F238E27FC236}">
                <a16:creationId xmlns:a16="http://schemas.microsoft.com/office/drawing/2014/main" id="{F0341F43-4705-4780-89CE-A92C19CA0D6D}"/>
              </a:ext>
            </a:extLst>
          </p:cNvPr>
          <p:cNvSpPr>
            <a:spLocks xmlns:a="http://schemas.openxmlformats.org/drawingml/2006/main" noGrp="1"/>
          </p:cNvSpPr>
          <p:nvPr/>
        </p:nvSpPr>
        <p:spPr>
          <a:xfrm xmlns:a="http://schemas.openxmlformats.org/drawingml/2006/main">
            <a:off x="952500" y="2181225"/>
            <a:ext cx="20955000" cy="953"/>
          </a:xfrm>
          <a:custGeom xmlns:a="http://schemas.openxmlformats.org/drawingml/2006/main">
            <a:pathLst>
              <a:path w="20955000" h="953">
                <a:moveTo>
                  <a:pt x="0" y="0"/>
                </a:moveTo>
                <a:lnTo>
                  <a:pt x="20955000" y="0"/>
                </a:lnTo>
              </a:path>
            </a:pathLst>
          </a:custGeom>
          <a:noFill xmlns:a="http://schemas.openxmlformats.org/drawingml/2006/main"/>
          <a:ln xmlns:a="http://schemas.openxmlformats.org/drawingml/2006/main" w="9525">
            <a:solidFill>
              <a:srgbClr val="A5A5A5"/>
            </a:solidFill>
          </a:ln>
        </p:spPr>
      </p:sp>
      <p:sp>
        <p:nvSpPr>
          <p:cNvPr id="6" name="">
            <a:extLst xmlns:a="http://schemas.openxmlformats.org/drawingml/2006/main">
              <a:ext uri="{FF2B5EF4-FFF2-40B4-BE49-F238E27FC236}">
                <a16:creationId xmlns:a16="http://schemas.microsoft.com/office/drawing/2014/main" id="{0485D51E-FCC8-4F35-BD05-753F03FFBF0F}"/>
              </a:ext>
            </a:extLst>
          </p:cNvPr>
          <p:cNvSpPr>
            <a:spLocks xmlns:a="http://schemas.openxmlformats.org/drawingml/2006/main" noGrp="1"/>
          </p:cNvSpPr>
          <p:nvPr/>
        </p:nvSpPr>
        <p:spPr>
          <a:xfrm xmlns:a="http://schemas.openxmlformats.org/drawingml/2006/main">
            <a:off x="1619250" y="2447925"/>
            <a:ext cx="5143500" cy="6410325"/>
          </a:xfrm>
          <a:prstGeom xmlns:a="http://schemas.openxmlformats.org/drawingml/2006/main" prst="roundRect">
            <a:avLst>
              <a:gd name="adj" fmla="val 3333"/>
            </a:avLst>
          </a:prstGeom>
          <a:solidFill xmlns:a="http://schemas.openxmlformats.org/drawingml/2006/main">
            <a:srgbClr val="EEF6FC"/>
          </a:solidFill>
          <a:ln xmlns:a="http://schemas.openxmlformats.org/drawingml/2006/main" w="9525">
            <a:solidFill>
              <a:srgbClr val="7399C6"/>
            </a:solidFill>
          </a:ln>
        </p:spPr>
      </p:sp>
      <p:sp>
        <p:nvSpPr>
          <p:cNvPr id="7" name="">
            <a:extLst xmlns:a="http://schemas.openxmlformats.org/drawingml/2006/main">
              <a:ext uri="{FF2B5EF4-FFF2-40B4-BE49-F238E27FC236}">
                <a16:creationId xmlns:a16="http://schemas.microsoft.com/office/drawing/2014/main" id="{9B3D518A-730B-4474-95B9-9023CE494726}"/>
              </a:ext>
            </a:extLst>
          </p:cNvPr>
          <p:cNvSpPr>
            <a:spLocks xmlns:a="http://schemas.openxmlformats.org/drawingml/2006/main" noGrp="1"/>
          </p:cNvSpPr>
          <p:nvPr/>
        </p:nvSpPr>
        <p:spPr>
          <a:xfrm xmlns:a="http://schemas.openxmlformats.org/drawingml/2006/main">
            <a:off x="16002000" y="2447925"/>
            <a:ext cx="5143500" cy="6410325"/>
          </a:xfrm>
          <a:prstGeom xmlns:a="http://schemas.openxmlformats.org/drawingml/2006/main" prst="roundRect">
            <a:avLst>
              <a:gd name="adj" fmla="val 3333"/>
            </a:avLst>
          </a:prstGeom>
          <a:solidFill xmlns:a="http://schemas.openxmlformats.org/drawingml/2006/main">
            <a:srgbClr val="EEF6FC"/>
          </a:solidFill>
          <a:ln xmlns:a="http://schemas.openxmlformats.org/drawingml/2006/main" w="9525">
            <a:solidFill>
              <a:srgbClr val="7399C6"/>
            </a:solidFill>
          </a:ln>
        </p:spPr>
      </p:sp>
      <p:sp>
        <p:nvSpPr>
          <p:cNvPr id="8" name="DIGITAL CAPABILITY">
            <a:extLst xmlns:a="http://schemas.openxmlformats.org/drawingml/2006/main">
              <a:ext uri="{FF2B5EF4-FFF2-40B4-BE49-F238E27FC236}">
                <a16:creationId xmlns:a16="http://schemas.microsoft.com/office/drawing/2014/main" id="{BF7C4709-EB78-472F-863E-606499BF53F4}"/>
              </a:ext>
            </a:extLst>
          </p:cNvPr>
          <p:cNvSpPr>
            <a:spLocks xmlns:a="http://schemas.openxmlformats.org/drawingml/2006/main" noGrp="1"/>
          </p:cNvSpPr>
          <p:nvPr/>
        </p:nvSpPr>
        <p:spPr>
          <a:xfrm xmlns:a="http://schemas.openxmlformats.org/drawingml/2006/main">
            <a:off x="1905000" y="2628900"/>
            <a:ext cx="4572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1">
                <a:solidFill>
                  <a:srgbClr val="00355F"/>
                </a:solidFill>
                <a:latin typeface="Arial"/>
                <a:ea typeface="Arial"/>
                <a:cs typeface="Arial"/>
              </a:defRPr>
            </a:defPPr>
          </a:lstStyle>
          <a:p xmlns:a="http://schemas.openxmlformats.org/drawingml/2006/main">
            <a:pPr algn="l">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DIGITAL CAPABILITY</a:t>
            </a:r>
          </a:p>
        </p:txBody>
      </p:sp>
      <p:sp>
        <p:nvSpPr>
          <p:cNvPr id="9" name="EXPERIMENTAL STRATEGY">
            <a:extLst xmlns:a="http://schemas.openxmlformats.org/drawingml/2006/main">
              <a:ext uri="{FF2B5EF4-FFF2-40B4-BE49-F238E27FC236}">
                <a16:creationId xmlns:a16="http://schemas.microsoft.com/office/drawing/2014/main" id="{0DA30274-9684-47E6-B3E2-CCE5D16032A2}"/>
              </a:ext>
            </a:extLst>
          </p:cNvPr>
          <p:cNvSpPr>
            <a:spLocks xmlns:a="http://schemas.openxmlformats.org/drawingml/2006/main" noGrp="1"/>
          </p:cNvSpPr>
          <p:nvPr/>
        </p:nvSpPr>
        <p:spPr>
          <a:xfrm xmlns:a="http://schemas.openxmlformats.org/drawingml/2006/main">
            <a:off x="9096375" y="2628900"/>
            <a:ext cx="4572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1">
                <a:solidFill>
                  <a:srgbClr val="00355F"/>
                </a:solidFill>
                <a:latin typeface="Arial"/>
                <a:ea typeface="Arial"/>
                <a:cs typeface="Arial"/>
              </a:defRPr>
            </a:defPPr>
          </a:lstStyle>
          <a:p xmlns:a="http://schemas.openxmlformats.org/drawingml/2006/main">
            <a:pPr algn="l">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EXPERIMENTAL STRATEGY</a:t>
            </a:r>
          </a:p>
        </p:txBody>
      </p:sp>
      <p:sp>
        <p:nvSpPr>
          <p:cNvPr id="10" name="PHYSICAL GROUNDING">
            <a:extLst xmlns:a="http://schemas.openxmlformats.org/drawingml/2006/main">
              <a:ext uri="{FF2B5EF4-FFF2-40B4-BE49-F238E27FC236}">
                <a16:creationId xmlns:a16="http://schemas.microsoft.com/office/drawing/2014/main" id="{6559E135-4D48-4FD5-A03A-DC297E2E9E9F}"/>
              </a:ext>
            </a:extLst>
          </p:cNvPr>
          <p:cNvSpPr>
            <a:spLocks xmlns:a="http://schemas.openxmlformats.org/drawingml/2006/main" noGrp="1"/>
          </p:cNvSpPr>
          <p:nvPr/>
        </p:nvSpPr>
        <p:spPr>
          <a:xfrm xmlns:a="http://schemas.openxmlformats.org/drawingml/2006/main">
            <a:off x="16287750" y="2628900"/>
            <a:ext cx="4572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1">
                <a:solidFill>
                  <a:srgbClr val="00355F"/>
                </a:solidFill>
                <a:latin typeface="Arial"/>
                <a:ea typeface="Arial"/>
                <a:cs typeface="Arial"/>
              </a:defRPr>
            </a:defPPr>
          </a:lstStyle>
          <a:p xmlns:a="http://schemas.openxmlformats.org/drawingml/2006/main">
            <a:pPr algn="l">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PHYSICAL GROUNDING</a:t>
            </a:r>
          </a:p>
        </p:txBody>
      </p:sp>
      <p:sp>
        <p:nvSpPr>
          <p:cNvPr id="11" name="">
            <a:extLst xmlns:a="http://schemas.openxmlformats.org/drawingml/2006/main">
              <a:ext uri="{FF2B5EF4-FFF2-40B4-BE49-F238E27FC236}">
                <a16:creationId xmlns:a16="http://schemas.microsoft.com/office/drawing/2014/main" id="{ADBF3F82-E38B-4A0A-9034-B5C245E191C3}"/>
              </a:ext>
            </a:extLst>
          </p:cNvPr>
          <p:cNvSpPr>
            <a:spLocks xmlns:a="http://schemas.openxmlformats.org/drawingml/2006/main" noGrp="1"/>
          </p:cNvSpPr>
          <p:nvPr/>
        </p:nvSpPr>
        <p:spPr>
          <a:xfrm xmlns:a="http://schemas.openxmlformats.org/drawingml/2006/main">
            <a:off x="1933575" y="3038475"/>
            <a:ext cx="4572000" cy="1857375"/>
          </a:xfrm>
          <a:prstGeom xmlns:a="http://schemas.openxmlformats.org/drawingml/2006/main" prst="roundRect">
            <a:avLst>
              <a:gd name="adj" fmla="val 6667"/>
            </a:avLst>
          </a:prstGeom>
          <a:solidFill xmlns:a="http://schemas.openxmlformats.org/drawingml/2006/main">
            <a:srgbClr val="EEF6FC"/>
          </a:solidFill>
          <a:ln xmlns:a="http://schemas.openxmlformats.org/drawingml/2006/main" w="9525">
            <a:noFill/>
          </a:ln>
        </p:spPr>
      </p:sp>
      <p:sp>
        <p:nvSpPr>
          <p:cNvPr id="12" name="">
            <a:extLst xmlns:a="http://schemas.openxmlformats.org/drawingml/2006/main">
              <a:ext uri="{FF2B5EF4-FFF2-40B4-BE49-F238E27FC236}">
                <a16:creationId xmlns:a16="http://schemas.microsoft.com/office/drawing/2014/main" id="{B2BC0426-BAFF-4713-A88A-D1E07A409C10}"/>
              </a:ext>
            </a:extLst>
          </p:cNvPr>
          <p:cNvSpPr>
            <a:spLocks xmlns:a="http://schemas.openxmlformats.org/drawingml/2006/main" noGrp="1"/>
          </p:cNvSpPr>
          <p:nvPr/>
        </p:nvSpPr>
        <p:spPr>
          <a:xfrm xmlns:a="http://schemas.openxmlformats.org/drawingml/2006/main">
            <a:off x="1905000" y="3000375"/>
            <a:ext cx="4572000" cy="1857375"/>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2383">
            <a:solidFill>
              <a:srgbClr val="7399C6"/>
            </a:solidFill>
          </a:ln>
        </p:spPr>
      </p:sp>
      <p:sp>
        <p:nvSpPr>
          <p:cNvPr id="13" name="01  /  MODEL">
            <a:extLst xmlns:a="http://schemas.openxmlformats.org/drawingml/2006/main">
              <a:ext uri="{FF2B5EF4-FFF2-40B4-BE49-F238E27FC236}">
                <a16:creationId xmlns:a16="http://schemas.microsoft.com/office/drawing/2014/main" id="{CE922E1D-6FB3-4FF5-AAFB-F70209B8BC92}"/>
              </a:ext>
            </a:extLst>
          </p:cNvPr>
          <p:cNvSpPr>
            <a:spLocks xmlns:a="http://schemas.openxmlformats.org/drawingml/2006/main" noGrp="1"/>
          </p:cNvSpPr>
          <p:nvPr/>
        </p:nvSpPr>
        <p:spPr>
          <a:xfrm xmlns:a="http://schemas.openxmlformats.org/drawingml/2006/main">
            <a:off x="2171700" y="3238500"/>
            <a:ext cx="3571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8" b="1">
                <a:solidFill>
                  <a:srgbClr val="00355F"/>
                </a:solidFill>
                <a:latin typeface="Arial"/>
                <a:ea typeface="Arial"/>
                <a:cs typeface="Arial"/>
              </a:defRPr>
            </a:defPPr>
          </a:lstStyle>
          <a:p xmlns:a="http://schemas.openxmlformats.org/drawingml/2006/main">
            <a:pPr algn="l">
              <a:lnSpc>
                <a:spcPct val="100000"/>
              </a:lnSpc>
              <a:buNone/>
              <a:defRPr sz="1388" b="1">
                <a:solidFill>
                  <a:srgbClr val="00355F"/>
                </a:solidFill>
                <a:latin typeface="Arial"/>
                <a:ea typeface="Arial"/>
                <a:cs typeface="Arial"/>
              </a:defRPr>
            </a:pPr>
            <a:r>
              <a:rPr sz="1388" b="1">
                <a:solidFill>
                  <a:srgbClr val="00355F"/>
                </a:solidFill>
                <a:latin typeface="Arial"/>
                <a:ea typeface="Arial"/>
                <a:cs typeface="Arial"/>
              </a:rPr>
              <a:t>01  /  MODEL</a:t>
            </a:r>
          </a:p>
        </p:txBody>
      </p:sp>
      <p:pic>
        <p:nvPicPr>
          <p:cNvPr id="14" name="">
            <a:extLst xmlns:a="http://schemas.openxmlformats.org/drawingml/2006/main">
              <a:ext uri="{FF2B5EF4-FFF2-40B4-BE49-F238E27FC236}">
                <a16:creationId xmlns:a16="http://schemas.microsoft.com/office/drawing/2014/main" id="{EC2042E8-6738-4F3C-BDB1-0290E0D33732}"/>
              </a:ext>
            </a:extLst>
          </p:cNvPr>
          <p:cNvPicPr>
            <a:picLocks xmlns:a="http://schemas.openxmlformats.org/drawingml/2006/main" noChangeAspect="1"/>
          </p:cNvPicPr>
          <p:nvPr/>
        </p:nvPicPr>
        <p:blipFill>
          <a:blip xmlns:r="http://schemas.openxmlformats.org/officeDocument/2006/relationships" xmlns:a="http://schemas.openxmlformats.org/drawingml/2006/main" r:embed="R798121496856441f">
            <a:extLst>
              <a:ext uri="{96DAC541-7B7A-43D3-8B79-37D633B846F1}">
                <asvg:svgBlip xmlns:asvg="http://schemas.microsoft.com/office/drawing/2016/SVG/main" r:embed="R81e43c918e074e99"/>
              </a:ext>
            </a:extLst>
          </a:blip>
          <a:stretch xmlns:a="http://schemas.openxmlformats.org/drawingml/2006/main"/>
        </p:blipFill>
        <p:spPr>
          <a:xfrm xmlns:a="http://schemas.openxmlformats.org/drawingml/2006/main">
            <a:off x="5819775" y="3209925"/>
            <a:ext cx="371475" cy="371475"/>
          </a:xfrm>
          <a:prstGeom xmlns:a="http://schemas.openxmlformats.org/drawingml/2006/main" prst="rect">
            <a:avLst/>
          </a:prstGeom>
        </p:spPr>
      </p:pic>
      <p:sp>
        <p:nvSpPr>
          <p:cNvPr id="15" name="AI scientist · Model t">
            <a:extLst xmlns:a="http://schemas.openxmlformats.org/drawingml/2006/main">
              <a:ext uri="{FF2B5EF4-FFF2-40B4-BE49-F238E27FC236}">
                <a16:creationId xmlns:a16="http://schemas.microsoft.com/office/drawing/2014/main" id="{D2B326C5-2D00-4FFA-B450-51930C405EBE}"/>
              </a:ext>
            </a:extLst>
          </p:cNvPr>
          <p:cNvSpPr>
            <a:spLocks xmlns:a="http://schemas.openxmlformats.org/drawingml/2006/main" noGrp="1"/>
          </p:cNvSpPr>
          <p:nvPr/>
        </p:nvSpPr>
        <p:spPr>
          <a:xfrm xmlns:a="http://schemas.openxmlformats.org/drawingml/2006/main">
            <a:off x="2171700" y="3714750"/>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325" b="1">
                <a:solidFill>
                  <a:srgbClr val="00355F"/>
                </a:solidFill>
                <a:latin typeface="Arial"/>
                <a:ea typeface="Arial"/>
                <a:cs typeface="Arial"/>
              </a:defRPr>
            </a:defPPr>
          </a:lstStyle>
          <a:p xmlns:a="http://schemas.openxmlformats.org/drawingml/2006/main">
            <a:pPr algn="l">
              <a:lnSpc>
                <a:spcPct val="100000"/>
              </a:lnSpc>
              <a:buNone/>
              <a:defRPr sz="2325" b="1">
                <a:solidFill>
                  <a:srgbClr val="00355F"/>
                </a:solidFill>
                <a:latin typeface="Arial"/>
                <a:ea typeface="Arial"/>
                <a:cs typeface="Arial"/>
              </a:defRPr>
            </a:pPr>
            <a:r>
              <a:rPr sz="2325" b="1">
                <a:solidFill>
                  <a:srgbClr val="00355F"/>
                </a:solidFill>
                <a:latin typeface="Arial"/>
                <a:ea typeface="Arial"/>
                <a:cs typeface="Arial"/>
              </a:rPr>
              <a:t>AI scientist · Model t</a:t>
            </a:r>
          </a:p>
        </p:txBody>
      </p:sp>
      <p:sp>
        <p:nvSpPr>
          <p:cNvPr id="16" name="Predict properties and uncertainty">
            <a:extLst xmlns:a="http://schemas.openxmlformats.org/drawingml/2006/main">
              <a:ext uri="{FF2B5EF4-FFF2-40B4-BE49-F238E27FC236}">
                <a16:creationId xmlns:a16="http://schemas.microsoft.com/office/drawing/2014/main" id="{7EE3F34F-D8B9-4E72-B588-1593257D4535}"/>
              </a:ext>
            </a:extLst>
          </p:cNvPr>
          <p:cNvSpPr>
            <a:spLocks xmlns:a="http://schemas.openxmlformats.org/drawingml/2006/main" noGrp="1"/>
          </p:cNvSpPr>
          <p:nvPr/>
        </p:nvSpPr>
        <p:spPr>
          <a:xfrm xmlns:a="http://schemas.openxmlformats.org/drawingml/2006/main">
            <a:off x="2171700" y="4229100"/>
            <a:ext cx="4038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8" b="0">
                <a:solidFill>
                  <a:srgbClr val="00355F"/>
                </a:solidFill>
                <a:latin typeface="Arial"/>
                <a:ea typeface="Arial"/>
                <a:cs typeface="Arial"/>
              </a:defRPr>
            </a:defPPr>
          </a:lstStyle>
          <a:p xmlns:a="http://schemas.openxmlformats.org/drawingml/2006/main">
            <a:pPr algn="l">
              <a:lnSpc>
                <a:spcPct val="100000"/>
              </a:lnSpc>
              <a:buNone/>
              <a:defRPr sz="1688" b="0">
                <a:solidFill>
                  <a:srgbClr val="00355F"/>
                </a:solidFill>
                <a:latin typeface="Arial"/>
                <a:ea typeface="Arial"/>
                <a:cs typeface="Arial"/>
              </a:defRPr>
            </a:pPr>
            <a:r>
              <a:rPr sz="1688" b="0">
                <a:solidFill>
                  <a:srgbClr val="00355F"/>
                </a:solidFill>
                <a:latin typeface="Arial"/>
                <a:ea typeface="Arial"/>
                <a:cs typeface="Arial"/>
              </a:rPr>
              <a:t>Predict properties and uncertainty</a:t>
            </a:r>
          </a:p>
          <a:p xmlns:a="http://schemas.openxmlformats.org/drawingml/2006/main">
            <a:pPr algn="l">
              <a:lnSpc>
                <a:spcPct val="100000"/>
              </a:lnSpc>
              <a:buNone/>
              <a:defRPr sz="1688" b="0">
                <a:solidFill>
                  <a:srgbClr val="00355F"/>
                </a:solidFill>
                <a:latin typeface="Arial"/>
                <a:ea typeface="Arial"/>
                <a:cs typeface="Arial"/>
              </a:defRPr>
            </a:pPr>
            <a:r>
              <a:rPr sz="1688" b="0">
                <a:solidFill>
                  <a:srgbClr val="00355F"/>
                </a:solidFill>
                <a:latin typeface="Arial"/>
                <a:ea typeface="Arial"/>
                <a:cs typeface="Arial"/>
              </a:rPr>
              <a:t>Use the current model / policy</a:t>
            </a:r>
          </a:p>
        </p:txBody>
      </p:sp>
      <p:sp>
        <p:nvSpPr>
          <p:cNvPr id="17" name="">
            <a:extLst xmlns:a="http://schemas.openxmlformats.org/drawingml/2006/main">
              <a:ext uri="{FF2B5EF4-FFF2-40B4-BE49-F238E27FC236}">
                <a16:creationId xmlns:a16="http://schemas.microsoft.com/office/drawing/2014/main" id="{44982853-7EF9-493A-ADAA-2FA9EE433DFE}"/>
              </a:ext>
            </a:extLst>
          </p:cNvPr>
          <p:cNvSpPr>
            <a:spLocks xmlns:a="http://schemas.openxmlformats.org/drawingml/2006/main" noGrp="1"/>
          </p:cNvSpPr>
          <p:nvPr/>
        </p:nvSpPr>
        <p:spPr>
          <a:xfrm xmlns:a="http://schemas.openxmlformats.org/drawingml/2006/main">
            <a:off x="9124950" y="3038475"/>
            <a:ext cx="4572000" cy="1857375"/>
          </a:xfrm>
          <a:prstGeom xmlns:a="http://schemas.openxmlformats.org/drawingml/2006/main" prst="roundRect">
            <a:avLst>
              <a:gd name="adj" fmla="val 6667"/>
            </a:avLst>
          </a:prstGeom>
          <a:solidFill xmlns:a="http://schemas.openxmlformats.org/drawingml/2006/main">
            <a:srgbClr val="EEF6FC"/>
          </a:solidFill>
          <a:ln xmlns:a="http://schemas.openxmlformats.org/drawingml/2006/main" w="9525">
            <a:noFill/>
          </a:ln>
        </p:spPr>
      </p:sp>
      <p:sp>
        <p:nvSpPr>
          <p:cNvPr id="18" name="">
            <a:extLst xmlns:a="http://schemas.openxmlformats.org/drawingml/2006/main">
              <a:ext uri="{FF2B5EF4-FFF2-40B4-BE49-F238E27FC236}">
                <a16:creationId xmlns:a16="http://schemas.microsoft.com/office/drawing/2014/main" id="{53EA7240-6721-498A-95F0-90BF54B25372}"/>
              </a:ext>
            </a:extLst>
          </p:cNvPr>
          <p:cNvSpPr>
            <a:spLocks xmlns:a="http://schemas.openxmlformats.org/drawingml/2006/main" noGrp="1"/>
          </p:cNvSpPr>
          <p:nvPr/>
        </p:nvSpPr>
        <p:spPr>
          <a:xfrm xmlns:a="http://schemas.openxmlformats.org/drawingml/2006/main">
            <a:off x="9096375" y="3000375"/>
            <a:ext cx="4572000" cy="1857375"/>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2383">
            <a:solidFill>
              <a:srgbClr val="A5A5A5"/>
            </a:solidFill>
          </a:ln>
        </p:spPr>
      </p:sp>
      <p:sp>
        <p:nvSpPr>
          <p:cNvPr id="19" name="02  /  DESIGN">
            <a:extLst xmlns:a="http://schemas.openxmlformats.org/drawingml/2006/main">
              <a:ext uri="{FF2B5EF4-FFF2-40B4-BE49-F238E27FC236}">
                <a16:creationId xmlns:a16="http://schemas.microsoft.com/office/drawing/2014/main" id="{6E974951-FB31-4828-B835-0D41643627F5}"/>
              </a:ext>
            </a:extLst>
          </p:cNvPr>
          <p:cNvSpPr>
            <a:spLocks xmlns:a="http://schemas.openxmlformats.org/drawingml/2006/main" noGrp="1"/>
          </p:cNvSpPr>
          <p:nvPr/>
        </p:nvSpPr>
        <p:spPr>
          <a:xfrm xmlns:a="http://schemas.openxmlformats.org/drawingml/2006/main">
            <a:off x="9363075" y="3238500"/>
            <a:ext cx="3571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8" b="1">
                <a:solidFill>
                  <a:srgbClr val="00355F"/>
                </a:solidFill>
                <a:latin typeface="Arial"/>
                <a:ea typeface="Arial"/>
                <a:cs typeface="Arial"/>
              </a:defRPr>
            </a:defPPr>
          </a:lstStyle>
          <a:p xmlns:a="http://schemas.openxmlformats.org/drawingml/2006/main">
            <a:pPr algn="l">
              <a:lnSpc>
                <a:spcPct val="100000"/>
              </a:lnSpc>
              <a:buNone/>
              <a:defRPr sz="1388" b="1">
                <a:solidFill>
                  <a:srgbClr val="00355F"/>
                </a:solidFill>
                <a:latin typeface="Arial"/>
                <a:ea typeface="Arial"/>
                <a:cs typeface="Arial"/>
              </a:defRPr>
            </a:pPr>
            <a:r>
              <a:rPr sz="1388" b="1">
                <a:solidFill>
                  <a:srgbClr val="00355F"/>
                </a:solidFill>
                <a:latin typeface="Arial"/>
                <a:ea typeface="Arial"/>
                <a:cs typeface="Arial"/>
              </a:rPr>
              <a:t>02  /  DESIGN</a:t>
            </a:r>
          </a:p>
        </p:txBody>
      </p:sp>
      <p:pic>
        <p:nvPicPr>
          <p:cNvPr id="20" name="">
            <a:extLst xmlns:a="http://schemas.openxmlformats.org/drawingml/2006/main">
              <a:ext uri="{FF2B5EF4-FFF2-40B4-BE49-F238E27FC236}">
                <a16:creationId xmlns:a16="http://schemas.microsoft.com/office/drawing/2014/main" id="{CCADCD41-E4AD-41A2-A7A1-2CF0A2FE043E}"/>
              </a:ext>
            </a:extLst>
          </p:cNvPr>
          <p:cNvPicPr>
            <a:picLocks xmlns:a="http://schemas.openxmlformats.org/drawingml/2006/main" noChangeAspect="1"/>
          </p:cNvPicPr>
          <p:nvPr/>
        </p:nvPicPr>
        <p:blipFill>
          <a:blip xmlns:r="http://schemas.openxmlformats.org/officeDocument/2006/relationships" xmlns:a="http://schemas.openxmlformats.org/drawingml/2006/main" r:embed="R71a4b3ad7060401c">
            <a:extLst>
              <a:ext uri="{96DAC541-7B7A-43D3-8B79-37D633B846F1}">
                <asvg:svgBlip xmlns:asvg="http://schemas.microsoft.com/office/drawing/2016/SVG/main" r:embed="R903a56c62ded482e"/>
              </a:ext>
            </a:extLst>
          </a:blip>
          <a:stretch xmlns:a="http://schemas.openxmlformats.org/drawingml/2006/main"/>
        </p:blipFill>
        <p:spPr>
          <a:xfrm xmlns:a="http://schemas.openxmlformats.org/drawingml/2006/main">
            <a:off x="13011150" y="3209925"/>
            <a:ext cx="371475" cy="371475"/>
          </a:xfrm>
          <a:prstGeom xmlns:a="http://schemas.openxmlformats.org/drawingml/2006/main" prst="rect">
            <a:avLst/>
          </a:prstGeom>
        </p:spPr>
      </p:pic>
      <p:sp>
        <p:nvSpPr>
          <p:cNvPr id="21" name="Design &amp; prioritize">
            <a:extLst xmlns:a="http://schemas.openxmlformats.org/drawingml/2006/main">
              <a:ext uri="{FF2B5EF4-FFF2-40B4-BE49-F238E27FC236}">
                <a16:creationId xmlns:a16="http://schemas.microsoft.com/office/drawing/2014/main" id="{E4854EE5-D760-478F-B387-6DDE4E70CB58}"/>
              </a:ext>
            </a:extLst>
          </p:cNvPr>
          <p:cNvSpPr>
            <a:spLocks xmlns:a="http://schemas.openxmlformats.org/drawingml/2006/main" noGrp="1"/>
          </p:cNvSpPr>
          <p:nvPr/>
        </p:nvSpPr>
        <p:spPr>
          <a:xfrm xmlns:a="http://schemas.openxmlformats.org/drawingml/2006/main">
            <a:off x="9363075" y="3714750"/>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325" b="1">
                <a:solidFill>
                  <a:srgbClr val="00355F"/>
                </a:solidFill>
                <a:latin typeface="Arial"/>
                <a:ea typeface="Arial"/>
                <a:cs typeface="Arial"/>
              </a:defRPr>
            </a:defPPr>
          </a:lstStyle>
          <a:p xmlns:a="http://schemas.openxmlformats.org/drawingml/2006/main">
            <a:pPr algn="l">
              <a:lnSpc>
                <a:spcPct val="100000"/>
              </a:lnSpc>
              <a:buNone/>
              <a:defRPr sz="2325" b="1">
                <a:solidFill>
                  <a:srgbClr val="00355F"/>
                </a:solidFill>
                <a:latin typeface="Arial"/>
                <a:ea typeface="Arial"/>
                <a:cs typeface="Arial"/>
              </a:defRPr>
            </a:pPr>
            <a:r>
              <a:rPr sz="2325" b="1">
                <a:solidFill>
                  <a:srgbClr val="00355F"/>
                </a:solidFill>
                <a:latin typeface="Arial"/>
                <a:ea typeface="Arial"/>
                <a:cs typeface="Arial"/>
              </a:rPr>
              <a:t>Design &amp; prioritize</a:t>
            </a:r>
          </a:p>
        </p:txBody>
      </p:sp>
      <p:sp>
        <p:nvSpPr>
          <p:cNvPr id="22" name="Choose candidates and assays">
            <a:extLst xmlns:a="http://schemas.openxmlformats.org/drawingml/2006/main">
              <a:ext uri="{FF2B5EF4-FFF2-40B4-BE49-F238E27FC236}">
                <a16:creationId xmlns:a16="http://schemas.microsoft.com/office/drawing/2014/main" id="{FD2FD548-66BD-47D8-BE4D-6AF997EC43CE}"/>
              </a:ext>
            </a:extLst>
          </p:cNvPr>
          <p:cNvSpPr>
            <a:spLocks xmlns:a="http://schemas.openxmlformats.org/drawingml/2006/main" noGrp="1"/>
          </p:cNvSpPr>
          <p:nvPr/>
        </p:nvSpPr>
        <p:spPr>
          <a:xfrm xmlns:a="http://schemas.openxmlformats.org/drawingml/2006/main">
            <a:off x="9363075" y="4229100"/>
            <a:ext cx="4038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8" b="0">
                <a:solidFill>
                  <a:srgbClr val="00355F"/>
                </a:solidFill>
                <a:latin typeface="Arial"/>
                <a:ea typeface="Arial"/>
                <a:cs typeface="Arial"/>
              </a:defRPr>
            </a:defPPr>
          </a:lstStyle>
          <a:p xmlns:a="http://schemas.openxmlformats.org/drawingml/2006/main">
            <a:pPr algn="l">
              <a:lnSpc>
                <a:spcPct val="100000"/>
              </a:lnSpc>
              <a:buNone/>
              <a:defRPr sz="1688" b="0">
                <a:solidFill>
                  <a:srgbClr val="00355F"/>
                </a:solidFill>
                <a:latin typeface="Arial"/>
                <a:ea typeface="Arial"/>
                <a:cs typeface="Arial"/>
              </a:defRPr>
            </a:pPr>
            <a:r>
              <a:rPr sz="1688" b="0">
                <a:solidFill>
                  <a:srgbClr val="00355F"/>
                </a:solidFill>
                <a:latin typeface="Arial"/>
                <a:ea typeface="Arial"/>
                <a:cs typeface="Arial"/>
              </a:rPr>
              <a:t>Choose candidates and assays</a:t>
            </a:r>
          </a:p>
          <a:p xmlns:a="http://schemas.openxmlformats.org/drawingml/2006/main">
            <a:pPr algn="l">
              <a:lnSpc>
                <a:spcPct val="100000"/>
              </a:lnSpc>
              <a:buNone/>
              <a:defRPr sz="1688" b="0">
                <a:solidFill>
                  <a:srgbClr val="00355F"/>
                </a:solidFill>
                <a:latin typeface="Arial"/>
                <a:ea typeface="Arial"/>
                <a:cs typeface="Arial"/>
              </a:defRPr>
            </a:pPr>
            <a:r>
              <a:rPr sz="1688" b="0">
                <a:solidFill>
                  <a:srgbClr val="00355F"/>
                </a:solidFill>
                <a:latin typeface="Arial"/>
                <a:ea typeface="Arial"/>
                <a:cs typeface="Arial"/>
              </a:rPr>
              <a:t>for function and information</a:t>
            </a:r>
          </a:p>
        </p:txBody>
      </p:sp>
      <p:sp>
        <p:nvSpPr>
          <p:cNvPr id="23" name="">
            <a:extLst xmlns:a="http://schemas.openxmlformats.org/drawingml/2006/main">
              <a:ext uri="{FF2B5EF4-FFF2-40B4-BE49-F238E27FC236}">
                <a16:creationId xmlns:a16="http://schemas.microsoft.com/office/drawing/2014/main" id="{411E6A5F-0E27-43DD-A002-6DF43303AF92}"/>
              </a:ext>
            </a:extLst>
          </p:cNvPr>
          <p:cNvSpPr>
            <a:spLocks xmlns:a="http://schemas.openxmlformats.org/drawingml/2006/main" noGrp="1"/>
          </p:cNvSpPr>
          <p:nvPr/>
        </p:nvSpPr>
        <p:spPr>
          <a:xfrm xmlns:a="http://schemas.openxmlformats.org/drawingml/2006/main">
            <a:off x="16316325" y="3038475"/>
            <a:ext cx="4572000" cy="1857375"/>
          </a:xfrm>
          <a:prstGeom xmlns:a="http://schemas.openxmlformats.org/drawingml/2006/main" prst="roundRect">
            <a:avLst>
              <a:gd name="adj" fmla="val 6667"/>
            </a:avLst>
          </a:prstGeom>
          <a:solidFill xmlns:a="http://schemas.openxmlformats.org/drawingml/2006/main">
            <a:srgbClr val="EEF6FC"/>
          </a:solidFill>
          <a:ln xmlns:a="http://schemas.openxmlformats.org/drawingml/2006/main" w="9525">
            <a:noFill/>
          </a:ln>
        </p:spPr>
      </p:sp>
      <p:sp>
        <p:nvSpPr>
          <p:cNvPr id="24" name="">
            <a:extLst xmlns:a="http://schemas.openxmlformats.org/drawingml/2006/main">
              <a:ext uri="{FF2B5EF4-FFF2-40B4-BE49-F238E27FC236}">
                <a16:creationId xmlns:a16="http://schemas.microsoft.com/office/drawing/2014/main" id="{9436E1B5-7481-41D3-9D39-02DA029083E1}"/>
              </a:ext>
            </a:extLst>
          </p:cNvPr>
          <p:cNvSpPr>
            <a:spLocks xmlns:a="http://schemas.openxmlformats.org/drawingml/2006/main" noGrp="1"/>
          </p:cNvSpPr>
          <p:nvPr/>
        </p:nvSpPr>
        <p:spPr>
          <a:xfrm xmlns:a="http://schemas.openxmlformats.org/drawingml/2006/main">
            <a:off x="16287750" y="3000375"/>
            <a:ext cx="4572000" cy="1857375"/>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2383">
            <a:solidFill>
              <a:srgbClr val="7399C6"/>
            </a:solidFill>
          </a:ln>
        </p:spPr>
      </p:sp>
      <p:sp>
        <p:nvSpPr>
          <p:cNvPr id="25" name="03  /  BUILD">
            <a:extLst xmlns:a="http://schemas.openxmlformats.org/drawingml/2006/main">
              <a:ext uri="{FF2B5EF4-FFF2-40B4-BE49-F238E27FC236}">
                <a16:creationId xmlns:a16="http://schemas.microsoft.com/office/drawing/2014/main" id="{1B816523-995D-4BC5-9EE2-53B49EE66861}"/>
              </a:ext>
            </a:extLst>
          </p:cNvPr>
          <p:cNvSpPr>
            <a:spLocks xmlns:a="http://schemas.openxmlformats.org/drawingml/2006/main" noGrp="1"/>
          </p:cNvSpPr>
          <p:nvPr/>
        </p:nvSpPr>
        <p:spPr>
          <a:xfrm xmlns:a="http://schemas.openxmlformats.org/drawingml/2006/main">
            <a:off x="16554450" y="3238500"/>
            <a:ext cx="3571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8" b="1">
                <a:solidFill>
                  <a:srgbClr val="00355F"/>
                </a:solidFill>
                <a:latin typeface="Arial"/>
                <a:ea typeface="Arial"/>
                <a:cs typeface="Arial"/>
              </a:defRPr>
            </a:defPPr>
          </a:lstStyle>
          <a:p xmlns:a="http://schemas.openxmlformats.org/drawingml/2006/main">
            <a:pPr algn="l">
              <a:lnSpc>
                <a:spcPct val="100000"/>
              </a:lnSpc>
              <a:buNone/>
              <a:defRPr sz="1388" b="1">
                <a:solidFill>
                  <a:srgbClr val="00355F"/>
                </a:solidFill>
                <a:latin typeface="Arial"/>
                <a:ea typeface="Arial"/>
                <a:cs typeface="Arial"/>
              </a:defRPr>
            </a:pPr>
            <a:r>
              <a:rPr sz="1388" b="1">
                <a:solidFill>
                  <a:srgbClr val="00355F"/>
                </a:solidFill>
                <a:latin typeface="Arial"/>
                <a:ea typeface="Arial"/>
                <a:cs typeface="Arial"/>
              </a:rPr>
              <a:t>03  /  BUILD</a:t>
            </a:r>
          </a:p>
        </p:txBody>
      </p:sp>
      <p:pic>
        <p:nvPicPr>
          <p:cNvPr id="26" name="">
            <a:extLst xmlns:a="http://schemas.openxmlformats.org/drawingml/2006/main">
              <a:ext uri="{FF2B5EF4-FFF2-40B4-BE49-F238E27FC236}">
                <a16:creationId xmlns:a16="http://schemas.microsoft.com/office/drawing/2014/main" id="{46773BF6-1B77-4F1A-893C-86C3306C6824}"/>
              </a:ext>
            </a:extLst>
          </p:cNvPr>
          <p:cNvPicPr>
            <a:picLocks xmlns:a="http://schemas.openxmlformats.org/drawingml/2006/main" noChangeAspect="1"/>
          </p:cNvPicPr>
          <p:nvPr/>
        </p:nvPicPr>
        <p:blipFill>
          <a:blip xmlns:r="http://schemas.openxmlformats.org/officeDocument/2006/relationships" xmlns:a="http://schemas.openxmlformats.org/drawingml/2006/main" r:embed="Ra639cf53928c4e60">
            <a:extLst>
              <a:ext uri="{96DAC541-7B7A-43D3-8B79-37D633B846F1}">
                <asvg:svgBlip xmlns:asvg="http://schemas.microsoft.com/office/drawing/2016/SVG/main" r:embed="R17bdb95ff93c4f84"/>
              </a:ext>
            </a:extLst>
          </a:blip>
          <a:stretch xmlns:a="http://schemas.openxmlformats.org/drawingml/2006/main"/>
        </p:blipFill>
        <p:spPr>
          <a:xfrm xmlns:a="http://schemas.openxmlformats.org/drawingml/2006/main">
            <a:off x="20202525" y="3209925"/>
            <a:ext cx="371475" cy="371475"/>
          </a:xfrm>
          <a:prstGeom xmlns:a="http://schemas.openxmlformats.org/drawingml/2006/main" prst="rect">
            <a:avLst/>
          </a:prstGeom>
        </p:spPr>
      </p:pic>
      <p:sp>
        <p:nvSpPr>
          <p:cNvPr id="27" name="Build physical molecules">
            <a:extLst xmlns:a="http://schemas.openxmlformats.org/drawingml/2006/main">
              <a:ext uri="{FF2B5EF4-FFF2-40B4-BE49-F238E27FC236}">
                <a16:creationId xmlns:a16="http://schemas.microsoft.com/office/drawing/2014/main" id="{861469D0-EE7D-4130-A68B-2CFDA6E20D9C}"/>
              </a:ext>
            </a:extLst>
          </p:cNvPr>
          <p:cNvSpPr>
            <a:spLocks xmlns:a="http://schemas.openxmlformats.org/drawingml/2006/main" noGrp="1"/>
          </p:cNvSpPr>
          <p:nvPr/>
        </p:nvSpPr>
        <p:spPr>
          <a:xfrm xmlns:a="http://schemas.openxmlformats.org/drawingml/2006/main">
            <a:off x="16554450" y="3714750"/>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325" b="1">
                <a:solidFill>
                  <a:srgbClr val="00355F"/>
                </a:solidFill>
                <a:latin typeface="Arial"/>
                <a:ea typeface="Arial"/>
                <a:cs typeface="Arial"/>
              </a:defRPr>
            </a:defPPr>
          </a:lstStyle>
          <a:p xmlns:a="http://schemas.openxmlformats.org/drawingml/2006/main">
            <a:pPr algn="l">
              <a:lnSpc>
                <a:spcPct val="100000"/>
              </a:lnSpc>
              <a:buNone/>
              <a:defRPr sz="2325" b="1">
                <a:solidFill>
                  <a:srgbClr val="00355F"/>
                </a:solidFill>
                <a:latin typeface="Arial"/>
                <a:ea typeface="Arial"/>
                <a:cs typeface="Arial"/>
              </a:defRPr>
            </a:pPr>
            <a:r>
              <a:rPr sz="2325" b="1">
                <a:solidFill>
                  <a:srgbClr val="00355F"/>
                </a:solidFill>
                <a:latin typeface="Arial"/>
                <a:ea typeface="Arial"/>
                <a:cs typeface="Arial"/>
              </a:rPr>
              <a:t>Build physical molecules</a:t>
            </a:r>
          </a:p>
        </p:txBody>
      </p:sp>
      <p:sp>
        <p:nvSpPr>
          <p:cNvPr id="28" name="DNA synthesis, expression, purification">
            <a:extLst xmlns:a="http://schemas.openxmlformats.org/drawingml/2006/main">
              <a:ext uri="{FF2B5EF4-FFF2-40B4-BE49-F238E27FC236}">
                <a16:creationId xmlns:a16="http://schemas.microsoft.com/office/drawing/2014/main" id="{16761710-5ADA-4412-AEF8-5DDE013B6649}"/>
              </a:ext>
            </a:extLst>
          </p:cNvPr>
          <p:cNvSpPr>
            <a:spLocks xmlns:a="http://schemas.openxmlformats.org/drawingml/2006/main" noGrp="1"/>
          </p:cNvSpPr>
          <p:nvPr/>
        </p:nvSpPr>
        <p:spPr>
          <a:xfrm xmlns:a="http://schemas.openxmlformats.org/drawingml/2006/main">
            <a:off x="16554450" y="4229100"/>
            <a:ext cx="4038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8" b="0">
                <a:solidFill>
                  <a:srgbClr val="00355F"/>
                </a:solidFill>
                <a:latin typeface="Arial"/>
                <a:ea typeface="Arial"/>
                <a:cs typeface="Arial"/>
              </a:defRPr>
            </a:defPPr>
          </a:lstStyle>
          <a:p xmlns:a="http://schemas.openxmlformats.org/drawingml/2006/main">
            <a:pPr algn="l">
              <a:lnSpc>
                <a:spcPct val="100000"/>
              </a:lnSpc>
              <a:buNone/>
              <a:defRPr sz="1688" b="0">
                <a:solidFill>
                  <a:srgbClr val="00355F"/>
                </a:solidFill>
                <a:latin typeface="Arial"/>
                <a:ea typeface="Arial"/>
                <a:cs typeface="Arial"/>
              </a:defRPr>
            </a:pPr>
            <a:r>
              <a:rPr sz="1688" b="0">
                <a:solidFill>
                  <a:srgbClr val="00355F"/>
                </a:solidFill>
                <a:latin typeface="Arial"/>
                <a:ea typeface="Arial"/>
                <a:cs typeface="Arial"/>
              </a:rPr>
              <a:t>DNA synthesis, expression, purification</a:t>
            </a:r>
          </a:p>
          <a:p xmlns:a="http://schemas.openxmlformats.org/drawingml/2006/main">
            <a:pPr algn="l">
              <a:lnSpc>
                <a:spcPct val="100000"/>
              </a:lnSpc>
              <a:buNone/>
              <a:defRPr sz="1688" b="0">
                <a:solidFill>
                  <a:srgbClr val="00355F"/>
                </a:solidFill>
                <a:latin typeface="Arial"/>
                <a:ea typeface="Arial"/>
                <a:cs typeface="Arial"/>
              </a:defRPr>
            </a:pPr>
            <a:r>
              <a:rPr sz="1688" b="0">
                <a:solidFill>
                  <a:srgbClr val="00355F"/>
                </a:solidFill>
                <a:latin typeface="Arial"/>
                <a:ea typeface="Arial"/>
                <a:cs typeface="Arial"/>
              </a:rPr>
              <a:t>Prepare samples for actual assays</a:t>
            </a:r>
          </a:p>
        </p:txBody>
      </p:sp>
      <p:sp>
        <p:nvSpPr>
          <p:cNvPr id="29" name="">
            <a:extLst xmlns:a="http://schemas.openxmlformats.org/drawingml/2006/main">
              <a:ext uri="{FF2B5EF4-FFF2-40B4-BE49-F238E27FC236}">
                <a16:creationId xmlns:a16="http://schemas.microsoft.com/office/drawing/2014/main" id="{0B046289-26BE-44A1-82C2-07D9660C1809}"/>
              </a:ext>
            </a:extLst>
          </p:cNvPr>
          <p:cNvSpPr>
            <a:spLocks xmlns:a="http://schemas.openxmlformats.org/drawingml/2006/main" noGrp="1"/>
          </p:cNvSpPr>
          <p:nvPr/>
        </p:nvSpPr>
        <p:spPr>
          <a:xfrm xmlns:a="http://schemas.openxmlformats.org/drawingml/2006/main">
            <a:off x="16316325" y="6848475"/>
            <a:ext cx="4572000" cy="1857375"/>
          </a:xfrm>
          <a:prstGeom xmlns:a="http://schemas.openxmlformats.org/drawingml/2006/main" prst="roundRect">
            <a:avLst>
              <a:gd name="adj" fmla="val 6667"/>
            </a:avLst>
          </a:prstGeom>
          <a:solidFill xmlns:a="http://schemas.openxmlformats.org/drawingml/2006/main">
            <a:srgbClr val="EEF6FC"/>
          </a:solidFill>
          <a:ln xmlns:a="http://schemas.openxmlformats.org/drawingml/2006/main" w="9525">
            <a:noFill/>
          </a:ln>
        </p:spPr>
      </p:sp>
      <p:sp>
        <p:nvSpPr>
          <p:cNvPr id="30" name="">
            <a:extLst xmlns:a="http://schemas.openxmlformats.org/drawingml/2006/main">
              <a:ext uri="{FF2B5EF4-FFF2-40B4-BE49-F238E27FC236}">
                <a16:creationId xmlns:a16="http://schemas.microsoft.com/office/drawing/2014/main" id="{DF645B58-C7D9-4633-96C8-B36038C7CE33}"/>
              </a:ext>
            </a:extLst>
          </p:cNvPr>
          <p:cNvSpPr>
            <a:spLocks xmlns:a="http://schemas.openxmlformats.org/drawingml/2006/main" noGrp="1"/>
          </p:cNvSpPr>
          <p:nvPr/>
        </p:nvSpPr>
        <p:spPr>
          <a:xfrm xmlns:a="http://schemas.openxmlformats.org/drawingml/2006/main">
            <a:off x="16287750" y="6810375"/>
            <a:ext cx="4572000" cy="1857375"/>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2383">
            <a:solidFill>
              <a:srgbClr val="7399C6"/>
            </a:solidFill>
          </a:ln>
        </p:spPr>
      </p:sp>
      <p:sp>
        <p:nvSpPr>
          <p:cNvPr id="31" name="04  /  TEST">
            <a:extLst xmlns:a="http://schemas.openxmlformats.org/drawingml/2006/main">
              <a:ext uri="{FF2B5EF4-FFF2-40B4-BE49-F238E27FC236}">
                <a16:creationId xmlns:a16="http://schemas.microsoft.com/office/drawing/2014/main" id="{87E05D51-14B1-4321-8B5A-B9B9F2898A38}"/>
              </a:ext>
            </a:extLst>
          </p:cNvPr>
          <p:cNvSpPr>
            <a:spLocks xmlns:a="http://schemas.openxmlformats.org/drawingml/2006/main" noGrp="1"/>
          </p:cNvSpPr>
          <p:nvPr/>
        </p:nvSpPr>
        <p:spPr>
          <a:xfrm xmlns:a="http://schemas.openxmlformats.org/drawingml/2006/main">
            <a:off x="16554450" y="7048500"/>
            <a:ext cx="3571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8" b="1">
                <a:solidFill>
                  <a:srgbClr val="00355F"/>
                </a:solidFill>
                <a:latin typeface="Arial"/>
                <a:ea typeface="Arial"/>
                <a:cs typeface="Arial"/>
              </a:defRPr>
            </a:defPPr>
          </a:lstStyle>
          <a:p xmlns:a="http://schemas.openxmlformats.org/drawingml/2006/main">
            <a:pPr algn="l">
              <a:lnSpc>
                <a:spcPct val="100000"/>
              </a:lnSpc>
              <a:buNone/>
              <a:defRPr sz="1388" b="1">
                <a:solidFill>
                  <a:srgbClr val="00355F"/>
                </a:solidFill>
                <a:latin typeface="Arial"/>
                <a:ea typeface="Arial"/>
                <a:cs typeface="Arial"/>
              </a:defRPr>
            </a:pPr>
            <a:r>
              <a:rPr sz="1388" b="1">
                <a:solidFill>
                  <a:srgbClr val="00355F"/>
                </a:solidFill>
                <a:latin typeface="Arial"/>
                <a:ea typeface="Arial"/>
                <a:cs typeface="Arial"/>
              </a:rPr>
              <a:t>04  /  TEST</a:t>
            </a:r>
          </a:p>
        </p:txBody>
      </p:sp>
      <p:pic>
        <p:nvPicPr>
          <p:cNvPr id="32" name="">
            <a:extLst xmlns:a="http://schemas.openxmlformats.org/drawingml/2006/main">
              <a:ext uri="{FF2B5EF4-FFF2-40B4-BE49-F238E27FC236}">
                <a16:creationId xmlns:a16="http://schemas.microsoft.com/office/drawing/2014/main" id="{0A288B3D-3C37-48B4-908D-F39404FABF8A}"/>
              </a:ext>
            </a:extLst>
          </p:cNvPr>
          <p:cNvPicPr>
            <a:picLocks xmlns:a="http://schemas.openxmlformats.org/drawingml/2006/main" noChangeAspect="1"/>
          </p:cNvPicPr>
          <p:nvPr/>
        </p:nvPicPr>
        <p:blipFill>
          <a:blip xmlns:r="http://schemas.openxmlformats.org/officeDocument/2006/relationships" xmlns:a="http://schemas.openxmlformats.org/drawingml/2006/main" r:embed="R74afaa50b4134002">
            <a:extLst>
              <a:ext uri="{96DAC541-7B7A-43D3-8B79-37D633B846F1}">
                <asvg:svgBlip xmlns:asvg="http://schemas.microsoft.com/office/drawing/2016/SVG/main" r:embed="Rd15dd91e6b9541fa"/>
              </a:ext>
            </a:extLst>
          </a:blip>
          <a:stretch xmlns:a="http://schemas.openxmlformats.org/drawingml/2006/main"/>
        </p:blipFill>
        <p:spPr>
          <a:xfrm xmlns:a="http://schemas.openxmlformats.org/drawingml/2006/main">
            <a:off x="20202525" y="7019925"/>
            <a:ext cx="371475" cy="371475"/>
          </a:xfrm>
          <a:prstGeom xmlns:a="http://schemas.openxmlformats.org/drawingml/2006/main" prst="rect">
            <a:avLst/>
          </a:prstGeom>
        </p:spPr>
      </p:pic>
      <p:sp>
        <p:nvSpPr>
          <p:cNvPr id="33" name="Validate in biology">
            <a:extLst xmlns:a="http://schemas.openxmlformats.org/drawingml/2006/main">
              <a:ext uri="{FF2B5EF4-FFF2-40B4-BE49-F238E27FC236}">
                <a16:creationId xmlns:a16="http://schemas.microsoft.com/office/drawing/2014/main" id="{2891DCFC-DA52-4227-B8A6-C28DF5EAD760}"/>
              </a:ext>
            </a:extLst>
          </p:cNvPr>
          <p:cNvSpPr>
            <a:spLocks xmlns:a="http://schemas.openxmlformats.org/drawingml/2006/main" noGrp="1"/>
          </p:cNvSpPr>
          <p:nvPr/>
        </p:nvSpPr>
        <p:spPr>
          <a:xfrm xmlns:a="http://schemas.openxmlformats.org/drawingml/2006/main">
            <a:off x="16554450" y="7524750"/>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325" b="1">
                <a:solidFill>
                  <a:srgbClr val="00355F"/>
                </a:solidFill>
                <a:latin typeface="Arial"/>
                <a:ea typeface="Arial"/>
                <a:cs typeface="Arial"/>
              </a:defRPr>
            </a:defPPr>
          </a:lstStyle>
          <a:p xmlns:a="http://schemas.openxmlformats.org/drawingml/2006/main">
            <a:pPr algn="l">
              <a:lnSpc>
                <a:spcPct val="100000"/>
              </a:lnSpc>
              <a:buNone/>
              <a:defRPr sz="2325" b="1">
                <a:solidFill>
                  <a:srgbClr val="00355F"/>
                </a:solidFill>
                <a:latin typeface="Arial"/>
                <a:ea typeface="Arial"/>
                <a:cs typeface="Arial"/>
              </a:defRPr>
            </a:pPr>
            <a:r>
              <a:rPr sz="2325" b="1">
                <a:solidFill>
                  <a:srgbClr val="00355F"/>
                </a:solidFill>
                <a:latin typeface="Arial"/>
                <a:ea typeface="Arial"/>
                <a:cs typeface="Arial"/>
              </a:rPr>
              <a:t>Validate in biology</a:t>
            </a:r>
          </a:p>
        </p:txBody>
      </p:sp>
      <p:sp>
        <p:nvSpPr>
          <p:cNvPr id="34" name="Binding, stability and cell function">
            <a:extLst xmlns:a="http://schemas.openxmlformats.org/drawingml/2006/main">
              <a:ext uri="{FF2B5EF4-FFF2-40B4-BE49-F238E27FC236}">
                <a16:creationId xmlns:a16="http://schemas.microsoft.com/office/drawing/2014/main" id="{60E3A930-B3C6-4986-91D5-7113368398CC}"/>
              </a:ext>
            </a:extLst>
          </p:cNvPr>
          <p:cNvSpPr>
            <a:spLocks xmlns:a="http://schemas.openxmlformats.org/drawingml/2006/main" noGrp="1"/>
          </p:cNvSpPr>
          <p:nvPr/>
        </p:nvSpPr>
        <p:spPr>
          <a:xfrm xmlns:a="http://schemas.openxmlformats.org/drawingml/2006/main">
            <a:off x="16554450" y="8039100"/>
            <a:ext cx="4038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8" b="0">
                <a:solidFill>
                  <a:srgbClr val="00355F"/>
                </a:solidFill>
                <a:latin typeface="Arial"/>
                <a:ea typeface="Arial"/>
                <a:cs typeface="Arial"/>
              </a:defRPr>
            </a:defPPr>
          </a:lstStyle>
          <a:p xmlns:a="http://schemas.openxmlformats.org/drawingml/2006/main">
            <a:pPr algn="l">
              <a:lnSpc>
                <a:spcPct val="100000"/>
              </a:lnSpc>
              <a:buNone/>
              <a:defRPr sz="1688" b="0">
                <a:solidFill>
                  <a:srgbClr val="00355F"/>
                </a:solidFill>
                <a:latin typeface="Arial"/>
                <a:ea typeface="Arial"/>
                <a:cs typeface="Arial"/>
              </a:defRPr>
            </a:pPr>
            <a:r>
              <a:rPr sz="1688" b="0">
                <a:solidFill>
                  <a:srgbClr val="00355F"/>
                </a:solidFill>
                <a:latin typeface="Arial"/>
                <a:ea typeface="Arial"/>
                <a:cs typeface="Arial"/>
              </a:rPr>
              <a:t>Binding, stability and cell function</a:t>
            </a:r>
          </a:p>
          <a:p xmlns:a="http://schemas.openxmlformats.org/drawingml/2006/main">
            <a:pPr algn="l">
              <a:lnSpc>
                <a:spcPct val="100000"/>
              </a:lnSpc>
              <a:buNone/>
              <a:defRPr sz="1688" b="0">
                <a:solidFill>
                  <a:srgbClr val="00355F"/>
                </a:solidFill>
                <a:latin typeface="Arial"/>
                <a:ea typeface="Arial"/>
                <a:cs typeface="Arial"/>
              </a:defRPr>
            </a:pPr>
            <a:r>
              <a:rPr sz="1688" b="0">
                <a:solidFill>
                  <a:srgbClr val="00355F"/>
                </a:solidFill>
                <a:latin typeface="Arial"/>
                <a:ea typeface="Arial"/>
                <a:cs typeface="Arial"/>
              </a:rPr>
              <a:t>Keep failures as informative labels</a:t>
            </a:r>
          </a:p>
        </p:txBody>
      </p:sp>
      <p:sp>
        <p:nvSpPr>
          <p:cNvPr id="35" name="">
            <a:extLst xmlns:a="http://schemas.openxmlformats.org/drawingml/2006/main">
              <a:ext uri="{FF2B5EF4-FFF2-40B4-BE49-F238E27FC236}">
                <a16:creationId xmlns:a16="http://schemas.microsoft.com/office/drawing/2014/main" id="{10F6DB26-D871-4F0B-864F-3DBAE0E82CB5}"/>
              </a:ext>
            </a:extLst>
          </p:cNvPr>
          <p:cNvSpPr>
            <a:spLocks xmlns:a="http://schemas.openxmlformats.org/drawingml/2006/main" noGrp="1"/>
          </p:cNvSpPr>
          <p:nvPr/>
        </p:nvSpPr>
        <p:spPr>
          <a:xfrm xmlns:a="http://schemas.openxmlformats.org/drawingml/2006/main">
            <a:off x="9124950" y="6848475"/>
            <a:ext cx="4572000" cy="1857375"/>
          </a:xfrm>
          <a:prstGeom xmlns:a="http://schemas.openxmlformats.org/drawingml/2006/main" prst="roundRect">
            <a:avLst>
              <a:gd name="adj" fmla="val 6667"/>
            </a:avLst>
          </a:prstGeom>
          <a:solidFill xmlns:a="http://schemas.openxmlformats.org/drawingml/2006/main">
            <a:srgbClr val="EEF6FC"/>
          </a:solidFill>
          <a:ln xmlns:a="http://schemas.openxmlformats.org/drawingml/2006/main" w="9525">
            <a:noFill/>
          </a:ln>
        </p:spPr>
      </p:sp>
      <p:sp>
        <p:nvSpPr>
          <p:cNvPr id="36" name="">
            <a:extLst xmlns:a="http://schemas.openxmlformats.org/drawingml/2006/main">
              <a:ext uri="{FF2B5EF4-FFF2-40B4-BE49-F238E27FC236}">
                <a16:creationId xmlns:a16="http://schemas.microsoft.com/office/drawing/2014/main" id="{A217164E-3418-4228-A563-B808A01A4CE4}"/>
              </a:ext>
            </a:extLst>
          </p:cNvPr>
          <p:cNvSpPr>
            <a:spLocks xmlns:a="http://schemas.openxmlformats.org/drawingml/2006/main" noGrp="1"/>
          </p:cNvSpPr>
          <p:nvPr/>
        </p:nvSpPr>
        <p:spPr>
          <a:xfrm xmlns:a="http://schemas.openxmlformats.org/drawingml/2006/main">
            <a:off x="9096375" y="6810375"/>
            <a:ext cx="4572000" cy="1857375"/>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2383">
            <a:solidFill>
              <a:srgbClr val="A5A5A5"/>
            </a:solidFill>
          </a:ln>
        </p:spPr>
      </p:sp>
      <p:sp>
        <p:nvSpPr>
          <p:cNvPr id="37" name="05  /  DATA">
            <a:extLst xmlns:a="http://schemas.openxmlformats.org/drawingml/2006/main">
              <a:ext uri="{FF2B5EF4-FFF2-40B4-BE49-F238E27FC236}">
                <a16:creationId xmlns:a16="http://schemas.microsoft.com/office/drawing/2014/main" id="{E21A0A65-942E-41E1-8037-4173390D6642}"/>
              </a:ext>
            </a:extLst>
          </p:cNvPr>
          <p:cNvSpPr>
            <a:spLocks xmlns:a="http://schemas.openxmlformats.org/drawingml/2006/main" noGrp="1"/>
          </p:cNvSpPr>
          <p:nvPr/>
        </p:nvSpPr>
        <p:spPr>
          <a:xfrm xmlns:a="http://schemas.openxmlformats.org/drawingml/2006/main">
            <a:off x="9363075" y="7048500"/>
            <a:ext cx="3571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8" b="1">
                <a:solidFill>
                  <a:srgbClr val="00355F"/>
                </a:solidFill>
                <a:latin typeface="Arial"/>
                <a:ea typeface="Arial"/>
                <a:cs typeface="Arial"/>
              </a:defRPr>
            </a:defPPr>
          </a:lstStyle>
          <a:p xmlns:a="http://schemas.openxmlformats.org/drawingml/2006/main">
            <a:pPr algn="l">
              <a:lnSpc>
                <a:spcPct val="100000"/>
              </a:lnSpc>
              <a:buNone/>
              <a:defRPr sz="1388" b="1">
                <a:solidFill>
                  <a:srgbClr val="00355F"/>
                </a:solidFill>
                <a:latin typeface="Arial"/>
                <a:ea typeface="Arial"/>
                <a:cs typeface="Arial"/>
              </a:defRPr>
            </a:pPr>
            <a:r>
              <a:rPr sz="1388" b="1">
                <a:solidFill>
                  <a:srgbClr val="00355F"/>
                </a:solidFill>
                <a:latin typeface="Arial"/>
                <a:ea typeface="Arial"/>
                <a:cs typeface="Arial"/>
              </a:rPr>
              <a:t>05  /  DATA</a:t>
            </a:r>
          </a:p>
        </p:txBody>
      </p:sp>
      <p:pic>
        <p:nvPicPr>
          <p:cNvPr id="38" name="">
            <a:extLst xmlns:a="http://schemas.openxmlformats.org/drawingml/2006/main">
              <a:ext uri="{FF2B5EF4-FFF2-40B4-BE49-F238E27FC236}">
                <a16:creationId xmlns:a16="http://schemas.microsoft.com/office/drawing/2014/main" id="{F4D7E127-90C4-4228-AB00-978702E5168B}"/>
              </a:ext>
            </a:extLst>
          </p:cNvPr>
          <p:cNvPicPr>
            <a:picLocks xmlns:a="http://schemas.openxmlformats.org/drawingml/2006/main" noChangeAspect="1"/>
          </p:cNvPicPr>
          <p:nvPr/>
        </p:nvPicPr>
        <p:blipFill>
          <a:blip xmlns:r="http://schemas.openxmlformats.org/officeDocument/2006/relationships" xmlns:a="http://schemas.openxmlformats.org/drawingml/2006/main" r:embed="R4ed2aa071e824ef9">
            <a:extLst>
              <a:ext uri="{96DAC541-7B7A-43D3-8B79-37D633B846F1}">
                <asvg:svgBlip xmlns:asvg="http://schemas.microsoft.com/office/drawing/2016/SVG/main" r:embed="R6d4f97ed551b4137"/>
              </a:ext>
            </a:extLst>
          </a:blip>
          <a:stretch xmlns:a="http://schemas.openxmlformats.org/drawingml/2006/main"/>
        </p:blipFill>
        <p:spPr>
          <a:xfrm xmlns:a="http://schemas.openxmlformats.org/drawingml/2006/main">
            <a:off x="13011150" y="7019925"/>
            <a:ext cx="371475" cy="371475"/>
          </a:xfrm>
          <a:prstGeom xmlns:a="http://schemas.openxmlformats.org/drawingml/2006/main" prst="rect">
            <a:avLst/>
          </a:prstGeom>
        </p:spPr>
      </p:pic>
      <p:sp>
        <p:nvSpPr>
          <p:cNvPr id="39" name="Curate experimental data">
            <a:extLst xmlns:a="http://schemas.openxmlformats.org/drawingml/2006/main">
              <a:ext uri="{FF2B5EF4-FFF2-40B4-BE49-F238E27FC236}">
                <a16:creationId xmlns:a16="http://schemas.microsoft.com/office/drawing/2014/main" id="{BB07630A-6E15-4EF7-8DCE-5175525B01A7}"/>
              </a:ext>
            </a:extLst>
          </p:cNvPr>
          <p:cNvSpPr>
            <a:spLocks xmlns:a="http://schemas.openxmlformats.org/drawingml/2006/main" noGrp="1"/>
          </p:cNvSpPr>
          <p:nvPr/>
        </p:nvSpPr>
        <p:spPr>
          <a:xfrm xmlns:a="http://schemas.openxmlformats.org/drawingml/2006/main">
            <a:off x="9363075" y="7524750"/>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325" b="1">
                <a:solidFill>
                  <a:srgbClr val="00355F"/>
                </a:solidFill>
                <a:latin typeface="Arial"/>
                <a:ea typeface="Arial"/>
                <a:cs typeface="Arial"/>
              </a:defRPr>
            </a:defPPr>
          </a:lstStyle>
          <a:p xmlns:a="http://schemas.openxmlformats.org/drawingml/2006/main">
            <a:pPr algn="l">
              <a:lnSpc>
                <a:spcPct val="100000"/>
              </a:lnSpc>
              <a:buNone/>
              <a:defRPr sz="2325" b="1">
                <a:solidFill>
                  <a:srgbClr val="00355F"/>
                </a:solidFill>
                <a:latin typeface="Arial"/>
                <a:ea typeface="Arial"/>
                <a:cs typeface="Arial"/>
              </a:defRPr>
            </a:pPr>
            <a:r>
              <a:rPr sz="2325" b="1">
                <a:solidFill>
                  <a:srgbClr val="00355F"/>
                </a:solidFill>
                <a:latin typeface="Arial"/>
                <a:ea typeface="Arial"/>
                <a:cs typeface="Arial"/>
              </a:rPr>
              <a:t>Curate experimental data</a:t>
            </a:r>
          </a:p>
        </p:txBody>
      </p:sp>
      <p:sp>
        <p:nvSpPr>
          <p:cNvPr id="40" name="Link sequence, target and assay context">
            <a:extLst xmlns:a="http://schemas.openxmlformats.org/drawingml/2006/main">
              <a:ext uri="{FF2B5EF4-FFF2-40B4-BE49-F238E27FC236}">
                <a16:creationId xmlns:a16="http://schemas.microsoft.com/office/drawing/2014/main" id="{36D57A17-EDC7-4065-ADFF-FEFB21F0E44D}"/>
              </a:ext>
            </a:extLst>
          </p:cNvPr>
          <p:cNvSpPr>
            <a:spLocks xmlns:a="http://schemas.openxmlformats.org/drawingml/2006/main" noGrp="1"/>
          </p:cNvSpPr>
          <p:nvPr/>
        </p:nvSpPr>
        <p:spPr>
          <a:xfrm xmlns:a="http://schemas.openxmlformats.org/drawingml/2006/main">
            <a:off x="9363075" y="8039100"/>
            <a:ext cx="4038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8" b="0">
                <a:solidFill>
                  <a:srgbClr val="00355F"/>
                </a:solidFill>
                <a:latin typeface="Arial"/>
                <a:ea typeface="Arial"/>
                <a:cs typeface="Arial"/>
              </a:defRPr>
            </a:defPPr>
          </a:lstStyle>
          <a:p xmlns:a="http://schemas.openxmlformats.org/drawingml/2006/main">
            <a:pPr algn="l">
              <a:lnSpc>
                <a:spcPct val="100000"/>
              </a:lnSpc>
              <a:buNone/>
              <a:defRPr sz="1688" b="0">
                <a:solidFill>
                  <a:srgbClr val="00355F"/>
                </a:solidFill>
                <a:latin typeface="Arial"/>
                <a:ea typeface="Arial"/>
                <a:cs typeface="Arial"/>
              </a:defRPr>
            </a:pPr>
            <a:r>
              <a:rPr sz="1688" b="0">
                <a:solidFill>
                  <a:srgbClr val="00355F"/>
                </a:solidFill>
                <a:latin typeface="Arial"/>
                <a:ea typeface="Arial"/>
                <a:cs typeface="Arial"/>
              </a:rPr>
              <a:t>Link sequence, target and assay context</a:t>
            </a:r>
          </a:p>
          <a:p xmlns:a="http://schemas.openxmlformats.org/drawingml/2006/main">
            <a:pPr algn="l">
              <a:lnSpc>
                <a:spcPct val="100000"/>
              </a:lnSpc>
              <a:buNone/>
              <a:defRPr sz="1688" b="0">
                <a:solidFill>
                  <a:srgbClr val="00355F"/>
                </a:solidFill>
                <a:latin typeface="Arial"/>
                <a:ea typeface="Arial"/>
                <a:cs typeface="Arial"/>
              </a:defRPr>
            </a:pPr>
            <a:r>
              <a:rPr sz="1688" b="0">
                <a:solidFill>
                  <a:srgbClr val="00355F"/>
                </a:solidFill>
                <a:latin typeface="Arial"/>
                <a:ea typeface="Arial"/>
                <a:cs typeface="Arial"/>
              </a:rPr>
              <a:t>Retain replicates, raw data and failures</a:t>
            </a:r>
          </a:p>
        </p:txBody>
      </p:sp>
      <p:sp>
        <p:nvSpPr>
          <p:cNvPr id="41" name="">
            <a:extLst xmlns:a="http://schemas.openxmlformats.org/drawingml/2006/main">
              <a:ext uri="{FF2B5EF4-FFF2-40B4-BE49-F238E27FC236}">
                <a16:creationId xmlns:a16="http://schemas.microsoft.com/office/drawing/2014/main" id="{2CA81B9D-677A-49C6-8723-76B977C328E4}"/>
              </a:ext>
            </a:extLst>
          </p:cNvPr>
          <p:cNvSpPr>
            <a:spLocks xmlns:a="http://schemas.openxmlformats.org/drawingml/2006/main" noGrp="1"/>
          </p:cNvSpPr>
          <p:nvPr/>
        </p:nvSpPr>
        <p:spPr>
          <a:xfrm xmlns:a="http://schemas.openxmlformats.org/drawingml/2006/main">
            <a:off x="1933575" y="6848475"/>
            <a:ext cx="4572000" cy="1857375"/>
          </a:xfrm>
          <a:prstGeom xmlns:a="http://schemas.openxmlformats.org/drawingml/2006/main" prst="roundRect">
            <a:avLst>
              <a:gd name="adj" fmla="val 6667"/>
            </a:avLst>
          </a:prstGeom>
          <a:solidFill xmlns:a="http://schemas.openxmlformats.org/drawingml/2006/main">
            <a:srgbClr val="EEF6FC"/>
          </a:solidFill>
          <a:ln xmlns:a="http://schemas.openxmlformats.org/drawingml/2006/main" w="9525">
            <a:noFill/>
          </a:ln>
        </p:spPr>
      </p:sp>
      <p:sp>
        <p:nvSpPr>
          <p:cNvPr id="42" name="">
            <a:extLst xmlns:a="http://schemas.openxmlformats.org/drawingml/2006/main">
              <a:ext uri="{FF2B5EF4-FFF2-40B4-BE49-F238E27FC236}">
                <a16:creationId xmlns:a16="http://schemas.microsoft.com/office/drawing/2014/main" id="{5CEEF46A-CCDC-4D62-B1E9-54849B0D5BAD}"/>
              </a:ext>
            </a:extLst>
          </p:cNvPr>
          <p:cNvSpPr>
            <a:spLocks xmlns:a="http://schemas.openxmlformats.org/drawingml/2006/main" noGrp="1"/>
          </p:cNvSpPr>
          <p:nvPr/>
        </p:nvSpPr>
        <p:spPr>
          <a:xfrm xmlns:a="http://schemas.openxmlformats.org/drawingml/2006/main">
            <a:off x="1905000" y="6810375"/>
            <a:ext cx="4572000" cy="1857375"/>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2383">
            <a:solidFill>
              <a:srgbClr val="7399C6"/>
            </a:solidFill>
          </a:ln>
        </p:spPr>
      </p:sp>
      <p:sp>
        <p:nvSpPr>
          <p:cNvPr id="43" name="06  /  LEARN">
            <a:extLst xmlns:a="http://schemas.openxmlformats.org/drawingml/2006/main">
              <a:ext uri="{FF2B5EF4-FFF2-40B4-BE49-F238E27FC236}">
                <a16:creationId xmlns:a16="http://schemas.microsoft.com/office/drawing/2014/main" id="{EA55C5BD-A06D-431B-9445-31A0D59010B0}"/>
              </a:ext>
            </a:extLst>
          </p:cNvPr>
          <p:cNvSpPr>
            <a:spLocks xmlns:a="http://schemas.openxmlformats.org/drawingml/2006/main" noGrp="1"/>
          </p:cNvSpPr>
          <p:nvPr/>
        </p:nvSpPr>
        <p:spPr>
          <a:xfrm xmlns:a="http://schemas.openxmlformats.org/drawingml/2006/main">
            <a:off x="2171700" y="7048500"/>
            <a:ext cx="3571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8" b="1">
                <a:solidFill>
                  <a:srgbClr val="00355F"/>
                </a:solidFill>
                <a:latin typeface="Arial"/>
                <a:ea typeface="Arial"/>
                <a:cs typeface="Arial"/>
              </a:defRPr>
            </a:defPPr>
          </a:lstStyle>
          <a:p xmlns:a="http://schemas.openxmlformats.org/drawingml/2006/main">
            <a:pPr algn="l">
              <a:lnSpc>
                <a:spcPct val="100000"/>
              </a:lnSpc>
              <a:buNone/>
              <a:defRPr sz="1388" b="1">
                <a:solidFill>
                  <a:srgbClr val="00355F"/>
                </a:solidFill>
                <a:latin typeface="Arial"/>
                <a:ea typeface="Arial"/>
                <a:cs typeface="Arial"/>
              </a:defRPr>
            </a:pPr>
            <a:r>
              <a:rPr sz="1388" b="1">
                <a:solidFill>
                  <a:srgbClr val="00355F"/>
                </a:solidFill>
                <a:latin typeface="Arial"/>
                <a:ea typeface="Arial"/>
                <a:cs typeface="Arial"/>
              </a:rPr>
              <a:t>06  /  LEARN</a:t>
            </a:r>
          </a:p>
        </p:txBody>
      </p:sp>
      <p:pic>
        <p:nvPicPr>
          <p:cNvPr id="44" name="">
            <a:extLst xmlns:a="http://schemas.openxmlformats.org/drawingml/2006/main">
              <a:ext uri="{FF2B5EF4-FFF2-40B4-BE49-F238E27FC236}">
                <a16:creationId xmlns:a16="http://schemas.microsoft.com/office/drawing/2014/main" id="{CAE4D40E-C053-407F-A81C-F7B76017C5E9}"/>
              </a:ext>
            </a:extLst>
          </p:cNvPr>
          <p:cNvPicPr>
            <a:picLocks xmlns:a="http://schemas.openxmlformats.org/drawingml/2006/main" noChangeAspect="1"/>
          </p:cNvPicPr>
          <p:nvPr/>
        </p:nvPicPr>
        <p:blipFill>
          <a:blip xmlns:r="http://schemas.openxmlformats.org/officeDocument/2006/relationships" xmlns:a="http://schemas.openxmlformats.org/drawingml/2006/main" r:embed="Rdcc088b49bcd4288">
            <a:extLst>
              <a:ext uri="{96DAC541-7B7A-43D3-8B79-37D633B846F1}">
                <asvg:svgBlip xmlns:asvg="http://schemas.microsoft.com/office/drawing/2016/SVG/main" r:embed="Rb262d1a374d54638"/>
              </a:ext>
            </a:extLst>
          </a:blip>
          <a:stretch xmlns:a="http://schemas.openxmlformats.org/drawingml/2006/main"/>
        </p:blipFill>
        <p:spPr>
          <a:xfrm xmlns:a="http://schemas.openxmlformats.org/drawingml/2006/main">
            <a:off x="5819775" y="7019925"/>
            <a:ext cx="371475" cy="371475"/>
          </a:xfrm>
          <a:prstGeom xmlns:a="http://schemas.openxmlformats.org/drawingml/2006/main" prst="rect">
            <a:avLst/>
          </a:prstGeom>
        </p:spPr>
      </p:pic>
      <p:sp>
        <p:nvSpPr>
          <p:cNvPr id="45" name="Improve model + policy">
            <a:extLst xmlns:a="http://schemas.openxmlformats.org/drawingml/2006/main">
              <a:ext uri="{FF2B5EF4-FFF2-40B4-BE49-F238E27FC236}">
                <a16:creationId xmlns:a16="http://schemas.microsoft.com/office/drawing/2014/main" id="{EBE18ABB-F3AD-425E-80A8-5E75188F73EE}"/>
              </a:ext>
            </a:extLst>
          </p:cNvPr>
          <p:cNvSpPr>
            <a:spLocks xmlns:a="http://schemas.openxmlformats.org/drawingml/2006/main" noGrp="1"/>
          </p:cNvSpPr>
          <p:nvPr/>
        </p:nvSpPr>
        <p:spPr>
          <a:xfrm xmlns:a="http://schemas.openxmlformats.org/drawingml/2006/main">
            <a:off x="2171700" y="7524750"/>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325" b="1">
                <a:solidFill>
                  <a:srgbClr val="00355F"/>
                </a:solidFill>
                <a:latin typeface="Arial"/>
                <a:ea typeface="Arial"/>
                <a:cs typeface="Arial"/>
              </a:defRPr>
            </a:defPPr>
          </a:lstStyle>
          <a:p xmlns:a="http://schemas.openxmlformats.org/drawingml/2006/main">
            <a:pPr algn="l">
              <a:lnSpc>
                <a:spcPct val="100000"/>
              </a:lnSpc>
              <a:buNone/>
              <a:defRPr sz="2325" b="1">
                <a:solidFill>
                  <a:srgbClr val="00355F"/>
                </a:solidFill>
                <a:latin typeface="Arial"/>
                <a:ea typeface="Arial"/>
                <a:cs typeface="Arial"/>
              </a:defRPr>
            </a:pPr>
            <a:r>
              <a:rPr sz="2325" b="1">
                <a:solidFill>
                  <a:srgbClr val="00355F"/>
                </a:solidFill>
                <a:latin typeface="Arial"/>
                <a:ea typeface="Arial"/>
                <a:cs typeface="Arial"/>
              </a:rPr>
              <a:t>Improve model + policy</a:t>
            </a:r>
          </a:p>
        </p:txBody>
      </p:sp>
      <p:sp>
        <p:nvSpPr>
          <p:cNvPr id="46" name="Retrain / adapt models and selection">
            <a:extLst xmlns:a="http://schemas.openxmlformats.org/drawingml/2006/main">
              <a:ext uri="{FF2B5EF4-FFF2-40B4-BE49-F238E27FC236}">
                <a16:creationId xmlns:a16="http://schemas.microsoft.com/office/drawing/2014/main" id="{58CE0FBA-272D-40EA-9902-C6FED10E79D7}"/>
              </a:ext>
            </a:extLst>
          </p:cNvPr>
          <p:cNvSpPr>
            <a:spLocks xmlns:a="http://schemas.openxmlformats.org/drawingml/2006/main" noGrp="1"/>
          </p:cNvSpPr>
          <p:nvPr/>
        </p:nvSpPr>
        <p:spPr>
          <a:xfrm xmlns:a="http://schemas.openxmlformats.org/drawingml/2006/main">
            <a:off x="2171700" y="8039100"/>
            <a:ext cx="4038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8" b="0">
                <a:solidFill>
                  <a:srgbClr val="00355F"/>
                </a:solidFill>
                <a:latin typeface="Arial"/>
                <a:ea typeface="Arial"/>
                <a:cs typeface="Arial"/>
              </a:defRPr>
            </a:defPPr>
          </a:lstStyle>
          <a:p xmlns:a="http://schemas.openxmlformats.org/drawingml/2006/main">
            <a:pPr algn="l">
              <a:lnSpc>
                <a:spcPct val="100000"/>
              </a:lnSpc>
              <a:buNone/>
              <a:defRPr sz="1688" b="0">
                <a:solidFill>
                  <a:srgbClr val="00355F"/>
                </a:solidFill>
                <a:latin typeface="Arial"/>
                <a:ea typeface="Arial"/>
                <a:cs typeface="Arial"/>
              </a:defRPr>
            </a:pPr>
            <a:r>
              <a:rPr sz="1688" b="0">
                <a:solidFill>
                  <a:srgbClr val="00355F"/>
                </a:solidFill>
                <a:latin typeface="Arial"/>
                <a:ea typeface="Arial"/>
                <a:cs typeface="Arial"/>
              </a:rPr>
              <a:t>Retrain / adapt models and selection</a:t>
            </a:r>
          </a:p>
          <a:p xmlns:a="http://schemas.openxmlformats.org/drawingml/2006/main">
            <a:pPr algn="l">
              <a:lnSpc>
                <a:spcPct val="100000"/>
              </a:lnSpc>
              <a:buNone/>
              <a:defRPr sz="1688" b="0">
                <a:solidFill>
                  <a:srgbClr val="00355F"/>
                </a:solidFill>
                <a:latin typeface="Arial"/>
                <a:ea typeface="Arial"/>
                <a:cs typeface="Arial"/>
              </a:defRPr>
            </a:pPr>
            <a:r>
              <a:rPr sz="1688" b="0">
                <a:solidFill>
                  <a:srgbClr val="00355F"/>
                </a:solidFill>
                <a:latin typeface="Arial"/>
                <a:ea typeface="Arial"/>
                <a:cs typeface="Arial"/>
              </a:rPr>
              <a:t>Benchmark on held-out experiments</a:t>
            </a:r>
          </a:p>
        </p:txBody>
      </p:sp>
      <p:sp>
        <p:nvSpPr>
          <p:cNvPr id="47" name="">
            <a:extLst xmlns:a="http://schemas.openxmlformats.org/drawingml/2006/main">
              <a:ext uri="{FF2B5EF4-FFF2-40B4-BE49-F238E27FC236}">
                <a16:creationId xmlns:a16="http://schemas.microsoft.com/office/drawing/2014/main" id="{42F3658A-830F-4C44-9011-D43585AAE2F2}"/>
              </a:ext>
            </a:extLst>
          </p:cNvPr>
          <p:cNvSpPr>
            <a:spLocks xmlns:a="http://schemas.openxmlformats.org/drawingml/2006/main" noGrp="1"/>
          </p:cNvSpPr>
          <p:nvPr/>
        </p:nvSpPr>
        <p:spPr>
          <a:xfrm xmlns:a="http://schemas.openxmlformats.org/drawingml/2006/main">
            <a:off x="6619875" y="3933825"/>
            <a:ext cx="2333625" cy="953"/>
          </a:xfrm>
          <a:custGeom xmlns:a="http://schemas.openxmlformats.org/drawingml/2006/main">
            <a:pathLst>
              <a:path w="2333625" h="953">
                <a:moveTo>
                  <a:pt x="0" y="0"/>
                </a:moveTo>
                <a:lnTo>
                  <a:pt x="2333625" y="0"/>
                </a:lnTo>
              </a:path>
            </a:pathLst>
          </a:custGeom>
          <a:noFill xmlns:a="http://schemas.openxmlformats.org/drawingml/2006/main"/>
          <a:ln xmlns:a="http://schemas.openxmlformats.org/drawingml/2006/main" w="28575">
            <a:solidFill>
              <a:srgbClr val="00355F"/>
            </a:solidFill>
          </a:ln>
        </p:spPr>
      </p:sp>
      <p:sp>
        <p:nvSpPr>
          <p:cNvPr id="48" name="">
            <a:extLst xmlns:a="http://schemas.openxmlformats.org/drawingml/2006/main">
              <a:ext uri="{FF2B5EF4-FFF2-40B4-BE49-F238E27FC236}">
                <a16:creationId xmlns:a16="http://schemas.microsoft.com/office/drawing/2014/main" id="{030F6A45-26D0-4AE7-AEFE-6AC0E6D6A8B5}"/>
              </a:ext>
            </a:extLst>
          </p:cNvPr>
          <p:cNvSpPr>
            <a:spLocks xmlns:a="http://schemas.openxmlformats.org/drawingml/2006/main" noGrp="1"/>
          </p:cNvSpPr>
          <p:nvPr/>
        </p:nvSpPr>
        <p:spPr>
          <a:xfrm xmlns:a="http://schemas.openxmlformats.org/drawingml/2006/main">
            <a:off x="8869910" y="3888160"/>
            <a:ext cx="83590" cy="91331"/>
          </a:xfrm>
          <a:custGeom xmlns:a="http://schemas.openxmlformats.org/drawingml/2006/main">
            <a:pathLst>
              <a:path w="83590" h="91331">
                <a:moveTo>
                  <a:pt x="83590" y="45665"/>
                </a:moveTo>
                <a:lnTo>
                  <a:pt x="0" y="91331"/>
                </a:lnTo>
                <a:lnTo>
                  <a:pt x="0" y="0"/>
                </a:lnTo>
                <a:close/>
              </a:path>
            </a:pathLst>
          </a:custGeom>
          <a:solidFill xmlns:a="http://schemas.openxmlformats.org/drawingml/2006/main">
            <a:srgbClr val="00355F"/>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D9D31ED1-0DDE-4A20-82F7-483B49540570}"/>
              </a:ext>
            </a:extLst>
          </p:cNvPr>
          <p:cNvSpPr>
            <a:spLocks xmlns:a="http://schemas.openxmlformats.org/drawingml/2006/main" noGrp="1"/>
          </p:cNvSpPr>
          <p:nvPr/>
        </p:nvSpPr>
        <p:spPr>
          <a:xfrm xmlns:a="http://schemas.openxmlformats.org/drawingml/2006/main">
            <a:off x="13811250" y="3933825"/>
            <a:ext cx="2333625" cy="953"/>
          </a:xfrm>
          <a:custGeom xmlns:a="http://schemas.openxmlformats.org/drawingml/2006/main">
            <a:pathLst>
              <a:path w="2333625" h="953">
                <a:moveTo>
                  <a:pt x="0" y="0"/>
                </a:moveTo>
                <a:lnTo>
                  <a:pt x="2333625" y="0"/>
                </a:lnTo>
              </a:path>
            </a:pathLst>
          </a:custGeom>
          <a:noFill xmlns:a="http://schemas.openxmlformats.org/drawingml/2006/main"/>
          <a:ln xmlns:a="http://schemas.openxmlformats.org/drawingml/2006/main" w="28575">
            <a:solidFill>
              <a:srgbClr val="00355F"/>
            </a:solidFill>
          </a:ln>
        </p:spPr>
      </p:sp>
      <p:sp>
        <p:nvSpPr>
          <p:cNvPr id="50" name="">
            <a:extLst xmlns:a="http://schemas.openxmlformats.org/drawingml/2006/main">
              <a:ext uri="{FF2B5EF4-FFF2-40B4-BE49-F238E27FC236}">
                <a16:creationId xmlns:a16="http://schemas.microsoft.com/office/drawing/2014/main" id="{373C0D5B-619B-40F0-BCE5-541DDC3D727F}"/>
              </a:ext>
            </a:extLst>
          </p:cNvPr>
          <p:cNvSpPr>
            <a:spLocks xmlns:a="http://schemas.openxmlformats.org/drawingml/2006/main" noGrp="1"/>
          </p:cNvSpPr>
          <p:nvPr/>
        </p:nvSpPr>
        <p:spPr>
          <a:xfrm xmlns:a="http://schemas.openxmlformats.org/drawingml/2006/main">
            <a:off x="16061285" y="3888160"/>
            <a:ext cx="83590" cy="91331"/>
          </a:xfrm>
          <a:custGeom xmlns:a="http://schemas.openxmlformats.org/drawingml/2006/main">
            <a:pathLst>
              <a:path w="83590" h="91331">
                <a:moveTo>
                  <a:pt x="83590" y="45665"/>
                </a:moveTo>
                <a:lnTo>
                  <a:pt x="0" y="91331"/>
                </a:lnTo>
                <a:lnTo>
                  <a:pt x="0" y="0"/>
                </a:lnTo>
                <a:close/>
              </a:path>
            </a:pathLst>
          </a:custGeom>
          <a:solidFill xmlns:a="http://schemas.openxmlformats.org/drawingml/2006/main">
            <a:srgbClr val="00355F"/>
          </a:solidFill>
          <a:ln xmlns:a="http://schemas.openxmlformats.org/drawingml/2006/main" w="0">
            <a:noFill/>
          </a:ln>
        </p:spPr>
      </p:sp>
      <p:sp>
        <p:nvSpPr>
          <p:cNvPr id="51" name="Proposals">
            <a:extLst xmlns:a="http://schemas.openxmlformats.org/drawingml/2006/main">
              <a:ext uri="{FF2B5EF4-FFF2-40B4-BE49-F238E27FC236}">
                <a16:creationId xmlns:a16="http://schemas.microsoft.com/office/drawing/2014/main" id="{62E5F100-DBE5-430A-AF36-1049DDAC218D}"/>
              </a:ext>
            </a:extLst>
          </p:cNvPr>
          <p:cNvSpPr>
            <a:spLocks xmlns:a="http://schemas.openxmlformats.org/drawingml/2006/main" noGrp="1"/>
          </p:cNvSpPr>
          <p:nvPr/>
        </p:nvSpPr>
        <p:spPr>
          <a:xfrm xmlns:a="http://schemas.openxmlformats.org/drawingml/2006/main">
            <a:off x="6877050" y="3581400"/>
            <a:ext cx="1714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a:ea typeface="Arial"/>
                <a:cs typeface="Arial"/>
              </a:defRPr>
            </a:defPPr>
          </a:lstStyle>
          <a:p xmlns:a="http://schemas.openxmlformats.org/drawingml/2006/main">
            <a:pPr algn="ctr">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Proposals</a:t>
            </a:r>
          </a:p>
        </p:txBody>
      </p:sp>
      <p:sp>
        <p:nvSpPr>
          <p:cNvPr id="52" name="Protocols">
            <a:extLst xmlns:a="http://schemas.openxmlformats.org/drawingml/2006/main">
              <a:ext uri="{FF2B5EF4-FFF2-40B4-BE49-F238E27FC236}">
                <a16:creationId xmlns:a16="http://schemas.microsoft.com/office/drawing/2014/main" id="{AC29A75B-9AA3-4B48-B853-B8F0FBAE552D}"/>
              </a:ext>
            </a:extLst>
          </p:cNvPr>
          <p:cNvSpPr>
            <a:spLocks xmlns:a="http://schemas.openxmlformats.org/drawingml/2006/main" noGrp="1"/>
          </p:cNvSpPr>
          <p:nvPr/>
        </p:nvSpPr>
        <p:spPr>
          <a:xfrm xmlns:a="http://schemas.openxmlformats.org/drawingml/2006/main">
            <a:off x="14039850" y="3581400"/>
            <a:ext cx="1857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a:ea typeface="Arial"/>
                <a:cs typeface="Arial"/>
              </a:defRPr>
            </a:defPPr>
          </a:lstStyle>
          <a:p xmlns:a="http://schemas.openxmlformats.org/drawingml/2006/main">
            <a:pPr algn="ctr">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Protocols</a:t>
            </a:r>
          </a:p>
        </p:txBody>
      </p:sp>
      <p:sp>
        <p:nvSpPr>
          <p:cNvPr id="53" name="">
            <a:extLst xmlns:a="http://schemas.openxmlformats.org/drawingml/2006/main">
              <a:ext uri="{FF2B5EF4-FFF2-40B4-BE49-F238E27FC236}">
                <a16:creationId xmlns:a16="http://schemas.microsoft.com/office/drawing/2014/main" id="{DA34D1E5-B6C1-4844-9F05-3C6065878680}"/>
              </a:ext>
            </a:extLst>
          </p:cNvPr>
          <p:cNvSpPr>
            <a:spLocks xmlns:a="http://schemas.openxmlformats.org/drawingml/2006/main" noGrp="1"/>
          </p:cNvSpPr>
          <p:nvPr/>
        </p:nvSpPr>
        <p:spPr>
          <a:xfrm xmlns:a="http://schemas.openxmlformats.org/drawingml/2006/main">
            <a:off x="13811250" y="7743825"/>
            <a:ext cx="2333625" cy="953"/>
          </a:xfrm>
          <a:custGeom xmlns:a="http://schemas.openxmlformats.org/drawingml/2006/main">
            <a:pathLst>
              <a:path w="2333625" h="953">
                <a:moveTo>
                  <a:pt x="2333625" y="0"/>
                </a:moveTo>
                <a:lnTo>
                  <a:pt x="0" y="0"/>
                </a:lnTo>
              </a:path>
            </a:pathLst>
          </a:custGeom>
          <a:noFill xmlns:a="http://schemas.openxmlformats.org/drawingml/2006/main"/>
          <a:ln xmlns:a="http://schemas.openxmlformats.org/drawingml/2006/main" w="28575">
            <a:solidFill>
              <a:srgbClr val="00355F"/>
            </a:solidFill>
          </a:ln>
        </p:spPr>
      </p:sp>
      <p:sp>
        <p:nvSpPr>
          <p:cNvPr id="54" name="">
            <a:extLst xmlns:a="http://schemas.openxmlformats.org/drawingml/2006/main">
              <a:ext uri="{FF2B5EF4-FFF2-40B4-BE49-F238E27FC236}">
                <a16:creationId xmlns:a16="http://schemas.microsoft.com/office/drawing/2014/main" id="{C46F62C2-F4E9-47BB-93EE-1BB41416B0C0}"/>
              </a:ext>
            </a:extLst>
          </p:cNvPr>
          <p:cNvSpPr>
            <a:spLocks xmlns:a="http://schemas.openxmlformats.org/drawingml/2006/main" noGrp="1"/>
          </p:cNvSpPr>
          <p:nvPr/>
        </p:nvSpPr>
        <p:spPr>
          <a:xfrm xmlns:a="http://schemas.openxmlformats.org/drawingml/2006/main">
            <a:off x="13811250" y="7698160"/>
            <a:ext cx="83590" cy="91331"/>
          </a:xfrm>
          <a:custGeom xmlns:a="http://schemas.openxmlformats.org/drawingml/2006/main">
            <a:pathLst>
              <a:path w="83590" h="91331">
                <a:moveTo>
                  <a:pt x="0" y="45665"/>
                </a:moveTo>
                <a:lnTo>
                  <a:pt x="83590" y="0"/>
                </a:lnTo>
                <a:lnTo>
                  <a:pt x="83590" y="91331"/>
                </a:lnTo>
                <a:close/>
              </a:path>
            </a:pathLst>
          </a:custGeom>
          <a:solidFill xmlns:a="http://schemas.openxmlformats.org/drawingml/2006/main">
            <a:srgbClr val="00355F"/>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03C8E8A3-8ED5-47B1-A0A9-F9D89D97981C}"/>
              </a:ext>
            </a:extLst>
          </p:cNvPr>
          <p:cNvSpPr>
            <a:spLocks xmlns:a="http://schemas.openxmlformats.org/drawingml/2006/main" noGrp="1"/>
          </p:cNvSpPr>
          <p:nvPr/>
        </p:nvSpPr>
        <p:spPr>
          <a:xfrm xmlns:a="http://schemas.openxmlformats.org/drawingml/2006/main">
            <a:off x="6619875" y="7743825"/>
            <a:ext cx="2333625" cy="953"/>
          </a:xfrm>
          <a:custGeom xmlns:a="http://schemas.openxmlformats.org/drawingml/2006/main">
            <a:pathLst>
              <a:path w="2333625" h="953">
                <a:moveTo>
                  <a:pt x="2333625" y="0"/>
                </a:moveTo>
                <a:lnTo>
                  <a:pt x="0" y="0"/>
                </a:lnTo>
              </a:path>
            </a:pathLst>
          </a:custGeom>
          <a:noFill xmlns:a="http://schemas.openxmlformats.org/drawingml/2006/main"/>
          <a:ln xmlns:a="http://schemas.openxmlformats.org/drawingml/2006/main" w="28575">
            <a:solidFill>
              <a:srgbClr val="00355F"/>
            </a:solidFill>
          </a:ln>
        </p:spPr>
      </p:sp>
      <p:sp>
        <p:nvSpPr>
          <p:cNvPr id="56" name="">
            <a:extLst xmlns:a="http://schemas.openxmlformats.org/drawingml/2006/main">
              <a:ext uri="{FF2B5EF4-FFF2-40B4-BE49-F238E27FC236}">
                <a16:creationId xmlns:a16="http://schemas.microsoft.com/office/drawing/2014/main" id="{707E2299-1182-4951-ACFA-F93D8EB17FB5}"/>
              </a:ext>
            </a:extLst>
          </p:cNvPr>
          <p:cNvSpPr>
            <a:spLocks xmlns:a="http://schemas.openxmlformats.org/drawingml/2006/main" noGrp="1"/>
          </p:cNvSpPr>
          <p:nvPr/>
        </p:nvSpPr>
        <p:spPr>
          <a:xfrm xmlns:a="http://schemas.openxmlformats.org/drawingml/2006/main">
            <a:off x="6619875" y="7698160"/>
            <a:ext cx="83590" cy="91331"/>
          </a:xfrm>
          <a:custGeom xmlns:a="http://schemas.openxmlformats.org/drawingml/2006/main">
            <a:pathLst>
              <a:path w="83590" h="91331">
                <a:moveTo>
                  <a:pt x="0" y="45665"/>
                </a:moveTo>
                <a:lnTo>
                  <a:pt x="83590" y="0"/>
                </a:lnTo>
                <a:lnTo>
                  <a:pt x="83590" y="91331"/>
                </a:lnTo>
                <a:close/>
              </a:path>
            </a:pathLst>
          </a:custGeom>
          <a:solidFill xmlns:a="http://schemas.openxmlformats.org/drawingml/2006/main">
            <a:srgbClr val="00355F"/>
          </a:solidFill>
          <a:ln xmlns:a="http://schemas.openxmlformats.org/drawingml/2006/main" w="0">
            <a:noFill/>
          </a:ln>
        </p:spPr>
      </p:sp>
      <p:sp>
        <p:nvSpPr>
          <p:cNvPr id="57" name="Measurements">
            <a:extLst xmlns:a="http://schemas.openxmlformats.org/drawingml/2006/main">
              <a:ext uri="{FF2B5EF4-FFF2-40B4-BE49-F238E27FC236}">
                <a16:creationId xmlns:a16="http://schemas.microsoft.com/office/drawing/2014/main" id="{5F78FB00-4DF4-4351-989D-E5A580AF7A08}"/>
              </a:ext>
            </a:extLst>
          </p:cNvPr>
          <p:cNvSpPr>
            <a:spLocks xmlns:a="http://schemas.openxmlformats.org/drawingml/2006/main" noGrp="1"/>
          </p:cNvSpPr>
          <p:nvPr/>
        </p:nvSpPr>
        <p:spPr>
          <a:xfrm xmlns:a="http://schemas.openxmlformats.org/drawingml/2006/main">
            <a:off x="13896975" y="7381875"/>
            <a:ext cx="2152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a:ea typeface="Arial"/>
                <a:cs typeface="Arial"/>
              </a:defRPr>
            </a:defPPr>
          </a:lstStyle>
          <a:p xmlns:a="http://schemas.openxmlformats.org/drawingml/2006/main">
            <a:pPr algn="ctr">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Measurements</a:t>
            </a:r>
          </a:p>
        </p:txBody>
      </p:sp>
      <p:sp>
        <p:nvSpPr>
          <p:cNvPr id="58" name="Training evidence">
            <a:extLst xmlns:a="http://schemas.openxmlformats.org/drawingml/2006/main">
              <a:ext uri="{FF2B5EF4-FFF2-40B4-BE49-F238E27FC236}">
                <a16:creationId xmlns:a16="http://schemas.microsoft.com/office/drawing/2014/main" id="{F30F656D-243C-45FA-87E7-685088487C3F}"/>
              </a:ext>
            </a:extLst>
          </p:cNvPr>
          <p:cNvSpPr>
            <a:spLocks xmlns:a="http://schemas.openxmlformats.org/drawingml/2006/main" noGrp="1"/>
          </p:cNvSpPr>
          <p:nvPr/>
        </p:nvSpPr>
        <p:spPr>
          <a:xfrm xmlns:a="http://schemas.openxmlformats.org/drawingml/2006/main">
            <a:off x="6715125" y="7381875"/>
            <a:ext cx="2133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a:ea typeface="Arial"/>
                <a:cs typeface="Arial"/>
              </a:defRPr>
            </a:defPPr>
          </a:lstStyle>
          <a:p xmlns:a="http://schemas.openxmlformats.org/drawingml/2006/main">
            <a:pPr algn="ctr">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Training evidence</a:t>
            </a:r>
          </a:p>
        </p:txBody>
      </p:sp>
      <p:sp>
        <p:nvSpPr>
          <p:cNvPr id="59" name="">
            <a:extLst xmlns:a="http://schemas.openxmlformats.org/drawingml/2006/main">
              <a:ext uri="{FF2B5EF4-FFF2-40B4-BE49-F238E27FC236}">
                <a16:creationId xmlns:a16="http://schemas.microsoft.com/office/drawing/2014/main" id="{0562B4A4-5A32-40F2-87C6-32263E18B014}"/>
              </a:ext>
            </a:extLst>
          </p:cNvPr>
          <p:cNvSpPr>
            <a:spLocks xmlns:a="http://schemas.openxmlformats.org/drawingml/2006/main" noGrp="1"/>
          </p:cNvSpPr>
          <p:nvPr/>
        </p:nvSpPr>
        <p:spPr>
          <a:xfrm xmlns:a="http://schemas.openxmlformats.org/drawingml/2006/main">
            <a:off x="18573750" y="5000625"/>
            <a:ext cx="953" cy="1666875"/>
          </a:xfrm>
          <a:custGeom xmlns:a="http://schemas.openxmlformats.org/drawingml/2006/main">
            <a:pathLst>
              <a:path w="953" h="1666875">
                <a:moveTo>
                  <a:pt x="0" y="0"/>
                </a:moveTo>
                <a:lnTo>
                  <a:pt x="0" y="1666875"/>
                </a:lnTo>
              </a:path>
            </a:pathLst>
          </a:custGeom>
          <a:noFill xmlns:a="http://schemas.openxmlformats.org/drawingml/2006/main"/>
          <a:ln xmlns:a="http://schemas.openxmlformats.org/drawingml/2006/main" w="28575">
            <a:solidFill>
              <a:srgbClr val="00355F"/>
            </a:solidFill>
          </a:ln>
        </p:spPr>
      </p:sp>
      <p:sp>
        <p:nvSpPr>
          <p:cNvPr id="60" name="">
            <a:extLst xmlns:a="http://schemas.openxmlformats.org/drawingml/2006/main">
              <a:ext uri="{FF2B5EF4-FFF2-40B4-BE49-F238E27FC236}">
                <a16:creationId xmlns:a16="http://schemas.microsoft.com/office/drawing/2014/main" id="{76B214D8-7639-4567-8BD9-460EB29948B9}"/>
              </a:ext>
            </a:extLst>
          </p:cNvPr>
          <p:cNvSpPr>
            <a:spLocks xmlns:a="http://schemas.openxmlformats.org/drawingml/2006/main" noGrp="1"/>
          </p:cNvSpPr>
          <p:nvPr/>
        </p:nvSpPr>
        <p:spPr>
          <a:xfrm xmlns:a="http://schemas.openxmlformats.org/drawingml/2006/main">
            <a:off x="18528085" y="6583910"/>
            <a:ext cx="91331" cy="83590"/>
          </a:xfrm>
          <a:custGeom xmlns:a="http://schemas.openxmlformats.org/drawingml/2006/main">
            <a:pathLst>
              <a:path w="91331" h="83590">
                <a:moveTo>
                  <a:pt x="45665" y="83590"/>
                </a:moveTo>
                <a:lnTo>
                  <a:pt x="0" y="0"/>
                </a:lnTo>
                <a:lnTo>
                  <a:pt x="91331" y="0"/>
                </a:lnTo>
                <a:close/>
              </a:path>
            </a:pathLst>
          </a:custGeom>
          <a:solidFill xmlns:a="http://schemas.openxmlformats.org/drawingml/2006/main">
            <a:srgbClr val="00355F"/>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63A46D2E-EC3B-4D94-93F0-A3F67A7BF5D8}"/>
              </a:ext>
            </a:extLst>
          </p:cNvPr>
          <p:cNvSpPr>
            <a:spLocks xmlns:a="http://schemas.openxmlformats.org/drawingml/2006/main" noGrp="1"/>
          </p:cNvSpPr>
          <p:nvPr/>
        </p:nvSpPr>
        <p:spPr>
          <a:xfrm xmlns:a="http://schemas.openxmlformats.org/drawingml/2006/main">
            <a:off x="4191000" y="5000625"/>
            <a:ext cx="953" cy="1666875"/>
          </a:xfrm>
          <a:custGeom xmlns:a="http://schemas.openxmlformats.org/drawingml/2006/main">
            <a:pathLst>
              <a:path w="953" h="1666875">
                <a:moveTo>
                  <a:pt x="0" y="1666875"/>
                </a:moveTo>
                <a:lnTo>
                  <a:pt x="0" y="0"/>
                </a:lnTo>
              </a:path>
            </a:pathLst>
          </a:custGeom>
          <a:noFill xmlns:a="http://schemas.openxmlformats.org/drawingml/2006/main"/>
          <a:ln xmlns:a="http://schemas.openxmlformats.org/drawingml/2006/main" w="28575">
            <a:solidFill>
              <a:srgbClr val="00355F"/>
            </a:solidFill>
          </a:ln>
        </p:spPr>
      </p:sp>
      <p:sp>
        <p:nvSpPr>
          <p:cNvPr id="62" name="">
            <a:extLst xmlns:a="http://schemas.openxmlformats.org/drawingml/2006/main">
              <a:ext uri="{FF2B5EF4-FFF2-40B4-BE49-F238E27FC236}">
                <a16:creationId xmlns:a16="http://schemas.microsoft.com/office/drawing/2014/main" id="{8AC32DE0-EE52-4B89-AFEB-07F23287CA50}"/>
              </a:ext>
            </a:extLst>
          </p:cNvPr>
          <p:cNvSpPr>
            <a:spLocks xmlns:a="http://schemas.openxmlformats.org/drawingml/2006/main" noGrp="1"/>
          </p:cNvSpPr>
          <p:nvPr/>
        </p:nvSpPr>
        <p:spPr>
          <a:xfrm xmlns:a="http://schemas.openxmlformats.org/drawingml/2006/main">
            <a:off x="4145335" y="5000625"/>
            <a:ext cx="91331" cy="83590"/>
          </a:xfrm>
          <a:custGeom xmlns:a="http://schemas.openxmlformats.org/drawingml/2006/main">
            <a:pathLst>
              <a:path w="91331" h="83590">
                <a:moveTo>
                  <a:pt x="45665" y="0"/>
                </a:moveTo>
                <a:lnTo>
                  <a:pt x="91331" y="83590"/>
                </a:lnTo>
                <a:lnTo>
                  <a:pt x="0" y="83590"/>
                </a:lnTo>
                <a:close/>
              </a:path>
            </a:pathLst>
          </a:custGeom>
          <a:solidFill xmlns:a="http://schemas.openxmlformats.org/drawingml/2006/main">
            <a:srgbClr val="00355F"/>
          </a:solidFill>
          <a:ln xmlns:a="http://schemas.openxmlformats.org/drawingml/2006/main" w="0">
            <a:noFill/>
          </a:ln>
        </p:spPr>
      </p:sp>
      <p:sp>
        <p:nvSpPr>
          <p:cNvPr id="63" name="Deploy only">
            <a:extLst xmlns:a="http://schemas.openxmlformats.org/drawingml/2006/main">
              <a:ext uri="{FF2B5EF4-FFF2-40B4-BE49-F238E27FC236}">
                <a16:creationId xmlns:a16="http://schemas.microsoft.com/office/drawing/2014/main" id="{EB1CBE72-62E6-4D2D-93CD-6CF603F37FCB}"/>
              </a:ext>
            </a:extLst>
          </p:cNvPr>
          <p:cNvSpPr>
            <a:spLocks xmlns:a="http://schemas.openxmlformats.org/drawingml/2006/main" noGrp="1"/>
          </p:cNvSpPr>
          <p:nvPr/>
        </p:nvSpPr>
        <p:spPr>
          <a:xfrm xmlns:a="http://schemas.openxmlformats.org/drawingml/2006/main">
            <a:off x="2009775" y="5334000"/>
            <a:ext cx="1962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Deploy only</a:t>
            </a:r>
          </a:p>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verified</a:t>
            </a:r>
          </a:p>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improvements</a:t>
            </a:r>
          </a:p>
        </p:txBody>
      </p:sp>
      <p:sp>
        <p:nvSpPr>
          <p:cNvPr id="64" name="Throughput">
            <a:extLst xmlns:a="http://schemas.openxmlformats.org/drawingml/2006/main">
              <a:ext uri="{FF2B5EF4-FFF2-40B4-BE49-F238E27FC236}">
                <a16:creationId xmlns:a16="http://schemas.microsoft.com/office/drawing/2014/main" id="{1F4FA125-0248-4B85-9425-3775A80848FA}"/>
              </a:ext>
            </a:extLst>
          </p:cNvPr>
          <p:cNvSpPr>
            <a:spLocks xmlns:a="http://schemas.openxmlformats.org/drawingml/2006/main" noGrp="1"/>
          </p:cNvSpPr>
          <p:nvPr/>
        </p:nvSpPr>
        <p:spPr>
          <a:xfrm xmlns:a="http://schemas.openxmlformats.org/drawingml/2006/main">
            <a:off x="19050000" y="5343525"/>
            <a:ext cx="1752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Throughput</a:t>
            </a:r>
          </a:p>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Assay quality</a:t>
            </a:r>
          </a:p>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Money + time</a:t>
            </a:r>
          </a:p>
        </p:txBody>
      </p:sp>
      <p:sp>
        <p:nvSpPr>
          <p:cNvPr id="65" name="Better AI → better experiments">
            <a:extLst xmlns:a="http://schemas.openxmlformats.org/drawingml/2006/main">
              <a:ext uri="{FF2B5EF4-FFF2-40B4-BE49-F238E27FC236}">
                <a16:creationId xmlns:a16="http://schemas.microsoft.com/office/drawing/2014/main" id="{CBD49D23-8D17-4A5A-B216-8CD52D045135}"/>
              </a:ext>
            </a:extLst>
          </p:cNvPr>
          <p:cNvSpPr>
            <a:spLocks xmlns:a="http://schemas.openxmlformats.org/drawingml/2006/main" noGrp="1"/>
          </p:cNvSpPr>
          <p:nvPr/>
        </p:nvSpPr>
        <p:spPr>
          <a:xfrm xmlns:a="http://schemas.openxmlformats.org/drawingml/2006/main">
            <a:off x="7191375" y="5219700"/>
            <a:ext cx="8429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850" b="1">
                <a:solidFill>
                  <a:srgbClr val="00355F"/>
                </a:solidFill>
                <a:latin typeface="Arial"/>
                <a:ea typeface="Arial"/>
                <a:cs typeface="Arial"/>
              </a:defRPr>
            </a:defPPr>
          </a:lstStyle>
          <a:p xmlns:a="http://schemas.openxmlformats.org/drawingml/2006/main">
            <a:pPr algn="ctr">
              <a:lnSpc>
                <a:spcPct val="100000"/>
              </a:lnSpc>
              <a:buNone/>
              <a:defRPr sz="2850" b="1">
                <a:solidFill>
                  <a:srgbClr val="00355F"/>
                </a:solidFill>
                <a:latin typeface="Arial"/>
                <a:ea typeface="Arial"/>
                <a:cs typeface="Arial"/>
              </a:defRPr>
            </a:pPr>
            <a:r>
              <a:rPr sz="2850" b="1">
                <a:solidFill>
                  <a:srgbClr val="00355F"/>
                </a:solidFill>
                <a:latin typeface="Arial"/>
                <a:ea typeface="Arial"/>
                <a:cs typeface="Arial"/>
              </a:rPr>
              <a:t>Better AI → better experiments</a:t>
            </a:r>
          </a:p>
          <a:p xmlns:a="http://schemas.openxmlformats.org/drawingml/2006/main">
            <a:pPr algn="ctr">
              <a:lnSpc>
                <a:spcPct val="100000"/>
              </a:lnSpc>
              <a:buNone/>
              <a:defRPr sz="2850" b="1">
                <a:solidFill>
                  <a:srgbClr val="00355F"/>
                </a:solidFill>
                <a:latin typeface="Arial"/>
                <a:ea typeface="Arial"/>
                <a:cs typeface="Arial"/>
              </a:defRPr>
            </a:pPr>
            <a:r>
              <a:rPr sz="2850" b="1">
                <a:solidFill>
                  <a:srgbClr val="00355F"/>
                </a:solidFill>
                <a:latin typeface="Arial"/>
                <a:ea typeface="Arial"/>
                <a:cs typeface="Arial"/>
              </a:rPr>
              <a:t>→ better AI</a:t>
            </a:r>
          </a:p>
        </p:txBody>
      </p:sp>
      <p:sp>
        <p:nvSpPr>
          <p:cNvPr id="66" name="Potential recursive gains need comparable,">
            <a:extLst xmlns:a="http://schemas.openxmlformats.org/drawingml/2006/main">
              <a:ext uri="{FF2B5EF4-FFF2-40B4-BE49-F238E27FC236}">
                <a16:creationId xmlns:a16="http://schemas.microsoft.com/office/drawing/2014/main" id="{F8A6239D-1B14-4613-9AC6-59F5FCC5D61C}"/>
              </a:ext>
            </a:extLst>
          </p:cNvPr>
          <p:cNvSpPr>
            <a:spLocks xmlns:a="http://schemas.openxmlformats.org/drawingml/2006/main" noGrp="1"/>
          </p:cNvSpPr>
          <p:nvPr/>
        </p:nvSpPr>
        <p:spPr>
          <a:xfrm xmlns:a="http://schemas.openxmlformats.org/drawingml/2006/main">
            <a:off x="7191375" y="6210300"/>
            <a:ext cx="8429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50" b="0">
                <a:solidFill>
                  <a:srgbClr val="00355F"/>
                </a:solidFill>
                <a:latin typeface="Arial"/>
                <a:ea typeface="Arial"/>
                <a:cs typeface="Arial"/>
              </a:defRPr>
            </a:defPPr>
          </a:lstStyle>
          <a:p xmlns:a="http://schemas.openxmlformats.org/drawingml/2006/main">
            <a:pPr algn="ctr">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Potential recursive gains need comparable,</a:t>
            </a:r>
          </a:p>
          <a:p xmlns:a="http://schemas.openxmlformats.org/drawingml/2006/main">
            <a:pPr algn="ctr">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reproducible evidence from the physical world</a:t>
            </a:r>
          </a:p>
        </p:txBody>
      </p:sp>
      <p:sp>
        <p:nvSpPr>
          <p:cNvPr id="67" name="LST supports every return to physical biology">
            <a:extLst xmlns:a="http://schemas.openxmlformats.org/drawingml/2006/main">
              <a:ext uri="{FF2B5EF4-FFF2-40B4-BE49-F238E27FC236}">
                <a16:creationId xmlns:a16="http://schemas.microsoft.com/office/drawing/2014/main" id="{F7C61A16-01B0-4867-A55C-540A01FA6A56}"/>
              </a:ext>
            </a:extLst>
          </p:cNvPr>
          <p:cNvSpPr>
            <a:spLocks xmlns:a="http://schemas.openxmlformats.org/drawingml/2006/main" noGrp="1"/>
          </p:cNvSpPr>
          <p:nvPr/>
        </p:nvSpPr>
        <p:spPr>
          <a:xfrm xmlns:a="http://schemas.openxmlformats.org/drawingml/2006/main">
            <a:off x="952500" y="9010650"/>
            <a:ext cx="2095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00" b="1">
                <a:solidFill>
                  <a:srgbClr val="00355F"/>
                </a:solidFill>
                <a:latin typeface="Arial"/>
                <a:ea typeface="Arial"/>
                <a:cs typeface="Arial"/>
              </a:defRPr>
            </a:defPPr>
          </a:lstStyle>
          <a:p xmlns:a="http://schemas.openxmlformats.org/drawingml/2006/main">
            <a:pPr algn="l">
              <a:lnSpc>
                <a:spcPct val="100000"/>
              </a:lnSpc>
              <a:buNone/>
              <a:defRPr sz="2100" b="1">
                <a:solidFill>
                  <a:srgbClr val="00355F"/>
                </a:solidFill>
                <a:latin typeface="Arial"/>
                <a:ea typeface="Arial"/>
                <a:cs typeface="Arial"/>
              </a:defRPr>
            </a:pPr>
            <a:r>
              <a:rPr sz="2100" b="1">
                <a:solidFill>
                  <a:srgbClr val="00355F"/>
                </a:solidFill>
                <a:latin typeface="Arial"/>
                <a:ea typeface="Arial"/>
                <a:cs typeface="Arial"/>
              </a:rPr>
              <a:t>LST supports every return to physical biology</a:t>
            </a:r>
          </a:p>
        </p:txBody>
      </p:sp>
      <p:sp>
        <p:nvSpPr>
          <p:cNvPr id="68" name="">
            <a:extLst xmlns:a="http://schemas.openxmlformats.org/drawingml/2006/main">
              <a:ext uri="{FF2B5EF4-FFF2-40B4-BE49-F238E27FC236}">
                <a16:creationId xmlns:a16="http://schemas.microsoft.com/office/drawing/2014/main" id="{C4191135-0ADD-4E82-8A40-44E583068D7C}"/>
              </a:ext>
            </a:extLst>
          </p:cNvPr>
          <p:cNvSpPr>
            <a:spLocks xmlns:a="http://schemas.openxmlformats.org/drawingml/2006/main" noGrp="1"/>
          </p:cNvSpPr>
          <p:nvPr/>
        </p:nvSpPr>
        <p:spPr>
          <a:xfrm xmlns:a="http://schemas.openxmlformats.org/drawingml/2006/main">
            <a:off x="952500" y="9467850"/>
            <a:ext cx="20955000" cy="1152525"/>
          </a:xfrm>
          <a:prstGeom xmlns:a="http://schemas.openxmlformats.org/drawingml/2006/main" prst="roundRect">
            <a:avLst>
              <a:gd name="adj" fmla="val 8264"/>
            </a:avLst>
          </a:prstGeom>
          <a:solidFill xmlns:a="http://schemas.openxmlformats.org/drawingml/2006/main">
            <a:srgbClr val="F4F9FD"/>
          </a:solidFill>
          <a:ln xmlns:a="http://schemas.openxmlformats.org/drawingml/2006/main" w="9525">
            <a:solidFill>
              <a:srgbClr val="A5A5A5"/>
            </a:solidFill>
          </a:ln>
        </p:spPr>
      </p:sp>
      <p:sp>
        <p:nvSpPr>
          <p:cNvPr id="69" name="">
            <a:extLst xmlns:a="http://schemas.openxmlformats.org/drawingml/2006/main">
              <a:ext uri="{FF2B5EF4-FFF2-40B4-BE49-F238E27FC236}">
                <a16:creationId xmlns:a16="http://schemas.microsoft.com/office/drawing/2014/main" id="{751D2E81-7D7A-4FC4-A3DA-12AAABF35402}"/>
              </a:ext>
            </a:extLst>
          </p:cNvPr>
          <p:cNvSpPr>
            <a:spLocks xmlns:a="http://schemas.openxmlformats.org/drawingml/2006/main" noGrp="1"/>
          </p:cNvSpPr>
          <p:nvPr/>
        </p:nvSpPr>
        <p:spPr>
          <a:xfrm xmlns:a="http://schemas.openxmlformats.org/drawingml/2006/main">
            <a:off x="7839075" y="9648825"/>
            <a:ext cx="953" cy="790575"/>
          </a:xfrm>
          <a:custGeom xmlns:a="http://schemas.openxmlformats.org/drawingml/2006/main">
            <a:pathLst>
              <a:path w="953" h="790575">
                <a:moveTo>
                  <a:pt x="0" y="0"/>
                </a:moveTo>
                <a:lnTo>
                  <a:pt x="0" y="790575"/>
                </a:lnTo>
              </a:path>
            </a:pathLst>
          </a:custGeom>
          <a:noFill xmlns:a="http://schemas.openxmlformats.org/drawingml/2006/main"/>
          <a:ln xmlns:a="http://schemas.openxmlformats.org/drawingml/2006/main" w="9525">
            <a:solidFill>
              <a:srgbClr val="A5A5A5"/>
            </a:solidFill>
          </a:ln>
        </p:spPr>
      </p:sp>
      <p:sp>
        <p:nvSpPr>
          <p:cNvPr id="70" name="">
            <a:extLst xmlns:a="http://schemas.openxmlformats.org/drawingml/2006/main">
              <a:ext uri="{FF2B5EF4-FFF2-40B4-BE49-F238E27FC236}">
                <a16:creationId xmlns:a16="http://schemas.microsoft.com/office/drawing/2014/main" id="{323A2193-4EA9-41B7-877A-9DC05F9A61A9}"/>
              </a:ext>
            </a:extLst>
          </p:cNvPr>
          <p:cNvSpPr>
            <a:spLocks xmlns:a="http://schemas.openxmlformats.org/drawingml/2006/main" noGrp="1"/>
          </p:cNvSpPr>
          <p:nvPr/>
        </p:nvSpPr>
        <p:spPr>
          <a:xfrm xmlns:a="http://schemas.openxmlformats.org/drawingml/2006/main">
            <a:off x="14887575" y="9648825"/>
            <a:ext cx="953" cy="790575"/>
          </a:xfrm>
          <a:custGeom xmlns:a="http://schemas.openxmlformats.org/drawingml/2006/main">
            <a:pathLst>
              <a:path w="953" h="790575">
                <a:moveTo>
                  <a:pt x="0" y="0"/>
                </a:moveTo>
                <a:lnTo>
                  <a:pt x="0" y="790575"/>
                </a:lnTo>
              </a:path>
            </a:pathLst>
          </a:custGeom>
          <a:noFill xmlns:a="http://schemas.openxmlformats.org/drawingml/2006/main"/>
          <a:ln xmlns:a="http://schemas.openxmlformats.org/drawingml/2006/main" w="9525">
            <a:solidFill>
              <a:srgbClr val="A5A5A5"/>
            </a:solidFill>
          </a:ln>
        </p:spPr>
      </p:sp>
      <p:pic>
        <p:nvPicPr>
          <p:cNvPr id="71" name="">
            <a:extLst xmlns:a="http://schemas.openxmlformats.org/drawingml/2006/main">
              <a:ext uri="{FF2B5EF4-FFF2-40B4-BE49-F238E27FC236}">
                <a16:creationId xmlns:a16="http://schemas.microsoft.com/office/drawing/2014/main" id="{D279B77B-E13E-4F85-AD2B-7C376B2B3EBE}"/>
              </a:ext>
            </a:extLst>
          </p:cNvPr>
          <p:cNvPicPr>
            <a:picLocks xmlns:a="http://schemas.openxmlformats.org/drawingml/2006/main" noChangeAspect="1"/>
          </p:cNvPicPr>
          <p:nvPr/>
        </p:nvPicPr>
        <p:blipFill>
          <a:blip xmlns:r="http://schemas.openxmlformats.org/officeDocument/2006/relationships" xmlns:a="http://schemas.openxmlformats.org/drawingml/2006/main" r:embed="R39d4be8cc61248d6">
            <a:extLst>
              <a:ext uri="{96DAC541-7B7A-43D3-8B79-37D633B846F1}">
                <asvg:svgBlip xmlns:asvg="http://schemas.microsoft.com/office/drawing/2016/SVG/main" r:embed="R73e2378dbb824dcf"/>
              </a:ext>
            </a:extLst>
          </a:blip>
          <a:stretch xmlns:a="http://schemas.openxmlformats.org/drawingml/2006/main"/>
        </p:blipFill>
        <p:spPr>
          <a:xfrm xmlns:a="http://schemas.openxmlformats.org/drawingml/2006/main">
            <a:off x="1190625" y="9677400"/>
            <a:ext cx="333375" cy="333375"/>
          </a:xfrm>
          <a:prstGeom xmlns:a="http://schemas.openxmlformats.org/drawingml/2006/main" prst="rect">
            <a:avLst/>
          </a:prstGeom>
        </p:spPr>
      </p:pic>
      <p:sp>
        <p:nvSpPr>
          <p:cNvPr id="72" name="BUILD">
            <a:extLst xmlns:a="http://schemas.openxmlformats.org/drawingml/2006/main">
              <a:ext uri="{FF2B5EF4-FFF2-40B4-BE49-F238E27FC236}">
                <a16:creationId xmlns:a16="http://schemas.microsoft.com/office/drawing/2014/main" id="{241ADC41-05BC-459F-927E-5E94C8F40C1F}"/>
              </a:ext>
            </a:extLst>
          </p:cNvPr>
          <p:cNvSpPr>
            <a:spLocks xmlns:a="http://schemas.openxmlformats.org/drawingml/2006/main" noGrp="1"/>
          </p:cNvSpPr>
          <p:nvPr/>
        </p:nvSpPr>
        <p:spPr>
          <a:xfrm xmlns:a="http://schemas.openxmlformats.org/drawingml/2006/main">
            <a:off x="1676400" y="9686925"/>
            <a:ext cx="5734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BUILD</a:t>
            </a:r>
          </a:p>
        </p:txBody>
      </p:sp>
      <p:sp>
        <p:nvSpPr>
          <p:cNvPr id="73" name="DNA synthesis · expression · purification">
            <a:extLst xmlns:a="http://schemas.openxmlformats.org/drawingml/2006/main">
              <a:ext uri="{FF2B5EF4-FFF2-40B4-BE49-F238E27FC236}">
                <a16:creationId xmlns:a16="http://schemas.microsoft.com/office/drawing/2014/main" id="{266D28FA-2EDD-4DEE-86F4-E449E2B70D92}"/>
              </a:ext>
            </a:extLst>
          </p:cNvPr>
          <p:cNvSpPr>
            <a:spLocks xmlns:a="http://schemas.openxmlformats.org/drawingml/2006/main" noGrp="1"/>
          </p:cNvSpPr>
          <p:nvPr/>
        </p:nvSpPr>
        <p:spPr>
          <a:xfrm xmlns:a="http://schemas.openxmlformats.org/drawingml/2006/main">
            <a:off x="1190625" y="10115550"/>
            <a:ext cx="62579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00355F"/>
                </a:solidFill>
                <a:latin typeface="Arial"/>
                <a:ea typeface="Arial"/>
                <a:cs typeface="Arial"/>
              </a:defRPr>
            </a:defPPr>
          </a:lstStyle>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DNA synthesis · expression · purification</a:t>
            </a:r>
          </a:p>
        </p:txBody>
      </p:sp>
      <p:pic>
        <p:nvPicPr>
          <p:cNvPr id="74" name="">
            <a:extLst xmlns:a="http://schemas.openxmlformats.org/drawingml/2006/main">
              <a:ext uri="{FF2B5EF4-FFF2-40B4-BE49-F238E27FC236}">
                <a16:creationId xmlns:a16="http://schemas.microsoft.com/office/drawing/2014/main" id="{C8C20F29-E1D1-4CE3-A678-1624949795B2}"/>
              </a:ext>
            </a:extLst>
          </p:cNvPr>
          <p:cNvPicPr>
            <a:picLocks xmlns:a="http://schemas.openxmlformats.org/drawingml/2006/main" noChangeAspect="1"/>
          </p:cNvPicPr>
          <p:nvPr/>
        </p:nvPicPr>
        <p:blipFill>
          <a:blip xmlns:r="http://schemas.openxmlformats.org/officeDocument/2006/relationships" xmlns:a="http://schemas.openxmlformats.org/drawingml/2006/main" r:embed="Rfbb16127facf43ad">
            <a:extLst>
              <a:ext uri="{96DAC541-7B7A-43D3-8B79-37D633B846F1}">
                <asvg:svgBlip xmlns:asvg="http://schemas.microsoft.com/office/drawing/2016/SVG/main" r:embed="Rc6078e580a6c4b54"/>
              </a:ext>
            </a:extLst>
          </a:blip>
          <a:stretch xmlns:a="http://schemas.openxmlformats.org/drawingml/2006/main"/>
        </p:blipFill>
        <p:spPr>
          <a:xfrm xmlns:a="http://schemas.openxmlformats.org/drawingml/2006/main">
            <a:off x="8096250" y="9677400"/>
            <a:ext cx="333375" cy="333375"/>
          </a:xfrm>
          <a:prstGeom xmlns:a="http://schemas.openxmlformats.org/drawingml/2006/main" prst="rect">
            <a:avLst/>
          </a:prstGeom>
        </p:spPr>
      </p:pic>
      <p:sp>
        <p:nvSpPr>
          <p:cNvPr id="75" name="TEST">
            <a:extLst xmlns:a="http://schemas.openxmlformats.org/drawingml/2006/main">
              <a:ext uri="{FF2B5EF4-FFF2-40B4-BE49-F238E27FC236}">
                <a16:creationId xmlns:a16="http://schemas.microsoft.com/office/drawing/2014/main" id="{92C08FCB-4155-425A-A8B6-1C65BBDCFC3C}"/>
              </a:ext>
            </a:extLst>
          </p:cNvPr>
          <p:cNvSpPr>
            <a:spLocks xmlns:a="http://schemas.openxmlformats.org/drawingml/2006/main" noGrp="1"/>
          </p:cNvSpPr>
          <p:nvPr/>
        </p:nvSpPr>
        <p:spPr>
          <a:xfrm xmlns:a="http://schemas.openxmlformats.org/drawingml/2006/main">
            <a:off x="8582025" y="9686925"/>
            <a:ext cx="5857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TEST</a:t>
            </a:r>
          </a:p>
        </p:txBody>
      </p:sp>
      <p:sp>
        <p:nvSpPr>
          <p:cNvPr id="76" name="Proteins · biosensors · analytical columns">
            <a:extLst xmlns:a="http://schemas.openxmlformats.org/drawingml/2006/main">
              <a:ext uri="{FF2B5EF4-FFF2-40B4-BE49-F238E27FC236}">
                <a16:creationId xmlns:a16="http://schemas.microsoft.com/office/drawing/2014/main" id="{0671F6BB-7982-4579-A2F2-CC219FA02900}"/>
              </a:ext>
            </a:extLst>
          </p:cNvPr>
          <p:cNvSpPr>
            <a:spLocks xmlns:a="http://schemas.openxmlformats.org/drawingml/2006/main" noGrp="1"/>
          </p:cNvSpPr>
          <p:nvPr/>
        </p:nvSpPr>
        <p:spPr>
          <a:xfrm xmlns:a="http://schemas.openxmlformats.org/drawingml/2006/main">
            <a:off x="8096250" y="10106025"/>
            <a:ext cx="64103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00355F"/>
                </a:solidFill>
                <a:latin typeface="Arial"/>
                <a:ea typeface="Arial"/>
                <a:cs typeface="Arial"/>
              </a:defRPr>
            </a:defPPr>
          </a:lstStyle>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Proteins · biosensors · analytical columns</a:t>
            </a:r>
          </a:p>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Cell assays · measurement platforms</a:t>
            </a:r>
          </a:p>
        </p:txBody>
      </p:sp>
      <p:pic>
        <p:nvPicPr>
          <p:cNvPr id="77" name="">
            <a:extLst xmlns:a="http://schemas.openxmlformats.org/drawingml/2006/main">
              <a:ext uri="{FF2B5EF4-FFF2-40B4-BE49-F238E27FC236}">
                <a16:creationId xmlns:a16="http://schemas.microsoft.com/office/drawing/2014/main" id="{FBDE52E9-B843-49A4-8F2A-C3EE2960EC8D}"/>
              </a:ext>
            </a:extLst>
          </p:cNvPr>
          <p:cNvPicPr>
            <a:picLocks xmlns:a="http://schemas.openxmlformats.org/drawingml/2006/main" noChangeAspect="1"/>
          </p:cNvPicPr>
          <p:nvPr/>
        </p:nvPicPr>
        <p:blipFill>
          <a:blip xmlns:r="http://schemas.openxmlformats.org/officeDocument/2006/relationships" xmlns:a="http://schemas.openxmlformats.org/drawingml/2006/main" r:embed="R835b421986894d6a">
            <a:extLst>
              <a:ext uri="{96DAC541-7B7A-43D3-8B79-37D633B846F1}">
                <asvg:svgBlip xmlns:asvg="http://schemas.microsoft.com/office/drawing/2016/SVG/main" r:embed="R41575b96de064ac1"/>
              </a:ext>
            </a:extLst>
          </a:blip>
          <a:stretch xmlns:a="http://schemas.openxmlformats.org/drawingml/2006/main"/>
        </p:blipFill>
        <p:spPr>
          <a:xfrm xmlns:a="http://schemas.openxmlformats.org/drawingml/2006/main">
            <a:off x="15144750" y="9677400"/>
            <a:ext cx="333375" cy="333375"/>
          </a:xfrm>
          <a:prstGeom xmlns:a="http://schemas.openxmlformats.org/drawingml/2006/main" prst="rect">
            <a:avLst/>
          </a:prstGeom>
        </p:spPr>
      </p:pic>
      <p:sp>
        <p:nvSpPr>
          <p:cNvPr id="78" name="CONNECT + SCALE">
            <a:extLst xmlns:a="http://schemas.openxmlformats.org/drawingml/2006/main">
              <a:ext uri="{FF2B5EF4-FFF2-40B4-BE49-F238E27FC236}">
                <a16:creationId xmlns:a16="http://schemas.microsoft.com/office/drawing/2014/main" id="{65A93120-94C7-4616-B956-56607314E109}"/>
              </a:ext>
            </a:extLst>
          </p:cNvPr>
          <p:cNvSpPr>
            <a:spLocks xmlns:a="http://schemas.openxmlformats.org/drawingml/2006/main" noGrp="1"/>
          </p:cNvSpPr>
          <p:nvPr/>
        </p:nvSpPr>
        <p:spPr>
          <a:xfrm xmlns:a="http://schemas.openxmlformats.org/drawingml/2006/main">
            <a:off x="15630525" y="9686925"/>
            <a:ext cx="5848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CONNECT + SCALE</a:t>
            </a:r>
          </a:p>
        </p:txBody>
      </p:sp>
      <p:sp>
        <p:nvSpPr>
          <p:cNvPr id="79" name="Labware · automation · data platforms">
            <a:extLst xmlns:a="http://schemas.openxmlformats.org/drawingml/2006/main">
              <a:ext uri="{FF2B5EF4-FFF2-40B4-BE49-F238E27FC236}">
                <a16:creationId xmlns:a16="http://schemas.microsoft.com/office/drawing/2014/main" id="{878C0D36-5A53-497E-82A0-B480D46F4B6D}"/>
              </a:ext>
            </a:extLst>
          </p:cNvPr>
          <p:cNvSpPr>
            <a:spLocks xmlns:a="http://schemas.openxmlformats.org/drawingml/2006/main" noGrp="1"/>
          </p:cNvSpPr>
          <p:nvPr/>
        </p:nvSpPr>
        <p:spPr>
          <a:xfrm xmlns:a="http://schemas.openxmlformats.org/drawingml/2006/main">
            <a:off x="15144750" y="10106025"/>
            <a:ext cx="63150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00355F"/>
                </a:solidFill>
                <a:latin typeface="Arial"/>
                <a:ea typeface="Arial"/>
                <a:cs typeface="Arial"/>
              </a:defRPr>
            </a:defPPr>
          </a:lstStyle>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Labware · automation · data platforms</a:t>
            </a:r>
          </a:p>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Comparable records across batches</a:t>
            </a:r>
          </a:p>
        </p:txBody>
      </p:sp>
      <p:sp>
        <p:nvSpPr>
          <p:cNvPr id="80" name="">
            <a:extLst xmlns:a="http://schemas.openxmlformats.org/drawingml/2006/main">
              <a:ext uri="{FF2B5EF4-FFF2-40B4-BE49-F238E27FC236}">
                <a16:creationId xmlns:a16="http://schemas.microsoft.com/office/drawing/2014/main" id="{5F85A6E0-D201-4EBA-B592-65599C456064}"/>
              </a:ext>
            </a:extLst>
          </p:cNvPr>
          <p:cNvSpPr>
            <a:spLocks xmlns:a="http://schemas.openxmlformats.org/drawingml/2006/main" noGrp="1"/>
          </p:cNvSpPr>
          <p:nvPr/>
        </p:nvSpPr>
        <p:spPr>
          <a:xfrm xmlns:a="http://schemas.openxmlformats.org/drawingml/2006/main">
            <a:off x="952500" y="10858500"/>
            <a:ext cx="20955000" cy="752475"/>
          </a:xfrm>
          <a:prstGeom xmlns:a="http://schemas.openxmlformats.org/drawingml/2006/main" prst="roundRect">
            <a:avLst>
              <a:gd name="adj" fmla="val 11392"/>
            </a:avLst>
          </a:prstGeom>
          <a:solidFill xmlns:a="http://schemas.openxmlformats.org/drawingml/2006/main">
            <a:srgbClr val="00355F"/>
          </a:solidFill>
          <a:ln xmlns:a="http://schemas.openxmlformats.org/drawingml/2006/main" w="9525">
            <a:noFill/>
          </a:ln>
        </p:spPr>
      </p:sp>
      <p:sp>
        <p:nvSpPr>
          <p:cNvPr id="81" name="The pace of improvement depends on useful experimental evidence per cycle">
            <a:extLst xmlns:a="http://schemas.openxmlformats.org/drawingml/2006/main">
              <a:ext uri="{FF2B5EF4-FFF2-40B4-BE49-F238E27FC236}">
                <a16:creationId xmlns:a16="http://schemas.microsoft.com/office/drawing/2014/main" id="{5B1C7FD4-97B5-4945-A85D-2586EA2B5681}"/>
              </a:ext>
            </a:extLst>
          </p:cNvPr>
          <p:cNvSpPr>
            <a:spLocks xmlns:a="http://schemas.openxmlformats.org/drawingml/2006/main" noGrp="1"/>
          </p:cNvSpPr>
          <p:nvPr/>
        </p:nvSpPr>
        <p:spPr>
          <a:xfrm xmlns:a="http://schemas.openxmlformats.org/drawingml/2006/main">
            <a:off x="1247775" y="11058525"/>
            <a:ext cx="20364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400" b="1">
                <a:solidFill>
                  <a:srgbClr val="FFFFFF"/>
                </a:solidFill>
                <a:latin typeface="Arial"/>
                <a:ea typeface="Arial"/>
                <a:cs typeface="Arial"/>
              </a:defRPr>
            </a:defPPr>
          </a:lstStyle>
          <a:p xmlns:a="http://schemas.openxmlformats.org/drawingml/2006/main">
            <a:pPr algn="ctr">
              <a:lnSpc>
                <a:spcPct val="100000"/>
              </a:lnSpc>
              <a:buNone/>
              <a:defRPr sz="2400" b="1">
                <a:solidFill>
                  <a:srgbClr val="FFFFFF"/>
                </a:solidFill>
                <a:latin typeface="Arial"/>
                <a:ea typeface="Arial"/>
                <a:cs typeface="Arial"/>
              </a:defRPr>
            </a:pPr>
            <a:r>
              <a:rPr sz="2400" b="1">
                <a:solidFill>
                  <a:srgbClr val="FFFFFF"/>
                </a:solidFill>
                <a:latin typeface="Arial"/>
                <a:ea typeface="Arial"/>
                <a:cs typeface="Arial"/>
              </a:rPr>
              <a:t>The pace of improvement depends on useful experimental evidence per cycle</a:t>
            </a:r>
          </a:p>
        </p:txBody>
      </p:sp>
      <p:sp>
        <p:nvSpPr>
          <p:cNvPr id="82" name="Potential LST demand ∝ funded cycles × assay depth × net inputs per assay">
            <a:extLst xmlns:a="http://schemas.openxmlformats.org/drawingml/2006/main">
              <a:ext uri="{FF2B5EF4-FFF2-40B4-BE49-F238E27FC236}">
                <a16:creationId xmlns:a16="http://schemas.microsoft.com/office/drawing/2014/main" id="{E62DE3D1-A4C5-42D5-B00E-87AA6046DF1C}"/>
              </a:ext>
            </a:extLst>
          </p:cNvPr>
          <p:cNvSpPr>
            <a:spLocks xmlns:a="http://schemas.openxmlformats.org/drawingml/2006/main" noGrp="1"/>
          </p:cNvSpPr>
          <p:nvPr/>
        </p:nvSpPr>
        <p:spPr>
          <a:xfrm xmlns:a="http://schemas.openxmlformats.org/drawingml/2006/main">
            <a:off x="952500" y="11811000"/>
            <a:ext cx="20955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75" b="1">
                <a:solidFill>
                  <a:srgbClr val="00355F"/>
                </a:solidFill>
                <a:latin typeface="Arial"/>
                <a:ea typeface="Arial"/>
                <a:cs typeface="Arial"/>
              </a:defRPr>
            </a:defPPr>
          </a:lstStyle>
          <a:p xmlns:a="http://schemas.openxmlformats.org/drawingml/2006/main">
            <a:pPr algn="l">
              <a:lnSpc>
                <a:spcPct val="100000"/>
              </a:lnSpc>
              <a:buNone/>
              <a:defRPr sz="2175" b="1">
                <a:solidFill>
                  <a:srgbClr val="00355F"/>
                </a:solidFill>
                <a:latin typeface="Arial"/>
                <a:ea typeface="Arial"/>
                <a:cs typeface="Arial"/>
              </a:defRPr>
            </a:pPr>
            <a:r>
              <a:rPr sz="2175" b="1">
                <a:solidFill>
                  <a:srgbClr val="00355F"/>
                </a:solidFill>
                <a:latin typeface="Arial"/>
                <a:ea typeface="Arial"/>
                <a:cs typeface="Arial"/>
              </a:rPr>
              <a:t>Potential LST demand ∝ funded cycles × assay depth × net inputs per assay</a:t>
            </a:r>
          </a:p>
        </p:txBody>
      </p:sp>
      <p:sp>
        <p:nvSpPr>
          <p:cNvPr id="83" name="Automation and miniaturization can reduce inputs per measurement; instrument CAPEX is separate.">
            <a:extLst xmlns:a="http://schemas.openxmlformats.org/drawingml/2006/main">
              <a:ext uri="{FF2B5EF4-FFF2-40B4-BE49-F238E27FC236}">
                <a16:creationId xmlns:a16="http://schemas.microsoft.com/office/drawing/2014/main" id="{531E7CDF-3198-4759-B5DE-685DAB9E6A8E}"/>
              </a:ext>
            </a:extLst>
          </p:cNvPr>
          <p:cNvSpPr>
            <a:spLocks xmlns:a="http://schemas.openxmlformats.org/drawingml/2006/main" noGrp="1"/>
          </p:cNvSpPr>
          <p:nvPr/>
        </p:nvSpPr>
        <p:spPr>
          <a:xfrm xmlns:a="http://schemas.openxmlformats.org/drawingml/2006/main">
            <a:off x="952500" y="12239625"/>
            <a:ext cx="2095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Automation and miniaturization can reduce inputs per measurement; instrument CAPEX is separate.</a:t>
            </a:r>
          </a:p>
        </p:txBody>
      </p:sp>
      <p:sp>
        <p:nvSpPr>
          <p:cNvPr id="84" name="Conceptual RSI mechanism. Closed-loop learning does not establish sustained autonomous RSI. Primary sources: SOURCES.md.">
            <a:extLst xmlns:a="http://schemas.openxmlformats.org/drawingml/2006/main">
              <a:ext uri="{FF2B5EF4-FFF2-40B4-BE49-F238E27FC236}">
                <a16:creationId xmlns:a16="http://schemas.microsoft.com/office/drawing/2014/main" id="{193A0866-974B-4595-BBFC-E1AAC8DFF244}"/>
              </a:ext>
            </a:extLst>
          </p:cNvPr>
          <p:cNvSpPr>
            <a:spLocks xmlns:a="http://schemas.openxmlformats.org/drawingml/2006/main" noGrp="1"/>
          </p:cNvSpPr>
          <p:nvPr/>
        </p:nvSpPr>
        <p:spPr>
          <a:xfrm xmlns:a="http://schemas.openxmlformats.org/drawingml/2006/main">
            <a:off x="952500" y="12601575"/>
            <a:ext cx="2095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0">
                <a:solidFill>
                  <a:srgbClr val="00355F"/>
                </a:solidFill>
                <a:latin typeface="Arial"/>
                <a:ea typeface="Arial"/>
                <a:cs typeface="Arial"/>
              </a:defRPr>
            </a:defPPr>
          </a:lstStyle>
          <a:p xmlns:a="http://schemas.openxmlformats.org/drawingml/2006/main">
            <a:pPr algn="l">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Conceptual RSI mechanism. Closed-loop learning does not establish sustained autonomous RSI. Primary sources: SOURCES.md.</a:t>
            </a:r>
          </a:p>
        </p:txBody>
      </p:sp>
    </p:spTree>
    <p:extLst>
      <p:ext uri="{BB962C8B-B14F-4D97-AF65-F5344CB8AC3E}">
        <p14:creationId xmlns:p14="http://schemas.microsoft.com/office/powerpoint/2010/main" val="16750594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2026-10-13T06:02:40.0370000Z</dcterms:created>
  <dcterms:modified xsi:type="dcterms:W3CDTF">2026-10-13T06:02:40.0370000Z</dcterms:modified>
</coreProperties>
</file>