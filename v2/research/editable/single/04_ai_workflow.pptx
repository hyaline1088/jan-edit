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93d9cf3f754b25" /><Relationship Type="http://schemas.openxmlformats.org/officeDocument/2006/relationships/extended-properties" Target="/docProps/app.xml" Id="Ra96a02b3193749b3" /><Relationship Type="http://schemas.openxmlformats.org/officeDocument/2006/relationships/officeDocument" Target="/ppt/presentation.xml" Id="R6f77c25b013b452d" /></Relationships>
</file>

<file path=ppt/presentation.xml><?xml version="1.0" encoding="utf-8"?>
<p:presentation xmlns:p="http://schemas.openxmlformats.org/presentationml/2006/main">
  <p:sldMasterIdLst>
    <p:sldMasterId xmlns:r="http://schemas.openxmlformats.org/officeDocument/2006/relationships" id="2147483648" r:id="R3f62e370f6dd4c9d"/>
  </p:sldMasterIdLst>
  <p:notesMasterIdLst>
    <p:notesMasterId xmlns:r="http://schemas.openxmlformats.org/officeDocument/2006/relationships" r:id="Rd12b556b570f4f61"/>
  </p:notesMasterIdLst>
  <p:sldIdLst>
    <p:sldId xmlns:r="http://schemas.openxmlformats.org/officeDocument/2006/relationships" id="256" r:id="R7b9ae5df50b445c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891a0ffadf44f2" /><Relationship Type="http://schemas.openxmlformats.org/officeDocument/2006/relationships/slideMaster" Target="/ppt/slideMasters/slideMaster1.xml" Id="R3f62e370f6dd4c9d" /><Relationship Type="http://schemas.openxmlformats.org/officeDocument/2006/relationships/notesMaster" Target="/ppt/notesMasters/notesMaster1.xml" Id="Rd12b556b570f4f61" /><Relationship Type="http://schemas.openxmlformats.org/officeDocument/2006/relationships/presProps" Target="/ppt/presProps.xml" Id="R4ff5e7aef5d548f5" /><Relationship Type="http://schemas.openxmlformats.org/officeDocument/2006/relationships/tableStyles" Target="/ppt/tableStyles.xml" Id="Rf2fe6fd7f63f4c5d" /><Relationship Type="http://schemas.openxmlformats.org/officeDocument/2006/relationships/slide" Target="/ppt/slides/slide1.xml" Id="R7b9ae5df50b445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b0427a5abe4b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614f9ade5b41be" /><Relationship Type="http://schemas.openxmlformats.org/officeDocument/2006/relationships/notesMaster" Target="/ppt/notesMasters/notesMaster1.xml" Id="Rfb9e2b4afe38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AI discovery and its LST touchpoints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f785aaec934e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3ad7ac9d5343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742adfe70148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b5c0f0d08443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e0e340b64d49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65b20a93ae048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4B83A0-09A3-4FEF-BED1-91F4F6EC598D}"/>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27ED62F-A26A-4B02-9977-44A221FE204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C5D465-0DB3-492B-BDED-914A8B179FE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C0EAB4-7F12-4015-9B6D-96A0FAC6F15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4CABBE-B501-4C05-A776-B0D0671CC626}"/>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5DF615-7C56-41F2-86D4-2A107540C9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6C856D-0567-42BE-959A-E52B6A289B3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A74224-2A3C-4429-8210-27B5C2B15AE0}"/>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80D093-E26B-4F28-A2A0-2B710C9F382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DF9D0-C90B-4E92-8F3F-0E23D1FA79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e2b2ca4c374406" /><Relationship Type="http://schemas.openxmlformats.org/officeDocument/2006/relationships/slideLayout" Target="/ppt/slideLayouts/slideLayout1.xml" Id="Rf6651af342414fa0" /><Relationship Type="http://schemas.openxmlformats.org/officeDocument/2006/relationships/slideLayout" Target="/ppt/slideLayouts/slideLayout2.xml" Id="Ra2ade41e5ff945f0" /><Relationship Type="http://schemas.openxmlformats.org/officeDocument/2006/relationships/slideLayout" Target="/ppt/slideLayouts/slideLayout3.xml" Id="Raa5db4e10bb543b7" /><Relationship Type="http://schemas.openxmlformats.org/officeDocument/2006/relationships/slideLayout" Target="/ppt/slideLayouts/slideLayout4.xml" Id="Rfc010804213c437b" /><Relationship Type="http://schemas.openxmlformats.org/officeDocument/2006/relationships/slideLayout" Target="/ppt/slideLayouts/slideLayout5.xml" Id="Rcbc8122a058c4df5" /><Relationship Type="http://schemas.openxmlformats.org/officeDocument/2006/relationships/slideLayout" Target="/ppt/slideLayouts/slideLayout6.xml" Id="R7a13bf70a8dc46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651af342414fa0"/>
    <p:sldLayoutId xmlns:r="http://schemas.openxmlformats.org/officeDocument/2006/relationships" id="2147483650" r:id="Ra2ade41e5ff945f0"/>
    <p:sldLayoutId xmlns:r="http://schemas.openxmlformats.org/officeDocument/2006/relationships" id="2147483651" r:id="Raa5db4e10bb543b7"/>
    <p:sldLayoutId xmlns:r="http://schemas.openxmlformats.org/officeDocument/2006/relationships" id="2147483652" r:id="Rfc010804213c437b"/>
    <p:sldLayoutId xmlns:r="http://schemas.openxmlformats.org/officeDocument/2006/relationships" id="2147483653" r:id="Rcbc8122a058c4df5"/>
    <p:sldLayoutId xmlns:r="http://schemas.openxmlformats.org/officeDocument/2006/relationships" id="2147483654" r:id="R7a13bf70a8dc46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f736c2f9bd44442" /><Relationship Type="http://schemas.openxmlformats.org/officeDocument/2006/relationships/image" Target="/ppt/media/image.png" Id="R7565c375beba426d" /><Relationship Type="http://schemas.openxmlformats.org/officeDocument/2006/relationships/notesSlide" Target="/ppt/notesSlides/notesSlide1.xml" Id="R8c2cb969ca32455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DDD0CF9F-60CE-4922-8731-685462354F39}"/>
              </a:ext>
            </a:extLst>
          </p:cNvPr>
          <p:cNvPicPr>
            <a:picLocks xmlns:a="http://schemas.openxmlformats.org/drawingml/2006/main" noChangeAspect="1"/>
          </p:cNvPicPr>
          <p:nvPr/>
        </p:nvPicPr>
        <p:blipFill>
          <a:blip xmlns:r="http://schemas.openxmlformats.org/officeDocument/2006/relationships" xmlns:a="http://schemas.openxmlformats.org/drawingml/2006/main" r:embed="R7565c375beba426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4 label 1 line 1">
            <a:extLst xmlns:a="http://schemas.openxmlformats.org/drawingml/2006/main">
              <a:ext uri="{FF2B5EF4-FFF2-40B4-BE49-F238E27FC236}">
                <a16:creationId xmlns:a16="http://schemas.microsoft.com/office/drawing/2014/main" id="{B6261655-1E27-4AC2-B60B-8D3C2E6BD767}"/>
              </a:ext>
            </a:extLst>
          </p:cNvPr>
          <p:cNvSpPr>
            <a:spLocks xmlns:a="http://schemas.openxmlformats.org/drawingml/2006/main" noGrp="1"/>
          </p:cNvSpPr>
          <p:nvPr/>
        </p:nvSpPr>
        <p:spPr>
          <a:xfrm xmlns:a="http://schemas.openxmlformats.org/drawingml/2006/main" rot="0">
            <a:off x="991870" y="421920"/>
            <a:ext cx="63605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04  AI discovery and its LST touchpoints</a:t>
            </a:r>
          </a:p>
        </p:txBody>
      </p:sp>
      <p:sp>
        <p:nvSpPr>
          <p:cNvPr id="3" name="Figure 4 label 2 line 1">
            <a:extLst xmlns:a="http://schemas.openxmlformats.org/drawingml/2006/main">
              <a:ext uri="{FF2B5EF4-FFF2-40B4-BE49-F238E27FC236}">
                <a16:creationId xmlns:a16="http://schemas.microsoft.com/office/drawing/2014/main" id="{60E5D036-C612-4CD2-B554-BA22A79D5ACE}"/>
              </a:ext>
            </a:extLst>
          </p:cNvPr>
          <p:cNvSpPr>
            <a:spLocks xmlns:a="http://schemas.openxmlformats.org/drawingml/2006/main" noGrp="1"/>
          </p:cNvSpPr>
          <p:nvPr/>
        </p:nvSpPr>
        <p:spPr>
          <a:xfrm xmlns:a="http://schemas.openxmlformats.org/drawingml/2006/main" rot="0">
            <a:off x="15720815" y="661601"/>
            <a:ext cx="1019572"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MECHANISM</a:t>
            </a:r>
          </a:p>
        </p:txBody>
      </p:sp>
      <p:sp>
        <p:nvSpPr>
          <p:cNvPr id="4" name="Figure 4 label 3 line 1">
            <a:extLst xmlns:a="http://schemas.openxmlformats.org/drawingml/2006/main">
              <a:ext uri="{FF2B5EF4-FFF2-40B4-BE49-F238E27FC236}">
                <a16:creationId xmlns:a16="http://schemas.microsoft.com/office/drawing/2014/main" id="{210B0D71-AF11-4E55-8BD4-6D3D1547DFAA}"/>
              </a:ext>
            </a:extLst>
          </p:cNvPr>
          <p:cNvSpPr>
            <a:spLocks xmlns:a="http://schemas.openxmlformats.org/drawingml/2006/main" noGrp="1"/>
          </p:cNvSpPr>
          <p:nvPr/>
        </p:nvSpPr>
        <p:spPr>
          <a:xfrm xmlns:a="http://schemas.openxmlformats.org/drawingml/2006/main" rot="0">
            <a:off x="998220" y="1249487"/>
            <a:ext cx="89664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AI candidates need physical construction and experimental feedback. Orders depend on funded projects.</a:t>
            </a:r>
          </a:p>
        </p:txBody>
      </p:sp>
      <p:sp>
        <p:nvSpPr>
          <p:cNvPr id="5" name="Figure 4 label 4 line 1">
            <a:extLst xmlns:a="http://schemas.openxmlformats.org/drawingml/2006/main">
              <a:ext uri="{FF2B5EF4-FFF2-40B4-BE49-F238E27FC236}">
                <a16:creationId xmlns:a16="http://schemas.microsoft.com/office/drawing/2014/main" id="{C619D02A-1957-4B8F-BF17-88512877079D}"/>
              </a:ext>
            </a:extLst>
          </p:cNvPr>
          <p:cNvSpPr>
            <a:spLocks xmlns:a="http://schemas.openxmlformats.org/drawingml/2006/main" noGrp="1"/>
          </p:cNvSpPr>
          <p:nvPr/>
        </p:nvSpPr>
        <p:spPr>
          <a:xfrm xmlns:a="http://schemas.openxmlformats.org/drawingml/2006/main" rot="0">
            <a:off x="999173" y="9256035"/>
            <a:ext cx="770617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Stages 2–3 have more direct exposure. Clinical and manufacturing demand face attrition and time lags.</a:t>
            </a:r>
          </a:p>
        </p:txBody>
      </p:sp>
      <p:sp>
        <p:nvSpPr>
          <p:cNvPr id="6" name="Figure 4 label 5 line 1">
            <a:extLst xmlns:a="http://schemas.openxmlformats.org/drawingml/2006/main">
              <a:ext uri="{FF2B5EF4-FFF2-40B4-BE49-F238E27FC236}">
                <a16:creationId xmlns:a16="http://schemas.microsoft.com/office/drawing/2014/main" id="{AEBB326B-4D41-4737-813A-A8A61E73E236}"/>
              </a:ext>
            </a:extLst>
          </p:cNvPr>
          <p:cNvSpPr>
            <a:spLocks xmlns:a="http://schemas.openxmlformats.org/drawingml/2006/main" noGrp="1"/>
          </p:cNvSpPr>
          <p:nvPr/>
        </p:nvSpPr>
        <p:spPr>
          <a:xfrm xmlns:a="http://schemas.openxmlformats.org/drawingml/2006/main" rot="0">
            <a:off x="1000316" y="9676290"/>
            <a:ext cx="6595050"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product-use research. Arrows describe a mechanism, not realized orders.</a:t>
            </a:r>
          </a:p>
        </p:txBody>
      </p:sp>
      <p:sp>
        <p:nvSpPr>
          <p:cNvPr id="7" name="Figure 4 label 6 line 1">
            <a:extLst xmlns:a="http://schemas.openxmlformats.org/drawingml/2006/main">
              <a:ext uri="{FF2B5EF4-FFF2-40B4-BE49-F238E27FC236}">
                <a16:creationId xmlns:a16="http://schemas.microsoft.com/office/drawing/2014/main" id="{56615DB7-402C-4CF2-92F7-32981D35B5CF}"/>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4 label 7 line 1">
            <a:extLst xmlns:a="http://schemas.openxmlformats.org/drawingml/2006/main">
              <a:ext uri="{FF2B5EF4-FFF2-40B4-BE49-F238E27FC236}">
                <a16:creationId xmlns:a16="http://schemas.microsoft.com/office/drawing/2014/main" id="{18E1D90D-F870-4AAF-8295-9B5BF387BF4C}"/>
              </a:ext>
            </a:extLst>
          </p:cNvPr>
          <p:cNvSpPr>
            <a:spLocks xmlns:a="http://schemas.openxmlformats.org/drawingml/2006/main" noGrp="1"/>
          </p:cNvSpPr>
          <p:nvPr/>
        </p:nvSpPr>
        <p:spPr>
          <a:xfrm xmlns:a="http://schemas.openxmlformats.org/drawingml/2006/main" rot="0">
            <a:off x="105422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0</a:t>
            </a:r>
          </a:p>
        </p:txBody>
      </p:sp>
      <p:sp>
        <p:nvSpPr>
          <p:cNvPr id="9" name="Figure 4 label 8 line 1">
            <a:extLst xmlns:a="http://schemas.openxmlformats.org/drawingml/2006/main">
              <a:ext uri="{FF2B5EF4-FFF2-40B4-BE49-F238E27FC236}">
                <a16:creationId xmlns:a16="http://schemas.microsoft.com/office/drawing/2014/main" id="{26801F0B-3E03-477E-BDF6-E132AD842FA2}"/>
              </a:ext>
            </a:extLst>
          </p:cNvPr>
          <p:cNvSpPr>
            <a:spLocks xmlns:a="http://schemas.openxmlformats.org/drawingml/2006/main" noGrp="1"/>
          </p:cNvSpPr>
          <p:nvPr/>
        </p:nvSpPr>
        <p:spPr>
          <a:xfrm xmlns:a="http://schemas.openxmlformats.org/drawingml/2006/main" rot="0">
            <a:off x="1372985" y="3438342"/>
            <a:ext cx="1478558"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Data / targets</a:t>
            </a:r>
          </a:p>
        </p:txBody>
      </p:sp>
      <p:sp>
        <p:nvSpPr>
          <p:cNvPr id="10" name="Figure 4 label 9 line 1">
            <a:extLst xmlns:a="http://schemas.openxmlformats.org/drawingml/2006/main">
              <a:ext uri="{FF2B5EF4-FFF2-40B4-BE49-F238E27FC236}">
                <a16:creationId xmlns:a16="http://schemas.microsoft.com/office/drawing/2014/main" id="{029282A4-6A70-4787-BE48-69919446E7A2}"/>
              </a:ext>
            </a:extLst>
          </p:cNvPr>
          <p:cNvSpPr>
            <a:spLocks xmlns:a="http://schemas.openxmlformats.org/drawingml/2006/main" noGrp="1"/>
          </p:cNvSpPr>
          <p:nvPr/>
        </p:nvSpPr>
        <p:spPr>
          <a:xfrm xmlns:a="http://schemas.openxmlformats.org/drawingml/2006/main" rot="0">
            <a:off x="998982" y="5252960"/>
            <a:ext cx="199858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proteomics</a:t>
            </a:r>
          </a:p>
        </p:txBody>
      </p:sp>
      <p:sp>
        <p:nvSpPr>
          <p:cNvPr id="11" name="Figure 4 label 10 line 1">
            <a:extLst xmlns:a="http://schemas.openxmlformats.org/drawingml/2006/main">
              <a:ext uri="{FF2B5EF4-FFF2-40B4-BE49-F238E27FC236}">
                <a16:creationId xmlns:a16="http://schemas.microsoft.com/office/drawing/2014/main" id="{419ABFC7-91EE-4128-BAB4-140AB94D9AC8}"/>
              </a:ext>
            </a:extLst>
          </p:cNvPr>
          <p:cNvSpPr>
            <a:spLocks xmlns:a="http://schemas.openxmlformats.org/drawingml/2006/main" noGrp="1"/>
          </p:cNvSpPr>
          <p:nvPr/>
        </p:nvSpPr>
        <p:spPr>
          <a:xfrm xmlns:a="http://schemas.openxmlformats.org/drawingml/2006/main" rot="0">
            <a:off x="998982" y="5551066"/>
            <a:ext cx="15503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CRISPR screening</a:t>
            </a:r>
          </a:p>
        </p:txBody>
      </p:sp>
      <p:sp>
        <p:nvSpPr>
          <p:cNvPr id="12" name="Figure 4 label 11 line 1">
            <a:extLst xmlns:a="http://schemas.openxmlformats.org/drawingml/2006/main">
              <a:ext uri="{FF2B5EF4-FFF2-40B4-BE49-F238E27FC236}">
                <a16:creationId xmlns:a16="http://schemas.microsoft.com/office/drawing/2014/main" id="{B41C63F3-0D41-45A5-A940-6823B6DE2F29}"/>
              </a:ext>
            </a:extLst>
          </p:cNvPr>
          <p:cNvSpPr>
            <a:spLocks xmlns:a="http://schemas.openxmlformats.org/drawingml/2006/main" noGrp="1"/>
          </p:cNvSpPr>
          <p:nvPr/>
        </p:nvSpPr>
        <p:spPr>
          <a:xfrm xmlns:a="http://schemas.openxmlformats.org/drawingml/2006/main" rot="0">
            <a:off x="998982" y="5844784"/>
            <a:ext cx="202700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Research data resources</a:t>
            </a:r>
          </a:p>
        </p:txBody>
      </p:sp>
      <p:sp>
        <p:nvSpPr>
          <p:cNvPr id="13" name="Figure 4 label 12 line 1">
            <a:extLst xmlns:a="http://schemas.openxmlformats.org/drawingml/2006/main">
              <a:ext uri="{FF2B5EF4-FFF2-40B4-BE49-F238E27FC236}">
                <a16:creationId xmlns:a16="http://schemas.microsoft.com/office/drawing/2014/main" id="{61D1C664-29DC-465B-832F-CE1CEDC61AE6}"/>
              </a:ext>
            </a:extLst>
          </p:cNvPr>
          <p:cNvSpPr>
            <a:spLocks xmlns:a="http://schemas.openxmlformats.org/drawingml/2006/main" noGrp="1"/>
          </p:cNvSpPr>
          <p:nvPr/>
        </p:nvSpPr>
        <p:spPr>
          <a:xfrm xmlns:a="http://schemas.openxmlformats.org/drawingml/2006/main" rot="0">
            <a:off x="1581196" y="6998393"/>
            <a:ext cx="106213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Generate data</a:t>
            </a:r>
          </a:p>
        </p:txBody>
      </p:sp>
      <p:sp>
        <p:nvSpPr>
          <p:cNvPr id="14" name="Figure 4 label 13 line 1">
            <a:extLst xmlns:a="http://schemas.openxmlformats.org/drawingml/2006/main">
              <a:ext uri="{FF2B5EF4-FFF2-40B4-BE49-F238E27FC236}">
                <a16:creationId xmlns:a16="http://schemas.microsoft.com/office/drawing/2014/main" id="{1124431E-953E-453F-8291-2C4D9F12E8FB}"/>
              </a:ext>
            </a:extLst>
          </p:cNvPr>
          <p:cNvSpPr>
            <a:spLocks xmlns:a="http://schemas.openxmlformats.org/drawingml/2006/main" noGrp="1"/>
          </p:cNvSpPr>
          <p:nvPr/>
        </p:nvSpPr>
        <p:spPr>
          <a:xfrm xmlns:a="http://schemas.openxmlformats.org/drawingml/2006/main" rot="0">
            <a:off x="3870579"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1</a:t>
            </a:r>
          </a:p>
        </p:txBody>
      </p:sp>
      <p:sp>
        <p:nvSpPr>
          <p:cNvPr id="15" name="Figure 4 label 14 line 1">
            <a:extLst xmlns:a="http://schemas.openxmlformats.org/drawingml/2006/main">
              <a:ext uri="{FF2B5EF4-FFF2-40B4-BE49-F238E27FC236}">
                <a16:creationId xmlns:a16="http://schemas.microsoft.com/office/drawing/2014/main" id="{F6784492-291E-4EAA-8285-01C028FCBDC2}"/>
              </a:ext>
            </a:extLst>
          </p:cNvPr>
          <p:cNvSpPr>
            <a:spLocks xmlns:a="http://schemas.openxmlformats.org/drawingml/2006/main" noGrp="1"/>
          </p:cNvSpPr>
          <p:nvPr/>
        </p:nvSpPr>
        <p:spPr>
          <a:xfrm xmlns:a="http://schemas.openxmlformats.org/drawingml/2006/main" rot="0">
            <a:off x="4183160" y="3438342"/>
            <a:ext cx="1490911"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Virtual design</a:t>
            </a:r>
          </a:p>
        </p:txBody>
      </p:sp>
      <p:sp>
        <p:nvSpPr>
          <p:cNvPr id="16" name="Figure 4 label 15 line 1">
            <a:extLst xmlns:a="http://schemas.openxmlformats.org/drawingml/2006/main">
              <a:ext uri="{FF2B5EF4-FFF2-40B4-BE49-F238E27FC236}">
                <a16:creationId xmlns:a16="http://schemas.microsoft.com/office/drawing/2014/main" id="{9A9D704B-6FF5-4025-8A1D-9DFFC6313251}"/>
              </a:ext>
            </a:extLst>
          </p:cNvPr>
          <p:cNvSpPr>
            <a:spLocks xmlns:a="http://schemas.openxmlformats.org/drawingml/2006/main" noGrp="1"/>
          </p:cNvSpPr>
          <p:nvPr/>
        </p:nvSpPr>
        <p:spPr>
          <a:xfrm xmlns:a="http://schemas.openxmlformats.org/drawingml/2006/main" rot="0">
            <a:off x="3815334" y="5251915"/>
            <a:ext cx="21698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Models / compute / ranking</a:t>
            </a:r>
          </a:p>
        </p:txBody>
      </p:sp>
      <p:sp>
        <p:nvSpPr>
          <p:cNvPr id="17" name="Figure 4 label 16 line 1">
            <a:extLst xmlns:a="http://schemas.openxmlformats.org/drawingml/2006/main">
              <a:ext uri="{FF2B5EF4-FFF2-40B4-BE49-F238E27FC236}">
                <a16:creationId xmlns:a16="http://schemas.microsoft.com/office/drawing/2014/main" id="{F05F301C-089B-4388-A91D-07B97EDF3D10}"/>
              </a:ext>
            </a:extLst>
          </p:cNvPr>
          <p:cNvSpPr>
            <a:spLocks xmlns:a="http://schemas.openxmlformats.org/drawingml/2006/main" noGrp="1"/>
          </p:cNvSpPr>
          <p:nvPr/>
        </p:nvSpPr>
        <p:spPr>
          <a:xfrm xmlns:a="http://schemas.openxmlformats.org/drawingml/2006/main" rot="0">
            <a:off x="3815334" y="5545633"/>
            <a:ext cx="196985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Less direct LST demand</a:t>
            </a:r>
          </a:p>
        </p:txBody>
      </p:sp>
      <p:sp>
        <p:nvSpPr>
          <p:cNvPr id="18" name="Figure 4 label 17 line 1">
            <a:extLst xmlns:a="http://schemas.openxmlformats.org/drawingml/2006/main">
              <a:ext uri="{FF2B5EF4-FFF2-40B4-BE49-F238E27FC236}">
                <a16:creationId xmlns:a16="http://schemas.microsoft.com/office/drawing/2014/main" id="{28A15BD5-88C1-4E0C-A2C7-94CC3D5BD579}"/>
              </a:ext>
            </a:extLst>
          </p:cNvPr>
          <p:cNvSpPr>
            <a:spLocks xmlns:a="http://schemas.openxmlformats.org/drawingml/2006/main" noGrp="1"/>
          </p:cNvSpPr>
          <p:nvPr/>
        </p:nvSpPr>
        <p:spPr>
          <a:xfrm xmlns:a="http://schemas.openxmlformats.org/drawingml/2006/main" rot="0">
            <a:off x="3815334" y="5841891"/>
            <a:ext cx="136963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Candidate triage</a:t>
            </a:r>
          </a:p>
        </p:txBody>
      </p:sp>
      <p:sp>
        <p:nvSpPr>
          <p:cNvPr id="19" name="Figure 4 label 18 line 1">
            <a:extLst xmlns:a="http://schemas.openxmlformats.org/drawingml/2006/main">
              <a:ext uri="{FF2B5EF4-FFF2-40B4-BE49-F238E27FC236}">
                <a16:creationId xmlns:a16="http://schemas.microsoft.com/office/drawing/2014/main" id="{48739B74-93D8-4131-AA5B-11FCCF5B4845}"/>
              </a:ext>
            </a:extLst>
          </p:cNvPr>
          <p:cNvSpPr>
            <a:spLocks xmlns:a="http://schemas.openxmlformats.org/drawingml/2006/main" noGrp="1"/>
          </p:cNvSpPr>
          <p:nvPr/>
        </p:nvSpPr>
        <p:spPr>
          <a:xfrm xmlns:a="http://schemas.openxmlformats.org/drawingml/2006/main" rot="0">
            <a:off x="4259286" y="6997580"/>
            <a:ext cx="133865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Design candidates</a:t>
            </a:r>
          </a:p>
        </p:txBody>
      </p:sp>
      <p:sp>
        <p:nvSpPr>
          <p:cNvPr id="20" name="Figure 4 label 19 line 1">
            <a:extLst xmlns:a="http://schemas.openxmlformats.org/drawingml/2006/main">
              <a:ext uri="{FF2B5EF4-FFF2-40B4-BE49-F238E27FC236}">
                <a16:creationId xmlns:a16="http://schemas.microsoft.com/office/drawing/2014/main" id="{D88F5D92-57D9-496D-B71C-E1214A183AE5}"/>
              </a:ext>
            </a:extLst>
          </p:cNvPr>
          <p:cNvSpPr>
            <a:spLocks xmlns:a="http://schemas.openxmlformats.org/drawingml/2006/main" noGrp="1"/>
          </p:cNvSpPr>
          <p:nvPr/>
        </p:nvSpPr>
        <p:spPr>
          <a:xfrm xmlns:a="http://schemas.openxmlformats.org/drawingml/2006/main" rot="0">
            <a:off x="6686931"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2</a:t>
            </a:r>
          </a:p>
        </p:txBody>
      </p:sp>
      <p:sp>
        <p:nvSpPr>
          <p:cNvPr id="21" name="Figure 4 label 20 line 1">
            <a:extLst xmlns:a="http://schemas.openxmlformats.org/drawingml/2006/main">
              <a:ext uri="{FF2B5EF4-FFF2-40B4-BE49-F238E27FC236}">
                <a16:creationId xmlns:a16="http://schemas.microsoft.com/office/drawing/2014/main" id="{2657A84E-9F1C-43F3-8923-64950FA0ED2A}"/>
              </a:ext>
            </a:extLst>
          </p:cNvPr>
          <p:cNvSpPr>
            <a:spLocks xmlns:a="http://schemas.openxmlformats.org/drawingml/2006/main" noGrp="1"/>
          </p:cNvSpPr>
          <p:nvPr/>
        </p:nvSpPr>
        <p:spPr>
          <a:xfrm xmlns:a="http://schemas.openxmlformats.org/drawingml/2006/main" rot="0">
            <a:off x="6993337" y="3438342"/>
            <a:ext cx="150326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Physical build</a:t>
            </a:r>
          </a:p>
        </p:txBody>
      </p:sp>
      <p:sp>
        <p:nvSpPr>
          <p:cNvPr id="22" name="Figure 4 label 21 line 1">
            <a:extLst xmlns:a="http://schemas.openxmlformats.org/drawingml/2006/main">
              <a:ext uri="{FF2B5EF4-FFF2-40B4-BE49-F238E27FC236}">
                <a16:creationId xmlns:a16="http://schemas.microsoft.com/office/drawing/2014/main" id="{17779000-796B-41FE-8BE0-0AB0B7F1ED4B}"/>
              </a:ext>
            </a:extLst>
          </p:cNvPr>
          <p:cNvSpPr>
            <a:spLocks xmlns:a="http://schemas.openxmlformats.org/drawingml/2006/main" noGrp="1"/>
          </p:cNvSpPr>
          <p:nvPr/>
        </p:nvSpPr>
        <p:spPr>
          <a:xfrm xmlns:a="http://schemas.openxmlformats.org/drawingml/2006/main" rot="0">
            <a:off x="6631686" y="5253185"/>
            <a:ext cx="176001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Building blocks / DNA</a:t>
            </a:r>
          </a:p>
        </p:txBody>
      </p:sp>
      <p:sp>
        <p:nvSpPr>
          <p:cNvPr id="23" name="Figure 4 label 22 line 1">
            <a:extLst xmlns:a="http://schemas.openxmlformats.org/drawingml/2006/main">
              <a:ext uri="{FF2B5EF4-FFF2-40B4-BE49-F238E27FC236}">
                <a16:creationId xmlns:a16="http://schemas.microsoft.com/office/drawing/2014/main" id="{C9EE22FB-480A-41E5-8AE2-A426F693ED48}"/>
              </a:ext>
            </a:extLst>
          </p:cNvPr>
          <p:cNvSpPr>
            <a:spLocks xmlns:a="http://schemas.openxmlformats.org/drawingml/2006/main" noGrp="1"/>
          </p:cNvSpPr>
          <p:nvPr/>
        </p:nvSpPr>
        <p:spPr>
          <a:xfrm xmlns:a="http://schemas.openxmlformats.org/drawingml/2006/main" rot="0">
            <a:off x="6631686" y="5546903"/>
            <a:ext cx="156936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Enzymes / proteins</a:t>
            </a:r>
          </a:p>
        </p:txBody>
      </p:sp>
      <p:sp>
        <p:nvSpPr>
          <p:cNvPr id="24" name="Figure 4 label 23 line 1">
            <a:extLst xmlns:a="http://schemas.openxmlformats.org/drawingml/2006/main">
              <a:ext uri="{FF2B5EF4-FFF2-40B4-BE49-F238E27FC236}">
                <a16:creationId xmlns:a16="http://schemas.microsoft.com/office/drawing/2014/main" id="{781EBA86-F664-4852-8526-D2AF0E88EBD3}"/>
              </a:ext>
            </a:extLst>
          </p:cNvPr>
          <p:cNvSpPr>
            <a:spLocks xmlns:a="http://schemas.openxmlformats.org/drawingml/2006/main" noGrp="1"/>
          </p:cNvSpPr>
          <p:nvPr/>
        </p:nvSpPr>
        <p:spPr>
          <a:xfrm xmlns:a="http://schemas.openxmlformats.org/drawingml/2006/main" rot="0">
            <a:off x="6631686" y="5840621"/>
            <a:ext cx="21317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Analytical chromatography</a:t>
            </a:r>
          </a:p>
        </p:txBody>
      </p:sp>
      <p:sp>
        <p:nvSpPr>
          <p:cNvPr id="25" name="Figure 4 label 24 line 1">
            <a:extLst xmlns:a="http://schemas.openxmlformats.org/drawingml/2006/main">
              <a:ext uri="{FF2B5EF4-FFF2-40B4-BE49-F238E27FC236}">
                <a16:creationId xmlns:a16="http://schemas.microsoft.com/office/drawing/2014/main" id="{AF4AD2E1-A955-4588-A71A-C64E0F51C99D}"/>
              </a:ext>
            </a:extLst>
          </p:cNvPr>
          <p:cNvSpPr>
            <a:spLocks xmlns:a="http://schemas.openxmlformats.org/drawingml/2006/main" noGrp="1"/>
          </p:cNvSpPr>
          <p:nvPr/>
        </p:nvSpPr>
        <p:spPr>
          <a:xfrm xmlns:a="http://schemas.openxmlformats.org/drawingml/2006/main" rot="0">
            <a:off x="7142686"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Build candidates</a:t>
            </a:r>
          </a:p>
        </p:txBody>
      </p:sp>
      <p:sp>
        <p:nvSpPr>
          <p:cNvPr id="26" name="Figure 4 label 25 line 1">
            <a:extLst xmlns:a="http://schemas.openxmlformats.org/drawingml/2006/main">
              <a:ext uri="{FF2B5EF4-FFF2-40B4-BE49-F238E27FC236}">
                <a16:creationId xmlns:a16="http://schemas.microsoft.com/office/drawing/2014/main" id="{BFC3D5A9-263C-4EA9-9DE8-8672120C4B5F}"/>
              </a:ext>
            </a:extLst>
          </p:cNvPr>
          <p:cNvSpPr>
            <a:spLocks xmlns:a="http://schemas.openxmlformats.org/drawingml/2006/main" noGrp="1"/>
          </p:cNvSpPr>
          <p:nvPr/>
        </p:nvSpPr>
        <p:spPr>
          <a:xfrm xmlns:a="http://schemas.openxmlformats.org/drawingml/2006/main" rot="0">
            <a:off x="9503283"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3</a:t>
            </a:r>
          </a:p>
        </p:txBody>
      </p:sp>
      <p:sp>
        <p:nvSpPr>
          <p:cNvPr id="27" name="Figure 4 label 26 line 1">
            <a:extLst xmlns:a="http://schemas.openxmlformats.org/drawingml/2006/main">
              <a:ext uri="{FF2B5EF4-FFF2-40B4-BE49-F238E27FC236}">
                <a16:creationId xmlns:a16="http://schemas.microsoft.com/office/drawing/2014/main" id="{6CCB6EA4-B19E-4793-BFFE-78AB410674B3}"/>
              </a:ext>
            </a:extLst>
          </p:cNvPr>
          <p:cNvSpPr>
            <a:spLocks xmlns:a="http://schemas.openxmlformats.org/drawingml/2006/main" noGrp="1"/>
          </p:cNvSpPr>
          <p:nvPr/>
        </p:nvSpPr>
        <p:spPr>
          <a:xfrm xmlns:a="http://schemas.openxmlformats.org/drawingml/2006/main" rot="0">
            <a:off x="9840720" y="3439540"/>
            <a:ext cx="1441202"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Wet-lab tests</a:t>
            </a:r>
          </a:p>
        </p:txBody>
      </p:sp>
      <p:sp>
        <p:nvSpPr>
          <p:cNvPr id="28" name="Figure 4 label 27 line 1">
            <a:extLst xmlns:a="http://schemas.openxmlformats.org/drawingml/2006/main">
              <a:ext uri="{FF2B5EF4-FFF2-40B4-BE49-F238E27FC236}">
                <a16:creationId xmlns:a16="http://schemas.microsoft.com/office/drawing/2014/main" id="{8CB3F6CA-50D1-418D-B71D-DBBAB38F34C6}"/>
              </a:ext>
            </a:extLst>
          </p:cNvPr>
          <p:cNvSpPr>
            <a:spLocks xmlns:a="http://schemas.openxmlformats.org/drawingml/2006/main" noGrp="1"/>
          </p:cNvSpPr>
          <p:nvPr/>
        </p:nvSpPr>
        <p:spPr>
          <a:xfrm xmlns:a="http://schemas.openxmlformats.org/drawingml/2006/main" rot="0">
            <a:off x="9448038" y="5254230"/>
            <a:ext cx="17789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Cells / media / assays</a:t>
            </a:r>
          </a:p>
        </p:txBody>
      </p:sp>
      <p:sp>
        <p:nvSpPr>
          <p:cNvPr id="29" name="Figure 4 label 28 line 1">
            <a:extLst xmlns:a="http://schemas.openxmlformats.org/drawingml/2006/main">
              <a:ext uri="{FF2B5EF4-FFF2-40B4-BE49-F238E27FC236}">
                <a16:creationId xmlns:a16="http://schemas.microsoft.com/office/drawing/2014/main" id="{73C93FAF-32ED-49BD-A6B9-62DADAB137DE}"/>
              </a:ext>
            </a:extLst>
          </p:cNvPr>
          <p:cNvSpPr>
            <a:spLocks xmlns:a="http://schemas.openxmlformats.org/drawingml/2006/main" noGrp="1"/>
          </p:cNvSpPr>
          <p:nvPr/>
        </p:nvSpPr>
        <p:spPr>
          <a:xfrm xmlns:a="http://schemas.openxmlformats.org/drawingml/2006/main" rot="0">
            <a:off x="9448038" y="5547948"/>
            <a:ext cx="1827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Plates / liquid handling</a:t>
            </a:r>
          </a:p>
        </p:txBody>
      </p:sp>
      <p:sp>
        <p:nvSpPr>
          <p:cNvPr id="30" name="Figure 4 label 29 line 1">
            <a:extLst xmlns:a="http://schemas.openxmlformats.org/drawingml/2006/main">
              <a:ext uri="{FF2B5EF4-FFF2-40B4-BE49-F238E27FC236}">
                <a16:creationId xmlns:a16="http://schemas.microsoft.com/office/drawing/2014/main" id="{46357CE8-7CA9-4A2E-BA75-3AD274098983}"/>
              </a:ext>
            </a:extLst>
          </p:cNvPr>
          <p:cNvSpPr>
            <a:spLocks xmlns:a="http://schemas.openxmlformats.org/drawingml/2006/main" noGrp="1"/>
          </p:cNvSpPr>
          <p:nvPr/>
        </p:nvSpPr>
        <p:spPr>
          <a:xfrm xmlns:a="http://schemas.openxmlformats.org/drawingml/2006/main" rot="0">
            <a:off x="9448038" y="5841666"/>
            <a:ext cx="19890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High-throughput imaging</a:t>
            </a:r>
          </a:p>
        </p:txBody>
      </p:sp>
      <p:sp>
        <p:nvSpPr>
          <p:cNvPr id="31" name="Figure 4 label 30 line 1">
            <a:extLst xmlns:a="http://schemas.openxmlformats.org/drawingml/2006/main">
              <a:ext uri="{FF2B5EF4-FFF2-40B4-BE49-F238E27FC236}">
                <a16:creationId xmlns:a16="http://schemas.microsoft.com/office/drawing/2014/main" id="{29A9AB78-4EC0-4C20-9376-19B1C01DCFA1}"/>
              </a:ext>
            </a:extLst>
          </p:cNvPr>
          <p:cNvSpPr>
            <a:spLocks xmlns:a="http://schemas.openxmlformats.org/drawingml/2006/main" noGrp="1"/>
          </p:cNvSpPr>
          <p:nvPr/>
        </p:nvSpPr>
        <p:spPr>
          <a:xfrm xmlns:a="http://schemas.openxmlformats.org/drawingml/2006/main" rot="0">
            <a:off x="9959038"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Create feedback</a:t>
            </a:r>
          </a:p>
        </p:txBody>
      </p:sp>
      <p:sp>
        <p:nvSpPr>
          <p:cNvPr id="32" name="Figure 4 label 31 line 1">
            <a:extLst xmlns:a="http://schemas.openxmlformats.org/drawingml/2006/main">
              <a:ext uri="{FF2B5EF4-FFF2-40B4-BE49-F238E27FC236}">
                <a16:creationId xmlns:a16="http://schemas.microsoft.com/office/drawing/2014/main" id="{3203DFF1-2096-4B1C-8003-B4C15B7E4487}"/>
              </a:ext>
            </a:extLst>
          </p:cNvPr>
          <p:cNvSpPr>
            <a:spLocks xmlns:a="http://schemas.openxmlformats.org/drawingml/2006/main" noGrp="1"/>
          </p:cNvSpPr>
          <p:nvPr/>
        </p:nvSpPr>
        <p:spPr>
          <a:xfrm xmlns:a="http://schemas.openxmlformats.org/drawingml/2006/main" rot="0">
            <a:off x="12319635"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4</a:t>
            </a:r>
          </a:p>
        </p:txBody>
      </p:sp>
      <p:sp>
        <p:nvSpPr>
          <p:cNvPr id="33" name="Figure 4 label 32 line 1">
            <a:extLst xmlns:a="http://schemas.openxmlformats.org/drawingml/2006/main">
              <a:ext uri="{FF2B5EF4-FFF2-40B4-BE49-F238E27FC236}">
                <a16:creationId xmlns:a16="http://schemas.microsoft.com/office/drawing/2014/main" id="{F055936B-B9B0-4FE0-B87C-3A9DD1107226}"/>
              </a:ext>
            </a:extLst>
          </p:cNvPr>
          <p:cNvSpPr>
            <a:spLocks xmlns:a="http://schemas.openxmlformats.org/drawingml/2006/main" noGrp="1"/>
          </p:cNvSpPr>
          <p:nvPr/>
        </p:nvSpPr>
        <p:spPr>
          <a:xfrm xmlns:a="http://schemas.openxmlformats.org/drawingml/2006/main" rot="0">
            <a:off x="12447001" y="3439540"/>
            <a:ext cx="186134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Clinical validation</a:t>
            </a:r>
          </a:p>
        </p:txBody>
      </p:sp>
      <p:sp>
        <p:nvSpPr>
          <p:cNvPr id="34" name="Figure 4 label 33 line 1">
            <a:extLst xmlns:a="http://schemas.openxmlformats.org/drawingml/2006/main">
              <a:ext uri="{FF2B5EF4-FFF2-40B4-BE49-F238E27FC236}">
                <a16:creationId xmlns:a16="http://schemas.microsoft.com/office/drawing/2014/main" id="{C2CABF78-E76E-4785-80AA-C7258BB74085}"/>
              </a:ext>
            </a:extLst>
          </p:cNvPr>
          <p:cNvSpPr>
            <a:spLocks xmlns:a="http://schemas.openxmlformats.org/drawingml/2006/main" noGrp="1"/>
          </p:cNvSpPr>
          <p:nvPr/>
        </p:nvSpPr>
        <p:spPr>
          <a:xfrm xmlns:a="http://schemas.openxmlformats.org/drawingml/2006/main" rot="0">
            <a:off x="12264390" y="5252036"/>
            <a:ext cx="18554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IVD R&amp;D</a:t>
            </a:r>
          </a:p>
        </p:txBody>
      </p:sp>
      <p:sp>
        <p:nvSpPr>
          <p:cNvPr id="35" name="Figure 4 label 34 line 1">
            <a:extLst xmlns:a="http://schemas.openxmlformats.org/drawingml/2006/main">
              <a:ext uri="{FF2B5EF4-FFF2-40B4-BE49-F238E27FC236}">
                <a16:creationId xmlns:a16="http://schemas.microsoft.com/office/drawing/2014/main" id="{CE53E888-9581-41DB-A885-54DD82DC31B1}"/>
              </a:ext>
            </a:extLst>
          </p:cNvPr>
          <p:cNvSpPr>
            <a:spLocks xmlns:a="http://schemas.openxmlformats.org/drawingml/2006/main" noGrp="1"/>
          </p:cNvSpPr>
          <p:nvPr/>
        </p:nvSpPr>
        <p:spPr>
          <a:xfrm xmlns:a="http://schemas.openxmlformats.org/drawingml/2006/main" rot="0">
            <a:off x="12264390" y="5550142"/>
            <a:ext cx="196033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Clinical sample handling</a:t>
            </a:r>
          </a:p>
        </p:txBody>
      </p:sp>
      <p:sp>
        <p:nvSpPr>
          <p:cNvPr id="36" name="Figure 4 label 35 line 1">
            <a:extLst xmlns:a="http://schemas.openxmlformats.org/drawingml/2006/main">
              <a:ext uri="{FF2B5EF4-FFF2-40B4-BE49-F238E27FC236}">
                <a16:creationId xmlns:a16="http://schemas.microsoft.com/office/drawing/2014/main" id="{DEAA1E95-EE3B-4AED-BF32-0CDFCBDC9EB2}"/>
              </a:ext>
            </a:extLst>
          </p:cNvPr>
          <p:cNvSpPr>
            <a:spLocks xmlns:a="http://schemas.openxmlformats.org/drawingml/2006/main" noGrp="1"/>
          </p:cNvSpPr>
          <p:nvPr/>
        </p:nvSpPr>
        <p:spPr>
          <a:xfrm xmlns:a="http://schemas.openxmlformats.org/drawingml/2006/main" rot="0">
            <a:off x="12264390" y="5843860"/>
            <a:ext cx="149346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Automated testing</a:t>
            </a:r>
          </a:p>
        </p:txBody>
      </p:sp>
      <p:sp>
        <p:nvSpPr>
          <p:cNvPr id="37" name="Figure 4 label 36 line 1">
            <a:extLst xmlns:a="http://schemas.openxmlformats.org/drawingml/2006/main">
              <a:ext uri="{FF2B5EF4-FFF2-40B4-BE49-F238E27FC236}">
                <a16:creationId xmlns:a16="http://schemas.microsoft.com/office/drawing/2014/main" id="{EB856D3F-B815-4BB5-8558-BC573E647A49}"/>
              </a:ext>
            </a:extLst>
          </p:cNvPr>
          <p:cNvSpPr>
            <a:spLocks xmlns:a="http://schemas.openxmlformats.org/drawingml/2006/main" noGrp="1"/>
          </p:cNvSpPr>
          <p:nvPr/>
        </p:nvSpPr>
        <p:spPr>
          <a:xfrm xmlns:a="http://schemas.openxmlformats.org/drawingml/2006/main" rot="0">
            <a:off x="12863496" y="6997580"/>
            <a:ext cx="102835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Validate utility</a:t>
            </a:r>
          </a:p>
        </p:txBody>
      </p:sp>
      <p:sp>
        <p:nvSpPr>
          <p:cNvPr id="38" name="Figure 4 label 37 line 1">
            <a:extLst xmlns:a="http://schemas.openxmlformats.org/drawingml/2006/main">
              <a:ext uri="{FF2B5EF4-FFF2-40B4-BE49-F238E27FC236}">
                <a16:creationId xmlns:a16="http://schemas.microsoft.com/office/drawing/2014/main" id="{3705C9C5-08A8-4D18-8A8B-3F7278D62413}"/>
              </a:ext>
            </a:extLst>
          </p:cNvPr>
          <p:cNvSpPr>
            <a:spLocks xmlns:a="http://schemas.openxmlformats.org/drawingml/2006/main" noGrp="1"/>
          </p:cNvSpPr>
          <p:nvPr/>
        </p:nvSpPr>
        <p:spPr>
          <a:xfrm xmlns:a="http://schemas.openxmlformats.org/drawingml/2006/main" rot="0">
            <a:off x="1513598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5</a:t>
            </a:r>
          </a:p>
        </p:txBody>
      </p:sp>
      <p:sp>
        <p:nvSpPr>
          <p:cNvPr id="39" name="Figure 4 label 38 line 1">
            <a:extLst xmlns:a="http://schemas.openxmlformats.org/drawingml/2006/main">
              <a:ext uri="{FF2B5EF4-FFF2-40B4-BE49-F238E27FC236}">
                <a16:creationId xmlns:a16="http://schemas.microsoft.com/office/drawing/2014/main" id="{E4FD518C-AC4F-40E7-9F6E-3A88EEF8226B}"/>
              </a:ext>
            </a:extLst>
          </p:cNvPr>
          <p:cNvSpPr>
            <a:spLocks xmlns:a="http://schemas.openxmlformats.org/drawingml/2006/main" noGrp="1"/>
          </p:cNvSpPr>
          <p:nvPr/>
        </p:nvSpPr>
        <p:spPr>
          <a:xfrm xmlns:a="http://schemas.openxmlformats.org/drawingml/2006/main" rot="0">
            <a:off x="15481001" y="3319286"/>
            <a:ext cx="155267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Manufacturing</a:t>
            </a:r>
          </a:p>
        </p:txBody>
      </p:sp>
      <p:sp>
        <p:nvSpPr>
          <p:cNvPr id="40" name="Figure 4 label 39 line 1">
            <a:extLst xmlns:a="http://schemas.openxmlformats.org/drawingml/2006/main">
              <a:ext uri="{FF2B5EF4-FFF2-40B4-BE49-F238E27FC236}">
                <a16:creationId xmlns:a16="http://schemas.microsoft.com/office/drawing/2014/main" id="{C30669BA-0A98-42F3-A3FB-6944CABA962A}"/>
              </a:ext>
            </a:extLst>
          </p:cNvPr>
          <p:cNvSpPr>
            <a:spLocks xmlns:a="http://schemas.openxmlformats.org/drawingml/2006/main" noGrp="1"/>
          </p:cNvSpPr>
          <p:nvPr/>
        </p:nvSpPr>
        <p:spPr>
          <a:xfrm xmlns:a="http://schemas.openxmlformats.org/drawingml/2006/main" rot="0">
            <a:off x="15505934" y="3560107"/>
            <a:ext cx="1502817"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(if successful)</a:t>
            </a:r>
          </a:p>
        </p:txBody>
      </p:sp>
      <p:sp>
        <p:nvSpPr>
          <p:cNvPr id="41" name="Figure 4 label 40 line 1">
            <a:extLst xmlns:a="http://schemas.openxmlformats.org/drawingml/2006/main">
              <a:ext uri="{FF2B5EF4-FFF2-40B4-BE49-F238E27FC236}">
                <a16:creationId xmlns:a16="http://schemas.microsoft.com/office/drawing/2014/main" id="{3B60A429-D1FC-4462-AAB3-CD1F0D21F693}"/>
              </a:ext>
            </a:extLst>
          </p:cNvPr>
          <p:cNvSpPr>
            <a:spLocks xmlns:a="http://schemas.openxmlformats.org/drawingml/2006/main" noGrp="1"/>
          </p:cNvSpPr>
          <p:nvPr/>
        </p:nvSpPr>
        <p:spPr>
          <a:xfrm xmlns:a="http://schemas.openxmlformats.org/drawingml/2006/main" rot="0">
            <a:off x="15080742" y="5252840"/>
            <a:ext cx="117868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Media / resins</a:t>
            </a:r>
          </a:p>
        </p:txBody>
      </p:sp>
      <p:sp>
        <p:nvSpPr>
          <p:cNvPr id="42" name="Figure 4 label 41 line 1">
            <a:extLst xmlns:a="http://schemas.openxmlformats.org/drawingml/2006/main">
              <a:ext uri="{FF2B5EF4-FFF2-40B4-BE49-F238E27FC236}">
                <a16:creationId xmlns:a16="http://schemas.microsoft.com/office/drawing/2014/main" id="{99F821F9-1215-40E4-8701-D8592FFD79D4}"/>
              </a:ext>
            </a:extLst>
          </p:cNvPr>
          <p:cNvSpPr>
            <a:spLocks xmlns:a="http://schemas.openxmlformats.org/drawingml/2006/main" noGrp="1"/>
          </p:cNvSpPr>
          <p:nvPr/>
        </p:nvSpPr>
        <p:spPr>
          <a:xfrm xmlns:a="http://schemas.openxmlformats.org/drawingml/2006/main" rot="0">
            <a:off x="15080742" y="5544709"/>
            <a:ext cx="21602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Filtration / process labware</a:t>
            </a:r>
          </a:p>
        </p:txBody>
      </p:sp>
      <p:sp>
        <p:nvSpPr>
          <p:cNvPr id="43" name="Figure 4 label 42 line 1">
            <a:extLst xmlns:a="http://schemas.openxmlformats.org/drawingml/2006/main">
              <a:ext uri="{FF2B5EF4-FFF2-40B4-BE49-F238E27FC236}">
                <a16:creationId xmlns:a16="http://schemas.microsoft.com/office/drawing/2014/main" id="{50A27E7C-CD55-4C3D-9DA0-F06422B9A088}"/>
              </a:ext>
            </a:extLst>
          </p:cNvPr>
          <p:cNvSpPr>
            <a:spLocks xmlns:a="http://schemas.openxmlformats.org/drawingml/2006/main" noGrp="1"/>
          </p:cNvSpPr>
          <p:nvPr/>
        </p:nvSpPr>
        <p:spPr>
          <a:xfrm xmlns:a="http://schemas.openxmlformats.org/drawingml/2006/main" rot="0">
            <a:off x="15080742" y="5840967"/>
            <a:ext cx="2208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Single-use bioprocess tools</a:t>
            </a:r>
          </a:p>
        </p:txBody>
      </p:sp>
      <p:sp>
        <p:nvSpPr>
          <p:cNvPr id="44" name="Figure 4 label 43 line 1">
            <a:extLst xmlns:a="http://schemas.openxmlformats.org/drawingml/2006/main">
              <a:ext uri="{FF2B5EF4-FFF2-40B4-BE49-F238E27FC236}">
                <a16:creationId xmlns:a16="http://schemas.microsoft.com/office/drawing/2014/main" id="{B82D3BB9-6700-45D5-967B-ADEB40B16D4C}"/>
              </a:ext>
            </a:extLst>
          </p:cNvPr>
          <p:cNvSpPr>
            <a:spLocks xmlns:a="http://schemas.openxmlformats.org/drawingml/2006/main" noGrp="1"/>
          </p:cNvSpPr>
          <p:nvPr/>
        </p:nvSpPr>
        <p:spPr>
          <a:xfrm xmlns:a="http://schemas.openxmlformats.org/drawingml/2006/main" rot="0">
            <a:off x="15654622" y="6997580"/>
            <a:ext cx="107880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Produce drugs</a:t>
            </a:r>
          </a:p>
        </p:txBody>
      </p:sp>
      <p:sp>
        <p:nvSpPr>
          <p:cNvPr id="45" name="Figure 4 label 44 line 1">
            <a:extLst xmlns:a="http://schemas.openxmlformats.org/drawingml/2006/main">
              <a:ext uri="{FF2B5EF4-FFF2-40B4-BE49-F238E27FC236}">
                <a16:creationId xmlns:a16="http://schemas.microsoft.com/office/drawing/2014/main" id="{C9ACC85F-D035-4DF6-ADC7-2F2430227D18}"/>
              </a:ext>
            </a:extLst>
          </p:cNvPr>
          <p:cNvSpPr>
            <a:spLocks xmlns:a="http://schemas.openxmlformats.org/drawingml/2006/main" noGrp="1"/>
          </p:cNvSpPr>
          <p:nvPr/>
        </p:nvSpPr>
        <p:spPr>
          <a:xfrm xmlns:a="http://schemas.openxmlformats.org/drawingml/2006/main" rot="0">
            <a:off x="5851000" y="2044848"/>
            <a:ext cx="3294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13"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Experimental feedback → next design cycle</a:t>
            </a:r>
          </a:p>
        </p:txBody>
      </p:sp>
      <p:sp>
        <p:nvSpPr>
          <p:cNvPr id="46" name="Figure 4 label 45 line 1">
            <a:extLst xmlns:a="http://schemas.openxmlformats.org/drawingml/2006/main">
              <a:ext uri="{FF2B5EF4-FFF2-40B4-BE49-F238E27FC236}">
                <a16:creationId xmlns:a16="http://schemas.microsoft.com/office/drawing/2014/main" id="{679951F8-B655-413E-A34A-896B17FD88CA}"/>
              </a:ext>
            </a:extLst>
          </p:cNvPr>
          <p:cNvSpPr>
            <a:spLocks xmlns:a="http://schemas.openxmlformats.org/drawingml/2006/main" noGrp="1"/>
          </p:cNvSpPr>
          <p:nvPr/>
        </p:nvSpPr>
        <p:spPr>
          <a:xfrm xmlns:a="http://schemas.openxmlformats.org/drawingml/2006/main" rot="0">
            <a:off x="5122143" y="8227834"/>
            <a:ext cx="804371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The most direct potential uplift comes from building and testing candidates.</a:t>
            </a:r>
          </a:p>
        </p:txBody>
      </p:sp>
    </p:spTree>
    <p:extLst>
      <p:ext uri="{BB962C8B-B14F-4D97-AF65-F5344CB8AC3E}">
        <p14:creationId xmlns:p14="http://schemas.microsoft.com/office/powerpoint/2010/main" val="584613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2026-10-13T06:02:05.6490000Z</dcterms:created>
  <dcterms:modified xsi:type="dcterms:W3CDTF">2026-10-13T06:02:05.6490000Z</dcterms:modified>
</coreProperties>
</file>