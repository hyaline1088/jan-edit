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e747b9f4a84666" /><Relationship Type="http://schemas.openxmlformats.org/officeDocument/2006/relationships/extended-properties" Target="/docProps/app.xml" Id="R1463aea1b8ad4705" /><Relationship Type="http://schemas.openxmlformats.org/officeDocument/2006/relationships/officeDocument" Target="/ppt/presentation.xml" Id="R38a32fb01d764ec6" /></Relationships>
</file>

<file path=ppt/presentation.xml><?xml version="1.0" encoding="utf-8"?>
<p:presentation xmlns:p="http://schemas.openxmlformats.org/presentationml/2006/main">
  <p:sldMasterIdLst>
    <p:sldMasterId xmlns:r="http://schemas.openxmlformats.org/officeDocument/2006/relationships" id="2147483648" r:id="R8c7e769815024ae5"/>
  </p:sldMasterIdLst>
  <p:notesMasterIdLst>
    <p:notesMasterId xmlns:r="http://schemas.openxmlformats.org/officeDocument/2006/relationships" r:id="R3f8ac166ed0345c1"/>
  </p:notesMasterIdLst>
  <p:sldIdLst>
    <p:sldId xmlns:r="http://schemas.openxmlformats.org/officeDocument/2006/relationships" id="256" r:id="R905bb3a94cb1432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30908907074691" /><Relationship Type="http://schemas.openxmlformats.org/officeDocument/2006/relationships/slideMaster" Target="/ppt/slideMasters/slideMaster1.xml" Id="R8c7e769815024ae5" /><Relationship Type="http://schemas.openxmlformats.org/officeDocument/2006/relationships/notesMaster" Target="/ppt/notesMasters/notesMaster1.xml" Id="R3f8ac166ed0345c1" /><Relationship Type="http://schemas.openxmlformats.org/officeDocument/2006/relationships/presProps" Target="/ppt/presProps.xml" Id="Rbcdd9a117a354ebd" /><Relationship Type="http://schemas.openxmlformats.org/officeDocument/2006/relationships/tableStyles" Target="/ppt/tableStyles.xml" Id="Ra60f4c64212f424e" /><Relationship Type="http://schemas.openxmlformats.org/officeDocument/2006/relationships/slide" Target="/ppt/slides/slide1.xml" Id="R905bb3a94cb143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b974b141b14c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84a032538e4628" /><Relationship Type="http://schemas.openxmlformats.org/officeDocument/2006/relationships/notesMaster" Target="/ppt/notesMasters/notesMaster1.xml" Id="Rbea1f82061f347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8: Potential supply constraints over 12–24 months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030c1faca343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390dea8cea48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45ca58b00945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0c41b0453d41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d54b255bad46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7e647f093e4c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1a24d626de4691" /><Relationship Type="http://schemas.openxmlformats.org/officeDocument/2006/relationships/slideLayout" Target="/ppt/slideLayouts/slideLayout1.xml" Id="R07d9c70141244db3" /><Relationship Type="http://schemas.openxmlformats.org/officeDocument/2006/relationships/slideLayout" Target="/ppt/slideLayouts/slideLayout2.xml" Id="R0594769cb0544753" /><Relationship Type="http://schemas.openxmlformats.org/officeDocument/2006/relationships/slideLayout" Target="/ppt/slideLayouts/slideLayout3.xml" Id="R1647de03b9904eac" /><Relationship Type="http://schemas.openxmlformats.org/officeDocument/2006/relationships/slideLayout" Target="/ppt/slideLayouts/slideLayout4.xml" Id="R78f1271013494836" /><Relationship Type="http://schemas.openxmlformats.org/officeDocument/2006/relationships/slideLayout" Target="/ppt/slideLayouts/slideLayout5.xml" Id="R695db3380826453d" /><Relationship Type="http://schemas.openxmlformats.org/officeDocument/2006/relationships/slideLayout" Target="/ppt/slideLayouts/slideLayout6.xml" Id="R1680443d436045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d9c70141244db3"/>
    <p:sldLayoutId xmlns:r="http://schemas.openxmlformats.org/officeDocument/2006/relationships" id="2147483650" r:id="R0594769cb0544753"/>
    <p:sldLayoutId xmlns:r="http://schemas.openxmlformats.org/officeDocument/2006/relationships" id="2147483651" r:id="R1647de03b9904eac"/>
    <p:sldLayoutId xmlns:r="http://schemas.openxmlformats.org/officeDocument/2006/relationships" id="2147483652" r:id="R78f1271013494836"/>
    <p:sldLayoutId xmlns:r="http://schemas.openxmlformats.org/officeDocument/2006/relationships" id="2147483653" r:id="R695db3380826453d"/>
    <p:sldLayoutId xmlns:r="http://schemas.openxmlformats.org/officeDocument/2006/relationships" id="2147483654" r:id="R1680443d436045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e5fe7aca0d4e47" /><Relationship Type="http://schemas.openxmlformats.org/officeDocument/2006/relationships/image" Target="/ppt/media/image.png" Id="Rae31e571b6874e6a" /><Relationship Type="http://schemas.openxmlformats.org/officeDocument/2006/relationships/notesSlide" Target="/ppt/notesSlides/notesSlide1.xml" Id="Rd565f11ed5e64d7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67E833F9-0819-417F-8103-69FA3FBF5F1F}"/>
              </a:ext>
            </a:extLst>
          </p:cNvPr>
          <p:cNvPicPr>
            <a:picLocks xmlns:a="http://schemas.openxmlformats.org/drawingml/2006/main" noChangeAspect="1"/>
          </p:cNvPicPr>
          <p:nvPr/>
        </p:nvPicPr>
        <p:blipFill>
          <a:blip xmlns:r="http://schemas.openxmlformats.org/officeDocument/2006/relationships" xmlns:a="http://schemas.openxmlformats.org/drawingml/2006/main" r:embed="Rae31e571b6874e6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8 label 1 line 1">
            <a:extLst xmlns:a="http://schemas.openxmlformats.org/drawingml/2006/main">
              <a:ext uri="{FF2B5EF4-FFF2-40B4-BE49-F238E27FC236}">
                <a16:creationId xmlns:a16="http://schemas.microsoft.com/office/drawing/2014/main" id="{67FFF197-0DCA-4621-91C7-5D6E8E524691}"/>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8 label 2 line 1">
            <a:extLst xmlns:a="http://schemas.openxmlformats.org/drawingml/2006/main">
              <a:ext uri="{FF2B5EF4-FFF2-40B4-BE49-F238E27FC236}">
                <a16:creationId xmlns:a16="http://schemas.microsoft.com/office/drawing/2014/main" id="{63ECA358-C4BA-421B-BA28-D8D61CF34DE4}"/>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8 label 3 line 1">
            <a:extLst xmlns:a="http://schemas.openxmlformats.org/drawingml/2006/main">
              <a:ext uri="{FF2B5EF4-FFF2-40B4-BE49-F238E27FC236}">
                <a16:creationId xmlns:a16="http://schemas.microsoft.com/office/drawing/2014/main" id="{19EDC4E6-3CC7-4825-841C-68CFDAB6306D}"/>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8 label 4 line 1">
            <a:extLst xmlns:a="http://schemas.openxmlformats.org/drawingml/2006/main">
              <a:ext uri="{FF2B5EF4-FFF2-40B4-BE49-F238E27FC236}">
                <a16:creationId xmlns:a16="http://schemas.microsoft.com/office/drawing/2014/main" id="{47DE867B-8AE7-4854-90C5-78C02CF76471}"/>
              </a:ext>
            </a:extLst>
          </p:cNvPr>
          <p:cNvSpPr>
            <a:spLocks xmlns:a="http://schemas.openxmlformats.org/drawingml/2006/main" noGrp="1"/>
          </p:cNvSpPr>
          <p:nvPr/>
        </p:nvSpPr>
        <p:spPr>
          <a:xfrm xmlns:a="http://schemas.openxmlformats.org/drawingml/2006/main" rot="0">
            <a:off x="6651992" y="8293814"/>
            <a:ext cx="35209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Expansion difficulty / qualification time →</a:t>
            </a:r>
          </a:p>
        </p:txBody>
      </p:sp>
      <p:sp>
        <p:nvSpPr>
          <p:cNvPr id="6" name="Figure 8 label 5 line 1">
            <a:extLst xmlns:a="http://schemas.openxmlformats.org/drawingml/2006/main">
              <a:ext uri="{FF2B5EF4-FFF2-40B4-BE49-F238E27FC236}">
                <a16:creationId xmlns:a16="http://schemas.microsoft.com/office/drawing/2014/main" id="{766BB48B-8C9E-4B1D-B133-35BEDF6E561C}"/>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8 label 6 line 1">
            <a:extLst xmlns:a="http://schemas.openxmlformats.org/drawingml/2006/main">
              <a:ext uri="{FF2B5EF4-FFF2-40B4-BE49-F238E27FC236}">
                <a16:creationId xmlns:a16="http://schemas.microsoft.com/office/drawing/2014/main" id="{51224D6C-F7BE-4297-BB49-A0774670DDCD}"/>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8 label 7 line 1">
            <a:extLst xmlns:a="http://schemas.openxmlformats.org/drawingml/2006/main">
              <a:ext uri="{FF2B5EF4-FFF2-40B4-BE49-F238E27FC236}">
                <a16:creationId xmlns:a16="http://schemas.microsoft.com/office/drawing/2014/main" id="{810D8F9E-882B-4393-A7BC-A0AE99BC270E}"/>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8 label 8 line 1">
            <a:extLst xmlns:a="http://schemas.openxmlformats.org/drawingml/2006/main">
              <a:ext uri="{FF2B5EF4-FFF2-40B4-BE49-F238E27FC236}">
                <a16:creationId xmlns:a16="http://schemas.microsoft.com/office/drawing/2014/main" id="{2C454BD9-F353-49B7-973A-DCBC77806207}"/>
              </a:ext>
            </a:extLst>
          </p:cNvPr>
          <p:cNvSpPr>
            <a:spLocks xmlns:a="http://schemas.openxmlformats.org/drawingml/2006/main" noGrp="1"/>
          </p:cNvSpPr>
          <p:nvPr/>
        </p:nvSpPr>
        <p:spPr>
          <a:xfrm xmlns:a="http://schemas.openxmlformats.org/drawingml/2006/main" rot="16200000">
            <a:off x="-1498674" y="4918710"/>
            <a:ext cx="3775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Potential benefit from demand expansion →</a:t>
            </a:r>
          </a:p>
        </p:txBody>
      </p:sp>
      <p:sp>
        <p:nvSpPr>
          <p:cNvPr id="10" name="Figure 8 label 9 line 1">
            <a:extLst xmlns:a="http://schemas.openxmlformats.org/drawingml/2006/main">
              <a:ext uri="{FF2B5EF4-FFF2-40B4-BE49-F238E27FC236}">
                <a16:creationId xmlns:a16="http://schemas.microsoft.com/office/drawing/2014/main" id="{93F888CD-85CC-428C-B536-7FCBB176834C}"/>
              </a:ext>
            </a:extLst>
          </p:cNvPr>
          <p:cNvSpPr>
            <a:spLocks xmlns:a="http://schemas.openxmlformats.org/drawingml/2006/main" noGrp="1"/>
          </p:cNvSpPr>
          <p:nvPr/>
        </p:nvSpPr>
        <p:spPr>
          <a:xfrm xmlns:a="http://schemas.openxmlformats.org/drawingml/2006/main" rot="0">
            <a:off x="2012455" y="2407644"/>
            <a:ext cx="3477240"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Verify demand and supply constraints together</a:t>
            </a:r>
          </a:p>
        </p:txBody>
      </p:sp>
      <p:sp>
        <p:nvSpPr>
          <p:cNvPr id="11" name="Figure 8 label 10 line 1">
            <a:extLst xmlns:a="http://schemas.openxmlformats.org/drawingml/2006/main">
              <a:ext uri="{FF2B5EF4-FFF2-40B4-BE49-F238E27FC236}">
                <a16:creationId xmlns:a16="http://schemas.microsoft.com/office/drawing/2014/main" id="{2C72ABD3-E91C-4355-9B16-BEE3E5A22126}"/>
              </a:ext>
            </a:extLst>
          </p:cNvPr>
          <p:cNvSpPr>
            <a:spLocks xmlns:a="http://schemas.openxmlformats.org/drawingml/2006/main" noGrp="1"/>
          </p:cNvSpPr>
          <p:nvPr/>
        </p:nvSpPr>
        <p:spPr>
          <a:xfrm xmlns:a="http://schemas.openxmlformats.org/drawingml/2006/main" rot="0">
            <a:off x="11185779" y="2671608"/>
            <a:ext cx="122146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Automation tips</a:t>
            </a:r>
          </a:p>
        </p:txBody>
      </p:sp>
      <p:sp>
        <p:nvSpPr>
          <p:cNvPr id="12" name="Figure 8 label 11 line 1">
            <a:extLst xmlns:a="http://schemas.openxmlformats.org/drawingml/2006/main">
              <a:ext uri="{FF2B5EF4-FFF2-40B4-BE49-F238E27FC236}">
                <a16:creationId xmlns:a16="http://schemas.microsoft.com/office/drawing/2014/main" id="{12AB11AF-971B-4729-BDC2-0ADE5495B45F}"/>
              </a:ext>
            </a:extLst>
          </p:cNvPr>
          <p:cNvSpPr>
            <a:spLocks xmlns:a="http://schemas.openxmlformats.org/drawingml/2006/main" noGrp="1"/>
          </p:cNvSpPr>
          <p:nvPr/>
        </p:nvSpPr>
        <p:spPr>
          <a:xfrm xmlns:a="http://schemas.openxmlformats.org/drawingml/2006/main" rot="0">
            <a:off x="8128026" y="3359665"/>
            <a:ext cx="123947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plates</a:t>
            </a:r>
          </a:p>
        </p:txBody>
      </p:sp>
      <p:sp>
        <p:nvSpPr>
          <p:cNvPr id="13" name="Figure 8 label 12 line 1">
            <a:extLst xmlns:a="http://schemas.openxmlformats.org/drawingml/2006/main">
              <a:ext uri="{FF2B5EF4-FFF2-40B4-BE49-F238E27FC236}">
                <a16:creationId xmlns:a16="http://schemas.microsoft.com/office/drawing/2014/main" id="{CD79FD8F-339F-4F38-8DCF-06A46E8698D0}"/>
              </a:ext>
            </a:extLst>
          </p:cNvPr>
          <p:cNvSpPr>
            <a:spLocks xmlns:a="http://schemas.openxmlformats.org/drawingml/2006/main" noGrp="1"/>
          </p:cNvSpPr>
          <p:nvPr/>
        </p:nvSpPr>
        <p:spPr>
          <a:xfrm xmlns:a="http://schemas.openxmlformats.org/drawingml/2006/main" rot="0">
            <a:off x="11741734" y="3965928"/>
            <a:ext cx="159025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Custom components</a:t>
            </a:r>
          </a:p>
        </p:txBody>
      </p:sp>
      <p:sp>
        <p:nvSpPr>
          <p:cNvPr id="14" name="Figure 8 label 13 line 1">
            <a:extLst xmlns:a="http://schemas.openxmlformats.org/drawingml/2006/main">
              <a:ext uri="{FF2B5EF4-FFF2-40B4-BE49-F238E27FC236}">
                <a16:creationId xmlns:a16="http://schemas.microsoft.com/office/drawing/2014/main" id="{D268A785-222D-4B84-A4C5-07E35A0EA4AC}"/>
              </a:ext>
            </a:extLst>
          </p:cNvPr>
          <p:cNvSpPr>
            <a:spLocks xmlns:a="http://schemas.openxmlformats.org/drawingml/2006/main" noGrp="1"/>
          </p:cNvSpPr>
          <p:nvPr/>
        </p:nvSpPr>
        <p:spPr>
          <a:xfrm xmlns:a="http://schemas.openxmlformats.org/drawingml/2006/main" rot="0">
            <a:off x="9517914" y="4515295"/>
            <a:ext cx="133859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Functional beads</a:t>
            </a:r>
          </a:p>
        </p:txBody>
      </p:sp>
      <p:sp>
        <p:nvSpPr>
          <p:cNvPr id="15" name="Figure 8 label 14 line 1">
            <a:extLst xmlns:a="http://schemas.openxmlformats.org/drawingml/2006/main">
              <a:ext uri="{FF2B5EF4-FFF2-40B4-BE49-F238E27FC236}">
                <a16:creationId xmlns:a16="http://schemas.microsoft.com/office/drawing/2014/main" id="{6BD1CD05-D7F0-4FB8-B748-9E74F5B857A4}"/>
              </a:ext>
            </a:extLst>
          </p:cNvPr>
          <p:cNvSpPr>
            <a:spLocks xmlns:a="http://schemas.openxmlformats.org/drawingml/2006/main" noGrp="1"/>
          </p:cNvSpPr>
          <p:nvPr/>
        </p:nvSpPr>
        <p:spPr>
          <a:xfrm xmlns:a="http://schemas.openxmlformats.org/drawingml/2006/main" rot="0">
            <a:off x="7850048" y="2670735"/>
            <a:ext cx="181543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High-throughput assays</a:t>
            </a:r>
          </a:p>
        </p:txBody>
      </p:sp>
      <p:sp>
        <p:nvSpPr>
          <p:cNvPr id="16" name="Figure 8 label 15 line 1">
            <a:extLst xmlns:a="http://schemas.openxmlformats.org/drawingml/2006/main">
              <a:ext uri="{FF2B5EF4-FFF2-40B4-BE49-F238E27FC236}">
                <a16:creationId xmlns:a16="http://schemas.microsoft.com/office/drawing/2014/main" id="{7EE7B239-284B-43EC-B947-77E33B760121}"/>
              </a:ext>
            </a:extLst>
          </p:cNvPr>
          <p:cNvSpPr>
            <a:spLocks xmlns:a="http://schemas.openxmlformats.org/drawingml/2006/main" noGrp="1"/>
          </p:cNvSpPr>
          <p:nvPr/>
        </p:nvSpPr>
        <p:spPr>
          <a:xfrm xmlns:a="http://schemas.openxmlformats.org/drawingml/2006/main" rot="0">
            <a:off x="6251677" y="4157679"/>
            <a:ext cx="186946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building blocks</a:t>
            </a:r>
          </a:p>
        </p:txBody>
      </p:sp>
      <p:sp>
        <p:nvSpPr>
          <p:cNvPr id="17" name="Figure 8 label 16 line 1">
            <a:extLst xmlns:a="http://schemas.openxmlformats.org/drawingml/2006/main">
              <a:ext uri="{FF2B5EF4-FFF2-40B4-BE49-F238E27FC236}">
                <a16:creationId xmlns:a16="http://schemas.microsoft.com/office/drawing/2014/main" id="{18332D25-D3F8-4CF1-9170-D6AD095BD04F}"/>
              </a:ext>
            </a:extLst>
          </p:cNvPr>
          <p:cNvSpPr>
            <a:spLocks xmlns:a="http://schemas.openxmlformats.org/drawingml/2006/main" noGrp="1"/>
          </p:cNvSpPr>
          <p:nvPr/>
        </p:nvSpPr>
        <p:spPr>
          <a:xfrm xmlns:a="http://schemas.openxmlformats.org/drawingml/2006/main" rot="0">
            <a:off x="3124429" y="6193877"/>
            <a:ext cx="128426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Generic labware</a:t>
            </a:r>
          </a:p>
        </p:txBody>
      </p:sp>
      <p:sp>
        <p:nvSpPr>
          <p:cNvPr id="18" name="Figure 8 label 17 line 1">
            <a:extLst xmlns:a="http://schemas.openxmlformats.org/drawingml/2006/main">
              <a:ext uri="{FF2B5EF4-FFF2-40B4-BE49-F238E27FC236}">
                <a16:creationId xmlns:a16="http://schemas.microsoft.com/office/drawing/2014/main" id="{2F40C7A9-EE81-42E9-A614-27958954202F}"/>
              </a:ext>
            </a:extLst>
          </p:cNvPr>
          <p:cNvSpPr>
            <a:spLocks xmlns:a="http://schemas.openxmlformats.org/drawingml/2006/main" noGrp="1"/>
          </p:cNvSpPr>
          <p:nvPr/>
        </p:nvSpPr>
        <p:spPr>
          <a:xfrm xmlns:a="http://schemas.openxmlformats.org/drawingml/2006/main" rot="0">
            <a:off x="12575667" y="5203353"/>
            <a:ext cx="163580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Sequencing reagents</a:t>
            </a:r>
          </a:p>
        </p:txBody>
      </p:sp>
      <p:sp>
        <p:nvSpPr>
          <p:cNvPr id="19" name="Figure 8 label 18 line 1">
            <a:extLst xmlns:a="http://schemas.openxmlformats.org/drawingml/2006/main">
              <a:ext uri="{FF2B5EF4-FFF2-40B4-BE49-F238E27FC236}">
                <a16:creationId xmlns:a16="http://schemas.microsoft.com/office/drawing/2014/main" id="{2EFF51AF-34B5-4D8B-898E-F75EDF784C06}"/>
              </a:ext>
            </a:extLst>
          </p:cNvPr>
          <p:cNvSpPr>
            <a:spLocks xmlns:a="http://schemas.openxmlformats.org/drawingml/2006/main" noGrp="1"/>
          </p:cNvSpPr>
          <p:nvPr/>
        </p:nvSpPr>
        <p:spPr>
          <a:xfrm xmlns:a="http://schemas.openxmlformats.org/drawingml/2006/main" rot="0">
            <a:off x="12089206" y="6056402"/>
            <a:ext cx="160841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Manufacturing resins</a:t>
            </a:r>
          </a:p>
        </p:txBody>
      </p:sp>
      <p:sp>
        <p:nvSpPr>
          <p:cNvPr id="20" name="Figure 8 label 19 line 1">
            <a:extLst xmlns:a="http://schemas.openxmlformats.org/drawingml/2006/main">
              <a:ext uri="{FF2B5EF4-FFF2-40B4-BE49-F238E27FC236}">
                <a16:creationId xmlns:a16="http://schemas.microsoft.com/office/drawing/2014/main" id="{FAF5F4B2-A1A1-49D9-BBE5-9356C729F42B}"/>
              </a:ext>
            </a:extLst>
          </p:cNvPr>
          <p:cNvSpPr>
            <a:spLocks xmlns:a="http://schemas.openxmlformats.org/drawingml/2006/main" noGrp="1"/>
          </p:cNvSpPr>
          <p:nvPr/>
        </p:nvSpPr>
        <p:spPr>
          <a:xfrm xmlns:a="http://schemas.openxmlformats.org/drawingml/2006/main" rot="0">
            <a:off x="991870" y="420392"/>
            <a:ext cx="803007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08  Potential supply constraints over 12–24 months</a:t>
            </a:r>
          </a:p>
        </p:txBody>
      </p:sp>
      <p:sp>
        <p:nvSpPr>
          <p:cNvPr id="21" name="Figure 8 label 20 line 1">
            <a:extLst xmlns:a="http://schemas.openxmlformats.org/drawingml/2006/main">
              <a:ext uri="{FF2B5EF4-FFF2-40B4-BE49-F238E27FC236}">
                <a16:creationId xmlns:a16="http://schemas.microsoft.com/office/drawing/2014/main" id="{7961FE66-C71B-42D0-9B8F-E259038289D7}"/>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2" name="Figure 8 label 21 line 1">
            <a:extLst xmlns:a="http://schemas.openxmlformats.org/drawingml/2006/main">
              <a:ext uri="{FF2B5EF4-FFF2-40B4-BE49-F238E27FC236}">
                <a16:creationId xmlns:a16="http://schemas.microsoft.com/office/drawing/2014/main" id="{8552AB92-06C5-49CC-9D53-C3A3C18F4681}"/>
              </a:ext>
            </a:extLst>
          </p:cNvPr>
          <p:cNvSpPr>
            <a:spLocks xmlns:a="http://schemas.openxmlformats.org/drawingml/2006/main" noGrp="1"/>
          </p:cNvSpPr>
          <p:nvPr/>
        </p:nvSpPr>
        <p:spPr>
          <a:xfrm xmlns:a="http://schemas.openxmlformats.org/drawingml/2006/main" rot="0">
            <a:off x="998220" y="1249487"/>
            <a:ext cx="91143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Relative expansion and qualification constraints over 12–24 months; current shortages are not established.</a:t>
            </a:r>
          </a:p>
        </p:txBody>
      </p:sp>
      <p:sp>
        <p:nvSpPr>
          <p:cNvPr id="23" name="Figure 8 label 22 line 1">
            <a:extLst xmlns:a="http://schemas.openxmlformats.org/drawingml/2006/main">
              <a:ext uri="{FF2B5EF4-FFF2-40B4-BE49-F238E27FC236}">
                <a16:creationId xmlns:a16="http://schemas.microsoft.com/office/drawing/2014/main" id="{96C67B18-AE62-4162-8644-BDD3BD281CD9}"/>
              </a:ext>
            </a:extLst>
          </p:cNvPr>
          <p:cNvSpPr>
            <a:spLocks xmlns:a="http://schemas.openxmlformats.org/drawingml/2006/main" noGrp="1"/>
          </p:cNvSpPr>
          <p:nvPr/>
        </p:nvSpPr>
        <p:spPr>
          <a:xfrm xmlns:a="http://schemas.openxmlformats.org/drawingml/2006/main" rot="0">
            <a:off x="999173" y="9256035"/>
            <a:ext cx="80950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Track lead times, stockouts, qualification, yields and prices. Manufacturing resins have a longer demand lag.</a:t>
            </a:r>
          </a:p>
        </p:txBody>
      </p:sp>
      <p:sp>
        <p:nvSpPr>
          <p:cNvPr id="24" name="Figure 8 label 23 line 1">
            <a:extLst xmlns:a="http://schemas.openxmlformats.org/drawingml/2006/main">
              <a:ext uri="{FF2B5EF4-FFF2-40B4-BE49-F238E27FC236}">
                <a16:creationId xmlns:a16="http://schemas.microsoft.com/office/drawing/2014/main" id="{4B875AA4-EF66-4FB2-BE9A-BE52E44573C3}"/>
              </a:ext>
            </a:extLst>
          </p:cNvPr>
          <p:cNvSpPr>
            <a:spLocks xmlns:a="http://schemas.openxmlformats.org/drawingml/2006/main" noGrp="1"/>
          </p:cNvSpPr>
          <p:nvPr/>
        </p:nvSpPr>
        <p:spPr>
          <a:xfrm xmlns:a="http://schemas.openxmlformats.org/drawingml/2006/main" rot="0">
            <a:off x="1000316" y="9675546"/>
            <a:ext cx="6633895"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hypotheses. Technical barriers do not prove a capacity bottleneck.</a:t>
            </a:r>
          </a:p>
        </p:txBody>
      </p:sp>
      <p:sp>
        <p:nvSpPr>
          <p:cNvPr id="25" name="Figure 8 label 24 line 1">
            <a:extLst xmlns:a="http://schemas.openxmlformats.org/drawingml/2006/main">
              <a:ext uri="{FF2B5EF4-FFF2-40B4-BE49-F238E27FC236}">
                <a16:creationId xmlns:a16="http://schemas.microsoft.com/office/drawing/2014/main" id="{36DFFFCD-E456-4B59-8D47-C7A3ABFFF97C}"/>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6" name="Figure 8 label 25 line 1">
            <a:extLst xmlns:a="http://schemas.openxmlformats.org/drawingml/2006/main">
              <a:ext uri="{FF2B5EF4-FFF2-40B4-BE49-F238E27FC236}">
                <a16:creationId xmlns:a16="http://schemas.microsoft.com/office/drawing/2014/main" id="{FC0DFB0A-69B0-4618-9531-AFF5B523FF91}"/>
              </a:ext>
            </a:extLst>
          </p:cNvPr>
          <p:cNvSpPr>
            <a:spLocks xmlns:a="http://schemas.openxmlformats.org/drawingml/2006/main" noGrp="1"/>
          </p:cNvSpPr>
          <p:nvPr/>
        </p:nvSpPr>
        <p:spPr>
          <a:xfrm xmlns:a="http://schemas.openxmlformats.org/drawingml/2006/main" rot="0">
            <a:off x="15811500" y="3274865"/>
            <a:ext cx="18606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Potential opportunity</a:t>
            </a:r>
          </a:p>
        </p:txBody>
      </p:sp>
      <p:sp>
        <p:nvSpPr>
          <p:cNvPr id="27" name="Figure 8 label 26 line 1">
            <a:extLst xmlns:a="http://schemas.openxmlformats.org/drawingml/2006/main">
              <a:ext uri="{FF2B5EF4-FFF2-40B4-BE49-F238E27FC236}">
                <a16:creationId xmlns:a16="http://schemas.microsoft.com/office/drawing/2014/main" id="{52660943-0A97-413E-8335-5CC1E4DA5F99}"/>
              </a:ext>
            </a:extLst>
          </p:cNvPr>
          <p:cNvSpPr>
            <a:spLocks xmlns:a="http://schemas.openxmlformats.org/drawingml/2006/main" noGrp="1"/>
          </p:cNvSpPr>
          <p:nvPr/>
        </p:nvSpPr>
        <p:spPr>
          <a:xfrm xmlns:a="http://schemas.openxmlformats.org/drawingml/2006/main" rot="0">
            <a:off x="15812135" y="4388424"/>
            <a:ext cx="130740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Strong demand</a:t>
            </a:r>
          </a:p>
        </p:txBody>
      </p:sp>
      <p:sp>
        <p:nvSpPr>
          <p:cNvPr id="28" name="Figure 8 label 27 line 1">
            <a:extLst xmlns:a="http://schemas.openxmlformats.org/drawingml/2006/main">
              <a:ext uri="{FF2B5EF4-FFF2-40B4-BE49-F238E27FC236}">
                <a16:creationId xmlns:a16="http://schemas.microsoft.com/office/drawing/2014/main" id="{D6A3501A-71F7-41D0-8831-B1DEEF1A7608}"/>
              </a:ext>
            </a:extLst>
          </p:cNvPr>
          <p:cNvSpPr>
            <a:spLocks xmlns:a="http://schemas.openxmlformats.org/drawingml/2006/main" noGrp="1"/>
          </p:cNvSpPr>
          <p:nvPr/>
        </p:nvSpPr>
        <p:spPr>
          <a:xfrm xmlns:a="http://schemas.openxmlformats.org/drawingml/2006/main" rot="0">
            <a:off x="15812135" y="4641202"/>
            <a:ext cx="1336427"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expansion</a:t>
            </a:r>
          </a:p>
        </p:txBody>
      </p:sp>
      <p:sp>
        <p:nvSpPr>
          <p:cNvPr id="29" name="Figure 8 label 28 line 1">
            <a:extLst xmlns:a="http://schemas.openxmlformats.org/drawingml/2006/main">
              <a:ext uri="{FF2B5EF4-FFF2-40B4-BE49-F238E27FC236}">
                <a16:creationId xmlns:a16="http://schemas.microsoft.com/office/drawing/2014/main" id="{4B7D3149-2B43-4093-8CFE-CD9CDDC6896F}"/>
              </a:ext>
            </a:extLst>
          </p:cNvPr>
          <p:cNvSpPr>
            <a:spLocks xmlns:a="http://schemas.openxmlformats.org/drawingml/2006/main" noGrp="1"/>
          </p:cNvSpPr>
          <p:nvPr/>
        </p:nvSpPr>
        <p:spPr>
          <a:xfrm xmlns:a="http://schemas.openxmlformats.org/drawingml/2006/main" rot="0">
            <a:off x="15812135" y="4892097"/>
            <a:ext cx="1462633"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qualification</a:t>
            </a:r>
          </a:p>
        </p:txBody>
      </p:sp>
      <p:sp>
        <p:nvSpPr>
          <p:cNvPr id="30" name="Figure 8 label 29 line 1">
            <a:extLst xmlns:a="http://schemas.openxmlformats.org/drawingml/2006/main">
              <a:ext uri="{FF2B5EF4-FFF2-40B4-BE49-F238E27FC236}">
                <a16:creationId xmlns:a16="http://schemas.microsoft.com/office/drawing/2014/main" id="{5BC5A9D4-EDD2-4C47-BAA9-E12CBB9D4B9C}"/>
              </a:ext>
            </a:extLst>
          </p:cNvPr>
          <p:cNvSpPr>
            <a:spLocks xmlns:a="http://schemas.openxmlformats.org/drawingml/2006/main" noGrp="1"/>
          </p:cNvSpPr>
          <p:nvPr/>
        </p:nvSpPr>
        <p:spPr>
          <a:xfrm xmlns:a="http://schemas.openxmlformats.org/drawingml/2006/main" rot="0">
            <a:off x="15812135" y="5139374"/>
            <a:ext cx="149195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All need evidence</a:t>
            </a:r>
          </a:p>
        </p:txBody>
      </p:sp>
      <p:sp>
        <p:nvSpPr>
          <p:cNvPr id="31" name="Figure 8 label 30 line 1">
            <a:extLst xmlns:a="http://schemas.openxmlformats.org/drawingml/2006/main">
              <a:ext uri="{FF2B5EF4-FFF2-40B4-BE49-F238E27FC236}">
                <a16:creationId xmlns:a16="http://schemas.microsoft.com/office/drawing/2014/main" id="{E1962F03-C6FD-4907-8FB4-4310D2FD298E}"/>
              </a:ext>
            </a:extLst>
          </p:cNvPr>
          <p:cNvSpPr>
            <a:spLocks xmlns:a="http://schemas.openxmlformats.org/drawingml/2006/main" noGrp="1"/>
          </p:cNvSpPr>
          <p:nvPr/>
        </p:nvSpPr>
        <p:spPr>
          <a:xfrm xmlns:a="http://schemas.openxmlformats.org/drawingml/2006/main" rot="0">
            <a:off x="15812262" y="6652643"/>
            <a:ext cx="152188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Check inventories,</a:t>
            </a:r>
          </a:p>
        </p:txBody>
      </p:sp>
      <p:sp>
        <p:nvSpPr>
          <p:cNvPr id="32" name="Figure 8 label 31 line 1">
            <a:extLst xmlns:a="http://schemas.openxmlformats.org/drawingml/2006/main">
              <a:ext uri="{FF2B5EF4-FFF2-40B4-BE49-F238E27FC236}">
                <a16:creationId xmlns:a16="http://schemas.microsoft.com/office/drawing/2014/main" id="{2942C45B-B8D6-4855-9C3E-D1551723FEF3}"/>
              </a:ext>
            </a:extLst>
          </p:cNvPr>
          <p:cNvSpPr>
            <a:spLocks xmlns:a="http://schemas.openxmlformats.org/drawingml/2006/main" noGrp="1"/>
          </p:cNvSpPr>
          <p:nvPr/>
        </p:nvSpPr>
        <p:spPr>
          <a:xfrm xmlns:a="http://schemas.openxmlformats.org/drawingml/2006/main" rot="0">
            <a:off x="15812262" y="6895424"/>
            <a:ext cx="93118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orders and</a:t>
            </a:r>
          </a:p>
        </p:txBody>
      </p:sp>
      <p:sp>
        <p:nvSpPr>
          <p:cNvPr id="33" name="Figure 8 label 32 line 1">
            <a:extLst xmlns:a="http://schemas.openxmlformats.org/drawingml/2006/main">
              <a:ext uri="{FF2B5EF4-FFF2-40B4-BE49-F238E27FC236}">
                <a16:creationId xmlns:a16="http://schemas.microsoft.com/office/drawing/2014/main" id="{DC70F69F-0E34-446A-ACB9-ED0005D6255A}"/>
              </a:ext>
            </a:extLst>
          </p:cNvPr>
          <p:cNvSpPr>
            <a:spLocks xmlns:a="http://schemas.openxmlformats.org/drawingml/2006/main" noGrp="1"/>
          </p:cNvSpPr>
          <p:nvPr/>
        </p:nvSpPr>
        <p:spPr>
          <a:xfrm xmlns:a="http://schemas.openxmlformats.org/drawingml/2006/main" rot="0">
            <a:off x="15812262" y="7138206"/>
            <a:ext cx="8929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lead times</a:t>
            </a:r>
          </a:p>
        </p:txBody>
      </p:sp>
    </p:spTree>
    <p:extLst>
      <p:ext uri="{BB962C8B-B14F-4D97-AF65-F5344CB8AC3E}">
        <p14:creationId xmlns:p14="http://schemas.microsoft.com/office/powerpoint/2010/main" val="2024547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2026-10-13T06:02:17.1270000Z</dcterms:created>
  <dcterms:modified xsi:type="dcterms:W3CDTF">2026-10-13T06:02:17.1270000Z</dcterms:modified>
</coreProperties>
</file>