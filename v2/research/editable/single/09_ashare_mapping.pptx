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3af34278324d0b" /><Relationship Type="http://schemas.openxmlformats.org/officeDocument/2006/relationships/extended-properties" Target="/docProps/app.xml" Id="R733c19cf790e4c75" /><Relationship Type="http://schemas.openxmlformats.org/officeDocument/2006/relationships/officeDocument" Target="/ppt/presentation.xml" Id="R3681a439c99f4ed1" /></Relationships>
</file>

<file path=ppt/presentation.xml><?xml version="1.0" encoding="utf-8"?>
<p:presentation xmlns:p="http://schemas.openxmlformats.org/presentationml/2006/main">
  <p:sldMasterIdLst>
    <p:sldMasterId xmlns:r="http://schemas.openxmlformats.org/officeDocument/2006/relationships" id="2147483648" r:id="Recc8aee4b44d4f0c"/>
  </p:sldMasterIdLst>
  <p:notesMasterIdLst>
    <p:notesMasterId xmlns:r="http://schemas.openxmlformats.org/officeDocument/2006/relationships" r:id="R3d559c4558a14d35"/>
  </p:notesMasterIdLst>
  <p:sldIdLst>
    <p:sldId xmlns:r="http://schemas.openxmlformats.org/officeDocument/2006/relationships" id="256" r:id="Rbb2f40c920a546c0"/>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22af28d17f4f2f" /><Relationship Type="http://schemas.openxmlformats.org/officeDocument/2006/relationships/slideMaster" Target="/ppt/slideMasters/slideMaster1.xml" Id="Recc8aee4b44d4f0c" /><Relationship Type="http://schemas.openxmlformats.org/officeDocument/2006/relationships/notesMaster" Target="/ppt/notesMasters/notesMaster1.xml" Id="R3d559c4558a14d35" /><Relationship Type="http://schemas.openxmlformats.org/officeDocument/2006/relationships/presProps" Target="/ppt/presProps.xml" Id="Rb9603b5e254549a8" /><Relationship Type="http://schemas.openxmlformats.org/officeDocument/2006/relationships/tableStyles" Target="/ppt/tableStyles.xml" Id="R42811e6aac424344" /><Relationship Type="http://schemas.openxmlformats.org/officeDocument/2006/relationships/slide" Target="/ppt/slides/slide1.xml" Id="Rbb2f40c920a546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9412e3a86b41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5f707bee894d50" /><Relationship Type="http://schemas.openxmlformats.org/officeDocument/2006/relationships/notesMaster" Target="/ppt/notesMasters/notesMaster1.xml" Id="R2783c896534844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9: Mapping Chinese listed LST suppliers</a:t>
            </a:r>
          </a:p>
          <a:p xmlns:a="http://schemas.openxmlformats.org/drawingml/2006/main">
            <a:r>
              <a:t>Evidence status: Research hypothesis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104f74dd0c4d6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39e820f3a145b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6714d58b77e454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89215af412940f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e6d0f966a2642f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7a5fefd85ea40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4B83A0-09A3-4FEF-BED1-91F4F6EC598D}"/>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27ED62F-A26A-4B02-9977-44A221FE204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0C5D465-0DB3-492B-BDED-914A8B179FE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C0EAB4-7F12-4015-9B6D-96A0FAC6F15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4CABBE-B501-4C05-A776-B0D0671CC626}"/>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5DF615-7C56-41F2-86D4-2A107540C9D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6C856D-0567-42BE-959A-E52B6A289B3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9A74224-2A3C-4429-8210-27B5C2B15AE0}"/>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80D093-E26B-4F28-A2A0-2B710C9F382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DDF9D0-C90B-4E92-8F3F-0E23D1FA792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83b129bd9e4dca" /><Relationship Type="http://schemas.openxmlformats.org/officeDocument/2006/relationships/slideLayout" Target="/ppt/slideLayouts/slideLayout1.xml" Id="R088d3ffaa1db4be5" /><Relationship Type="http://schemas.openxmlformats.org/officeDocument/2006/relationships/slideLayout" Target="/ppt/slideLayouts/slideLayout2.xml" Id="R6c36daaaaac84d1e" /><Relationship Type="http://schemas.openxmlformats.org/officeDocument/2006/relationships/slideLayout" Target="/ppt/slideLayouts/slideLayout3.xml" Id="R64c4fb3b62da486d" /><Relationship Type="http://schemas.openxmlformats.org/officeDocument/2006/relationships/slideLayout" Target="/ppt/slideLayouts/slideLayout4.xml" Id="Rc610252792e5452f" /><Relationship Type="http://schemas.openxmlformats.org/officeDocument/2006/relationships/slideLayout" Target="/ppt/slideLayouts/slideLayout5.xml" Id="R2a7a91e5dfe54681" /><Relationship Type="http://schemas.openxmlformats.org/officeDocument/2006/relationships/slideLayout" Target="/ppt/slideLayouts/slideLayout6.xml" Id="R0bf0cbd71d0e42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8d3ffaa1db4be5"/>
    <p:sldLayoutId xmlns:r="http://schemas.openxmlformats.org/officeDocument/2006/relationships" id="2147483650" r:id="R6c36daaaaac84d1e"/>
    <p:sldLayoutId xmlns:r="http://schemas.openxmlformats.org/officeDocument/2006/relationships" id="2147483651" r:id="R64c4fb3b62da486d"/>
    <p:sldLayoutId xmlns:r="http://schemas.openxmlformats.org/officeDocument/2006/relationships" id="2147483652" r:id="Rc610252792e5452f"/>
    <p:sldLayoutId xmlns:r="http://schemas.openxmlformats.org/officeDocument/2006/relationships" id="2147483653" r:id="R2a7a91e5dfe54681"/>
    <p:sldLayoutId xmlns:r="http://schemas.openxmlformats.org/officeDocument/2006/relationships" id="2147483654" r:id="R0bf0cbd71d0e42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408e06d0db14de1" /><Relationship Type="http://schemas.openxmlformats.org/officeDocument/2006/relationships/image" Target="/ppt/media/image.png" Id="R2855d06cf432419a" /><Relationship Type="http://schemas.openxmlformats.org/officeDocument/2006/relationships/notesSlide" Target="/ppt/notesSlides/notesSlide1.xml" Id="R989767d26def487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C3EE66DF-D502-48C1-A884-F9B84D7E6436}"/>
              </a:ext>
            </a:extLst>
          </p:cNvPr>
          <p:cNvPicPr>
            <a:picLocks xmlns:a="http://schemas.openxmlformats.org/drawingml/2006/main" noChangeAspect="1"/>
          </p:cNvPicPr>
          <p:nvPr/>
        </p:nvPicPr>
        <p:blipFill>
          <a:blip xmlns:r="http://schemas.openxmlformats.org/officeDocument/2006/relationships" xmlns:a="http://schemas.openxmlformats.org/drawingml/2006/main" r:embed="R2855d06cf432419a"/>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9 label 1 line 1">
            <a:extLst xmlns:a="http://schemas.openxmlformats.org/drawingml/2006/main">
              <a:ext uri="{FF2B5EF4-FFF2-40B4-BE49-F238E27FC236}">
                <a16:creationId xmlns:a16="http://schemas.microsoft.com/office/drawing/2014/main" id="{E69EF126-A55F-4C0E-B906-9025E66A34CD}"/>
              </a:ext>
            </a:extLst>
          </p:cNvPr>
          <p:cNvSpPr>
            <a:spLocks xmlns:a="http://schemas.openxmlformats.org/drawingml/2006/main" noGrp="1"/>
          </p:cNvSpPr>
          <p:nvPr/>
        </p:nvSpPr>
        <p:spPr>
          <a:xfrm xmlns:a="http://schemas.openxmlformats.org/drawingml/2006/main" rot="0">
            <a:off x="2387617" y="7924632"/>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3" name="Figure 9 label 2 line 1">
            <a:extLst xmlns:a="http://schemas.openxmlformats.org/drawingml/2006/main">
              <a:ext uri="{FF2B5EF4-FFF2-40B4-BE49-F238E27FC236}">
                <a16:creationId xmlns:a16="http://schemas.microsoft.com/office/drawing/2014/main" id="{A4FD5C84-41F8-4081-AAF4-953E3D033DF1}"/>
              </a:ext>
            </a:extLst>
          </p:cNvPr>
          <p:cNvSpPr>
            <a:spLocks xmlns:a="http://schemas.openxmlformats.org/drawingml/2006/main" noGrp="1"/>
          </p:cNvSpPr>
          <p:nvPr/>
        </p:nvSpPr>
        <p:spPr>
          <a:xfrm xmlns:a="http://schemas.openxmlformats.org/drawingml/2006/main" rot="0">
            <a:off x="6503000" y="7924632"/>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4" name="Figure 9 label 3 line 1">
            <a:extLst xmlns:a="http://schemas.openxmlformats.org/drawingml/2006/main">
              <a:ext uri="{FF2B5EF4-FFF2-40B4-BE49-F238E27FC236}">
                <a16:creationId xmlns:a16="http://schemas.microsoft.com/office/drawing/2014/main" id="{D47C0F4A-269B-49B2-9445-02377226B20B}"/>
              </a:ext>
            </a:extLst>
          </p:cNvPr>
          <p:cNvSpPr>
            <a:spLocks xmlns:a="http://schemas.openxmlformats.org/drawingml/2006/main" noGrp="1"/>
          </p:cNvSpPr>
          <p:nvPr/>
        </p:nvSpPr>
        <p:spPr>
          <a:xfrm xmlns:a="http://schemas.openxmlformats.org/drawingml/2006/main" rot="0">
            <a:off x="10925268" y="7924632"/>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5" name="Figure 9 label 4 line 1">
            <a:extLst xmlns:a="http://schemas.openxmlformats.org/drawingml/2006/main">
              <a:ext uri="{FF2B5EF4-FFF2-40B4-BE49-F238E27FC236}">
                <a16:creationId xmlns:a16="http://schemas.microsoft.com/office/drawing/2014/main" id="{D7EDB85A-277B-48AC-B291-AF917AEA4765}"/>
              </a:ext>
            </a:extLst>
          </p:cNvPr>
          <p:cNvSpPr>
            <a:spLocks xmlns:a="http://schemas.openxmlformats.org/drawingml/2006/main" noGrp="1"/>
          </p:cNvSpPr>
          <p:nvPr/>
        </p:nvSpPr>
        <p:spPr>
          <a:xfrm xmlns:a="http://schemas.openxmlformats.org/drawingml/2006/main" rot="0">
            <a:off x="4883750" y="8291493"/>
            <a:ext cx="403994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Direct exposure to AI build-and-test demand →</a:t>
            </a:r>
          </a:p>
        </p:txBody>
      </p:sp>
      <p:sp>
        <p:nvSpPr>
          <p:cNvPr id="6" name="Figure 9 label 5 line 1">
            <a:extLst xmlns:a="http://schemas.openxmlformats.org/drawingml/2006/main">
              <a:ext uri="{FF2B5EF4-FFF2-40B4-BE49-F238E27FC236}">
                <a16:creationId xmlns:a16="http://schemas.microsoft.com/office/drawing/2014/main" id="{A74666C6-82AC-45F0-BBD8-A822FEA46E61}"/>
              </a:ext>
            </a:extLst>
          </p:cNvPr>
          <p:cNvSpPr>
            <a:spLocks xmlns:a="http://schemas.openxmlformats.org/drawingml/2006/main" noGrp="1"/>
          </p:cNvSpPr>
          <p:nvPr/>
        </p:nvSpPr>
        <p:spPr>
          <a:xfrm xmlns:a="http://schemas.openxmlformats.org/drawingml/2006/main" rot="0">
            <a:off x="922308" y="7147349"/>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7" name="Figure 9 label 6 line 1">
            <a:extLst xmlns:a="http://schemas.openxmlformats.org/drawingml/2006/main">
              <a:ext uri="{FF2B5EF4-FFF2-40B4-BE49-F238E27FC236}">
                <a16:creationId xmlns:a16="http://schemas.microsoft.com/office/drawing/2014/main" id="{8363DCCE-DE11-4A0D-BA11-AB88195EB022}"/>
              </a:ext>
            </a:extLst>
          </p:cNvPr>
          <p:cNvSpPr>
            <a:spLocks xmlns:a="http://schemas.openxmlformats.org/drawingml/2006/main" noGrp="1"/>
          </p:cNvSpPr>
          <p:nvPr/>
        </p:nvSpPr>
        <p:spPr>
          <a:xfrm xmlns:a="http://schemas.openxmlformats.org/drawingml/2006/main" rot="0">
            <a:off x="594291" y="4945931"/>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8" name="Figure 9 label 7 line 1">
            <a:extLst xmlns:a="http://schemas.openxmlformats.org/drawingml/2006/main">
              <a:ext uri="{FF2B5EF4-FFF2-40B4-BE49-F238E27FC236}">
                <a16:creationId xmlns:a16="http://schemas.microsoft.com/office/drawing/2014/main" id="{4D81B275-66AC-4D20-B00C-B3D9FB7F3B6A}"/>
              </a:ext>
            </a:extLst>
          </p:cNvPr>
          <p:cNvSpPr>
            <a:spLocks xmlns:a="http://schemas.openxmlformats.org/drawingml/2006/main" noGrp="1"/>
          </p:cNvSpPr>
          <p:nvPr/>
        </p:nvSpPr>
        <p:spPr>
          <a:xfrm xmlns:a="http://schemas.openxmlformats.org/drawingml/2006/main" rot="0">
            <a:off x="880041" y="2744513"/>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9" name="Figure 9 label 8 line 1">
            <a:extLst xmlns:a="http://schemas.openxmlformats.org/drawingml/2006/main">
              <a:ext uri="{FF2B5EF4-FFF2-40B4-BE49-F238E27FC236}">
                <a16:creationId xmlns:a16="http://schemas.microsoft.com/office/drawing/2014/main" id="{BC660A58-F7EF-4839-B7C1-48E5073B302B}"/>
              </a:ext>
            </a:extLst>
          </p:cNvPr>
          <p:cNvSpPr>
            <a:spLocks xmlns:a="http://schemas.openxmlformats.org/drawingml/2006/main" noGrp="1"/>
          </p:cNvSpPr>
          <p:nvPr/>
        </p:nvSpPr>
        <p:spPr>
          <a:xfrm xmlns:a="http://schemas.openxmlformats.org/drawingml/2006/main" rot="16200000">
            <a:off x="-1393066" y="4918710"/>
            <a:ext cx="374317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Supply barriers / global customer access →</a:t>
            </a:r>
          </a:p>
        </p:txBody>
      </p:sp>
      <p:sp>
        <p:nvSpPr>
          <p:cNvPr id="10" name="Figure 9 label 9 line 1">
            <a:extLst xmlns:a="http://schemas.openxmlformats.org/drawingml/2006/main">
              <a:ext uri="{FF2B5EF4-FFF2-40B4-BE49-F238E27FC236}">
                <a16:creationId xmlns:a16="http://schemas.microsoft.com/office/drawing/2014/main" id="{A26C8C47-C00D-449E-B247-24C419C2A403}"/>
              </a:ext>
            </a:extLst>
          </p:cNvPr>
          <p:cNvSpPr>
            <a:spLocks xmlns:a="http://schemas.openxmlformats.org/drawingml/2006/main" noGrp="1"/>
          </p:cNvSpPr>
          <p:nvPr/>
        </p:nvSpPr>
        <p:spPr>
          <a:xfrm xmlns:a="http://schemas.openxmlformats.org/drawingml/2006/main" rot="0">
            <a:off x="9366521" y="2832061"/>
            <a:ext cx="144214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313" b="0">
                <a:solidFill>
                  <a:srgbClr val="00355F"/>
                </a:solidFill>
                <a:latin typeface="Arial Unicode MS"/>
                <a:ea typeface="Arial Unicode MS"/>
                <a:cs typeface="Arial Unicode MS"/>
              </a:defRPr>
            </a:defPPr>
          </a:lstStyle>
          <a:p xmlns:a="http://schemas.openxmlformats.org/drawingml/2006/main">
            <a:pPr algn="r">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ACROBiosystems</a:t>
            </a:r>
          </a:p>
        </p:txBody>
      </p:sp>
      <p:sp>
        <p:nvSpPr>
          <p:cNvPr id="11" name="Figure 9 label 10 line 1">
            <a:extLst xmlns:a="http://schemas.openxmlformats.org/drawingml/2006/main">
              <a:ext uri="{FF2B5EF4-FFF2-40B4-BE49-F238E27FC236}">
                <a16:creationId xmlns:a16="http://schemas.microsoft.com/office/drawing/2014/main" id="{95E47979-BF94-4E96-879A-DF64524BFEA7}"/>
              </a:ext>
            </a:extLst>
          </p:cNvPr>
          <p:cNvSpPr>
            <a:spLocks xmlns:a="http://schemas.openxmlformats.org/drawingml/2006/main" noGrp="1"/>
          </p:cNvSpPr>
          <p:nvPr/>
        </p:nvSpPr>
        <p:spPr>
          <a:xfrm xmlns:a="http://schemas.openxmlformats.org/drawingml/2006/main" rot="0">
            <a:off x="11007531" y="3656577"/>
            <a:ext cx="71050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313" b="0">
                <a:solidFill>
                  <a:srgbClr val="00355F"/>
                </a:solidFill>
                <a:latin typeface="Arial Unicode MS"/>
                <a:ea typeface="Arial Unicode MS"/>
                <a:cs typeface="Arial Unicode MS"/>
              </a:defRPr>
            </a:defPPr>
          </a:lstStyle>
          <a:p xmlns:a="http://schemas.openxmlformats.org/drawingml/2006/main">
            <a:pPr algn="r">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Vazyme</a:t>
            </a:r>
          </a:p>
        </p:txBody>
      </p:sp>
      <p:sp>
        <p:nvSpPr>
          <p:cNvPr id="12" name="Figure 9 label 11 line 1">
            <a:extLst xmlns:a="http://schemas.openxmlformats.org/drawingml/2006/main">
              <a:ext uri="{FF2B5EF4-FFF2-40B4-BE49-F238E27FC236}">
                <a16:creationId xmlns:a16="http://schemas.microsoft.com/office/drawing/2014/main" id="{D199948A-268A-4862-9F45-3196CFAF932C}"/>
              </a:ext>
            </a:extLst>
          </p:cNvPr>
          <p:cNvSpPr>
            <a:spLocks xmlns:a="http://schemas.openxmlformats.org/drawingml/2006/main" noGrp="1"/>
          </p:cNvSpPr>
          <p:nvPr/>
        </p:nvSpPr>
        <p:spPr>
          <a:xfrm xmlns:a="http://schemas.openxmlformats.org/drawingml/2006/main" rot="0">
            <a:off x="8394840" y="3492487"/>
            <a:ext cx="1201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Sino Biological</a:t>
            </a:r>
          </a:p>
        </p:txBody>
      </p:sp>
      <p:sp>
        <p:nvSpPr>
          <p:cNvPr id="13" name="Figure 9 label 12 line 1">
            <a:extLst xmlns:a="http://schemas.openxmlformats.org/drawingml/2006/main">
              <a:ext uri="{FF2B5EF4-FFF2-40B4-BE49-F238E27FC236}">
                <a16:creationId xmlns:a16="http://schemas.microsoft.com/office/drawing/2014/main" id="{9CDA1CBC-5283-48AD-8360-EF67A605769B}"/>
              </a:ext>
            </a:extLst>
          </p:cNvPr>
          <p:cNvSpPr>
            <a:spLocks xmlns:a="http://schemas.openxmlformats.org/drawingml/2006/main" noGrp="1"/>
          </p:cNvSpPr>
          <p:nvPr/>
        </p:nvSpPr>
        <p:spPr>
          <a:xfrm xmlns:a="http://schemas.openxmlformats.org/drawingml/2006/main" rot="0">
            <a:off x="8180871" y="4400454"/>
            <a:ext cx="100726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Novoprotein</a:t>
            </a:r>
          </a:p>
        </p:txBody>
      </p:sp>
      <p:sp>
        <p:nvSpPr>
          <p:cNvPr id="14" name="Figure 9 label 13 line 1">
            <a:extLst xmlns:a="http://schemas.openxmlformats.org/drawingml/2006/main">
              <a:ext uri="{FF2B5EF4-FFF2-40B4-BE49-F238E27FC236}">
                <a16:creationId xmlns:a16="http://schemas.microsoft.com/office/drawing/2014/main" id="{4157130B-D9BD-4DB7-8CDA-A3060A5E6F98}"/>
              </a:ext>
            </a:extLst>
          </p:cNvPr>
          <p:cNvSpPr>
            <a:spLocks xmlns:a="http://schemas.openxmlformats.org/drawingml/2006/main" noGrp="1"/>
          </p:cNvSpPr>
          <p:nvPr/>
        </p:nvSpPr>
        <p:spPr>
          <a:xfrm xmlns:a="http://schemas.openxmlformats.org/drawingml/2006/main" rot="0">
            <a:off x="5238788" y="3409816"/>
            <a:ext cx="914400"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NanoMicro</a:t>
            </a:r>
          </a:p>
        </p:txBody>
      </p:sp>
      <p:sp>
        <p:nvSpPr>
          <p:cNvPr id="15" name="Figure 9 label 14 line 1">
            <a:extLst xmlns:a="http://schemas.openxmlformats.org/drawingml/2006/main">
              <a:ext uri="{FF2B5EF4-FFF2-40B4-BE49-F238E27FC236}">
                <a16:creationId xmlns:a16="http://schemas.microsoft.com/office/drawing/2014/main" id="{152D6370-3B49-493A-B561-81C805C30C6E}"/>
              </a:ext>
            </a:extLst>
          </p:cNvPr>
          <p:cNvSpPr>
            <a:spLocks xmlns:a="http://schemas.openxmlformats.org/drawingml/2006/main" noGrp="1"/>
          </p:cNvSpPr>
          <p:nvPr/>
        </p:nvSpPr>
        <p:spPr>
          <a:xfrm xmlns:a="http://schemas.openxmlformats.org/drawingml/2006/main" rot="0">
            <a:off x="5773712" y="4153810"/>
            <a:ext cx="58102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Sepax</a:t>
            </a:r>
          </a:p>
        </p:txBody>
      </p:sp>
      <p:sp>
        <p:nvSpPr>
          <p:cNvPr id="16" name="Figure 9 label 15 line 1">
            <a:extLst xmlns:a="http://schemas.openxmlformats.org/drawingml/2006/main">
              <a:ext uri="{FF2B5EF4-FFF2-40B4-BE49-F238E27FC236}">
                <a16:creationId xmlns:a16="http://schemas.microsoft.com/office/drawing/2014/main" id="{8CE561F4-CD96-4812-9FF9-C785E099D5C5}"/>
              </a:ext>
            </a:extLst>
          </p:cNvPr>
          <p:cNvSpPr>
            <a:spLocks xmlns:a="http://schemas.openxmlformats.org/drawingml/2006/main" noGrp="1"/>
          </p:cNvSpPr>
          <p:nvPr/>
        </p:nvSpPr>
        <p:spPr>
          <a:xfrm xmlns:a="http://schemas.openxmlformats.org/drawingml/2006/main" rot="0">
            <a:off x="8662301" y="5336057"/>
            <a:ext cx="81230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JET Biofil</a:t>
            </a:r>
          </a:p>
        </p:txBody>
      </p:sp>
      <p:sp>
        <p:nvSpPr>
          <p:cNvPr id="17" name="Figure 9 label 16 line 1">
            <a:extLst xmlns:a="http://schemas.openxmlformats.org/drawingml/2006/main">
              <a:ext uri="{FF2B5EF4-FFF2-40B4-BE49-F238E27FC236}">
                <a16:creationId xmlns:a16="http://schemas.microsoft.com/office/drawing/2014/main" id="{107D08B6-742C-4163-BC91-AB25D522E0FF}"/>
              </a:ext>
            </a:extLst>
          </p:cNvPr>
          <p:cNvSpPr>
            <a:spLocks xmlns:a="http://schemas.openxmlformats.org/drawingml/2006/main" noGrp="1"/>
          </p:cNvSpPr>
          <p:nvPr/>
        </p:nvSpPr>
        <p:spPr>
          <a:xfrm xmlns:a="http://schemas.openxmlformats.org/drawingml/2006/main" rot="0">
            <a:off x="7271500" y="3795182"/>
            <a:ext cx="97035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Changhong</a:t>
            </a:r>
          </a:p>
        </p:txBody>
      </p:sp>
      <p:sp>
        <p:nvSpPr>
          <p:cNvPr id="18" name="Figure 9 label 17 line 1">
            <a:extLst xmlns:a="http://schemas.openxmlformats.org/drawingml/2006/main">
              <a:ext uri="{FF2B5EF4-FFF2-40B4-BE49-F238E27FC236}">
                <a16:creationId xmlns:a16="http://schemas.microsoft.com/office/drawing/2014/main" id="{4D587231-F9C8-41B6-99FC-5990D5957CA8}"/>
              </a:ext>
            </a:extLst>
          </p:cNvPr>
          <p:cNvSpPr>
            <a:spLocks xmlns:a="http://schemas.openxmlformats.org/drawingml/2006/main" noGrp="1"/>
          </p:cNvSpPr>
          <p:nvPr/>
        </p:nvSpPr>
        <p:spPr>
          <a:xfrm xmlns:a="http://schemas.openxmlformats.org/drawingml/2006/main" rot="0">
            <a:off x="9732150" y="4593078"/>
            <a:ext cx="1387078"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Bide Pharmatech</a:t>
            </a:r>
          </a:p>
        </p:txBody>
      </p:sp>
      <p:sp>
        <p:nvSpPr>
          <p:cNvPr id="19" name="Figure 9 label 18 line 1">
            <a:extLst xmlns:a="http://schemas.openxmlformats.org/drawingml/2006/main">
              <a:ext uri="{FF2B5EF4-FFF2-40B4-BE49-F238E27FC236}">
                <a16:creationId xmlns:a16="http://schemas.microsoft.com/office/drawing/2014/main" id="{285D2120-2106-452B-9950-D4C0D0D435CB}"/>
              </a:ext>
            </a:extLst>
          </p:cNvPr>
          <p:cNvSpPr>
            <a:spLocks xmlns:a="http://schemas.openxmlformats.org/drawingml/2006/main" noGrp="1"/>
          </p:cNvSpPr>
          <p:nvPr/>
        </p:nvSpPr>
        <p:spPr>
          <a:xfrm xmlns:a="http://schemas.openxmlformats.org/drawingml/2006/main" rot="0">
            <a:off x="10669817" y="5337072"/>
            <a:ext cx="115520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313" b="0">
                <a:solidFill>
                  <a:srgbClr val="00355F"/>
                </a:solidFill>
                <a:latin typeface="Arial Unicode MS"/>
                <a:ea typeface="Arial Unicode MS"/>
                <a:cs typeface="Arial Unicode MS"/>
              </a:defRPr>
            </a:defPPr>
          </a:lstStyle>
          <a:p xmlns:a="http://schemas.openxmlformats.org/drawingml/2006/main">
            <a:pPr algn="r">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ChemExpress</a:t>
            </a:r>
          </a:p>
        </p:txBody>
      </p:sp>
      <p:sp>
        <p:nvSpPr>
          <p:cNvPr id="20" name="Figure 9 label 19 line 1">
            <a:extLst xmlns:a="http://schemas.openxmlformats.org/drawingml/2006/main">
              <a:ext uri="{FF2B5EF4-FFF2-40B4-BE49-F238E27FC236}">
                <a16:creationId xmlns:a16="http://schemas.microsoft.com/office/drawing/2014/main" id="{3BA8BB65-8962-464C-A930-7327CDBBC33F}"/>
              </a:ext>
            </a:extLst>
          </p:cNvPr>
          <p:cNvSpPr>
            <a:spLocks xmlns:a="http://schemas.openxmlformats.org/drawingml/2006/main" noGrp="1"/>
          </p:cNvSpPr>
          <p:nvPr/>
        </p:nvSpPr>
        <p:spPr>
          <a:xfrm xmlns:a="http://schemas.openxmlformats.org/drawingml/2006/main" rot="0">
            <a:off x="6041174" y="2721873"/>
            <a:ext cx="42326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MGI</a:t>
            </a:r>
          </a:p>
        </p:txBody>
      </p:sp>
      <p:sp>
        <p:nvSpPr>
          <p:cNvPr id="21" name="Figure 9 label 20 line 1">
            <a:extLst xmlns:a="http://schemas.openxmlformats.org/drawingml/2006/main">
              <a:ext uri="{FF2B5EF4-FFF2-40B4-BE49-F238E27FC236}">
                <a16:creationId xmlns:a16="http://schemas.microsoft.com/office/drawing/2014/main" id="{8C506471-935D-405C-B382-F334B1F613A4}"/>
              </a:ext>
            </a:extLst>
          </p:cNvPr>
          <p:cNvSpPr>
            <a:spLocks xmlns:a="http://schemas.openxmlformats.org/drawingml/2006/main" noGrp="1"/>
          </p:cNvSpPr>
          <p:nvPr/>
        </p:nvSpPr>
        <p:spPr>
          <a:xfrm xmlns:a="http://schemas.openxmlformats.org/drawingml/2006/main" rot="0">
            <a:off x="4757357" y="4868255"/>
            <a:ext cx="142383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OPM Biosciences</a:t>
            </a:r>
          </a:p>
        </p:txBody>
      </p:sp>
      <p:sp>
        <p:nvSpPr>
          <p:cNvPr id="22" name="Figure 9 label 21 line 1">
            <a:extLst xmlns:a="http://schemas.openxmlformats.org/drawingml/2006/main">
              <a:ext uri="{FF2B5EF4-FFF2-40B4-BE49-F238E27FC236}">
                <a16:creationId xmlns:a16="http://schemas.microsoft.com/office/drawing/2014/main" id="{8C4E7EA0-CBA3-4270-BDDC-522FF5E11F7D}"/>
              </a:ext>
            </a:extLst>
          </p:cNvPr>
          <p:cNvSpPr>
            <a:spLocks xmlns:a="http://schemas.openxmlformats.org/drawingml/2006/main" noGrp="1"/>
          </p:cNvSpPr>
          <p:nvPr/>
        </p:nvSpPr>
        <p:spPr>
          <a:xfrm xmlns:a="http://schemas.openxmlformats.org/drawingml/2006/main" rot="0">
            <a:off x="991870" y="421920"/>
            <a:ext cx="6574235"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09  Mapping Chinese listed LST suppliers</a:t>
            </a:r>
          </a:p>
        </p:txBody>
      </p:sp>
      <p:sp>
        <p:nvSpPr>
          <p:cNvPr id="23" name="Figure 9 label 22 line 1">
            <a:extLst xmlns:a="http://schemas.openxmlformats.org/drawingml/2006/main">
              <a:ext uri="{FF2B5EF4-FFF2-40B4-BE49-F238E27FC236}">
                <a16:creationId xmlns:a16="http://schemas.microsoft.com/office/drawing/2014/main" id="{38DE6EA9-9458-4BC1-A64F-763CCE8D2C82}"/>
              </a:ext>
            </a:extLst>
          </p:cNvPr>
          <p:cNvSpPr>
            <a:spLocks xmlns:a="http://schemas.openxmlformats.org/drawingml/2006/main" noGrp="1"/>
          </p:cNvSpPr>
          <p:nvPr/>
        </p:nvSpPr>
        <p:spPr>
          <a:xfrm xmlns:a="http://schemas.openxmlformats.org/drawingml/2006/main" rot="0">
            <a:off x="15695588" y="661601"/>
            <a:ext cx="107002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HYPOTHESIS</a:t>
            </a:r>
          </a:p>
        </p:txBody>
      </p:sp>
      <p:sp>
        <p:nvSpPr>
          <p:cNvPr id="24" name="Figure 9 label 23 line 1">
            <a:extLst xmlns:a="http://schemas.openxmlformats.org/drawingml/2006/main">
              <a:ext uri="{FF2B5EF4-FFF2-40B4-BE49-F238E27FC236}">
                <a16:creationId xmlns:a16="http://schemas.microsoft.com/office/drawing/2014/main" id="{2C7B9C16-122C-4121-BC84-4B7EA3F2B0CE}"/>
              </a:ext>
            </a:extLst>
          </p:cNvPr>
          <p:cNvSpPr>
            <a:spLocks xmlns:a="http://schemas.openxmlformats.org/drawingml/2006/main" noGrp="1"/>
          </p:cNvSpPr>
          <p:nvPr/>
        </p:nvSpPr>
        <p:spPr>
          <a:xfrm xmlns:a="http://schemas.openxmlformats.org/drawingml/2006/main" rot="0">
            <a:off x="998220" y="1248326"/>
            <a:ext cx="929401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Product exposure to AI build-and-test stages; positions do not measure AI revenue share or investment rank.</a:t>
            </a:r>
          </a:p>
        </p:txBody>
      </p:sp>
      <p:sp>
        <p:nvSpPr>
          <p:cNvPr id="25" name="Figure 9 label 24 line 1">
            <a:extLst xmlns:a="http://schemas.openxmlformats.org/drawingml/2006/main">
              <a:ext uri="{FF2B5EF4-FFF2-40B4-BE49-F238E27FC236}">
                <a16:creationId xmlns:a16="http://schemas.microsoft.com/office/drawing/2014/main" id="{12321B44-D6CE-44F4-8D6B-BC9AC9FA1EB3}"/>
              </a:ext>
            </a:extLst>
          </p:cNvPr>
          <p:cNvSpPr>
            <a:spLocks xmlns:a="http://schemas.openxmlformats.org/drawingml/2006/main" noGrp="1"/>
          </p:cNvSpPr>
          <p:nvPr/>
        </p:nvSpPr>
        <p:spPr>
          <a:xfrm xmlns:a="http://schemas.openxmlformats.org/drawingml/2006/main" rot="0">
            <a:off x="999173" y="9256035"/>
            <a:ext cx="803954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Axes are qualitative judgments. Qualification, global customer access and paid orders still require evidence.</a:t>
            </a:r>
          </a:p>
        </p:txBody>
      </p:sp>
      <p:sp>
        <p:nvSpPr>
          <p:cNvPr id="26" name="Figure 9 label 25 line 1">
            <a:extLst xmlns:a="http://schemas.openxmlformats.org/drawingml/2006/main">
              <a:ext uri="{FF2B5EF4-FFF2-40B4-BE49-F238E27FC236}">
                <a16:creationId xmlns:a16="http://schemas.microsoft.com/office/drawing/2014/main" id="{47A39011-0C96-420C-B9C8-ED25272FEEEB}"/>
              </a:ext>
            </a:extLst>
          </p:cNvPr>
          <p:cNvSpPr>
            <a:spLocks xmlns:a="http://schemas.openxmlformats.org/drawingml/2006/main" noGrp="1"/>
          </p:cNvSpPr>
          <p:nvPr/>
        </p:nvSpPr>
        <p:spPr>
          <a:xfrm xmlns:a="http://schemas.openxmlformats.org/drawingml/2006/main" rot="0">
            <a:off x="1000316" y="9675546"/>
            <a:ext cx="6595646"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Sources: company filings and official product catalogs. Product rationale and assumptions are in data.json.</a:t>
            </a:r>
          </a:p>
        </p:txBody>
      </p:sp>
      <p:sp>
        <p:nvSpPr>
          <p:cNvPr id="27" name="Figure 9 label 26 line 1">
            <a:extLst xmlns:a="http://schemas.openxmlformats.org/drawingml/2006/main">
              <a:ext uri="{FF2B5EF4-FFF2-40B4-BE49-F238E27FC236}">
                <a16:creationId xmlns:a16="http://schemas.microsoft.com/office/drawing/2014/main" id="{C8162D5B-4319-4AAA-9083-62E7A6CFB0FF}"/>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28" name="Figure 9 label 27 line 1">
            <a:extLst xmlns:a="http://schemas.openxmlformats.org/drawingml/2006/main">
              <a:ext uri="{FF2B5EF4-FFF2-40B4-BE49-F238E27FC236}">
                <a16:creationId xmlns:a16="http://schemas.microsoft.com/office/drawing/2014/main" id="{40F2175D-D961-4BAB-A9BE-EEFFE9120378}"/>
              </a:ext>
            </a:extLst>
          </p:cNvPr>
          <p:cNvSpPr>
            <a:spLocks xmlns:a="http://schemas.openxmlformats.org/drawingml/2006/main" noGrp="1"/>
          </p:cNvSpPr>
          <p:nvPr/>
        </p:nvSpPr>
        <p:spPr>
          <a:xfrm xmlns:a="http://schemas.openxmlformats.org/drawingml/2006/main" rot="0">
            <a:off x="13250545" y="2538787"/>
            <a:ext cx="1017439"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1">
                <a:solidFill>
                  <a:srgbClr val="00355F"/>
                </a:solidFill>
                <a:latin typeface="Arial Unicode MS"/>
                <a:ea typeface="Arial Unicode MS"/>
                <a:cs typeface="Arial Unicode MS"/>
              </a:defRPr>
            </a:pPr>
            <a:r>
              <a:rPr sz="1625" b="1">
                <a:solidFill>
                  <a:srgbClr val="00355F"/>
                </a:solidFill>
                <a:latin typeface="Arial Unicode MS"/>
                <a:ea typeface="Arial Unicode MS"/>
                <a:cs typeface="Arial Unicode MS"/>
              </a:rPr>
              <a:t>Reagents</a:t>
            </a:r>
          </a:p>
        </p:txBody>
      </p:sp>
      <p:sp>
        <p:nvSpPr>
          <p:cNvPr id="29" name="Figure 9 label 28 line 1">
            <a:extLst xmlns:a="http://schemas.openxmlformats.org/drawingml/2006/main">
              <a:ext uri="{FF2B5EF4-FFF2-40B4-BE49-F238E27FC236}">
                <a16:creationId xmlns:a16="http://schemas.microsoft.com/office/drawing/2014/main" id="{4124C53A-5761-4FF2-9AE4-BD653F84C64D}"/>
              </a:ext>
            </a:extLst>
          </p:cNvPr>
          <p:cNvSpPr>
            <a:spLocks xmlns:a="http://schemas.openxmlformats.org/drawingml/2006/main" noGrp="1"/>
          </p:cNvSpPr>
          <p:nvPr/>
        </p:nvSpPr>
        <p:spPr>
          <a:xfrm xmlns:a="http://schemas.openxmlformats.org/drawingml/2006/main" rot="0">
            <a:off x="13252133" y="3010811"/>
            <a:ext cx="2591246"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Proteins, enzymes, blocks, media</a:t>
            </a:r>
          </a:p>
        </p:txBody>
      </p:sp>
      <p:sp>
        <p:nvSpPr>
          <p:cNvPr id="30" name="Figure 9 label 29 line 1">
            <a:extLst xmlns:a="http://schemas.openxmlformats.org/drawingml/2006/main">
              <a:ext uri="{FF2B5EF4-FFF2-40B4-BE49-F238E27FC236}">
                <a16:creationId xmlns:a16="http://schemas.microsoft.com/office/drawing/2014/main" id="{D917400A-B1D2-4DEB-A1FE-8AFF71B73F7E}"/>
              </a:ext>
            </a:extLst>
          </p:cNvPr>
          <p:cNvSpPr>
            <a:spLocks xmlns:a="http://schemas.openxmlformats.org/drawingml/2006/main" noGrp="1"/>
          </p:cNvSpPr>
          <p:nvPr/>
        </p:nvSpPr>
        <p:spPr>
          <a:xfrm xmlns:a="http://schemas.openxmlformats.org/drawingml/2006/main" rot="0">
            <a:off x="13250545" y="3620034"/>
            <a:ext cx="1395611"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1">
                <a:solidFill>
                  <a:srgbClr val="00355F"/>
                </a:solidFill>
                <a:latin typeface="Arial Unicode MS"/>
                <a:ea typeface="Arial Unicode MS"/>
                <a:cs typeface="Arial Unicode MS"/>
              </a:defRPr>
            </a:pPr>
            <a:r>
              <a:rPr sz="1625" b="1">
                <a:solidFill>
                  <a:srgbClr val="00355F"/>
                </a:solidFill>
                <a:latin typeface="Arial Unicode MS"/>
                <a:ea typeface="Arial Unicode MS"/>
                <a:cs typeface="Arial Unicode MS"/>
              </a:rPr>
              <a:t>Consumables</a:t>
            </a:r>
          </a:p>
        </p:txBody>
      </p:sp>
      <p:sp>
        <p:nvSpPr>
          <p:cNvPr id="31" name="Figure 9 label 30 line 1">
            <a:extLst xmlns:a="http://schemas.openxmlformats.org/drawingml/2006/main">
              <a:ext uri="{FF2B5EF4-FFF2-40B4-BE49-F238E27FC236}">
                <a16:creationId xmlns:a16="http://schemas.microsoft.com/office/drawing/2014/main" id="{0AA69522-BC4C-4683-BE2A-32B2571AF967}"/>
              </a:ext>
            </a:extLst>
          </p:cNvPr>
          <p:cNvSpPr>
            <a:spLocks xmlns:a="http://schemas.openxmlformats.org/drawingml/2006/main" noGrp="1"/>
          </p:cNvSpPr>
          <p:nvPr/>
        </p:nvSpPr>
        <p:spPr>
          <a:xfrm xmlns:a="http://schemas.openxmlformats.org/drawingml/2006/main" rot="0">
            <a:off x="13252133" y="4091844"/>
            <a:ext cx="199831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Labware, columns, resins</a:t>
            </a:r>
          </a:p>
        </p:txBody>
      </p:sp>
      <p:sp>
        <p:nvSpPr>
          <p:cNvPr id="32" name="Figure 9 label 31 line 1">
            <a:extLst xmlns:a="http://schemas.openxmlformats.org/drawingml/2006/main">
              <a:ext uri="{FF2B5EF4-FFF2-40B4-BE49-F238E27FC236}">
                <a16:creationId xmlns:a16="http://schemas.microsoft.com/office/drawing/2014/main" id="{E6E5EA2E-2127-47D9-BF70-1E0AF70E1B39}"/>
              </a:ext>
            </a:extLst>
          </p:cNvPr>
          <p:cNvSpPr>
            <a:spLocks xmlns:a="http://schemas.openxmlformats.org/drawingml/2006/main" noGrp="1"/>
          </p:cNvSpPr>
          <p:nvPr/>
        </p:nvSpPr>
        <p:spPr>
          <a:xfrm xmlns:a="http://schemas.openxmlformats.org/drawingml/2006/main" rot="0">
            <a:off x="13250545" y="4701427"/>
            <a:ext cx="2232323"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1">
                <a:solidFill>
                  <a:srgbClr val="00355F"/>
                </a:solidFill>
                <a:latin typeface="Arial Unicode MS"/>
                <a:ea typeface="Arial Unicode MS"/>
                <a:cs typeface="Arial Unicode MS"/>
              </a:defRPr>
            </a:pPr>
            <a:r>
              <a:rPr sz="1625" b="1">
                <a:solidFill>
                  <a:srgbClr val="00355F"/>
                </a:solidFill>
                <a:latin typeface="Arial Unicode MS"/>
                <a:ea typeface="Arial Unicode MS"/>
                <a:cs typeface="Arial Unicode MS"/>
              </a:rPr>
              <a:t>Instruments / platforms</a:t>
            </a:r>
          </a:p>
        </p:txBody>
      </p:sp>
      <p:sp>
        <p:nvSpPr>
          <p:cNvPr id="33" name="Figure 9 label 32 line 1">
            <a:extLst xmlns:a="http://schemas.openxmlformats.org/drawingml/2006/main">
              <a:ext uri="{FF2B5EF4-FFF2-40B4-BE49-F238E27FC236}">
                <a16:creationId xmlns:a16="http://schemas.microsoft.com/office/drawing/2014/main" id="{3E7A5F52-4F27-4A91-B26A-BF5341FF49E0}"/>
              </a:ext>
            </a:extLst>
          </p:cNvPr>
          <p:cNvSpPr>
            <a:spLocks xmlns:a="http://schemas.openxmlformats.org/drawingml/2006/main" noGrp="1"/>
          </p:cNvSpPr>
          <p:nvPr/>
        </p:nvSpPr>
        <p:spPr>
          <a:xfrm xmlns:a="http://schemas.openxmlformats.org/drawingml/2006/main" rot="0">
            <a:off x="13252133" y="5172097"/>
            <a:ext cx="2184350"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Sequencing and automation</a:t>
            </a:r>
          </a:p>
        </p:txBody>
      </p:sp>
      <p:sp>
        <p:nvSpPr>
          <p:cNvPr id="34" name="Figure 9 label 33 line 1">
            <a:extLst xmlns:a="http://schemas.openxmlformats.org/drawingml/2006/main">
              <a:ext uri="{FF2B5EF4-FFF2-40B4-BE49-F238E27FC236}">
                <a16:creationId xmlns:a16="http://schemas.microsoft.com/office/drawing/2014/main" id="{E20ABD02-7398-4A0A-A810-6711EF9E6775}"/>
              </a:ext>
            </a:extLst>
          </p:cNvPr>
          <p:cNvSpPr>
            <a:spLocks xmlns:a="http://schemas.openxmlformats.org/drawingml/2006/main" noGrp="1"/>
          </p:cNvSpPr>
          <p:nvPr/>
        </p:nvSpPr>
        <p:spPr>
          <a:xfrm xmlns:a="http://schemas.openxmlformats.org/drawingml/2006/main" rot="0">
            <a:off x="13342620" y="6238682"/>
            <a:ext cx="282416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1">
                <a:solidFill>
                  <a:srgbClr val="00355F"/>
                </a:solidFill>
                <a:latin typeface="Arial Unicode MS"/>
                <a:ea typeface="Arial Unicode MS"/>
                <a:cs typeface="Arial Unicode MS"/>
              </a:defRPr>
            </a:pPr>
            <a:r>
              <a:rPr sz="1500" b="1">
                <a:solidFill>
                  <a:srgbClr val="00355F"/>
                </a:solidFill>
                <a:latin typeface="Arial Unicode MS"/>
                <a:ea typeface="Arial Unicode MS"/>
                <a:cs typeface="Arial Unicode MS"/>
              </a:rPr>
              <a:t>Two different demand pathways</a:t>
            </a:r>
          </a:p>
        </p:txBody>
      </p:sp>
      <p:sp>
        <p:nvSpPr>
          <p:cNvPr id="35" name="Figure 9 label 34 line 1">
            <a:extLst xmlns:a="http://schemas.openxmlformats.org/drawingml/2006/main">
              <a:ext uri="{FF2B5EF4-FFF2-40B4-BE49-F238E27FC236}">
                <a16:creationId xmlns:a16="http://schemas.microsoft.com/office/drawing/2014/main" id="{5AFD6A78-AE6D-44B8-AEED-F12E265E3B2A}"/>
              </a:ext>
            </a:extLst>
          </p:cNvPr>
          <p:cNvSpPr>
            <a:spLocks xmlns:a="http://schemas.openxmlformats.org/drawingml/2006/main" noGrp="1"/>
          </p:cNvSpPr>
          <p:nvPr/>
        </p:nvSpPr>
        <p:spPr>
          <a:xfrm xmlns:a="http://schemas.openxmlformats.org/drawingml/2006/main" rot="0">
            <a:off x="13343446" y="6645481"/>
            <a:ext cx="2961065"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ACRO: expression / functional assays</a:t>
            </a:r>
          </a:p>
        </p:txBody>
      </p:sp>
      <p:sp>
        <p:nvSpPr>
          <p:cNvPr id="36" name="Figure 9 label 35 line 1">
            <a:extLst xmlns:a="http://schemas.openxmlformats.org/drawingml/2006/main">
              <a:ext uri="{FF2B5EF4-FFF2-40B4-BE49-F238E27FC236}">
                <a16:creationId xmlns:a16="http://schemas.microsoft.com/office/drawing/2014/main" id="{9E57967D-AE6E-414B-8570-9CCED117E2A1}"/>
              </a:ext>
            </a:extLst>
          </p:cNvPr>
          <p:cNvSpPr>
            <a:spLocks xmlns:a="http://schemas.openxmlformats.org/drawingml/2006/main" noGrp="1"/>
          </p:cNvSpPr>
          <p:nvPr/>
        </p:nvSpPr>
        <p:spPr>
          <a:xfrm xmlns:a="http://schemas.openxmlformats.org/drawingml/2006/main" rot="0">
            <a:off x="13343446" y="6903730"/>
            <a:ext cx="2682756"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NanoMicro: purification + scale-up</a:t>
            </a:r>
          </a:p>
        </p:txBody>
      </p:sp>
    </p:spTree>
    <p:extLst>
      <p:ext uri="{BB962C8B-B14F-4D97-AF65-F5344CB8AC3E}">
        <p14:creationId xmlns:p14="http://schemas.microsoft.com/office/powerpoint/2010/main" val="20304491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2026-10-13T06:02:19.9250000Z</dcterms:created>
  <dcterms:modified xsi:type="dcterms:W3CDTF">2026-10-13T06:02:19.9250000Z</dcterms:modified>
</coreProperties>
</file>