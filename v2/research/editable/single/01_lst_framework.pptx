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0d464fda984668" /><Relationship Type="http://schemas.openxmlformats.org/officeDocument/2006/relationships/extended-properties" Target="/docProps/app.xml" Id="R4acc2ffda42643ea" /><Relationship Type="http://schemas.openxmlformats.org/officeDocument/2006/relationships/officeDocument" Target="/ppt/presentation.xml" Id="R55546ff178bb4fa8" /></Relationships>
</file>

<file path=ppt/presentation.xml><?xml version="1.0" encoding="utf-8"?>
<p:presentation xmlns:p="http://schemas.openxmlformats.org/presentationml/2006/main">
  <p:sldMasterIdLst>
    <p:sldMasterId xmlns:r="http://schemas.openxmlformats.org/officeDocument/2006/relationships" id="2147483648" r:id="Ra40d39c4924a4e72"/>
  </p:sldMasterIdLst>
  <p:notesMasterIdLst>
    <p:notesMasterId xmlns:r="http://schemas.openxmlformats.org/officeDocument/2006/relationships" r:id="R5ccabcc4f0824d81"/>
  </p:notesMasterIdLst>
  <p:sldIdLst>
    <p:sldId xmlns:r="http://schemas.openxmlformats.org/officeDocument/2006/relationships" id="256" r:id="R974a1b69161e4d1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7a1eb1ea054bea" /><Relationship Type="http://schemas.openxmlformats.org/officeDocument/2006/relationships/slideMaster" Target="/ppt/slideMasters/slideMaster1.xml" Id="Ra40d39c4924a4e72" /><Relationship Type="http://schemas.openxmlformats.org/officeDocument/2006/relationships/notesMaster" Target="/ppt/notesMasters/notesMaster1.xml" Id="R5ccabcc4f0824d81" /><Relationship Type="http://schemas.openxmlformats.org/officeDocument/2006/relationships/presProps" Target="/ppt/presProps.xml" Id="R4b73122b86f042c7" /><Relationship Type="http://schemas.openxmlformats.org/officeDocument/2006/relationships/tableStyles" Target="/ppt/tableStyles.xml" Id="Rfa861f8955c848a6" /><Relationship Type="http://schemas.openxmlformats.org/officeDocument/2006/relationships/slide" Target="/ppt/slides/slide1.xml" Id="R974a1b69161e4d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ce2038978442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bd929d39d14c2e" /><Relationship Type="http://schemas.openxmlformats.org/officeDocument/2006/relationships/notesMaster" Target="/ppt/notesMasters/notesMaster1.xml" Id="Rfd968dacece540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The life science tools framework</a:t>
            </a:r>
          </a:p>
          <a:p xmlns:a="http://schemas.openxmlformats.org/drawingml/2006/main">
            <a:r>
              <a:t>Evidence status: Framework</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86e0928c2747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ad8b35d6bc4f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77309534a445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d270b054264c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6ce0e4d6d043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68b142fd9a47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cb0ce8bf0348df" /><Relationship Type="http://schemas.openxmlformats.org/officeDocument/2006/relationships/slideLayout" Target="/ppt/slideLayouts/slideLayout1.xml" Id="R77c87243614d4f64" /><Relationship Type="http://schemas.openxmlformats.org/officeDocument/2006/relationships/slideLayout" Target="/ppt/slideLayouts/slideLayout2.xml" Id="Rd2d04ba40be14390" /><Relationship Type="http://schemas.openxmlformats.org/officeDocument/2006/relationships/slideLayout" Target="/ppt/slideLayouts/slideLayout3.xml" Id="R2df6f5b28c6847b2" /><Relationship Type="http://schemas.openxmlformats.org/officeDocument/2006/relationships/slideLayout" Target="/ppt/slideLayouts/slideLayout4.xml" Id="R5a359b37611d46fd" /><Relationship Type="http://schemas.openxmlformats.org/officeDocument/2006/relationships/slideLayout" Target="/ppt/slideLayouts/slideLayout5.xml" Id="R0340aed66aae49ff" /><Relationship Type="http://schemas.openxmlformats.org/officeDocument/2006/relationships/slideLayout" Target="/ppt/slideLayouts/slideLayout6.xml" Id="R0146f94671c64b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c87243614d4f64"/>
    <p:sldLayoutId xmlns:r="http://schemas.openxmlformats.org/officeDocument/2006/relationships" id="2147483650" r:id="Rd2d04ba40be14390"/>
    <p:sldLayoutId xmlns:r="http://schemas.openxmlformats.org/officeDocument/2006/relationships" id="2147483651" r:id="R2df6f5b28c6847b2"/>
    <p:sldLayoutId xmlns:r="http://schemas.openxmlformats.org/officeDocument/2006/relationships" id="2147483652" r:id="R5a359b37611d46fd"/>
    <p:sldLayoutId xmlns:r="http://schemas.openxmlformats.org/officeDocument/2006/relationships" id="2147483653" r:id="R0340aed66aae49ff"/>
    <p:sldLayoutId xmlns:r="http://schemas.openxmlformats.org/officeDocument/2006/relationships" id="2147483654" r:id="R0146f94671c64b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a4ab2d7fb94255" /><Relationship Type="http://schemas.openxmlformats.org/officeDocument/2006/relationships/image" Target="/ppt/media/image.png" Id="R665bb6dbbe484ad3" /><Relationship Type="http://schemas.openxmlformats.org/officeDocument/2006/relationships/notesSlide" Target="/ppt/notesSlides/notesSlide1.xml" Id="Ra55471dc570144e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5" name="">
            <a:extLst xmlns:a="http://schemas.openxmlformats.org/drawingml/2006/main">
              <a:ext uri="{FF2B5EF4-FFF2-40B4-BE49-F238E27FC236}">
                <a16:creationId xmlns:a16="http://schemas.microsoft.com/office/drawing/2014/main" id="{679594CB-1694-4DDC-92A2-713A447ABC7E}"/>
              </a:ext>
            </a:extLst>
          </p:cNvPr>
          <p:cNvPicPr>
            <a:picLocks xmlns:a="http://schemas.openxmlformats.org/drawingml/2006/main" noChangeAspect="1"/>
          </p:cNvPicPr>
          <p:nvPr/>
        </p:nvPicPr>
        <p:blipFill>
          <a:blip xmlns:r="http://schemas.openxmlformats.org/officeDocument/2006/relationships" xmlns:a="http://schemas.openxmlformats.org/drawingml/2006/main" r:embed="R665bb6dbbe484ad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 label 1 line 1">
            <a:extLst xmlns:a="http://schemas.openxmlformats.org/drawingml/2006/main">
              <a:ext uri="{FF2B5EF4-FFF2-40B4-BE49-F238E27FC236}">
                <a16:creationId xmlns:a16="http://schemas.microsoft.com/office/drawing/2014/main" id="{4931E23A-CD3D-48FA-96AD-B4205B1DC3C9}"/>
              </a:ext>
            </a:extLst>
          </p:cNvPr>
          <p:cNvSpPr>
            <a:spLocks xmlns:a="http://schemas.openxmlformats.org/drawingml/2006/main" noGrp="1"/>
          </p:cNvSpPr>
          <p:nvPr/>
        </p:nvSpPr>
        <p:spPr>
          <a:xfrm xmlns:a="http://schemas.openxmlformats.org/drawingml/2006/main" rot="0">
            <a:off x="991870" y="421675"/>
            <a:ext cx="570001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01  The life science tools framework</a:t>
            </a:r>
          </a:p>
        </p:txBody>
      </p:sp>
      <p:sp>
        <p:nvSpPr>
          <p:cNvPr id="3" name="Figure 1 label 2 line 1">
            <a:extLst xmlns:a="http://schemas.openxmlformats.org/drawingml/2006/main">
              <a:ext uri="{FF2B5EF4-FFF2-40B4-BE49-F238E27FC236}">
                <a16:creationId xmlns:a16="http://schemas.microsoft.com/office/drawing/2014/main" id="{C7C9948D-FC3C-4DE3-8FAF-607D6F66A09A}"/>
              </a:ext>
            </a:extLst>
          </p:cNvPr>
          <p:cNvSpPr>
            <a:spLocks xmlns:a="http://schemas.openxmlformats.org/drawingml/2006/main" noGrp="1"/>
          </p:cNvSpPr>
          <p:nvPr/>
        </p:nvSpPr>
        <p:spPr>
          <a:xfrm xmlns:a="http://schemas.openxmlformats.org/drawingml/2006/main" rot="0">
            <a:off x="15683161" y="661601"/>
            <a:ext cx="109487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FRAMEWORK</a:t>
            </a:r>
          </a:p>
        </p:txBody>
      </p:sp>
      <p:sp>
        <p:nvSpPr>
          <p:cNvPr id="4" name="Figure 1 label 3 line 1">
            <a:extLst xmlns:a="http://schemas.openxmlformats.org/drawingml/2006/main">
              <a:ext uri="{FF2B5EF4-FFF2-40B4-BE49-F238E27FC236}">
                <a16:creationId xmlns:a16="http://schemas.microsoft.com/office/drawing/2014/main" id="{9BE203A1-5960-4741-8539-A79833CBA697}"/>
              </a:ext>
            </a:extLst>
          </p:cNvPr>
          <p:cNvSpPr>
            <a:spLocks xmlns:a="http://schemas.openxmlformats.org/drawingml/2006/main" noGrp="1"/>
          </p:cNvSpPr>
          <p:nvPr/>
        </p:nvSpPr>
        <p:spPr>
          <a:xfrm xmlns:a="http://schemas.openxmlformats.org/drawingml/2006/main" rot="0">
            <a:off x="998220" y="1249487"/>
            <a:ext cx="844629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product framework spanning academic research, biotech, pharma, CRDMOs and manufacturing.</a:t>
            </a:r>
          </a:p>
        </p:txBody>
      </p:sp>
      <p:sp>
        <p:nvSpPr>
          <p:cNvPr id="5" name="Figure 1 label 4 line 1">
            <a:extLst xmlns:a="http://schemas.openxmlformats.org/drawingml/2006/main">
              <a:ext uri="{FF2B5EF4-FFF2-40B4-BE49-F238E27FC236}">
                <a16:creationId xmlns:a16="http://schemas.microsoft.com/office/drawing/2014/main" id="{DE157CF1-BF89-4EDE-AC06-A050436C595A}"/>
              </a:ext>
            </a:extLst>
          </p:cNvPr>
          <p:cNvSpPr>
            <a:spLocks xmlns:a="http://schemas.openxmlformats.org/drawingml/2006/main" noGrp="1"/>
          </p:cNvSpPr>
          <p:nvPr/>
        </p:nvSpPr>
        <p:spPr>
          <a:xfrm xmlns:a="http://schemas.openxmlformats.org/drawingml/2006/main" rot="0">
            <a:off x="999173" y="9256035"/>
            <a:ext cx="671408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Classify products separately from their use cases. Chromatography resins can be reused.</a:t>
            </a:r>
          </a:p>
        </p:txBody>
      </p:sp>
      <p:sp>
        <p:nvSpPr>
          <p:cNvPr id="6" name="Figure 1 label 5 line 1">
            <a:extLst xmlns:a="http://schemas.openxmlformats.org/drawingml/2006/main">
              <a:ext uri="{FF2B5EF4-FFF2-40B4-BE49-F238E27FC236}">
                <a16:creationId xmlns:a16="http://schemas.microsoft.com/office/drawing/2014/main" id="{F2CD1E48-FF74-4FAC-ABE6-2C1EA953F379}"/>
              </a:ext>
            </a:extLst>
          </p:cNvPr>
          <p:cNvSpPr>
            <a:spLocks xmlns:a="http://schemas.openxmlformats.org/drawingml/2006/main" noGrp="1"/>
          </p:cNvSpPr>
          <p:nvPr/>
        </p:nvSpPr>
        <p:spPr>
          <a:xfrm xmlns:a="http://schemas.openxmlformats.org/drawingml/2006/main" rot="0">
            <a:off x="1000316" y="9675546"/>
            <a:ext cx="6311087"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product research. Existing TAMs do not automatically reconcile.</a:t>
            </a:r>
          </a:p>
        </p:txBody>
      </p:sp>
      <p:sp>
        <p:nvSpPr>
          <p:cNvPr id="7" name="Figure 1 label 6 line 1">
            <a:extLst xmlns:a="http://schemas.openxmlformats.org/drawingml/2006/main">
              <a:ext uri="{FF2B5EF4-FFF2-40B4-BE49-F238E27FC236}">
                <a16:creationId xmlns:a16="http://schemas.microsoft.com/office/drawing/2014/main" id="{CD5069AD-68D9-40EA-8554-301BD383729E}"/>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 label 7 line 1">
            <a:extLst xmlns:a="http://schemas.openxmlformats.org/drawingml/2006/main">
              <a:ext uri="{FF2B5EF4-FFF2-40B4-BE49-F238E27FC236}">
                <a16:creationId xmlns:a16="http://schemas.microsoft.com/office/drawing/2014/main" id="{C293AF32-5073-4440-B10B-ABA83FBA5E6E}"/>
              </a:ext>
            </a:extLst>
          </p:cNvPr>
          <p:cNvSpPr>
            <a:spLocks xmlns:a="http://schemas.openxmlformats.org/drawingml/2006/main" noGrp="1"/>
          </p:cNvSpPr>
          <p:nvPr/>
        </p:nvSpPr>
        <p:spPr>
          <a:xfrm xmlns:a="http://schemas.openxmlformats.org/drawingml/2006/main" rot="0">
            <a:off x="1394206" y="2415470"/>
            <a:ext cx="1721842"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FFFFFF"/>
                </a:solidFill>
                <a:latin typeface="Arial Unicode MS"/>
                <a:ea typeface="Arial Unicode MS"/>
                <a:cs typeface="Arial Unicode MS"/>
              </a:defRPr>
            </a:defPPr>
          </a:lstStyle>
          <a:p xmlns:a="http://schemas.openxmlformats.org/drawingml/2006/main">
            <a:pPr algn="l">
              <a:lnSpc>
                <a:spcPct val="100000"/>
              </a:lnSpc>
              <a:buNone/>
              <a:defRPr sz="2750" b="1">
                <a:solidFill>
                  <a:srgbClr val="FFFFFF"/>
                </a:solidFill>
                <a:latin typeface="Arial Unicode MS"/>
                <a:ea typeface="Arial Unicode MS"/>
                <a:cs typeface="Arial Unicode MS"/>
              </a:defRPr>
            </a:pPr>
            <a:r>
              <a:rPr sz="2750" b="1">
                <a:solidFill>
                  <a:srgbClr val="FFFFFF"/>
                </a:solidFill>
                <a:latin typeface="Arial Unicode MS"/>
                <a:ea typeface="Arial Unicode MS"/>
                <a:cs typeface="Arial Unicode MS"/>
              </a:rPr>
              <a:t>Reagents</a:t>
            </a:r>
          </a:p>
        </p:txBody>
      </p:sp>
      <p:sp>
        <p:nvSpPr>
          <p:cNvPr id="9" name="Figure 1 label 8 line 1">
            <a:extLst xmlns:a="http://schemas.openxmlformats.org/drawingml/2006/main">
              <a:ext uri="{FF2B5EF4-FFF2-40B4-BE49-F238E27FC236}">
                <a16:creationId xmlns:a16="http://schemas.microsoft.com/office/drawing/2014/main" id="{704FB392-E6C1-4B83-A944-0936FA9EF62D}"/>
              </a:ext>
            </a:extLst>
          </p:cNvPr>
          <p:cNvSpPr>
            <a:spLocks xmlns:a="http://schemas.openxmlformats.org/drawingml/2006/main" noGrp="1"/>
          </p:cNvSpPr>
          <p:nvPr/>
        </p:nvSpPr>
        <p:spPr>
          <a:xfrm xmlns:a="http://schemas.openxmlformats.org/drawingml/2006/main" rot="0">
            <a:off x="1401509"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10" name="Figure 1 label 9 line 1">
            <a:extLst xmlns:a="http://schemas.openxmlformats.org/drawingml/2006/main">
              <a:ext uri="{FF2B5EF4-FFF2-40B4-BE49-F238E27FC236}">
                <a16:creationId xmlns:a16="http://schemas.microsoft.com/office/drawing/2014/main" id="{A85686E1-1838-4387-91E2-051973750B27}"/>
              </a:ext>
            </a:extLst>
          </p:cNvPr>
          <p:cNvSpPr>
            <a:spLocks xmlns:a="http://schemas.openxmlformats.org/drawingml/2006/main" noGrp="1"/>
          </p:cNvSpPr>
          <p:nvPr/>
        </p:nvSpPr>
        <p:spPr>
          <a:xfrm xmlns:a="http://schemas.openxmlformats.org/drawingml/2006/main" rot="0">
            <a:off x="2022348" y="3625649"/>
            <a:ext cx="300424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Recombinant proteins / antibodies</a:t>
            </a:r>
          </a:p>
        </p:txBody>
      </p:sp>
      <p:sp>
        <p:nvSpPr>
          <p:cNvPr id="11" name="Figure 1 label 10 line 1">
            <a:extLst xmlns:a="http://schemas.openxmlformats.org/drawingml/2006/main">
              <a:ext uri="{FF2B5EF4-FFF2-40B4-BE49-F238E27FC236}">
                <a16:creationId xmlns:a16="http://schemas.microsoft.com/office/drawing/2014/main" id="{75B1D197-CCDE-49D9-B27E-0DCBD24AD660}"/>
              </a:ext>
            </a:extLst>
          </p:cNvPr>
          <p:cNvSpPr>
            <a:spLocks xmlns:a="http://schemas.openxmlformats.org/drawingml/2006/main" noGrp="1"/>
          </p:cNvSpPr>
          <p:nvPr/>
        </p:nvSpPr>
        <p:spPr>
          <a:xfrm xmlns:a="http://schemas.openxmlformats.org/drawingml/2006/main" rot="0">
            <a:off x="1401509"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12" name="Figure 1 label 11 line 1">
            <a:extLst xmlns:a="http://schemas.openxmlformats.org/drawingml/2006/main">
              <a:ext uri="{FF2B5EF4-FFF2-40B4-BE49-F238E27FC236}">
                <a16:creationId xmlns:a16="http://schemas.microsoft.com/office/drawing/2014/main" id="{6FC62664-2D36-429E-8CE9-707F304CAF9B}"/>
              </a:ext>
            </a:extLst>
          </p:cNvPr>
          <p:cNvSpPr>
            <a:spLocks xmlns:a="http://schemas.openxmlformats.org/drawingml/2006/main" noGrp="1"/>
          </p:cNvSpPr>
          <p:nvPr/>
        </p:nvSpPr>
        <p:spPr>
          <a:xfrm xmlns:a="http://schemas.openxmlformats.org/drawingml/2006/main" rot="0">
            <a:off x="2022348" y="4345874"/>
            <a:ext cx="30990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Enzymes / PCR and NGS reagents</a:t>
            </a:r>
          </a:p>
        </p:txBody>
      </p:sp>
      <p:sp>
        <p:nvSpPr>
          <p:cNvPr id="13" name="Figure 1 label 12 line 1">
            <a:extLst xmlns:a="http://schemas.openxmlformats.org/drawingml/2006/main">
              <a:ext uri="{FF2B5EF4-FFF2-40B4-BE49-F238E27FC236}">
                <a16:creationId xmlns:a16="http://schemas.microsoft.com/office/drawing/2014/main" id="{B06FC481-354D-42BF-9EB6-22EF5518B092}"/>
              </a:ext>
            </a:extLst>
          </p:cNvPr>
          <p:cNvSpPr>
            <a:spLocks xmlns:a="http://schemas.openxmlformats.org/drawingml/2006/main" noGrp="1"/>
          </p:cNvSpPr>
          <p:nvPr/>
        </p:nvSpPr>
        <p:spPr>
          <a:xfrm xmlns:a="http://schemas.openxmlformats.org/drawingml/2006/main" rot="0">
            <a:off x="1401509"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14" name="Figure 1 label 13 line 1">
            <a:extLst xmlns:a="http://schemas.openxmlformats.org/drawingml/2006/main">
              <a:ext uri="{FF2B5EF4-FFF2-40B4-BE49-F238E27FC236}">
                <a16:creationId xmlns:a16="http://schemas.microsoft.com/office/drawing/2014/main" id="{1AD7CF5A-48B2-4D06-BE9E-5A35321E1A58}"/>
              </a:ext>
            </a:extLst>
          </p:cNvPr>
          <p:cNvSpPr>
            <a:spLocks xmlns:a="http://schemas.openxmlformats.org/drawingml/2006/main" noGrp="1"/>
          </p:cNvSpPr>
          <p:nvPr/>
        </p:nvSpPr>
        <p:spPr>
          <a:xfrm xmlns:a="http://schemas.openxmlformats.org/drawingml/2006/main" rot="0">
            <a:off x="2022348" y="5064803"/>
            <a:ext cx="33001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DNA / RNA / chemical building blocks</a:t>
            </a:r>
          </a:p>
        </p:txBody>
      </p:sp>
      <p:sp>
        <p:nvSpPr>
          <p:cNvPr id="15" name="Figure 1 label 14 line 1">
            <a:extLst xmlns:a="http://schemas.openxmlformats.org/drawingml/2006/main">
              <a:ext uri="{FF2B5EF4-FFF2-40B4-BE49-F238E27FC236}">
                <a16:creationId xmlns:a16="http://schemas.microsoft.com/office/drawing/2014/main" id="{DC88C1C1-E309-4182-95D1-684B667F266E}"/>
              </a:ext>
            </a:extLst>
          </p:cNvPr>
          <p:cNvSpPr>
            <a:spLocks xmlns:a="http://schemas.openxmlformats.org/drawingml/2006/main" noGrp="1"/>
          </p:cNvSpPr>
          <p:nvPr/>
        </p:nvSpPr>
        <p:spPr>
          <a:xfrm xmlns:a="http://schemas.openxmlformats.org/drawingml/2006/main" rot="0">
            <a:off x="1401509"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16" name="Figure 1 label 15 line 1">
            <a:extLst xmlns:a="http://schemas.openxmlformats.org/drawingml/2006/main">
              <a:ext uri="{FF2B5EF4-FFF2-40B4-BE49-F238E27FC236}">
                <a16:creationId xmlns:a16="http://schemas.microsoft.com/office/drawing/2014/main" id="{270A027F-D30F-401A-9E0A-7A5249A8DF07}"/>
              </a:ext>
            </a:extLst>
          </p:cNvPr>
          <p:cNvSpPr>
            <a:spLocks xmlns:a="http://schemas.openxmlformats.org/drawingml/2006/main" noGrp="1"/>
          </p:cNvSpPr>
          <p:nvPr/>
        </p:nvSpPr>
        <p:spPr>
          <a:xfrm xmlns:a="http://schemas.openxmlformats.org/drawingml/2006/main" rot="0">
            <a:off x="2022348" y="5785920"/>
            <a:ext cx="21990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 lines / culture media</a:t>
            </a:r>
          </a:p>
        </p:txBody>
      </p:sp>
      <p:sp>
        <p:nvSpPr>
          <p:cNvPr id="17" name="Figure 1 label 16 line 1">
            <a:extLst xmlns:a="http://schemas.openxmlformats.org/drawingml/2006/main">
              <a:ext uri="{FF2B5EF4-FFF2-40B4-BE49-F238E27FC236}">
                <a16:creationId xmlns:a16="http://schemas.microsoft.com/office/drawing/2014/main" id="{8D8F154A-4720-42A9-8E7B-258E6D1A91E3}"/>
              </a:ext>
            </a:extLst>
          </p:cNvPr>
          <p:cNvSpPr>
            <a:spLocks xmlns:a="http://schemas.openxmlformats.org/drawingml/2006/main" noGrp="1"/>
          </p:cNvSpPr>
          <p:nvPr/>
        </p:nvSpPr>
        <p:spPr>
          <a:xfrm xmlns:a="http://schemas.openxmlformats.org/drawingml/2006/main" rot="0">
            <a:off x="1401509"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18" name="Figure 1 label 17 line 1">
            <a:extLst xmlns:a="http://schemas.openxmlformats.org/drawingml/2006/main">
              <a:ext uri="{FF2B5EF4-FFF2-40B4-BE49-F238E27FC236}">
                <a16:creationId xmlns:a16="http://schemas.microsoft.com/office/drawing/2014/main" id="{EFD31150-4821-4F63-8B51-AAE2370DBAA1}"/>
              </a:ext>
            </a:extLst>
          </p:cNvPr>
          <p:cNvSpPr>
            <a:spLocks xmlns:a="http://schemas.openxmlformats.org/drawingml/2006/main" noGrp="1"/>
          </p:cNvSpPr>
          <p:nvPr/>
        </p:nvSpPr>
        <p:spPr>
          <a:xfrm xmlns:a="http://schemas.openxmlformats.org/drawingml/2006/main" rot="0">
            <a:off x="2022348" y="6506143"/>
            <a:ext cx="287669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reagents for R&amp;D and QC</a:t>
            </a:r>
          </a:p>
        </p:txBody>
      </p:sp>
      <p:sp>
        <p:nvSpPr>
          <p:cNvPr id="19" name="Figure 1 label 18 line 1">
            <a:extLst xmlns:a="http://schemas.openxmlformats.org/drawingml/2006/main">
              <a:ext uri="{FF2B5EF4-FFF2-40B4-BE49-F238E27FC236}">
                <a16:creationId xmlns:a16="http://schemas.microsoft.com/office/drawing/2014/main" id="{8BEEAA7C-6AA0-42B6-AFFA-394989A67207}"/>
              </a:ext>
            </a:extLst>
          </p:cNvPr>
          <p:cNvSpPr>
            <a:spLocks xmlns:a="http://schemas.openxmlformats.org/drawingml/2006/main" noGrp="1"/>
          </p:cNvSpPr>
          <p:nvPr/>
        </p:nvSpPr>
        <p:spPr>
          <a:xfrm xmlns:a="http://schemas.openxmlformats.org/drawingml/2006/main" rot="0">
            <a:off x="1401318" y="7440635"/>
            <a:ext cx="22843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 dose per test × price</a:t>
            </a:r>
          </a:p>
        </p:txBody>
      </p:sp>
      <p:sp>
        <p:nvSpPr>
          <p:cNvPr id="20" name="Figure 1 label 19 line 1">
            <a:extLst xmlns:a="http://schemas.openxmlformats.org/drawingml/2006/main">
              <a:ext uri="{FF2B5EF4-FFF2-40B4-BE49-F238E27FC236}">
                <a16:creationId xmlns:a16="http://schemas.microsoft.com/office/drawing/2014/main" id="{C7E79E48-48E9-4822-A205-6D4D9D8B041A}"/>
              </a:ext>
            </a:extLst>
          </p:cNvPr>
          <p:cNvSpPr>
            <a:spLocks xmlns:a="http://schemas.openxmlformats.org/drawingml/2006/main" noGrp="1"/>
          </p:cNvSpPr>
          <p:nvPr/>
        </p:nvSpPr>
        <p:spPr>
          <a:xfrm xmlns:a="http://schemas.openxmlformats.org/drawingml/2006/main" rot="0">
            <a:off x="6953758" y="2417353"/>
            <a:ext cx="236210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Consumables</a:t>
            </a:r>
          </a:p>
        </p:txBody>
      </p:sp>
      <p:sp>
        <p:nvSpPr>
          <p:cNvPr id="21" name="Figure 1 label 20 line 1">
            <a:extLst xmlns:a="http://schemas.openxmlformats.org/drawingml/2006/main">
              <a:ext uri="{FF2B5EF4-FFF2-40B4-BE49-F238E27FC236}">
                <a16:creationId xmlns:a16="http://schemas.microsoft.com/office/drawing/2014/main" id="{270495B1-9546-43F4-B21C-38F97142D9DF}"/>
              </a:ext>
            </a:extLst>
          </p:cNvPr>
          <p:cNvSpPr>
            <a:spLocks xmlns:a="http://schemas.openxmlformats.org/drawingml/2006/main" noGrp="1"/>
          </p:cNvSpPr>
          <p:nvPr/>
        </p:nvSpPr>
        <p:spPr>
          <a:xfrm xmlns:a="http://schemas.openxmlformats.org/drawingml/2006/main" rot="0">
            <a:off x="6961060"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22" name="Figure 1 label 21 line 1">
            <a:extLst xmlns:a="http://schemas.openxmlformats.org/drawingml/2006/main">
              <a:ext uri="{FF2B5EF4-FFF2-40B4-BE49-F238E27FC236}">
                <a16:creationId xmlns:a16="http://schemas.microsoft.com/office/drawing/2014/main" id="{1EA6AF76-6FDE-4EA3-9EFC-84FDB7C960D7}"/>
              </a:ext>
            </a:extLst>
          </p:cNvPr>
          <p:cNvSpPr>
            <a:spLocks xmlns:a="http://schemas.openxmlformats.org/drawingml/2006/main" noGrp="1"/>
          </p:cNvSpPr>
          <p:nvPr/>
        </p:nvSpPr>
        <p:spPr>
          <a:xfrm xmlns:a="http://schemas.openxmlformats.org/drawingml/2006/main" rot="0">
            <a:off x="7581900" y="3625649"/>
            <a:ext cx="161657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Tips / microplates</a:t>
            </a:r>
          </a:p>
        </p:txBody>
      </p:sp>
      <p:sp>
        <p:nvSpPr>
          <p:cNvPr id="23" name="Figure 1 label 22 line 1">
            <a:extLst xmlns:a="http://schemas.openxmlformats.org/drawingml/2006/main">
              <a:ext uri="{FF2B5EF4-FFF2-40B4-BE49-F238E27FC236}">
                <a16:creationId xmlns:a16="http://schemas.microsoft.com/office/drawing/2014/main" id="{D695CBB5-A890-4DE9-BC1B-13DFA79943BC}"/>
              </a:ext>
            </a:extLst>
          </p:cNvPr>
          <p:cNvSpPr>
            <a:spLocks xmlns:a="http://schemas.openxmlformats.org/drawingml/2006/main" noGrp="1"/>
          </p:cNvSpPr>
          <p:nvPr/>
        </p:nvSpPr>
        <p:spPr>
          <a:xfrm xmlns:a="http://schemas.openxmlformats.org/drawingml/2006/main" rot="0">
            <a:off x="6961060"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24" name="Figure 1 label 23 line 1">
            <a:extLst xmlns:a="http://schemas.openxmlformats.org/drawingml/2006/main">
              <a:ext uri="{FF2B5EF4-FFF2-40B4-BE49-F238E27FC236}">
                <a16:creationId xmlns:a16="http://schemas.microsoft.com/office/drawing/2014/main" id="{5E70F4E3-AF68-4D53-B346-1D492AE46497}"/>
              </a:ext>
            </a:extLst>
          </p:cNvPr>
          <p:cNvSpPr>
            <a:spLocks xmlns:a="http://schemas.openxmlformats.org/drawingml/2006/main" noGrp="1"/>
          </p:cNvSpPr>
          <p:nvPr/>
        </p:nvSpPr>
        <p:spPr>
          <a:xfrm xmlns:a="http://schemas.openxmlformats.org/drawingml/2006/main" rot="0">
            <a:off x="7581900" y="4345874"/>
            <a:ext cx="279216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Culture flasks / centrifuge tubes</a:t>
            </a:r>
          </a:p>
        </p:txBody>
      </p:sp>
      <p:sp>
        <p:nvSpPr>
          <p:cNvPr id="25" name="Figure 1 label 24 line 1">
            <a:extLst xmlns:a="http://schemas.openxmlformats.org/drawingml/2006/main">
              <a:ext uri="{FF2B5EF4-FFF2-40B4-BE49-F238E27FC236}">
                <a16:creationId xmlns:a16="http://schemas.microsoft.com/office/drawing/2014/main" id="{32E9B1D9-C399-4F8E-BD67-A46AC6CC5D82}"/>
              </a:ext>
            </a:extLst>
          </p:cNvPr>
          <p:cNvSpPr>
            <a:spLocks xmlns:a="http://schemas.openxmlformats.org/drawingml/2006/main" noGrp="1"/>
          </p:cNvSpPr>
          <p:nvPr/>
        </p:nvSpPr>
        <p:spPr>
          <a:xfrm xmlns:a="http://schemas.openxmlformats.org/drawingml/2006/main" rot="0">
            <a:off x="6961060"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26" name="Figure 1 label 25 line 1">
            <a:extLst xmlns:a="http://schemas.openxmlformats.org/drawingml/2006/main">
              <a:ext uri="{FF2B5EF4-FFF2-40B4-BE49-F238E27FC236}">
                <a16:creationId xmlns:a16="http://schemas.microsoft.com/office/drawing/2014/main" id="{8D08B27C-D9FD-4E73-A20A-07BC7A769A9B}"/>
              </a:ext>
            </a:extLst>
          </p:cNvPr>
          <p:cNvSpPr>
            <a:spLocks xmlns:a="http://schemas.openxmlformats.org/drawingml/2006/main" noGrp="1"/>
          </p:cNvSpPr>
          <p:nvPr/>
        </p:nvSpPr>
        <p:spPr>
          <a:xfrm xmlns:a="http://schemas.openxmlformats.org/drawingml/2006/main" rot="0">
            <a:off x="7581900" y="5065830"/>
            <a:ext cx="267593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Membranes / functional beads</a:t>
            </a:r>
          </a:p>
        </p:txBody>
      </p:sp>
      <p:sp>
        <p:nvSpPr>
          <p:cNvPr id="27" name="Figure 1 label 26 line 1">
            <a:extLst xmlns:a="http://schemas.openxmlformats.org/drawingml/2006/main">
              <a:ext uri="{FF2B5EF4-FFF2-40B4-BE49-F238E27FC236}">
                <a16:creationId xmlns:a16="http://schemas.microsoft.com/office/drawing/2014/main" id="{431315C3-3F82-4625-86BD-690581EB191D}"/>
              </a:ext>
            </a:extLst>
          </p:cNvPr>
          <p:cNvSpPr>
            <a:spLocks xmlns:a="http://schemas.openxmlformats.org/drawingml/2006/main" noGrp="1"/>
          </p:cNvSpPr>
          <p:nvPr/>
        </p:nvSpPr>
        <p:spPr>
          <a:xfrm xmlns:a="http://schemas.openxmlformats.org/drawingml/2006/main" rot="0">
            <a:off x="6961060"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28" name="Figure 1 label 27 line 1">
            <a:extLst xmlns:a="http://schemas.openxmlformats.org/drawingml/2006/main">
              <a:ext uri="{FF2B5EF4-FFF2-40B4-BE49-F238E27FC236}">
                <a16:creationId xmlns:a16="http://schemas.microsoft.com/office/drawing/2014/main" id="{9F43EB74-D2A7-4337-B53B-17FB35BA2D83}"/>
              </a:ext>
            </a:extLst>
          </p:cNvPr>
          <p:cNvSpPr>
            <a:spLocks xmlns:a="http://schemas.openxmlformats.org/drawingml/2006/main" noGrp="1"/>
          </p:cNvSpPr>
          <p:nvPr/>
        </p:nvSpPr>
        <p:spPr>
          <a:xfrm xmlns:a="http://schemas.openxmlformats.org/drawingml/2006/main" rot="0">
            <a:off x="7581900" y="5786054"/>
            <a:ext cx="29719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Columns / chromatography resins</a:t>
            </a:r>
          </a:p>
        </p:txBody>
      </p:sp>
      <p:sp>
        <p:nvSpPr>
          <p:cNvPr id="29" name="Figure 1 label 28 line 1">
            <a:extLst xmlns:a="http://schemas.openxmlformats.org/drawingml/2006/main">
              <a:ext uri="{FF2B5EF4-FFF2-40B4-BE49-F238E27FC236}">
                <a16:creationId xmlns:a16="http://schemas.microsoft.com/office/drawing/2014/main" id="{029FA478-8E26-4BFD-866C-54A5C41E986A}"/>
              </a:ext>
            </a:extLst>
          </p:cNvPr>
          <p:cNvSpPr>
            <a:spLocks xmlns:a="http://schemas.openxmlformats.org/drawingml/2006/main" noGrp="1"/>
          </p:cNvSpPr>
          <p:nvPr/>
        </p:nvSpPr>
        <p:spPr>
          <a:xfrm xmlns:a="http://schemas.openxmlformats.org/drawingml/2006/main" rot="0">
            <a:off x="6961060"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30" name="Figure 1 label 29 line 1">
            <a:extLst xmlns:a="http://schemas.openxmlformats.org/drawingml/2006/main">
              <a:ext uri="{FF2B5EF4-FFF2-40B4-BE49-F238E27FC236}">
                <a16:creationId xmlns:a16="http://schemas.microsoft.com/office/drawing/2014/main" id="{A3C29FF5-40CE-4372-A5DA-CC3A9294E647}"/>
              </a:ext>
            </a:extLst>
          </p:cNvPr>
          <p:cNvSpPr>
            <a:spLocks xmlns:a="http://schemas.openxmlformats.org/drawingml/2006/main" noGrp="1"/>
          </p:cNvSpPr>
          <p:nvPr/>
        </p:nvSpPr>
        <p:spPr>
          <a:xfrm xmlns:a="http://schemas.openxmlformats.org/drawingml/2006/main" rot="0">
            <a:off x="7581900" y="6507171"/>
            <a:ext cx="24321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Gels / process components</a:t>
            </a:r>
          </a:p>
        </p:txBody>
      </p:sp>
      <p:sp>
        <p:nvSpPr>
          <p:cNvPr id="31" name="Figure 1 label 30 line 1">
            <a:extLst xmlns:a="http://schemas.openxmlformats.org/drawingml/2006/main">
              <a:ext uri="{FF2B5EF4-FFF2-40B4-BE49-F238E27FC236}">
                <a16:creationId xmlns:a16="http://schemas.microsoft.com/office/drawing/2014/main" id="{15EB7E92-E3AB-46EE-BA14-4D9955D2DD78}"/>
              </a:ext>
            </a:extLst>
          </p:cNvPr>
          <p:cNvSpPr>
            <a:spLocks xmlns:a="http://schemas.openxmlformats.org/drawingml/2006/main" noGrp="1"/>
          </p:cNvSpPr>
          <p:nvPr/>
        </p:nvSpPr>
        <p:spPr>
          <a:xfrm xmlns:a="http://schemas.openxmlformats.org/drawingml/2006/main" rot="0">
            <a:off x="6960870" y="7439711"/>
            <a:ext cx="2770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or batches × intensity × price</a:t>
            </a:r>
          </a:p>
        </p:txBody>
      </p:sp>
      <p:sp>
        <p:nvSpPr>
          <p:cNvPr id="32" name="Figure 1 label 31 line 1">
            <a:extLst xmlns:a="http://schemas.openxmlformats.org/drawingml/2006/main">
              <a:ext uri="{FF2B5EF4-FFF2-40B4-BE49-F238E27FC236}">
                <a16:creationId xmlns:a16="http://schemas.microsoft.com/office/drawing/2014/main" id="{5FF8286B-375B-4E9A-92C6-C035F85D5A6D}"/>
              </a:ext>
            </a:extLst>
          </p:cNvPr>
          <p:cNvSpPr>
            <a:spLocks xmlns:a="http://schemas.openxmlformats.org/drawingml/2006/main" noGrp="1"/>
          </p:cNvSpPr>
          <p:nvPr/>
        </p:nvSpPr>
        <p:spPr>
          <a:xfrm xmlns:a="http://schemas.openxmlformats.org/drawingml/2006/main" rot="0">
            <a:off x="12513310" y="2417353"/>
            <a:ext cx="205134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Instruments</a:t>
            </a:r>
          </a:p>
        </p:txBody>
      </p:sp>
      <p:sp>
        <p:nvSpPr>
          <p:cNvPr id="33" name="Figure 1 label 32 line 1">
            <a:extLst xmlns:a="http://schemas.openxmlformats.org/drawingml/2006/main">
              <a:ext uri="{FF2B5EF4-FFF2-40B4-BE49-F238E27FC236}">
                <a16:creationId xmlns:a16="http://schemas.microsoft.com/office/drawing/2014/main" id="{66628767-A120-4A63-999E-41A637852435}"/>
              </a:ext>
            </a:extLst>
          </p:cNvPr>
          <p:cNvSpPr>
            <a:spLocks xmlns:a="http://schemas.openxmlformats.org/drawingml/2006/main" noGrp="1"/>
          </p:cNvSpPr>
          <p:nvPr/>
        </p:nvSpPr>
        <p:spPr>
          <a:xfrm xmlns:a="http://schemas.openxmlformats.org/drawingml/2006/main" rot="0">
            <a:off x="12520612"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34" name="Figure 1 label 33 line 1">
            <a:extLst xmlns:a="http://schemas.openxmlformats.org/drawingml/2006/main">
              <a:ext uri="{FF2B5EF4-FFF2-40B4-BE49-F238E27FC236}">
                <a16:creationId xmlns:a16="http://schemas.microsoft.com/office/drawing/2014/main" id="{CB922FFF-84E0-4580-AB5D-F2FB4F5D79AC}"/>
              </a:ext>
            </a:extLst>
          </p:cNvPr>
          <p:cNvSpPr>
            <a:spLocks xmlns:a="http://schemas.openxmlformats.org/drawingml/2006/main" noGrp="1"/>
          </p:cNvSpPr>
          <p:nvPr/>
        </p:nvSpPr>
        <p:spPr>
          <a:xfrm xmlns:a="http://schemas.openxmlformats.org/drawingml/2006/main" rot="0">
            <a:off x="13141452" y="3626811"/>
            <a:ext cx="25278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Sequencers / liquid handlers</a:t>
            </a:r>
          </a:p>
        </p:txBody>
      </p:sp>
      <p:sp>
        <p:nvSpPr>
          <p:cNvPr id="35" name="Figure 1 label 34 line 1">
            <a:extLst xmlns:a="http://schemas.openxmlformats.org/drawingml/2006/main">
              <a:ext uri="{FF2B5EF4-FFF2-40B4-BE49-F238E27FC236}">
                <a16:creationId xmlns:a16="http://schemas.microsoft.com/office/drawing/2014/main" id="{F10FB04E-CB9A-4BD0-8A6C-8171B4223D9F}"/>
              </a:ext>
            </a:extLst>
          </p:cNvPr>
          <p:cNvSpPr>
            <a:spLocks xmlns:a="http://schemas.openxmlformats.org/drawingml/2006/main" noGrp="1"/>
          </p:cNvSpPr>
          <p:nvPr/>
        </p:nvSpPr>
        <p:spPr>
          <a:xfrm xmlns:a="http://schemas.openxmlformats.org/drawingml/2006/main" rot="0">
            <a:off x="12520612"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36" name="Figure 1 label 35 line 1">
            <a:extLst xmlns:a="http://schemas.openxmlformats.org/drawingml/2006/main">
              <a:ext uri="{FF2B5EF4-FFF2-40B4-BE49-F238E27FC236}">
                <a16:creationId xmlns:a16="http://schemas.microsoft.com/office/drawing/2014/main" id="{D6DA9808-EAB3-4698-9FD6-52BD30D6FF2A}"/>
              </a:ext>
            </a:extLst>
          </p:cNvPr>
          <p:cNvSpPr>
            <a:spLocks xmlns:a="http://schemas.openxmlformats.org/drawingml/2006/main" noGrp="1"/>
          </p:cNvSpPr>
          <p:nvPr/>
        </p:nvSpPr>
        <p:spPr>
          <a:xfrm xmlns:a="http://schemas.openxmlformats.org/drawingml/2006/main" rot="0">
            <a:off x="13141452" y="4346900"/>
            <a:ext cx="29926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LC / LC-MS / mass spectrometers</a:t>
            </a:r>
          </a:p>
        </p:txBody>
      </p:sp>
      <p:sp>
        <p:nvSpPr>
          <p:cNvPr id="37" name="Figure 1 label 36 line 1">
            <a:extLst xmlns:a="http://schemas.openxmlformats.org/drawingml/2006/main">
              <a:ext uri="{FF2B5EF4-FFF2-40B4-BE49-F238E27FC236}">
                <a16:creationId xmlns:a16="http://schemas.microsoft.com/office/drawing/2014/main" id="{46C1EAB6-65AA-41AD-AC07-C57F3A791372}"/>
              </a:ext>
            </a:extLst>
          </p:cNvPr>
          <p:cNvSpPr>
            <a:spLocks xmlns:a="http://schemas.openxmlformats.org/drawingml/2006/main" noGrp="1"/>
          </p:cNvSpPr>
          <p:nvPr/>
        </p:nvSpPr>
        <p:spPr>
          <a:xfrm xmlns:a="http://schemas.openxmlformats.org/drawingml/2006/main" rot="0">
            <a:off x="12520612"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38" name="Figure 1 label 37 line 1">
            <a:extLst xmlns:a="http://schemas.openxmlformats.org/drawingml/2006/main">
              <a:ext uri="{FF2B5EF4-FFF2-40B4-BE49-F238E27FC236}">
                <a16:creationId xmlns:a16="http://schemas.microsoft.com/office/drawing/2014/main" id="{D79C8E1C-1485-40C9-BF14-EA35FBC0E60B}"/>
              </a:ext>
            </a:extLst>
          </p:cNvPr>
          <p:cNvSpPr>
            <a:spLocks xmlns:a="http://schemas.openxmlformats.org/drawingml/2006/main" noGrp="1"/>
          </p:cNvSpPr>
          <p:nvPr/>
        </p:nvSpPr>
        <p:spPr>
          <a:xfrm xmlns:a="http://schemas.openxmlformats.org/drawingml/2006/main" rot="0">
            <a:off x="13141452" y="5064803"/>
            <a:ext cx="151060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Flow cytometers</a:t>
            </a:r>
          </a:p>
        </p:txBody>
      </p:sp>
      <p:sp>
        <p:nvSpPr>
          <p:cNvPr id="39" name="Figure 1 label 38 line 1">
            <a:extLst xmlns:a="http://schemas.openxmlformats.org/drawingml/2006/main">
              <a:ext uri="{FF2B5EF4-FFF2-40B4-BE49-F238E27FC236}">
                <a16:creationId xmlns:a16="http://schemas.microsoft.com/office/drawing/2014/main" id="{BA4B00A7-5A2C-4782-9F39-7C356279C7AB}"/>
              </a:ext>
            </a:extLst>
          </p:cNvPr>
          <p:cNvSpPr>
            <a:spLocks xmlns:a="http://schemas.openxmlformats.org/drawingml/2006/main" noGrp="1"/>
          </p:cNvSpPr>
          <p:nvPr/>
        </p:nvSpPr>
        <p:spPr>
          <a:xfrm xmlns:a="http://schemas.openxmlformats.org/drawingml/2006/main" rot="0">
            <a:off x="12520612"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40" name="Figure 1 label 39 line 1">
            <a:extLst xmlns:a="http://schemas.openxmlformats.org/drawingml/2006/main">
              <a:ext uri="{FF2B5EF4-FFF2-40B4-BE49-F238E27FC236}">
                <a16:creationId xmlns:a16="http://schemas.microsoft.com/office/drawing/2014/main" id="{0BEA9B5D-2392-44E0-BE13-92787F61E6F7}"/>
              </a:ext>
            </a:extLst>
          </p:cNvPr>
          <p:cNvSpPr>
            <a:spLocks xmlns:a="http://schemas.openxmlformats.org/drawingml/2006/main" noGrp="1"/>
          </p:cNvSpPr>
          <p:nvPr/>
        </p:nvSpPr>
        <p:spPr>
          <a:xfrm xmlns:a="http://schemas.openxmlformats.org/drawingml/2006/main" rot="0">
            <a:off x="13141452" y="5784892"/>
            <a:ext cx="267548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High-content imaging systems</a:t>
            </a:r>
          </a:p>
        </p:txBody>
      </p:sp>
      <p:sp>
        <p:nvSpPr>
          <p:cNvPr id="41" name="Figure 1 label 40 line 1">
            <a:extLst xmlns:a="http://schemas.openxmlformats.org/drawingml/2006/main">
              <a:ext uri="{FF2B5EF4-FFF2-40B4-BE49-F238E27FC236}">
                <a16:creationId xmlns:a16="http://schemas.microsoft.com/office/drawing/2014/main" id="{05504E11-A022-45EC-995D-318D1DAE9167}"/>
              </a:ext>
            </a:extLst>
          </p:cNvPr>
          <p:cNvSpPr>
            <a:spLocks xmlns:a="http://schemas.openxmlformats.org/drawingml/2006/main" noGrp="1"/>
          </p:cNvSpPr>
          <p:nvPr/>
        </p:nvSpPr>
        <p:spPr>
          <a:xfrm xmlns:a="http://schemas.openxmlformats.org/drawingml/2006/main" rot="0">
            <a:off x="12520612"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42" name="Figure 1 label 41 line 1">
            <a:extLst xmlns:a="http://schemas.openxmlformats.org/drawingml/2006/main">
              <a:ext uri="{FF2B5EF4-FFF2-40B4-BE49-F238E27FC236}">
                <a16:creationId xmlns:a16="http://schemas.microsoft.com/office/drawing/2014/main" id="{A4D742C2-8281-4405-95E6-1781912BC17D}"/>
              </a:ext>
            </a:extLst>
          </p:cNvPr>
          <p:cNvSpPr>
            <a:spLocks xmlns:a="http://schemas.openxmlformats.org/drawingml/2006/main" noGrp="1"/>
          </p:cNvSpPr>
          <p:nvPr/>
        </p:nvSpPr>
        <p:spPr>
          <a:xfrm xmlns:a="http://schemas.openxmlformats.org/drawingml/2006/main" rot="0">
            <a:off x="13141452" y="6506010"/>
            <a:ext cx="21989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Cell-culture workstations</a:t>
            </a:r>
          </a:p>
        </p:txBody>
      </p:sp>
      <p:sp>
        <p:nvSpPr>
          <p:cNvPr id="43" name="Figure 1 label 42 line 1">
            <a:extLst xmlns:a="http://schemas.openxmlformats.org/drawingml/2006/main">
              <a:ext uri="{FF2B5EF4-FFF2-40B4-BE49-F238E27FC236}">
                <a16:creationId xmlns:a16="http://schemas.microsoft.com/office/drawing/2014/main" id="{FEF4D102-206C-464A-9CF1-DC363EB7BBE8}"/>
              </a:ext>
            </a:extLst>
          </p:cNvPr>
          <p:cNvSpPr>
            <a:spLocks xmlns:a="http://schemas.openxmlformats.org/drawingml/2006/main" noGrp="1"/>
          </p:cNvSpPr>
          <p:nvPr/>
        </p:nvSpPr>
        <p:spPr>
          <a:xfrm xmlns:a="http://schemas.openxmlformats.org/drawingml/2006/main" rot="0">
            <a:off x="12520422" y="7440635"/>
            <a:ext cx="3275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New installations + replacement + service</a:t>
            </a:r>
          </a:p>
        </p:txBody>
      </p:sp>
      <p:sp>
        <p:nvSpPr>
          <p:cNvPr id="44" name="Figure 1 label 43 line 1">
            <a:extLst xmlns:a="http://schemas.openxmlformats.org/drawingml/2006/main">
              <a:ext uri="{FF2B5EF4-FFF2-40B4-BE49-F238E27FC236}">
                <a16:creationId xmlns:a16="http://schemas.microsoft.com/office/drawing/2014/main" id="{626DF4B9-0950-44C0-BE16-69528094CE78}"/>
              </a:ext>
            </a:extLst>
          </p:cNvPr>
          <p:cNvSpPr>
            <a:spLocks xmlns:a="http://schemas.openxmlformats.org/drawingml/2006/main" noGrp="1"/>
          </p:cNvSpPr>
          <p:nvPr/>
        </p:nvSpPr>
        <p:spPr>
          <a:xfrm xmlns:a="http://schemas.openxmlformats.org/drawingml/2006/main" rot="0">
            <a:off x="5393531" y="8413000"/>
            <a:ext cx="750093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Use one product taxonomy; retain the scope of each market estimate.</a:t>
            </a:r>
          </a:p>
        </p:txBody>
      </p:sp>
    </p:spTree>
    <p:extLst>
      <p:ext uri="{BB962C8B-B14F-4D97-AF65-F5344CB8AC3E}">
        <p14:creationId xmlns:p14="http://schemas.microsoft.com/office/powerpoint/2010/main" val="961031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2026-10-13T06:01:55.7770000Z</dcterms:created>
  <dcterms:modified xsi:type="dcterms:W3CDTF">2026-10-13T06:01:55.7770000Z</dcterms:modified>
</coreProperties>
</file>